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70"/>
  </p:notesMasterIdLst>
  <p:sldIdLst>
    <p:sldId id="256" r:id="rId2"/>
    <p:sldId id="674" r:id="rId3"/>
    <p:sldId id="259" r:id="rId4"/>
    <p:sldId id="714" r:id="rId5"/>
    <p:sldId id="716" r:id="rId6"/>
    <p:sldId id="717" r:id="rId7"/>
    <p:sldId id="718" r:id="rId8"/>
    <p:sldId id="719" r:id="rId9"/>
    <p:sldId id="720" r:id="rId10"/>
    <p:sldId id="722" r:id="rId11"/>
    <p:sldId id="723" r:id="rId12"/>
    <p:sldId id="724" r:id="rId13"/>
    <p:sldId id="725" r:id="rId14"/>
    <p:sldId id="728" r:id="rId15"/>
    <p:sldId id="729" r:id="rId16"/>
    <p:sldId id="730" r:id="rId17"/>
    <p:sldId id="731" r:id="rId18"/>
    <p:sldId id="732" r:id="rId19"/>
    <p:sldId id="733" r:id="rId20"/>
    <p:sldId id="734" r:id="rId21"/>
    <p:sldId id="735" r:id="rId22"/>
    <p:sldId id="736" r:id="rId23"/>
    <p:sldId id="737" r:id="rId24"/>
    <p:sldId id="738" r:id="rId25"/>
    <p:sldId id="739" r:id="rId26"/>
    <p:sldId id="740" r:id="rId27"/>
    <p:sldId id="285" r:id="rId28"/>
    <p:sldId id="286" r:id="rId29"/>
    <p:sldId id="287" r:id="rId30"/>
    <p:sldId id="288" r:id="rId31"/>
    <p:sldId id="289" r:id="rId32"/>
    <p:sldId id="290" r:id="rId33"/>
    <p:sldId id="291" r:id="rId34"/>
    <p:sldId id="742" r:id="rId35"/>
    <p:sldId id="292" r:id="rId36"/>
    <p:sldId id="293" r:id="rId37"/>
    <p:sldId id="294" r:id="rId38"/>
    <p:sldId id="295" r:id="rId39"/>
    <p:sldId id="743" r:id="rId40"/>
    <p:sldId id="297" r:id="rId41"/>
    <p:sldId id="298" r:id="rId42"/>
    <p:sldId id="744" r:id="rId43"/>
    <p:sldId id="299" r:id="rId44"/>
    <p:sldId id="300" r:id="rId45"/>
    <p:sldId id="301" r:id="rId46"/>
    <p:sldId id="302" r:id="rId47"/>
    <p:sldId id="741" r:id="rId48"/>
    <p:sldId id="304" r:id="rId49"/>
    <p:sldId id="745" r:id="rId50"/>
    <p:sldId id="306" r:id="rId51"/>
    <p:sldId id="307" r:id="rId52"/>
    <p:sldId id="308" r:id="rId53"/>
    <p:sldId id="309" r:id="rId54"/>
    <p:sldId id="311" r:id="rId55"/>
    <p:sldId id="312" r:id="rId56"/>
    <p:sldId id="313" r:id="rId57"/>
    <p:sldId id="314" r:id="rId58"/>
    <p:sldId id="316" r:id="rId59"/>
    <p:sldId id="317" r:id="rId60"/>
    <p:sldId id="318" r:id="rId61"/>
    <p:sldId id="319" r:id="rId62"/>
    <p:sldId id="746" r:id="rId63"/>
    <p:sldId id="321" r:id="rId64"/>
    <p:sldId id="322" r:id="rId65"/>
    <p:sldId id="323" r:id="rId66"/>
    <p:sldId id="324" r:id="rId67"/>
    <p:sldId id="325" r:id="rId68"/>
    <p:sldId id="303"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guide id="4" pos="415" userDrawn="1">
          <p15:clr>
            <a:srgbClr val="A4A3A4"/>
          </p15:clr>
        </p15:guide>
        <p15:guide id="5" pos="7265" userDrawn="1">
          <p15:clr>
            <a:srgbClr val="A4A3A4"/>
          </p15:clr>
        </p15:guide>
        <p15:guide id="6" orient="horz" pos="1049" userDrawn="1">
          <p15:clr>
            <a:srgbClr val="A4A3A4"/>
          </p15:clr>
        </p15:guide>
        <p15:guide id="7" orient="horz" pos="3838" userDrawn="1">
          <p15:clr>
            <a:srgbClr val="A4A3A4"/>
          </p15:clr>
        </p15:guide>
        <p15:guide id="8" orient="horz" pos="368" userDrawn="1">
          <p15:clr>
            <a:srgbClr val="A4A3A4"/>
          </p15:clr>
        </p15:guide>
        <p15:guide id="9" orient="horz" pos="77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1A3E"/>
    <a:srgbClr val="FF0000"/>
    <a:srgbClr val="333F50"/>
    <a:srgbClr val="8497B0"/>
    <a:srgbClr val="8FAADC"/>
    <a:srgbClr val="2F5597"/>
    <a:srgbClr val="626CC7"/>
    <a:srgbClr val="323B8D"/>
    <a:srgbClr val="21275D"/>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15" autoAdjust="0"/>
    <p:restoredTop sz="93447" autoAdjust="0"/>
  </p:normalViewPr>
  <p:slideViewPr>
    <p:cSldViewPr snapToGrid="0">
      <p:cViewPr varScale="1">
        <p:scale>
          <a:sx n="103" d="100"/>
          <a:sy n="103" d="100"/>
        </p:scale>
        <p:origin x="450" y="114"/>
      </p:cViewPr>
      <p:guideLst>
        <p:guide pos="3840"/>
        <p:guide orient="horz" pos="2160"/>
        <p:guide pos="415"/>
        <p:guide pos="7265"/>
        <p:guide orient="horz" pos="1049"/>
        <p:guide orient="horz" pos="3838"/>
        <p:guide orient="horz" pos="368"/>
        <p:guide orient="horz" pos="777"/>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23-05-2025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40</a:t>
            </a:fld>
            <a:endParaRPr lang="en-IN" dirty="0"/>
          </a:p>
        </p:txBody>
      </p:sp>
    </p:spTree>
    <p:extLst>
      <p:ext uri="{BB962C8B-B14F-4D97-AF65-F5344CB8AC3E}">
        <p14:creationId xmlns:p14="http://schemas.microsoft.com/office/powerpoint/2010/main" val="20428974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5" name="Title 1">
            <a:extLst>
              <a:ext uri="{FF2B5EF4-FFF2-40B4-BE49-F238E27FC236}">
                <a16:creationId xmlns:a16="http://schemas.microsoft.com/office/drawing/2014/main" id="{F169BDF6-EA32-8D15-7297-96F5B8F6EF09}"/>
              </a:ext>
            </a:extLst>
          </p:cNvPr>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5999928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
        <p:nvSpPr>
          <p:cNvPr id="5" name="Title 1">
            <a:extLst>
              <a:ext uri="{FF2B5EF4-FFF2-40B4-BE49-F238E27FC236}">
                <a16:creationId xmlns:a16="http://schemas.microsoft.com/office/drawing/2014/main" id="{8AA7827E-D2A7-AA00-8D40-7B76E978D014}"/>
              </a:ext>
            </a:extLst>
          </p:cNvPr>
          <p:cNvSpPr>
            <a:spLocks noGrp="1"/>
          </p:cNvSpPr>
          <p:nvPr>
            <p:ph type="title"/>
          </p:nvPr>
        </p:nvSpPr>
        <p:spPr>
          <a:xfrm>
            <a:off x="838202" y="2049670"/>
            <a:ext cx="2743200" cy="2562226"/>
          </a:xfrm>
        </p:spPr>
        <p:txBody>
          <a:bodyPr/>
          <a:lstStyle>
            <a:lvl1pPr>
              <a:defRPr>
                <a:solidFill>
                  <a:srgbClr val="161A3E"/>
                </a:solidFill>
              </a:defRPr>
            </a:lvl1pPr>
          </a:lstStyle>
          <a:p>
            <a:r>
              <a:rPr lang="en-US" dirty="0"/>
              <a:t>Click to edit Master title style</a:t>
            </a:r>
          </a:p>
        </p:txBody>
      </p:sp>
    </p:spTree>
    <p:extLst>
      <p:ext uri="{BB962C8B-B14F-4D97-AF65-F5344CB8AC3E}">
        <p14:creationId xmlns:p14="http://schemas.microsoft.com/office/powerpoint/2010/main" val="6455390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5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8.png"/><Relationship Id="rId7" Type="http://schemas.openxmlformats.org/officeDocument/2006/relationships/image" Target="../media/image13.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25.png"/><Relationship Id="rId10" Type="http://schemas.openxmlformats.org/officeDocument/2006/relationships/image" Target="../media/image28.png"/><Relationship Id="rId4" Type="http://schemas.openxmlformats.org/officeDocument/2006/relationships/image" Target="../media/image9.png"/><Relationship Id="rId9" Type="http://schemas.openxmlformats.org/officeDocument/2006/relationships/image" Target="../media/image27.png"/></Relationships>
</file>

<file path=ppt/slides/_rels/slide56.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Transformers &amp; Modern Variants</a:t>
            </a:r>
          </a:p>
        </p:txBody>
      </p:sp>
      <p:sp>
        <p:nvSpPr>
          <p:cNvPr id="3" name="TextBox 2">
            <a:extLst>
              <a:ext uri="{FF2B5EF4-FFF2-40B4-BE49-F238E27FC236}">
                <a16:creationId xmlns:a16="http://schemas.microsoft.com/office/drawing/2014/main" id="{7B6ADBE7-B4F0-B91B-52AC-7F388CA11D6D}"/>
              </a:ext>
            </a:extLst>
          </p:cNvPr>
          <p:cNvSpPr txBox="1"/>
          <p:nvPr/>
        </p:nvSpPr>
        <p:spPr>
          <a:xfrm>
            <a:off x="2662334" y="3741576"/>
            <a:ext cx="6867331" cy="369332"/>
          </a:xfrm>
          <a:prstGeom prst="rect">
            <a:avLst/>
          </a:prstGeom>
          <a:noFill/>
        </p:spPr>
        <p:txBody>
          <a:bodyPr wrap="square" rtlCol="0">
            <a:spAutoFit/>
          </a:bodyPr>
          <a:lstStyle/>
          <a:p>
            <a:pPr algn="ctr"/>
            <a:r>
              <a:rPr lang="en-US" b="1" i="1" dirty="0">
                <a:solidFill>
                  <a:schemeClr val="bg1"/>
                </a:solidFill>
              </a:rPr>
              <a:t>Vanilla Transformer · Mistral 7 B · 8 × 7 B </a:t>
            </a:r>
            <a:r>
              <a:rPr lang="en-US" b="1" i="1" dirty="0" err="1">
                <a:solidFill>
                  <a:schemeClr val="bg1"/>
                </a:solidFill>
              </a:rPr>
              <a:t>MoE</a:t>
            </a:r>
            <a:endParaRPr lang="en-IN" b="1" i="1" dirty="0">
              <a:solidFill>
                <a:schemeClr val="bg1"/>
              </a:solidFill>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IN" dirty="0"/>
              <a:t>Agenda</a:t>
            </a: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solidFill>
                  <a:srgbClr val="161A3E"/>
                </a:solidFill>
              </a:rPr>
              <a:t>Transformer vs Mistral – key design deltas</a:t>
            </a:r>
          </a:p>
          <a:p>
            <a:pPr lvl="0"/>
            <a:r>
              <a:rPr lang="en-US" dirty="0">
                <a:solidFill>
                  <a:srgbClr val="161A3E"/>
                </a:solidFill>
              </a:rPr>
              <a:t>Sliding-window attention &amp; receptive field</a:t>
            </a:r>
          </a:p>
          <a:p>
            <a:pPr lvl="0"/>
            <a:r>
              <a:rPr lang="en-US" dirty="0">
                <a:solidFill>
                  <a:srgbClr val="161A3E"/>
                </a:solidFill>
              </a:rPr>
              <a:t>KV-cache &amp; rolling buffer</a:t>
            </a:r>
          </a:p>
          <a:p>
            <a:pPr lvl="0"/>
            <a:r>
              <a:rPr lang="en-US" dirty="0">
                <a:solidFill>
                  <a:srgbClr val="161A3E"/>
                </a:solidFill>
              </a:rPr>
              <a:t>Sparse Mixture of Experts (8 × 7 B)</a:t>
            </a:r>
          </a:p>
          <a:p>
            <a:pPr lvl="0"/>
            <a:r>
              <a:rPr lang="en-US" dirty="0">
                <a:solidFill>
                  <a:srgbClr val="161A3E"/>
                </a:solidFill>
              </a:rPr>
              <a:t>Sharding, pipeline &amp; prompt batching</a:t>
            </a:r>
          </a:p>
        </p:txBody>
      </p:sp>
    </p:spTree>
    <p:extLst>
      <p:ext uri="{BB962C8B-B14F-4D97-AF65-F5344CB8AC3E}">
        <p14:creationId xmlns:p14="http://schemas.microsoft.com/office/powerpoint/2010/main" val="2272459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26306" y="1333142"/>
            <a:ext cx="2758299" cy="4056853"/>
          </a:xfrm>
          <a:prstGeom prst="rect">
            <a:avLst/>
          </a:prstGeom>
        </p:spPr>
      </p:pic>
      <p:sp>
        <p:nvSpPr>
          <p:cNvPr id="3" name="object 3"/>
          <p:cNvSpPr txBox="1"/>
          <p:nvPr/>
        </p:nvSpPr>
        <p:spPr>
          <a:xfrm>
            <a:off x="784644" y="5518150"/>
            <a:ext cx="2841625" cy="574675"/>
          </a:xfrm>
          <a:prstGeom prst="rect">
            <a:avLst/>
          </a:prstGeom>
        </p:spPr>
        <p:txBody>
          <a:bodyPr vert="horz" wrap="square" lIns="0" tIns="12700" rIns="0" bIns="0" rtlCol="0">
            <a:spAutoFit/>
          </a:bodyPr>
          <a:lstStyle/>
          <a:p>
            <a:pPr marL="3175" algn="ctr">
              <a:lnSpc>
                <a:spcPct val="100000"/>
              </a:lnSpc>
              <a:spcBef>
                <a:spcPts val="100"/>
              </a:spcBef>
            </a:pPr>
            <a:r>
              <a:rPr sz="1800" b="1" spc="-65" dirty="0">
                <a:latin typeface="Tahoma"/>
                <a:cs typeface="Tahoma"/>
              </a:rPr>
              <a:t>Transformer</a:t>
            </a:r>
            <a:endParaRPr sz="1800">
              <a:latin typeface="Tahoma"/>
              <a:cs typeface="Tahoma"/>
            </a:endParaRPr>
          </a:p>
          <a:p>
            <a:pPr algn="ctr">
              <a:lnSpc>
                <a:spcPct val="100000"/>
              </a:lnSpc>
              <a:spcBef>
                <a:spcPts val="5"/>
              </a:spcBef>
            </a:pPr>
            <a:r>
              <a:rPr sz="1800" spc="5" dirty="0">
                <a:latin typeface="Tahoma"/>
                <a:cs typeface="Tahoma"/>
              </a:rPr>
              <a:t>(“Attention</a:t>
            </a:r>
            <a:r>
              <a:rPr sz="1800" spc="-120" dirty="0">
                <a:latin typeface="Tahoma"/>
                <a:cs typeface="Tahoma"/>
              </a:rPr>
              <a:t> </a:t>
            </a:r>
            <a:r>
              <a:rPr sz="1800" spc="15" dirty="0">
                <a:latin typeface="Tahoma"/>
                <a:cs typeface="Tahoma"/>
              </a:rPr>
              <a:t>is</a:t>
            </a:r>
            <a:r>
              <a:rPr sz="1800" spc="-135" dirty="0">
                <a:latin typeface="Tahoma"/>
                <a:cs typeface="Tahoma"/>
              </a:rPr>
              <a:t> </a:t>
            </a:r>
            <a:r>
              <a:rPr sz="1800" spc="30" dirty="0">
                <a:latin typeface="Tahoma"/>
                <a:cs typeface="Tahoma"/>
              </a:rPr>
              <a:t>all</a:t>
            </a:r>
            <a:r>
              <a:rPr sz="1800" spc="-125" dirty="0">
                <a:latin typeface="Tahoma"/>
                <a:cs typeface="Tahoma"/>
              </a:rPr>
              <a:t> </a:t>
            </a:r>
            <a:r>
              <a:rPr sz="1800" spc="45" dirty="0">
                <a:latin typeface="Tahoma"/>
                <a:cs typeface="Tahoma"/>
              </a:rPr>
              <a:t>you</a:t>
            </a:r>
            <a:r>
              <a:rPr sz="1800" spc="-125" dirty="0">
                <a:latin typeface="Tahoma"/>
                <a:cs typeface="Tahoma"/>
              </a:rPr>
              <a:t> </a:t>
            </a:r>
            <a:r>
              <a:rPr sz="1800" spc="25" dirty="0">
                <a:latin typeface="Tahoma"/>
                <a:cs typeface="Tahoma"/>
              </a:rPr>
              <a:t>need”)</a:t>
            </a:r>
            <a:endParaRPr sz="1800">
              <a:latin typeface="Tahoma"/>
              <a:cs typeface="Tahoma"/>
            </a:endParaRPr>
          </a:p>
        </p:txBody>
      </p:sp>
      <p:sp>
        <p:nvSpPr>
          <p:cNvPr id="4" name="object 4"/>
          <p:cNvSpPr txBox="1"/>
          <p:nvPr/>
        </p:nvSpPr>
        <p:spPr>
          <a:xfrm>
            <a:off x="8126921" y="5576062"/>
            <a:ext cx="788670" cy="299720"/>
          </a:xfrm>
          <a:prstGeom prst="rect">
            <a:avLst/>
          </a:prstGeom>
        </p:spPr>
        <p:txBody>
          <a:bodyPr vert="horz" wrap="square" lIns="0" tIns="12700" rIns="0" bIns="0" rtlCol="0">
            <a:spAutoFit/>
          </a:bodyPr>
          <a:lstStyle/>
          <a:p>
            <a:pPr marL="12700">
              <a:lnSpc>
                <a:spcPct val="100000"/>
              </a:lnSpc>
              <a:spcBef>
                <a:spcPts val="100"/>
              </a:spcBef>
            </a:pPr>
            <a:r>
              <a:rPr sz="1800" b="1" spc="70" dirty="0">
                <a:latin typeface="Tahoma"/>
                <a:cs typeface="Tahoma"/>
              </a:rPr>
              <a:t>M</a:t>
            </a:r>
            <a:r>
              <a:rPr sz="1800" b="1" spc="15" dirty="0">
                <a:latin typeface="Tahoma"/>
                <a:cs typeface="Tahoma"/>
              </a:rPr>
              <a:t>i</a:t>
            </a:r>
            <a:r>
              <a:rPr sz="1800" b="1" spc="-85" dirty="0">
                <a:latin typeface="Tahoma"/>
                <a:cs typeface="Tahoma"/>
              </a:rPr>
              <a:t>st</a:t>
            </a:r>
            <a:r>
              <a:rPr sz="1800" b="1" spc="-100" dirty="0">
                <a:latin typeface="Tahoma"/>
                <a:cs typeface="Tahoma"/>
              </a:rPr>
              <a:t>r</a:t>
            </a:r>
            <a:r>
              <a:rPr sz="1800" b="1" spc="-35" dirty="0">
                <a:latin typeface="Tahoma"/>
                <a:cs typeface="Tahoma"/>
              </a:rPr>
              <a:t>al</a:t>
            </a:r>
            <a:endParaRPr sz="1800">
              <a:latin typeface="Tahoma"/>
              <a:cs typeface="Tahoma"/>
            </a:endParaRPr>
          </a:p>
        </p:txBody>
      </p:sp>
      <p:grpSp>
        <p:nvGrpSpPr>
          <p:cNvPr id="6" name="object 6"/>
          <p:cNvGrpSpPr/>
          <p:nvPr/>
        </p:nvGrpSpPr>
        <p:grpSpPr>
          <a:xfrm>
            <a:off x="6968681" y="1530706"/>
            <a:ext cx="3172460" cy="3292475"/>
            <a:chOff x="6851650" y="1944370"/>
            <a:chExt cx="3172460" cy="3292475"/>
          </a:xfrm>
        </p:grpSpPr>
        <p:sp>
          <p:nvSpPr>
            <p:cNvPr id="7" name="object 7"/>
            <p:cNvSpPr/>
            <p:nvPr/>
          </p:nvSpPr>
          <p:spPr>
            <a:xfrm>
              <a:off x="6858000" y="1950720"/>
              <a:ext cx="3159760" cy="3279775"/>
            </a:xfrm>
            <a:custGeom>
              <a:avLst/>
              <a:gdLst/>
              <a:ahLst/>
              <a:cxnLst/>
              <a:rect l="l" t="t" r="r" b="b"/>
              <a:pathLst>
                <a:path w="3159759" h="3279775">
                  <a:moveTo>
                    <a:pt x="3159252" y="0"/>
                  </a:moveTo>
                  <a:lnTo>
                    <a:pt x="0" y="0"/>
                  </a:lnTo>
                  <a:lnTo>
                    <a:pt x="0" y="3279648"/>
                  </a:lnTo>
                  <a:lnTo>
                    <a:pt x="3159252" y="3279648"/>
                  </a:lnTo>
                  <a:lnTo>
                    <a:pt x="3159252" y="0"/>
                  </a:lnTo>
                  <a:close/>
                </a:path>
              </a:pathLst>
            </a:custGeom>
            <a:solidFill>
              <a:srgbClr val="F3F3F4">
                <a:alpha val="50195"/>
              </a:srgbClr>
            </a:solidFill>
          </p:spPr>
          <p:txBody>
            <a:bodyPr wrap="square" lIns="0" tIns="0" rIns="0" bIns="0" rtlCol="0"/>
            <a:lstStyle/>
            <a:p>
              <a:endParaRPr/>
            </a:p>
          </p:txBody>
        </p:sp>
        <p:sp>
          <p:nvSpPr>
            <p:cNvPr id="8" name="object 8"/>
            <p:cNvSpPr/>
            <p:nvPr/>
          </p:nvSpPr>
          <p:spPr>
            <a:xfrm>
              <a:off x="6858000" y="1950720"/>
              <a:ext cx="3159760" cy="3279775"/>
            </a:xfrm>
            <a:custGeom>
              <a:avLst/>
              <a:gdLst/>
              <a:ahLst/>
              <a:cxnLst/>
              <a:rect l="l" t="t" r="r" b="b"/>
              <a:pathLst>
                <a:path w="3159759" h="3279775">
                  <a:moveTo>
                    <a:pt x="0" y="3279648"/>
                  </a:moveTo>
                  <a:lnTo>
                    <a:pt x="3159252" y="3279648"/>
                  </a:lnTo>
                  <a:lnTo>
                    <a:pt x="3159252" y="0"/>
                  </a:lnTo>
                  <a:lnTo>
                    <a:pt x="0" y="0"/>
                  </a:lnTo>
                  <a:lnTo>
                    <a:pt x="0" y="3279648"/>
                  </a:lnTo>
                  <a:close/>
                </a:path>
              </a:pathLst>
            </a:custGeom>
            <a:ln w="12700">
              <a:solidFill>
                <a:srgbClr val="632D23"/>
              </a:solidFill>
              <a:prstDash val="sysDash"/>
            </a:ln>
          </p:spPr>
          <p:txBody>
            <a:bodyPr wrap="square" lIns="0" tIns="0" rIns="0" bIns="0" rtlCol="0"/>
            <a:lstStyle/>
            <a:p>
              <a:endParaRPr/>
            </a:p>
          </p:txBody>
        </p:sp>
      </p:grpSp>
      <p:sp>
        <p:nvSpPr>
          <p:cNvPr id="9" name="object 9"/>
          <p:cNvSpPr txBox="1"/>
          <p:nvPr/>
        </p:nvSpPr>
        <p:spPr>
          <a:xfrm>
            <a:off x="8427529" y="5329479"/>
            <a:ext cx="267970" cy="147955"/>
          </a:xfrm>
          <a:prstGeom prst="rect">
            <a:avLst/>
          </a:prstGeom>
        </p:spPr>
        <p:txBody>
          <a:bodyPr vert="horz" wrap="square" lIns="0" tIns="12700" rIns="0" bIns="0" rtlCol="0">
            <a:spAutoFit/>
          </a:bodyPr>
          <a:lstStyle/>
          <a:p>
            <a:pPr marL="12700">
              <a:lnSpc>
                <a:spcPct val="100000"/>
              </a:lnSpc>
              <a:spcBef>
                <a:spcPts val="100"/>
              </a:spcBef>
            </a:pPr>
            <a:r>
              <a:rPr sz="800" spc="-95" dirty="0">
                <a:latin typeface="Tahoma"/>
                <a:cs typeface="Tahoma"/>
              </a:rPr>
              <a:t>I</a:t>
            </a:r>
            <a:r>
              <a:rPr sz="800" spc="40" dirty="0">
                <a:latin typeface="Tahoma"/>
                <a:cs typeface="Tahoma"/>
              </a:rPr>
              <a:t>n</a:t>
            </a:r>
            <a:r>
              <a:rPr sz="800" spc="45" dirty="0">
                <a:latin typeface="Tahoma"/>
                <a:cs typeface="Tahoma"/>
              </a:rPr>
              <a:t>p</a:t>
            </a:r>
            <a:r>
              <a:rPr sz="800" dirty="0">
                <a:latin typeface="Tahoma"/>
                <a:cs typeface="Tahoma"/>
              </a:rPr>
              <a:t>ut</a:t>
            </a:r>
            <a:endParaRPr sz="800">
              <a:latin typeface="Tahoma"/>
              <a:cs typeface="Tahoma"/>
            </a:endParaRPr>
          </a:p>
        </p:txBody>
      </p:sp>
      <p:sp>
        <p:nvSpPr>
          <p:cNvPr id="10" name="object 10"/>
          <p:cNvSpPr txBox="1"/>
          <p:nvPr/>
        </p:nvSpPr>
        <p:spPr>
          <a:xfrm>
            <a:off x="8133271" y="4897476"/>
            <a:ext cx="868680" cy="264160"/>
          </a:xfrm>
          <a:prstGeom prst="rect">
            <a:avLst/>
          </a:prstGeom>
          <a:solidFill>
            <a:srgbClr val="FBDFE0"/>
          </a:solidFill>
          <a:ln w="12700">
            <a:solidFill>
              <a:srgbClr val="000000"/>
            </a:solidFill>
          </a:ln>
        </p:spPr>
        <p:txBody>
          <a:bodyPr vert="horz" wrap="square" lIns="0" tIns="67945" rIns="0" bIns="0" rtlCol="0">
            <a:spAutoFit/>
          </a:bodyPr>
          <a:lstStyle/>
          <a:p>
            <a:pPr marL="134620">
              <a:lnSpc>
                <a:spcPct val="100000"/>
              </a:lnSpc>
              <a:spcBef>
                <a:spcPts val="535"/>
              </a:spcBef>
            </a:pPr>
            <a:r>
              <a:rPr sz="800" spc="40" dirty="0">
                <a:latin typeface="Tahoma"/>
                <a:cs typeface="Tahoma"/>
              </a:rPr>
              <a:t>Embeddings</a:t>
            </a:r>
            <a:endParaRPr sz="800">
              <a:latin typeface="Tahoma"/>
              <a:cs typeface="Tahoma"/>
            </a:endParaRPr>
          </a:p>
        </p:txBody>
      </p:sp>
      <p:grpSp>
        <p:nvGrpSpPr>
          <p:cNvPr id="11" name="object 11"/>
          <p:cNvGrpSpPr/>
          <p:nvPr/>
        </p:nvGrpSpPr>
        <p:grpSpPr>
          <a:xfrm>
            <a:off x="8126921" y="4295241"/>
            <a:ext cx="881380" cy="274955"/>
            <a:chOff x="8009890" y="4708905"/>
            <a:chExt cx="881380" cy="274955"/>
          </a:xfrm>
        </p:grpSpPr>
        <p:sp>
          <p:nvSpPr>
            <p:cNvPr id="12" name="object 12"/>
            <p:cNvSpPr/>
            <p:nvPr/>
          </p:nvSpPr>
          <p:spPr>
            <a:xfrm>
              <a:off x="8016240" y="4715255"/>
              <a:ext cx="868680" cy="262255"/>
            </a:xfrm>
            <a:custGeom>
              <a:avLst/>
              <a:gdLst/>
              <a:ahLst/>
              <a:cxnLst/>
              <a:rect l="l" t="t" r="r" b="b"/>
              <a:pathLst>
                <a:path w="868679" h="262254">
                  <a:moveTo>
                    <a:pt x="868679" y="0"/>
                  </a:moveTo>
                  <a:lnTo>
                    <a:pt x="0" y="0"/>
                  </a:lnTo>
                  <a:lnTo>
                    <a:pt x="0" y="262128"/>
                  </a:lnTo>
                  <a:lnTo>
                    <a:pt x="868679" y="262128"/>
                  </a:lnTo>
                  <a:lnTo>
                    <a:pt x="868679" y="0"/>
                  </a:lnTo>
                  <a:close/>
                </a:path>
              </a:pathLst>
            </a:custGeom>
            <a:solidFill>
              <a:srgbClr val="F1F4C1"/>
            </a:solidFill>
          </p:spPr>
          <p:txBody>
            <a:bodyPr wrap="square" lIns="0" tIns="0" rIns="0" bIns="0" rtlCol="0"/>
            <a:lstStyle/>
            <a:p>
              <a:endParaRPr/>
            </a:p>
          </p:txBody>
        </p:sp>
        <p:sp>
          <p:nvSpPr>
            <p:cNvPr id="13" name="object 13"/>
            <p:cNvSpPr/>
            <p:nvPr/>
          </p:nvSpPr>
          <p:spPr>
            <a:xfrm>
              <a:off x="8016240" y="4715255"/>
              <a:ext cx="868680" cy="262255"/>
            </a:xfrm>
            <a:custGeom>
              <a:avLst/>
              <a:gdLst/>
              <a:ahLst/>
              <a:cxnLst/>
              <a:rect l="l" t="t" r="r" b="b"/>
              <a:pathLst>
                <a:path w="868679" h="262254">
                  <a:moveTo>
                    <a:pt x="0" y="262128"/>
                  </a:moveTo>
                  <a:lnTo>
                    <a:pt x="868679" y="262128"/>
                  </a:lnTo>
                  <a:lnTo>
                    <a:pt x="868679" y="0"/>
                  </a:lnTo>
                  <a:lnTo>
                    <a:pt x="0" y="0"/>
                  </a:lnTo>
                  <a:lnTo>
                    <a:pt x="0" y="262128"/>
                  </a:lnTo>
                  <a:close/>
                </a:path>
              </a:pathLst>
            </a:custGeom>
            <a:ln w="12700">
              <a:solidFill>
                <a:srgbClr val="000000"/>
              </a:solidFill>
            </a:ln>
          </p:spPr>
          <p:txBody>
            <a:bodyPr wrap="square" lIns="0" tIns="0" rIns="0" bIns="0" rtlCol="0"/>
            <a:lstStyle/>
            <a:p>
              <a:endParaRPr/>
            </a:p>
          </p:txBody>
        </p:sp>
      </p:grpSp>
      <p:sp>
        <p:nvSpPr>
          <p:cNvPr id="14" name="object 14"/>
          <p:cNvSpPr txBox="1"/>
          <p:nvPr/>
        </p:nvSpPr>
        <p:spPr>
          <a:xfrm>
            <a:off x="8133271" y="4355313"/>
            <a:ext cx="862330" cy="147955"/>
          </a:xfrm>
          <a:prstGeom prst="rect">
            <a:avLst/>
          </a:prstGeom>
        </p:spPr>
        <p:txBody>
          <a:bodyPr vert="horz" wrap="square" lIns="0" tIns="12700" rIns="0" bIns="0" rtlCol="0">
            <a:spAutoFit/>
          </a:bodyPr>
          <a:lstStyle/>
          <a:p>
            <a:pPr marL="184785">
              <a:lnSpc>
                <a:spcPct val="100000"/>
              </a:lnSpc>
              <a:spcBef>
                <a:spcPts val="100"/>
              </a:spcBef>
            </a:pPr>
            <a:r>
              <a:rPr sz="800" spc="30" dirty="0">
                <a:latin typeface="Tahoma"/>
                <a:cs typeface="Tahoma"/>
              </a:rPr>
              <a:t>R</a:t>
            </a:r>
            <a:r>
              <a:rPr sz="800" spc="35" dirty="0">
                <a:latin typeface="Tahoma"/>
                <a:cs typeface="Tahoma"/>
              </a:rPr>
              <a:t>M</a:t>
            </a:r>
            <a:r>
              <a:rPr sz="800" spc="5" dirty="0">
                <a:latin typeface="Tahoma"/>
                <a:cs typeface="Tahoma"/>
              </a:rPr>
              <a:t>S</a:t>
            </a:r>
            <a:r>
              <a:rPr sz="800" spc="-60" dirty="0">
                <a:latin typeface="Tahoma"/>
                <a:cs typeface="Tahoma"/>
              </a:rPr>
              <a:t> </a:t>
            </a:r>
            <a:r>
              <a:rPr sz="800" spc="40" dirty="0">
                <a:latin typeface="Tahoma"/>
                <a:cs typeface="Tahoma"/>
              </a:rPr>
              <a:t>Nor</a:t>
            </a:r>
            <a:r>
              <a:rPr sz="800" spc="35" dirty="0">
                <a:latin typeface="Tahoma"/>
                <a:cs typeface="Tahoma"/>
              </a:rPr>
              <a:t>m</a:t>
            </a:r>
            <a:endParaRPr sz="800">
              <a:latin typeface="Tahoma"/>
              <a:cs typeface="Tahoma"/>
            </a:endParaRPr>
          </a:p>
        </p:txBody>
      </p:sp>
      <p:grpSp>
        <p:nvGrpSpPr>
          <p:cNvPr id="15" name="object 15"/>
          <p:cNvGrpSpPr/>
          <p:nvPr/>
        </p:nvGrpSpPr>
        <p:grpSpPr>
          <a:xfrm>
            <a:off x="7273481" y="3321406"/>
            <a:ext cx="2590165" cy="401320"/>
            <a:chOff x="7156450" y="3735070"/>
            <a:chExt cx="2590165" cy="401320"/>
          </a:xfrm>
        </p:grpSpPr>
        <p:sp>
          <p:nvSpPr>
            <p:cNvPr id="16" name="object 16"/>
            <p:cNvSpPr/>
            <p:nvPr/>
          </p:nvSpPr>
          <p:spPr>
            <a:xfrm>
              <a:off x="7162800" y="3741420"/>
              <a:ext cx="2577465" cy="388620"/>
            </a:xfrm>
            <a:custGeom>
              <a:avLst/>
              <a:gdLst/>
              <a:ahLst/>
              <a:cxnLst/>
              <a:rect l="l" t="t" r="r" b="b"/>
              <a:pathLst>
                <a:path w="2577465" h="388620">
                  <a:moveTo>
                    <a:pt x="2577083" y="0"/>
                  </a:moveTo>
                  <a:lnTo>
                    <a:pt x="0" y="0"/>
                  </a:lnTo>
                  <a:lnTo>
                    <a:pt x="0" y="388619"/>
                  </a:lnTo>
                  <a:lnTo>
                    <a:pt x="2577083" y="388619"/>
                  </a:lnTo>
                  <a:lnTo>
                    <a:pt x="2577083" y="0"/>
                  </a:lnTo>
                  <a:close/>
                </a:path>
              </a:pathLst>
            </a:custGeom>
            <a:solidFill>
              <a:srgbClr val="FFE1BA"/>
            </a:solidFill>
          </p:spPr>
          <p:txBody>
            <a:bodyPr wrap="square" lIns="0" tIns="0" rIns="0" bIns="0" rtlCol="0"/>
            <a:lstStyle/>
            <a:p>
              <a:endParaRPr/>
            </a:p>
          </p:txBody>
        </p:sp>
        <p:sp>
          <p:nvSpPr>
            <p:cNvPr id="17" name="object 17"/>
            <p:cNvSpPr/>
            <p:nvPr/>
          </p:nvSpPr>
          <p:spPr>
            <a:xfrm>
              <a:off x="7162800" y="3741420"/>
              <a:ext cx="2577465" cy="388620"/>
            </a:xfrm>
            <a:custGeom>
              <a:avLst/>
              <a:gdLst/>
              <a:ahLst/>
              <a:cxnLst/>
              <a:rect l="l" t="t" r="r" b="b"/>
              <a:pathLst>
                <a:path w="2577465" h="388620">
                  <a:moveTo>
                    <a:pt x="0" y="388619"/>
                  </a:moveTo>
                  <a:lnTo>
                    <a:pt x="2577083" y="388619"/>
                  </a:lnTo>
                  <a:lnTo>
                    <a:pt x="2577083" y="0"/>
                  </a:lnTo>
                  <a:lnTo>
                    <a:pt x="0" y="0"/>
                  </a:lnTo>
                  <a:lnTo>
                    <a:pt x="0" y="388619"/>
                  </a:lnTo>
                  <a:close/>
                </a:path>
              </a:pathLst>
            </a:custGeom>
            <a:ln w="12700">
              <a:solidFill>
                <a:srgbClr val="000000"/>
              </a:solidFill>
            </a:ln>
          </p:spPr>
          <p:txBody>
            <a:bodyPr wrap="square" lIns="0" tIns="0" rIns="0" bIns="0" rtlCol="0"/>
            <a:lstStyle/>
            <a:p>
              <a:endParaRPr/>
            </a:p>
          </p:txBody>
        </p:sp>
      </p:grpSp>
      <p:sp>
        <p:nvSpPr>
          <p:cNvPr id="18" name="object 18"/>
          <p:cNvSpPr txBox="1"/>
          <p:nvPr/>
        </p:nvSpPr>
        <p:spPr>
          <a:xfrm>
            <a:off x="7279831" y="3322930"/>
            <a:ext cx="2571115" cy="391795"/>
          </a:xfrm>
          <a:prstGeom prst="rect">
            <a:avLst/>
          </a:prstGeom>
        </p:spPr>
        <p:txBody>
          <a:bodyPr vert="horz" wrap="square" lIns="0" tIns="12700" rIns="0" bIns="0" rtlCol="0">
            <a:spAutoFit/>
          </a:bodyPr>
          <a:lstStyle/>
          <a:p>
            <a:pPr marL="5715" algn="ctr">
              <a:lnSpc>
                <a:spcPct val="100000"/>
              </a:lnSpc>
              <a:spcBef>
                <a:spcPts val="100"/>
              </a:spcBef>
            </a:pPr>
            <a:r>
              <a:rPr sz="800" spc="5" dirty="0">
                <a:latin typeface="Tahoma"/>
                <a:cs typeface="Tahoma"/>
              </a:rPr>
              <a:t>S</a:t>
            </a:r>
            <a:r>
              <a:rPr sz="800" spc="30" dirty="0">
                <a:latin typeface="Tahoma"/>
                <a:cs typeface="Tahoma"/>
              </a:rPr>
              <a:t>e</a:t>
            </a:r>
            <a:r>
              <a:rPr sz="800" dirty="0">
                <a:latin typeface="Tahoma"/>
                <a:cs typeface="Tahoma"/>
              </a:rPr>
              <a:t>l</a:t>
            </a:r>
            <a:r>
              <a:rPr sz="800" spc="5" dirty="0">
                <a:latin typeface="Tahoma"/>
                <a:cs typeface="Tahoma"/>
              </a:rPr>
              <a:t>f</a:t>
            </a:r>
            <a:r>
              <a:rPr sz="800" spc="-45" dirty="0">
                <a:latin typeface="Tahoma"/>
                <a:cs typeface="Tahoma"/>
              </a:rPr>
              <a:t>-</a:t>
            </a:r>
            <a:r>
              <a:rPr sz="800" spc="10" dirty="0">
                <a:latin typeface="Tahoma"/>
                <a:cs typeface="Tahoma"/>
              </a:rPr>
              <a:t>Att</a:t>
            </a:r>
            <a:r>
              <a:rPr sz="800" spc="30" dirty="0">
                <a:latin typeface="Tahoma"/>
                <a:cs typeface="Tahoma"/>
              </a:rPr>
              <a:t>e</a:t>
            </a:r>
            <a:r>
              <a:rPr sz="800" spc="20" dirty="0">
                <a:latin typeface="Tahoma"/>
                <a:cs typeface="Tahoma"/>
              </a:rPr>
              <a:t>ntion</a:t>
            </a:r>
            <a:r>
              <a:rPr sz="800" spc="-85" dirty="0">
                <a:latin typeface="Tahoma"/>
                <a:cs typeface="Tahoma"/>
              </a:rPr>
              <a:t> </a:t>
            </a:r>
            <a:r>
              <a:rPr sz="800" spc="10" dirty="0">
                <a:latin typeface="Tahoma"/>
                <a:cs typeface="Tahoma"/>
              </a:rPr>
              <a:t>w</a:t>
            </a:r>
            <a:r>
              <a:rPr sz="800" spc="5" dirty="0">
                <a:latin typeface="Tahoma"/>
                <a:cs typeface="Tahoma"/>
              </a:rPr>
              <a:t>i</a:t>
            </a:r>
            <a:r>
              <a:rPr sz="800" spc="-20" dirty="0">
                <a:latin typeface="Tahoma"/>
                <a:cs typeface="Tahoma"/>
              </a:rPr>
              <a:t>t</a:t>
            </a:r>
            <a:r>
              <a:rPr sz="800" spc="20" dirty="0">
                <a:latin typeface="Tahoma"/>
                <a:cs typeface="Tahoma"/>
              </a:rPr>
              <a:t>h</a:t>
            </a:r>
            <a:r>
              <a:rPr sz="800" spc="-60" dirty="0">
                <a:latin typeface="Tahoma"/>
                <a:cs typeface="Tahoma"/>
              </a:rPr>
              <a:t> </a:t>
            </a:r>
            <a:r>
              <a:rPr sz="800" b="1" spc="-35" dirty="0">
                <a:solidFill>
                  <a:srgbClr val="FF0000"/>
                </a:solidFill>
                <a:latin typeface="Tahoma"/>
                <a:cs typeface="Tahoma"/>
              </a:rPr>
              <a:t>S</a:t>
            </a:r>
            <a:r>
              <a:rPr sz="800" b="1" spc="-5" dirty="0">
                <a:solidFill>
                  <a:srgbClr val="FF0000"/>
                </a:solidFill>
                <a:latin typeface="Tahoma"/>
                <a:cs typeface="Tahoma"/>
              </a:rPr>
              <a:t>li</a:t>
            </a:r>
            <a:r>
              <a:rPr sz="800" b="1" dirty="0">
                <a:solidFill>
                  <a:srgbClr val="FF0000"/>
                </a:solidFill>
                <a:latin typeface="Tahoma"/>
                <a:cs typeface="Tahoma"/>
              </a:rPr>
              <a:t>din</a:t>
            </a:r>
            <a:r>
              <a:rPr sz="800" b="1" spc="5" dirty="0">
                <a:solidFill>
                  <a:srgbClr val="FF0000"/>
                </a:solidFill>
                <a:latin typeface="Tahoma"/>
                <a:cs typeface="Tahoma"/>
              </a:rPr>
              <a:t>g</a:t>
            </a:r>
            <a:r>
              <a:rPr sz="800" b="1" spc="-60" dirty="0">
                <a:solidFill>
                  <a:srgbClr val="FF0000"/>
                </a:solidFill>
                <a:latin typeface="Tahoma"/>
                <a:cs typeface="Tahoma"/>
              </a:rPr>
              <a:t> </a:t>
            </a:r>
            <a:r>
              <a:rPr sz="800" b="1" dirty="0">
                <a:solidFill>
                  <a:srgbClr val="FF0000"/>
                </a:solidFill>
                <a:latin typeface="Tahoma"/>
                <a:cs typeface="Tahoma"/>
              </a:rPr>
              <a:t>Wind</a:t>
            </a:r>
            <a:r>
              <a:rPr sz="800" b="1" spc="-5" dirty="0">
                <a:solidFill>
                  <a:srgbClr val="FF0000"/>
                </a:solidFill>
                <a:latin typeface="Tahoma"/>
                <a:cs typeface="Tahoma"/>
              </a:rPr>
              <a:t>o</a:t>
            </a:r>
            <a:r>
              <a:rPr sz="800" b="1" spc="-15" dirty="0">
                <a:solidFill>
                  <a:srgbClr val="FF0000"/>
                </a:solidFill>
                <a:latin typeface="Tahoma"/>
                <a:cs typeface="Tahoma"/>
              </a:rPr>
              <a:t>w</a:t>
            </a:r>
            <a:r>
              <a:rPr sz="800" b="1" spc="-60" dirty="0">
                <a:solidFill>
                  <a:srgbClr val="FF0000"/>
                </a:solidFill>
                <a:latin typeface="Tahoma"/>
                <a:cs typeface="Tahoma"/>
              </a:rPr>
              <a:t> </a:t>
            </a:r>
            <a:r>
              <a:rPr sz="800" b="1" dirty="0">
                <a:solidFill>
                  <a:srgbClr val="FF0000"/>
                </a:solidFill>
                <a:latin typeface="Tahoma"/>
                <a:cs typeface="Tahoma"/>
              </a:rPr>
              <a:t>At</a:t>
            </a:r>
            <a:r>
              <a:rPr sz="800" b="1" spc="-20" dirty="0">
                <a:solidFill>
                  <a:srgbClr val="FF0000"/>
                </a:solidFill>
                <a:latin typeface="Tahoma"/>
                <a:cs typeface="Tahoma"/>
              </a:rPr>
              <a:t>tention</a:t>
            </a:r>
            <a:endParaRPr sz="800">
              <a:latin typeface="Tahoma"/>
              <a:cs typeface="Tahoma"/>
            </a:endParaRPr>
          </a:p>
          <a:p>
            <a:pPr marL="117475" marR="102870" algn="ctr">
              <a:lnSpc>
                <a:spcPct val="100000"/>
              </a:lnSpc>
              <a:spcBef>
                <a:spcPts val="5"/>
              </a:spcBef>
            </a:pPr>
            <a:r>
              <a:rPr sz="800" spc="35" dirty="0">
                <a:latin typeface="Tahoma"/>
                <a:cs typeface="Tahoma"/>
              </a:rPr>
              <a:t>,Grouped</a:t>
            </a:r>
            <a:r>
              <a:rPr sz="800" spc="-45" dirty="0">
                <a:latin typeface="Tahoma"/>
                <a:cs typeface="Tahoma"/>
              </a:rPr>
              <a:t> </a:t>
            </a:r>
            <a:r>
              <a:rPr sz="800" spc="30" dirty="0">
                <a:latin typeface="Tahoma"/>
                <a:cs typeface="Tahoma"/>
              </a:rPr>
              <a:t>Query</a:t>
            </a:r>
            <a:r>
              <a:rPr sz="800" spc="-55" dirty="0">
                <a:latin typeface="Tahoma"/>
                <a:cs typeface="Tahoma"/>
              </a:rPr>
              <a:t> </a:t>
            </a:r>
            <a:r>
              <a:rPr sz="800" spc="10" dirty="0">
                <a:latin typeface="Tahoma"/>
                <a:cs typeface="Tahoma"/>
              </a:rPr>
              <a:t>Attention,</a:t>
            </a:r>
            <a:r>
              <a:rPr sz="800" spc="-70" dirty="0">
                <a:latin typeface="Tahoma"/>
                <a:cs typeface="Tahoma"/>
              </a:rPr>
              <a:t> </a:t>
            </a:r>
            <a:r>
              <a:rPr sz="800" spc="30" dirty="0">
                <a:latin typeface="Tahoma"/>
                <a:cs typeface="Tahoma"/>
              </a:rPr>
              <a:t>and</a:t>
            </a:r>
            <a:r>
              <a:rPr sz="800" spc="-45" dirty="0">
                <a:latin typeface="Tahoma"/>
                <a:cs typeface="Tahoma"/>
              </a:rPr>
              <a:t> </a:t>
            </a:r>
            <a:r>
              <a:rPr sz="800" b="1" spc="-10" dirty="0">
                <a:solidFill>
                  <a:srgbClr val="FF0000"/>
                </a:solidFill>
                <a:latin typeface="Tahoma"/>
                <a:cs typeface="Tahoma"/>
              </a:rPr>
              <a:t>Rolling</a:t>
            </a:r>
            <a:r>
              <a:rPr sz="800" b="1" spc="-55" dirty="0">
                <a:solidFill>
                  <a:srgbClr val="FF0000"/>
                </a:solidFill>
                <a:latin typeface="Tahoma"/>
                <a:cs typeface="Tahoma"/>
              </a:rPr>
              <a:t> </a:t>
            </a:r>
            <a:r>
              <a:rPr sz="800" b="1" spc="-20" dirty="0">
                <a:solidFill>
                  <a:srgbClr val="FF0000"/>
                </a:solidFill>
                <a:latin typeface="Tahoma"/>
                <a:cs typeface="Tahoma"/>
              </a:rPr>
              <a:t>Buffer</a:t>
            </a:r>
            <a:r>
              <a:rPr sz="800" b="1" spc="-55" dirty="0">
                <a:solidFill>
                  <a:srgbClr val="FF0000"/>
                </a:solidFill>
                <a:latin typeface="Tahoma"/>
                <a:cs typeface="Tahoma"/>
              </a:rPr>
              <a:t> </a:t>
            </a:r>
            <a:r>
              <a:rPr sz="800" spc="5" dirty="0">
                <a:latin typeface="Tahoma"/>
                <a:cs typeface="Tahoma"/>
              </a:rPr>
              <a:t>KV- </a:t>
            </a:r>
            <a:r>
              <a:rPr sz="800" spc="-235" dirty="0">
                <a:latin typeface="Tahoma"/>
                <a:cs typeface="Tahoma"/>
              </a:rPr>
              <a:t> </a:t>
            </a:r>
            <a:r>
              <a:rPr sz="800" spc="35" dirty="0">
                <a:latin typeface="Tahoma"/>
                <a:cs typeface="Tahoma"/>
              </a:rPr>
              <a:t>Cache</a:t>
            </a:r>
            <a:endParaRPr sz="800">
              <a:latin typeface="Tahoma"/>
              <a:cs typeface="Tahoma"/>
            </a:endParaRPr>
          </a:p>
        </p:txBody>
      </p:sp>
      <p:grpSp>
        <p:nvGrpSpPr>
          <p:cNvPr id="19" name="object 19"/>
          <p:cNvGrpSpPr/>
          <p:nvPr/>
        </p:nvGrpSpPr>
        <p:grpSpPr>
          <a:xfrm>
            <a:off x="8530273" y="3752697"/>
            <a:ext cx="1273175" cy="1146175"/>
            <a:chOff x="8413242" y="4166361"/>
            <a:chExt cx="1273175" cy="1146175"/>
          </a:xfrm>
        </p:grpSpPr>
        <p:pic>
          <p:nvPicPr>
            <p:cNvPr id="20" name="object 20"/>
            <p:cNvPicPr/>
            <p:nvPr/>
          </p:nvPicPr>
          <p:blipFill>
            <a:blip r:embed="rId3" cstate="print"/>
            <a:stretch>
              <a:fillRect/>
            </a:stretch>
          </p:blipFill>
          <p:spPr>
            <a:xfrm>
              <a:off x="8535670" y="4166361"/>
              <a:ext cx="142239" cy="127000"/>
            </a:xfrm>
            <a:prstGeom prst="rect">
              <a:avLst/>
            </a:prstGeom>
          </p:spPr>
        </p:pic>
        <p:sp>
          <p:nvSpPr>
            <p:cNvPr id="21" name="object 21"/>
            <p:cNvSpPr/>
            <p:nvPr/>
          </p:nvSpPr>
          <p:spPr>
            <a:xfrm>
              <a:off x="8413242" y="4348733"/>
              <a:ext cx="1273175" cy="963930"/>
            </a:xfrm>
            <a:custGeom>
              <a:avLst/>
              <a:gdLst/>
              <a:ahLst/>
              <a:cxnLst/>
              <a:rect l="l" t="t" r="r" b="b"/>
              <a:pathLst>
                <a:path w="1273175" h="963929">
                  <a:moveTo>
                    <a:pt x="76200" y="705612"/>
                  </a:moveTo>
                  <a:lnTo>
                    <a:pt x="69850" y="692912"/>
                  </a:lnTo>
                  <a:lnTo>
                    <a:pt x="38100" y="629412"/>
                  </a:lnTo>
                  <a:lnTo>
                    <a:pt x="0" y="705612"/>
                  </a:lnTo>
                  <a:lnTo>
                    <a:pt x="28575" y="705612"/>
                  </a:lnTo>
                  <a:lnTo>
                    <a:pt x="28575" y="963422"/>
                  </a:lnTo>
                  <a:lnTo>
                    <a:pt x="47625" y="963422"/>
                  </a:lnTo>
                  <a:lnTo>
                    <a:pt x="47625" y="705612"/>
                  </a:lnTo>
                  <a:lnTo>
                    <a:pt x="76200" y="705612"/>
                  </a:lnTo>
                  <a:close/>
                </a:path>
                <a:path w="1273175" h="963929">
                  <a:moveTo>
                    <a:pt x="1272794" y="76200"/>
                  </a:moveTo>
                  <a:lnTo>
                    <a:pt x="1266444" y="63500"/>
                  </a:lnTo>
                  <a:lnTo>
                    <a:pt x="1234694" y="0"/>
                  </a:lnTo>
                  <a:lnTo>
                    <a:pt x="1196594" y="76200"/>
                  </a:lnTo>
                  <a:lnTo>
                    <a:pt x="1225169" y="76200"/>
                  </a:lnTo>
                  <a:lnTo>
                    <a:pt x="1225169" y="174244"/>
                  </a:lnTo>
                  <a:lnTo>
                    <a:pt x="51092" y="174244"/>
                  </a:lnTo>
                  <a:lnTo>
                    <a:pt x="52857" y="76365"/>
                  </a:lnTo>
                  <a:lnTo>
                    <a:pt x="81407" y="76835"/>
                  </a:lnTo>
                  <a:lnTo>
                    <a:pt x="74968" y="63373"/>
                  </a:lnTo>
                  <a:lnTo>
                    <a:pt x="44704" y="0"/>
                  </a:lnTo>
                  <a:lnTo>
                    <a:pt x="5207" y="75565"/>
                  </a:lnTo>
                  <a:lnTo>
                    <a:pt x="33807" y="76047"/>
                  </a:lnTo>
                  <a:lnTo>
                    <a:pt x="32042" y="174244"/>
                  </a:lnTo>
                  <a:lnTo>
                    <a:pt x="28575" y="174244"/>
                  </a:lnTo>
                  <a:lnTo>
                    <a:pt x="28575" y="367411"/>
                  </a:lnTo>
                  <a:lnTo>
                    <a:pt x="28575" y="367665"/>
                  </a:lnTo>
                  <a:lnTo>
                    <a:pt x="41275" y="367665"/>
                  </a:lnTo>
                  <a:lnTo>
                    <a:pt x="47625" y="367792"/>
                  </a:lnTo>
                  <a:lnTo>
                    <a:pt x="47625" y="367665"/>
                  </a:lnTo>
                  <a:lnTo>
                    <a:pt x="50749" y="193294"/>
                  </a:lnTo>
                  <a:lnTo>
                    <a:pt x="1244219" y="193294"/>
                  </a:lnTo>
                  <a:lnTo>
                    <a:pt x="1244219" y="174244"/>
                  </a:lnTo>
                  <a:lnTo>
                    <a:pt x="1244219" y="76200"/>
                  </a:lnTo>
                  <a:lnTo>
                    <a:pt x="1272794" y="76200"/>
                  </a:lnTo>
                  <a:close/>
                </a:path>
              </a:pathLst>
            </a:custGeom>
            <a:solidFill>
              <a:srgbClr val="000000"/>
            </a:solidFill>
          </p:spPr>
          <p:txBody>
            <a:bodyPr wrap="square" lIns="0" tIns="0" rIns="0" bIns="0" rtlCol="0"/>
            <a:lstStyle/>
            <a:p>
              <a:endParaRPr/>
            </a:p>
          </p:txBody>
        </p:sp>
      </p:grpSp>
      <p:pic>
        <p:nvPicPr>
          <p:cNvPr id="22" name="object 22"/>
          <p:cNvPicPr/>
          <p:nvPr/>
        </p:nvPicPr>
        <p:blipFill>
          <a:blip r:embed="rId4" cstate="print"/>
          <a:stretch>
            <a:fillRect/>
          </a:stretch>
        </p:blipFill>
        <p:spPr>
          <a:xfrm>
            <a:off x="8530273" y="5161889"/>
            <a:ext cx="76200" cy="138963"/>
          </a:xfrm>
          <a:prstGeom prst="rect">
            <a:avLst/>
          </a:prstGeom>
        </p:spPr>
      </p:pic>
      <p:sp>
        <p:nvSpPr>
          <p:cNvPr id="23" name="object 23"/>
          <p:cNvSpPr txBox="1"/>
          <p:nvPr/>
        </p:nvSpPr>
        <p:spPr>
          <a:xfrm>
            <a:off x="9700070" y="3723233"/>
            <a:ext cx="121285" cy="193675"/>
          </a:xfrm>
          <a:prstGeom prst="rect">
            <a:avLst/>
          </a:prstGeom>
        </p:spPr>
        <p:txBody>
          <a:bodyPr vert="horz" wrap="square" lIns="0" tIns="12700" rIns="0" bIns="0" rtlCol="0">
            <a:spAutoFit/>
          </a:bodyPr>
          <a:lstStyle/>
          <a:p>
            <a:pPr marL="12700">
              <a:lnSpc>
                <a:spcPct val="100000"/>
              </a:lnSpc>
              <a:spcBef>
                <a:spcPts val="100"/>
              </a:spcBef>
            </a:pPr>
            <a:r>
              <a:rPr sz="1100" b="1" spc="10" dirty="0">
                <a:latin typeface="Tahoma"/>
                <a:cs typeface="Tahoma"/>
              </a:rPr>
              <a:t>V</a:t>
            </a:r>
            <a:endParaRPr sz="1100">
              <a:latin typeface="Tahoma"/>
              <a:cs typeface="Tahoma"/>
            </a:endParaRPr>
          </a:p>
        </p:txBody>
      </p:sp>
      <p:sp>
        <p:nvSpPr>
          <p:cNvPr id="24" name="object 24"/>
          <p:cNvSpPr txBox="1"/>
          <p:nvPr/>
        </p:nvSpPr>
        <p:spPr>
          <a:xfrm>
            <a:off x="7355269" y="3723233"/>
            <a:ext cx="1277620" cy="193675"/>
          </a:xfrm>
          <a:prstGeom prst="rect">
            <a:avLst/>
          </a:prstGeom>
        </p:spPr>
        <p:txBody>
          <a:bodyPr vert="horz" wrap="square" lIns="0" tIns="12700" rIns="0" bIns="0" rtlCol="0">
            <a:spAutoFit/>
          </a:bodyPr>
          <a:lstStyle/>
          <a:p>
            <a:pPr marL="12700">
              <a:lnSpc>
                <a:spcPct val="100000"/>
              </a:lnSpc>
              <a:spcBef>
                <a:spcPts val="100"/>
              </a:spcBef>
              <a:tabLst>
                <a:tab pos="1164590" algn="l"/>
              </a:tabLst>
            </a:pPr>
            <a:r>
              <a:rPr sz="1650" b="1" spc="142" baseline="2525" dirty="0">
                <a:latin typeface="Tahoma"/>
                <a:cs typeface="Tahoma"/>
              </a:rPr>
              <a:t>Q	</a:t>
            </a:r>
            <a:r>
              <a:rPr sz="1100" b="1" spc="15" dirty="0">
                <a:latin typeface="Tahoma"/>
                <a:cs typeface="Tahoma"/>
              </a:rPr>
              <a:t>K</a:t>
            </a:r>
            <a:endParaRPr sz="1100">
              <a:latin typeface="Tahoma"/>
              <a:cs typeface="Tahoma"/>
            </a:endParaRPr>
          </a:p>
        </p:txBody>
      </p:sp>
      <p:grpSp>
        <p:nvGrpSpPr>
          <p:cNvPr id="25" name="object 25"/>
          <p:cNvGrpSpPr/>
          <p:nvPr/>
        </p:nvGrpSpPr>
        <p:grpSpPr>
          <a:xfrm>
            <a:off x="7139369" y="2524353"/>
            <a:ext cx="1869439" cy="2374900"/>
            <a:chOff x="7022338" y="2938017"/>
            <a:chExt cx="1869439" cy="2374900"/>
          </a:xfrm>
        </p:grpSpPr>
        <p:sp>
          <p:nvSpPr>
            <p:cNvPr id="26" name="object 26"/>
            <p:cNvSpPr/>
            <p:nvPr/>
          </p:nvSpPr>
          <p:spPr>
            <a:xfrm>
              <a:off x="7276338" y="4339589"/>
              <a:ext cx="1184275" cy="375920"/>
            </a:xfrm>
            <a:custGeom>
              <a:avLst/>
              <a:gdLst/>
              <a:ahLst/>
              <a:cxnLst/>
              <a:rect l="l" t="t" r="r" b="b"/>
              <a:pathLst>
                <a:path w="1184275" h="375920">
                  <a:moveTo>
                    <a:pt x="1164970" y="187833"/>
                  </a:moveTo>
                  <a:lnTo>
                    <a:pt x="1164970" y="375666"/>
                  </a:lnTo>
                  <a:lnTo>
                    <a:pt x="1184020" y="375666"/>
                  </a:lnTo>
                  <a:lnTo>
                    <a:pt x="1184020" y="197358"/>
                  </a:lnTo>
                  <a:lnTo>
                    <a:pt x="1174495" y="197358"/>
                  </a:lnTo>
                  <a:lnTo>
                    <a:pt x="1164970" y="187833"/>
                  </a:lnTo>
                  <a:close/>
                </a:path>
                <a:path w="1184275" h="375920">
                  <a:moveTo>
                    <a:pt x="47625" y="63500"/>
                  </a:moveTo>
                  <a:lnTo>
                    <a:pt x="28575" y="63500"/>
                  </a:lnTo>
                  <a:lnTo>
                    <a:pt x="28575" y="197358"/>
                  </a:lnTo>
                  <a:lnTo>
                    <a:pt x="1164970" y="197358"/>
                  </a:lnTo>
                  <a:lnTo>
                    <a:pt x="1164970" y="187833"/>
                  </a:lnTo>
                  <a:lnTo>
                    <a:pt x="47625" y="187833"/>
                  </a:lnTo>
                  <a:lnTo>
                    <a:pt x="38100" y="178308"/>
                  </a:lnTo>
                  <a:lnTo>
                    <a:pt x="47625" y="178308"/>
                  </a:lnTo>
                  <a:lnTo>
                    <a:pt x="47625" y="63500"/>
                  </a:lnTo>
                  <a:close/>
                </a:path>
                <a:path w="1184275" h="375920">
                  <a:moveTo>
                    <a:pt x="1184020" y="178308"/>
                  </a:moveTo>
                  <a:lnTo>
                    <a:pt x="47625" y="178308"/>
                  </a:lnTo>
                  <a:lnTo>
                    <a:pt x="47625" y="187833"/>
                  </a:lnTo>
                  <a:lnTo>
                    <a:pt x="1164970" y="187833"/>
                  </a:lnTo>
                  <a:lnTo>
                    <a:pt x="1174495" y="197358"/>
                  </a:lnTo>
                  <a:lnTo>
                    <a:pt x="1184020" y="197358"/>
                  </a:lnTo>
                  <a:lnTo>
                    <a:pt x="1184020" y="178308"/>
                  </a:lnTo>
                  <a:close/>
                </a:path>
                <a:path w="1184275" h="375920">
                  <a:moveTo>
                    <a:pt x="47625" y="178308"/>
                  </a:moveTo>
                  <a:lnTo>
                    <a:pt x="38100" y="178308"/>
                  </a:lnTo>
                  <a:lnTo>
                    <a:pt x="47625" y="187833"/>
                  </a:lnTo>
                  <a:lnTo>
                    <a:pt x="47625" y="178308"/>
                  </a:lnTo>
                  <a:close/>
                </a:path>
                <a:path w="1184275" h="375920">
                  <a:moveTo>
                    <a:pt x="38100" y="0"/>
                  </a:moveTo>
                  <a:lnTo>
                    <a:pt x="0" y="76200"/>
                  </a:lnTo>
                  <a:lnTo>
                    <a:pt x="28575" y="76200"/>
                  </a:lnTo>
                  <a:lnTo>
                    <a:pt x="28575" y="63500"/>
                  </a:lnTo>
                  <a:lnTo>
                    <a:pt x="69850" y="63500"/>
                  </a:lnTo>
                  <a:lnTo>
                    <a:pt x="38100" y="0"/>
                  </a:lnTo>
                  <a:close/>
                </a:path>
                <a:path w="1184275" h="375920">
                  <a:moveTo>
                    <a:pt x="69850" y="63500"/>
                  </a:moveTo>
                  <a:lnTo>
                    <a:pt x="47625" y="63500"/>
                  </a:lnTo>
                  <a:lnTo>
                    <a:pt x="47625" y="76200"/>
                  </a:lnTo>
                  <a:lnTo>
                    <a:pt x="76200" y="76200"/>
                  </a:lnTo>
                  <a:lnTo>
                    <a:pt x="69850" y="63500"/>
                  </a:lnTo>
                  <a:close/>
                </a:path>
              </a:pathLst>
            </a:custGeom>
            <a:solidFill>
              <a:srgbClr val="000000"/>
            </a:solidFill>
          </p:spPr>
          <p:txBody>
            <a:bodyPr wrap="square" lIns="0" tIns="0" rIns="0" bIns="0" rtlCol="0"/>
            <a:lstStyle/>
            <a:p>
              <a:endParaRPr/>
            </a:p>
          </p:txBody>
        </p:sp>
        <p:pic>
          <p:nvPicPr>
            <p:cNvPr id="27" name="object 27"/>
            <p:cNvPicPr/>
            <p:nvPr/>
          </p:nvPicPr>
          <p:blipFill>
            <a:blip r:embed="rId5" cstate="print"/>
            <a:stretch>
              <a:fillRect/>
            </a:stretch>
          </p:blipFill>
          <p:spPr>
            <a:xfrm>
              <a:off x="8345424" y="3418331"/>
              <a:ext cx="211835" cy="185927"/>
            </a:xfrm>
            <a:prstGeom prst="rect">
              <a:avLst/>
            </a:prstGeom>
          </p:spPr>
        </p:pic>
        <p:pic>
          <p:nvPicPr>
            <p:cNvPr id="28" name="object 28"/>
            <p:cNvPicPr/>
            <p:nvPr/>
          </p:nvPicPr>
          <p:blipFill>
            <a:blip r:embed="rId6" cstate="print"/>
            <a:stretch>
              <a:fillRect/>
            </a:stretch>
          </p:blipFill>
          <p:spPr>
            <a:xfrm>
              <a:off x="8413241" y="3605021"/>
              <a:ext cx="76200" cy="137794"/>
            </a:xfrm>
            <a:prstGeom prst="rect">
              <a:avLst/>
            </a:prstGeom>
          </p:spPr>
        </p:pic>
        <p:sp>
          <p:nvSpPr>
            <p:cNvPr id="29" name="object 29"/>
            <p:cNvSpPr/>
            <p:nvPr/>
          </p:nvSpPr>
          <p:spPr>
            <a:xfrm>
              <a:off x="7022338" y="3473957"/>
              <a:ext cx="1439545" cy="1838960"/>
            </a:xfrm>
            <a:custGeom>
              <a:avLst/>
              <a:gdLst/>
              <a:ahLst/>
              <a:cxnLst/>
              <a:rect l="l" t="t" r="r" b="b"/>
              <a:pathLst>
                <a:path w="1439545" h="1838960">
                  <a:moveTo>
                    <a:pt x="1420367" y="1693164"/>
                  </a:moveTo>
                  <a:lnTo>
                    <a:pt x="1420367" y="1838832"/>
                  </a:lnTo>
                  <a:lnTo>
                    <a:pt x="1439417" y="1838832"/>
                  </a:lnTo>
                  <a:lnTo>
                    <a:pt x="1439417" y="1702689"/>
                  </a:lnTo>
                  <a:lnTo>
                    <a:pt x="1429892" y="1702689"/>
                  </a:lnTo>
                  <a:lnTo>
                    <a:pt x="1420367" y="1693164"/>
                  </a:lnTo>
                  <a:close/>
                </a:path>
                <a:path w="1439545" h="1838960">
                  <a:moveTo>
                    <a:pt x="1247647" y="28575"/>
                  </a:moveTo>
                  <a:lnTo>
                    <a:pt x="0" y="28575"/>
                  </a:lnTo>
                  <a:lnTo>
                    <a:pt x="0" y="1702689"/>
                  </a:lnTo>
                  <a:lnTo>
                    <a:pt x="1420367" y="1702689"/>
                  </a:lnTo>
                  <a:lnTo>
                    <a:pt x="1420367" y="1693164"/>
                  </a:lnTo>
                  <a:lnTo>
                    <a:pt x="19050" y="1693164"/>
                  </a:lnTo>
                  <a:lnTo>
                    <a:pt x="9525" y="1683639"/>
                  </a:lnTo>
                  <a:lnTo>
                    <a:pt x="19050" y="1683639"/>
                  </a:lnTo>
                  <a:lnTo>
                    <a:pt x="19050" y="47625"/>
                  </a:lnTo>
                  <a:lnTo>
                    <a:pt x="9525" y="47625"/>
                  </a:lnTo>
                  <a:lnTo>
                    <a:pt x="19050" y="38100"/>
                  </a:lnTo>
                  <a:lnTo>
                    <a:pt x="1247647" y="38100"/>
                  </a:lnTo>
                  <a:lnTo>
                    <a:pt x="1247647" y="28575"/>
                  </a:lnTo>
                  <a:close/>
                </a:path>
                <a:path w="1439545" h="1838960">
                  <a:moveTo>
                    <a:pt x="1439417" y="1683639"/>
                  </a:moveTo>
                  <a:lnTo>
                    <a:pt x="19050" y="1683639"/>
                  </a:lnTo>
                  <a:lnTo>
                    <a:pt x="19050" y="1693164"/>
                  </a:lnTo>
                  <a:lnTo>
                    <a:pt x="1420367" y="1693164"/>
                  </a:lnTo>
                  <a:lnTo>
                    <a:pt x="1429892" y="1702689"/>
                  </a:lnTo>
                  <a:lnTo>
                    <a:pt x="1439417" y="1702689"/>
                  </a:lnTo>
                  <a:lnTo>
                    <a:pt x="1439417" y="1683639"/>
                  </a:lnTo>
                  <a:close/>
                </a:path>
                <a:path w="1439545" h="1838960">
                  <a:moveTo>
                    <a:pt x="19050" y="1683639"/>
                  </a:moveTo>
                  <a:lnTo>
                    <a:pt x="9525" y="1683639"/>
                  </a:lnTo>
                  <a:lnTo>
                    <a:pt x="19050" y="1693164"/>
                  </a:lnTo>
                  <a:lnTo>
                    <a:pt x="19050" y="1683639"/>
                  </a:lnTo>
                  <a:close/>
                </a:path>
                <a:path w="1439545" h="1838960">
                  <a:moveTo>
                    <a:pt x="1247647" y="0"/>
                  </a:moveTo>
                  <a:lnTo>
                    <a:pt x="1247647" y="76200"/>
                  </a:lnTo>
                  <a:lnTo>
                    <a:pt x="1304797" y="47625"/>
                  </a:lnTo>
                  <a:lnTo>
                    <a:pt x="1260347" y="47625"/>
                  </a:lnTo>
                  <a:lnTo>
                    <a:pt x="1260347" y="28575"/>
                  </a:lnTo>
                  <a:lnTo>
                    <a:pt x="1304797" y="28575"/>
                  </a:lnTo>
                  <a:lnTo>
                    <a:pt x="1247647" y="0"/>
                  </a:lnTo>
                  <a:close/>
                </a:path>
                <a:path w="1439545" h="1838960">
                  <a:moveTo>
                    <a:pt x="19050" y="38100"/>
                  </a:moveTo>
                  <a:lnTo>
                    <a:pt x="9525" y="47625"/>
                  </a:lnTo>
                  <a:lnTo>
                    <a:pt x="19050" y="47625"/>
                  </a:lnTo>
                  <a:lnTo>
                    <a:pt x="19050" y="38100"/>
                  </a:lnTo>
                  <a:close/>
                </a:path>
                <a:path w="1439545" h="1838960">
                  <a:moveTo>
                    <a:pt x="1247647" y="38100"/>
                  </a:moveTo>
                  <a:lnTo>
                    <a:pt x="19050" y="38100"/>
                  </a:lnTo>
                  <a:lnTo>
                    <a:pt x="19050" y="47625"/>
                  </a:lnTo>
                  <a:lnTo>
                    <a:pt x="1247647" y="47625"/>
                  </a:lnTo>
                  <a:lnTo>
                    <a:pt x="1247647" y="38100"/>
                  </a:lnTo>
                  <a:close/>
                </a:path>
                <a:path w="1439545" h="1838960">
                  <a:moveTo>
                    <a:pt x="1304797" y="28575"/>
                  </a:moveTo>
                  <a:lnTo>
                    <a:pt x="1260347" y="28575"/>
                  </a:lnTo>
                  <a:lnTo>
                    <a:pt x="1260347" y="47625"/>
                  </a:lnTo>
                  <a:lnTo>
                    <a:pt x="1304797" y="47625"/>
                  </a:lnTo>
                  <a:lnTo>
                    <a:pt x="1323847" y="38100"/>
                  </a:lnTo>
                  <a:lnTo>
                    <a:pt x="1304797" y="28575"/>
                  </a:lnTo>
                  <a:close/>
                </a:path>
              </a:pathLst>
            </a:custGeom>
            <a:solidFill>
              <a:srgbClr val="000000"/>
            </a:solidFill>
          </p:spPr>
          <p:txBody>
            <a:bodyPr wrap="square" lIns="0" tIns="0" rIns="0" bIns="0" rtlCol="0"/>
            <a:lstStyle/>
            <a:p>
              <a:endParaRPr/>
            </a:p>
          </p:txBody>
        </p:sp>
        <p:sp>
          <p:nvSpPr>
            <p:cNvPr id="30" name="object 30"/>
            <p:cNvSpPr/>
            <p:nvPr/>
          </p:nvSpPr>
          <p:spPr>
            <a:xfrm>
              <a:off x="8016240" y="2944367"/>
              <a:ext cx="868680" cy="264160"/>
            </a:xfrm>
            <a:custGeom>
              <a:avLst/>
              <a:gdLst/>
              <a:ahLst/>
              <a:cxnLst/>
              <a:rect l="l" t="t" r="r" b="b"/>
              <a:pathLst>
                <a:path w="868679" h="264160">
                  <a:moveTo>
                    <a:pt x="868679" y="0"/>
                  </a:moveTo>
                  <a:lnTo>
                    <a:pt x="0" y="0"/>
                  </a:lnTo>
                  <a:lnTo>
                    <a:pt x="0" y="263651"/>
                  </a:lnTo>
                  <a:lnTo>
                    <a:pt x="868679" y="263651"/>
                  </a:lnTo>
                  <a:lnTo>
                    <a:pt x="868679" y="0"/>
                  </a:lnTo>
                  <a:close/>
                </a:path>
              </a:pathLst>
            </a:custGeom>
            <a:solidFill>
              <a:srgbClr val="F1F4C1"/>
            </a:solidFill>
          </p:spPr>
          <p:txBody>
            <a:bodyPr wrap="square" lIns="0" tIns="0" rIns="0" bIns="0" rtlCol="0"/>
            <a:lstStyle/>
            <a:p>
              <a:endParaRPr/>
            </a:p>
          </p:txBody>
        </p:sp>
        <p:sp>
          <p:nvSpPr>
            <p:cNvPr id="31" name="object 31"/>
            <p:cNvSpPr/>
            <p:nvPr/>
          </p:nvSpPr>
          <p:spPr>
            <a:xfrm>
              <a:off x="8016240" y="2944367"/>
              <a:ext cx="868680" cy="264160"/>
            </a:xfrm>
            <a:custGeom>
              <a:avLst/>
              <a:gdLst/>
              <a:ahLst/>
              <a:cxnLst/>
              <a:rect l="l" t="t" r="r" b="b"/>
              <a:pathLst>
                <a:path w="868679" h="264160">
                  <a:moveTo>
                    <a:pt x="0" y="263651"/>
                  </a:moveTo>
                  <a:lnTo>
                    <a:pt x="868679" y="263651"/>
                  </a:lnTo>
                  <a:lnTo>
                    <a:pt x="868679" y="0"/>
                  </a:lnTo>
                  <a:lnTo>
                    <a:pt x="0" y="0"/>
                  </a:lnTo>
                  <a:lnTo>
                    <a:pt x="0" y="263651"/>
                  </a:lnTo>
                  <a:close/>
                </a:path>
              </a:pathLst>
            </a:custGeom>
            <a:ln w="12700">
              <a:solidFill>
                <a:srgbClr val="000000"/>
              </a:solidFill>
            </a:ln>
          </p:spPr>
          <p:txBody>
            <a:bodyPr wrap="square" lIns="0" tIns="0" rIns="0" bIns="0" rtlCol="0"/>
            <a:lstStyle/>
            <a:p>
              <a:endParaRPr/>
            </a:p>
          </p:txBody>
        </p:sp>
      </p:grpSp>
      <p:pic>
        <p:nvPicPr>
          <p:cNvPr id="32" name="object 32"/>
          <p:cNvPicPr/>
          <p:nvPr/>
        </p:nvPicPr>
        <p:blipFill>
          <a:blip r:embed="rId7" cstate="print"/>
          <a:stretch>
            <a:fillRect/>
          </a:stretch>
        </p:blipFill>
        <p:spPr>
          <a:xfrm>
            <a:off x="10327576" y="3751174"/>
            <a:ext cx="140715" cy="125475"/>
          </a:xfrm>
          <a:prstGeom prst="rect">
            <a:avLst/>
          </a:prstGeom>
        </p:spPr>
      </p:pic>
      <p:sp>
        <p:nvSpPr>
          <p:cNvPr id="33" name="object 33"/>
          <p:cNvSpPr txBox="1"/>
          <p:nvPr/>
        </p:nvSpPr>
        <p:spPr>
          <a:xfrm>
            <a:off x="10540683" y="3745713"/>
            <a:ext cx="992505" cy="270510"/>
          </a:xfrm>
          <a:prstGeom prst="rect">
            <a:avLst/>
          </a:prstGeom>
        </p:spPr>
        <p:txBody>
          <a:bodyPr vert="horz" wrap="square" lIns="0" tIns="12700" rIns="0" bIns="0" rtlCol="0">
            <a:spAutoFit/>
          </a:bodyPr>
          <a:lstStyle/>
          <a:p>
            <a:pPr marL="12700">
              <a:lnSpc>
                <a:spcPct val="100000"/>
              </a:lnSpc>
              <a:spcBef>
                <a:spcPts val="100"/>
              </a:spcBef>
            </a:pPr>
            <a:r>
              <a:rPr sz="800" dirty="0">
                <a:latin typeface="Tahoma"/>
                <a:cs typeface="Tahoma"/>
              </a:rPr>
              <a:t>Rotary</a:t>
            </a:r>
            <a:endParaRPr sz="800">
              <a:latin typeface="Tahoma"/>
              <a:cs typeface="Tahoma"/>
            </a:endParaRPr>
          </a:p>
          <a:p>
            <a:pPr marL="12700">
              <a:lnSpc>
                <a:spcPct val="100000"/>
              </a:lnSpc>
            </a:pPr>
            <a:r>
              <a:rPr sz="800" spc="25" dirty="0">
                <a:latin typeface="Tahoma"/>
                <a:cs typeface="Tahoma"/>
              </a:rPr>
              <a:t>Pos</a:t>
            </a:r>
            <a:r>
              <a:rPr sz="800" spc="10" dirty="0">
                <a:latin typeface="Tahoma"/>
                <a:cs typeface="Tahoma"/>
              </a:rPr>
              <a:t>i</a:t>
            </a:r>
            <a:r>
              <a:rPr sz="800" spc="-20" dirty="0">
                <a:latin typeface="Tahoma"/>
                <a:cs typeface="Tahoma"/>
              </a:rPr>
              <a:t>t</a:t>
            </a:r>
            <a:r>
              <a:rPr sz="800" spc="25" dirty="0">
                <a:latin typeface="Tahoma"/>
                <a:cs typeface="Tahoma"/>
              </a:rPr>
              <a:t>ion</a:t>
            </a:r>
            <a:r>
              <a:rPr sz="800" spc="20" dirty="0">
                <a:latin typeface="Tahoma"/>
                <a:cs typeface="Tahoma"/>
              </a:rPr>
              <a:t>al</a:t>
            </a:r>
            <a:r>
              <a:rPr sz="800" spc="-95" dirty="0">
                <a:latin typeface="Tahoma"/>
                <a:cs typeface="Tahoma"/>
              </a:rPr>
              <a:t> </a:t>
            </a:r>
            <a:r>
              <a:rPr sz="800" spc="25" dirty="0">
                <a:latin typeface="Tahoma"/>
                <a:cs typeface="Tahoma"/>
              </a:rPr>
              <a:t>Enc</a:t>
            </a:r>
            <a:r>
              <a:rPr sz="800" spc="45" dirty="0">
                <a:latin typeface="Tahoma"/>
                <a:cs typeface="Tahoma"/>
              </a:rPr>
              <a:t>odin</a:t>
            </a:r>
            <a:r>
              <a:rPr sz="800" spc="30" dirty="0">
                <a:latin typeface="Tahoma"/>
                <a:cs typeface="Tahoma"/>
              </a:rPr>
              <a:t>g</a:t>
            </a:r>
            <a:r>
              <a:rPr sz="800" dirty="0">
                <a:latin typeface="Tahoma"/>
                <a:cs typeface="Tahoma"/>
              </a:rPr>
              <a:t>s</a:t>
            </a:r>
            <a:endParaRPr sz="800">
              <a:latin typeface="Tahoma"/>
              <a:cs typeface="Tahoma"/>
            </a:endParaRPr>
          </a:p>
        </p:txBody>
      </p:sp>
      <p:sp>
        <p:nvSpPr>
          <p:cNvPr id="34" name="object 34"/>
          <p:cNvSpPr txBox="1"/>
          <p:nvPr/>
        </p:nvSpPr>
        <p:spPr>
          <a:xfrm>
            <a:off x="8133271" y="2584806"/>
            <a:ext cx="862330" cy="147955"/>
          </a:xfrm>
          <a:prstGeom prst="rect">
            <a:avLst/>
          </a:prstGeom>
        </p:spPr>
        <p:txBody>
          <a:bodyPr vert="horz" wrap="square" lIns="0" tIns="13335" rIns="0" bIns="0" rtlCol="0">
            <a:spAutoFit/>
          </a:bodyPr>
          <a:lstStyle/>
          <a:p>
            <a:pPr marL="184785">
              <a:lnSpc>
                <a:spcPct val="100000"/>
              </a:lnSpc>
              <a:spcBef>
                <a:spcPts val="105"/>
              </a:spcBef>
            </a:pPr>
            <a:r>
              <a:rPr sz="800" spc="30" dirty="0">
                <a:latin typeface="Tahoma"/>
                <a:cs typeface="Tahoma"/>
              </a:rPr>
              <a:t>R</a:t>
            </a:r>
            <a:r>
              <a:rPr sz="800" spc="35" dirty="0">
                <a:latin typeface="Tahoma"/>
                <a:cs typeface="Tahoma"/>
              </a:rPr>
              <a:t>M</a:t>
            </a:r>
            <a:r>
              <a:rPr sz="800" spc="5" dirty="0">
                <a:latin typeface="Tahoma"/>
                <a:cs typeface="Tahoma"/>
              </a:rPr>
              <a:t>S</a:t>
            </a:r>
            <a:r>
              <a:rPr sz="800" spc="-60" dirty="0">
                <a:latin typeface="Tahoma"/>
                <a:cs typeface="Tahoma"/>
              </a:rPr>
              <a:t> </a:t>
            </a:r>
            <a:r>
              <a:rPr sz="800" spc="40" dirty="0">
                <a:latin typeface="Tahoma"/>
                <a:cs typeface="Tahoma"/>
              </a:rPr>
              <a:t>Nor</a:t>
            </a:r>
            <a:r>
              <a:rPr sz="800" spc="35" dirty="0">
                <a:latin typeface="Tahoma"/>
                <a:cs typeface="Tahoma"/>
              </a:rPr>
              <a:t>m</a:t>
            </a:r>
            <a:endParaRPr sz="800">
              <a:latin typeface="Tahoma"/>
              <a:cs typeface="Tahoma"/>
            </a:endParaRPr>
          </a:p>
        </p:txBody>
      </p:sp>
      <p:grpSp>
        <p:nvGrpSpPr>
          <p:cNvPr id="35" name="object 35"/>
          <p:cNvGrpSpPr/>
          <p:nvPr/>
        </p:nvGrpSpPr>
        <p:grpSpPr>
          <a:xfrm>
            <a:off x="7953185" y="1940662"/>
            <a:ext cx="1229360" cy="1065530"/>
            <a:chOff x="7836154" y="2354326"/>
            <a:chExt cx="1229360" cy="1065530"/>
          </a:xfrm>
        </p:grpSpPr>
        <p:pic>
          <p:nvPicPr>
            <p:cNvPr id="36" name="object 36"/>
            <p:cNvPicPr/>
            <p:nvPr/>
          </p:nvPicPr>
          <p:blipFill>
            <a:blip r:embed="rId8" cstate="print"/>
            <a:stretch>
              <a:fillRect/>
            </a:stretch>
          </p:blipFill>
          <p:spPr>
            <a:xfrm>
              <a:off x="8413242" y="3208782"/>
              <a:ext cx="76200" cy="210946"/>
            </a:xfrm>
            <a:prstGeom prst="rect">
              <a:avLst/>
            </a:prstGeom>
          </p:spPr>
        </p:pic>
        <p:sp>
          <p:nvSpPr>
            <p:cNvPr id="37" name="object 37"/>
            <p:cNvSpPr/>
            <p:nvPr/>
          </p:nvSpPr>
          <p:spPr>
            <a:xfrm>
              <a:off x="7842504" y="2360676"/>
              <a:ext cx="1216660" cy="325120"/>
            </a:xfrm>
            <a:custGeom>
              <a:avLst/>
              <a:gdLst/>
              <a:ahLst/>
              <a:cxnLst/>
              <a:rect l="l" t="t" r="r" b="b"/>
              <a:pathLst>
                <a:path w="1216659" h="325119">
                  <a:moveTo>
                    <a:pt x="1216152" y="0"/>
                  </a:moveTo>
                  <a:lnTo>
                    <a:pt x="0" y="0"/>
                  </a:lnTo>
                  <a:lnTo>
                    <a:pt x="0" y="324612"/>
                  </a:lnTo>
                  <a:lnTo>
                    <a:pt x="1216152" y="324612"/>
                  </a:lnTo>
                  <a:lnTo>
                    <a:pt x="1216152" y="0"/>
                  </a:lnTo>
                  <a:close/>
                </a:path>
              </a:pathLst>
            </a:custGeom>
            <a:solidFill>
              <a:srgbClr val="C2E8F7"/>
            </a:solidFill>
          </p:spPr>
          <p:txBody>
            <a:bodyPr wrap="square" lIns="0" tIns="0" rIns="0" bIns="0" rtlCol="0"/>
            <a:lstStyle/>
            <a:p>
              <a:endParaRPr/>
            </a:p>
          </p:txBody>
        </p:sp>
        <p:sp>
          <p:nvSpPr>
            <p:cNvPr id="38" name="object 38"/>
            <p:cNvSpPr/>
            <p:nvPr/>
          </p:nvSpPr>
          <p:spPr>
            <a:xfrm>
              <a:off x="7842504" y="2360676"/>
              <a:ext cx="1216660" cy="325120"/>
            </a:xfrm>
            <a:custGeom>
              <a:avLst/>
              <a:gdLst/>
              <a:ahLst/>
              <a:cxnLst/>
              <a:rect l="l" t="t" r="r" b="b"/>
              <a:pathLst>
                <a:path w="1216659" h="325119">
                  <a:moveTo>
                    <a:pt x="0" y="324612"/>
                  </a:moveTo>
                  <a:lnTo>
                    <a:pt x="1216152" y="324612"/>
                  </a:lnTo>
                  <a:lnTo>
                    <a:pt x="1216152" y="0"/>
                  </a:lnTo>
                  <a:lnTo>
                    <a:pt x="0" y="0"/>
                  </a:lnTo>
                  <a:lnTo>
                    <a:pt x="0" y="324612"/>
                  </a:lnTo>
                  <a:close/>
                </a:path>
              </a:pathLst>
            </a:custGeom>
            <a:ln w="12700">
              <a:solidFill>
                <a:srgbClr val="000000"/>
              </a:solidFill>
            </a:ln>
          </p:spPr>
          <p:txBody>
            <a:bodyPr wrap="square" lIns="0" tIns="0" rIns="0" bIns="0" rtlCol="0"/>
            <a:lstStyle/>
            <a:p>
              <a:endParaRPr/>
            </a:p>
          </p:txBody>
        </p:sp>
      </p:grpSp>
      <p:sp>
        <p:nvSpPr>
          <p:cNvPr id="39" name="object 39"/>
          <p:cNvSpPr txBox="1"/>
          <p:nvPr/>
        </p:nvSpPr>
        <p:spPr>
          <a:xfrm>
            <a:off x="7959535" y="1970634"/>
            <a:ext cx="1210310" cy="269875"/>
          </a:xfrm>
          <a:prstGeom prst="rect">
            <a:avLst/>
          </a:prstGeom>
        </p:spPr>
        <p:txBody>
          <a:bodyPr vert="horz" wrap="square" lIns="0" tIns="13335" rIns="0" bIns="0" rtlCol="0">
            <a:spAutoFit/>
          </a:bodyPr>
          <a:lstStyle/>
          <a:p>
            <a:pPr marL="6350" algn="ctr">
              <a:lnSpc>
                <a:spcPct val="100000"/>
              </a:lnSpc>
              <a:spcBef>
                <a:spcPts val="105"/>
              </a:spcBef>
            </a:pPr>
            <a:r>
              <a:rPr sz="800" spc="-75" dirty="0">
                <a:latin typeface="Tahoma"/>
                <a:cs typeface="Tahoma"/>
              </a:rPr>
              <a:t>(</a:t>
            </a:r>
            <a:r>
              <a:rPr sz="800" b="1" spc="25" dirty="0">
                <a:solidFill>
                  <a:srgbClr val="FF0000"/>
                </a:solidFill>
                <a:latin typeface="Tahoma"/>
                <a:cs typeface="Tahoma"/>
              </a:rPr>
              <a:t>Mo</a:t>
            </a:r>
            <a:r>
              <a:rPr sz="800" b="1" spc="-5" dirty="0">
                <a:solidFill>
                  <a:srgbClr val="FF0000"/>
                </a:solidFill>
                <a:latin typeface="Tahoma"/>
                <a:cs typeface="Tahoma"/>
              </a:rPr>
              <a:t>E</a:t>
            </a:r>
            <a:r>
              <a:rPr sz="800" spc="-70" dirty="0">
                <a:latin typeface="Tahoma"/>
                <a:cs typeface="Tahoma"/>
              </a:rPr>
              <a:t>)</a:t>
            </a:r>
            <a:r>
              <a:rPr sz="800" spc="-75" dirty="0">
                <a:latin typeface="Tahoma"/>
                <a:cs typeface="Tahoma"/>
              </a:rPr>
              <a:t> </a:t>
            </a:r>
            <a:r>
              <a:rPr sz="800" spc="30" dirty="0">
                <a:latin typeface="Tahoma"/>
                <a:cs typeface="Tahoma"/>
              </a:rPr>
              <a:t>Fee</a:t>
            </a:r>
            <a:r>
              <a:rPr sz="800" spc="70" dirty="0">
                <a:latin typeface="Tahoma"/>
                <a:cs typeface="Tahoma"/>
              </a:rPr>
              <a:t>d</a:t>
            </a:r>
            <a:r>
              <a:rPr sz="800" spc="-45" dirty="0">
                <a:latin typeface="Tahoma"/>
                <a:cs typeface="Tahoma"/>
              </a:rPr>
              <a:t> </a:t>
            </a:r>
            <a:r>
              <a:rPr sz="800" spc="30" dirty="0">
                <a:latin typeface="Tahoma"/>
                <a:cs typeface="Tahoma"/>
              </a:rPr>
              <a:t>F</a:t>
            </a:r>
            <a:r>
              <a:rPr sz="800" spc="15" dirty="0">
                <a:latin typeface="Tahoma"/>
                <a:cs typeface="Tahoma"/>
              </a:rPr>
              <a:t>orwa</a:t>
            </a:r>
            <a:r>
              <a:rPr sz="800" spc="35" dirty="0">
                <a:latin typeface="Tahoma"/>
                <a:cs typeface="Tahoma"/>
              </a:rPr>
              <a:t>rd</a:t>
            </a:r>
            <a:endParaRPr sz="800">
              <a:latin typeface="Tahoma"/>
              <a:cs typeface="Tahoma"/>
            </a:endParaRPr>
          </a:p>
          <a:p>
            <a:pPr marL="9525" algn="ctr">
              <a:lnSpc>
                <a:spcPct val="100000"/>
              </a:lnSpc>
            </a:pPr>
            <a:r>
              <a:rPr sz="800" b="1" spc="-55" dirty="0">
                <a:solidFill>
                  <a:srgbClr val="FF0000"/>
                </a:solidFill>
                <a:latin typeface="Tahoma"/>
                <a:cs typeface="Tahoma"/>
              </a:rPr>
              <a:t>SILU</a:t>
            </a:r>
            <a:endParaRPr sz="800">
              <a:latin typeface="Tahoma"/>
              <a:cs typeface="Tahoma"/>
            </a:endParaRPr>
          </a:p>
        </p:txBody>
      </p:sp>
      <p:grpSp>
        <p:nvGrpSpPr>
          <p:cNvPr id="40" name="object 40"/>
          <p:cNvGrpSpPr/>
          <p:nvPr/>
        </p:nvGrpSpPr>
        <p:grpSpPr>
          <a:xfrm>
            <a:off x="7518845" y="1399134"/>
            <a:ext cx="1156970" cy="2471420"/>
            <a:chOff x="7401814" y="1812798"/>
            <a:chExt cx="1156970" cy="2471420"/>
          </a:xfrm>
        </p:grpSpPr>
        <p:sp>
          <p:nvSpPr>
            <p:cNvPr id="41" name="object 41"/>
            <p:cNvSpPr/>
            <p:nvPr/>
          </p:nvSpPr>
          <p:spPr>
            <a:xfrm>
              <a:off x="8413242" y="2686050"/>
              <a:ext cx="76200" cy="260350"/>
            </a:xfrm>
            <a:custGeom>
              <a:avLst/>
              <a:gdLst/>
              <a:ahLst/>
              <a:cxnLst/>
              <a:rect l="l" t="t" r="r" b="b"/>
              <a:pathLst>
                <a:path w="76200" h="260350">
                  <a:moveTo>
                    <a:pt x="47625" y="63500"/>
                  </a:moveTo>
                  <a:lnTo>
                    <a:pt x="28575" y="63500"/>
                  </a:lnTo>
                  <a:lnTo>
                    <a:pt x="28575" y="260096"/>
                  </a:lnTo>
                  <a:lnTo>
                    <a:pt x="47625" y="260096"/>
                  </a:lnTo>
                  <a:lnTo>
                    <a:pt x="47625" y="63500"/>
                  </a:lnTo>
                  <a:close/>
                </a:path>
                <a:path w="76200" h="260350">
                  <a:moveTo>
                    <a:pt x="38100" y="0"/>
                  </a:moveTo>
                  <a:lnTo>
                    <a:pt x="0" y="76200"/>
                  </a:lnTo>
                  <a:lnTo>
                    <a:pt x="28575" y="76200"/>
                  </a:lnTo>
                  <a:lnTo>
                    <a:pt x="28575" y="63500"/>
                  </a:lnTo>
                  <a:lnTo>
                    <a:pt x="69850" y="63500"/>
                  </a:lnTo>
                  <a:lnTo>
                    <a:pt x="38100" y="0"/>
                  </a:lnTo>
                  <a:close/>
                </a:path>
                <a:path w="76200" h="260350">
                  <a:moveTo>
                    <a:pt x="69850" y="63500"/>
                  </a:moveTo>
                  <a:lnTo>
                    <a:pt x="47625" y="63500"/>
                  </a:lnTo>
                  <a:lnTo>
                    <a:pt x="47625" y="76200"/>
                  </a:lnTo>
                  <a:lnTo>
                    <a:pt x="76200" y="76200"/>
                  </a:lnTo>
                  <a:lnTo>
                    <a:pt x="69850" y="63500"/>
                  </a:lnTo>
                  <a:close/>
                </a:path>
              </a:pathLst>
            </a:custGeom>
            <a:solidFill>
              <a:srgbClr val="000000"/>
            </a:solidFill>
          </p:spPr>
          <p:txBody>
            <a:bodyPr wrap="square" lIns="0" tIns="0" rIns="0" bIns="0" rtlCol="0"/>
            <a:lstStyle/>
            <a:p>
              <a:endParaRPr/>
            </a:p>
          </p:txBody>
        </p:sp>
        <p:pic>
          <p:nvPicPr>
            <p:cNvPr id="42" name="object 42"/>
            <p:cNvPicPr/>
            <p:nvPr/>
          </p:nvPicPr>
          <p:blipFill>
            <a:blip r:embed="rId5" cstate="print"/>
            <a:stretch>
              <a:fillRect/>
            </a:stretch>
          </p:blipFill>
          <p:spPr>
            <a:xfrm>
              <a:off x="8346948" y="1988820"/>
              <a:ext cx="211835" cy="185927"/>
            </a:xfrm>
            <a:prstGeom prst="rect">
              <a:avLst/>
            </a:prstGeom>
          </p:spPr>
        </p:pic>
        <p:sp>
          <p:nvSpPr>
            <p:cNvPr id="43" name="object 43"/>
            <p:cNvSpPr/>
            <p:nvPr/>
          </p:nvSpPr>
          <p:spPr>
            <a:xfrm>
              <a:off x="7673467" y="2044446"/>
              <a:ext cx="788035" cy="1375410"/>
            </a:xfrm>
            <a:custGeom>
              <a:avLst/>
              <a:gdLst/>
              <a:ahLst/>
              <a:cxnLst/>
              <a:rect l="l" t="t" r="r" b="b"/>
              <a:pathLst>
                <a:path w="788034" h="1375410">
                  <a:moveTo>
                    <a:pt x="768857" y="1309369"/>
                  </a:moveTo>
                  <a:lnTo>
                    <a:pt x="768857" y="1374902"/>
                  </a:lnTo>
                  <a:lnTo>
                    <a:pt x="787907" y="1374902"/>
                  </a:lnTo>
                  <a:lnTo>
                    <a:pt x="787907" y="1318894"/>
                  </a:lnTo>
                  <a:lnTo>
                    <a:pt x="778382" y="1318894"/>
                  </a:lnTo>
                  <a:lnTo>
                    <a:pt x="768857" y="1309369"/>
                  </a:lnTo>
                  <a:close/>
                </a:path>
                <a:path w="788034" h="1375410">
                  <a:moveTo>
                    <a:pt x="598042" y="28575"/>
                  </a:moveTo>
                  <a:lnTo>
                    <a:pt x="0" y="28575"/>
                  </a:lnTo>
                  <a:lnTo>
                    <a:pt x="0" y="1318894"/>
                  </a:lnTo>
                  <a:lnTo>
                    <a:pt x="768857" y="1318894"/>
                  </a:lnTo>
                  <a:lnTo>
                    <a:pt x="768857" y="1309369"/>
                  </a:lnTo>
                  <a:lnTo>
                    <a:pt x="19050" y="1309369"/>
                  </a:lnTo>
                  <a:lnTo>
                    <a:pt x="9525" y="1299844"/>
                  </a:lnTo>
                  <a:lnTo>
                    <a:pt x="19050" y="1299844"/>
                  </a:lnTo>
                  <a:lnTo>
                    <a:pt x="19050" y="47625"/>
                  </a:lnTo>
                  <a:lnTo>
                    <a:pt x="9525" y="47625"/>
                  </a:lnTo>
                  <a:lnTo>
                    <a:pt x="19050" y="38100"/>
                  </a:lnTo>
                  <a:lnTo>
                    <a:pt x="598042" y="38100"/>
                  </a:lnTo>
                  <a:lnTo>
                    <a:pt x="598042" y="28575"/>
                  </a:lnTo>
                  <a:close/>
                </a:path>
                <a:path w="788034" h="1375410">
                  <a:moveTo>
                    <a:pt x="787907" y="1299844"/>
                  </a:moveTo>
                  <a:lnTo>
                    <a:pt x="19050" y="1299844"/>
                  </a:lnTo>
                  <a:lnTo>
                    <a:pt x="19050" y="1309369"/>
                  </a:lnTo>
                  <a:lnTo>
                    <a:pt x="768857" y="1309369"/>
                  </a:lnTo>
                  <a:lnTo>
                    <a:pt x="778382" y="1318894"/>
                  </a:lnTo>
                  <a:lnTo>
                    <a:pt x="787907" y="1318894"/>
                  </a:lnTo>
                  <a:lnTo>
                    <a:pt x="787907" y="1299844"/>
                  </a:lnTo>
                  <a:close/>
                </a:path>
                <a:path w="788034" h="1375410">
                  <a:moveTo>
                    <a:pt x="19050" y="1299844"/>
                  </a:moveTo>
                  <a:lnTo>
                    <a:pt x="9525" y="1299844"/>
                  </a:lnTo>
                  <a:lnTo>
                    <a:pt x="19050" y="1309369"/>
                  </a:lnTo>
                  <a:lnTo>
                    <a:pt x="19050" y="1299844"/>
                  </a:lnTo>
                  <a:close/>
                </a:path>
                <a:path w="788034" h="1375410">
                  <a:moveTo>
                    <a:pt x="598042" y="0"/>
                  </a:moveTo>
                  <a:lnTo>
                    <a:pt x="598042" y="76200"/>
                  </a:lnTo>
                  <a:lnTo>
                    <a:pt x="655192" y="47625"/>
                  </a:lnTo>
                  <a:lnTo>
                    <a:pt x="610742" y="47625"/>
                  </a:lnTo>
                  <a:lnTo>
                    <a:pt x="610742" y="28575"/>
                  </a:lnTo>
                  <a:lnTo>
                    <a:pt x="655192" y="28575"/>
                  </a:lnTo>
                  <a:lnTo>
                    <a:pt x="598042" y="0"/>
                  </a:lnTo>
                  <a:close/>
                </a:path>
                <a:path w="788034" h="1375410">
                  <a:moveTo>
                    <a:pt x="19050" y="38100"/>
                  </a:moveTo>
                  <a:lnTo>
                    <a:pt x="9525" y="47625"/>
                  </a:lnTo>
                  <a:lnTo>
                    <a:pt x="19050" y="47625"/>
                  </a:lnTo>
                  <a:lnTo>
                    <a:pt x="19050" y="38100"/>
                  </a:lnTo>
                  <a:close/>
                </a:path>
                <a:path w="788034" h="1375410">
                  <a:moveTo>
                    <a:pt x="598042" y="38100"/>
                  </a:moveTo>
                  <a:lnTo>
                    <a:pt x="19050" y="38100"/>
                  </a:lnTo>
                  <a:lnTo>
                    <a:pt x="19050" y="47625"/>
                  </a:lnTo>
                  <a:lnTo>
                    <a:pt x="598042" y="47625"/>
                  </a:lnTo>
                  <a:lnTo>
                    <a:pt x="598042" y="38100"/>
                  </a:lnTo>
                  <a:close/>
                </a:path>
                <a:path w="788034" h="1375410">
                  <a:moveTo>
                    <a:pt x="655192" y="28575"/>
                  </a:moveTo>
                  <a:lnTo>
                    <a:pt x="610742" y="28575"/>
                  </a:lnTo>
                  <a:lnTo>
                    <a:pt x="610742" y="47625"/>
                  </a:lnTo>
                  <a:lnTo>
                    <a:pt x="655192" y="47625"/>
                  </a:lnTo>
                  <a:lnTo>
                    <a:pt x="674242" y="38100"/>
                  </a:lnTo>
                  <a:lnTo>
                    <a:pt x="655192" y="28575"/>
                  </a:lnTo>
                  <a:close/>
                </a:path>
              </a:pathLst>
            </a:custGeom>
            <a:solidFill>
              <a:srgbClr val="000000"/>
            </a:solidFill>
          </p:spPr>
          <p:txBody>
            <a:bodyPr wrap="square" lIns="0" tIns="0" rIns="0" bIns="0" rtlCol="0"/>
            <a:lstStyle/>
            <a:p>
              <a:endParaRPr/>
            </a:p>
          </p:txBody>
        </p:sp>
        <p:pic>
          <p:nvPicPr>
            <p:cNvPr id="44" name="object 44"/>
            <p:cNvPicPr/>
            <p:nvPr/>
          </p:nvPicPr>
          <p:blipFill>
            <a:blip r:embed="rId9" cstate="print"/>
            <a:stretch>
              <a:fillRect/>
            </a:stretch>
          </p:blipFill>
          <p:spPr>
            <a:xfrm>
              <a:off x="8414385" y="2175510"/>
              <a:ext cx="76200" cy="187198"/>
            </a:xfrm>
            <a:prstGeom prst="rect">
              <a:avLst/>
            </a:prstGeom>
          </p:spPr>
        </p:pic>
        <p:pic>
          <p:nvPicPr>
            <p:cNvPr id="45" name="object 45"/>
            <p:cNvPicPr/>
            <p:nvPr/>
          </p:nvPicPr>
          <p:blipFill>
            <a:blip r:embed="rId10" cstate="print"/>
            <a:stretch>
              <a:fillRect/>
            </a:stretch>
          </p:blipFill>
          <p:spPr>
            <a:xfrm>
              <a:off x="8414004" y="1812798"/>
              <a:ext cx="76200" cy="177164"/>
            </a:xfrm>
            <a:prstGeom prst="rect">
              <a:avLst/>
            </a:prstGeom>
          </p:spPr>
        </p:pic>
        <p:pic>
          <p:nvPicPr>
            <p:cNvPr id="46" name="object 46"/>
            <p:cNvPicPr/>
            <p:nvPr/>
          </p:nvPicPr>
          <p:blipFill>
            <a:blip r:embed="rId11" cstate="print"/>
            <a:stretch>
              <a:fillRect/>
            </a:stretch>
          </p:blipFill>
          <p:spPr>
            <a:xfrm>
              <a:off x="7401814" y="4157218"/>
              <a:ext cx="140715" cy="127000"/>
            </a:xfrm>
            <a:prstGeom prst="rect">
              <a:avLst/>
            </a:prstGeom>
          </p:spPr>
        </p:pic>
      </p:grpSp>
      <p:sp>
        <p:nvSpPr>
          <p:cNvPr id="47" name="object 47"/>
          <p:cNvSpPr txBox="1"/>
          <p:nvPr/>
        </p:nvSpPr>
        <p:spPr>
          <a:xfrm>
            <a:off x="8133271" y="1134719"/>
            <a:ext cx="868680" cy="264160"/>
          </a:xfrm>
          <a:prstGeom prst="rect">
            <a:avLst/>
          </a:prstGeom>
          <a:solidFill>
            <a:srgbClr val="F1F4C1"/>
          </a:solidFill>
          <a:ln w="12700">
            <a:solidFill>
              <a:srgbClr val="000000"/>
            </a:solidFill>
          </a:ln>
        </p:spPr>
        <p:txBody>
          <a:bodyPr vert="horz" wrap="square" lIns="0" tIns="67310" rIns="0" bIns="0" rtlCol="0">
            <a:spAutoFit/>
          </a:bodyPr>
          <a:lstStyle/>
          <a:p>
            <a:pPr marL="184785">
              <a:lnSpc>
                <a:spcPct val="100000"/>
              </a:lnSpc>
              <a:spcBef>
                <a:spcPts val="530"/>
              </a:spcBef>
            </a:pPr>
            <a:r>
              <a:rPr sz="800" spc="30" dirty="0">
                <a:latin typeface="Tahoma"/>
                <a:cs typeface="Tahoma"/>
              </a:rPr>
              <a:t>R</a:t>
            </a:r>
            <a:r>
              <a:rPr sz="800" spc="35" dirty="0">
                <a:latin typeface="Tahoma"/>
                <a:cs typeface="Tahoma"/>
              </a:rPr>
              <a:t>M</a:t>
            </a:r>
            <a:r>
              <a:rPr sz="800" spc="5" dirty="0">
                <a:latin typeface="Tahoma"/>
                <a:cs typeface="Tahoma"/>
              </a:rPr>
              <a:t>S</a:t>
            </a:r>
            <a:r>
              <a:rPr sz="800" spc="-60" dirty="0">
                <a:latin typeface="Tahoma"/>
                <a:cs typeface="Tahoma"/>
              </a:rPr>
              <a:t> </a:t>
            </a:r>
            <a:r>
              <a:rPr sz="800" spc="40" dirty="0">
                <a:latin typeface="Tahoma"/>
                <a:cs typeface="Tahoma"/>
              </a:rPr>
              <a:t>Nor</a:t>
            </a:r>
            <a:r>
              <a:rPr sz="800" spc="35" dirty="0">
                <a:latin typeface="Tahoma"/>
                <a:cs typeface="Tahoma"/>
              </a:rPr>
              <a:t>m</a:t>
            </a:r>
            <a:endParaRPr sz="800">
              <a:latin typeface="Tahoma"/>
              <a:cs typeface="Tahoma"/>
            </a:endParaRPr>
          </a:p>
        </p:txBody>
      </p:sp>
      <p:sp>
        <p:nvSpPr>
          <p:cNvPr id="48" name="object 48"/>
          <p:cNvSpPr txBox="1"/>
          <p:nvPr/>
        </p:nvSpPr>
        <p:spPr>
          <a:xfrm>
            <a:off x="8133271" y="685139"/>
            <a:ext cx="868680" cy="262255"/>
          </a:xfrm>
          <a:prstGeom prst="rect">
            <a:avLst/>
          </a:prstGeom>
          <a:solidFill>
            <a:srgbClr val="DBDFEE"/>
          </a:solidFill>
          <a:ln w="12700">
            <a:solidFill>
              <a:srgbClr val="000000"/>
            </a:solidFill>
          </a:ln>
        </p:spPr>
        <p:txBody>
          <a:bodyPr vert="horz" wrap="square" lIns="0" tIns="66040" rIns="0" bIns="0" rtlCol="0">
            <a:spAutoFit/>
          </a:bodyPr>
          <a:lstStyle/>
          <a:p>
            <a:pPr marL="1270" algn="ctr">
              <a:lnSpc>
                <a:spcPct val="100000"/>
              </a:lnSpc>
              <a:spcBef>
                <a:spcPts val="520"/>
              </a:spcBef>
            </a:pPr>
            <a:r>
              <a:rPr sz="800" spc="15" dirty="0">
                <a:latin typeface="Tahoma"/>
                <a:cs typeface="Tahoma"/>
              </a:rPr>
              <a:t>Linear</a:t>
            </a:r>
            <a:endParaRPr sz="800">
              <a:latin typeface="Tahoma"/>
              <a:cs typeface="Tahoma"/>
            </a:endParaRPr>
          </a:p>
        </p:txBody>
      </p:sp>
      <p:sp>
        <p:nvSpPr>
          <p:cNvPr id="49" name="object 49"/>
          <p:cNvSpPr txBox="1"/>
          <p:nvPr/>
        </p:nvSpPr>
        <p:spPr>
          <a:xfrm>
            <a:off x="8133271" y="229463"/>
            <a:ext cx="868680" cy="264160"/>
          </a:xfrm>
          <a:prstGeom prst="rect">
            <a:avLst/>
          </a:prstGeom>
          <a:solidFill>
            <a:srgbClr val="CCE7CF"/>
          </a:solidFill>
          <a:ln w="12700">
            <a:solidFill>
              <a:srgbClr val="000000"/>
            </a:solidFill>
          </a:ln>
        </p:spPr>
        <p:txBody>
          <a:bodyPr vert="horz" wrap="square" lIns="0" tIns="66675" rIns="0" bIns="0" rtlCol="0">
            <a:spAutoFit/>
          </a:bodyPr>
          <a:lstStyle/>
          <a:p>
            <a:pPr marL="247015">
              <a:lnSpc>
                <a:spcPct val="100000"/>
              </a:lnSpc>
              <a:spcBef>
                <a:spcPts val="525"/>
              </a:spcBef>
            </a:pPr>
            <a:r>
              <a:rPr sz="800" spc="5" dirty="0">
                <a:latin typeface="Tahoma"/>
                <a:cs typeface="Tahoma"/>
              </a:rPr>
              <a:t>Softmax</a:t>
            </a:r>
            <a:endParaRPr sz="800">
              <a:latin typeface="Tahoma"/>
              <a:cs typeface="Tahoma"/>
            </a:endParaRPr>
          </a:p>
        </p:txBody>
      </p:sp>
      <p:pic>
        <p:nvPicPr>
          <p:cNvPr id="50" name="object 50"/>
          <p:cNvPicPr/>
          <p:nvPr/>
        </p:nvPicPr>
        <p:blipFill>
          <a:blip r:embed="rId12" cstate="print"/>
          <a:stretch>
            <a:fillRect/>
          </a:stretch>
        </p:blipFill>
        <p:spPr>
          <a:xfrm>
            <a:off x="8530273" y="948030"/>
            <a:ext cx="76200" cy="187959"/>
          </a:xfrm>
          <a:prstGeom prst="rect">
            <a:avLst/>
          </a:prstGeom>
        </p:spPr>
      </p:pic>
      <p:pic>
        <p:nvPicPr>
          <p:cNvPr id="51" name="object 51"/>
          <p:cNvPicPr/>
          <p:nvPr/>
        </p:nvPicPr>
        <p:blipFill>
          <a:blip r:embed="rId13" cstate="print"/>
          <a:stretch>
            <a:fillRect/>
          </a:stretch>
        </p:blipFill>
        <p:spPr>
          <a:xfrm>
            <a:off x="8530273" y="493877"/>
            <a:ext cx="76200" cy="191770"/>
          </a:xfrm>
          <a:prstGeom prst="rect">
            <a:avLst/>
          </a:prstGeom>
        </p:spPr>
      </p:pic>
      <p:sp>
        <p:nvSpPr>
          <p:cNvPr id="52" name="object 52"/>
          <p:cNvSpPr txBox="1"/>
          <p:nvPr/>
        </p:nvSpPr>
        <p:spPr>
          <a:xfrm>
            <a:off x="10214292" y="2807309"/>
            <a:ext cx="313055" cy="299720"/>
          </a:xfrm>
          <a:prstGeom prst="rect">
            <a:avLst/>
          </a:prstGeom>
        </p:spPr>
        <p:txBody>
          <a:bodyPr vert="horz" wrap="square" lIns="0" tIns="12700" rIns="0" bIns="0" rtlCol="0">
            <a:spAutoFit/>
          </a:bodyPr>
          <a:lstStyle/>
          <a:p>
            <a:pPr marL="12700">
              <a:lnSpc>
                <a:spcPct val="100000"/>
              </a:lnSpc>
              <a:spcBef>
                <a:spcPts val="100"/>
              </a:spcBef>
            </a:pPr>
            <a:r>
              <a:rPr sz="1800" spc="80" dirty="0">
                <a:latin typeface="Tahoma"/>
                <a:cs typeface="Tahoma"/>
              </a:rPr>
              <a:t>Nx</a:t>
            </a:r>
            <a:endParaRPr sz="1800">
              <a:latin typeface="Tahoma"/>
              <a:cs typeface="Tahoma"/>
            </a:endParaRPr>
          </a:p>
        </p:txBody>
      </p:sp>
      <p:sp>
        <p:nvSpPr>
          <p:cNvPr id="57" name="Title 1">
            <a:extLst>
              <a:ext uri="{FF2B5EF4-FFF2-40B4-BE49-F238E27FC236}">
                <a16:creationId xmlns:a16="http://schemas.microsoft.com/office/drawing/2014/main" id="{6D5BA352-490D-E9CE-9D82-3DF27DCD6F58}"/>
              </a:ext>
            </a:extLst>
          </p:cNvPr>
          <p:cNvSpPr>
            <a:spLocks noGrp="1"/>
          </p:cNvSpPr>
          <p:nvPr>
            <p:ph type="title"/>
          </p:nvPr>
        </p:nvSpPr>
        <p:spPr>
          <a:xfrm>
            <a:off x="668145" y="593531"/>
            <a:ext cx="10865044" cy="639957"/>
          </a:xfrm>
        </p:spPr>
        <p:txBody>
          <a:bodyPr/>
          <a:lstStyle/>
          <a:p>
            <a:r>
              <a:rPr lang="en-IN" dirty="0"/>
              <a:t>Transformer vs Mistral (7 B &amp; 8 × 7 B)</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a:xfrm>
            <a:off x="668145" y="593531"/>
            <a:ext cx="10865044" cy="639957"/>
          </a:xfrm>
        </p:spPr>
        <p:txBody>
          <a:bodyPr/>
          <a:lstStyle/>
          <a:p>
            <a:r>
              <a:rPr lang="en-IN" dirty="0"/>
              <a:t>Model Hyper-Parameters</a:t>
            </a:r>
          </a:p>
        </p:txBody>
      </p:sp>
      <p:graphicFrame>
        <p:nvGraphicFramePr>
          <p:cNvPr id="5" name="Content Placeholder 4">
            <a:extLst>
              <a:ext uri="{FF2B5EF4-FFF2-40B4-BE49-F238E27FC236}">
                <a16:creationId xmlns:a16="http://schemas.microsoft.com/office/drawing/2014/main" id="{3028C038-D78B-74CA-0FD6-68B89FF32BB5}"/>
              </a:ext>
            </a:extLst>
          </p:cNvPr>
          <p:cNvGraphicFramePr>
            <a:graphicFrameLocks noGrp="1"/>
          </p:cNvGraphicFramePr>
          <p:nvPr>
            <p:ph idx="1"/>
            <p:extLst>
              <p:ext uri="{D42A27DB-BD31-4B8C-83A1-F6EECF244321}">
                <p14:modId xmlns:p14="http://schemas.microsoft.com/office/powerpoint/2010/main" val="3604107418"/>
              </p:ext>
            </p:extLst>
          </p:nvPr>
        </p:nvGraphicFramePr>
        <p:xfrm>
          <a:off x="668146" y="1674814"/>
          <a:ext cx="10865045" cy="4421638"/>
        </p:xfrm>
        <a:graphic>
          <a:graphicData uri="http://schemas.openxmlformats.org/drawingml/2006/table">
            <a:tbl>
              <a:tblPr/>
              <a:tblGrid>
                <a:gridCol w="1785805">
                  <a:extLst>
                    <a:ext uri="{9D8B030D-6E8A-4147-A177-3AD203B41FA5}">
                      <a16:colId xmlns:a16="http://schemas.microsoft.com/office/drawing/2014/main" val="3721268987"/>
                    </a:ext>
                  </a:extLst>
                </a:gridCol>
                <a:gridCol w="2957804">
                  <a:extLst>
                    <a:ext uri="{9D8B030D-6E8A-4147-A177-3AD203B41FA5}">
                      <a16:colId xmlns:a16="http://schemas.microsoft.com/office/drawing/2014/main" val="406468991"/>
                    </a:ext>
                  </a:extLst>
                </a:gridCol>
                <a:gridCol w="1427584">
                  <a:extLst>
                    <a:ext uri="{9D8B030D-6E8A-4147-A177-3AD203B41FA5}">
                      <a16:colId xmlns:a16="http://schemas.microsoft.com/office/drawing/2014/main" val="3318580795"/>
                    </a:ext>
                  </a:extLst>
                </a:gridCol>
                <a:gridCol w="1763485">
                  <a:extLst>
                    <a:ext uri="{9D8B030D-6E8A-4147-A177-3AD203B41FA5}">
                      <a16:colId xmlns:a16="http://schemas.microsoft.com/office/drawing/2014/main" val="2907325369"/>
                    </a:ext>
                  </a:extLst>
                </a:gridCol>
                <a:gridCol w="2930367">
                  <a:extLst>
                    <a:ext uri="{9D8B030D-6E8A-4147-A177-3AD203B41FA5}">
                      <a16:colId xmlns:a16="http://schemas.microsoft.com/office/drawing/2014/main" val="3436892263"/>
                    </a:ext>
                  </a:extLst>
                </a:gridCol>
              </a:tblGrid>
              <a:tr h="233435">
                <a:tc>
                  <a:txBody>
                    <a:bodyPr/>
                    <a:lstStyle/>
                    <a:p>
                      <a:pPr algn="ctr"/>
                      <a:r>
                        <a:rPr lang="en-IN" sz="1200" b="1" dirty="0"/>
                        <a:t>Parameter</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ctr"/>
                      <a:r>
                        <a:rPr lang="en-IN" sz="1200" b="1" dirty="0"/>
                        <a:t>Description</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ctr"/>
                      <a:r>
                        <a:rPr lang="en-IN" sz="1200" b="1"/>
                        <a:t>Value (7 B)</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ctr"/>
                      <a:r>
                        <a:rPr lang="en-IN" sz="1200" b="1" dirty="0"/>
                        <a:t>Value (8 × 7 B)</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ctr"/>
                      <a:r>
                        <a:rPr lang="en-IN" sz="1200" b="1" dirty="0"/>
                        <a:t>Notes</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176953192"/>
                  </a:ext>
                </a:extLst>
              </a:tr>
              <a:tr h="362156">
                <a:tc>
                  <a:txBody>
                    <a:bodyPr/>
                    <a:lstStyle/>
                    <a:p>
                      <a:pPr algn="ctr"/>
                      <a:r>
                        <a:rPr lang="en-IN" sz="1200" b="1" dirty="0"/>
                        <a:t>dim</a:t>
                      </a:r>
                      <a:endParaRPr lang="en-IN" sz="1200" dirty="0"/>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a:t>Size of the embedding vector</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4096</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4096</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1694781"/>
                  </a:ext>
                </a:extLst>
              </a:tr>
              <a:tr h="362156">
                <a:tc>
                  <a:txBody>
                    <a:bodyPr/>
                    <a:lstStyle/>
                    <a:p>
                      <a:pPr algn="ctr"/>
                      <a:r>
                        <a:rPr lang="en-IN" sz="1200" b="1"/>
                        <a:t>n_layers</a:t>
                      </a:r>
                      <a:endParaRPr lang="en-IN" sz="1200"/>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Number of encoder layers</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32</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32</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9445842"/>
                  </a:ext>
                </a:extLst>
              </a:tr>
              <a:tr h="233435">
                <a:tc>
                  <a:txBody>
                    <a:bodyPr/>
                    <a:lstStyle/>
                    <a:p>
                      <a:pPr algn="ctr"/>
                      <a:r>
                        <a:rPr lang="en-IN" sz="1200" b="1"/>
                        <a:t>head_dim</a:t>
                      </a:r>
                      <a:endParaRPr lang="en-IN" sz="1200"/>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dirty="0"/>
                        <a:t>dim / </a:t>
                      </a:r>
                      <a:r>
                        <a:rPr lang="en-IN" sz="1200" dirty="0" err="1"/>
                        <a:t>n_heads</a:t>
                      </a:r>
                      <a:endParaRPr lang="en-IN" sz="1200" dirty="0"/>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128</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128</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2560137"/>
                  </a:ext>
                </a:extLst>
              </a:tr>
              <a:tr h="517366">
                <a:tc>
                  <a:txBody>
                    <a:bodyPr/>
                    <a:lstStyle/>
                    <a:p>
                      <a:pPr algn="ctr"/>
                      <a:r>
                        <a:rPr lang="en-IN" sz="1200" b="1" dirty="0" err="1"/>
                        <a:t>hidden_dim</a:t>
                      </a:r>
                      <a:endParaRPr lang="en-IN" sz="1200" dirty="0"/>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t>Hidden dimension in the feed-forward layer</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dirty="0"/>
                        <a:t>14 336</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14 336</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3983810"/>
                  </a:ext>
                </a:extLst>
              </a:tr>
              <a:tr h="362156">
                <a:tc>
                  <a:txBody>
                    <a:bodyPr/>
                    <a:lstStyle/>
                    <a:p>
                      <a:pPr algn="ctr"/>
                      <a:r>
                        <a:rPr lang="en-IN" sz="1200" b="1"/>
                        <a:t>n_heads</a:t>
                      </a:r>
                      <a:endParaRPr lang="en-IN" sz="1200"/>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a:t>Number of attention heads (Q)</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32</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32</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a:t>Different KV split because of GQA</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1310051"/>
                  </a:ext>
                </a:extLst>
              </a:tr>
              <a:tr h="362156">
                <a:tc>
                  <a:txBody>
                    <a:bodyPr/>
                    <a:lstStyle/>
                    <a:p>
                      <a:pPr algn="ctr"/>
                      <a:r>
                        <a:rPr lang="en-IN" sz="1200" b="1"/>
                        <a:t>n_kv_heads</a:t>
                      </a:r>
                      <a:endParaRPr lang="en-IN" sz="1200"/>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t>Number of attention heads (K, V)</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8</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dirty="0"/>
                        <a:t>8</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4298790"/>
                  </a:ext>
                </a:extLst>
              </a:tr>
              <a:tr h="517366">
                <a:tc>
                  <a:txBody>
                    <a:bodyPr/>
                    <a:lstStyle/>
                    <a:p>
                      <a:pPr algn="ctr"/>
                      <a:r>
                        <a:rPr lang="en-IN" sz="1200" b="1"/>
                        <a:t>window_size</a:t>
                      </a:r>
                      <a:endParaRPr lang="en-IN" sz="1200"/>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a:t>Sliding-window span for attention &amp; rolling cache</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4096</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N /A</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a:t>window_size not set in </a:t>
                      </a:r>
                      <a:r>
                        <a:rPr lang="en-US" sz="1200" i="1"/>
                        <a:t>8 × 7 B</a:t>
                      </a:r>
                      <a:r>
                        <a:rPr lang="en-US" sz="1200"/>
                        <a:t> params.json</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89202"/>
                  </a:ext>
                </a:extLst>
              </a:tr>
              <a:tr h="381318">
                <a:tc>
                  <a:txBody>
                    <a:bodyPr/>
                    <a:lstStyle/>
                    <a:p>
                      <a:pPr algn="ctr"/>
                      <a:r>
                        <a:rPr lang="en-IN" sz="1200" b="1"/>
                        <a:t>context_len</a:t>
                      </a:r>
                      <a:endParaRPr lang="en-IN" sz="1200"/>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a:t>Context length used during training</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8192</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32 000</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a:t>8 × 7 B value from announcement page</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6886786"/>
                  </a:ext>
                </a:extLst>
              </a:tr>
              <a:tr h="362156">
                <a:tc>
                  <a:txBody>
                    <a:bodyPr/>
                    <a:lstStyle/>
                    <a:p>
                      <a:pPr algn="ctr"/>
                      <a:r>
                        <a:rPr lang="en-IN" sz="1200" b="1"/>
                        <a:t>vocab_size</a:t>
                      </a:r>
                      <a:endParaRPr lang="en-IN" sz="1200"/>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Tokens in the vocabulary</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32 000</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32 000</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SentencePiece tokenizer</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012958"/>
                  </a:ext>
                </a:extLst>
              </a:tr>
              <a:tr h="362156">
                <a:tc>
                  <a:txBody>
                    <a:bodyPr/>
                    <a:lstStyle/>
                    <a:p>
                      <a:pPr algn="ctr"/>
                      <a:r>
                        <a:rPr lang="en-IN" sz="1200" b="1"/>
                        <a:t>num_experts_per_tok</a:t>
                      </a:r>
                      <a:endParaRPr lang="en-IN" sz="1200"/>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a:t>Expert models selected per token</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N /A</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2</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a:t>Sparse MoE only in 8 × 7 B</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1058878"/>
                  </a:ext>
                </a:extLst>
              </a:tr>
              <a:tr h="362156">
                <a:tc>
                  <a:txBody>
                    <a:bodyPr/>
                    <a:lstStyle/>
                    <a:p>
                      <a:pPr algn="ctr"/>
                      <a:r>
                        <a:rPr lang="en-IN" sz="1200" b="1" dirty="0" err="1"/>
                        <a:t>num_experts</a:t>
                      </a:r>
                      <a:endParaRPr lang="en-IN" sz="1200" dirty="0"/>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Total number of experts</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N /A</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a:t>8</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dirty="0"/>
                        <a:t>—</a:t>
                      </a:r>
                    </a:p>
                  </a:txBody>
                  <a:tcPr marL="52369" marR="52369" marT="26184" marB="261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090650"/>
                  </a:ext>
                </a:extLst>
              </a:tr>
            </a:tbl>
          </a:graphicData>
        </a:graphic>
      </p:graphicFrame>
    </p:spTree>
    <p:extLst>
      <p:ext uri="{BB962C8B-B14F-4D97-AF65-F5344CB8AC3E}">
        <p14:creationId xmlns:p14="http://schemas.microsoft.com/office/powerpoint/2010/main" val="1953804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7F070-EE0F-D3C0-E1F2-0044672D63E8}"/>
              </a:ext>
            </a:extLst>
          </p:cNvPr>
          <p:cNvSpPr>
            <a:spLocks noGrp="1"/>
          </p:cNvSpPr>
          <p:nvPr>
            <p:ph type="title"/>
          </p:nvPr>
        </p:nvSpPr>
        <p:spPr>
          <a:xfrm>
            <a:off x="669552" y="594335"/>
            <a:ext cx="10863635" cy="639153"/>
          </a:xfrm>
        </p:spPr>
        <p:txBody>
          <a:bodyPr/>
          <a:lstStyle/>
          <a:p>
            <a:r>
              <a:rPr lang="en-IN" dirty="0"/>
              <a:t>Self-Attention</a:t>
            </a:r>
          </a:p>
        </p:txBody>
      </p:sp>
      <p:sp>
        <p:nvSpPr>
          <p:cNvPr id="3" name="Content Placeholder 2">
            <a:extLst>
              <a:ext uri="{FF2B5EF4-FFF2-40B4-BE49-F238E27FC236}">
                <a16:creationId xmlns:a16="http://schemas.microsoft.com/office/drawing/2014/main" id="{BF7CD906-9C88-24EA-D7AB-BA5A5660B28B}"/>
              </a:ext>
            </a:extLst>
          </p:cNvPr>
          <p:cNvSpPr>
            <a:spLocks noGrp="1"/>
          </p:cNvSpPr>
          <p:nvPr>
            <p:ph idx="1"/>
          </p:nvPr>
        </p:nvSpPr>
        <p:spPr>
          <a:xfrm>
            <a:off x="678884" y="1675075"/>
            <a:ext cx="10854304" cy="4398066"/>
          </a:xfrm>
        </p:spPr>
        <p:txBody>
          <a:bodyPr>
            <a:normAutofit/>
          </a:bodyPr>
          <a:lstStyle/>
          <a:p>
            <a:pPr marL="0" indent="0">
              <a:buNone/>
            </a:pPr>
            <a:r>
              <a:rPr lang="en-US" sz="1600" dirty="0">
                <a:solidFill>
                  <a:srgbClr val="161A3E"/>
                </a:solidFill>
              </a:rPr>
              <a:t>Self-Attention allows the model to relate words to each other. Imagine we have the following sentence: </a:t>
            </a:r>
            <a:r>
              <a:rPr lang="en-US" sz="1600" b="1" dirty="0">
                <a:solidFill>
                  <a:srgbClr val="161A3E"/>
                </a:solidFill>
              </a:rPr>
              <a:t>“The cat is on a chair”</a:t>
            </a:r>
          </a:p>
          <a:p>
            <a:pPr marL="0" indent="0">
              <a:buNone/>
            </a:pPr>
            <a:r>
              <a:rPr lang="en-US" sz="1600" dirty="0">
                <a:solidFill>
                  <a:srgbClr val="161A3E"/>
                </a:solidFill>
              </a:rPr>
              <a:t>Here I show the product of the Q and the K matrix before we apply the SoftMax.</a:t>
            </a:r>
          </a:p>
        </p:txBody>
      </p:sp>
      <p:graphicFrame>
        <p:nvGraphicFramePr>
          <p:cNvPr id="5" name="object 4">
            <a:extLst>
              <a:ext uri="{FF2B5EF4-FFF2-40B4-BE49-F238E27FC236}">
                <a16:creationId xmlns:a16="http://schemas.microsoft.com/office/drawing/2014/main" id="{E2339C29-F030-E532-3809-F0F5C27A6EB1}"/>
              </a:ext>
            </a:extLst>
          </p:cNvPr>
          <p:cNvGraphicFramePr>
            <a:graphicFrameLocks noGrp="1"/>
          </p:cNvGraphicFramePr>
          <p:nvPr>
            <p:extLst>
              <p:ext uri="{D42A27DB-BD31-4B8C-83A1-F6EECF244321}">
                <p14:modId xmlns:p14="http://schemas.microsoft.com/office/powerpoint/2010/main" val="1372585620"/>
              </p:ext>
            </p:extLst>
          </p:nvPr>
        </p:nvGraphicFramePr>
        <p:xfrm>
          <a:off x="6262586" y="2576166"/>
          <a:ext cx="3443523" cy="3120441"/>
        </p:xfrm>
        <a:graphic>
          <a:graphicData uri="http://schemas.openxmlformats.org/drawingml/2006/table">
            <a:tbl>
              <a:tblPr firstRow="1" bandRow="1">
                <a:tableStyleId>{2D5ABB26-0587-4C30-8999-92F81FD0307C}</a:tableStyleId>
              </a:tblPr>
              <a:tblGrid>
                <a:gridCol w="470255">
                  <a:extLst>
                    <a:ext uri="{9D8B030D-6E8A-4147-A177-3AD203B41FA5}">
                      <a16:colId xmlns:a16="http://schemas.microsoft.com/office/drawing/2014/main" val="20000"/>
                    </a:ext>
                  </a:extLst>
                </a:gridCol>
                <a:gridCol w="495544">
                  <a:extLst>
                    <a:ext uri="{9D8B030D-6E8A-4147-A177-3AD203B41FA5}">
                      <a16:colId xmlns:a16="http://schemas.microsoft.com/office/drawing/2014/main" val="20001"/>
                    </a:ext>
                  </a:extLst>
                </a:gridCol>
                <a:gridCol w="495545">
                  <a:extLst>
                    <a:ext uri="{9D8B030D-6E8A-4147-A177-3AD203B41FA5}">
                      <a16:colId xmlns:a16="http://schemas.microsoft.com/office/drawing/2014/main" val="20002"/>
                    </a:ext>
                  </a:extLst>
                </a:gridCol>
                <a:gridCol w="495545">
                  <a:extLst>
                    <a:ext uri="{9D8B030D-6E8A-4147-A177-3AD203B41FA5}">
                      <a16:colId xmlns:a16="http://schemas.microsoft.com/office/drawing/2014/main" val="20003"/>
                    </a:ext>
                  </a:extLst>
                </a:gridCol>
                <a:gridCol w="495545">
                  <a:extLst>
                    <a:ext uri="{9D8B030D-6E8A-4147-A177-3AD203B41FA5}">
                      <a16:colId xmlns:a16="http://schemas.microsoft.com/office/drawing/2014/main" val="20004"/>
                    </a:ext>
                  </a:extLst>
                </a:gridCol>
                <a:gridCol w="495545">
                  <a:extLst>
                    <a:ext uri="{9D8B030D-6E8A-4147-A177-3AD203B41FA5}">
                      <a16:colId xmlns:a16="http://schemas.microsoft.com/office/drawing/2014/main" val="20005"/>
                    </a:ext>
                  </a:extLst>
                </a:gridCol>
                <a:gridCol w="495544">
                  <a:extLst>
                    <a:ext uri="{9D8B030D-6E8A-4147-A177-3AD203B41FA5}">
                      <a16:colId xmlns:a16="http://schemas.microsoft.com/office/drawing/2014/main" val="20006"/>
                    </a:ext>
                  </a:extLst>
                </a:gridCol>
              </a:tblGrid>
              <a:tr h="445754">
                <a:tc>
                  <a:txBody>
                    <a:bodyPr/>
                    <a:lstStyle/>
                    <a:p>
                      <a:pPr>
                        <a:lnSpc>
                          <a:spcPct val="100000"/>
                        </a:lnSpc>
                      </a:pPr>
                      <a:endParaRPr sz="11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1270" algn="ctr">
                        <a:lnSpc>
                          <a:spcPct val="100000"/>
                        </a:lnSpc>
                        <a:spcBef>
                          <a:spcPts val="5"/>
                        </a:spcBef>
                      </a:pPr>
                      <a:r>
                        <a:rPr sz="600" b="1" spc="-10" dirty="0">
                          <a:latin typeface="Tahoma"/>
                          <a:cs typeface="Tahoma"/>
                        </a:rPr>
                        <a:t>THE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1905" algn="ctr">
                        <a:lnSpc>
                          <a:spcPct val="100000"/>
                        </a:lnSpc>
                        <a:spcBef>
                          <a:spcPts val="5"/>
                        </a:spcBef>
                      </a:pPr>
                      <a:r>
                        <a:rPr sz="600" b="1" spc="5" dirty="0">
                          <a:latin typeface="Tahoma"/>
                          <a:cs typeface="Tahoma"/>
                        </a:rPr>
                        <a:t>CAT</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dirty="0">
                        <a:latin typeface="Times New Roman"/>
                        <a:cs typeface="Times New Roman"/>
                      </a:endParaRPr>
                    </a:p>
                    <a:p>
                      <a:pPr>
                        <a:lnSpc>
                          <a:spcPct val="100000"/>
                        </a:lnSpc>
                        <a:spcBef>
                          <a:spcPts val="5"/>
                        </a:spcBef>
                      </a:pPr>
                      <a:endParaRPr sz="750" dirty="0">
                        <a:latin typeface="Times New Roman"/>
                        <a:cs typeface="Times New Roman"/>
                      </a:endParaRPr>
                    </a:p>
                    <a:p>
                      <a:pPr marL="1270" algn="ctr">
                        <a:lnSpc>
                          <a:spcPct val="100000"/>
                        </a:lnSpc>
                        <a:spcBef>
                          <a:spcPts val="5"/>
                        </a:spcBef>
                      </a:pPr>
                      <a:r>
                        <a:rPr sz="600" b="1" spc="-65" dirty="0">
                          <a:latin typeface="Tahoma"/>
                          <a:cs typeface="Tahoma"/>
                        </a:rPr>
                        <a:t>IS</a:t>
                      </a:r>
                      <a:endParaRPr sz="600" dirty="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635" algn="ctr">
                        <a:lnSpc>
                          <a:spcPct val="100000"/>
                        </a:lnSpc>
                        <a:spcBef>
                          <a:spcPts val="5"/>
                        </a:spcBef>
                      </a:pPr>
                      <a:r>
                        <a:rPr sz="600" b="1" spc="35" dirty="0">
                          <a:latin typeface="Tahoma"/>
                          <a:cs typeface="Tahoma"/>
                        </a:rPr>
                        <a:t>ON</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2540" algn="ctr">
                        <a:lnSpc>
                          <a:spcPct val="100000"/>
                        </a:lnSpc>
                        <a:spcBef>
                          <a:spcPts val="5"/>
                        </a:spcBef>
                      </a:pPr>
                      <a:r>
                        <a:rPr sz="600" b="1" dirty="0">
                          <a:latin typeface="Tahoma"/>
                          <a:cs typeface="Tahoma"/>
                        </a:rPr>
                        <a:t>A</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142240">
                        <a:lnSpc>
                          <a:spcPct val="100000"/>
                        </a:lnSpc>
                        <a:spcBef>
                          <a:spcPts val="5"/>
                        </a:spcBef>
                      </a:pPr>
                      <a:r>
                        <a:rPr sz="600" b="1" spc="-25" dirty="0">
                          <a:latin typeface="Tahoma"/>
                          <a:cs typeface="Tahoma"/>
                        </a:rPr>
                        <a:t>CHAIR</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extLst>
                  <a:ext uri="{0D108BD9-81ED-4DB2-BD59-A6C34878D82A}">
                    <a16:rowId xmlns:a16="http://schemas.microsoft.com/office/drawing/2014/main" val="10000"/>
                  </a:ext>
                </a:extLst>
              </a:tr>
              <a:tr h="445752">
                <a:tc>
                  <a:txBody>
                    <a:bodyPr/>
                    <a:lstStyle/>
                    <a:p>
                      <a:pPr>
                        <a:lnSpc>
                          <a:spcPct val="100000"/>
                        </a:lnSpc>
                      </a:pPr>
                      <a:endParaRPr sz="700" dirty="0">
                        <a:latin typeface="Times New Roman"/>
                        <a:cs typeface="Times New Roman"/>
                      </a:endParaRPr>
                    </a:p>
                    <a:p>
                      <a:pPr>
                        <a:lnSpc>
                          <a:spcPct val="100000"/>
                        </a:lnSpc>
                        <a:spcBef>
                          <a:spcPts val="10"/>
                        </a:spcBef>
                      </a:pPr>
                      <a:endParaRPr sz="750" dirty="0">
                        <a:latin typeface="Times New Roman"/>
                        <a:cs typeface="Times New Roman"/>
                      </a:endParaRPr>
                    </a:p>
                    <a:p>
                      <a:pPr algn="ctr">
                        <a:lnSpc>
                          <a:spcPct val="100000"/>
                        </a:lnSpc>
                      </a:pPr>
                      <a:r>
                        <a:rPr sz="600" b="1" spc="-10" dirty="0">
                          <a:latin typeface="Tahoma"/>
                          <a:cs typeface="Tahoma"/>
                        </a:rPr>
                        <a:t>THE</a:t>
                      </a:r>
                      <a:endParaRPr sz="600" dirty="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5"/>
                        </a:spcBef>
                      </a:pPr>
                      <a:endParaRPr sz="1250">
                        <a:latin typeface="Times New Roman"/>
                        <a:cs typeface="Times New Roman"/>
                      </a:endParaRPr>
                    </a:p>
                    <a:p>
                      <a:pPr marL="635" algn="ctr">
                        <a:lnSpc>
                          <a:spcPct val="100000"/>
                        </a:lnSpc>
                        <a:spcBef>
                          <a:spcPts val="5"/>
                        </a:spcBef>
                      </a:pPr>
                      <a:r>
                        <a:rPr sz="1000" spc="10" dirty="0">
                          <a:latin typeface="Tahoma"/>
                          <a:cs typeface="Tahoma"/>
                        </a:rPr>
                        <a:t>0.268</a:t>
                      </a:r>
                      <a:endParaRPr sz="1000">
                        <a:latin typeface="Tahoma"/>
                        <a:cs typeface="Tahoma"/>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
                        </a:spcBef>
                      </a:pPr>
                      <a:endParaRPr sz="1250">
                        <a:latin typeface="Times New Roman"/>
                        <a:cs typeface="Times New Roman"/>
                      </a:endParaRPr>
                    </a:p>
                    <a:p>
                      <a:pPr marL="1270" algn="ctr">
                        <a:lnSpc>
                          <a:spcPct val="100000"/>
                        </a:lnSpc>
                        <a:spcBef>
                          <a:spcPts val="5"/>
                        </a:spcBef>
                      </a:pPr>
                      <a:r>
                        <a:rPr sz="1000" spc="10" dirty="0">
                          <a:latin typeface="Tahoma"/>
                          <a:cs typeface="Tahoma"/>
                        </a:rPr>
                        <a:t>0.119</a:t>
                      </a:r>
                      <a:endParaRPr sz="1000">
                        <a:latin typeface="Tahoma"/>
                        <a:cs typeface="Tahoma"/>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
                        </a:spcBef>
                      </a:pPr>
                      <a:endParaRPr sz="1250">
                        <a:latin typeface="Times New Roman"/>
                        <a:cs typeface="Times New Roman"/>
                      </a:endParaRPr>
                    </a:p>
                    <a:p>
                      <a:pPr marL="1270" algn="ctr">
                        <a:lnSpc>
                          <a:spcPct val="100000"/>
                        </a:lnSpc>
                        <a:spcBef>
                          <a:spcPts val="5"/>
                        </a:spcBef>
                      </a:pPr>
                      <a:r>
                        <a:rPr sz="1000" spc="10" dirty="0">
                          <a:latin typeface="Tahoma"/>
                          <a:cs typeface="Tahoma"/>
                        </a:rPr>
                        <a:t>0.134</a:t>
                      </a:r>
                      <a:endParaRPr sz="1000">
                        <a:latin typeface="Tahoma"/>
                        <a:cs typeface="Tahoma"/>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
                        </a:spcBef>
                      </a:pPr>
                      <a:endParaRPr sz="1250" dirty="0">
                        <a:latin typeface="Times New Roman"/>
                        <a:cs typeface="Times New Roman"/>
                      </a:endParaRPr>
                    </a:p>
                    <a:p>
                      <a:pPr marL="1270" algn="ctr">
                        <a:lnSpc>
                          <a:spcPct val="100000"/>
                        </a:lnSpc>
                        <a:spcBef>
                          <a:spcPts val="5"/>
                        </a:spcBef>
                      </a:pPr>
                      <a:r>
                        <a:rPr sz="1000" spc="10" dirty="0">
                          <a:latin typeface="Tahoma"/>
                          <a:cs typeface="Tahoma"/>
                        </a:rPr>
                        <a:t>0.148</a:t>
                      </a:r>
                      <a:endParaRPr sz="1000" dirty="0">
                        <a:latin typeface="Tahoma"/>
                        <a:cs typeface="Tahoma"/>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
                        </a:spcBef>
                      </a:pPr>
                      <a:endParaRPr sz="1250">
                        <a:latin typeface="Times New Roman"/>
                        <a:cs typeface="Times New Roman"/>
                      </a:endParaRPr>
                    </a:p>
                    <a:p>
                      <a:pPr marL="1270" algn="ctr">
                        <a:lnSpc>
                          <a:spcPct val="100000"/>
                        </a:lnSpc>
                        <a:spcBef>
                          <a:spcPts val="5"/>
                        </a:spcBef>
                      </a:pPr>
                      <a:r>
                        <a:rPr sz="1000" spc="10" dirty="0">
                          <a:latin typeface="Tahoma"/>
                          <a:cs typeface="Tahoma"/>
                        </a:rPr>
                        <a:t>0.179</a:t>
                      </a:r>
                      <a:endParaRPr sz="1000">
                        <a:latin typeface="Tahoma"/>
                        <a:cs typeface="Tahoma"/>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
                        </a:spcBef>
                      </a:pPr>
                      <a:endParaRPr sz="1250">
                        <a:latin typeface="Times New Roman"/>
                        <a:cs typeface="Times New Roman"/>
                      </a:endParaRPr>
                    </a:p>
                    <a:p>
                      <a:pPr marL="99060">
                        <a:lnSpc>
                          <a:spcPct val="100000"/>
                        </a:lnSpc>
                        <a:spcBef>
                          <a:spcPts val="5"/>
                        </a:spcBef>
                      </a:pPr>
                      <a:r>
                        <a:rPr sz="1000" spc="10" dirty="0">
                          <a:latin typeface="Tahoma"/>
                          <a:cs typeface="Tahoma"/>
                        </a:rPr>
                        <a:t>0.152</a:t>
                      </a:r>
                      <a:endParaRPr sz="1000">
                        <a:latin typeface="Tahoma"/>
                        <a:cs typeface="Tahoma"/>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1"/>
                  </a:ext>
                </a:extLst>
              </a:tr>
              <a:tr h="445752">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635" algn="ctr">
                        <a:lnSpc>
                          <a:spcPct val="100000"/>
                        </a:lnSpc>
                      </a:pPr>
                      <a:r>
                        <a:rPr sz="600" b="1" spc="5" dirty="0">
                          <a:latin typeface="Tahoma"/>
                          <a:cs typeface="Tahoma"/>
                        </a:rPr>
                        <a:t>CAT</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marL="635" algn="ctr">
                        <a:lnSpc>
                          <a:spcPct val="100000"/>
                        </a:lnSpc>
                      </a:pPr>
                      <a:r>
                        <a:rPr sz="1000" spc="10" dirty="0">
                          <a:latin typeface="Tahoma"/>
                          <a:cs typeface="Tahoma"/>
                        </a:rPr>
                        <a:t>0.124</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0.278</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0.201</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0.128</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0.154</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99060">
                        <a:lnSpc>
                          <a:spcPct val="100000"/>
                        </a:lnSpc>
                      </a:pPr>
                      <a:r>
                        <a:rPr sz="1000" spc="10" dirty="0">
                          <a:latin typeface="Tahoma"/>
                          <a:cs typeface="Tahoma"/>
                        </a:rPr>
                        <a:t>0.115</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2"/>
                  </a:ext>
                </a:extLst>
              </a:tr>
              <a:tr h="445861">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spc="-65" dirty="0">
                          <a:latin typeface="Tahoma"/>
                          <a:cs typeface="Tahoma"/>
                        </a:rPr>
                        <a:t>IS</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marL="635" algn="ctr">
                        <a:lnSpc>
                          <a:spcPct val="100000"/>
                        </a:lnSpc>
                      </a:pPr>
                      <a:r>
                        <a:rPr sz="1000" spc="10" dirty="0">
                          <a:latin typeface="Tahoma"/>
                          <a:cs typeface="Tahoma"/>
                        </a:rPr>
                        <a:t>0.147</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0.132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dirty="0">
                        <a:latin typeface="Times New Roman"/>
                        <a:cs typeface="Times New Roman"/>
                      </a:endParaRPr>
                    </a:p>
                    <a:p>
                      <a:pPr marL="1270" algn="ctr">
                        <a:lnSpc>
                          <a:spcPct val="100000"/>
                        </a:lnSpc>
                      </a:pPr>
                      <a:r>
                        <a:rPr sz="1000" spc="10" dirty="0">
                          <a:latin typeface="Tahoma"/>
                          <a:cs typeface="Tahoma"/>
                        </a:rPr>
                        <a:t>0.262</a:t>
                      </a:r>
                      <a:endParaRPr sz="1000" dirty="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0.097</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0.218</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99060">
                        <a:lnSpc>
                          <a:spcPct val="100000"/>
                        </a:lnSpc>
                      </a:pPr>
                      <a:r>
                        <a:rPr sz="1000" spc="10" dirty="0">
                          <a:latin typeface="Tahoma"/>
                          <a:cs typeface="Tahoma"/>
                        </a:rPr>
                        <a:t>0.145</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3"/>
                  </a:ext>
                </a:extLst>
              </a:tr>
              <a:tr h="445752">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spcBef>
                          <a:spcPts val="5"/>
                        </a:spcBef>
                      </a:pPr>
                      <a:r>
                        <a:rPr sz="600" b="1" spc="35" dirty="0">
                          <a:latin typeface="Tahoma"/>
                          <a:cs typeface="Tahoma"/>
                        </a:rPr>
                        <a:t>ON</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marL="635" algn="ctr">
                        <a:lnSpc>
                          <a:spcPct val="100000"/>
                        </a:lnSpc>
                      </a:pPr>
                      <a:r>
                        <a:rPr sz="1000" spc="10" dirty="0">
                          <a:latin typeface="Tahoma"/>
                          <a:cs typeface="Tahoma"/>
                        </a:rPr>
                        <a:t>0.210</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0.128</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0.206</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0.212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0.119</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99060">
                        <a:lnSpc>
                          <a:spcPct val="100000"/>
                        </a:lnSpc>
                      </a:pPr>
                      <a:r>
                        <a:rPr sz="1000" spc="10" dirty="0">
                          <a:latin typeface="Tahoma"/>
                          <a:cs typeface="Tahoma"/>
                        </a:rPr>
                        <a:t>0.125</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4"/>
                  </a:ext>
                </a:extLst>
              </a:tr>
              <a:tr h="445785">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1270" algn="ctr">
                        <a:lnSpc>
                          <a:spcPct val="100000"/>
                        </a:lnSpc>
                      </a:pPr>
                      <a:r>
                        <a:rPr sz="600" b="1" dirty="0">
                          <a:latin typeface="Tahoma"/>
                          <a:cs typeface="Tahoma"/>
                        </a:rPr>
                        <a:t>A</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marL="635" algn="ctr">
                        <a:lnSpc>
                          <a:spcPct val="100000"/>
                        </a:lnSpc>
                        <a:spcBef>
                          <a:spcPts val="5"/>
                        </a:spcBef>
                      </a:pPr>
                      <a:r>
                        <a:rPr sz="1000" spc="10" dirty="0">
                          <a:latin typeface="Tahoma"/>
                          <a:cs typeface="Tahoma"/>
                        </a:rPr>
                        <a:t>0.146</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spcBef>
                          <a:spcPts val="5"/>
                        </a:spcBef>
                      </a:pPr>
                      <a:r>
                        <a:rPr sz="1000" spc="10" dirty="0">
                          <a:latin typeface="Tahoma"/>
                          <a:cs typeface="Tahoma"/>
                        </a:rPr>
                        <a:t>0.158</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spcBef>
                          <a:spcPts val="5"/>
                        </a:spcBef>
                      </a:pPr>
                      <a:r>
                        <a:rPr sz="1000" spc="10" dirty="0">
                          <a:latin typeface="Tahoma"/>
                          <a:cs typeface="Tahoma"/>
                        </a:rPr>
                        <a:t>0.152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spcBef>
                          <a:spcPts val="5"/>
                        </a:spcBef>
                      </a:pPr>
                      <a:r>
                        <a:rPr sz="1000" spc="10" dirty="0">
                          <a:latin typeface="Tahoma"/>
                          <a:cs typeface="Tahoma"/>
                        </a:rPr>
                        <a:t>0.143</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spcBef>
                          <a:spcPts val="5"/>
                        </a:spcBef>
                      </a:pPr>
                      <a:r>
                        <a:rPr sz="1000" spc="10" dirty="0">
                          <a:latin typeface="Tahoma"/>
                          <a:cs typeface="Tahoma"/>
                        </a:rPr>
                        <a:t>0.227</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99060">
                        <a:lnSpc>
                          <a:spcPct val="100000"/>
                        </a:lnSpc>
                        <a:spcBef>
                          <a:spcPts val="5"/>
                        </a:spcBef>
                      </a:pPr>
                      <a:r>
                        <a:rPr sz="1000" spc="10" dirty="0">
                          <a:latin typeface="Tahoma"/>
                          <a:cs typeface="Tahoma"/>
                        </a:rPr>
                        <a:t>0.174</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5"/>
                  </a:ext>
                </a:extLst>
              </a:tr>
              <a:tr h="445785">
                <a:tc>
                  <a:txBody>
                    <a:bodyPr/>
                    <a:lstStyle/>
                    <a:p>
                      <a:pPr>
                        <a:lnSpc>
                          <a:spcPct val="100000"/>
                        </a:lnSpc>
                      </a:pPr>
                      <a:endParaRPr sz="700">
                        <a:latin typeface="Times New Roman"/>
                        <a:cs typeface="Times New Roman"/>
                      </a:endParaRPr>
                    </a:p>
                    <a:p>
                      <a:pPr>
                        <a:lnSpc>
                          <a:spcPct val="100000"/>
                        </a:lnSpc>
                        <a:spcBef>
                          <a:spcPts val="15"/>
                        </a:spcBef>
                      </a:pPr>
                      <a:endParaRPr sz="750">
                        <a:latin typeface="Times New Roman"/>
                        <a:cs typeface="Times New Roman"/>
                      </a:endParaRPr>
                    </a:p>
                    <a:p>
                      <a:pPr marL="635" algn="ctr">
                        <a:lnSpc>
                          <a:spcPct val="100000"/>
                        </a:lnSpc>
                      </a:pPr>
                      <a:r>
                        <a:rPr sz="600" b="1" spc="-25" dirty="0">
                          <a:latin typeface="Tahoma"/>
                          <a:cs typeface="Tahoma"/>
                        </a:rPr>
                        <a:t>CHAIR</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marL="635" algn="ctr">
                        <a:lnSpc>
                          <a:spcPct val="100000"/>
                        </a:lnSpc>
                      </a:pPr>
                      <a:r>
                        <a:rPr sz="1000" spc="10" dirty="0">
                          <a:latin typeface="Tahoma"/>
                          <a:cs typeface="Tahoma"/>
                        </a:rPr>
                        <a:t>0.195</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0.114</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0.203</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0.103</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0.157</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dirty="0">
                        <a:latin typeface="Times New Roman"/>
                        <a:cs typeface="Times New Roman"/>
                      </a:endParaRPr>
                    </a:p>
                    <a:p>
                      <a:pPr marL="99060">
                        <a:lnSpc>
                          <a:spcPct val="100000"/>
                        </a:lnSpc>
                      </a:pPr>
                      <a:r>
                        <a:rPr sz="1000" spc="10" dirty="0">
                          <a:latin typeface="Tahoma"/>
                          <a:cs typeface="Tahoma"/>
                        </a:rPr>
                        <a:t>0.229</a:t>
                      </a:r>
                      <a:endParaRPr sz="1000" dirty="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6"/>
                  </a:ext>
                </a:extLst>
              </a:tr>
            </a:tbl>
          </a:graphicData>
        </a:graphic>
      </p:graphicFrame>
      <p:sp>
        <p:nvSpPr>
          <p:cNvPr id="6" name="object 5">
            <a:extLst>
              <a:ext uri="{FF2B5EF4-FFF2-40B4-BE49-F238E27FC236}">
                <a16:creationId xmlns:a16="http://schemas.microsoft.com/office/drawing/2014/main" id="{1D349F24-B107-66AB-9876-74F053C4085E}"/>
              </a:ext>
            </a:extLst>
          </p:cNvPr>
          <p:cNvSpPr txBox="1"/>
          <p:nvPr/>
        </p:nvSpPr>
        <p:spPr>
          <a:xfrm>
            <a:off x="9871328" y="4185920"/>
            <a:ext cx="1661859" cy="166071"/>
          </a:xfrm>
          <a:prstGeom prst="rect">
            <a:avLst/>
          </a:prstGeom>
        </p:spPr>
        <p:txBody>
          <a:bodyPr vert="horz" wrap="square" lIns="0" tIns="12065" rIns="0" bIns="0" rtlCol="0">
            <a:spAutoFit/>
          </a:bodyPr>
          <a:lstStyle/>
          <a:p>
            <a:pPr marL="12700">
              <a:lnSpc>
                <a:spcPct val="100000"/>
              </a:lnSpc>
              <a:spcBef>
                <a:spcPts val="95"/>
              </a:spcBef>
            </a:pPr>
            <a:r>
              <a:rPr sz="1000" b="1" spc="-105" dirty="0">
                <a:latin typeface="Tahoma"/>
                <a:cs typeface="Tahoma"/>
              </a:rPr>
              <a:t>*</a:t>
            </a:r>
            <a:r>
              <a:rPr sz="1000" b="1" spc="-60" dirty="0">
                <a:latin typeface="Tahoma"/>
                <a:cs typeface="Tahoma"/>
              </a:rPr>
              <a:t> </a:t>
            </a:r>
            <a:r>
              <a:rPr sz="1000" b="1" dirty="0">
                <a:latin typeface="Tahoma"/>
                <a:cs typeface="Tahoma"/>
              </a:rPr>
              <a:t>a</a:t>
            </a:r>
            <a:r>
              <a:rPr sz="1000" b="1" spc="20" dirty="0">
                <a:latin typeface="Tahoma"/>
                <a:cs typeface="Tahoma"/>
              </a:rPr>
              <a:t>ll</a:t>
            </a:r>
            <a:r>
              <a:rPr sz="1000" b="1" spc="-50" dirty="0">
                <a:latin typeface="Tahoma"/>
                <a:cs typeface="Tahoma"/>
              </a:rPr>
              <a:t> </a:t>
            </a:r>
            <a:r>
              <a:rPr sz="1000" b="1" spc="-25" dirty="0">
                <a:latin typeface="Tahoma"/>
                <a:cs typeface="Tahoma"/>
              </a:rPr>
              <a:t>v</a:t>
            </a:r>
            <a:r>
              <a:rPr sz="1000" b="1" dirty="0">
                <a:latin typeface="Tahoma"/>
                <a:cs typeface="Tahoma"/>
              </a:rPr>
              <a:t>a</a:t>
            </a:r>
            <a:r>
              <a:rPr sz="1000" b="1" spc="25" dirty="0">
                <a:latin typeface="Tahoma"/>
                <a:cs typeface="Tahoma"/>
              </a:rPr>
              <a:t>lu</a:t>
            </a:r>
            <a:r>
              <a:rPr sz="1000" b="1" spc="20" dirty="0">
                <a:latin typeface="Tahoma"/>
                <a:cs typeface="Tahoma"/>
              </a:rPr>
              <a:t>e</a:t>
            </a:r>
            <a:r>
              <a:rPr sz="1000" b="1" spc="-5" dirty="0">
                <a:latin typeface="Tahoma"/>
                <a:cs typeface="Tahoma"/>
              </a:rPr>
              <a:t>s</a:t>
            </a:r>
            <a:r>
              <a:rPr sz="1000" b="1" spc="-40" dirty="0">
                <a:latin typeface="Tahoma"/>
                <a:cs typeface="Tahoma"/>
              </a:rPr>
              <a:t> </a:t>
            </a:r>
            <a:r>
              <a:rPr sz="1000" b="1" dirty="0">
                <a:latin typeface="Tahoma"/>
                <a:cs typeface="Tahoma"/>
              </a:rPr>
              <a:t>a</a:t>
            </a:r>
            <a:r>
              <a:rPr sz="1000" b="1" spc="20" dirty="0">
                <a:latin typeface="Tahoma"/>
                <a:cs typeface="Tahoma"/>
              </a:rPr>
              <a:t>re</a:t>
            </a:r>
            <a:r>
              <a:rPr sz="1000" b="1" spc="-45" dirty="0">
                <a:latin typeface="Tahoma"/>
                <a:cs typeface="Tahoma"/>
              </a:rPr>
              <a:t> </a:t>
            </a:r>
            <a:r>
              <a:rPr sz="1000" b="1" spc="5" dirty="0">
                <a:latin typeface="Tahoma"/>
                <a:cs typeface="Tahoma"/>
              </a:rPr>
              <a:t>ran</a:t>
            </a:r>
            <a:r>
              <a:rPr sz="1000" b="1" spc="65" dirty="0">
                <a:latin typeface="Tahoma"/>
                <a:cs typeface="Tahoma"/>
              </a:rPr>
              <a:t>d</a:t>
            </a:r>
            <a:r>
              <a:rPr sz="1000" b="1" spc="70" dirty="0">
                <a:latin typeface="Tahoma"/>
                <a:cs typeface="Tahoma"/>
              </a:rPr>
              <a:t>o</a:t>
            </a:r>
            <a:r>
              <a:rPr sz="1000" b="1" spc="30" dirty="0">
                <a:latin typeface="Tahoma"/>
                <a:cs typeface="Tahoma"/>
              </a:rPr>
              <a:t>m</a:t>
            </a:r>
            <a:r>
              <a:rPr sz="1000" b="1" spc="-45" dirty="0">
                <a:latin typeface="Tahoma"/>
                <a:cs typeface="Tahoma"/>
              </a:rPr>
              <a:t>.</a:t>
            </a:r>
            <a:endParaRPr sz="1000" b="1" dirty="0">
              <a:latin typeface="Tahoma"/>
              <a:cs typeface="Tahoma"/>
            </a:endParaRPr>
          </a:p>
        </p:txBody>
      </p:sp>
      <p:sp>
        <p:nvSpPr>
          <p:cNvPr id="7" name="object 6">
            <a:extLst>
              <a:ext uri="{FF2B5EF4-FFF2-40B4-BE49-F238E27FC236}">
                <a16:creationId xmlns:a16="http://schemas.microsoft.com/office/drawing/2014/main" id="{8DA23695-BC28-7CF8-B5EF-3EF89D5D2859}"/>
              </a:ext>
            </a:extLst>
          </p:cNvPr>
          <p:cNvSpPr/>
          <p:nvPr/>
        </p:nvSpPr>
        <p:spPr>
          <a:xfrm>
            <a:off x="9587789" y="2378676"/>
            <a:ext cx="533400" cy="141605"/>
          </a:xfrm>
          <a:custGeom>
            <a:avLst/>
            <a:gdLst/>
            <a:ahLst/>
            <a:cxnLst/>
            <a:rect l="l" t="t" r="r" b="b"/>
            <a:pathLst>
              <a:path w="533400" h="141605">
                <a:moveTo>
                  <a:pt x="488314" y="0"/>
                </a:moveTo>
                <a:lnTo>
                  <a:pt x="486282" y="5714"/>
                </a:lnTo>
                <a:lnTo>
                  <a:pt x="494401" y="9261"/>
                </a:lnTo>
                <a:lnTo>
                  <a:pt x="501411" y="14176"/>
                </a:lnTo>
                <a:lnTo>
                  <a:pt x="519922" y="57820"/>
                </a:lnTo>
                <a:lnTo>
                  <a:pt x="520446" y="69850"/>
                </a:lnTo>
                <a:lnTo>
                  <a:pt x="519922" y="82325"/>
                </a:lnTo>
                <a:lnTo>
                  <a:pt x="507323" y="120542"/>
                </a:lnTo>
                <a:lnTo>
                  <a:pt x="486409" y="135509"/>
                </a:lnTo>
                <a:lnTo>
                  <a:pt x="488314" y="141224"/>
                </a:lnTo>
                <a:lnTo>
                  <a:pt x="521715" y="116459"/>
                </a:lnTo>
                <a:lnTo>
                  <a:pt x="533273" y="70612"/>
                </a:lnTo>
                <a:lnTo>
                  <a:pt x="532536" y="57679"/>
                </a:lnTo>
                <a:lnTo>
                  <a:pt x="515157" y="16073"/>
                </a:lnTo>
                <a:lnTo>
                  <a:pt x="498532" y="3690"/>
                </a:lnTo>
                <a:lnTo>
                  <a:pt x="488314" y="0"/>
                </a:lnTo>
                <a:close/>
              </a:path>
              <a:path w="533400" h="141605">
                <a:moveTo>
                  <a:pt x="44957" y="0"/>
                </a:moveTo>
                <a:lnTo>
                  <a:pt x="11683" y="24764"/>
                </a:lnTo>
                <a:lnTo>
                  <a:pt x="0" y="70612"/>
                </a:lnTo>
                <a:lnTo>
                  <a:pt x="716" y="83615"/>
                </a:lnTo>
                <a:lnTo>
                  <a:pt x="18008" y="125150"/>
                </a:lnTo>
                <a:lnTo>
                  <a:pt x="44957" y="141224"/>
                </a:lnTo>
                <a:lnTo>
                  <a:pt x="46735" y="135509"/>
                </a:lnTo>
                <a:lnTo>
                  <a:pt x="38711" y="131885"/>
                </a:lnTo>
                <a:lnTo>
                  <a:pt x="31781" y="126904"/>
                </a:lnTo>
                <a:lnTo>
                  <a:pt x="13350" y="82325"/>
                </a:lnTo>
                <a:lnTo>
                  <a:pt x="12826" y="69850"/>
                </a:lnTo>
                <a:lnTo>
                  <a:pt x="13350" y="57820"/>
                </a:lnTo>
                <a:lnTo>
                  <a:pt x="25969" y="20448"/>
                </a:lnTo>
                <a:lnTo>
                  <a:pt x="46989" y="5714"/>
                </a:lnTo>
                <a:lnTo>
                  <a:pt x="44957" y="0"/>
                </a:lnTo>
                <a:close/>
              </a:path>
            </a:pathLst>
          </a:custGeom>
          <a:solidFill>
            <a:srgbClr val="000000"/>
          </a:solidFill>
        </p:spPr>
        <p:txBody>
          <a:bodyPr wrap="square" lIns="0" tIns="0" rIns="0" bIns="0" rtlCol="0"/>
          <a:lstStyle/>
          <a:p>
            <a:endParaRPr b="1"/>
          </a:p>
        </p:txBody>
      </p:sp>
      <p:sp>
        <p:nvSpPr>
          <p:cNvPr id="8" name="object 7">
            <a:extLst>
              <a:ext uri="{FF2B5EF4-FFF2-40B4-BE49-F238E27FC236}">
                <a16:creationId xmlns:a16="http://schemas.microsoft.com/office/drawing/2014/main" id="{86D970C7-DF09-EA44-8E4C-4705A7EAA855}"/>
              </a:ext>
            </a:extLst>
          </p:cNvPr>
          <p:cNvSpPr txBox="1"/>
          <p:nvPr/>
        </p:nvSpPr>
        <p:spPr>
          <a:xfrm>
            <a:off x="8915271" y="2331052"/>
            <a:ext cx="1177925" cy="197490"/>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Cambria Math"/>
                <a:cs typeface="Cambria Math"/>
              </a:rPr>
              <a:t>𝐴𝑡𝑡</a:t>
            </a:r>
            <a:r>
              <a:rPr sz="1200" b="1" dirty="0">
                <a:latin typeface="Cambria Math"/>
                <a:cs typeface="Cambria Math"/>
              </a:rPr>
              <a:t>𝑒</a:t>
            </a:r>
            <a:r>
              <a:rPr sz="1200" b="1" spc="5" dirty="0">
                <a:latin typeface="Cambria Math"/>
                <a:cs typeface="Cambria Math"/>
              </a:rPr>
              <a:t>𝑛</a:t>
            </a:r>
            <a:r>
              <a:rPr sz="1200" b="1" spc="-10" dirty="0">
                <a:latin typeface="Cambria Math"/>
                <a:cs typeface="Cambria Math"/>
              </a:rPr>
              <a:t>𝑡</a:t>
            </a:r>
            <a:r>
              <a:rPr sz="1200" b="1" dirty="0">
                <a:latin typeface="Cambria Math"/>
                <a:cs typeface="Cambria Math"/>
              </a:rPr>
              <a:t>𝑖𝑜𝑛 </a:t>
            </a:r>
            <a:r>
              <a:rPr sz="1200" b="1" spc="5" dirty="0">
                <a:latin typeface="Cambria Math"/>
                <a:cs typeface="Cambria Math"/>
              </a:rPr>
              <a:t> </a:t>
            </a:r>
            <a:r>
              <a:rPr sz="1200" b="1" spc="25" dirty="0">
                <a:latin typeface="Cambria Math"/>
                <a:cs typeface="Cambria Math"/>
              </a:rPr>
              <a:t>𝑄</a:t>
            </a:r>
            <a:r>
              <a:rPr sz="1200" b="1" dirty="0">
                <a:latin typeface="Cambria Math"/>
                <a:cs typeface="Cambria Math"/>
              </a:rPr>
              <a:t>,</a:t>
            </a:r>
            <a:r>
              <a:rPr sz="1200" b="1" spc="-70" dirty="0">
                <a:latin typeface="Cambria Math"/>
                <a:cs typeface="Cambria Math"/>
              </a:rPr>
              <a:t> </a:t>
            </a:r>
            <a:r>
              <a:rPr sz="1200" b="1" spc="35" dirty="0">
                <a:latin typeface="Cambria Math"/>
                <a:cs typeface="Cambria Math"/>
              </a:rPr>
              <a:t>𝐾</a:t>
            </a:r>
            <a:r>
              <a:rPr sz="1200" b="1" dirty="0">
                <a:latin typeface="Cambria Math"/>
                <a:cs typeface="Cambria Math"/>
              </a:rPr>
              <a:t>,</a:t>
            </a:r>
            <a:r>
              <a:rPr sz="1200" b="1" spc="-55" dirty="0">
                <a:latin typeface="Cambria Math"/>
                <a:cs typeface="Cambria Math"/>
              </a:rPr>
              <a:t> </a:t>
            </a:r>
            <a:r>
              <a:rPr sz="1200" b="1" dirty="0">
                <a:latin typeface="Cambria Math"/>
                <a:cs typeface="Cambria Math"/>
              </a:rPr>
              <a:t>𝑉</a:t>
            </a:r>
          </a:p>
        </p:txBody>
      </p:sp>
      <p:sp>
        <p:nvSpPr>
          <p:cNvPr id="9" name="object 8">
            <a:extLst>
              <a:ext uri="{FF2B5EF4-FFF2-40B4-BE49-F238E27FC236}">
                <a16:creationId xmlns:a16="http://schemas.microsoft.com/office/drawing/2014/main" id="{B20C1F93-AA37-491A-5822-6B23BB10BF0E}"/>
              </a:ext>
            </a:extLst>
          </p:cNvPr>
          <p:cNvSpPr txBox="1"/>
          <p:nvPr/>
        </p:nvSpPr>
        <p:spPr>
          <a:xfrm>
            <a:off x="10177396" y="2331052"/>
            <a:ext cx="699770" cy="197490"/>
          </a:xfrm>
          <a:prstGeom prst="rect">
            <a:avLst/>
          </a:prstGeom>
        </p:spPr>
        <p:txBody>
          <a:bodyPr vert="horz" wrap="square" lIns="0" tIns="12700" rIns="0" bIns="0" rtlCol="0">
            <a:spAutoFit/>
          </a:bodyPr>
          <a:lstStyle/>
          <a:p>
            <a:pPr marL="12700">
              <a:lnSpc>
                <a:spcPct val="100000"/>
              </a:lnSpc>
              <a:spcBef>
                <a:spcPts val="100"/>
              </a:spcBef>
            </a:pPr>
            <a:r>
              <a:rPr sz="1200" b="1" dirty="0">
                <a:latin typeface="Cambria Math"/>
                <a:cs typeface="Cambria Math"/>
              </a:rPr>
              <a:t>=</a:t>
            </a:r>
            <a:r>
              <a:rPr sz="1200" b="1" spc="-5" dirty="0">
                <a:latin typeface="Cambria Math"/>
                <a:cs typeface="Cambria Math"/>
              </a:rPr>
              <a:t> softmax</a:t>
            </a:r>
            <a:endParaRPr sz="1200" b="1" dirty="0">
              <a:latin typeface="Cambria Math"/>
              <a:cs typeface="Cambria Math"/>
            </a:endParaRPr>
          </a:p>
        </p:txBody>
      </p:sp>
      <p:sp>
        <p:nvSpPr>
          <p:cNvPr id="10" name="object 9">
            <a:extLst>
              <a:ext uri="{FF2B5EF4-FFF2-40B4-BE49-F238E27FC236}">
                <a16:creationId xmlns:a16="http://schemas.microsoft.com/office/drawing/2014/main" id="{1A9D8131-53AB-B8EA-2EB7-C9DCDDFC2BAF}"/>
              </a:ext>
            </a:extLst>
          </p:cNvPr>
          <p:cNvSpPr/>
          <p:nvPr/>
        </p:nvSpPr>
        <p:spPr>
          <a:xfrm>
            <a:off x="10900281" y="2227470"/>
            <a:ext cx="462280" cy="450850"/>
          </a:xfrm>
          <a:custGeom>
            <a:avLst/>
            <a:gdLst/>
            <a:ahLst/>
            <a:cxnLst/>
            <a:rect l="l" t="t" r="r" b="b"/>
            <a:pathLst>
              <a:path w="462279" h="450850">
                <a:moveTo>
                  <a:pt x="76200" y="5334"/>
                </a:moveTo>
                <a:lnTo>
                  <a:pt x="41478" y="39077"/>
                </a:lnTo>
                <a:lnTo>
                  <a:pt x="18923" y="90424"/>
                </a:lnTo>
                <a:lnTo>
                  <a:pt x="4737" y="152717"/>
                </a:lnTo>
                <a:lnTo>
                  <a:pt x="0" y="225044"/>
                </a:lnTo>
                <a:lnTo>
                  <a:pt x="1181" y="262445"/>
                </a:lnTo>
                <a:lnTo>
                  <a:pt x="10655" y="329971"/>
                </a:lnTo>
                <a:lnTo>
                  <a:pt x="29273" y="387146"/>
                </a:lnTo>
                <a:lnTo>
                  <a:pt x="55511" y="432346"/>
                </a:lnTo>
                <a:lnTo>
                  <a:pt x="71374" y="450342"/>
                </a:lnTo>
                <a:lnTo>
                  <a:pt x="76200" y="445008"/>
                </a:lnTo>
                <a:lnTo>
                  <a:pt x="62001" y="426770"/>
                </a:lnTo>
                <a:lnTo>
                  <a:pt x="49682" y="405599"/>
                </a:lnTo>
                <a:lnTo>
                  <a:pt x="30607" y="354457"/>
                </a:lnTo>
                <a:lnTo>
                  <a:pt x="19062" y="293712"/>
                </a:lnTo>
                <a:lnTo>
                  <a:pt x="15240" y="224917"/>
                </a:lnTo>
                <a:lnTo>
                  <a:pt x="16192" y="189903"/>
                </a:lnTo>
                <a:lnTo>
                  <a:pt x="23863" y="125323"/>
                </a:lnTo>
                <a:lnTo>
                  <a:pt x="39230" y="68884"/>
                </a:lnTo>
                <a:lnTo>
                  <a:pt x="62001" y="23634"/>
                </a:lnTo>
                <a:lnTo>
                  <a:pt x="76200" y="5334"/>
                </a:lnTo>
                <a:close/>
              </a:path>
              <a:path w="462279" h="450850">
                <a:moveTo>
                  <a:pt x="381254" y="219964"/>
                </a:moveTo>
                <a:lnTo>
                  <a:pt x="81026" y="219964"/>
                </a:lnTo>
                <a:lnTo>
                  <a:pt x="81026" y="230632"/>
                </a:lnTo>
                <a:lnTo>
                  <a:pt x="381254" y="230632"/>
                </a:lnTo>
                <a:lnTo>
                  <a:pt x="381254" y="219964"/>
                </a:lnTo>
                <a:close/>
              </a:path>
              <a:path w="462279" h="450850">
                <a:moveTo>
                  <a:pt x="462280" y="224917"/>
                </a:moveTo>
                <a:lnTo>
                  <a:pt x="457530" y="152717"/>
                </a:lnTo>
                <a:lnTo>
                  <a:pt x="443357" y="90424"/>
                </a:lnTo>
                <a:lnTo>
                  <a:pt x="420839" y="39077"/>
                </a:lnTo>
                <a:lnTo>
                  <a:pt x="390906" y="0"/>
                </a:lnTo>
                <a:lnTo>
                  <a:pt x="386207" y="5334"/>
                </a:lnTo>
                <a:lnTo>
                  <a:pt x="400329" y="23634"/>
                </a:lnTo>
                <a:lnTo>
                  <a:pt x="412597" y="44805"/>
                </a:lnTo>
                <a:lnTo>
                  <a:pt x="431673" y="95885"/>
                </a:lnTo>
                <a:lnTo>
                  <a:pt x="443204" y="156654"/>
                </a:lnTo>
                <a:lnTo>
                  <a:pt x="447040" y="225044"/>
                </a:lnTo>
                <a:lnTo>
                  <a:pt x="446074" y="260362"/>
                </a:lnTo>
                <a:lnTo>
                  <a:pt x="438404" y="325081"/>
                </a:lnTo>
                <a:lnTo>
                  <a:pt x="423049" y="381482"/>
                </a:lnTo>
                <a:lnTo>
                  <a:pt x="400329" y="426770"/>
                </a:lnTo>
                <a:lnTo>
                  <a:pt x="386207" y="445008"/>
                </a:lnTo>
                <a:lnTo>
                  <a:pt x="390906" y="450342"/>
                </a:lnTo>
                <a:lnTo>
                  <a:pt x="420839" y="411276"/>
                </a:lnTo>
                <a:lnTo>
                  <a:pt x="443357" y="359918"/>
                </a:lnTo>
                <a:lnTo>
                  <a:pt x="457530" y="297472"/>
                </a:lnTo>
                <a:lnTo>
                  <a:pt x="461086" y="262445"/>
                </a:lnTo>
                <a:lnTo>
                  <a:pt x="462280" y="224917"/>
                </a:lnTo>
                <a:close/>
              </a:path>
            </a:pathLst>
          </a:custGeom>
          <a:solidFill>
            <a:srgbClr val="000000"/>
          </a:solidFill>
        </p:spPr>
        <p:txBody>
          <a:bodyPr wrap="square" lIns="0" tIns="0" rIns="0" bIns="0" rtlCol="0"/>
          <a:lstStyle/>
          <a:p>
            <a:endParaRPr b="1"/>
          </a:p>
        </p:txBody>
      </p:sp>
      <p:sp>
        <p:nvSpPr>
          <p:cNvPr id="11" name="object 10">
            <a:extLst>
              <a:ext uri="{FF2B5EF4-FFF2-40B4-BE49-F238E27FC236}">
                <a16:creationId xmlns:a16="http://schemas.microsoft.com/office/drawing/2014/main" id="{22D5B551-FF2E-5AE7-7A27-84787525693B}"/>
              </a:ext>
            </a:extLst>
          </p:cNvPr>
          <p:cNvSpPr txBox="1"/>
          <p:nvPr/>
        </p:nvSpPr>
        <p:spPr>
          <a:xfrm>
            <a:off x="10972323" y="2232307"/>
            <a:ext cx="365760" cy="197490"/>
          </a:xfrm>
          <a:prstGeom prst="rect">
            <a:avLst/>
          </a:prstGeom>
        </p:spPr>
        <p:txBody>
          <a:bodyPr vert="horz" wrap="square" lIns="0" tIns="12700" rIns="0" bIns="0" rtlCol="0">
            <a:spAutoFit/>
          </a:bodyPr>
          <a:lstStyle/>
          <a:p>
            <a:pPr marL="38100">
              <a:lnSpc>
                <a:spcPct val="100000"/>
              </a:lnSpc>
              <a:spcBef>
                <a:spcPts val="100"/>
              </a:spcBef>
            </a:pPr>
            <a:r>
              <a:rPr sz="1200" b="1" spc="35" dirty="0">
                <a:latin typeface="Cambria Math"/>
                <a:cs typeface="Cambria Math"/>
              </a:rPr>
              <a:t>𝑄𝐾</a:t>
            </a:r>
            <a:r>
              <a:rPr sz="1275" b="1" spc="52" baseline="29411" dirty="0">
                <a:latin typeface="Cambria Math"/>
                <a:cs typeface="Cambria Math"/>
              </a:rPr>
              <a:t>𝑇</a:t>
            </a:r>
            <a:endParaRPr sz="1275" b="1" baseline="29411" dirty="0">
              <a:latin typeface="Cambria Math"/>
              <a:cs typeface="Cambria Math"/>
            </a:endParaRPr>
          </a:p>
        </p:txBody>
      </p:sp>
      <p:sp>
        <p:nvSpPr>
          <p:cNvPr id="12" name="object 11">
            <a:extLst>
              <a:ext uri="{FF2B5EF4-FFF2-40B4-BE49-F238E27FC236}">
                <a16:creationId xmlns:a16="http://schemas.microsoft.com/office/drawing/2014/main" id="{C813CD3B-867F-A521-6381-19A310E3C3D9}"/>
              </a:ext>
            </a:extLst>
          </p:cNvPr>
          <p:cNvSpPr/>
          <p:nvPr/>
        </p:nvSpPr>
        <p:spPr>
          <a:xfrm>
            <a:off x="10994642" y="2486551"/>
            <a:ext cx="274955" cy="189230"/>
          </a:xfrm>
          <a:custGeom>
            <a:avLst/>
            <a:gdLst/>
            <a:ahLst/>
            <a:cxnLst/>
            <a:rect l="l" t="t" r="r" b="b"/>
            <a:pathLst>
              <a:path w="274954" h="189230">
                <a:moveTo>
                  <a:pt x="116204" y="0"/>
                </a:moveTo>
                <a:lnTo>
                  <a:pt x="95376" y="0"/>
                </a:lnTo>
                <a:lnTo>
                  <a:pt x="50165" y="169290"/>
                </a:lnTo>
                <a:lnTo>
                  <a:pt x="24383" y="111760"/>
                </a:lnTo>
                <a:lnTo>
                  <a:pt x="0" y="122936"/>
                </a:lnTo>
                <a:lnTo>
                  <a:pt x="2286" y="128524"/>
                </a:lnTo>
                <a:lnTo>
                  <a:pt x="14858" y="122936"/>
                </a:lnTo>
                <a:lnTo>
                  <a:pt x="45720" y="189229"/>
                </a:lnTo>
                <a:lnTo>
                  <a:pt x="52958" y="189229"/>
                </a:lnTo>
                <a:lnTo>
                  <a:pt x="101219" y="9905"/>
                </a:lnTo>
                <a:lnTo>
                  <a:pt x="110108" y="9905"/>
                </a:lnTo>
                <a:lnTo>
                  <a:pt x="110108" y="11175"/>
                </a:lnTo>
                <a:lnTo>
                  <a:pt x="274700" y="11175"/>
                </a:lnTo>
                <a:lnTo>
                  <a:pt x="274700" y="507"/>
                </a:lnTo>
                <a:lnTo>
                  <a:pt x="116204" y="507"/>
                </a:lnTo>
                <a:lnTo>
                  <a:pt x="116204" y="0"/>
                </a:lnTo>
                <a:close/>
              </a:path>
            </a:pathLst>
          </a:custGeom>
          <a:solidFill>
            <a:srgbClr val="000000"/>
          </a:solidFill>
        </p:spPr>
        <p:txBody>
          <a:bodyPr wrap="square" lIns="0" tIns="0" rIns="0" bIns="0" rtlCol="0"/>
          <a:lstStyle/>
          <a:p>
            <a:endParaRPr b="1"/>
          </a:p>
        </p:txBody>
      </p:sp>
      <p:sp>
        <p:nvSpPr>
          <p:cNvPr id="13" name="object 12">
            <a:extLst>
              <a:ext uri="{FF2B5EF4-FFF2-40B4-BE49-F238E27FC236}">
                <a16:creationId xmlns:a16="http://schemas.microsoft.com/office/drawing/2014/main" id="{C6DE9679-0D15-88BD-26E6-538CA7D04F2C}"/>
              </a:ext>
            </a:extLst>
          </p:cNvPr>
          <p:cNvSpPr txBox="1"/>
          <p:nvPr/>
        </p:nvSpPr>
        <p:spPr>
          <a:xfrm>
            <a:off x="11037187" y="2477742"/>
            <a:ext cx="232410" cy="197490"/>
          </a:xfrm>
          <a:prstGeom prst="rect">
            <a:avLst/>
          </a:prstGeom>
        </p:spPr>
        <p:txBody>
          <a:bodyPr vert="horz" wrap="square" lIns="0" tIns="12700" rIns="0" bIns="0" rtlCol="0">
            <a:spAutoFit/>
          </a:bodyPr>
          <a:lstStyle/>
          <a:p>
            <a:pPr marL="38100">
              <a:lnSpc>
                <a:spcPct val="100000"/>
              </a:lnSpc>
              <a:spcBef>
                <a:spcPts val="100"/>
              </a:spcBef>
            </a:pPr>
            <a:r>
              <a:rPr sz="1200" b="1" spc="25" dirty="0">
                <a:latin typeface="Cambria Math"/>
                <a:cs typeface="Cambria Math"/>
              </a:rPr>
              <a:t>𝑑</a:t>
            </a:r>
            <a:r>
              <a:rPr sz="1275" b="1" spc="37" baseline="-16339" dirty="0">
                <a:latin typeface="Cambria Math"/>
                <a:cs typeface="Cambria Math"/>
              </a:rPr>
              <a:t>𝑘</a:t>
            </a:r>
            <a:endParaRPr sz="1275" b="1" baseline="-16339" dirty="0">
              <a:latin typeface="Cambria Math"/>
              <a:cs typeface="Cambria Math"/>
            </a:endParaRPr>
          </a:p>
        </p:txBody>
      </p:sp>
      <p:sp>
        <p:nvSpPr>
          <p:cNvPr id="14" name="object 13">
            <a:extLst>
              <a:ext uri="{FF2B5EF4-FFF2-40B4-BE49-F238E27FC236}">
                <a16:creationId xmlns:a16="http://schemas.microsoft.com/office/drawing/2014/main" id="{5BBC3C20-833F-78BC-CF4F-533BDA5D3872}"/>
              </a:ext>
            </a:extLst>
          </p:cNvPr>
          <p:cNvSpPr txBox="1"/>
          <p:nvPr/>
        </p:nvSpPr>
        <p:spPr>
          <a:xfrm>
            <a:off x="11387453" y="2331052"/>
            <a:ext cx="121285" cy="197490"/>
          </a:xfrm>
          <a:prstGeom prst="rect">
            <a:avLst/>
          </a:prstGeom>
        </p:spPr>
        <p:txBody>
          <a:bodyPr vert="horz" wrap="square" lIns="0" tIns="12700" rIns="0" bIns="0" rtlCol="0">
            <a:spAutoFit/>
          </a:bodyPr>
          <a:lstStyle/>
          <a:p>
            <a:pPr marL="12700">
              <a:lnSpc>
                <a:spcPct val="100000"/>
              </a:lnSpc>
              <a:spcBef>
                <a:spcPts val="100"/>
              </a:spcBef>
            </a:pPr>
            <a:r>
              <a:rPr sz="1200" b="1" dirty="0">
                <a:latin typeface="Cambria Math"/>
                <a:cs typeface="Cambria Math"/>
              </a:rPr>
              <a:t>𝑉</a:t>
            </a:r>
            <a:endParaRPr sz="1200" b="1">
              <a:latin typeface="Cambria Math"/>
              <a:cs typeface="Cambria Math"/>
            </a:endParaRPr>
          </a:p>
        </p:txBody>
      </p:sp>
      <p:sp>
        <p:nvSpPr>
          <p:cNvPr id="15" name="object 21">
            <a:extLst>
              <a:ext uri="{FF2B5EF4-FFF2-40B4-BE49-F238E27FC236}">
                <a16:creationId xmlns:a16="http://schemas.microsoft.com/office/drawing/2014/main" id="{95B72B90-E4C1-918C-DC80-2ABE5794F173}"/>
              </a:ext>
            </a:extLst>
          </p:cNvPr>
          <p:cNvSpPr/>
          <p:nvPr/>
        </p:nvSpPr>
        <p:spPr>
          <a:xfrm>
            <a:off x="7528855" y="5807012"/>
            <a:ext cx="1495194" cy="180405"/>
          </a:xfrm>
          <a:custGeom>
            <a:avLst/>
            <a:gdLst/>
            <a:ahLst/>
            <a:cxnLst/>
            <a:rect l="l" t="t" r="r" b="b"/>
            <a:pathLst>
              <a:path w="1689100" h="247015">
                <a:moveTo>
                  <a:pt x="1688592" y="0"/>
                </a:moveTo>
                <a:lnTo>
                  <a:pt x="0" y="0"/>
                </a:lnTo>
                <a:lnTo>
                  <a:pt x="0" y="246888"/>
                </a:lnTo>
                <a:lnTo>
                  <a:pt x="1688592" y="246888"/>
                </a:lnTo>
                <a:lnTo>
                  <a:pt x="1688592" y="0"/>
                </a:lnTo>
                <a:close/>
              </a:path>
            </a:pathLst>
          </a:custGeom>
          <a:solidFill>
            <a:srgbClr val="D2F5F1"/>
          </a:solidFill>
        </p:spPr>
        <p:txBody>
          <a:bodyPr wrap="square" lIns="0" tIns="0" rIns="0" bIns="0" rtlCol="0"/>
          <a:lstStyle/>
          <a:p>
            <a:endParaRPr/>
          </a:p>
        </p:txBody>
      </p:sp>
      <p:sp>
        <p:nvSpPr>
          <p:cNvPr id="16" name="object 22">
            <a:extLst>
              <a:ext uri="{FF2B5EF4-FFF2-40B4-BE49-F238E27FC236}">
                <a16:creationId xmlns:a16="http://schemas.microsoft.com/office/drawing/2014/main" id="{95FD129A-C698-86EC-83E3-260C5E207B05}"/>
              </a:ext>
            </a:extLst>
          </p:cNvPr>
          <p:cNvSpPr txBox="1"/>
          <p:nvPr/>
        </p:nvSpPr>
        <p:spPr>
          <a:xfrm>
            <a:off x="8060612" y="5808347"/>
            <a:ext cx="313690" cy="179070"/>
          </a:xfrm>
          <a:prstGeom prst="rect">
            <a:avLst/>
          </a:prstGeom>
        </p:spPr>
        <p:txBody>
          <a:bodyPr vert="horz" wrap="square" lIns="0" tIns="7620" rIns="0" bIns="0" rtlCol="0">
            <a:spAutoFit/>
          </a:bodyPr>
          <a:lstStyle/>
          <a:p>
            <a:pPr marL="12700">
              <a:lnSpc>
                <a:spcPct val="100000"/>
              </a:lnSpc>
              <a:spcBef>
                <a:spcPts val="60"/>
              </a:spcBef>
            </a:pPr>
            <a:r>
              <a:rPr sz="1000" spc="-35" dirty="0">
                <a:latin typeface="Tahoma"/>
                <a:cs typeface="Tahoma"/>
              </a:rPr>
              <a:t>(6,</a:t>
            </a:r>
            <a:r>
              <a:rPr sz="1000" spc="-60" dirty="0">
                <a:latin typeface="Tahoma"/>
                <a:cs typeface="Tahoma"/>
              </a:rPr>
              <a:t> </a:t>
            </a:r>
            <a:r>
              <a:rPr sz="1000" spc="-35" dirty="0">
                <a:latin typeface="Tahoma"/>
                <a:cs typeface="Tahoma"/>
              </a:rPr>
              <a:t>6)</a:t>
            </a:r>
            <a:endParaRPr sz="1000" dirty="0">
              <a:latin typeface="Tahoma"/>
              <a:cs typeface="Tahoma"/>
            </a:endParaRPr>
          </a:p>
        </p:txBody>
      </p:sp>
      <p:sp>
        <p:nvSpPr>
          <p:cNvPr id="29" name="object 14">
            <a:extLst>
              <a:ext uri="{FF2B5EF4-FFF2-40B4-BE49-F238E27FC236}">
                <a16:creationId xmlns:a16="http://schemas.microsoft.com/office/drawing/2014/main" id="{23BEA72E-057E-BAEE-5487-8A69A2570901}"/>
              </a:ext>
            </a:extLst>
          </p:cNvPr>
          <p:cNvSpPr txBox="1"/>
          <p:nvPr/>
        </p:nvSpPr>
        <p:spPr>
          <a:xfrm>
            <a:off x="1379006" y="3230505"/>
            <a:ext cx="1690370" cy="1456809"/>
          </a:xfrm>
          <a:prstGeom prst="rect">
            <a:avLst/>
          </a:prstGeom>
          <a:solidFill>
            <a:srgbClr val="D2F5F1"/>
          </a:solidFill>
        </p:spPr>
        <p:txBody>
          <a:bodyPr vert="horz" wrap="square" lIns="0" tIns="0" rIns="0" bIns="0" rtlCol="0">
            <a:spAutoFit/>
          </a:bodyPr>
          <a:lstStyle/>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gn="ctr">
              <a:lnSpc>
                <a:spcPct val="100000"/>
              </a:lnSpc>
              <a:spcBef>
                <a:spcPts val="1055"/>
              </a:spcBef>
            </a:pPr>
            <a:r>
              <a:rPr sz="1200" b="1" spc="100" dirty="0">
                <a:latin typeface="Tahoma"/>
                <a:cs typeface="Tahoma"/>
              </a:rPr>
              <a:t>Q</a:t>
            </a:r>
            <a:endParaRPr sz="1200" dirty="0">
              <a:latin typeface="Tahoma"/>
              <a:cs typeface="Tahoma"/>
            </a:endParaRPr>
          </a:p>
          <a:p>
            <a:pPr>
              <a:lnSpc>
                <a:spcPct val="100000"/>
              </a:lnSpc>
            </a:pPr>
            <a:endParaRPr sz="1400" dirty="0">
              <a:latin typeface="Tahoma"/>
              <a:cs typeface="Tahoma"/>
            </a:endParaRPr>
          </a:p>
          <a:p>
            <a:pPr algn="ctr">
              <a:lnSpc>
                <a:spcPct val="100000"/>
              </a:lnSpc>
              <a:spcBef>
                <a:spcPts val="905"/>
              </a:spcBef>
            </a:pPr>
            <a:r>
              <a:rPr sz="1000" spc="-35" dirty="0">
                <a:latin typeface="Tahoma"/>
                <a:cs typeface="Tahoma"/>
              </a:rPr>
              <a:t>(6,</a:t>
            </a:r>
            <a:r>
              <a:rPr sz="1000" spc="-60" dirty="0">
                <a:latin typeface="Tahoma"/>
                <a:cs typeface="Tahoma"/>
              </a:rPr>
              <a:t> </a:t>
            </a:r>
            <a:r>
              <a:rPr sz="1000" spc="25" dirty="0">
                <a:latin typeface="Tahoma"/>
                <a:cs typeface="Tahoma"/>
              </a:rPr>
              <a:t>4096</a:t>
            </a:r>
            <a:r>
              <a:rPr sz="1000" spc="-85" dirty="0">
                <a:latin typeface="Tahoma"/>
                <a:cs typeface="Tahoma"/>
              </a:rPr>
              <a:t>)</a:t>
            </a:r>
            <a:endParaRPr sz="1000" dirty="0">
              <a:latin typeface="Tahoma"/>
              <a:cs typeface="Tahoma"/>
            </a:endParaRPr>
          </a:p>
        </p:txBody>
      </p:sp>
      <p:sp>
        <p:nvSpPr>
          <p:cNvPr id="30" name="object 15">
            <a:extLst>
              <a:ext uri="{FF2B5EF4-FFF2-40B4-BE49-F238E27FC236}">
                <a16:creationId xmlns:a16="http://schemas.microsoft.com/office/drawing/2014/main" id="{4AE081CD-90EC-D22C-7063-97CF476A33AC}"/>
              </a:ext>
            </a:extLst>
          </p:cNvPr>
          <p:cNvSpPr txBox="1"/>
          <p:nvPr/>
        </p:nvSpPr>
        <p:spPr>
          <a:xfrm>
            <a:off x="3759494" y="3230505"/>
            <a:ext cx="1689100" cy="1454244"/>
          </a:xfrm>
          <a:prstGeom prst="rect">
            <a:avLst/>
          </a:prstGeom>
          <a:solidFill>
            <a:srgbClr val="D2F5F1"/>
          </a:solidFill>
        </p:spPr>
        <p:txBody>
          <a:bodyPr vert="horz" wrap="square" lIns="0" tIns="0" rIns="0" bIns="0" rtlCol="0">
            <a:spAutoFit/>
          </a:bodyPr>
          <a:lstStyle/>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spcBef>
                <a:spcPts val="15"/>
              </a:spcBef>
            </a:pPr>
            <a:endParaRPr sz="2000" dirty="0">
              <a:latin typeface="Times New Roman"/>
              <a:cs typeface="Times New Roman"/>
            </a:endParaRPr>
          </a:p>
          <a:p>
            <a:pPr algn="ctr">
              <a:lnSpc>
                <a:spcPct val="100000"/>
              </a:lnSpc>
              <a:spcBef>
                <a:spcPts val="5"/>
              </a:spcBef>
            </a:pPr>
            <a:r>
              <a:rPr sz="1800" b="1" spc="-15" baseline="-16203" dirty="0">
                <a:latin typeface="Tahoma"/>
                <a:cs typeface="Tahoma"/>
              </a:rPr>
              <a:t>K</a:t>
            </a:r>
            <a:r>
              <a:rPr sz="800" b="1" spc="-10" dirty="0">
                <a:latin typeface="Tahoma"/>
                <a:cs typeface="Tahoma"/>
              </a:rPr>
              <a:t>T</a:t>
            </a:r>
            <a:endParaRPr sz="800" dirty="0">
              <a:latin typeface="Tahoma"/>
              <a:cs typeface="Tahoma"/>
            </a:endParaRPr>
          </a:p>
          <a:p>
            <a:pPr>
              <a:lnSpc>
                <a:spcPct val="100000"/>
              </a:lnSpc>
            </a:pPr>
            <a:endParaRPr sz="1400" dirty="0">
              <a:latin typeface="Tahoma"/>
              <a:cs typeface="Tahoma"/>
            </a:endParaRPr>
          </a:p>
          <a:p>
            <a:pPr>
              <a:lnSpc>
                <a:spcPct val="100000"/>
              </a:lnSpc>
              <a:spcBef>
                <a:spcPts val="5"/>
              </a:spcBef>
            </a:pPr>
            <a:endParaRPr sz="1050" dirty="0">
              <a:latin typeface="Tahoma"/>
              <a:cs typeface="Tahoma"/>
            </a:endParaRPr>
          </a:p>
          <a:p>
            <a:pPr algn="ctr">
              <a:lnSpc>
                <a:spcPct val="100000"/>
              </a:lnSpc>
            </a:pPr>
            <a:r>
              <a:rPr sz="1000" dirty="0">
                <a:latin typeface="Tahoma"/>
                <a:cs typeface="Tahoma"/>
              </a:rPr>
              <a:t>(40</a:t>
            </a:r>
            <a:r>
              <a:rPr sz="1000" spc="-5" dirty="0">
                <a:latin typeface="Tahoma"/>
                <a:cs typeface="Tahoma"/>
              </a:rPr>
              <a:t>9</a:t>
            </a:r>
            <a:r>
              <a:rPr sz="1000" spc="-15" dirty="0">
                <a:latin typeface="Tahoma"/>
                <a:cs typeface="Tahoma"/>
              </a:rPr>
              <a:t>6</a:t>
            </a:r>
            <a:r>
              <a:rPr sz="1000" spc="-5" dirty="0">
                <a:latin typeface="Tahoma"/>
                <a:cs typeface="Tahoma"/>
              </a:rPr>
              <a:t>,</a:t>
            </a:r>
            <a:r>
              <a:rPr sz="1000" spc="-75" dirty="0">
                <a:latin typeface="Tahoma"/>
                <a:cs typeface="Tahoma"/>
              </a:rPr>
              <a:t> </a:t>
            </a:r>
            <a:r>
              <a:rPr sz="1000" spc="-35" dirty="0">
                <a:latin typeface="Tahoma"/>
                <a:cs typeface="Tahoma"/>
              </a:rPr>
              <a:t>6)</a:t>
            </a:r>
            <a:endParaRPr sz="1000" dirty="0">
              <a:latin typeface="Tahoma"/>
              <a:cs typeface="Tahoma"/>
            </a:endParaRPr>
          </a:p>
        </p:txBody>
      </p:sp>
      <p:sp>
        <p:nvSpPr>
          <p:cNvPr id="31" name="object 16">
            <a:extLst>
              <a:ext uri="{FF2B5EF4-FFF2-40B4-BE49-F238E27FC236}">
                <a16:creationId xmlns:a16="http://schemas.microsoft.com/office/drawing/2014/main" id="{35D2D5DC-EF60-E562-B2D2-9AD0F04B2C3A}"/>
              </a:ext>
            </a:extLst>
          </p:cNvPr>
          <p:cNvSpPr txBox="1"/>
          <p:nvPr/>
        </p:nvSpPr>
        <p:spPr>
          <a:xfrm>
            <a:off x="3375192" y="3916128"/>
            <a:ext cx="173990" cy="300355"/>
          </a:xfrm>
          <a:prstGeom prst="rect">
            <a:avLst/>
          </a:prstGeom>
        </p:spPr>
        <p:txBody>
          <a:bodyPr vert="horz" wrap="square" lIns="0" tIns="12700" rIns="0" bIns="0" rtlCol="0">
            <a:spAutoFit/>
          </a:bodyPr>
          <a:lstStyle/>
          <a:p>
            <a:pPr marL="12700">
              <a:lnSpc>
                <a:spcPct val="100000"/>
              </a:lnSpc>
              <a:spcBef>
                <a:spcPts val="100"/>
              </a:spcBef>
            </a:pPr>
            <a:r>
              <a:rPr sz="1800" spc="120" dirty="0">
                <a:latin typeface="Tahoma"/>
                <a:cs typeface="Tahoma"/>
              </a:rPr>
              <a:t>X</a:t>
            </a:r>
            <a:endParaRPr sz="1800">
              <a:latin typeface="Tahoma"/>
              <a:cs typeface="Tahoma"/>
            </a:endParaRPr>
          </a:p>
        </p:txBody>
      </p:sp>
      <p:sp>
        <p:nvSpPr>
          <p:cNvPr id="32" name="object 17">
            <a:extLst>
              <a:ext uri="{FF2B5EF4-FFF2-40B4-BE49-F238E27FC236}">
                <a16:creationId xmlns:a16="http://schemas.microsoft.com/office/drawing/2014/main" id="{7E85ADA5-E14A-A225-13A9-E16CE2BCBB53}"/>
              </a:ext>
            </a:extLst>
          </p:cNvPr>
          <p:cNvSpPr txBox="1"/>
          <p:nvPr/>
        </p:nvSpPr>
        <p:spPr>
          <a:xfrm>
            <a:off x="5751617" y="3916763"/>
            <a:ext cx="177800" cy="299720"/>
          </a:xfrm>
          <a:prstGeom prst="rect">
            <a:avLst/>
          </a:prstGeom>
        </p:spPr>
        <p:txBody>
          <a:bodyPr vert="horz" wrap="square" lIns="0" tIns="12700" rIns="0" bIns="0" rtlCol="0">
            <a:spAutoFit/>
          </a:bodyPr>
          <a:lstStyle/>
          <a:p>
            <a:pPr marL="12700">
              <a:lnSpc>
                <a:spcPct val="100000"/>
              </a:lnSpc>
              <a:spcBef>
                <a:spcPts val="100"/>
              </a:spcBef>
            </a:pPr>
            <a:r>
              <a:rPr sz="1800" spc="-114" dirty="0">
                <a:latin typeface="Tahoma"/>
                <a:cs typeface="Tahoma"/>
              </a:rPr>
              <a:t>=</a:t>
            </a:r>
            <a:endParaRPr sz="1800" dirty="0">
              <a:latin typeface="Tahoma"/>
              <a:cs typeface="Tahoma"/>
            </a:endParaRPr>
          </a:p>
        </p:txBody>
      </p:sp>
      <p:sp>
        <p:nvSpPr>
          <p:cNvPr id="33" name="object 18">
            <a:extLst>
              <a:ext uri="{FF2B5EF4-FFF2-40B4-BE49-F238E27FC236}">
                <a16:creationId xmlns:a16="http://schemas.microsoft.com/office/drawing/2014/main" id="{E65F9B46-C03D-8525-13DD-A19B8AE81603}"/>
              </a:ext>
            </a:extLst>
          </p:cNvPr>
          <p:cNvSpPr/>
          <p:nvPr/>
        </p:nvSpPr>
        <p:spPr>
          <a:xfrm>
            <a:off x="1383578" y="5085214"/>
            <a:ext cx="4062095" cy="0"/>
          </a:xfrm>
          <a:custGeom>
            <a:avLst/>
            <a:gdLst/>
            <a:ahLst/>
            <a:cxnLst/>
            <a:rect l="l" t="t" r="r" b="b"/>
            <a:pathLst>
              <a:path w="4062095">
                <a:moveTo>
                  <a:pt x="0" y="0"/>
                </a:moveTo>
                <a:lnTo>
                  <a:pt x="4061968" y="0"/>
                </a:lnTo>
              </a:path>
            </a:pathLst>
          </a:custGeom>
          <a:ln w="6350">
            <a:solidFill>
              <a:srgbClr val="ED7660"/>
            </a:solidFill>
          </a:ln>
        </p:spPr>
        <p:txBody>
          <a:bodyPr wrap="square" lIns="0" tIns="0" rIns="0" bIns="0" rtlCol="0"/>
          <a:lstStyle/>
          <a:p>
            <a:endParaRPr/>
          </a:p>
        </p:txBody>
      </p:sp>
      <p:sp>
        <p:nvSpPr>
          <p:cNvPr id="34" name="object 19">
            <a:extLst>
              <a:ext uri="{FF2B5EF4-FFF2-40B4-BE49-F238E27FC236}">
                <a16:creationId xmlns:a16="http://schemas.microsoft.com/office/drawing/2014/main" id="{B474ED35-7695-27F2-A60D-2A24E02CB1D2}"/>
              </a:ext>
            </a:extLst>
          </p:cNvPr>
          <p:cNvSpPr/>
          <p:nvPr/>
        </p:nvSpPr>
        <p:spPr>
          <a:xfrm>
            <a:off x="3157769" y="5294509"/>
            <a:ext cx="654685" cy="220345"/>
          </a:xfrm>
          <a:custGeom>
            <a:avLst/>
            <a:gdLst/>
            <a:ahLst/>
            <a:cxnLst/>
            <a:rect l="l" t="t" r="r" b="b"/>
            <a:pathLst>
              <a:path w="654685" h="220345">
                <a:moveTo>
                  <a:pt x="131190" y="0"/>
                </a:moveTo>
                <a:lnTo>
                  <a:pt x="76072" y="190499"/>
                </a:lnTo>
                <a:lnTo>
                  <a:pt x="36702" y="103885"/>
                </a:lnTo>
                <a:lnTo>
                  <a:pt x="0" y="120649"/>
                </a:lnTo>
                <a:lnTo>
                  <a:pt x="3556" y="129031"/>
                </a:lnTo>
                <a:lnTo>
                  <a:pt x="22351" y="120649"/>
                </a:lnTo>
                <a:lnTo>
                  <a:pt x="68579" y="219963"/>
                </a:lnTo>
                <a:lnTo>
                  <a:pt x="79375" y="219963"/>
                </a:lnTo>
                <a:lnTo>
                  <a:pt x="139445" y="14858"/>
                </a:lnTo>
                <a:lnTo>
                  <a:pt x="147065" y="14858"/>
                </a:lnTo>
                <a:lnTo>
                  <a:pt x="147065" y="15366"/>
                </a:lnTo>
                <a:lnTo>
                  <a:pt x="654557" y="15366"/>
                </a:lnTo>
                <a:lnTo>
                  <a:pt x="654557" y="126"/>
                </a:lnTo>
                <a:lnTo>
                  <a:pt x="131190" y="0"/>
                </a:lnTo>
                <a:close/>
              </a:path>
            </a:pathLst>
          </a:custGeom>
          <a:solidFill>
            <a:srgbClr val="000000"/>
          </a:solidFill>
        </p:spPr>
        <p:txBody>
          <a:bodyPr wrap="square" lIns="0" tIns="0" rIns="0" bIns="0" rtlCol="0"/>
          <a:lstStyle/>
          <a:p>
            <a:endParaRPr/>
          </a:p>
        </p:txBody>
      </p:sp>
      <p:sp>
        <p:nvSpPr>
          <p:cNvPr id="35" name="object 20">
            <a:extLst>
              <a:ext uri="{FF2B5EF4-FFF2-40B4-BE49-F238E27FC236}">
                <a16:creationId xmlns:a16="http://schemas.microsoft.com/office/drawing/2014/main" id="{6B283BC1-9969-0FBB-9CFD-66E3F9832BCA}"/>
              </a:ext>
            </a:extLst>
          </p:cNvPr>
          <p:cNvSpPr txBox="1"/>
          <p:nvPr/>
        </p:nvSpPr>
        <p:spPr>
          <a:xfrm>
            <a:off x="3292642" y="5261743"/>
            <a:ext cx="53149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mbria Math"/>
                <a:cs typeface="Cambria Math"/>
              </a:rPr>
              <a:t>4096</a:t>
            </a:r>
            <a:endParaRPr sz="1800">
              <a:latin typeface="Cambria Math"/>
              <a:cs typeface="Cambria Math"/>
            </a:endParaRPr>
          </a:p>
        </p:txBody>
      </p:sp>
    </p:spTree>
    <p:extLst>
      <p:ext uri="{BB962C8B-B14F-4D97-AF65-F5344CB8AC3E}">
        <p14:creationId xmlns:p14="http://schemas.microsoft.com/office/powerpoint/2010/main" val="1024033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FF56A-7AB9-EAC4-14D1-1FB1B5516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3E9F19-6E41-5F57-0DDD-0133B116AEDA}"/>
              </a:ext>
            </a:extLst>
          </p:cNvPr>
          <p:cNvSpPr>
            <a:spLocks noGrp="1"/>
          </p:cNvSpPr>
          <p:nvPr>
            <p:ph type="title"/>
          </p:nvPr>
        </p:nvSpPr>
        <p:spPr>
          <a:xfrm>
            <a:off x="669552" y="594334"/>
            <a:ext cx="10863635" cy="639153"/>
          </a:xfrm>
        </p:spPr>
        <p:txBody>
          <a:bodyPr/>
          <a:lstStyle/>
          <a:p>
            <a:r>
              <a:rPr lang="en-IN" dirty="0"/>
              <a:t>Causal Mask</a:t>
            </a:r>
          </a:p>
        </p:txBody>
      </p:sp>
      <p:sp>
        <p:nvSpPr>
          <p:cNvPr id="3" name="Content Placeholder 2">
            <a:extLst>
              <a:ext uri="{FF2B5EF4-FFF2-40B4-BE49-F238E27FC236}">
                <a16:creationId xmlns:a16="http://schemas.microsoft.com/office/drawing/2014/main" id="{62CB368D-A5DD-4D69-57E9-91C70E3AA02A}"/>
              </a:ext>
            </a:extLst>
          </p:cNvPr>
          <p:cNvSpPr>
            <a:spLocks noGrp="1"/>
          </p:cNvSpPr>
          <p:nvPr>
            <p:ph idx="1"/>
          </p:nvPr>
        </p:nvSpPr>
        <p:spPr>
          <a:xfrm>
            <a:off x="678884" y="1675075"/>
            <a:ext cx="10854304" cy="4398066"/>
          </a:xfrm>
        </p:spPr>
        <p:txBody>
          <a:bodyPr>
            <a:normAutofit/>
          </a:bodyPr>
          <a:lstStyle/>
          <a:p>
            <a:pPr marL="0" indent="0">
              <a:buNone/>
            </a:pPr>
            <a:r>
              <a:rPr lang="en-US" sz="1600" dirty="0">
                <a:solidFill>
                  <a:srgbClr val="161A3E"/>
                </a:solidFill>
              </a:rPr>
              <a:t>After applying the causal mask, we apply the SoftMax, which makes the remaining  values on the row in such a way that the row sums up to 1.</a:t>
            </a:r>
          </a:p>
          <a:p>
            <a:pPr marL="0" indent="0">
              <a:buNone/>
            </a:pPr>
            <a:r>
              <a:rPr lang="en-US" sz="1600" dirty="0">
                <a:solidFill>
                  <a:srgbClr val="161A3E"/>
                </a:solidFill>
              </a:rPr>
              <a:t>Now, let’s look at the </a:t>
            </a:r>
            <a:r>
              <a:rPr lang="en-US" sz="1600" b="1" dirty="0">
                <a:solidFill>
                  <a:srgbClr val="161A3E"/>
                </a:solidFill>
              </a:rPr>
              <a:t>sliding window attention</a:t>
            </a:r>
            <a:r>
              <a:rPr lang="en-US" sz="1600" dirty="0">
                <a:solidFill>
                  <a:srgbClr val="161A3E"/>
                </a:solidFill>
              </a:rPr>
              <a:t>.</a:t>
            </a:r>
          </a:p>
        </p:txBody>
      </p:sp>
      <p:sp>
        <p:nvSpPr>
          <p:cNvPr id="6" name="object 5">
            <a:extLst>
              <a:ext uri="{FF2B5EF4-FFF2-40B4-BE49-F238E27FC236}">
                <a16:creationId xmlns:a16="http://schemas.microsoft.com/office/drawing/2014/main" id="{22224B6E-18EE-42BB-8A4B-EF1E9B257B58}"/>
              </a:ext>
            </a:extLst>
          </p:cNvPr>
          <p:cNvSpPr txBox="1"/>
          <p:nvPr/>
        </p:nvSpPr>
        <p:spPr>
          <a:xfrm>
            <a:off x="9871328" y="4185920"/>
            <a:ext cx="1661859" cy="166071"/>
          </a:xfrm>
          <a:prstGeom prst="rect">
            <a:avLst/>
          </a:prstGeom>
        </p:spPr>
        <p:txBody>
          <a:bodyPr vert="horz" wrap="square" lIns="0" tIns="12065" rIns="0" bIns="0" rtlCol="0">
            <a:spAutoFit/>
          </a:bodyPr>
          <a:lstStyle/>
          <a:p>
            <a:pPr marL="12700">
              <a:lnSpc>
                <a:spcPct val="100000"/>
              </a:lnSpc>
              <a:spcBef>
                <a:spcPts val="95"/>
              </a:spcBef>
            </a:pPr>
            <a:r>
              <a:rPr sz="1000" b="1" spc="-105" dirty="0">
                <a:latin typeface="Tahoma"/>
                <a:cs typeface="Tahoma"/>
              </a:rPr>
              <a:t>*</a:t>
            </a:r>
            <a:r>
              <a:rPr sz="1000" b="1" spc="-60" dirty="0">
                <a:latin typeface="Tahoma"/>
                <a:cs typeface="Tahoma"/>
              </a:rPr>
              <a:t> </a:t>
            </a:r>
            <a:r>
              <a:rPr sz="1000" b="1" dirty="0">
                <a:latin typeface="Tahoma"/>
                <a:cs typeface="Tahoma"/>
              </a:rPr>
              <a:t>a</a:t>
            </a:r>
            <a:r>
              <a:rPr sz="1000" b="1" spc="20" dirty="0">
                <a:latin typeface="Tahoma"/>
                <a:cs typeface="Tahoma"/>
              </a:rPr>
              <a:t>ll</a:t>
            </a:r>
            <a:r>
              <a:rPr sz="1000" b="1" spc="-50" dirty="0">
                <a:latin typeface="Tahoma"/>
                <a:cs typeface="Tahoma"/>
              </a:rPr>
              <a:t> </a:t>
            </a:r>
            <a:r>
              <a:rPr sz="1000" b="1" spc="-25" dirty="0">
                <a:latin typeface="Tahoma"/>
                <a:cs typeface="Tahoma"/>
              </a:rPr>
              <a:t>v</a:t>
            </a:r>
            <a:r>
              <a:rPr sz="1000" b="1" dirty="0">
                <a:latin typeface="Tahoma"/>
                <a:cs typeface="Tahoma"/>
              </a:rPr>
              <a:t>a</a:t>
            </a:r>
            <a:r>
              <a:rPr sz="1000" b="1" spc="25" dirty="0">
                <a:latin typeface="Tahoma"/>
                <a:cs typeface="Tahoma"/>
              </a:rPr>
              <a:t>lu</a:t>
            </a:r>
            <a:r>
              <a:rPr sz="1000" b="1" spc="20" dirty="0">
                <a:latin typeface="Tahoma"/>
                <a:cs typeface="Tahoma"/>
              </a:rPr>
              <a:t>e</a:t>
            </a:r>
            <a:r>
              <a:rPr sz="1000" b="1" spc="-5" dirty="0">
                <a:latin typeface="Tahoma"/>
                <a:cs typeface="Tahoma"/>
              </a:rPr>
              <a:t>s</a:t>
            </a:r>
            <a:r>
              <a:rPr sz="1000" b="1" spc="-40" dirty="0">
                <a:latin typeface="Tahoma"/>
                <a:cs typeface="Tahoma"/>
              </a:rPr>
              <a:t> </a:t>
            </a:r>
            <a:r>
              <a:rPr sz="1000" b="1" dirty="0">
                <a:latin typeface="Tahoma"/>
                <a:cs typeface="Tahoma"/>
              </a:rPr>
              <a:t>a</a:t>
            </a:r>
            <a:r>
              <a:rPr sz="1000" b="1" spc="20" dirty="0">
                <a:latin typeface="Tahoma"/>
                <a:cs typeface="Tahoma"/>
              </a:rPr>
              <a:t>re</a:t>
            </a:r>
            <a:r>
              <a:rPr sz="1000" b="1" spc="-45" dirty="0">
                <a:latin typeface="Tahoma"/>
                <a:cs typeface="Tahoma"/>
              </a:rPr>
              <a:t> </a:t>
            </a:r>
            <a:r>
              <a:rPr sz="1000" b="1" spc="5" dirty="0">
                <a:latin typeface="Tahoma"/>
                <a:cs typeface="Tahoma"/>
              </a:rPr>
              <a:t>ran</a:t>
            </a:r>
            <a:r>
              <a:rPr sz="1000" b="1" spc="65" dirty="0">
                <a:latin typeface="Tahoma"/>
                <a:cs typeface="Tahoma"/>
              </a:rPr>
              <a:t>d</a:t>
            </a:r>
            <a:r>
              <a:rPr sz="1000" b="1" spc="70" dirty="0">
                <a:latin typeface="Tahoma"/>
                <a:cs typeface="Tahoma"/>
              </a:rPr>
              <a:t>o</a:t>
            </a:r>
            <a:r>
              <a:rPr sz="1000" b="1" spc="30" dirty="0">
                <a:latin typeface="Tahoma"/>
                <a:cs typeface="Tahoma"/>
              </a:rPr>
              <a:t>m</a:t>
            </a:r>
            <a:r>
              <a:rPr sz="1000" b="1" spc="-45" dirty="0">
                <a:latin typeface="Tahoma"/>
                <a:cs typeface="Tahoma"/>
              </a:rPr>
              <a:t>.</a:t>
            </a:r>
            <a:endParaRPr sz="1000" b="1" dirty="0">
              <a:latin typeface="Tahoma"/>
              <a:cs typeface="Tahoma"/>
            </a:endParaRPr>
          </a:p>
        </p:txBody>
      </p:sp>
      <p:sp>
        <p:nvSpPr>
          <p:cNvPr id="7" name="object 6">
            <a:extLst>
              <a:ext uri="{FF2B5EF4-FFF2-40B4-BE49-F238E27FC236}">
                <a16:creationId xmlns:a16="http://schemas.microsoft.com/office/drawing/2014/main" id="{91B71A69-443F-104F-1569-B21A9EDECD3C}"/>
              </a:ext>
            </a:extLst>
          </p:cNvPr>
          <p:cNvSpPr/>
          <p:nvPr/>
        </p:nvSpPr>
        <p:spPr>
          <a:xfrm>
            <a:off x="9587789" y="2378676"/>
            <a:ext cx="533400" cy="141605"/>
          </a:xfrm>
          <a:custGeom>
            <a:avLst/>
            <a:gdLst/>
            <a:ahLst/>
            <a:cxnLst/>
            <a:rect l="l" t="t" r="r" b="b"/>
            <a:pathLst>
              <a:path w="533400" h="141605">
                <a:moveTo>
                  <a:pt x="488314" y="0"/>
                </a:moveTo>
                <a:lnTo>
                  <a:pt x="486282" y="5714"/>
                </a:lnTo>
                <a:lnTo>
                  <a:pt x="494401" y="9261"/>
                </a:lnTo>
                <a:lnTo>
                  <a:pt x="501411" y="14176"/>
                </a:lnTo>
                <a:lnTo>
                  <a:pt x="519922" y="57820"/>
                </a:lnTo>
                <a:lnTo>
                  <a:pt x="520446" y="69850"/>
                </a:lnTo>
                <a:lnTo>
                  <a:pt x="519922" y="82325"/>
                </a:lnTo>
                <a:lnTo>
                  <a:pt x="507323" y="120542"/>
                </a:lnTo>
                <a:lnTo>
                  <a:pt x="486409" y="135509"/>
                </a:lnTo>
                <a:lnTo>
                  <a:pt x="488314" y="141224"/>
                </a:lnTo>
                <a:lnTo>
                  <a:pt x="521715" y="116459"/>
                </a:lnTo>
                <a:lnTo>
                  <a:pt x="533273" y="70612"/>
                </a:lnTo>
                <a:lnTo>
                  <a:pt x="532536" y="57679"/>
                </a:lnTo>
                <a:lnTo>
                  <a:pt x="515157" y="16073"/>
                </a:lnTo>
                <a:lnTo>
                  <a:pt x="498532" y="3690"/>
                </a:lnTo>
                <a:lnTo>
                  <a:pt x="488314" y="0"/>
                </a:lnTo>
                <a:close/>
              </a:path>
              <a:path w="533400" h="141605">
                <a:moveTo>
                  <a:pt x="44957" y="0"/>
                </a:moveTo>
                <a:lnTo>
                  <a:pt x="11683" y="24764"/>
                </a:lnTo>
                <a:lnTo>
                  <a:pt x="0" y="70612"/>
                </a:lnTo>
                <a:lnTo>
                  <a:pt x="716" y="83615"/>
                </a:lnTo>
                <a:lnTo>
                  <a:pt x="18008" y="125150"/>
                </a:lnTo>
                <a:lnTo>
                  <a:pt x="44957" y="141224"/>
                </a:lnTo>
                <a:lnTo>
                  <a:pt x="46735" y="135509"/>
                </a:lnTo>
                <a:lnTo>
                  <a:pt x="38711" y="131885"/>
                </a:lnTo>
                <a:lnTo>
                  <a:pt x="31781" y="126904"/>
                </a:lnTo>
                <a:lnTo>
                  <a:pt x="13350" y="82325"/>
                </a:lnTo>
                <a:lnTo>
                  <a:pt x="12826" y="69850"/>
                </a:lnTo>
                <a:lnTo>
                  <a:pt x="13350" y="57820"/>
                </a:lnTo>
                <a:lnTo>
                  <a:pt x="25969" y="20448"/>
                </a:lnTo>
                <a:lnTo>
                  <a:pt x="46989" y="5714"/>
                </a:lnTo>
                <a:lnTo>
                  <a:pt x="44957" y="0"/>
                </a:lnTo>
                <a:close/>
              </a:path>
            </a:pathLst>
          </a:custGeom>
          <a:solidFill>
            <a:srgbClr val="000000"/>
          </a:solidFill>
        </p:spPr>
        <p:txBody>
          <a:bodyPr wrap="square" lIns="0" tIns="0" rIns="0" bIns="0" rtlCol="0"/>
          <a:lstStyle/>
          <a:p>
            <a:endParaRPr b="1"/>
          </a:p>
        </p:txBody>
      </p:sp>
      <p:sp>
        <p:nvSpPr>
          <p:cNvPr id="8" name="object 7">
            <a:extLst>
              <a:ext uri="{FF2B5EF4-FFF2-40B4-BE49-F238E27FC236}">
                <a16:creationId xmlns:a16="http://schemas.microsoft.com/office/drawing/2014/main" id="{2D206D27-F2C3-EFF5-D492-2A45040E470D}"/>
              </a:ext>
            </a:extLst>
          </p:cNvPr>
          <p:cNvSpPr txBox="1"/>
          <p:nvPr/>
        </p:nvSpPr>
        <p:spPr>
          <a:xfrm>
            <a:off x="8915271" y="2331052"/>
            <a:ext cx="1177925" cy="197490"/>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Cambria Math"/>
                <a:cs typeface="Cambria Math"/>
              </a:rPr>
              <a:t>𝐴𝑡𝑡</a:t>
            </a:r>
            <a:r>
              <a:rPr sz="1200" b="1" dirty="0">
                <a:latin typeface="Cambria Math"/>
                <a:cs typeface="Cambria Math"/>
              </a:rPr>
              <a:t>𝑒</a:t>
            </a:r>
            <a:r>
              <a:rPr sz="1200" b="1" spc="5" dirty="0">
                <a:latin typeface="Cambria Math"/>
                <a:cs typeface="Cambria Math"/>
              </a:rPr>
              <a:t>𝑛</a:t>
            </a:r>
            <a:r>
              <a:rPr sz="1200" b="1" spc="-10" dirty="0">
                <a:latin typeface="Cambria Math"/>
                <a:cs typeface="Cambria Math"/>
              </a:rPr>
              <a:t>𝑡</a:t>
            </a:r>
            <a:r>
              <a:rPr sz="1200" b="1" dirty="0">
                <a:latin typeface="Cambria Math"/>
                <a:cs typeface="Cambria Math"/>
              </a:rPr>
              <a:t>𝑖𝑜𝑛 </a:t>
            </a:r>
            <a:r>
              <a:rPr sz="1200" b="1" spc="5" dirty="0">
                <a:latin typeface="Cambria Math"/>
                <a:cs typeface="Cambria Math"/>
              </a:rPr>
              <a:t> </a:t>
            </a:r>
            <a:r>
              <a:rPr sz="1200" b="1" spc="25" dirty="0">
                <a:latin typeface="Cambria Math"/>
                <a:cs typeface="Cambria Math"/>
              </a:rPr>
              <a:t>𝑄</a:t>
            </a:r>
            <a:r>
              <a:rPr sz="1200" b="1" dirty="0">
                <a:latin typeface="Cambria Math"/>
                <a:cs typeface="Cambria Math"/>
              </a:rPr>
              <a:t>,</a:t>
            </a:r>
            <a:r>
              <a:rPr sz="1200" b="1" spc="-70" dirty="0">
                <a:latin typeface="Cambria Math"/>
                <a:cs typeface="Cambria Math"/>
              </a:rPr>
              <a:t> </a:t>
            </a:r>
            <a:r>
              <a:rPr sz="1200" b="1" spc="35" dirty="0">
                <a:latin typeface="Cambria Math"/>
                <a:cs typeface="Cambria Math"/>
              </a:rPr>
              <a:t>𝐾</a:t>
            </a:r>
            <a:r>
              <a:rPr sz="1200" b="1" dirty="0">
                <a:latin typeface="Cambria Math"/>
                <a:cs typeface="Cambria Math"/>
              </a:rPr>
              <a:t>,</a:t>
            </a:r>
            <a:r>
              <a:rPr sz="1200" b="1" spc="-55" dirty="0">
                <a:latin typeface="Cambria Math"/>
                <a:cs typeface="Cambria Math"/>
              </a:rPr>
              <a:t> </a:t>
            </a:r>
            <a:r>
              <a:rPr sz="1200" b="1" dirty="0">
                <a:latin typeface="Cambria Math"/>
                <a:cs typeface="Cambria Math"/>
              </a:rPr>
              <a:t>𝑉</a:t>
            </a:r>
          </a:p>
        </p:txBody>
      </p:sp>
      <p:sp>
        <p:nvSpPr>
          <p:cNvPr id="9" name="object 8">
            <a:extLst>
              <a:ext uri="{FF2B5EF4-FFF2-40B4-BE49-F238E27FC236}">
                <a16:creationId xmlns:a16="http://schemas.microsoft.com/office/drawing/2014/main" id="{2F4FCBDA-71BE-4567-1884-D74F41EFB7A2}"/>
              </a:ext>
            </a:extLst>
          </p:cNvPr>
          <p:cNvSpPr txBox="1"/>
          <p:nvPr/>
        </p:nvSpPr>
        <p:spPr>
          <a:xfrm>
            <a:off x="10177396" y="2331052"/>
            <a:ext cx="699770" cy="197490"/>
          </a:xfrm>
          <a:prstGeom prst="rect">
            <a:avLst/>
          </a:prstGeom>
        </p:spPr>
        <p:txBody>
          <a:bodyPr vert="horz" wrap="square" lIns="0" tIns="12700" rIns="0" bIns="0" rtlCol="0">
            <a:spAutoFit/>
          </a:bodyPr>
          <a:lstStyle/>
          <a:p>
            <a:pPr marL="12700">
              <a:lnSpc>
                <a:spcPct val="100000"/>
              </a:lnSpc>
              <a:spcBef>
                <a:spcPts val="100"/>
              </a:spcBef>
            </a:pPr>
            <a:r>
              <a:rPr sz="1200" b="1" dirty="0">
                <a:latin typeface="Cambria Math"/>
                <a:cs typeface="Cambria Math"/>
              </a:rPr>
              <a:t>=</a:t>
            </a:r>
            <a:r>
              <a:rPr sz="1200" b="1" spc="-5" dirty="0">
                <a:latin typeface="Cambria Math"/>
                <a:cs typeface="Cambria Math"/>
              </a:rPr>
              <a:t> softmax</a:t>
            </a:r>
            <a:endParaRPr sz="1200" b="1" dirty="0">
              <a:latin typeface="Cambria Math"/>
              <a:cs typeface="Cambria Math"/>
            </a:endParaRPr>
          </a:p>
        </p:txBody>
      </p:sp>
      <p:sp>
        <p:nvSpPr>
          <p:cNvPr id="10" name="object 9">
            <a:extLst>
              <a:ext uri="{FF2B5EF4-FFF2-40B4-BE49-F238E27FC236}">
                <a16:creationId xmlns:a16="http://schemas.microsoft.com/office/drawing/2014/main" id="{D65812E2-3115-C709-369C-87B615BAE90C}"/>
              </a:ext>
            </a:extLst>
          </p:cNvPr>
          <p:cNvSpPr/>
          <p:nvPr/>
        </p:nvSpPr>
        <p:spPr>
          <a:xfrm>
            <a:off x="10900281" y="2227470"/>
            <a:ext cx="462280" cy="450850"/>
          </a:xfrm>
          <a:custGeom>
            <a:avLst/>
            <a:gdLst/>
            <a:ahLst/>
            <a:cxnLst/>
            <a:rect l="l" t="t" r="r" b="b"/>
            <a:pathLst>
              <a:path w="462279" h="450850">
                <a:moveTo>
                  <a:pt x="76200" y="5334"/>
                </a:moveTo>
                <a:lnTo>
                  <a:pt x="41478" y="39077"/>
                </a:lnTo>
                <a:lnTo>
                  <a:pt x="18923" y="90424"/>
                </a:lnTo>
                <a:lnTo>
                  <a:pt x="4737" y="152717"/>
                </a:lnTo>
                <a:lnTo>
                  <a:pt x="0" y="225044"/>
                </a:lnTo>
                <a:lnTo>
                  <a:pt x="1181" y="262445"/>
                </a:lnTo>
                <a:lnTo>
                  <a:pt x="10655" y="329971"/>
                </a:lnTo>
                <a:lnTo>
                  <a:pt x="29273" y="387146"/>
                </a:lnTo>
                <a:lnTo>
                  <a:pt x="55511" y="432346"/>
                </a:lnTo>
                <a:lnTo>
                  <a:pt x="71374" y="450342"/>
                </a:lnTo>
                <a:lnTo>
                  <a:pt x="76200" y="445008"/>
                </a:lnTo>
                <a:lnTo>
                  <a:pt x="62001" y="426770"/>
                </a:lnTo>
                <a:lnTo>
                  <a:pt x="49682" y="405599"/>
                </a:lnTo>
                <a:lnTo>
                  <a:pt x="30607" y="354457"/>
                </a:lnTo>
                <a:lnTo>
                  <a:pt x="19062" y="293712"/>
                </a:lnTo>
                <a:lnTo>
                  <a:pt x="15240" y="224917"/>
                </a:lnTo>
                <a:lnTo>
                  <a:pt x="16192" y="189903"/>
                </a:lnTo>
                <a:lnTo>
                  <a:pt x="23863" y="125323"/>
                </a:lnTo>
                <a:lnTo>
                  <a:pt x="39230" y="68884"/>
                </a:lnTo>
                <a:lnTo>
                  <a:pt x="62001" y="23634"/>
                </a:lnTo>
                <a:lnTo>
                  <a:pt x="76200" y="5334"/>
                </a:lnTo>
                <a:close/>
              </a:path>
              <a:path w="462279" h="450850">
                <a:moveTo>
                  <a:pt x="381254" y="219964"/>
                </a:moveTo>
                <a:lnTo>
                  <a:pt x="81026" y="219964"/>
                </a:lnTo>
                <a:lnTo>
                  <a:pt x="81026" y="230632"/>
                </a:lnTo>
                <a:lnTo>
                  <a:pt x="381254" y="230632"/>
                </a:lnTo>
                <a:lnTo>
                  <a:pt x="381254" y="219964"/>
                </a:lnTo>
                <a:close/>
              </a:path>
              <a:path w="462279" h="450850">
                <a:moveTo>
                  <a:pt x="462280" y="224917"/>
                </a:moveTo>
                <a:lnTo>
                  <a:pt x="457530" y="152717"/>
                </a:lnTo>
                <a:lnTo>
                  <a:pt x="443357" y="90424"/>
                </a:lnTo>
                <a:lnTo>
                  <a:pt x="420839" y="39077"/>
                </a:lnTo>
                <a:lnTo>
                  <a:pt x="390906" y="0"/>
                </a:lnTo>
                <a:lnTo>
                  <a:pt x="386207" y="5334"/>
                </a:lnTo>
                <a:lnTo>
                  <a:pt x="400329" y="23634"/>
                </a:lnTo>
                <a:lnTo>
                  <a:pt x="412597" y="44805"/>
                </a:lnTo>
                <a:lnTo>
                  <a:pt x="431673" y="95885"/>
                </a:lnTo>
                <a:lnTo>
                  <a:pt x="443204" y="156654"/>
                </a:lnTo>
                <a:lnTo>
                  <a:pt x="447040" y="225044"/>
                </a:lnTo>
                <a:lnTo>
                  <a:pt x="446074" y="260362"/>
                </a:lnTo>
                <a:lnTo>
                  <a:pt x="438404" y="325081"/>
                </a:lnTo>
                <a:lnTo>
                  <a:pt x="423049" y="381482"/>
                </a:lnTo>
                <a:lnTo>
                  <a:pt x="400329" y="426770"/>
                </a:lnTo>
                <a:lnTo>
                  <a:pt x="386207" y="445008"/>
                </a:lnTo>
                <a:lnTo>
                  <a:pt x="390906" y="450342"/>
                </a:lnTo>
                <a:lnTo>
                  <a:pt x="420839" y="411276"/>
                </a:lnTo>
                <a:lnTo>
                  <a:pt x="443357" y="359918"/>
                </a:lnTo>
                <a:lnTo>
                  <a:pt x="457530" y="297472"/>
                </a:lnTo>
                <a:lnTo>
                  <a:pt x="461086" y="262445"/>
                </a:lnTo>
                <a:lnTo>
                  <a:pt x="462280" y="224917"/>
                </a:lnTo>
                <a:close/>
              </a:path>
            </a:pathLst>
          </a:custGeom>
          <a:solidFill>
            <a:srgbClr val="000000"/>
          </a:solidFill>
        </p:spPr>
        <p:txBody>
          <a:bodyPr wrap="square" lIns="0" tIns="0" rIns="0" bIns="0" rtlCol="0"/>
          <a:lstStyle/>
          <a:p>
            <a:endParaRPr b="1"/>
          </a:p>
        </p:txBody>
      </p:sp>
      <p:sp>
        <p:nvSpPr>
          <p:cNvPr id="11" name="object 10">
            <a:extLst>
              <a:ext uri="{FF2B5EF4-FFF2-40B4-BE49-F238E27FC236}">
                <a16:creationId xmlns:a16="http://schemas.microsoft.com/office/drawing/2014/main" id="{37C01CB8-CC8A-4607-32CE-368440333426}"/>
              </a:ext>
            </a:extLst>
          </p:cNvPr>
          <p:cNvSpPr txBox="1"/>
          <p:nvPr/>
        </p:nvSpPr>
        <p:spPr>
          <a:xfrm>
            <a:off x="10972323" y="2232307"/>
            <a:ext cx="365760" cy="197490"/>
          </a:xfrm>
          <a:prstGeom prst="rect">
            <a:avLst/>
          </a:prstGeom>
        </p:spPr>
        <p:txBody>
          <a:bodyPr vert="horz" wrap="square" lIns="0" tIns="12700" rIns="0" bIns="0" rtlCol="0">
            <a:spAutoFit/>
          </a:bodyPr>
          <a:lstStyle/>
          <a:p>
            <a:pPr marL="38100">
              <a:lnSpc>
                <a:spcPct val="100000"/>
              </a:lnSpc>
              <a:spcBef>
                <a:spcPts val="100"/>
              </a:spcBef>
            </a:pPr>
            <a:r>
              <a:rPr sz="1200" b="1" spc="35" dirty="0">
                <a:latin typeface="Cambria Math"/>
                <a:cs typeface="Cambria Math"/>
              </a:rPr>
              <a:t>𝑄𝐾</a:t>
            </a:r>
            <a:r>
              <a:rPr sz="1275" b="1" spc="52" baseline="29411" dirty="0">
                <a:latin typeface="Cambria Math"/>
                <a:cs typeface="Cambria Math"/>
              </a:rPr>
              <a:t>𝑇</a:t>
            </a:r>
            <a:endParaRPr sz="1275" b="1" baseline="29411" dirty="0">
              <a:latin typeface="Cambria Math"/>
              <a:cs typeface="Cambria Math"/>
            </a:endParaRPr>
          </a:p>
        </p:txBody>
      </p:sp>
      <p:sp>
        <p:nvSpPr>
          <p:cNvPr id="12" name="object 11">
            <a:extLst>
              <a:ext uri="{FF2B5EF4-FFF2-40B4-BE49-F238E27FC236}">
                <a16:creationId xmlns:a16="http://schemas.microsoft.com/office/drawing/2014/main" id="{6B3E2FF1-9410-AB25-570F-7D3B3B083ECB}"/>
              </a:ext>
            </a:extLst>
          </p:cNvPr>
          <p:cNvSpPr/>
          <p:nvPr/>
        </p:nvSpPr>
        <p:spPr>
          <a:xfrm>
            <a:off x="10994642" y="2486551"/>
            <a:ext cx="274955" cy="189230"/>
          </a:xfrm>
          <a:custGeom>
            <a:avLst/>
            <a:gdLst/>
            <a:ahLst/>
            <a:cxnLst/>
            <a:rect l="l" t="t" r="r" b="b"/>
            <a:pathLst>
              <a:path w="274954" h="189230">
                <a:moveTo>
                  <a:pt x="116204" y="0"/>
                </a:moveTo>
                <a:lnTo>
                  <a:pt x="95376" y="0"/>
                </a:lnTo>
                <a:lnTo>
                  <a:pt x="50165" y="169290"/>
                </a:lnTo>
                <a:lnTo>
                  <a:pt x="24383" y="111760"/>
                </a:lnTo>
                <a:lnTo>
                  <a:pt x="0" y="122936"/>
                </a:lnTo>
                <a:lnTo>
                  <a:pt x="2286" y="128524"/>
                </a:lnTo>
                <a:lnTo>
                  <a:pt x="14858" y="122936"/>
                </a:lnTo>
                <a:lnTo>
                  <a:pt x="45720" y="189229"/>
                </a:lnTo>
                <a:lnTo>
                  <a:pt x="52958" y="189229"/>
                </a:lnTo>
                <a:lnTo>
                  <a:pt x="101219" y="9905"/>
                </a:lnTo>
                <a:lnTo>
                  <a:pt x="110108" y="9905"/>
                </a:lnTo>
                <a:lnTo>
                  <a:pt x="110108" y="11175"/>
                </a:lnTo>
                <a:lnTo>
                  <a:pt x="274700" y="11175"/>
                </a:lnTo>
                <a:lnTo>
                  <a:pt x="274700" y="507"/>
                </a:lnTo>
                <a:lnTo>
                  <a:pt x="116204" y="507"/>
                </a:lnTo>
                <a:lnTo>
                  <a:pt x="116204" y="0"/>
                </a:lnTo>
                <a:close/>
              </a:path>
            </a:pathLst>
          </a:custGeom>
          <a:solidFill>
            <a:srgbClr val="000000"/>
          </a:solidFill>
        </p:spPr>
        <p:txBody>
          <a:bodyPr wrap="square" lIns="0" tIns="0" rIns="0" bIns="0" rtlCol="0"/>
          <a:lstStyle/>
          <a:p>
            <a:endParaRPr b="1"/>
          </a:p>
        </p:txBody>
      </p:sp>
      <p:sp>
        <p:nvSpPr>
          <p:cNvPr id="13" name="object 12">
            <a:extLst>
              <a:ext uri="{FF2B5EF4-FFF2-40B4-BE49-F238E27FC236}">
                <a16:creationId xmlns:a16="http://schemas.microsoft.com/office/drawing/2014/main" id="{A0988AE0-236E-4D02-68F1-688A2CF11CE8}"/>
              </a:ext>
            </a:extLst>
          </p:cNvPr>
          <p:cNvSpPr txBox="1"/>
          <p:nvPr/>
        </p:nvSpPr>
        <p:spPr>
          <a:xfrm>
            <a:off x="11037187" y="2477742"/>
            <a:ext cx="232410" cy="197490"/>
          </a:xfrm>
          <a:prstGeom prst="rect">
            <a:avLst/>
          </a:prstGeom>
        </p:spPr>
        <p:txBody>
          <a:bodyPr vert="horz" wrap="square" lIns="0" tIns="12700" rIns="0" bIns="0" rtlCol="0">
            <a:spAutoFit/>
          </a:bodyPr>
          <a:lstStyle/>
          <a:p>
            <a:pPr marL="38100">
              <a:lnSpc>
                <a:spcPct val="100000"/>
              </a:lnSpc>
              <a:spcBef>
                <a:spcPts val="100"/>
              </a:spcBef>
            </a:pPr>
            <a:r>
              <a:rPr sz="1200" b="1" spc="25" dirty="0">
                <a:latin typeface="Cambria Math"/>
                <a:cs typeface="Cambria Math"/>
              </a:rPr>
              <a:t>𝑑</a:t>
            </a:r>
            <a:r>
              <a:rPr sz="1275" b="1" spc="37" baseline="-16339" dirty="0">
                <a:latin typeface="Cambria Math"/>
                <a:cs typeface="Cambria Math"/>
              </a:rPr>
              <a:t>𝑘</a:t>
            </a:r>
            <a:endParaRPr sz="1275" b="1" baseline="-16339" dirty="0">
              <a:latin typeface="Cambria Math"/>
              <a:cs typeface="Cambria Math"/>
            </a:endParaRPr>
          </a:p>
        </p:txBody>
      </p:sp>
      <p:sp>
        <p:nvSpPr>
          <p:cNvPr id="14" name="object 13">
            <a:extLst>
              <a:ext uri="{FF2B5EF4-FFF2-40B4-BE49-F238E27FC236}">
                <a16:creationId xmlns:a16="http://schemas.microsoft.com/office/drawing/2014/main" id="{F0983777-B412-F955-34DE-D31227FE83D8}"/>
              </a:ext>
            </a:extLst>
          </p:cNvPr>
          <p:cNvSpPr txBox="1"/>
          <p:nvPr/>
        </p:nvSpPr>
        <p:spPr>
          <a:xfrm>
            <a:off x="11387453" y="2331052"/>
            <a:ext cx="121285" cy="197490"/>
          </a:xfrm>
          <a:prstGeom prst="rect">
            <a:avLst/>
          </a:prstGeom>
        </p:spPr>
        <p:txBody>
          <a:bodyPr vert="horz" wrap="square" lIns="0" tIns="12700" rIns="0" bIns="0" rtlCol="0">
            <a:spAutoFit/>
          </a:bodyPr>
          <a:lstStyle/>
          <a:p>
            <a:pPr marL="12700">
              <a:lnSpc>
                <a:spcPct val="100000"/>
              </a:lnSpc>
              <a:spcBef>
                <a:spcPts val="100"/>
              </a:spcBef>
            </a:pPr>
            <a:r>
              <a:rPr sz="1200" b="1" dirty="0">
                <a:latin typeface="Cambria Math"/>
                <a:cs typeface="Cambria Math"/>
              </a:rPr>
              <a:t>𝑉</a:t>
            </a:r>
            <a:endParaRPr sz="1200" b="1">
              <a:latin typeface="Cambria Math"/>
              <a:cs typeface="Cambria Math"/>
            </a:endParaRPr>
          </a:p>
        </p:txBody>
      </p:sp>
      <p:sp>
        <p:nvSpPr>
          <p:cNvPr id="15" name="object 21">
            <a:extLst>
              <a:ext uri="{FF2B5EF4-FFF2-40B4-BE49-F238E27FC236}">
                <a16:creationId xmlns:a16="http://schemas.microsoft.com/office/drawing/2014/main" id="{074BF14F-FE4B-02BF-ED24-E06BA7D4F1A9}"/>
              </a:ext>
            </a:extLst>
          </p:cNvPr>
          <p:cNvSpPr/>
          <p:nvPr/>
        </p:nvSpPr>
        <p:spPr>
          <a:xfrm>
            <a:off x="7342243" y="5807011"/>
            <a:ext cx="1495194" cy="180405"/>
          </a:xfrm>
          <a:custGeom>
            <a:avLst/>
            <a:gdLst/>
            <a:ahLst/>
            <a:cxnLst/>
            <a:rect l="l" t="t" r="r" b="b"/>
            <a:pathLst>
              <a:path w="1689100" h="247015">
                <a:moveTo>
                  <a:pt x="1688592" y="0"/>
                </a:moveTo>
                <a:lnTo>
                  <a:pt x="0" y="0"/>
                </a:lnTo>
                <a:lnTo>
                  <a:pt x="0" y="246888"/>
                </a:lnTo>
                <a:lnTo>
                  <a:pt x="1688592" y="246888"/>
                </a:lnTo>
                <a:lnTo>
                  <a:pt x="1688592" y="0"/>
                </a:lnTo>
                <a:close/>
              </a:path>
            </a:pathLst>
          </a:custGeom>
          <a:solidFill>
            <a:srgbClr val="D2F5F1"/>
          </a:solidFill>
        </p:spPr>
        <p:txBody>
          <a:bodyPr wrap="square" lIns="0" tIns="0" rIns="0" bIns="0" rtlCol="0"/>
          <a:lstStyle/>
          <a:p>
            <a:endParaRPr/>
          </a:p>
        </p:txBody>
      </p:sp>
      <p:sp>
        <p:nvSpPr>
          <p:cNvPr id="16" name="object 22">
            <a:extLst>
              <a:ext uri="{FF2B5EF4-FFF2-40B4-BE49-F238E27FC236}">
                <a16:creationId xmlns:a16="http://schemas.microsoft.com/office/drawing/2014/main" id="{F1EE9A01-29C0-EDA3-98E2-957D6F0C4059}"/>
              </a:ext>
            </a:extLst>
          </p:cNvPr>
          <p:cNvSpPr txBox="1"/>
          <p:nvPr/>
        </p:nvSpPr>
        <p:spPr>
          <a:xfrm>
            <a:off x="7874000" y="5808346"/>
            <a:ext cx="313690" cy="179070"/>
          </a:xfrm>
          <a:prstGeom prst="rect">
            <a:avLst/>
          </a:prstGeom>
        </p:spPr>
        <p:txBody>
          <a:bodyPr vert="horz" wrap="square" lIns="0" tIns="7620" rIns="0" bIns="0" rtlCol="0">
            <a:spAutoFit/>
          </a:bodyPr>
          <a:lstStyle/>
          <a:p>
            <a:pPr marL="12700">
              <a:lnSpc>
                <a:spcPct val="100000"/>
              </a:lnSpc>
              <a:spcBef>
                <a:spcPts val="60"/>
              </a:spcBef>
            </a:pPr>
            <a:r>
              <a:rPr sz="1000" spc="-35" dirty="0">
                <a:latin typeface="Tahoma"/>
                <a:cs typeface="Tahoma"/>
              </a:rPr>
              <a:t>(6,</a:t>
            </a:r>
            <a:r>
              <a:rPr sz="1000" spc="-60" dirty="0">
                <a:latin typeface="Tahoma"/>
                <a:cs typeface="Tahoma"/>
              </a:rPr>
              <a:t> </a:t>
            </a:r>
            <a:r>
              <a:rPr sz="1000" spc="-35" dirty="0">
                <a:latin typeface="Tahoma"/>
                <a:cs typeface="Tahoma"/>
              </a:rPr>
              <a:t>6)</a:t>
            </a:r>
            <a:endParaRPr sz="1000" dirty="0">
              <a:latin typeface="Tahoma"/>
              <a:cs typeface="Tahoma"/>
            </a:endParaRPr>
          </a:p>
        </p:txBody>
      </p:sp>
      <p:sp>
        <p:nvSpPr>
          <p:cNvPr id="29" name="object 14">
            <a:extLst>
              <a:ext uri="{FF2B5EF4-FFF2-40B4-BE49-F238E27FC236}">
                <a16:creationId xmlns:a16="http://schemas.microsoft.com/office/drawing/2014/main" id="{E11CB1F8-918B-6F54-2AC5-2DF206D688BB}"/>
              </a:ext>
            </a:extLst>
          </p:cNvPr>
          <p:cNvSpPr txBox="1"/>
          <p:nvPr/>
        </p:nvSpPr>
        <p:spPr>
          <a:xfrm>
            <a:off x="1379006" y="3230505"/>
            <a:ext cx="1690370" cy="1456809"/>
          </a:xfrm>
          <a:prstGeom prst="rect">
            <a:avLst/>
          </a:prstGeom>
          <a:solidFill>
            <a:srgbClr val="D2F5F1"/>
          </a:solidFill>
        </p:spPr>
        <p:txBody>
          <a:bodyPr vert="horz" wrap="square" lIns="0" tIns="0" rIns="0" bIns="0" rtlCol="0">
            <a:spAutoFit/>
          </a:bodyPr>
          <a:lstStyle/>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gn="ctr">
              <a:lnSpc>
                <a:spcPct val="100000"/>
              </a:lnSpc>
              <a:spcBef>
                <a:spcPts val="1055"/>
              </a:spcBef>
            </a:pPr>
            <a:r>
              <a:rPr sz="1200" b="1" spc="100" dirty="0">
                <a:latin typeface="Tahoma"/>
                <a:cs typeface="Tahoma"/>
              </a:rPr>
              <a:t>Q</a:t>
            </a:r>
            <a:endParaRPr sz="1200" dirty="0">
              <a:latin typeface="Tahoma"/>
              <a:cs typeface="Tahoma"/>
            </a:endParaRPr>
          </a:p>
          <a:p>
            <a:pPr>
              <a:lnSpc>
                <a:spcPct val="100000"/>
              </a:lnSpc>
            </a:pPr>
            <a:endParaRPr sz="1400" dirty="0">
              <a:latin typeface="Tahoma"/>
              <a:cs typeface="Tahoma"/>
            </a:endParaRPr>
          </a:p>
          <a:p>
            <a:pPr algn="ctr">
              <a:lnSpc>
                <a:spcPct val="100000"/>
              </a:lnSpc>
              <a:spcBef>
                <a:spcPts val="905"/>
              </a:spcBef>
            </a:pPr>
            <a:r>
              <a:rPr sz="1000" spc="-35" dirty="0">
                <a:latin typeface="Tahoma"/>
                <a:cs typeface="Tahoma"/>
              </a:rPr>
              <a:t>(6,</a:t>
            </a:r>
            <a:r>
              <a:rPr sz="1000" spc="-60" dirty="0">
                <a:latin typeface="Tahoma"/>
                <a:cs typeface="Tahoma"/>
              </a:rPr>
              <a:t> </a:t>
            </a:r>
            <a:r>
              <a:rPr sz="1000" spc="25" dirty="0">
                <a:latin typeface="Tahoma"/>
                <a:cs typeface="Tahoma"/>
              </a:rPr>
              <a:t>4096</a:t>
            </a:r>
            <a:r>
              <a:rPr sz="1000" spc="-85" dirty="0">
                <a:latin typeface="Tahoma"/>
                <a:cs typeface="Tahoma"/>
              </a:rPr>
              <a:t>)</a:t>
            </a:r>
            <a:endParaRPr sz="1000" dirty="0">
              <a:latin typeface="Tahoma"/>
              <a:cs typeface="Tahoma"/>
            </a:endParaRPr>
          </a:p>
        </p:txBody>
      </p:sp>
      <p:sp>
        <p:nvSpPr>
          <p:cNvPr id="30" name="object 15">
            <a:extLst>
              <a:ext uri="{FF2B5EF4-FFF2-40B4-BE49-F238E27FC236}">
                <a16:creationId xmlns:a16="http://schemas.microsoft.com/office/drawing/2014/main" id="{C352E9AB-1661-878C-64A1-25F4A2C74E9B}"/>
              </a:ext>
            </a:extLst>
          </p:cNvPr>
          <p:cNvSpPr txBox="1"/>
          <p:nvPr/>
        </p:nvSpPr>
        <p:spPr>
          <a:xfrm>
            <a:off x="3759494" y="3230505"/>
            <a:ext cx="1689100" cy="1454244"/>
          </a:xfrm>
          <a:prstGeom prst="rect">
            <a:avLst/>
          </a:prstGeom>
          <a:solidFill>
            <a:srgbClr val="D2F5F1"/>
          </a:solidFill>
        </p:spPr>
        <p:txBody>
          <a:bodyPr vert="horz" wrap="square" lIns="0" tIns="0" rIns="0" bIns="0" rtlCol="0">
            <a:spAutoFit/>
          </a:bodyPr>
          <a:lstStyle/>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spcBef>
                <a:spcPts val="15"/>
              </a:spcBef>
            </a:pPr>
            <a:endParaRPr sz="2000" dirty="0">
              <a:latin typeface="Times New Roman"/>
              <a:cs typeface="Times New Roman"/>
            </a:endParaRPr>
          </a:p>
          <a:p>
            <a:pPr algn="ctr">
              <a:lnSpc>
                <a:spcPct val="100000"/>
              </a:lnSpc>
              <a:spcBef>
                <a:spcPts val="5"/>
              </a:spcBef>
            </a:pPr>
            <a:r>
              <a:rPr sz="1800" b="1" spc="-15" baseline="-16203" dirty="0">
                <a:latin typeface="Tahoma"/>
                <a:cs typeface="Tahoma"/>
              </a:rPr>
              <a:t>K</a:t>
            </a:r>
            <a:r>
              <a:rPr sz="800" b="1" spc="-10" dirty="0">
                <a:latin typeface="Tahoma"/>
                <a:cs typeface="Tahoma"/>
              </a:rPr>
              <a:t>T</a:t>
            </a:r>
            <a:endParaRPr sz="800" dirty="0">
              <a:latin typeface="Tahoma"/>
              <a:cs typeface="Tahoma"/>
            </a:endParaRPr>
          </a:p>
          <a:p>
            <a:pPr>
              <a:lnSpc>
                <a:spcPct val="100000"/>
              </a:lnSpc>
            </a:pPr>
            <a:endParaRPr sz="1400" dirty="0">
              <a:latin typeface="Tahoma"/>
              <a:cs typeface="Tahoma"/>
            </a:endParaRPr>
          </a:p>
          <a:p>
            <a:pPr>
              <a:lnSpc>
                <a:spcPct val="100000"/>
              </a:lnSpc>
              <a:spcBef>
                <a:spcPts val="5"/>
              </a:spcBef>
            </a:pPr>
            <a:endParaRPr sz="1050" dirty="0">
              <a:latin typeface="Tahoma"/>
              <a:cs typeface="Tahoma"/>
            </a:endParaRPr>
          </a:p>
          <a:p>
            <a:pPr algn="ctr">
              <a:lnSpc>
                <a:spcPct val="100000"/>
              </a:lnSpc>
            </a:pPr>
            <a:r>
              <a:rPr sz="1000" dirty="0">
                <a:latin typeface="Tahoma"/>
                <a:cs typeface="Tahoma"/>
              </a:rPr>
              <a:t>(40</a:t>
            </a:r>
            <a:r>
              <a:rPr sz="1000" spc="-5" dirty="0">
                <a:latin typeface="Tahoma"/>
                <a:cs typeface="Tahoma"/>
              </a:rPr>
              <a:t>9</a:t>
            </a:r>
            <a:r>
              <a:rPr sz="1000" spc="-15" dirty="0">
                <a:latin typeface="Tahoma"/>
                <a:cs typeface="Tahoma"/>
              </a:rPr>
              <a:t>6</a:t>
            </a:r>
            <a:r>
              <a:rPr sz="1000" spc="-5" dirty="0">
                <a:latin typeface="Tahoma"/>
                <a:cs typeface="Tahoma"/>
              </a:rPr>
              <a:t>,</a:t>
            </a:r>
            <a:r>
              <a:rPr sz="1000" spc="-75" dirty="0">
                <a:latin typeface="Tahoma"/>
                <a:cs typeface="Tahoma"/>
              </a:rPr>
              <a:t> </a:t>
            </a:r>
            <a:r>
              <a:rPr sz="1000" spc="-35" dirty="0">
                <a:latin typeface="Tahoma"/>
                <a:cs typeface="Tahoma"/>
              </a:rPr>
              <a:t>6)</a:t>
            </a:r>
            <a:endParaRPr sz="1000" dirty="0">
              <a:latin typeface="Tahoma"/>
              <a:cs typeface="Tahoma"/>
            </a:endParaRPr>
          </a:p>
        </p:txBody>
      </p:sp>
      <p:sp>
        <p:nvSpPr>
          <p:cNvPr id="31" name="object 16">
            <a:extLst>
              <a:ext uri="{FF2B5EF4-FFF2-40B4-BE49-F238E27FC236}">
                <a16:creationId xmlns:a16="http://schemas.microsoft.com/office/drawing/2014/main" id="{8853BC69-03ED-591B-DE24-917BC18502B4}"/>
              </a:ext>
            </a:extLst>
          </p:cNvPr>
          <p:cNvSpPr txBox="1"/>
          <p:nvPr/>
        </p:nvSpPr>
        <p:spPr>
          <a:xfrm>
            <a:off x="3375192" y="3916128"/>
            <a:ext cx="173990" cy="300355"/>
          </a:xfrm>
          <a:prstGeom prst="rect">
            <a:avLst/>
          </a:prstGeom>
        </p:spPr>
        <p:txBody>
          <a:bodyPr vert="horz" wrap="square" lIns="0" tIns="12700" rIns="0" bIns="0" rtlCol="0">
            <a:spAutoFit/>
          </a:bodyPr>
          <a:lstStyle/>
          <a:p>
            <a:pPr marL="12700">
              <a:lnSpc>
                <a:spcPct val="100000"/>
              </a:lnSpc>
              <a:spcBef>
                <a:spcPts val="100"/>
              </a:spcBef>
            </a:pPr>
            <a:r>
              <a:rPr sz="1800" spc="120" dirty="0">
                <a:latin typeface="Tahoma"/>
                <a:cs typeface="Tahoma"/>
              </a:rPr>
              <a:t>X</a:t>
            </a:r>
            <a:endParaRPr sz="1800">
              <a:latin typeface="Tahoma"/>
              <a:cs typeface="Tahoma"/>
            </a:endParaRPr>
          </a:p>
        </p:txBody>
      </p:sp>
      <p:sp>
        <p:nvSpPr>
          <p:cNvPr id="32" name="object 17">
            <a:extLst>
              <a:ext uri="{FF2B5EF4-FFF2-40B4-BE49-F238E27FC236}">
                <a16:creationId xmlns:a16="http://schemas.microsoft.com/office/drawing/2014/main" id="{4F65202A-1010-F27E-5D17-69EAF883C368}"/>
              </a:ext>
            </a:extLst>
          </p:cNvPr>
          <p:cNvSpPr txBox="1"/>
          <p:nvPr/>
        </p:nvSpPr>
        <p:spPr>
          <a:xfrm>
            <a:off x="5751617" y="3916763"/>
            <a:ext cx="177800" cy="299720"/>
          </a:xfrm>
          <a:prstGeom prst="rect">
            <a:avLst/>
          </a:prstGeom>
        </p:spPr>
        <p:txBody>
          <a:bodyPr vert="horz" wrap="square" lIns="0" tIns="12700" rIns="0" bIns="0" rtlCol="0">
            <a:spAutoFit/>
          </a:bodyPr>
          <a:lstStyle/>
          <a:p>
            <a:pPr marL="12700">
              <a:lnSpc>
                <a:spcPct val="100000"/>
              </a:lnSpc>
              <a:spcBef>
                <a:spcPts val="100"/>
              </a:spcBef>
            </a:pPr>
            <a:r>
              <a:rPr sz="1800" spc="-114" dirty="0">
                <a:latin typeface="Tahoma"/>
                <a:cs typeface="Tahoma"/>
              </a:rPr>
              <a:t>=</a:t>
            </a:r>
            <a:endParaRPr sz="1800" dirty="0">
              <a:latin typeface="Tahoma"/>
              <a:cs typeface="Tahoma"/>
            </a:endParaRPr>
          </a:p>
        </p:txBody>
      </p:sp>
      <p:sp>
        <p:nvSpPr>
          <p:cNvPr id="33" name="object 18">
            <a:extLst>
              <a:ext uri="{FF2B5EF4-FFF2-40B4-BE49-F238E27FC236}">
                <a16:creationId xmlns:a16="http://schemas.microsoft.com/office/drawing/2014/main" id="{BC12F619-7F94-CBC3-FBA6-C083E25D8A74}"/>
              </a:ext>
            </a:extLst>
          </p:cNvPr>
          <p:cNvSpPr/>
          <p:nvPr/>
        </p:nvSpPr>
        <p:spPr>
          <a:xfrm>
            <a:off x="1383578" y="5085214"/>
            <a:ext cx="4062095" cy="0"/>
          </a:xfrm>
          <a:custGeom>
            <a:avLst/>
            <a:gdLst/>
            <a:ahLst/>
            <a:cxnLst/>
            <a:rect l="l" t="t" r="r" b="b"/>
            <a:pathLst>
              <a:path w="4062095">
                <a:moveTo>
                  <a:pt x="0" y="0"/>
                </a:moveTo>
                <a:lnTo>
                  <a:pt x="4061968" y="0"/>
                </a:lnTo>
              </a:path>
            </a:pathLst>
          </a:custGeom>
          <a:ln w="6350">
            <a:solidFill>
              <a:srgbClr val="ED7660"/>
            </a:solidFill>
          </a:ln>
        </p:spPr>
        <p:txBody>
          <a:bodyPr wrap="square" lIns="0" tIns="0" rIns="0" bIns="0" rtlCol="0"/>
          <a:lstStyle/>
          <a:p>
            <a:endParaRPr/>
          </a:p>
        </p:txBody>
      </p:sp>
      <p:sp>
        <p:nvSpPr>
          <p:cNvPr id="34" name="object 19">
            <a:extLst>
              <a:ext uri="{FF2B5EF4-FFF2-40B4-BE49-F238E27FC236}">
                <a16:creationId xmlns:a16="http://schemas.microsoft.com/office/drawing/2014/main" id="{33D3610D-2A3C-5D82-DAAB-A3FCBAC8CE40}"/>
              </a:ext>
            </a:extLst>
          </p:cNvPr>
          <p:cNvSpPr/>
          <p:nvPr/>
        </p:nvSpPr>
        <p:spPr>
          <a:xfrm>
            <a:off x="3157769" y="5294509"/>
            <a:ext cx="654685" cy="220345"/>
          </a:xfrm>
          <a:custGeom>
            <a:avLst/>
            <a:gdLst/>
            <a:ahLst/>
            <a:cxnLst/>
            <a:rect l="l" t="t" r="r" b="b"/>
            <a:pathLst>
              <a:path w="654685" h="220345">
                <a:moveTo>
                  <a:pt x="131190" y="0"/>
                </a:moveTo>
                <a:lnTo>
                  <a:pt x="76072" y="190499"/>
                </a:lnTo>
                <a:lnTo>
                  <a:pt x="36702" y="103885"/>
                </a:lnTo>
                <a:lnTo>
                  <a:pt x="0" y="120649"/>
                </a:lnTo>
                <a:lnTo>
                  <a:pt x="3556" y="129031"/>
                </a:lnTo>
                <a:lnTo>
                  <a:pt x="22351" y="120649"/>
                </a:lnTo>
                <a:lnTo>
                  <a:pt x="68579" y="219963"/>
                </a:lnTo>
                <a:lnTo>
                  <a:pt x="79375" y="219963"/>
                </a:lnTo>
                <a:lnTo>
                  <a:pt x="139445" y="14858"/>
                </a:lnTo>
                <a:lnTo>
                  <a:pt x="147065" y="14858"/>
                </a:lnTo>
                <a:lnTo>
                  <a:pt x="147065" y="15366"/>
                </a:lnTo>
                <a:lnTo>
                  <a:pt x="654557" y="15366"/>
                </a:lnTo>
                <a:lnTo>
                  <a:pt x="654557" y="126"/>
                </a:lnTo>
                <a:lnTo>
                  <a:pt x="131190" y="0"/>
                </a:lnTo>
                <a:close/>
              </a:path>
            </a:pathLst>
          </a:custGeom>
          <a:solidFill>
            <a:srgbClr val="000000"/>
          </a:solidFill>
        </p:spPr>
        <p:txBody>
          <a:bodyPr wrap="square" lIns="0" tIns="0" rIns="0" bIns="0" rtlCol="0"/>
          <a:lstStyle/>
          <a:p>
            <a:endParaRPr/>
          </a:p>
        </p:txBody>
      </p:sp>
      <p:sp>
        <p:nvSpPr>
          <p:cNvPr id="35" name="object 20">
            <a:extLst>
              <a:ext uri="{FF2B5EF4-FFF2-40B4-BE49-F238E27FC236}">
                <a16:creationId xmlns:a16="http://schemas.microsoft.com/office/drawing/2014/main" id="{183A7676-2C47-0CE9-1B34-F0208CA903C9}"/>
              </a:ext>
            </a:extLst>
          </p:cNvPr>
          <p:cNvSpPr txBox="1"/>
          <p:nvPr/>
        </p:nvSpPr>
        <p:spPr>
          <a:xfrm>
            <a:off x="3292642" y="5261743"/>
            <a:ext cx="53149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mbria Math"/>
                <a:cs typeface="Cambria Math"/>
              </a:rPr>
              <a:t>4096</a:t>
            </a:r>
            <a:endParaRPr sz="1800">
              <a:latin typeface="Cambria Math"/>
              <a:cs typeface="Cambria Math"/>
            </a:endParaRPr>
          </a:p>
        </p:txBody>
      </p:sp>
      <p:graphicFrame>
        <p:nvGraphicFramePr>
          <p:cNvPr id="20" name="object 3">
            <a:extLst>
              <a:ext uri="{FF2B5EF4-FFF2-40B4-BE49-F238E27FC236}">
                <a16:creationId xmlns:a16="http://schemas.microsoft.com/office/drawing/2014/main" id="{73E93BAC-6333-830C-B5A7-C862B4897B25}"/>
              </a:ext>
            </a:extLst>
          </p:cNvPr>
          <p:cNvGraphicFramePr>
            <a:graphicFrameLocks noGrp="1"/>
          </p:cNvGraphicFramePr>
          <p:nvPr>
            <p:extLst>
              <p:ext uri="{D42A27DB-BD31-4B8C-83A1-F6EECF244321}">
                <p14:modId xmlns:p14="http://schemas.microsoft.com/office/powerpoint/2010/main" val="811189485"/>
              </p:ext>
            </p:extLst>
          </p:nvPr>
        </p:nvGraphicFramePr>
        <p:xfrm>
          <a:off x="6232441" y="2576166"/>
          <a:ext cx="3468261" cy="3145123"/>
        </p:xfrm>
        <a:graphic>
          <a:graphicData uri="http://schemas.openxmlformats.org/drawingml/2006/table">
            <a:tbl>
              <a:tblPr firstRow="1" bandRow="1">
                <a:tableStyleId>{2D5ABB26-0587-4C30-8999-92F81FD0307C}</a:tableStyleId>
              </a:tblPr>
              <a:tblGrid>
                <a:gridCol w="473633">
                  <a:extLst>
                    <a:ext uri="{9D8B030D-6E8A-4147-A177-3AD203B41FA5}">
                      <a16:colId xmlns:a16="http://schemas.microsoft.com/office/drawing/2014/main" val="20000"/>
                    </a:ext>
                  </a:extLst>
                </a:gridCol>
                <a:gridCol w="499104">
                  <a:extLst>
                    <a:ext uri="{9D8B030D-6E8A-4147-A177-3AD203B41FA5}">
                      <a16:colId xmlns:a16="http://schemas.microsoft.com/office/drawing/2014/main" val="20001"/>
                    </a:ext>
                  </a:extLst>
                </a:gridCol>
                <a:gridCol w="499105">
                  <a:extLst>
                    <a:ext uri="{9D8B030D-6E8A-4147-A177-3AD203B41FA5}">
                      <a16:colId xmlns:a16="http://schemas.microsoft.com/office/drawing/2014/main" val="20002"/>
                    </a:ext>
                  </a:extLst>
                </a:gridCol>
                <a:gridCol w="499105">
                  <a:extLst>
                    <a:ext uri="{9D8B030D-6E8A-4147-A177-3AD203B41FA5}">
                      <a16:colId xmlns:a16="http://schemas.microsoft.com/office/drawing/2014/main" val="20003"/>
                    </a:ext>
                  </a:extLst>
                </a:gridCol>
                <a:gridCol w="499105">
                  <a:extLst>
                    <a:ext uri="{9D8B030D-6E8A-4147-A177-3AD203B41FA5}">
                      <a16:colId xmlns:a16="http://schemas.microsoft.com/office/drawing/2014/main" val="20004"/>
                    </a:ext>
                  </a:extLst>
                </a:gridCol>
                <a:gridCol w="499105">
                  <a:extLst>
                    <a:ext uri="{9D8B030D-6E8A-4147-A177-3AD203B41FA5}">
                      <a16:colId xmlns:a16="http://schemas.microsoft.com/office/drawing/2014/main" val="20005"/>
                    </a:ext>
                  </a:extLst>
                </a:gridCol>
                <a:gridCol w="499104">
                  <a:extLst>
                    <a:ext uri="{9D8B030D-6E8A-4147-A177-3AD203B41FA5}">
                      <a16:colId xmlns:a16="http://schemas.microsoft.com/office/drawing/2014/main" val="20006"/>
                    </a:ext>
                  </a:extLst>
                </a:gridCol>
              </a:tblGrid>
              <a:tr h="449279">
                <a:tc>
                  <a:txBody>
                    <a:bodyPr/>
                    <a:lstStyle/>
                    <a:p>
                      <a:pPr>
                        <a:lnSpc>
                          <a:spcPct val="100000"/>
                        </a:lnSpc>
                      </a:pPr>
                      <a:endParaRPr sz="11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1270" algn="ctr">
                        <a:lnSpc>
                          <a:spcPct val="100000"/>
                        </a:lnSpc>
                        <a:spcBef>
                          <a:spcPts val="5"/>
                        </a:spcBef>
                      </a:pPr>
                      <a:r>
                        <a:rPr sz="600" b="1" spc="-10" dirty="0">
                          <a:latin typeface="Tahoma"/>
                          <a:cs typeface="Tahoma"/>
                        </a:rPr>
                        <a:t>THE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1905" algn="ctr">
                        <a:lnSpc>
                          <a:spcPct val="100000"/>
                        </a:lnSpc>
                        <a:spcBef>
                          <a:spcPts val="5"/>
                        </a:spcBef>
                      </a:pPr>
                      <a:r>
                        <a:rPr sz="600" b="1" spc="5" dirty="0">
                          <a:latin typeface="Tahoma"/>
                          <a:cs typeface="Tahoma"/>
                        </a:rPr>
                        <a:t>CAT</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dirty="0">
                        <a:latin typeface="Times New Roman"/>
                        <a:cs typeface="Times New Roman"/>
                      </a:endParaRPr>
                    </a:p>
                    <a:p>
                      <a:pPr>
                        <a:lnSpc>
                          <a:spcPct val="100000"/>
                        </a:lnSpc>
                        <a:spcBef>
                          <a:spcPts val="5"/>
                        </a:spcBef>
                      </a:pPr>
                      <a:endParaRPr sz="750" dirty="0">
                        <a:latin typeface="Times New Roman"/>
                        <a:cs typeface="Times New Roman"/>
                      </a:endParaRPr>
                    </a:p>
                    <a:p>
                      <a:pPr marL="1270" algn="ctr">
                        <a:lnSpc>
                          <a:spcPct val="100000"/>
                        </a:lnSpc>
                        <a:spcBef>
                          <a:spcPts val="5"/>
                        </a:spcBef>
                      </a:pPr>
                      <a:r>
                        <a:rPr sz="600" b="1" spc="-65" dirty="0">
                          <a:latin typeface="Tahoma"/>
                          <a:cs typeface="Tahoma"/>
                        </a:rPr>
                        <a:t>IS</a:t>
                      </a:r>
                      <a:endParaRPr sz="600" dirty="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635" algn="ctr">
                        <a:lnSpc>
                          <a:spcPct val="100000"/>
                        </a:lnSpc>
                        <a:spcBef>
                          <a:spcPts val="5"/>
                        </a:spcBef>
                      </a:pPr>
                      <a:r>
                        <a:rPr sz="600" b="1" spc="35" dirty="0">
                          <a:latin typeface="Tahoma"/>
                          <a:cs typeface="Tahoma"/>
                        </a:rPr>
                        <a:t>ON</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2540" algn="ctr">
                        <a:lnSpc>
                          <a:spcPct val="100000"/>
                        </a:lnSpc>
                        <a:spcBef>
                          <a:spcPts val="5"/>
                        </a:spcBef>
                      </a:pPr>
                      <a:r>
                        <a:rPr sz="600" b="1" dirty="0">
                          <a:latin typeface="Tahoma"/>
                          <a:cs typeface="Tahoma"/>
                        </a:rPr>
                        <a:t>A</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2540" algn="ctr">
                        <a:lnSpc>
                          <a:spcPct val="100000"/>
                        </a:lnSpc>
                        <a:spcBef>
                          <a:spcPts val="5"/>
                        </a:spcBef>
                      </a:pPr>
                      <a:r>
                        <a:rPr sz="600" b="1" spc="-25" dirty="0">
                          <a:latin typeface="Tahoma"/>
                          <a:cs typeface="Tahoma"/>
                        </a:rPr>
                        <a:t>CHAIR</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extLst>
                  <a:ext uri="{0D108BD9-81ED-4DB2-BD59-A6C34878D82A}">
                    <a16:rowId xmlns:a16="http://schemas.microsoft.com/office/drawing/2014/main" val="10000"/>
                  </a:ext>
                </a:extLst>
              </a:tr>
              <a:tr h="449278">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spc="-10" dirty="0">
                          <a:latin typeface="Tahoma"/>
                          <a:cs typeface="Tahoma"/>
                        </a:rPr>
                        <a:t>THE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5"/>
                        </a:spcBef>
                      </a:pPr>
                      <a:endParaRPr sz="1250">
                        <a:latin typeface="Times New Roman"/>
                        <a:cs typeface="Times New Roman"/>
                      </a:endParaRPr>
                    </a:p>
                    <a:p>
                      <a:pPr marL="635" algn="ctr">
                        <a:lnSpc>
                          <a:spcPct val="100000"/>
                        </a:lnSpc>
                        <a:spcBef>
                          <a:spcPts val="5"/>
                        </a:spcBef>
                      </a:pPr>
                      <a:r>
                        <a:rPr sz="1000" spc="10" dirty="0">
                          <a:latin typeface="Tahoma"/>
                          <a:cs typeface="Tahoma"/>
                        </a:rPr>
                        <a:t>0.268</a:t>
                      </a:r>
                      <a:endParaRPr sz="1000">
                        <a:latin typeface="Tahoma"/>
                        <a:cs typeface="Tahoma"/>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1590"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1590"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0955"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dirty="0">
                        <a:latin typeface="Times New Roman"/>
                        <a:cs typeface="Times New Roman"/>
                      </a:endParaRPr>
                    </a:p>
                    <a:p>
                      <a:pPr marR="21590" algn="ctr">
                        <a:lnSpc>
                          <a:spcPct val="100000"/>
                        </a:lnSpc>
                      </a:pPr>
                      <a:r>
                        <a:rPr sz="1000" spc="-10" dirty="0">
                          <a:solidFill>
                            <a:srgbClr val="E23717"/>
                          </a:solidFill>
                          <a:latin typeface="Cambria Math"/>
                          <a:cs typeface="Cambria Math"/>
                        </a:rPr>
                        <a:t>−∞</a:t>
                      </a:r>
                      <a:endParaRPr sz="1000" dirty="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0955"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1"/>
                  </a:ext>
                </a:extLst>
              </a:tr>
              <a:tr h="449278">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635" algn="ctr">
                        <a:lnSpc>
                          <a:spcPct val="100000"/>
                        </a:lnSpc>
                      </a:pPr>
                      <a:r>
                        <a:rPr sz="600" b="1" spc="5" dirty="0">
                          <a:latin typeface="Tahoma"/>
                          <a:cs typeface="Tahoma"/>
                        </a:rPr>
                        <a:t>CAT</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marL="635" algn="ctr">
                        <a:lnSpc>
                          <a:spcPct val="100000"/>
                        </a:lnSpc>
                      </a:pPr>
                      <a:r>
                        <a:rPr sz="1000" spc="10" dirty="0">
                          <a:latin typeface="Tahoma"/>
                          <a:cs typeface="Tahoma"/>
                        </a:rPr>
                        <a:t>0.124</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dirty="0">
                        <a:latin typeface="Times New Roman"/>
                        <a:cs typeface="Times New Roman"/>
                      </a:endParaRPr>
                    </a:p>
                    <a:p>
                      <a:pPr marL="1270" algn="ctr">
                        <a:lnSpc>
                          <a:spcPct val="100000"/>
                        </a:lnSpc>
                      </a:pPr>
                      <a:r>
                        <a:rPr sz="1000" spc="10" dirty="0">
                          <a:latin typeface="Tahoma"/>
                          <a:cs typeface="Tahoma"/>
                        </a:rPr>
                        <a:t>0.278</a:t>
                      </a:r>
                      <a:endParaRPr sz="1000" dirty="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1590"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dirty="0">
                        <a:latin typeface="Times New Roman"/>
                        <a:cs typeface="Times New Roman"/>
                      </a:endParaRPr>
                    </a:p>
                    <a:p>
                      <a:pPr marR="20955" algn="ctr">
                        <a:lnSpc>
                          <a:spcPct val="100000"/>
                        </a:lnSpc>
                      </a:pPr>
                      <a:r>
                        <a:rPr sz="1000" spc="-10" dirty="0">
                          <a:solidFill>
                            <a:srgbClr val="E23717"/>
                          </a:solidFill>
                          <a:latin typeface="Cambria Math"/>
                          <a:cs typeface="Cambria Math"/>
                        </a:rPr>
                        <a:t>−∞</a:t>
                      </a:r>
                      <a:endParaRPr sz="1000" dirty="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1590"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0955"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2"/>
                  </a:ext>
                </a:extLst>
              </a:tr>
              <a:tr h="449388">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spc="-65" dirty="0">
                          <a:latin typeface="Tahoma"/>
                          <a:cs typeface="Tahoma"/>
                        </a:rPr>
                        <a:t>IS</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dirty="0">
                        <a:latin typeface="Times New Roman"/>
                        <a:cs typeface="Times New Roman"/>
                      </a:endParaRPr>
                    </a:p>
                    <a:p>
                      <a:pPr marL="635" algn="ctr">
                        <a:lnSpc>
                          <a:spcPct val="100000"/>
                        </a:lnSpc>
                      </a:pPr>
                      <a:r>
                        <a:rPr sz="1000" spc="10" dirty="0">
                          <a:latin typeface="Tahoma"/>
                          <a:cs typeface="Tahoma"/>
                        </a:rPr>
                        <a:t>0.147</a:t>
                      </a:r>
                      <a:endParaRPr sz="1000" dirty="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0.132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0.262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0955"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1590"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0955"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3"/>
                  </a:ext>
                </a:extLst>
              </a:tr>
              <a:tr h="449278">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spcBef>
                          <a:spcPts val="5"/>
                        </a:spcBef>
                      </a:pPr>
                      <a:r>
                        <a:rPr sz="600" b="1" spc="35" dirty="0">
                          <a:latin typeface="Tahoma"/>
                          <a:cs typeface="Tahoma"/>
                        </a:rPr>
                        <a:t>ON</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marL="635" algn="ctr">
                        <a:lnSpc>
                          <a:spcPct val="100000"/>
                        </a:lnSpc>
                      </a:pPr>
                      <a:r>
                        <a:rPr sz="1000" spc="10" dirty="0">
                          <a:latin typeface="Tahoma"/>
                          <a:cs typeface="Tahoma"/>
                        </a:rPr>
                        <a:t>0.210</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0.128</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0.206</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0.212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1590" algn="ctr">
                        <a:lnSpc>
                          <a:spcPct val="100000"/>
                        </a:lnSpc>
                        <a:spcBef>
                          <a:spcPts val="5"/>
                        </a:spcBef>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0955" algn="ctr">
                        <a:lnSpc>
                          <a:spcPct val="100000"/>
                        </a:lnSpc>
                        <a:spcBef>
                          <a:spcPts val="5"/>
                        </a:spcBef>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4"/>
                  </a:ext>
                </a:extLst>
              </a:tr>
              <a:tr h="449311">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1270" algn="ctr">
                        <a:lnSpc>
                          <a:spcPct val="100000"/>
                        </a:lnSpc>
                      </a:pPr>
                      <a:r>
                        <a:rPr sz="600" b="1" dirty="0">
                          <a:latin typeface="Tahoma"/>
                          <a:cs typeface="Tahoma"/>
                        </a:rPr>
                        <a:t>A</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marL="635" algn="ctr">
                        <a:lnSpc>
                          <a:spcPct val="100000"/>
                        </a:lnSpc>
                        <a:spcBef>
                          <a:spcPts val="5"/>
                        </a:spcBef>
                      </a:pPr>
                      <a:r>
                        <a:rPr sz="1000" spc="10" dirty="0">
                          <a:latin typeface="Tahoma"/>
                          <a:cs typeface="Tahoma"/>
                        </a:rPr>
                        <a:t>0.146</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spcBef>
                          <a:spcPts val="5"/>
                        </a:spcBef>
                      </a:pPr>
                      <a:r>
                        <a:rPr sz="1000" spc="10" dirty="0">
                          <a:latin typeface="Tahoma"/>
                          <a:cs typeface="Tahoma"/>
                        </a:rPr>
                        <a:t>0.158</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spcBef>
                          <a:spcPts val="5"/>
                        </a:spcBef>
                      </a:pPr>
                      <a:r>
                        <a:rPr sz="1000" spc="10" dirty="0">
                          <a:latin typeface="Tahoma"/>
                          <a:cs typeface="Tahoma"/>
                        </a:rPr>
                        <a:t>0.152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spcBef>
                          <a:spcPts val="5"/>
                        </a:spcBef>
                      </a:pPr>
                      <a:r>
                        <a:rPr sz="1000" spc="10" dirty="0">
                          <a:latin typeface="Tahoma"/>
                          <a:cs typeface="Tahoma"/>
                        </a:rPr>
                        <a:t>0.143</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spcBef>
                          <a:spcPts val="5"/>
                        </a:spcBef>
                      </a:pPr>
                      <a:r>
                        <a:rPr sz="1000" spc="10" dirty="0">
                          <a:latin typeface="Tahoma"/>
                          <a:cs typeface="Tahoma"/>
                        </a:rPr>
                        <a:t>0.227</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0955"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5"/>
                  </a:ext>
                </a:extLst>
              </a:tr>
              <a:tr h="449311">
                <a:tc>
                  <a:txBody>
                    <a:bodyPr/>
                    <a:lstStyle/>
                    <a:p>
                      <a:pPr>
                        <a:lnSpc>
                          <a:spcPct val="100000"/>
                        </a:lnSpc>
                      </a:pPr>
                      <a:endParaRPr sz="700">
                        <a:latin typeface="Times New Roman"/>
                        <a:cs typeface="Times New Roman"/>
                      </a:endParaRPr>
                    </a:p>
                    <a:p>
                      <a:pPr>
                        <a:lnSpc>
                          <a:spcPct val="100000"/>
                        </a:lnSpc>
                        <a:spcBef>
                          <a:spcPts val="15"/>
                        </a:spcBef>
                      </a:pPr>
                      <a:endParaRPr sz="750">
                        <a:latin typeface="Times New Roman"/>
                        <a:cs typeface="Times New Roman"/>
                      </a:endParaRPr>
                    </a:p>
                    <a:p>
                      <a:pPr marL="635" algn="ctr">
                        <a:lnSpc>
                          <a:spcPct val="100000"/>
                        </a:lnSpc>
                      </a:pPr>
                      <a:r>
                        <a:rPr sz="600" b="1" spc="-25" dirty="0">
                          <a:latin typeface="Tahoma"/>
                          <a:cs typeface="Tahoma"/>
                        </a:rPr>
                        <a:t>CHAIR</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marL="635" algn="ctr">
                        <a:lnSpc>
                          <a:spcPct val="100000"/>
                        </a:lnSpc>
                      </a:pPr>
                      <a:r>
                        <a:rPr sz="1000" spc="10" dirty="0">
                          <a:latin typeface="Tahoma"/>
                          <a:cs typeface="Tahoma"/>
                        </a:rPr>
                        <a:t>0.195</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0.114</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0.203</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0.103</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0.157</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dirty="0">
                        <a:latin typeface="Times New Roman"/>
                        <a:cs typeface="Times New Roman"/>
                      </a:endParaRPr>
                    </a:p>
                    <a:p>
                      <a:pPr marL="1905" algn="ctr">
                        <a:lnSpc>
                          <a:spcPct val="100000"/>
                        </a:lnSpc>
                      </a:pPr>
                      <a:r>
                        <a:rPr sz="1000" spc="10" dirty="0">
                          <a:latin typeface="Tahoma"/>
                          <a:cs typeface="Tahoma"/>
                        </a:rPr>
                        <a:t>0.229</a:t>
                      </a:r>
                      <a:endParaRPr sz="1000" dirty="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618728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95E21-A47A-719C-C0A8-F0292D694E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D1F2FC-7DEF-8E6F-BF5D-90A5F4E4FEA0}"/>
              </a:ext>
            </a:extLst>
          </p:cNvPr>
          <p:cNvSpPr>
            <a:spLocks noGrp="1"/>
          </p:cNvSpPr>
          <p:nvPr>
            <p:ph type="title"/>
          </p:nvPr>
        </p:nvSpPr>
        <p:spPr>
          <a:xfrm>
            <a:off x="669552" y="594335"/>
            <a:ext cx="10863635" cy="639153"/>
          </a:xfrm>
        </p:spPr>
        <p:txBody>
          <a:bodyPr/>
          <a:lstStyle/>
          <a:p>
            <a:r>
              <a:rPr lang="en-IN" dirty="0"/>
              <a:t>Sliding-Window Attention</a:t>
            </a:r>
          </a:p>
        </p:txBody>
      </p:sp>
      <p:sp>
        <p:nvSpPr>
          <p:cNvPr id="3" name="Content Placeholder 2">
            <a:extLst>
              <a:ext uri="{FF2B5EF4-FFF2-40B4-BE49-F238E27FC236}">
                <a16:creationId xmlns:a16="http://schemas.microsoft.com/office/drawing/2014/main" id="{7963D16C-1918-4B5C-D60C-22C1E5612EAB}"/>
              </a:ext>
            </a:extLst>
          </p:cNvPr>
          <p:cNvSpPr>
            <a:spLocks noGrp="1"/>
          </p:cNvSpPr>
          <p:nvPr>
            <p:ph idx="1"/>
          </p:nvPr>
        </p:nvSpPr>
        <p:spPr>
          <a:xfrm>
            <a:off x="678884" y="1675075"/>
            <a:ext cx="10854304" cy="4398066"/>
          </a:xfrm>
        </p:spPr>
        <p:txBody>
          <a:bodyPr>
            <a:normAutofit/>
          </a:bodyPr>
          <a:lstStyle/>
          <a:p>
            <a:pPr marL="0" indent="0">
              <a:buNone/>
            </a:pPr>
            <a:r>
              <a:rPr lang="en-US" sz="1600" dirty="0">
                <a:solidFill>
                  <a:srgbClr val="161A3E"/>
                </a:solidFill>
              </a:rPr>
              <a:t>The sliding window size is 3</a:t>
            </a:r>
          </a:p>
        </p:txBody>
      </p:sp>
      <p:sp>
        <p:nvSpPr>
          <p:cNvPr id="6" name="object 5">
            <a:extLst>
              <a:ext uri="{FF2B5EF4-FFF2-40B4-BE49-F238E27FC236}">
                <a16:creationId xmlns:a16="http://schemas.microsoft.com/office/drawing/2014/main" id="{F08F23BE-FDF8-5F78-C90B-0DECA95A06CE}"/>
              </a:ext>
            </a:extLst>
          </p:cNvPr>
          <p:cNvSpPr txBox="1"/>
          <p:nvPr/>
        </p:nvSpPr>
        <p:spPr>
          <a:xfrm>
            <a:off x="9871328" y="4185920"/>
            <a:ext cx="1661859" cy="166071"/>
          </a:xfrm>
          <a:prstGeom prst="rect">
            <a:avLst/>
          </a:prstGeom>
        </p:spPr>
        <p:txBody>
          <a:bodyPr vert="horz" wrap="square" lIns="0" tIns="12065" rIns="0" bIns="0" rtlCol="0">
            <a:spAutoFit/>
          </a:bodyPr>
          <a:lstStyle/>
          <a:p>
            <a:pPr marL="12700">
              <a:lnSpc>
                <a:spcPct val="100000"/>
              </a:lnSpc>
              <a:spcBef>
                <a:spcPts val="95"/>
              </a:spcBef>
            </a:pPr>
            <a:r>
              <a:rPr sz="1000" b="1" spc="-105" dirty="0">
                <a:latin typeface="Tahoma"/>
                <a:cs typeface="Tahoma"/>
              </a:rPr>
              <a:t>*</a:t>
            </a:r>
            <a:r>
              <a:rPr sz="1000" b="1" spc="-60" dirty="0">
                <a:latin typeface="Tahoma"/>
                <a:cs typeface="Tahoma"/>
              </a:rPr>
              <a:t> </a:t>
            </a:r>
            <a:r>
              <a:rPr sz="1000" b="1" dirty="0">
                <a:latin typeface="Tahoma"/>
                <a:cs typeface="Tahoma"/>
              </a:rPr>
              <a:t>a</a:t>
            </a:r>
            <a:r>
              <a:rPr sz="1000" b="1" spc="20" dirty="0">
                <a:latin typeface="Tahoma"/>
                <a:cs typeface="Tahoma"/>
              </a:rPr>
              <a:t>ll</a:t>
            </a:r>
            <a:r>
              <a:rPr sz="1000" b="1" spc="-50" dirty="0">
                <a:latin typeface="Tahoma"/>
                <a:cs typeface="Tahoma"/>
              </a:rPr>
              <a:t> </a:t>
            </a:r>
            <a:r>
              <a:rPr sz="1000" b="1" spc="-25" dirty="0">
                <a:latin typeface="Tahoma"/>
                <a:cs typeface="Tahoma"/>
              </a:rPr>
              <a:t>v</a:t>
            </a:r>
            <a:r>
              <a:rPr sz="1000" b="1" dirty="0">
                <a:latin typeface="Tahoma"/>
                <a:cs typeface="Tahoma"/>
              </a:rPr>
              <a:t>a</a:t>
            </a:r>
            <a:r>
              <a:rPr sz="1000" b="1" spc="25" dirty="0">
                <a:latin typeface="Tahoma"/>
                <a:cs typeface="Tahoma"/>
              </a:rPr>
              <a:t>lu</a:t>
            </a:r>
            <a:r>
              <a:rPr sz="1000" b="1" spc="20" dirty="0">
                <a:latin typeface="Tahoma"/>
                <a:cs typeface="Tahoma"/>
              </a:rPr>
              <a:t>e</a:t>
            </a:r>
            <a:r>
              <a:rPr sz="1000" b="1" spc="-5" dirty="0">
                <a:latin typeface="Tahoma"/>
                <a:cs typeface="Tahoma"/>
              </a:rPr>
              <a:t>s</a:t>
            </a:r>
            <a:r>
              <a:rPr sz="1000" b="1" spc="-40" dirty="0">
                <a:latin typeface="Tahoma"/>
                <a:cs typeface="Tahoma"/>
              </a:rPr>
              <a:t> </a:t>
            </a:r>
            <a:r>
              <a:rPr sz="1000" b="1" dirty="0">
                <a:latin typeface="Tahoma"/>
                <a:cs typeface="Tahoma"/>
              </a:rPr>
              <a:t>a</a:t>
            </a:r>
            <a:r>
              <a:rPr sz="1000" b="1" spc="20" dirty="0">
                <a:latin typeface="Tahoma"/>
                <a:cs typeface="Tahoma"/>
              </a:rPr>
              <a:t>re</a:t>
            </a:r>
            <a:r>
              <a:rPr sz="1000" b="1" spc="-45" dirty="0">
                <a:latin typeface="Tahoma"/>
                <a:cs typeface="Tahoma"/>
              </a:rPr>
              <a:t> </a:t>
            </a:r>
            <a:r>
              <a:rPr sz="1000" b="1" spc="5" dirty="0">
                <a:latin typeface="Tahoma"/>
                <a:cs typeface="Tahoma"/>
              </a:rPr>
              <a:t>ran</a:t>
            </a:r>
            <a:r>
              <a:rPr sz="1000" b="1" spc="65" dirty="0">
                <a:latin typeface="Tahoma"/>
                <a:cs typeface="Tahoma"/>
              </a:rPr>
              <a:t>d</a:t>
            </a:r>
            <a:r>
              <a:rPr sz="1000" b="1" spc="70" dirty="0">
                <a:latin typeface="Tahoma"/>
                <a:cs typeface="Tahoma"/>
              </a:rPr>
              <a:t>o</a:t>
            </a:r>
            <a:r>
              <a:rPr sz="1000" b="1" spc="30" dirty="0">
                <a:latin typeface="Tahoma"/>
                <a:cs typeface="Tahoma"/>
              </a:rPr>
              <a:t>m</a:t>
            </a:r>
            <a:r>
              <a:rPr sz="1000" b="1" spc="-45" dirty="0">
                <a:latin typeface="Tahoma"/>
                <a:cs typeface="Tahoma"/>
              </a:rPr>
              <a:t>.</a:t>
            </a:r>
            <a:endParaRPr sz="1000" b="1" dirty="0">
              <a:latin typeface="Tahoma"/>
              <a:cs typeface="Tahoma"/>
            </a:endParaRPr>
          </a:p>
        </p:txBody>
      </p:sp>
      <p:sp>
        <p:nvSpPr>
          <p:cNvPr id="7" name="object 6">
            <a:extLst>
              <a:ext uri="{FF2B5EF4-FFF2-40B4-BE49-F238E27FC236}">
                <a16:creationId xmlns:a16="http://schemas.microsoft.com/office/drawing/2014/main" id="{949F50FB-55BF-DD8A-CD62-EB6769A995B8}"/>
              </a:ext>
            </a:extLst>
          </p:cNvPr>
          <p:cNvSpPr/>
          <p:nvPr/>
        </p:nvSpPr>
        <p:spPr>
          <a:xfrm>
            <a:off x="9498316" y="2294266"/>
            <a:ext cx="533400" cy="141605"/>
          </a:xfrm>
          <a:custGeom>
            <a:avLst/>
            <a:gdLst/>
            <a:ahLst/>
            <a:cxnLst/>
            <a:rect l="l" t="t" r="r" b="b"/>
            <a:pathLst>
              <a:path w="533400" h="141605">
                <a:moveTo>
                  <a:pt x="488314" y="0"/>
                </a:moveTo>
                <a:lnTo>
                  <a:pt x="486282" y="5714"/>
                </a:lnTo>
                <a:lnTo>
                  <a:pt x="494401" y="9261"/>
                </a:lnTo>
                <a:lnTo>
                  <a:pt x="501411" y="14176"/>
                </a:lnTo>
                <a:lnTo>
                  <a:pt x="519922" y="57820"/>
                </a:lnTo>
                <a:lnTo>
                  <a:pt x="520446" y="69850"/>
                </a:lnTo>
                <a:lnTo>
                  <a:pt x="519922" y="82325"/>
                </a:lnTo>
                <a:lnTo>
                  <a:pt x="507323" y="120542"/>
                </a:lnTo>
                <a:lnTo>
                  <a:pt x="486409" y="135509"/>
                </a:lnTo>
                <a:lnTo>
                  <a:pt x="488314" y="141224"/>
                </a:lnTo>
                <a:lnTo>
                  <a:pt x="521715" y="116459"/>
                </a:lnTo>
                <a:lnTo>
                  <a:pt x="533273" y="70612"/>
                </a:lnTo>
                <a:lnTo>
                  <a:pt x="532536" y="57679"/>
                </a:lnTo>
                <a:lnTo>
                  <a:pt x="515157" y="16073"/>
                </a:lnTo>
                <a:lnTo>
                  <a:pt x="498532" y="3690"/>
                </a:lnTo>
                <a:lnTo>
                  <a:pt x="488314" y="0"/>
                </a:lnTo>
                <a:close/>
              </a:path>
              <a:path w="533400" h="141605">
                <a:moveTo>
                  <a:pt x="44957" y="0"/>
                </a:moveTo>
                <a:lnTo>
                  <a:pt x="11683" y="24764"/>
                </a:lnTo>
                <a:lnTo>
                  <a:pt x="0" y="70612"/>
                </a:lnTo>
                <a:lnTo>
                  <a:pt x="716" y="83615"/>
                </a:lnTo>
                <a:lnTo>
                  <a:pt x="18008" y="125150"/>
                </a:lnTo>
                <a:lnTo>
                  <a:pt x="44957" y="141224"/>
                </a:lnTo>
                <a:lnTo>
                  <a:pt x="46735" y="135509"/>
                </a:lnTo>
                <a:lnTo>
                  <a:pt x="38711" y="131885"/>
                </a:lnTo>
                <a:lnTo>
                  <a:pt x="31781" y="126904"/>
                </a:lnTo>
                <a:lnTo>
                  <a:pt x="13350" y="82325"/>
                </a:lnTo>
                <a:lnTo>
                  <a:pt x="12826" y="69850"/>
                </a:lnTo>
                <a:lnTo>
                  <a:pt x="13350" y="57820"/>
                </a:lnTo>
                <a:lnTo>
                  <a:pt x="25969" y="20448"/>
                </a:lnTo>
                <a:lnTo>
                  <a:pt x="46989" y="5714"/>
                </a:lnTo>
                <a:lnTo>
                  <a:pt x="44957" y="0"/>
                </a:lnTo>
                <a:close/>
              </a:path>
            </a:pathLst>
          </a:custGeom>
          <a:solidFill>
            <a:srgbClr val="000000"/>
          </a:solidFill>
        </p:spPr>
        <p:txBody>
          <a:bodyPr wrap="square" lIns="0" tIns="0" rIns="0" bIns="0" rtlCol="0"/>
          <a:lstStyle/>
          <a:p>
            <a:endParaRPr b="1"/>
          </a:p>
        </p:txBody>
      </p:sp>
      <p:sp>
        <p:nvSpPr>
          <p:cNvPr id="8" name="object 7">
            <a:extLst>
              <a:ext uri="{FF2B5EF4-FFF2-40B4-BE49-F238E27FC236}">
                <a16:creationId xmlns:a16="http://schemas.microsoft.com/office/drawing/2014/main" id="{75288CA4-D2AF-E810-35C6-DDD8A939DB08}"/>
              </a:ext>
            </a:extLst>
          </p:cNvPr>
          <p:cNvSpPr txBox="1"/>
          <p:nvPr/>
        </p:nvSpPr>
        <p:spPr>
          <a:xfrm>
            <a:off x="8825798" y="2246642"/>
            <a:ext cx="1177925" cy="197490"/>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Cambria Math"/>
                <a:cs typeface="Cambria Math"/>
              </a:rPr>
              <a:t>𝐴𝑡𝑡</a:t>
            </a:r>
            <a:r>
              <a:rPr sz="1200" b="1" dirty="0">
                <a:latin typeface="Cambria Math"/>
                <a:cs typeface="Cambria Math"/>
              </a:rPr>
              <a:t>𝑒</a:t>
            </a:r>
            <a:r>
              <a:rPr sz="1200" b="1" spc="5" dirty="0">
                <a:latin typeface="Cambria Math"/>
                <a:cs typeface="Cambria Math"/>
              </a:rPr>
              <a:t>𝑛</a:t>
            </a:r>
            <a:r>
              <a:rPr sz="1200" b="1" spc="-10" dirty="0">
                <a:latin typeface="Cambria Math"/>
                <a:cs typeface="Cambria Math"/>
              </a:rPr>
              <a:t>𝑡</a:t>
            </a:r>
            <a:r>
              <a:rPr sz="1200" b="1" dirty="0">
                <a:latin typeface="Cambria Math"/>
                <a:cs typeface="Cambria Math"/>
              </a:rPr>
              <a:t>𝑖𝑜𝑛 </a:t>
            </a:r>
            <a:r>
              <a:rPr sz="1200" b="1" spc="5" dirty="0">
                <a:latin typeface="Cambria Math"/>
                <a:cs typeface="Cambria Math"/>
              </a:rPr>
              <a:t> </a:t>
            </a:r>
            <a:r>
              <a:rPr sz="1200" b="1" spc="25" dirty="0">
                <a:latin typeface="Cambria Math"/>
                <a:cs typeface="Cambria Math"/>
              </a:rPr>
              <a:t>𝑄</a:t>
            </a:r>
            <a:r>
              <a:rPr sz="1200" b="1" dirty="0">
                <a:latin typeface="Cambria Math"/>
                <a:cs typeface="Cambria Math"/>
              </a:rPr>
              <a:t>,</a:t>
            </a:r>
            <a:r>
              <a:rPr sz="1200" b="1" spc="-70" dirty="0">
                <a:latin typeface="Cambria Math"/>
                <a:cs typeface="Cambria Math"/>
              </a:rPr>
              <a:t> </a:t>
            </a:r>
            <a:r>
              <a:rPr sz="1200" b="1" spc="35" dirty="0">
                <a:latin typeface="Cambria Math"/>
                <a:cs typeface="Cambria Math"/>
              </a:rPr>
              <a:t>𝐾</a:t>
            </a:r>
            <a:r>
              <a:rPr sz="1200" b="1" dirty="0">
                <a:latin typeface="Cambria Math"/>
                <a:cs typeface="Cambria Math"/>
              </a:rPr>
              <a:t>,</a:t>
            </a:r>
            <a:r>
              <a:rPr sz="1200" b="1" spc="-55" dirty="0">
                <a:latin typeface="Cambria Math"/>
                <a:cs typeface="Cambria Math"/>
              </a:rPr>
              <a:t> </a:t>
            </a:r>
            <a:r>
              <a:rPr sz="1200" b="1" dirty="0">
                <a:latin typeface="Cambria Math"/>
                <a:cs typeface="Cambria Math"/>
              </a:rPr>
              <a:t>𝑉</a:t>
            </a:r>
          </a:p>
        </p:txBody>
      </p:sp>
      <p:sp>
        <p:nvSpPr>
          <p:cNvPr id="9" name="object 8">
            <a:extLst>
              <a:ext uri="{FF2B5EF4-FFF2-40B4-BE49-F238E27FC236}">
                <a16:creationId xmlns:a16="http://schemas.microsoft.com/office/drawing/2014/main" id="{C5F025AE-4567-1139-E4E9-4ED5F443FDB9}"/>
              </a:ext>
            </a:extLst>
          </p:cNvPr>
          <p:cNvSpPr txBox="1"/>
          <p:nvPr/>
        </p:nvSpPr>
        <p:spPr>
          <a:xfrm>
            <a:off x="10087923" y="2246642"/>
            <a:ext cx="699770" cy="197490"/>
          </a:xfrm>
          <a:prstGeom prst="rect">
            <a:avLst/>
          </a:prstGeom>
        </p:spPr>
        <p:txBody>
          <a:bodyPr vert="horz" wrap="square" lIns="0" tIns="12700" rIns="0" bIns="0" rtlCol="0">
            <a:spAutoFit/>
          </a:bodyPr>
          <a:lstStyle/>
          <a:p>
            <a:pPr marL="12700">
              <a:lnSpc>
                <a:spcPct val="100000"/>
              </a:lnSpc>
              <a:spcBef>
                <a:spcPts val="100"/>
              </a:spcBef>
            </a:pPr>
            <a:r>
              <a:rPr sz="1200" b="1" dirty="0">
                <a:latin typeface="Cambria Math"/>
                <a:cs typeface="Cambria Math"/>
              </a:rPr>
              <a:t>=</a:t>
            </a:r>
            <a:r>
              <a:rPr sz="1200" b="1" spc="-5" dirty="0">
                <a:latin typeface="Cambria Math"/>
                <a:cs typeface="Cambria Math"/>
              </a:rPr>
              <a:t> softmax</a:t>
            </a:r>
            <a:endParaRPr sz="1200" b="1" dirty="0">
              <a:latin typeface="Cambria Math"/>
              <a:cs typeface="Cambria Math"/>
            </a:endParaRPr>
          </a:p>
        </p:txBody>
      </p:sp>
      <p:sp>
        <p:nvSpPr>
          <p:cNvPr id="10" name="object 9">
            <a:extLst>
              <a:ext uri="{FF2B5EF4-FFF2-40B4-BE49-F238E27FC236}">
                <a16:creationId xmlns:a16="http://schemas.microsoft.com/office/drawing/2014/main" id="{D6D45087-2D11-ECBF-1D2B-3B12414B0714}"/>
              </a:ext>
            </a:extLst>
          </p:cNvPr>
          <p:cNvSpPr/>
          <p:nvPr/>
        </p:nvSpPr>
        <p:spPr>
          <a:xfrm>
            <a:off x="10810808" y="2143060"/>
            <a:ext cx="462280" cy="450850"/>
          </a:xfrm>
          <a:custGeom>
            <a:avLst/>
            <a:gdLst/>
            <a:ahLst/>
            <a:cxnLst/>
            <a:rect l="l" t="t" r="r" b="b"/>
            <a:pathLst>
              <a:path w="462279" h="450850">
                <a:moveTo>
                  <a:pt x="76200" y="5334"/>
                </a:moveTo>
                <a:lnTo>
                  <a:pt x="41478" y="39077"/>
                </a:lnTo>
                <a:lnTo>
                  <a:pt x="18923" y="90424"/>
                </a:lnTo>
                <a:lnTo>
                  <a:pt x="4737" y="152717"/>
                </a:lnTo>
                <a:lnTo>
                  <a:pt x="0" y="225044"/>
                </a:lnTo>
                <a:lnTo>
                  <a:pt x="1181" y="262445"/>
                </a:lnTo>
                <a:lnTo>
                  <a:pt x="10655" y="329971"/>
                </a:lnTo>
                <a:lnTo>
                  <a:pt x="29273" y="387146"/>
                </a:lnTo>
                <a:lnTo>
                  <a:pt x="55511" y="432346"/>
                </a:lnTo>
                <a:lnTo>
                  <a:pt x="71374" y="450342"/>
                </a:lnTo>
                <a:lnTo>
                  <a:pt x="76200" y="445008"/>
                </a:lnTo>
                <a:lnTo>
                  <a:pt x="62001" y="426770"/>
                </a:lnTo>
                <a:lnTo>
                  <a:pt x="49682" y="405599"/>
                </a:lnTo>
                <a:lnTo>
                  <a:pt x="30607" y="354457"/>
                </a:lnTo>
                <a:lnTo>
                  <a:pt x="19062" y="293712"/>
                </a:lnTo>
                <a:lnTo>
                  <a:pt x="15240" y="224917"/>
                </a:lnTo>
                <a:lnTo>
                  <a:pt x="16192" y="189903"/>
                </a:lnTo>
                <a:lnTo>
                  <a:pt x="23863" y="125323"/>
                </a:lnTo>
                <a:lnTo>
                  <a:pt x="39230" y="68884"/>
                </a:lnTo>
                <a:lnTo>
                  <a:pt x="62001" y="23634"/>
                </a:lnTo>
                <a:lnTo>
                  <a:pt x="76200" y="5334"/>
                </a:lnTo>
                <a:close/>
              </a:path>
              <a:path w="462279" h="450850">
                <a:moveTo>
                  <a:pt x="381254" y="219964"/>
                </a:moveTo>
                <a:lnTo>
                  <a:pt x="81026" y="219964"/>
                </a:lnTo>
                <a:lnTo>
                  <a:pt x="81026" y="230632"/>
                </a:lnTo>
                <a:lnTo>
                  <a:pt x="381254" y="230632"/>
                </a:lnTo>
                <a:lnTo>
                  <a:pt x="381254" y="219964"/>
                </a:lnTo>
                <a:close/>
              </a:path>
              <a:path w="462279" h="450850">
                <a:moveTo>
                  <a:pt x="462280" y="224917"/>
                </a:moveTo>
                <a:lnTo>
                  <a:pt x="457530" y="152717"/>
                </a:lnTo>
                <a:lnTo>
                  <a:pt x="443357" y="90424"/>
                </a:lnTo>
                <a:lnTo>
                  <a:pt x="420839" y="39077"/>
                </a:lnTo>
                <a:lnTo>
                  <a:pt x="390906" y="0"/>
                </a:lnTo>
                <a:lnTo>
                  <a:pt x="386207" y="5334"/>
                </a:lnTo>
                <a:lnTo>
                  <a:pt x="400329" y="23634"/>
                </a:lnTo>
                <a:lnTo>
                  <a:pt x="412597" y="44805"/>
                </a:lnTo>
                <a:lnTo>
                  <a:pt x="431673" y="95885"/>
                </a:lnTo>
                <a:lnTo>
                  <a:pt x="443204" y="156654"/>
                </a:lnTo>
                <a:lnTo>
                  <a:pt x="447040" y="225044"/>
                </a:lnTo>
                <a:lnTo>
                  <a:pt x="446074" y="260362"/>
                </a:lnTo>
                <a:lnTo>
                  <a:pt x="438404" y="325081"/>
                </a:lnTo>
                <a:lnTo>
                  <a:pt x="423049" y="381482"/>
                </a:lnTo>
                <a:lnTo>
                  <a:pt x="400329" y="426770"/>
                </a:lnTo>
                <a:lnTo>
                  <a:pt x="386207" y="445008"/>
                </a:lnTo>
                <a:lnTo>
                  <a:pt x="390906" y="450342"/>
                </a:lnTo>
                <a:lnTo>
                  <a:pt x="420839" y="411276"/>
                </a:lnTo>
                <a:lnTo>
                  <a:pt x="443357" y="359918"/>
                </a:lnTo>
                <a:lnTo>
                  <a:pt x="457530" y="297472"/>
                </a:lnTo>
                <a:lnTo>
                  <a:pt x="461086" y="262445"/>
                </a:lnTo>
                <a:lnTo>
                  <a:pt x="462280" y="224917"/>
                </a:lnTo>
                <a:close/>
              </a:path>
            </a:pathLst>
          </a:custGeom>
          <a:solidFill>
            <a:srgbClr val="000000"/>
          </a:solidFill>
        </p:spPr>
        <p:txBody>
          <a:bodyPr wrap="square" lIns="0" tIns="0" rIns="0" bIns="0" rtlCol="0"/>
          <a:lstStyle/>
          <a:p>
            <a:endParaRPr b="1"/>
          </a:p>
        </p:txBody>
      </p:sp>
      <p:sp>
        <p:nvSpPr>
          <p:cNvPr id="11" name="object 10">
            <a:extLst>
              <a:ext uri="{FF2B5EF4-FFF2-40B4-BE49-F238E27FC236}">
                <a16:creationId xmlns:a16="http://schemas.microsoft.com/office/drawing/2014/main" id="{6A59A42E-F5BF-5891-83DC-5996856F3E81}"/>
              </a:ext>
            </a:extLst>
          </p:cNvPr>
          <p:cNvSpPr txBox="1"/>
          <p:nvPr/>
        </p:nvSpPr>
        <p:spPr>
          <a:xfrm>
            <a:off x="10882850" y="2147897"/>
            <a:ext cx="365760" cy="197490"/>
          </a:xfrm>
          <a:prstGeom prst="rect">
            <a:avLst/>
          </a:prstGeom>
        </p:spPr>
        <p:txBody>
          <a:bodyPr vert="horz" wrap="square" lIns="0" tIns="12700" rIns="0" bIns="0" rtlCol="0">
            <a:spAutoFit/>
          </a:bodyPr>
          <a:lstStyle/>
          <a:p>
            <a:pPr marL="38100">
              <a:lnSpc>
                <a:spcPct val="100000"/>
              </a:lnSpc>
              <a:spcBef>
                <a:spcPts val="100"/>
              </a:spcBef>
            </a:pPr>
            <a:r>
              <a:rPr sz="1200" b="1" spc="35" dirty="0">
                <a:latin typeface="Cambria Math"/>
                <a:cs typeface="Cambria Math"/>
              </a:rPr>
              <a:t>𝑄𝐾</a:t>
            </a:r>
            <a:r>
              <a:rPr sz="1275" b="1" spc="52" baseline="29411" dirty="0">
                <a:latin typeface="Cambria Math"/>
                <a:cs typeface="Cambria Math"/>
              </a:rPr>
              <a:t>𝑇</a:t>
            </a:r>
            <a:endParaRPr sz="1275" b="1" baseline="29411" dirty="0">
              <a:latin typeface="Cambria Math"/>
              <a:cs typeface="Cambria Math"/>
            </a:endParaRPr>
          </a:p>
        </p:txBody>
      </p:sp>
      <p:sp>
        <p:nvSpPr>
          <p:cNvPr id="12" name="object 11">
            <a:extLst>
              <a:ext uri="{FF2B5EF4-FFF2-40B4-BE49-F238E27FC236}">
                <a16:creationId xmlns:a16="http://schemas.microsoft.com/office/drawing/2014/main" id="{49697FF6-492A-0DEC-5525-9AD8A4C78202}"/>
              </a:ext>
            </a:extLst>
          </p:cNvPr>
          <p:cNvSpPr/>
          <p:nvPr/>
        </p:nvSpPr>
        <p:spPr>
          <a:xfrm>
            <a:off x="10905169" y="2402141"/>
            <a:ext cx="274955" cy="189230"/>
          </a:xfrm>
          <a:custGeom>
            <a:avLst/>
            <a:gdLst/>
            <a:ahLst/>
            <a:cxnLst/>
            <a:rect l="l" t="t" r="r" b="b"/>
            <a:pathLst>
              <a:path w="274954" h="189230">
                <a:moveTo>
                  <a:pt x="116204" y="0"/>
                </a:moveTo>
                <a:lnTo>
                  <a:pt x="95376" y="0"/>
                </a:lnTo>
                <a:lnTo>
                  <a:pt x="50165" y="169290"/>
                </a:lnTo>
                <a:lnTo>
                  <a:pt x="24383" y="111760"/>
                </a:lnTo>
                <a:lnTo>
                  <a:pt x="0" y="122936"/>
                </a:lnTo>
                <a:lnTo>
                  <a:pt x="2286" y="128524"/>
                </a:lnTo>
                <a:lnTo>
                  <a:pt x="14858" y="122936"/>
                </a:lnTo>
                <a:lnTo>
                  <a:pt x="45720" y="189229"/>
                </a:lnTo>
                <a:lnTo>
                  <a:pt x="52958" y="189229"/>
                </a:lnTo>
                <a:lnTo>
                  <a:pt x="101219" y="9905"/>
                </a:lnTo>
                <a:lnTo>
                  <a:pt x="110108" y="9905"/>
                </a:lnTo>
                <a:lnTo>
                  <a:pt x="110108" y="11175"/>
                </a:lnTo>
                <a:lnTo>
                  <a:pt x="274700" y="11175"/>
                </a:lnTo>
                <a:lnTo>
                  <a:pt x="274700" y="507"/>
                </a:lnTo>
                <a:lnTo>
                  <a:pt x="116204" y="507"/>
                </a:lnTo>
                <a:lnTo>
                  <a:pt x="116204" y="0"/>
                </a:lnTo>
                <a:close/>
              </a:path>
            </a:pathLst>
          </a:custGeom>
          <a:solidFill>
            <a:srgbClr val="000000"/>
          </a:solidFill>
        </p:spPr>
        <p:txBody>
          <a:bodyPr wrap="square" lIns="0" tIns="0" rIns="0" bIns="0" rtlCol="0"/>
          <a:lstStyle/>
          <a:p>
            <a:endParaRPr b="1"/>
          </a:p>
        </p:txBody>
      </p:sp>
      <p:sp>
        <p:nvSpPr>
          <p:cNvPr id="13" name="object 12">
            <a:extLst>
              <a:ext uri="{FF2B5EF4-FFF2-40B4-BE49-F238E27FC236}">
                <a16:creationId xmlns:a16="http://schemas.microsoft.com/office/drawing/2014/main" id="{ABA8A554-F49E-F704-8843-41A1C786CAF5}"/>
              </a:ext>
            </a:extLst>
          </p:cNvPr>
          <p:cNvSpPr txBox="1"/>
          <p:nvPr/>
        </p:nvSpPr>
        <p:spPr>
          <a:xfrm>
            <a:off x="10947714" y="2393332"/>
            <a:ext cx="232410" cy="197490"/>
          </a:xfrm>
          <a:prstGeom prst="rect">
            <a:avLst/>
          </a:prstGeom>
        </p:spPr>
        <p:txBody>
          <a:bodyPr vert="horz" wrap="square" lIns="0" tIns="12700" rIns="0" bIns="0" rtlCol="0">
            <a:spAutoFit/>
          </a:bodyPr>
          <a:lstStyle/>
          <a:p>
            <a:pPr marL="38100">
              <a:lnSpc>
                <a:spcPct val="100000"/>
              </a:lnSpc>
              <a:spcBef>
                <a:spcPts val="100"/>
              </a:spcBef>
            </a:pPr>
            <a:r>
              <a:rPr sz="1200" b="1" spc="25" dirty="0">
                <a:latin typeface="Cambria Math"/>
                <a:cs typeface="Cambria Math"/>
              </a:rPr>
              <a:t>𝑑</a:t>
            </a:r>
            <a:r>
              <a:rPr sz="1275" b="1" spc="37" baseline="-16339" dirty="0">
                <a:latin typeface="Cambria Math"/>
                <a:cs typeface="Cambria Math"/>
              </a:rPr>
              <a:t>𝑘</a:t>
            </a:r>
            <a:endParaRPr sz="1275" b="1" baseline="-16339" dirty="0">
              <a:latin typeface="Cambria Math"/>
              <a:cs typeface="Cambria Math"/>
            </a:endParaRPr>
          </a:p>
        </p:txBody>
      </p:sp>
      <p:sp>
        <p:nvSpPr>
          <p:cNvPr id="14" name="object 13">
            <a:extLst>
              <a:ext uri="{FF2B5EF4-FFF2-40B4-BE49-F238E27FC236}">
                <a16:creationId xmlns:a16="http://schemas.microsoft.com/office/drawing/2014/main" id="{D294BB9F-A42E-AA0D-EB0E-B358F63A4769}"/>
              </a:ext>
            </a:extLst>
          </p:cNvPr>
          <p:cNvSpPr txBox="1"/>
          <p:nvPr/>
        </p:nvSpPr>
        <p:spPr>
          <a:xfrm>
            <a:off x="11297980" y="2246642"/>
            <a:ext cx="121285" cy="197490"/>
          </a:xfrm>
          <a:prstGeom prst="rect">
            <a:avLst/>
          </a:prstGeom>
        </p:spPr>
        <p:txBody>
          <a:bodyPr vert="horz" wrap="square" lIns="0" tIns="12700" rIns="0" bIns="0" rtlCol="0">
            <a:spAutoFit/>
          </a:bodyPr>
          <a:lstStyle/>
          <a:p>
            <a:pPr marL="12700">
              <a:lnSpc>
                <a:spcPct val="100000"/>
              </a:lnSpc>
              <a:spcBef>
                <a:spcPts val="100"/>
              </a:spcBef>
            </a:pPr>
            <a:r>
              <a:rPr sz="1200" b="1" dirty="0">
                <a:latin typeface="Cambria Math"/>
                <a:cs typeface="Cambria Math"/>
              </a:rPr>
              <a:t>𝑉</a:t>
            </a:r>
            <a:endParaRPr sz="1200" b="1">
              <a:latin typeface="Cambria Math"/>
              <a:cs typeface="Cambria Math"/>
            </a:endParaRPr>
          </a:p>
        </p:txBody>
      </p:sp>
      <p:sp>
        <p:nvSpPr>
          <p:cNvPr id="15" name="object 21">
            <a:extLst>
              <a:ext uri="{FF2B5EF4-FFF2-40B4-BE49-F238E27FC236}">
                <a16:creationId xmlns:a16="http://schemas.microsoft.com/office/drawing/2014/main" id="{4A24F713-5143-9852-BAE0-DC3C5940BE81}"/>
              </a:ext>
            </a:extLst>
          </p:cNvPr>
          <p:cNvSpPr/>
          <p:nvPr/>
        </p:nvSpPr>
        <p:spPr>
          <a:xfrm>
            <a:off x="7342243" y="5807011"/>
            <a:ext cx="1495194" cy="180405"/>
          </a:xfrm>
          <a:custGeom>
            <a:avLst/>
            <a:gdLst/>
            <a:ahLst/>
            <a:cxnLst/>
            <a:rect l="l" t="t" r="r" b="b"/>
            <a:pathLst>
              <a:path w="1689100" h="247015">
                <a:moveTo>
                  <a:pt x="1688592" y="0"/>
                </a:moveTo>
                <a:lnTo>
                  <a:pt x="0" y="0"/>
                </a:lnTo>
                <a:lnTo>
                  <a:pt x="0" y="246888"/>
                </a:lnTo>
                <a:lnTo>
                  <a:pt x="1688592" y="246888"/>
                </a:lnTo>
                <a:lnTo>
                  <a:pt x="1688592" y="0"/>
                </a:lnTo>
                <a:close/>
              </a:path>
            </a:pathLst>
          </a:custGeom>
          <a:solidFill>
            <a:srgbClr val="D2F5F1"/>
          </a:solidFill>
        </p:spPr>
        <p:txBody>
          <a:bodyPr wrap="square" lIns="0" tIns="0" rIns="0" bIns="0" rtlCol="0"/>
          <a:lstStyle/>
          <a:p>
            <a:endParaRPr/>
          </a:p>
        </p:txBody>
      </p:sp>
      <p:sp>
        <p:nvSpPr>
          <p:cNvPr id="16" name="object 22">
            <a:extLst>
              <a:ext uri="{FF2B5EF4-FFF2-40B4-BE49-F238E27FC236}">
                <a16:creationId xmlns:a16="http://schemas.microsoft.com/office/drawing/2014/main" id="{9D6C2F63-9AB7-7E13-F146-0E726B4431D6}"/>
              </a:ext>
            </a:extLst>
          </p:cNvPr>
          <p:cNvSpPr txBox="1"/>
          <p:nvPr/>
        </p:nvSpPr>
        <p:spPr>
          <a:xfrm>
            <a:off x="7874000" y="5808346"/>
            <a:ext cx="313690" cy="179070"/>
          </a:xfrm>
          <a:prstGeom prst="rect">
            <a:avLst/>
          </a:prstGeom>
        </p:spPr>
        <p:txBody>
          <a:bodyPr vert="horz" wrap="square" lIns="0" tIns="7620" rIns="0" bIns="0" rtlCol="0">
            <a:spAutoFit/>
          </a:bodyPr>
          <a:lstStyle/>
          <a:p>
            <a:pPr marL="12700">
              <a:lnSpc>
                <a:spcPct val="100000"/>
              </a:lnSpc>
              <a:spcBef>
                <a:spcPts val="60"/>
              </a:spcBef>
            </a:pPr>
            <a:r>
              <a:rPr sz="1000" spc="-35" dirty="0">
                <a:latin typeface="Tahoma"/>
                <a:cs typeface="Tahoma"/>
              </a:rPr>
              <a:t>(6,</a:t>
            </a:r>
            <a:r>
              <a:rPr sz="1000" spc="-60" dirty="0">
                <a:latin typeface="Tahoma"/>
                <a:cs typeface="Tahoma"/>
              </a:rPr>
              <a:t> </a:t>
            </a:r>
            <a:r>
              <a:rPr sz="1000" spc="-35" dirty="0">
                <a:latin typeface="Tahoma"/>
                <a:cs typeface="Tahoma"/>
              </a:rPr>
              <a:t>6)</a:t>
            </a:r>
            <a:endParaRPr sz="1000" dirty="0">
              <a:latin typeface="Tahoma"/>
              <a:cs typeface="Tahoma"/>
            </a:endParaRPr>
          </a:p>
        </p:txBody>
      </p:sp>
      <p:sp>
        <p:nvSpPr>
          <p:cNvPr id="29" name="object 14">
            <a:extLst>
              <a:ext uri="{FF2B5EF4-FFF2-40B4-BE49-F238E27FC236}">
                <a16:creationId xmlns:a16="http://schemas.microsoft.com/office/drawing/2014/main" id="{D9880F4F-D990-7A84-6FF5-1EDD20C714B0}"/>
              </a:ext>
            </a:extLst>
          </p:cNvPr>
          <p:cNvSpPr txBox="1"/>
          <p:nvPr/>
        </p:nvSpPr>
        <p:spPr>
          <a:xfrm>
            <a:off x="1379006" y="3230505"/>
            <a:ext cx="1690370" cy="1456809"/>
          </a:xfrm>
          <a:prstGeom prst="rect">
            <a:avLst/>
          </a:prstGeom>
          <a:solidFill>
            <a:srgbClr val="D2F5F1"/>
          </a:solidFill>
        </p:spPr>
        <p:txBody>
          <a:bodyPr vert="horz" wrap="square" lIns="0" tIns="0" rIns="0" bIns="0" rtlCol="0">
            <a:spAutoFit/>
          </a:bodyPr>
          <a:lstStyle/>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gn="ctr">
              <a:lnSpc>
                <a:spcPct val="100000"/>
              </a:lnSpc>
              <a:spcBef>
                <a:spcPts val="1055"/>
              </a:spcBef>
            </a:pPr>
            <a:r>
              <a:rPr sz="1200" b="1" spc="100" dirty="0">
                <a:latin typeface="Tahoma"/>
                <a:cs typeface="Tahoma"/>
              </a:rPr>
              <a:t>Q</a:t>
            </a:r>
            <a:endParaRPr sz="1200" dirty="0">
              <a:latin typeface="Tahoma"/>
              <a:cs typeface="Tahoma"/>
            </a:endParaRPr>
          </a:p>
          <a:p>
            <a:pPr>
              <a:lnSpc>
                <a:spcPct val="100000"/>
              </a:lnSpc>
            </a:pPr>
            <a:endParaRPr sz="1400" dirty="0">
              <a:latin typeface="Tahoma"/>
              <a:cs typeface="Tahoma"/>
            </a:endParaRPr>
          </a:p>
          <a:p>
            <a:pPr algn="ctr">
              <a:lnSpc>
                <a:spcPct val="100000"/>
              </a:lnSpc>
              <a:spcBef>
                <a:spcPts val="905"/>
              </a:spcBef>
            </a:pPr>
            <a:r>
              <a:rPr sz="1000" spc="-35" dirty="0">
                <a:latin typeface="Tahoma"/>
                <a:cs typeface="Tahoma"/>
              </a:rPr>
              <a:t>(6,</a:t>
            </a:r>
            <a:r>
              <a:rPr sz="1000" spc="-60" dirty="0">
                <a:latin typeface="Tahoma"/>
                <a:cs typeface="Tahoma"/>
              </a:rPr>
              <a:t> </a:t>
            </a:r>
            <a:r>
              <a:rPr sz="1000" spc="25" dirty="0">
                <a:latin typeface="Tahoma"/>
                <a:cs typeface="Tahoma"/>
              </a:rPr>
              <a:t>4096</a:t>
            </a:r>
            <a:r>
              <a:rPr sz="1000" spc="-85" dirty="0">
                <a:latin typeface="Tahoma"/>
                <a:cs typeface="Tahoma"/>
              </a:rPr>
              <a:t>)</a:t>
            </a:r>
            <a:endParaRPr sz="1000" dirty="0">
              <a:latin typeface="Tahoma"/>
              <a:cs typeface="Tahoma"/>
            </a:endParaRPr>
          </a:p>
        </p:txBody>
      </p:sp>
      <p:sp>
        <p:nvSpPr>
          <p:cNvPr id="30" name="object 15">
            <a:extLst>
              <a:ext uri="{FF2B5EF4-FFF2-40B4-BE49-F238E27FC236}">
                <a16:creationId xmlns:a16="http://schemas.microsoft.com/office/drawing/2014/main" id="{0EEB39A7-DCE0-D948-D5D9-3F12F2239739}"/>
              </a:ext>
            </a:extLst>
          </p:cNvPr>
          <p:cNvSpPr txBox="1"/>
          <p:nvPr/>
        </p:nvSpPr>
        <p:spPr>
          <a:xfrm>
            <a:off x="3759494" y="3230505"/>
            <a:ext cx="1689100" cy="1454244"/>
          </a:xfrm>
          <a:prstGeom prst="rect">
            <a:avLst/>
          </a:prstGeom>
          <a:solidFill>
            <a:srgbClr val="D2F5F1"/>
          </a:solidFill>
        </p:spPr>
        <p:txBody>
          <a:bodyPr vert="horz" wrap="square" lIns="0" tIns="0" rIns="0" bIns="0" rtlCol="0">
            <a:spAutoFit/>
          </a:bodyPr>
          <a:lstStyle/>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spcBef>
                <a:spcPts val="15"/>
              </a:spcBef>
            </a:pPr>
            <a:endParaRPr sz="2000" dirty="0">
              <a:latin typeface="Times New Roman"/>
              <a:cs typeface="Times New Roman"/>
            </a:endParaRPr>
          </a:p>
          <a:p>
            <a:pPr algn="ctr">
              <a:lnSpc>
                <a:spcPct val="100000"/>
              </a:lnSpc>
              <a:spcBef>
                <a:spcPts val="5"/>
              </a:spcBef>
            </a:pPr>
            <a:r>
              <a:rPr sz="1800" b="1" spc="-15" baseline="-16203" dirty="0">
                <a:latin typeface="Tahoma"/>
                <a:cs typeface="Tahoma"/>
              </a:rPr>
              <a:t>K</a:t>
            </a:r>
            <a:r>
              <a:rPr sz="800" b="1" spc="-10" dirty="0">
                <a:latin typeface="Tahoma"/>
                <a:cs typeface="Tahoma"/>
              </a:rPr>
              <a:t>T</a:t>
            </a:r>
            <a:endParaRPr sz="800" dirty="0">
              <a:latin typeface="Tahoma"/>
              <a:cs typeface="Tahoma"/>
            </a:endParaRPr>
          </a:p>
          <a:p>
            <a:pPr>
              <a:lnSpc>
                <a:spcPct val="100000"/>
              </a:lnSpc>
            </a:pPr>
            <a:endParaRPr sz="1400" dirty="0">
              <a:latin typeface="Tahoma"/>
              <a:cs typeface="Tahoma"/>
            </a:endParaRPr>
          </a:p>
          <a:p>
            <a:pPr>
              <a:lnSpc>
                <a:spcPct val="100000"/>
              </a:lnSpc>
              <a:spcBef>
                <a:spcPts val="5"/>
              </a:spcBef>
            </a:pPr>
            <a:endParaRPr sz="1050" dirty="0">
              <a:latin typeface="Tahoma"/>
              <a:cs typeface="Tahoma"/>
            </a:endParaRPr>
          </a:p>
          <a:p>
            <a:pPr algn="ctr">
              <a:lnSpc>
                <a:spcPct val="100000"/>
              </a:lnSpc>
            </a:pPr>
            <a:r>
              <a:rPr sz="1000" dirty="0">
                <a:latin typeface="Tahoma"/>
                <a:cs typeface="Tahoma"/>
              </a:rPr>
              <a:t>(40</a:t>
            </a:r>
            <a:r>
              <a:rPr sz="1000" spc="-5" dirty="0">
                <a:latin typeface="Tahoma"/>
                <a:cs typeface="Tahoma"/>
              </a:rPr>
              <a:t>9</a:t>
            </a:r>
            <a:r>
              <a:rPr sz="1000" spc="-15" dirty="0">
                <a:latin typeface="Tahoma"/>
                <a:cs typeface="Tahoma"/>
              </a:rPr>
              <a:t>6</a:t>
            </a:r>
            <a:r>
              <a:rPr sz="1000" spc="-5" dirty="0">
                <a:latin typeface="Tahoma"/>
                <a:cs typeface="Tahoma"/>
              </a:rPr>
              <a:t>,</a:t>
            </a:r>
            <a:r>
              <a:rPr sz="1000" spc="-75" dirty="0">
                <a:latin typeface="Tahoma"/>
                <a:cs typeface="Tahoma"/>
              </a:rPr>
              <a:t> </a:t>
            </a:r>
            <a:r>
              <a:rPr sz="1000" spc="-35" dirty="0">
                <a:latin typeface="Tahoma"/>
                <a:cs typeface="Tahoma"/>
              </a:rPr>
              <a:t>6)</a:t>
            </a:r>
            <a:endParaRPr sz="1000" dirty="0">
              <a:latin typeface="Tahoma"/>
              <a:cs typeface="Tahoma"/>
            </a:endParaRPr>
          </a:p>
        </p:txBody>
      </p:sp>
      <p:sp>
        <p:nvSpPr>
          <p:cNvPr id="31" name="object 16">
            <a:extLst>
              <a:ext uri="{FF2B5EF4-FFF2-40B4-BE49-F238E27FC236}">
                <a16:creationId xmlns:a16="http://schemas.microsoft.com/office/drawing/2014/main" id="{B4A29531-7489-272B-7A36-EEF8F7F1172D}"/>
              </a:ext>
            </a:extLst>
          </p:cNvPr>
          <p:cNvSpPr txBox="1"/>
          <p:nvPr/>
        </p:nvSpPr>
        <p:spPr>
          <a:xfrm>
            <a:off x="3375192" y="3916128"/>
            <a:ext cx="173990" cy="300355"/>
          </a:xfrm>
          <a:prstGeom prst="rect">
            <a:avLst/>
          </a:prstGeom>
        </p:spPr>
        <p:txBody>
          <a:bodyPr vert="horz" wrap="square" lIns="0" tIns="12700" rIns="0" bIns="0" rtlCol="0">
            <a:spAutoFit/>
          </a:bodyPr>
          <a:lstStyle/>
          <a:p>
            <a:pPr marL="12700">
              <a:lnSpc>
                <a:spcPct val="100000"/>
              </a:lnSpc>
              <a:spcBef>
                <a:spcPts val="100"/>
              </a:spcBef>
            </a:pPr>
            <a:r>
              <a:rPr sz="1800" spc="120" dirty="0">
                <a:latin typeface="Tahoma"/>
                <a:cs typeface="Tahoma"/>
              </a:rPr>
              <a:t>X</a:t>
            </a:r>
            <a:endParaRPr sz="1800">
              <a:latin typeface="Tahoma"/>
              <a:cs typeface="Tahoma"/>
            </a:endParaRPr>
          </a:p>
        </p:txBody>
      </p:sp>
      <p:sp>
        <p:nvSpPr>
          <p:cNvPr id="32" name="object 17">
            <a:extLst>
              <a:ext uri="{FF2B5EF4-FFF2-40B4-BE49-F238E27FC236}">
                <a16:creationId xmlns:a16="http://schemas.microsoft.com/office/drawing/2014/main" id="{1871C5B2-7596-5895-37C6-901A95C43532}"/>
              </a:ext>
            </a:extLst>
          </p:cNvPr>
          <p:cNvSpPr txBox="1"/>
          <p:nvPr/>
        </p:nvSpPr>
        <p:spPr>
          <a:xfrm>
            <a:off x="5751617" y="3916763"/>
            <a:ext cx="177800" cy="299720"/>
          </a:xfrm>
          <a:prstGeom prst="rect">
            <a:avLst/>
          </a:prstGeom>
        </p:spPr>
        <p:txBody>
          <a:bodyPr vert="horz" wrap="square" lIns="0" tIns="12700" rIns="0" bIns="0" rtlCol="0">
            <a:spAutoFit/>
          </a:bodyPr>
          <a:lstStyle/>
          <a:p>
            <a:pPr marL="12700">
              <a:lnSpc>
                <a:spcPct val="100000"/>
              </a:lnSpc>
              <a:spcBef>
                <a:spcPts val="100"/>
              </a:spcBef>
            </a:pPr>
            <a:r>
              <a:rPr sz="1800" spc="-114" dirty="0">
                <a:latin typeface="Tahoma"/>
                <a:cs typeface="Tahoma"/>
              </a:rPr>
              <a:t>=</a:t>
            </a:r>
            <a:endParaRPr sz="1800" dirty="0">
              <a:latin typeface="Tahoma"/>
              <a:cs typeface="Tahoma"/>
            </a:endParaRPr>
          </a:p>
        </p:txBody>
      </p:sp>
      <p:sp>
        <p:nvSpPr>
          <p:cNvPr id="33" name="object 18">
            <a:extLst>
              <a:ext uri="{FF2B5EF4-FFF2-40B4-BE49-F238E27FC236}">
                <a16:creationId xmlns:a16="http://schemas.microsoft.com/office/drawing/2014/main" id="{DB77CBED-C0BA-8B28-9A9C-F2EA1E24D3A1}"/>
              </a:ext>
            </a:extLst>
          </p:cNvPr>
          <p:cNvSpPr/>
          <p:nvPr/>
        </p:nvSpPr>
        <p:spPr>
          <a:xfrm>
            <a:off x="1383578" y="5085214"/>
            <a:ext cx="4062095" cy="0"/>
          </a:xfrm>
          <a:custGeom>
            <a:avLst/>
            <a:gdLst/>
            <a:ahLst/>
            <a:cxnLst/>
            <a:rect l="l" t="t" r="r" b="b"/>
            <a:pathLst>
              <a:path w="4062095">
                <a:moveTo>
                  <a:pt x="0" y="0"/>
                </a:moveTo>
                <a:lnTo>
                  <a:pt x="4061968" y="0"/>
                </a:lnTo>
              </a:path>
            </a:pathLst>
          </a:custGeom>
          <a:ln w="6350">
            <a:solidFill>
              <a:srgbClr val="ED7660"/>
            </a:solidFill>
          </a:ln>
        </p:spPr>
        <p:txBody>
          <a:bodyPr wrap="square" lIns="0" tIns="0" rIns="0" bIns="0" rtlCol="0"/>
          <a:lstStyle/>
          <a:p>
            <a:endParaRPr/>
          </a:p>
        </p:txBody>
      </p:sp>
      <p:sp>
        <p:nvSpPr>
          <p:cNvPr id="34" name="object 19">
            <a:extLst>
              <a:ext uri="{FF2B5EF4-FFF2-40B4-BE49-F238E27FC236}">
                <a16:creationId xmlns:a16="http://schemas.microsoft.com/office/drawing/2014/main" id="{DC85DC46-8773-BF96-27EA-E0F6289F55AA}"/>
              </a:ext>
            </a:extLst>
          </p:cNvPr>
          <p:cNvSpPr/>
          <p:nvPr/>
        </p:nvSpPr>
        <p:spPr>
          <a:xfrm>
            <a:off x="3157769" y="5294509"/>
            <a:ext cx="654685" cy="220345"/>
          </a:xfrm>
          <a:custGeom>
            <a:avLst/>
            <a:gdLst/>
            <a:ahLst/>
            <a:cxnLst/>
            <a:rect l="l" t="t" r="r" b="b"/>
            <a:pathLst>
              <a:path w="654685" h="220345">
                <a:moveTo>
                  <a:pt x="131190" y="0"/>
                </a:moveTo>
                <a:lnTo>
                  <a:pt x="76072" y="190499"/>
                </a:lnTo>
                <a:lnTo>
                  <a:pt x="36702" y="103885"/>
                </a:lnTo>
                <a:lnTo>
                  <a:pt x="0" y="120649"/>
                </a:lnTo>
                <a:lnTo>
                  <a:pt x="3556" y="129031"/>
                </a:lnTo>
                <a:lnTo>
                  <a:pt x="22351" y="120649"/>
                </a:lnTo>
                <a:lnTo>
                  <a:pt x="68579" y="219963"/>
                </a:lnTo>
                <a:lnTo>
                  <a:pt x="79375" y="219963"/>
                </a:lnTo>
                <a:lnTo>
                  <a:pt x="139445" y="14858"/>
                </a:lnTo>
                <a:lnTo>
                  <a:pt x="147065" y="14858"/>
                </a:lnTo>
                <a:lnTo>
                  <a:pt x="147065" y="15366"/>
                </a:lnTo>
                <a:lnTo>
                  <a:pt x="654557" y="15366"/>
                </a:lnTo>
                <a:lnTo>
                  <a:pt x="654557" y="126"/>
                </a:lnTo>
                <a:lnTo>
                  <a:pt x="131190" y="0"/>
                </a:lnTo>
                <a:close/>
              </a:path>
            </a:pathLst>
          </a:custGeom>
          <a:solidFill>
            <a:srgbClr val="000000"/>
          </a:solidFill>
        </p:spPr>
        <p:txBody>
          <a:bodyPr wrap="square" lIns="0" tIns="0" rIns="0" bIns="0" rtlCol="0"/>
          <a:lstStyle/>
          <a:p>
            <a:endParaRPr/>
          </a:p>
        </p:txBody>
      </p:sp>
      <p:sp>
        <p:nvSpPr>
          <p:cNvPr id="35" name="object 20">
            <a:extLst>
              <a:ext uri="{FF2B5EF4-FFF2-40B4-BE49-F238E27FC236}">
                <a16:creationId xmlns:a16="http://schemas.microsoft.com/office/drawing/2014/main" id="{13BCE9DD-4A77-131D-E2C1-0B0ADF7BE371}"/>
              </a:ext>
            </a:extLst>
          </p:cNvPr>
          <p:cNvSpPr txBox="1"/>
          <p:nvPr/>
        </p:nvSpPr>
        <p:spPr>
          <a:xfrm>
            <a:off x="3292642" y="5261743"/>
            <a:ext cx="53149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mbria Math"/>
                <a:cs typeface="Cambria Math"/>
              </a:rPr>
              <a:t>4096</a:t>
            </a:r>
            <a:endParaRPr sz="1800">
              <a:latin typeface="Cambria Math"/>
              <a:cs typeface="Cambria Math"/>
            </a:endParaRPr>
          </a:p>
        </p:txBody>
      </p:sp>
      <p:graphicFrame>
        <p:nvGraphicFramePr>
          <p:cNvPr id="17" name="object 4">
            <a:extLst>
              <a:ext uri="{FF2B5EF4-FFF2-40B4-BE49-F238E27FC236}">
                <a16:creationId xmlns:a16="http://schemas.microsoft.com/office/drawing/2014/main" id="{33682061-939F-4278-9BE8-B75F6648B687}"/>
              </a:ext>
            </a:extLst>
          </p:cNvPr>
          <p:cNvGraphicFramePr>
            <a:graphicFrameLocks noGrp="1"/>
          </p:cNvGraphicFramePr>
          <p:nvPr>
            <p:extLst>
              <p:ext uri="{D42A27DB-BD31-4B8C-83A1-F6EECF244321}">
                <p14:modId xmlns:p14="http://schemas.microsoft.com/office/powerpoint/2010/main" val="2946404161"/>
              </p:ext>
            </p:extLst>
          </p:nvPr>
        </p:nvGraphicFramePr>
        <p:xfrm>
          <a:off x="6232440" y="2593910"/>
          <a:ext cx="3468260" cy="3127370"/>
        </p:xfrm>
        <a:graphic>
          <a:graphicData uri="http://schemas.openxmlformats.org/drawingml/2006/table">
            <a:tbl>
              <a:tblPr firstRow="1" bandRow="1">
                <a:tableStyleId>{2D5ABB26-0587-4C30-8999-92F81FD0307C}</a:tableStyleId>
              </a:tblPr>
              <a:tblGrid>
                <a:gridCol w="473632">
                  <a:extLst>
                    <a:ext uri="{9D8B030D-6E8A-4147-A177-3AD203B41FA5}">
                      <a16:colId xmlns:a16="http://schemas.microsoft.com/office/drawing/2014/main" val="20000"/>
                    </a:ext>
                  </a:extLst>
                </a:gridCol>
                <a:gridCol w="499104">
                  <a:extLst>
                    <a:ext uri="{9D8B030D-6E8A-4147-A177-3AD203B41FA5}">
                      <a16:colId xmlns:a16="http://schemas.microsoft.com/office/drawing/2014/main" val="20001"/>
                    </a:ext>
                  </a:extLst>
                </a:gridCol>
                <a:gridCol w="499105">
                  <a:extLst>
                    <a:ext uri="{9D8B030D-6E8A-4147-A177-3AD203B41FA5}">
                      <a16:colId xmlns:a16="http://schemas.microsoft.com/office/drawing/2014/main" val="20002"/>
                    </a:ext>
                  </a:extLst>
                </a:gridCol>
                <a:gridCol w="499105">
                  <a:extLst>
                    <a:ext uri="{9D8B030D-6E8A-4147-A177-3AD203B41FA5}">
                      <a16:colId xmlns:a16="http://schemas.microsoft.com/office/drawing/2014/main" val="20003"/>
                    </a:ext>
                  </a:extLst>
                </a:gridCol>
                <a:gridCol w="499105">
                  <a:extLst>
                    <a:ext uri="{9D8B030D-6E8A-4147-A177-3AD203B41FA5}">
                      <a16:colId xmlns:a16="http://schemas.microsoft.com/office/drawing/2014/main" val="20004"/>
                    </a:ext>
                  </a:extLst>
                </a:gridCol>
                <a:gridCol w="499105">
                  <a:extLst>
                    <a:ext uri="{9D8B030D-6E8A-4147-A177-3AD203B41FA5}">
                      <a16:colId xmlns:a16="http://schemas.microsoft.com/office/drawing/2014/main" val="20005"/>
                    </a:ext>
                  </a:extLst>
                </a:gridCol>
                <a:gridCol w="499104">
                  <a:extLst>
                    <a:ext uri="{9D8B030D-6E8A-4147-A177-3AD203B41FA5}">
                      <a16:colId xmlns:a16="http://schemas.microsoft.com/office/drawing/2014/main" val="20006"/>
                    </a:ext>
                  </a:extLst>
                </a:gridCol>
              </a:tblGrid>
              <a:tr h="446743">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1270" algn="ctr">
                        <a:lnSpc>
                          <a:spcPct val="100000"/>
                        </a:lnSpc>
                        <a:spcBef>
                          <a:spcPts val="5"/>
                        </a:spcBef>
                      </a:pPr>
                      <a:r>
                        <a:rPr sz="600" b="1" spc="-10" dirty="0">
                          <a:latin typeface="Tahoma"/>
                          <a:cs typeface="Tahoma"/>
                        </a:rPr>
                        <a:t>THE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1905" algn="ctr">
                        <a:lnSpc>
                          <a:spcPct val="100000"/>
                        </a:lnSpc>
                        <a:spcBef>
                          <a:spcPts val="5"/>
                        </a:spcBef>
                      </a:pPr>
                      <a:r>
                        <a:rPr sz="600" b="1" spc="5" dirty="0">
                          <a:latin typeface="Tahoma"/>
                          <a:cs typeface="Tahoma"/>
                        </a:rPr>
                        <a:t>CAT</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1270" algn="ctr">
                        <a:lnSpc>
                          <a:spcPct val="100000"/>
                        </a:lnSpc>
                        <a:spcBef>
                          <a:spcPts val="5"/>
                        </a:spcBef>
                      </a:pPr>
                      <a:r>
                        <a:rPr sz="600" b="1" spc="-65" dirty="0">
                          <a:latin typeface="Tahoma"/>
                          <a:cs typeface="Tahoma"/>
                        </a:rPr>
                        <a:t>IS</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635" algn="ctr">
                        <a:lnSpc>
                          <a:spcPct val="100000"/>
                        </a:lnSpc>
                        <a:spcBef>
                          <a:spcPts val="5"/>
                        </a:spcBef>
                      </a:pPr>
                      <a:r>
                        <a:rPr sz="600" b="1" spc="35" dirty="0">
                          <a:latin typeface="Tahoma"/>
                          <a:cs typeface="Tahoma"/>
                        </a:rPr>
                        <a:t>ON</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2540" algn="ctr">
                        <a:lnSpc>
                          <a:spcPct val="100000"/>
                        </a:lnSpc>
                        <a:spcBef>
                          <a:spcPts val="5"/>
                        </a:spcBef>
                      </a:pPr>
                      <a:r>
                        <a:rPr sz="600" b="1" dirty="0">
                          <a:latin typeface="Tahoma"/>
                          <a:cs typeface="Tahoma"/>
                        </a:rPr>
                        <a:t>A</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2540" algn="ctr">
                        <a:lnSpc>
                          <a:spcPct val="100000"/>
                        </a:lnSpc>
                        <a:spcBef>
                          <a:spcPts val="5"/>
                        </a:spcBef>
                      </a:pPr>
                      <a:r>
                        <a:rPr sz="600" b="1" spc="-25" dirty="0">
                          <a:latin typeface="Tahoma"/>
                          <a:cs typeface="Tahoma"/>
                        </a:rPr>
                        <a:t>CHAIR</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extLst>
                  <a:ext uri="{0D108BD9-81ED-4DB2-BD59-A6C34878D82A}">
                    <a16:rowId xmlns:a16="http://schemas.microsoft.com/office/drawing/2014/main" val="10000"/>
                  </a:ext>
                </a:extLst>
              </a:tr>
              <a:tr h="446742">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spc="-10" dirty="0">
                          <a:latin typeface="Tahoma"/>
                          <a:cs typeface="Tahoma"/>
                        </a:rPr>
                        <a:t>THE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5"/>
                        </a:spcBef>
                      </a:pPr>
                      <a:endParaRPr sz="1250">
                        <a:latin typeface="Times New Roman"/>
                        <a:cs typeface="Times New Roman"/>
                      </a:endParaRPr>
                    </a:p>
                    <a:p>
                      <a:pPr marL="635" algn="ctr">
                        <a:lnSpc>
                          <a:spcPct val="100000"/>
                        </a:lnSpc>
                        <a:spcBef>
                          <a:spcPts val="5"/>
                        </a:spcBef>
                      </a:pPr>
                      <a:r>
                        <a:rPr sz="1000" spc="10" dirty="0">
                          <a:latin typeface="Tahoma"/>
                          <a:cs typeface="Tahoma"/>
                        </a:rPr>
                        <a:t>0.268</a:t>
                      </a:r>
                      <a:endParaRPr sz="1000">
                        <a:latin typeface="Tahoma"/>
                        <a:cs typeface="Tahoma"/>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1590"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dirty="0">
                        <a:latin typeface="Times New Roman"/>
                        <a:cs typeface="Times New Roman"/>
                      </a:endParaRPr>
                    </a:p>
                    <a:p>
                      <a:pPr marR="21590" algn="ctr">
                        <a:lnSpc>
                          <a:spcPct val="100000"/>
                        </a:lnSpc>
                      </a:pPr>
                      <a:r>
                        <a:rPr sz="1000" spc="-10" dirty="0">
                          <a:solidFill>
                            <a:srgbClr val="E23717"/>
                          </a:solidFill>
                          <a:latin typeface="Cambria Math"/>
                          <a:cs typeface="Cambria Math"/>
                        </a:rPr>
                        <a:t>−∞</a:t>
                      </a:r>
                      <a:endParaRPr sz="1000" dirty="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0955"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1590"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0955"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1"/>
                  </a:ext>
                </a:extLst>
              </a:tr>
              <a:tr h="446742">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635" algn="ctr">
                        <a:lnSpc>
                          <a:spcPct val="100000"/>
                        </a:lnSpc>
                      </a:pPr>
                      <a:r>
                        <a:rPr sz="600" b="1" spc="5" dirty="0">
                          <a:latin typeface="Tahoma"/>
                          <a:cs typeface="Tahoma"/>
                        </a:rPr>
                        <a:t>CAT</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marL="635" algn="ctr">
                        <a:lnSpc>
                          <a:spcPct val="100000"/>
                        </a:lnSpc>
                      </a:pPr>
                      <a:r>
                        <a:rPr sz="1000" spc="10" dirty="0">
                          <a:latin typeface="Tahoma"/>
                          <a:cs typeface="Tahoma"/>
                        </a:rPr>
                        <a:t>0.124</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0.278</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1590"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0955"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1590"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0955"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2"/>
                  </a:ext>
                </a:extLst>
              </a:tr>
              <a:tr h="446851">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spc="-65" dirty="0">
                          <a:latin typeface="Tahoma"/>
                          <a:cs typeface="Tahoma"/>
                        </a:rPr>
                        <a:t>IS</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marL="635" algn="ctr">
                        <a:lnSpc>
                          <a:spcPct val="100000"/>
                        </a:lnSpc>
                      </a:pPr>
                      <a:r>
                        <a:rPr sz="1000" spc="10" dirty="0">
                          <a:latin typeface="Tahoma"/>
                          <a:cs typeface="Tahoma"/>
                        </a:rPr>
                        <a:t>0.147</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0.132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0.262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0955"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dirty="0">
                        <a:latin typeface="Times New Roman"/>
                        <a:cs typeface="Times New Roman"/>
                      </a:endParaRPr>
                    </a:p>
                    <a:p>
                      <a:pPr marR="21590" algn="ctr">
                        <a:lnSpc>
                          <a:spcPct val="100000"/>
                        </a:lnSpc>
                      </a:pPr>
                      <a:r>
                        <a:rPr sz="1000" spc="-10" dirty="0">
                          <a:solidFill>
                            <a:srgbClr val="E23717"/>
                          </a:solidFill>
                          <a:latin typeface="Cambria Math"/>
                          <a:cs typeface="Cambria Math"/>
                        </a:rPr>
                        <a:t>−∞</a:t>
                      </a:r>
                      <a:endParaRPr sz="1000" dirty="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0955"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3"/>
                  </a:ext>
                </a:extLst>
              </a:tr>
              <a:tr h="446742">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spcBef>
                          <a:spcPts val="5"/>
                        </a:spcBef>
                      </a:pPr>
                      <a:r>
                        <a:rPr sz="600" b="1" spc="35" dirty="0">
                          <a:latin typeface="Tahoma"/>
                          <a:cs typeface="Tahoma"/>
                        </a:rPr>
                        <a:t>ON</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20"/>
                        </a:spcBef>
                      </a:pPr>
                      <a:endParaRPr sz="1250">
                        <a:latin typeface="Times New Roman"/>
                        <a:cs typeface="Times New Roman"/>
                      </a:endParaRPr>
                    </a:p>
                    <a:p>
                      <a:pPr marR="21590" algn="ctr">
                        <a:lnSpc>
                          <a:spcPct val="100000"/>
                        </a:lnSpc>
                        <a:spcBef>
                          <a:spcPts val="5"/>
                        </a:spcBef>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0.128</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0.206</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0.212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1590" algn="ctr">
                        <a:lnSpc>
                          <a:spcPct val="100000"/>
                        </a:lnSpc>
                        <a:spcBef>
                          <a:spcPts val="5"/>
                        </a:spcBef>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0955" algn="ctr">
                        <a:lnSpc>
                          <a:spcPct val="100000"/>
                        </a:lnSpc>
                        <a:spcBef>
                          <a:spcPts val="5"/>
                        </a:spcBef>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4"/>
                  </a:ext>
                </a:extLst>
              </a:tr>
              <a:tr h="446775">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1270" algn="ctr">
                        <a:lnSpc>
                          <a:spcPct val="100000"/>
                        </a:lnSpc>
                      </a:pPr>
                      <a:r>
                        <a:rPr sz="600" b="1" dirty="0">
                          <a:latin typeface="Tahoma"/>
                          <a:cs typeface="Tahoma"/>
                        </a:rPr>
                        <a:t>A</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25"/>
                        </a:spcBef>
                      </a:pPr>
                      <a:endParaRPr sz="1250">
                        <a:latin typeface="Times New Roman"/>
                        <a:cs typeface="Times New Roman"/>
                      </a:endParaRPr>
                    </a:p>
                    <a:p>
                      <a:pPr marR="21590"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1590"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spcBef>
                          <a:spcPts val="5"/>
                        </a:spcBef>
                      </a:pPr>
                      <a:r>
                        <a:rPr sz="1000" spc="10" dirty="0">
                          <a:latin typeface="Tahoma"/>
                          <a:cs typeface="Tahoma"/>
                        </a:rPr>
                        <a:t>0.152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spcBef>
                          <a:spcPts val="5"/>
                        </a:spcBef>
                      </a:pPr>
                      <a:r>
                        <a:rPr sz="1000" spc="10" dirty="0">
                          <a:latin typeface="Tahoma"/>
                          <a:cs typeface="Tahoma"/>
                        </a:rPr>
                        <a:t>0.143</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spcBef>
                          <a:spcPts val="5"/>
                        </a:spcBef>
                      </a:pPr>
                      <a:r>
                        <a:rPr sz="1000" spc="10" dirty="0">
                          <a:latin typeface="Tahoma"/>
                          <a:cs typeface="Tahoma"/>
                        </a:rPr>
                        <a:t>0.227</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0955"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5"/>
                  </a:ext>
                </a:extLst>
              </a:tr>
              <a:tr h="446775">
                <a:tc>
                  <a:txBody>
                    <a:bodyPr/>
                    <a:lstStyle/>
                    <a:p>
                      <a:pPr>
                        <a:lnSpc>
                          <a:spcPct val="100000"/>
                        </a:lnSpc>
                      </a:pPr>
                      <a:endParaRPr sz="700">
                        <a:latin typeface="Times New Roman"/>
                        <a:cs typeface="Times New Roman"/>
                      </a:endParaRPr>
                    </a:p>
                    <a:p>
                      <a:pPr>
                        <a:lnSpc>
                          <a:spcPct val="100000"/>
                        </a:lnSpc>
                        <a:spcBef>
                          <a:spcPts val="15"/>
                        </a:spcBef>
                      </a:pPr>
                      <a:endParaRPr sz="750">
                        <a:latin typeface="Times New Roman"/>
                        <a:cs typeface="Times New Roman"/>
                      </a:endParaRPr>
                    </a:p>
                    <a:p>
                      <a:pPr marL="635" algn="ctr">
                        <a:lnSpc>
                          <a:spcPct val="100000"/>
                        </a:lnSpc>
                      </a:pPr>
                      <a:r>
                        <a:rPr sz="600" b="1" spc="-25" dirty="0">
                          <a:latin typeface="Tahoma"/>
                          <a:cs typeface="Tahoma"/>
                        </a:rPr>
                        <a:t>CHAIR</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25"/>
                        </a:spcBef>
                      </a:pPr>
                      <a:endParaRPr sz="1250">
                        <a:latin typeface="Times New Roman"/>
                        <a:cs typeface="Times New Roman"/>
                      </a:endParaRPr>
                    </a:p>
                    <a:p>
                      <a:pPr marR="21590"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1590"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1590"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0.103</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0.157</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dirty="0">
                        <a:latin typeface="Times New Roman"/>
                        <a:cs typeface="Times New Roman"/>
                      </a:endParaRPr>
                    </a:p>
                    <a:p>
                      <a:pPr marL="1905" algn="ctr">
                        <a:lnSpc>
                          <a:spcPct val="100000"/>
                        </a:lnSpc>
                      </a:pPr>
                      <a:r>
                        <a:rPr sz="1000" spc="10" dirty="0">
                          <a:latin typeface="Tahoma"/>
                          <a:cs typeface="Tahoma"/>
                        </a:rPr>
                        <a:t>0.229</a:t>
                      </a:r>
                      <a:endParaRPr sz="1000" dirty="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29437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FEEF0-C371-5982-B37F-ECEB90833A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FDC3A7-BD83-2CBC-267F-7B4D8AA3ED8E}"/>
              </a:ext>
            </a:extLst>
          </p:cNvPr>
          <p:cNvSpPr>
            <a:spLocks noGrp="1"/>
          </p:cNvSpPr>
          <p:nvPr>
            <p:ph type="title"/>
          </p:nvPr>
        </p:nvSpPr>
        <p:spPr>
          <a:xfrm>
            <a:off x="669552" y="594335"/>
            <a:ext cx="10863635" cy="639153"/>
          </a:xfrm>
        </p:spPr>
        <p:txBody>
          <a:bodyPr/>
          <a:lstStyle/>
          <a:p>
            <a:r>
              <a:rPr lang="en-IN" dirty="0"/>
              <a:t>Sliding Window Attention: Takeaways</a:t>
            </a:r>
          </a:p>
        </p:txBody>
      </p:sp>
      <p:sp>
        <p:nvSpPr>
          <p:cNvPr id="3" name="Content Placeholder 2">
            <a:extLst>
              <a:ext uri="{FF2B5EF4-FFF2-40B4-BE49-F238E27FC236}">
                <a16:creationId xmlns:a16="http://schemas.microsoft.com/office/drawing/2014/main" id="{BC116D37-8AFC-2BDC-E72E-FA1712C99A76}"/>
              </a:ext>
            </a:extLst>
          </p:cNvPr>
          <p:cNvSpPr>
            <a:spLocks noGrp="1"/>
          </p:cNvSpPr>
          <p:nvPr>
            <p:ph idx="1"/>
          </p:nvPr>
        </p:nvSpPr>
        <p:spPr>
          <a:xfrm>
            <a:off x="669552" y="1665743"/>
            <a:ext cx="10863635" cy="4427081"/>
          </a:xfrm>
        </p:spPr>
        <p:txBody>
          <a:bodyPr>
            <a:normAutofit/>
          </a:bodyPr>
          <a:lstStyle/>
          <a:p>
            <a:pPr>
              <a:spcBef>
                <a:spcPts val="600"/>
              </a:spcBef>
              <a:spcAft>
                <a:spcPts val="600"/>
              </a:spcAft>
            </a:pPr>
            <a:r>
              <a:rPr lang="en-US" sz="2400" dirty="0">
                <a:solidFill>
                  <a:srgbClr val="161A3E"/>
                </a:solidFill>
              </a:rPr>
              <a:t>Reduces the number of dot-products to perform, and thus, performance during training and inference.</a:t>
            </a:r>
          </a:p>
          <a:p>
            <a:pPr>
              <a:spcBef>
                <a:spcPts val="600"/>
              </a:spcBef>
              <a:spcAft>
                <a:spcPts val="600"/>
              </a:spcAft>
            </a:pPr>
            <a:r>
              <a:rPr lang="en-US" sz="2400" dirty="0">
                <a:solidFill>
                  <a:srgbClr val="161A3E"/>
                </a:solidFill>
              </a:rPr>
              <a:t>Sliding window attention may lead to degradation in the performance of the model, as some “interactions” between tokens will not be  captured.</a:t>
            </a:r>
            <a:br>
              <a:rPr lang="en-US" sz="2400" dirty="0">
                <a:solidFill>
                  <a:srgbClr val="161A3E"/>
                </a:solidFill>
              </a:rPr>
            </a:br>
            <a:r>
              <a:rPr lang="en-US" sz="2400" dirty="0">
                <a:solidFill>
                  <a:srgbClr val="161A3E"/>
                </a:solidFill>
              </a:rPr>
              <a:t>The model mostly focuses on the </a:t>
            </a:r>
            <a:r>
              <a:rPr lang="en-US" sz="2400" b="1" dirty="0">
                <a:solidFill>
                  <a:srgbClr val="161A3E"/>
                </a:solidFill>
              </a:rPr>
              <a:t>local context</a:t>
            </a:r>
            <a:r>
              <a:rPr lang="en-US" sz="2400" dirty="0">
                <a:solidFill>
                  <a:srgbClr val="161A3E"/>
                </a:solidFill>
              </a:rPr>
              <a:t>, which depending on the size of the window, is enough for most cases.</a:t>
            </a:r>
            <a:br>
              <a:rPr lang="en-US" sz="2400" dirty="0">
                <a:solidFill>
                  <a:srgbClr val="161A3E"/>
                </a:solidFill>
              </a:rPr>
            </a:br>
            <a:r>
              <a:rPr lang="en-US" sz="2400" dirty="0">
                <a:solidFill>
                  <a:srgbClr val="161A3E"/>
                </a:solidFill>
              </a:rPr>
              <a:t>This makes sense if you think about a book: the words in a paragraph on chapter number 5 depend on the paragraphs in the same  chapter but may be totally unrelated to the words used in chapter 1.</a:t>
            </a:r>
          </a:p>
          <a:p>
            <a:pPr>
              <a:spcBef>
                <a:spcPts val="600"/>
              </a:spcBef>
              <a:spcAft>
                <a:spcPts val="600"/>
              </a:spcAft>
            </a:pPr>
            <a:r>
              <a:rPr lang="en-US" sz="2400" dirty="0">
                <a:solidFill>
                  <a:srgbClr val="161A3E"/>
                </a:solidFill>
              </a:rPr>
              <a:t>Sliding window attention can still allow one token to watch tokens outside the window, using a reasoning similar to the </a:t>
            </a:r>
            <a:r>
              <a:rPr lang="en-US" sz="2400" b="1" dirty="0">
                <a:solidFill>
                  <a:srgbClr val="161A3E"/>
                </a:solidFill>
              </a:rPr>
              <a:t>receptive field </a:t>
            </a:r>
            <a:r>
              <a:rPr lang="en-US" sz="2400" dirty="0">
                <a:solidFill>
                  <a:srgbClr val="161A3E"/>
                </a:solidFill>
              </a:rPr>
              <a:t>in convolutional neural networks.</a:t>
            </a:r>
          </a:p>
        </p:txBody>
      </p:sp>
    </p:spTree>
    <p:extLst>
      <p:ext uri="{BB962C8B-B14F-4D97-AF65-F5344CB8AC3E}">
        <p14:creationId xmlns:p14="http://schemas.microsoft.com/office/powerpoint/2010/main" val="2192271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4006B-17AC-B7DD-5BFE-65DAB11E11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E6A55C-57C6-419B-656E-03A9B56BBC19}"/>
              </a:ext>
            </a:extLst>
          </p:cNvPr>
          <p:cNvSpPr>
            <a:spLocks noGrp="1"/>
          </p:cNvSpPr>
          <p:nvPr>
            <p:ph type="title"/>
          </p:nvPr>
        </p:nvSpPr>
        <p:spPr>
          <a:xfrm>
            <a:off x="669552" y="594335"/>
            <a:ext cx="10863635" cy="639153"/>
          </a:xfrm>
        </p:spPr>
        <p:txBody>
          <a:bodyPr/>
          <a:lstStyle/>
          <a:p>
            <a:r>
              <a:rPr lang="en-IN" dirty="0"/>
              <a:t>Receptive field in CNNs</a:t>
            </a:r>
          </a:p>
        </p:txBody>
      </p:sp>
      <p:grpSp>
        <p:nvGrpSpPr>
          <p:cNvPr id="4" name="object 3"/>
          <p:cNvGrpSpPr/>
          <p:nvPr/>
        </p:nvGrpSpPr>
        <p:grpSpPr>
          <a:xfrm>
            <a:off x="744198" y="2391219"/>
            <a:ext cx="4285179" cy="2775627"/>
            <a:chOff x="2324100" y="2558795"/>
            <a:chExt cx="3815079" cy="2644140"/>
          </a:xfrm>
        </p:grpSpPr>
        <p:pic>
          <p:nvPicPr>
            <p:cNvPr id="5" name="object 4"/>
            <p:cNvPicPr/>
            <p:nvPr/>
          </p:nvPicPr>
          <p:blipFill>
            <a:blip r:embed="rId2" cstate="print"/>
            <a:stretch>
              <a:fillRect/>
            </a:stretch>
          </p:blipFill>
          <p:spPr>
            <a:xfrm>
              <a:off x="2324100" y="2558795"/>
              <a:ext cx="3528060" cy="2644140"/>
            </a:xfrm>
            <a:prstGeom prst="rect">
              <a:avLst/>
            </a:prstGeom>
          </p:spPr>
        </p:pic>
        <p:sp>
          <p:nvSpPr>
            <p:cNvPr id="6" name="object 5"/>
            <p:cNvSpPr/>
            <p:nvPr/>
          </p:nvSpPr>
          <p:spPr>
            <a:xfrm>
              <a:off x="5344667" y="3771518"/>
              <a:ext cx="794385" cy="171450"/>
            </a:xfrm>
            <a:custGeom>
              <a:avLst/>
              <a:gdLst/>
              <a:ahLst/>
              <a:cxnLst/>
              <a:rect l="l" t="t" r="r" b="b"/>
              <a:pathLst>
                <a:path w="794385" h="171450">
                  <a:moveTo>
                    <a:pt x="171450" y="0"/>
                  </a:moveTo>
                  <a:lnTo>
                    <a:pt x="0" y="85724"/>
                  </a:lnTo>
                  <a:lnTo>
                    <a:pt x="171450" y="171449"/>
                  </a:lnTo>
                  <a:lnTo>
                    <a:pt x="171450" y="114299"/>
                  </a:lnTo>
                  <a:lnTo>
                    <a:pt x="142875" y="114299"/>
                  </a:lnTo>
                  <a:lnTo>
                    <a:pt x="142875" y="57149"/>
                  </a:lnTo>
                  <a:lnTo>
                    <a:pt x="171450" y="57149"/>
                  </a:lnTo>
                  <a:lnTo>
                    <a:pt x="171450" y="0"/>
                  </a:lnTo>
                  <a:close/>
                </a:path>
                <a:path w="794385" h="171450">
                  <a:moveTo>
                    <a:pt x="171450" y="57149"/>
                  </a:moveTo>
                  <a:lnTo>
                    <a:pt x="142875" y="57149"/>
                  </a:lnTo>
                  <a:lnTo>
                    <a:pt x="142875" y="114299"/>
                  </a:lnTo>
                  <a:lnTo>
                    <a:pt x="171450" y="114299"/>
                  </a:lnTo>
                  <a:lnTo>
                    <a:pt x="171450" y="57149"/>
                  </a:lnTo>
                  <a:close/>
                </a:path>
                <a:path w="794385" h="171450">
                  <a:moveTo>
                    <a:pt x="794258" y="57149"/>
                  </a:moveTo>
                  <a:lnTo>
                    <a:pt x="171450" y="57149"/>
                  </a:lnTo>
                  <a:lnTo>
                    <a:pt x="171450" y="114299"/>
                  </a:lnTo>
                  <a:lnTo>
                    <a:pt x="794258" y="114299"/>
                  </a:lnTo>
                  <a:lnTo>
                    <a:pt x="794258" y="57149"/>
                  </a:lnTo>
                  <a:close/>
                </a:path>
              </a:pathLst>
            </a:custGeom>
            <a:solidFill>
              <a:srgbClr val="ED7660"/>
            </a:solidFill>
          </p:spPr>
          <p:txBody>
            <a:bodyPr wrap="square" lIns="0" tIns="0" rIns="0" bIns="0" rtlCol="0"/>
            <a:lstStyle/>
            <a:p>
              <a:endParaRPr/>
            </a:p>
          </p:txBody>
        </p:sp>
      </p:grpSp>
      <p:sp>
        <p:nvSpPr>
          <p:cNvPr id="7" name="object 7"/>
          <p:cNvSpPr txBox="1"/>
          <p:nvPr/>
        </p:nvSpPr>
        <p:spPr>
          <a:xfrm>
            <a:off x="5403271" y="2545150"/>
            <a:ext cx="6037457" cy="2598147"/>
          </a:xfrm>
          <a:prstGeom prst="rect">
            <a:avLst/>
          </a:prstGeom>
        </p:spPr>
        <p:txBody>
          <a:bodyPr vert="horz" wrap="square" lIns="0" tIns="12700" rIns="0" bIns="0" rtlCol="0">
            <a:spAutoFit/>
          </a:bodyPr>
          <a:lstStyle/>
          <a:p>
            <a:pPr marL="12700" marR="5080">
              <a:lnSpc>
                <a:spcPct val="100000"/>
              </a:lnSpc>
              <a:spcBef>
                <a:spcPts val="100"/>
              </a:spcBef>
            </a:pPr>
            <a:r>
              <a:rPr sz="2400" dirty="0">
                <a:cs typeface="Tahoma"/>
              </a:rPr>
              <a:t>This</a:t>
            </a:r>
            <a:r>
              <a:rPr sz="2400" spc="-55" dirty="0">
                <a:cs typeface="Tahoma"/>
              </a:rPr>
              <a:t> </a:t>
            </a:r>
            <a:r>
              <a:rPr sz="2400" dirty="0">
                <a:cs typeface="Tahoma"/>
              </a:rPr>
              <a:t>feature</a:t>
            </a:r>
            <a:r>
              <a:rPr sz="2400" spc="-65" dirty="0">
                <a:cs typeface="Tahoma"/>
              </a:rPr>
              <a:t> </a:t>
            </a:r>
            <a:r>
              <a:rPr sz="2400" spc="55" dirty="0">
                <a:cs typeface="Tahoma"/>
              </a:rPr>
              <a:t>depends</a:t>
            </a:r>
            <a:r>
              <a:rPr sz="2400" spc="-50" dirty="0">
                <a:cs typeface="Tahoma"/>
              </a:rPr>
              <a:t> </a:t>
            </a:r>
            <a:r>
              <a:rPr sz="2400" b="1" spc="-20" dirty="0">
                <a:cs typeface="Tahoma"/>
              </a:rPr>
              <a:t>directly</a:t>
            </a:r>
            <a:r>
              <a:rPr sz="2400" b="1" spc="-80" dirty="0">
                <a:cs typeface="Tahoma"/>
              </a:rPr>
              <a:t> </a:t>
            </a:r>
            <a:r>
              <a:rPr sz="2400" spc="55" dirty="0">
                <a:cs typeface="Tahoma"/>
              </a:rPr>
              <a:t>on</a:t>
            </a:r>
            <a:r>
              <a:rPr sz="2400" spc="-65" dirty="0">
                <a:cs typeface="Tahoma"/>
              </a:rPr>
              <a:t> </a:t>
            </a:r>
            <a:r>
              <a:rPr sz="2400" spc="40" dirty="0">
                <a:cs typeface="Tahoma"/>
              </a:rPr>
              <a:t>9</a:t>
            </a:r>
            <a:r>
              <a:rPr sz="2400" spc="-65" dirty="0">
                <a:cs typeface="Tahoma"/>
              </a:rPr>
              <a:t> </a:t>
            </a:r>
            <a:r>
              <a:rPr sz="2400" dirty="0">
                <a:cs typeface="Tahoma"/>
              </a:rPr>
              <a:t>features</a:t>
            </a:r>
            <a:r>
              <a:rPr sz="2400" spc="-55" dirty="0">
                <a:cs typeface="Tahoma"/>
              </a:rPr>
              <a:t> </a:t>
            </a:r>
            <a:r>
              <a:rPr sz="2400" spc="25" dirty="0">
                <a:cs typeface="Tahoma"/>
              </a:rPr>
              <a:t>of</a:t>
            </a:r>
            <a:r>
              <a:rPr sz="2400" spc="-50" dirty="0">
                <a:cs typeface="Tahoma"/>
              </a:rPr>
              <a:t> </a:t>
            </a:r>
            <a:r>
              <a:rPr sz="2400" spc="20" dirty="0">
                <a:cs typeface="Tahoma"/>
              </a:rPr>
              <a:t>the</a:t>
            </a:r>
            <a:r>
              <a:rPr sz="2400" spc="-80" dirty="0">
                <a:cs typeface="Tahoma"/>
              </a:rPr>
              <a:t> </a:t>
            </a:r>
            <a:r>
              <a:rPr sz="2400" spc="25" dirty="0">
                <a:cs typeface="Tahoma"/>
              </a:rPr>
              <a:t>previous</a:t>
            </a:r>
            <a:r>
              <a:rPr sz="2400" spc="-45" dirty="0">
                <a:cs typeface="Tahoma"/>
              </a:rPr>
              <a:t> </a:t>
            </a:r>
            <a:r>
              <a:rPr sz="2400" dirty="0">
                <a:cs typeface="Tahoma"/>
              </a:rPr>
              <a:t>layers,</a:t>
            </a:r>
            <a:r>
              <a:rPr sz="2400" spc="-85" dirty="0">
                <a:cs typeface="Tahoma"/>
              </a:rPr>
              <a:t> </a:t>
            </a:r>
            <a:r>
              <a:rPr sz="2400" spc="30" dirty="0">
                <a:cs typeface="Tahoma"/>
              </a:rPr>
              <a:t>but </a:t>
            </a:r>
            <a:r>
              <a:rPr sz="2400" spc="35" dirty="0">
                <a:cs typeface="Tahoma"/>
              </a:rPr>
              <a:t> </a:t>
            </a:r>
            <a:r>
              <a:rPr sz="2400" b="1" spc="-20" dirty="0">
                <a:cs typeface="Tahoma"/>
              </a:rPr>
              <a:t>indirectly </a:t>
            </a:r>
            <a:r>
              <a:rPr sz="2400" spc="50" dirty="0">
                <a:cs typeface="Tahoma"/>
              </a:rPr>
              <a:t>on </a:t>
            </a:r>
            <a:r>
              <a:rPr sz="2400" spc="15" dirty="0">
                <a:cs typeface="Tahoma"/>
              </a:rPr>
              <a:t>all </a:t>
            </a:r>
            <a:r>
              <a:rPr sz="2400" spc="20" dirty="0">
                <a:cs typeface="Tahoma"/>
              </a:rPr>
              <a:t>the </a:t>
            </a:r>
            <a:r>
              <a:rPr sz="2400" dirty="0">
                <a:cs typeface="Tahoma"/>
              </a:rPr>
              <a:t>features </a:t>
            </a:r>
            <a:r>
              <a:rPr sz="2400" spc="25" dirty="0">
                <a:cs typeface="Tahoma"/>
              </a:rPr>
              <a:t>of </a:t>
            </a:r>
            <a:r>
              <a:rPr sz="2400" spc="20" dirty="0">
                <a:cs typeface="Tahoma"/>
              </a:rPr>
              <a:t>the </a:t>
            </a:r>
            <a:r>
              <a:rPr sz="2400" spc="15" dirty="0">
                <a:cs typeface="Tahoma"/>
              </a:rPr>
              <a:t>initial </a:t>
            </a:r>
            <a:r>
              <a:rPr sz="2400" dirty="0">
                <a:cs typeface="Tahoma"/>
              </a:rPr>
              <a:t>layers, </a:t>
            </a:r>
            <a:r>
              <a:rPr sz="2400" spc="25" dirty="0">
                <a:cs typeface="Tahoma"/>
              </a:rPr>
              <a:t>since each </a:t>
            </a:r>
            <a:r>
              <a:rPr sz="2400" dirty="0">
                <a:cs typeface="Tahoma"/>
              </a:rPr>
              <a:t>feature </a:t>
            </a:r>
            <a:r>
              <a:rPr sz="2400" spc="25" dirty="0">
                <a:cs typeface="Tahoma"/>
              </a:rPr>
              <a:t>of </a:t>
            </a:r>
            <a:r>
              <a:rPr sz="2400" spc="-360" dirty="0">
                <a:cs typeface="Tahoma"/>
              </a:rPr>
              <a:t> </a:t>
            </a:r>
            <a:r>
              <a:rPr sz="2400" spc="15" dirty="0">
                <a:cs typeface="Tahoma"/>
              </a:rPr>
              <a:t>the</a:t>
            </a:r>
            <a:r>
              <a:rPr sz="2400" spc="-70" dirty="0">
                <a:cs typeface="Tahoma"/>
              </a:rPr>
              <a:t> </a:t>
            </a:r>
            <a:r>
              <a:rPr sz="2400" spc="25" dirty="0">
                <a:cs typeface="Tahoma"/>
              </a:rPr>
              <a:t>intermediate</a:t>
            </a:r>
            <a:r>
              <a:rPr sz="2400" spc="-70" dirty="0">
                <a:cs typeface="Tahoma"/>
              </a:rPr>
              <a:t> </a:t>
            </a:r>
            <a:r>
              <a:rPr sz="2400" spc="10" dirty="0">
                <a:cs typeface="Tahoma"/>
              </a:rPr>
              <a:t>layer</a:t>
            </a:r>
            <a:r>
              <a:rPr sz="2400" spc="-60" dirty="0">
                <a:cs typeface="Tahoma"/>
              </a:rPr>
              <a:t> </a:t>
            </a:r>
            <a:r>
              <a:rPr sz="2400" spc="60" dirty="0">
                <a:cs typeface="Tahoma"/>
              </a:rPr>
              <a:t>depends</a:t>
            </a:r>
            <a:r>
              <a:rPr sz="2400" spc="-60" dirty="0">
                <a:cs typeface="Tahoma"/>
              </a:rPr>
              <a:t> </a:t>
            </a:r>
            <a:r>
              <a:rPr sz="2400" spc="50" dirty="0">
                <a:cs typeface="Tahoma"/>
              </a:rPr>
              <a:t>on</a:t>
            </a:r>
            <a:r>
              <a:rPr sz="2400" spc="-65" dirty="0">
                <a:cs typeface="Tahoma"/>
              </a:rPr>
              <a:t> </a:t>
            </a:r>
            <a:r>
              <a:rPr sz="2400" spc="40" dirty="0">
                <a:cs typeface="Tahoma"/>
              </a:rPr>
              <a:t>9</a:t>
            </a:r>
            <a:r>
              <a:rPr sz="2400" spc="-60" dirty="0">
                <a:cs typeface="Tahoma"/>
              </a:rPr>
              <a:t> </a:t>
            </a:r>
            <a:r>
              <a:rPr sz="2400" dirty="0">
                <a:cs typeface="Tahoma"/>
              </a:rPr>
              <a:t>features</a:t>
            </a:r>
            <a:r>
              <a:rPr sz="2400" spc="-55" dirty="0">
                <a:cs typeface="Tahoma"/>
              </a:rPr>
              <a:t> </a:t>
            </a:r>
            <a:r>
              <a:rPr sz="2400" spc="25" dirty="0">
                <a:cs typeface="Tahoma"/>
              </a:rPr>
              <a:t>of</a:t>
            </a:r>
            <a:r>
              <a:rPr sz="2400" spc="-40" dirty="0">
                <a:cs typeface="Tahoma"/>
              </a:rPr>
              <a:t> </a:t>
            </a:r>
            <a:r>
              <a:rPr sz="2400" spc="15" dirty="0">
                <a:cs typeface="Tahoma"/>
              </a:rPr>
              <a:t>the</a:t>
            </a:r>
            <a:r>
              <a:rPr sz="2400" spc="-70" dirty="0">
                <a:cs typeface="Tahoma"/>
              </a:rPr>
              <a:t> </a:t>
            </a:r>
            <a:r>
              <a:rPr sz="2400" spc="25" dirty="0">
                <a:cs typeface="Tahoma"/>
              </a:rPr>
              <a:t>previous</a:t>
            </a:r>
            <a:r>
              <a:rPr sz="2400" spc="-45" dirty="0">
                <a:cs typeface="Tahoma"/>
              </a:rPr>
              <a:t> </a:t>
            </a:r>
            <a:r>
              <a:rPr sz="2400" spc="-10" dirty="0">
                <a:cs typeface="Tahoma"/>
              </a:rPr>
              <a:t>layer.</a:t>
            </a:r>
            <a:r>
              <a:rPr sz="2400" spc="-120" dirty="0">
                <a:cs typeface="Tahoma"/>
              </a:rPr>
              <a:t> </a:t>
            </a:r>
            <a:r>
              <a:rPr sz="2400" dirty="0">
                <a:cs typeface="Tahoma"/>
              </a:rPr>
              <a:t>This </a:t>
            </a:r>
            <a:r>
              <a:rPr sz="2400" spc="-360" dirty="0">
                <a:cs typeface="Tahoma"/>
              </a:rPr>
              <a:t> </a:t>
            </a:r>
            <a:r>
              <a:rPr sz="2400" spc="20" dirty="0">
                <a:cs typeface="Tahoma"/>
              </a:rPr>
              <a:t>means</a:t>
            </a:r>
            <a:r>
              <a:rPr sz="2400" spc="-60" dirty="0">
                <a:cs typeface="Tahoma"/>
              </a:rPr>
              <a:t> </a:t>
            </a:r>
            <a:r>
              <a:rPr sz="2400" spc="-10" dirty="0">
                <a:cs typeface="Tahoma"/>
              </a:rPr>
              <a:t>that</a:t>
            </a:r>
            <a:r>
              <a:rPr sz="2400" spc="-85" dirty="0">
                <a:cs typeface="Tahoma"/>
              </a:rPr>
              <a:t> </a:t>
            </a:r>
            <a:r>
              <a:rPr sz="2400" spc="10" dirty="0">
                <a:cs typeface="Tahoma"/>
              </a:rPr>
              <a:t>a</a:t>
            </a:r>
            <a:r>
              <a:rPr sz="2400" spc="-70" dirty="0">
                <a:cs typeface="Tahoma"/>
              </a:rPr>
              <a:t> </a:t>
            </a:r>
            <a:r>
              <a:rPr sz="2400" spc="40" dirty="0">
                <a:cs typeface="Tahoma"/>
              </a:rPr>
              <a:t>change</a:t>
            </a:r>
            <a:r>
              <a:rPr sz="2400" spc="-65" dirty="0">
                <a:cs typeface="Tahoma"/>
              </a:rPr>
              <a:t> </a:t>
            </a:r>
            <a:r>
              <a:rPr sz="2400" spc="25" dirty="0">
                <a:cs typeface="Tahoma"/>
              </a:rPr>
              <a:t>in</a:t>
            </a:r>
            <a:r>
              <a:rPr sz="2400" spc="-70" dirty="0">
                <a:cs typeface="Tahoma"/>
              </a:rPr>
              <a:t> </a:t>
            </a:r>
            <a:r>
              <a:rPr sz="2400" spc="5" dirty="0">
                <a:cs typeface="Tahoma"/>
              </a:rPr>
              <a:t>any</a:t>
            </a:r>
            <a:r>
              <a:rPr sz="2400" spc="-80" dirty="0">
                <a:cs typeface="Tahoma"/>
              </a:rPr>
              <a:t> </a:t>
            </a:r>
            <a:r>
              <a:rPr sz="2400" spc="25" dirty="0">
                <a:cs typeface="Tahoma"/>
              </a:rPr>
              <a:t>of</a:t>
            </a:r>
            <a:r>
              <a:rPr sz="2400" spc="-50" dirty="0">
                <a:cs typeface="Tahoma"/>
              </a:rPr>
              <a:t> </a:t>
            </a:r>
            <a:r>
              <a:rPr sz="2400" spc="15" dirty="0">
                <a:cs typeface="Tahoma"/>
              </a:rPr>
              <a:t>the</a:t>
            </a:r>
            <a:r>
              <a:rPr sz="2400" spc="-70" dirty="0">
                <a:cs typeface="Tahoma"/>
              </a:rPr>
              <a:t> </a:t>
            </a:r>
            <a:r>
              <a:rPr sz="2400" dirty="0">
                <a:cs typeface="Tahoma"/>
              </a:rPr>
              <a:t>features</a:t>
            </a:r>
            <a:r>
              <a:rPr sz="2400" spc="-60" dirty="0">
                <a:cs typeface="Tahoma"/>
              </a:rPr>
              <a:t> </a:t>
            </a:r>
            <a:r>
              <a:rPr sz="2400" spc="25" dirty="0">
                <a:cs typeface="Tahoma"/>
              </a:rPr>
              <a:t>of</a:t>
            </a:r>
            <a:r>
              <a:rPr sz="2400" spc="-50" dirty="0">
                <a:cs typeface="Tahoma"/>
              </a:rPr>
              <a:t> </a:t>
            </a:r>
            <a:r>
              <a:rPr sz="2400" spc="15" dirty="0">
                <a:cs typeface="Tahoma"/>
              </a:rPr>
              <a:t>the</a:t>
            </a:r>
            <a:r>
              <a:rPr sz="2400" spc="-75" dirty="0">
                <a:cs typeface="Tahoma"/>
              </a:rPr>
              <a:t> </a:t>
            </a:r>
            <a:r>
              <a:rPr sz="2400" spc="10" dirty="0">
                <a:cs typeface="Tahoma"/>
              </a:rPr>
              <a:t>layer</a:t>
            </a:r>
            <a:r>
              <a:rPr sz="2400" spc="-60" dirty="0">
                <a:cs typeface="Tahoma"/>
              </a:rPr>
              <a:t> </a:t>
            </a:r>
            <a:r>
              <a:rPr sz="2400" spc="40" dirty="0">
                <a:cs typeface="Tahoma"/>
              </a:rPr>
              <a:t>1</a:t>
            </a:r>
            <a:r>
              <a:rPr sz="2400" spc="-80" dirty="0">
                <a:cs typeface="Tahoma"/>
              </a:rPr>
              <a:t> </a:t>
            </a:r>
            <a:r>
              <a:rPr sz="2400" spc="20" dirty="0">
                <a:cs typeface="Tahoma"/>
              </a:rPr>
              <a:t>will</a:t>
            </a:r>
            <a:r>
              <a:rPr sz="2400" spc="-80" dirty="0">
                <a:cs typeface="Tahoma"/>
              </a:rPr>
              <a:t> </a:t>
            </a:r>
            <a:r>
              <a:rPr sz="2400" spc="25" dirty="0">
                <a:cs typeface="Tahoma"/>
              </a:rPr>
              <a:t>influence </a:t>
            </a:r>
            <a:r>
              <a:rPr sz="2400" spc="30" dirty="0">
                <a:cs typeface="Tahoma"/>
              </a:rPr>
              <a:t> </a:t>
            </a:r>
            <a:r>
              <a:rPr sz="2400" spc="5" dirty="0">
                <a:cs typeface="Tahoma"/>
              </a:rPr>
              <a:t>this</a:t>
            </a:r>
            <a:r>
              <a:rPr sz="2400" spc="-85" dirty="0">
                <a:cs typeface="Tahoma"/>
              </a:rPr>
              <a:t> </a:t>
            </a:r>
            <a:r>
              <a:rPr sz="2400" dirty="0">
                <a:cs typeface="Tahoma"/>
              </a:rPr>
              <a:t>features</a:t>
            </a:r>
            <a:r>
              <a:rPr sz="2400" spc="-50" dirty="0">
                <a:cs typeface="Tahoma"/>
              </a:rPr>
              <a:t> </a:t>
            </a:r>
            <a:r>
              <a:rPr sz="2400" dirty="0">
                <a:cs typeface="Tahoma"/>
              </a:rPr>
              <a:t>as</a:t>
            </a:r>
            <a:r>
              <a:rPr sz="2400" spc="-70" dirty="0">
                <a:cs typeface="Tahoma"/>
              </a:rPr>
              <a:t> </a:t>
            </a:r>
            <a:r>
              <a:rPr sz="2400" spc="10" dirty="0">
                <a:cs typeface="Tahoma"/>
              </a:rPr>
              <a:t>well.</a:t>
            </a:r>
            <a:endParaRPr sz="2400" dirty="0">
              <a:cs typeface="Tahoma"/>
            </a:endParaRPr>
          </a:p>
        </p:txBody>
      </p:sp>
    </p:spTree>
    <p:extLst>
      <p:ext uri="{BB962C8B-B14F-4D97-AF65-F5344CB8AC3E}">
        <p14:creationId xmlns:p14="http://schemas.microsoft.com/office/powerpoint/2010/main" val="1483568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491AD-995C-F9F9-BA9D-494953C92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77B879-9422-5475-03AA-95D6EF512301}"/>
              </a:ext>
            </a:extLst>
          </p:cNvPr>
          <p:cNvSpPr>
            <a:spLocks noGrp="1"/>
          </p:cNvSpPr>
          <p:nvPr>
            <p:ph type="title"/>
          </p:nvPr>
        </p:nvSpPr>
        <p:spPr>
          <a:xfrm>
            <a:off x="669552" y="594335"/>
            <a:ext cx="10863635" cy="639153"/>
          </a:xfrm>
        </p:spPr>
        <p:txBody>
          <a:bodyPr/>
          <a:lstStyle/>
          <a:p>
            <a:r>
              <a:rPr lang="en-US" dirty="0"/>
              <a:t>Sliding Window Attention: Information Flow (1)</a:t>
            </a:r>
            <a:endParaRPr lang="en-IN" dirty="0"/>
          </a:p>
        </p:txBody>
      </p:sp>
      <p:sp>
        <p:nvSpPr>
          <p:cNvPr id="3" name="Content Placeholder 2">
            <a:extLst>
              <a:ext uri="{FF2B5EF4-FFF2-40B4-BE49-F238E27FC236}">
                <a16:creationId xmlns:a16="http://schemas.microsoft.com/office/drawing/2014/main" id="{D057345E-B5F7-2D5A-0234-8073D8E8A079}"/>
              </a:ext>
            </a:extLst>
          </p:cNvPr>
          <p:cNvSpPr>
            <a:spLocks noGrp="1"/>
          </p:cNvSpPr>
          <p:nvPr>
            <p:ph idx="1"/>
          </p:nvPr>
        </p:nvSpPr>
        <p:spPr>
          <a:xfrm>
            <a:off x="678884" y="1675075"/>
            <a:ext cx="10854304" cy="4398066"/>
          </a:xfrm>
        </p:spPr>
        <p:txBody>
          <a:bodyPr>
            <a:normAutofit/>
          </a:bodyPr>
          <a:lstStyle/>
          <a:p>
            <a:pPr marL="0" indent="0">
              <a:buNone/>
            </a:pPr>
            <a:r>
              <a:rPr lang="en-US" sz="1600" dirty="0">
                <a:solidFill>
                  <a:srgbClr val="161A3E"/>
                </a:solidFill>
              </a:rPr>
              <a:t>After applying the </a:t>
            </a:r>
            <a:r>
              <a:rPr lang="en-US" sz="1600" dirty="0" err="1">
                <a:solidFill>
                  <a:srgbClr val="161A3E"/>
                </a:solidFill>
              </a:rPr>
              <a:t>softmax</a:t>
            </a:r>
            <a:r>
              <a:rPr lang="en-US" sz="1600" dirty="0">
                <a:solidFill>
                  <a:srgbClr val="161A3E"/>
                </a:solidFill>
              </a:rPr>
              <a:t>, all the –Infinity have become 0, while the other values in  the row are changed in such a way that they sum up to one. The output of the  </a:t>
            </a:r>
            <a:r>
              <a:rPr lang="en-US" sz="1600" dirty="0" err="1">
                <a:solidFill>
                  <a:srgbClr val="161A3E"/>
                </a:solidFill>
              </a:rPr>
              <a:t>softmax</a:t>
            </a:r>
            <a:r>
              <a:rPr lang="en-US" sz="1600" dirty="0">
                <a:solidFill>
                  <a:srgbClr val="161A3E"/>
                </a:solidFill>
              </a:rPr>
              <a:t> can be thought of as a probability distribution.</a:t>
            </a:r>
          </a:p>
        </p:txBody>
      </p:sp>
      <p:graphicFrame>
        <p:nvGraphicFramePr>
          <p:cNvPr id="4" name="object 3">
            <a:extLst>
              <a:ext uri="{FF2B5EF4-FFF2-40B4-BE49-F238E27FC236}">
                <a16:creationId xmlns:a16="http://schemas.microsoft.com/office/drawing/2014/main" id="{47A13755-2B5B-C8A2-8B86-91F89C53E990}"/>
              </a:ext>
            </a:extLst>
          </p:cNvPr>
          <p:cNvGraphicFramePr>
            <a:graphicFrameLocks noGrp="1"/>
          </p:cNvGraphicFramePr>
          <p:nvPr>
            <p:extLst>
              <p:ext uri="{D42A27DB-BD31-4B8C-83A1-F6EECF244321}">
                <p14:modId xmlns:p14="http://schemas.microsoft.com/office/powerpoint/2010/main" val="2448651499"/>
              </p:ext>
            </p:extLst>
          </p:nvPr>
        </p:nvGraphicFramePr>
        <p:xfrm>
          <a:off x="6669639" y="2632983"/>
          <a:ext cx="3748257" cy="3450580"/>
        </p:xfrm>
        <a:graphic>
          <a:graphicData uri="http://schemas.openxmlformats.org/drawingml/2006/table">
            <a:tbl>
              <a:tblPr firstRow="1" bandRow="1">
                <a:tableStyleId>{2D5ABB26-0587-4C30-8999-92F81FD0307C}</a:tableStyleId>
              </a:tblPr>
              <a:tblGrid>
                <a:gridCol w="511871">
                  <a:extLst>
                    <a:ext uri="{9D8B030D-6E8A-4147-A177-3AD203B41FA5}">
                      <a16:colId xmlns:a16="http://schemas.microsoft.com/office/drawing/2014/main" val="20000"/>
                    </a:ext>
                  </a:extLst>
                </a:gridCol>
                <a:gridCol w="539397">
                  <a:extLst>
                    <a:ext uri="{9D8B030D-6E8A-4147-A177-3AD203B41FA5}">
                      <a16:colId xmlns:a16="http://schemas.microsoft.com/office/drawing/2014/main" val="20001"/>
                    </a:ext>
                  </a:extLst>
                </a:gridCol>
                <a:gridCol w="539398">
                  <a:extLst>
                    <a:ext uri="{9D8B030D-6E8A-4147-A177-3AD203B41FA5}">
                      <a16:colId xmlns:a16="http://schemas.microsoft.com/office/drawing/2014/main" val="20002"/>
                    </a:ext>
                  </a:extLst>
                </a:gridCol>
                <a:gridCol w="539398">
                  <a:extLst>
                    <a:ext uri="{9D8B030D-6E8A-4147-A177-3AD203B41FA5}">
                      <a16:colId xmlns:a16="http://schemas.microsoft.com/office/drawing/2014/main" val="20003"/>
                    </a:ext>
                  </a:extLst>
                </a:gridCol>
                <a:gridCol w="539398">
                  <a:extLst>
                    <a:ext uri="{9D8B030D-6E8A-4147-A177-3AD203B41FA5}">
                      <a16:colId xmlns:a16="http://schemas.microsoft.com/office/drawing/2014/main" val="20004"/>
                    </a:ext>
                  </a:extLst>
                </a:gridCol>
                <a:gridCol w="539398">
                  <a:extLst>
                    <a:ext uri="{9D8B030D-6E8A-4147-A177-3AD203B41FA5}">
                      <a16:colId xmlns:a16="http://schemas.microsoft.com/office/drawing/2014/main" val="20005"/>
                    </a:ext>
                  </a:extLst>
                </a:gridCol>
                <a:gridCol w="539397">
                  <a:extLst>
                    <a:ext uri="{9D8B030D-6E8A-4147-A177-3AD203B41FA5}">
                      <a16:colId xmlns:a16="http://schemas.microsoft.com/office/drawing/2014/main" val="20006"/>
                    </a:ext>
                  </a:extLst>
                </a:gridCol>
              </a:tblGrid>
              <a:tr h="492913">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1270" algn="ctr">
                        <a:lnSpc>
                          <a:spcPct val="100000"/>
                        </a:lnSpc>
                        <a:spcBef>
                          <a:spcPts val="5"/>
                        </a:spcBef>
                      </a:pPr>
                      <a:r>
                        <a:rPr sz="600" b="1" spc="-10" dirty="0">
                          <a:latin typeface="Tahoma"/>
                          <a:cs typeface="Tahoma"/>
                        </a:rPr>
                        <a:t>THE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1905" algn="ctr">
                        <a:lnSpc>
                          <a:spcPct val="100000"/>
                        </a:lnSpc>
                        <a:spcBef>
                          <a:spcPts val="5"/>
                        </a:spcBef>
                      </a:pPr>
                      <a:r>
                        <a:rPr sz="600" b="1" spc="5" dirty="0">
                          <a:latin typeface="Tahoma"/>
                          <a:cs typeface="Tahoma"/>
                        </a:rPr>
                        <a:t>CAT</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1270" algn="ctr">
                        <a:lnSpc>
                          <a:spcPct val="100000"/>
                        </a:lnSpc>
                        <a:spcBef>
                          <a:spcPts val="5"/>
                        </a:spcBef>
                      </a:pPr>
                      <a:r>
                        <a:rPr sz="600" b="1" spc="-65" dirty="0">
                          <a:latin typeface="Tahoma"/>
                          <a:cs typeface="Tahoma"/>
                        </a:rPr>
                        <a:t>IS</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635" algn="ctr">
                        <a:lnSpc>
                          <a:spcPct val="100000"/>
                        </a:lnSpc>
                        <a:spcBef>
                          <a:spcPts val="5"/>
                        </a:spcBef>
                      </a:pPr>
                      <a:r>
                        <a:rPr sz="600" b="1" spc="35" dirty="0">
                          <a:latin typeface="Tahoma"/>
                          <a:cs typeface="Tahoma"/>
                        </a:rPr>
                        <a:t>ON</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2540" algn="ctr">
                        <a:lnSpc>
                          <a:spcPct val="100000"/>
                        </a:lnSpc>
                        <a:spcBef>
                          <a:spcPts val="5"/>
                        </a:spcBef>
                      </a:pPr>
                      <a:r>
                        <a:rPr sz="600" b="1" dirty="0">
                          <a:latin typeface="Tahoma"/>
                          <a:cs typeface="Tahoma"/>
                        </a:rPr>
                        <a:t>A</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142240">
                        <a:lnSpc>
                          <a:spcPct val="100000"/>
                        </a:lnSpc>
                        <a:spcBef>
                          <a:spcPts val="5"/>
                        </a:spcBef>
                      </a:pPr>
                      <a:r>
                        <a:rPr sz="600" b="1" spc="-25" dirty="0">
                          <a:latin typeface="Tahoma"/>
                          <a:cs typeface="Tahoma"/>
                        </a:rPr>
                        <a:t>CHAIR</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extLst>
                  <a:ext uri="{0D108BD9-81ED-4DB2-BD59-A6C34878D82A}">
                    <a16:rowId xmlns:a16="http://schemas.microsoft.com/office/drawing/2014/main" val="10000"/>
                  </a:ext>
                </a:extLst>
              </a:tr>
              <a:tr h="492912">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spc="-10" dirty="0">
                          <a:latin typeface="Tahoma"/>
                          <a:cs typeface="Tahoma"/>
                        </a:rPr>
                        <a:t>THE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5"/>
                        </a:spcBef>
                      </a:pPr>
                      <a:endParaRPr sz="1250">
                        <a:latin typeface="Times New Roman"/>
                        <a:cs typeface="Times New Roman"/>
                      </a:endParaRPr>
                    </a:p>
                    <a:p>
                      <a:pPr marL="171450">
                        <a:lnSpc>
                          <a:spcPct val="100000"/>
                        </a:lnSpc>
                        <a:spcBef>
                          <a:spcPts val="5"/>
                        </a:spcBef>
                      </a:pPr>
                      <a:r>
                        <a:rPr sz="1000" dirty="0">
                          <a:latin typeface="Tahoma"/>
                          <a:cs typeface="Tahoma"/>
                        </a:rPr>
                        <a:t>1.0</a:t>
                      </a:r>
                      <a:endParaRPr sz="1000">
                        <a:latin typeface="Tahoma"/>
                        <a:cs typeface="Tahoma"/>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222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222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222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222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222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1"/>
                  </a:ext>
                </a:extLst>
              </a:tr>
              <a:tr h="492912">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635" algn="ctr">
                        <a:lnSpc>
                          <a:spcPct val="100000"/>
                        </a:lnSpc>
                      </a:pPr>
                      <a:r>
                        <a:rPr sz="600" b="1" spc="5" dirty="0">
                          <a:latin typeface="Tahoma"/>
                          <a:cs typeface="Tahoma"/>
                        </a:rPr>
                        <a:t>CAT</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marR="89535" algn="r">
                        <a:lnSpc>
                          <a:spcPct val="100000"/>
                        </a:lnSpc>
                      </a:pPr>
                      <a:r>
                        <a:rPr sz="1000" spc="10" dirty="0">
                          <a:latin typeface="Tahoma"/>
                          <a:cs typeface="Tahoma"/>
                        </a:rPr>
                        <a:t>0.461</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0.538</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222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222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222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222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2"/>
                  </a:ext>
                </a:extLst>
              </a:tr>
              <a:tr h="493033">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spc="-65" dirty="0">
                          <a:latin typeface="Tahoma"/>
                          <a:cs typeface="Tahoma"/>
                        </a:rPr>
                        <a:t>IS</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marR="52705" algn="r">
                        <a:lnSpc>
                          <a:spcPct val="100000"/>
                        </a:lnSpc>
                      </a:pPr>
                      <a:r>
                        <a:rPr sz="1000" spc="15" dirty="0">
                          <a:latin typeface="Tahoma"/>
                          <a:cs typeface="Tahoma"/>
                        </a:rPr>
                        <a:t>0.3219</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dirty="0">
                        <a:latin typeface="Times New Roman"/>
                        <a:cs typeface="Times New Roman"/>
                      </a:endParaRPr>
                    </a:p>
                    <a:p>
                      <a:pPr marL="1270" algn="ctr">
                        <a:lnSpc>
                          <a:spcPct val="100000"/>
                        </a:lnSpc>
                      </a:pPr>
                      <a:r>
                        <a:rPr sz="1000" spc="10" dirty="0">
                          <a:latin typeface="Tahoma"/>
                          <a:cs typeface="Tahoma"/>
                        </a:rPr>
                        <a:t>0.317</a:t>
                      </a:r>
                      <a:endParaRPr sz="1000" dirty="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0.361</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222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222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222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3"/>
                  </a:ext>
                </a:extLst>
              </a:tr>
              <a:tr h="492912">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spcBef>
                          <a:spcPts val="5"/>
                        </a:spcBef>
                      </a:pPr>
                      <a:r>
                        <a:rPr sz="600" b="1" spc="35" dirty="0">
                          <a:latin typeface="Tahoma"/>
                          <a:cs typeface="Tahoma"/>
                        </a:rPr>
                        <a:t>ON</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20"/>
                        </a:spcBef>
                      </a:pPr>
                      <a:endParaRPr sz="1250">
                        <a:latin typeface="Times New Roman"/>
                        <a:cs typeface="Times New Roman"/>
                      </a:endParaRPr>
                    </a:p>
                    <a:p>
                      <a:pPr marR="22860" algn="ctr">
                        <a:lnSpc>
                          <a:spcPct val="100000"/>
                        </a:lnSpc>
                        <a:spcBef>
                          <a:spcPts val="5"/>
                        </a:spcBef>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0.316</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0.341</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0.343</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2225" algn="ctr">
                        <a:lnSpc>
                          <a:spcPct val="100000"/>
                        </a:lnSpc>
                        <a:spcBef>
                          <a:spcPts val="5"/>
                        </a:spcBef>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2225" algn="ctr">
                        <a:lnSpc>
                          <a:spcPct val="100000"/>
                        </a:lnSpc>
                        <a:spcBef>
                          <a:spcPts val="5"/>
                        </a:spcBef>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4"/>
                  </a:ext>
                </a:extLst>
              </a:tr>
              <a:tr h="492949">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1270" algn="ctr">
                        <a:lnSpc>
                          <a:spcPct val="100000"/>
                        </a:lnSpc>
                      </a:pPr>
                      <a:r>
                        <a:rPr sz="600" b="1" dirty="0">
                          <a:latin typeface="Tahoma"/>
                          <a:cs typeface="Tahoma"/>
                        </a:rPr>
                        <a:t>A</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25"/>
                        </a:spcBef>
                      </a:pPr>
                      <a:endParaRPr sz="1250">
                        <a:latin typeface="Times New Roman"/>
                        <a:cs typeface="Times New Roman"/>
                      </a:endParaRPr>
                    </a:p>
                    <a:p>
                      <a:pPr marR="22860"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222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spcBef>
                          <a:spcPts val="5"/>
                        </a:spcBef>
                      </a:pPr>
                      <a:r>
                        <a:rPr sz="1000" spc="10" dirty="0">
                          <a:latin typeface="Tahoma"/>
                          <a:cs typeface="Tahoma"/>
                        </a:rPr>
                        <a:t>0.326</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spcBef>
                          <a:spcPts val="5"/>
                        </a:spcBef>
                      </a:pPr>
                      <a:r>
                        <a:rPr sz="1000" spc="10" dirty="0">
                          <a:latin typeface="Tahoma"/>
                          <a:cs typeface="Tahoma"/>
                        </a:rPr>
                        <a:t>0.323</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spcBef>
                          <a:spcPts val="5"/>
                        </a:spcBef>
                      </a:pPr>
                      <a:r>
                        <a:rPr sz="1000" spc="10" dirty="0">
                          <a:latin typeface="Tahoma"/>
                          <a:cs typeface="Tahoma"/>
                        </a:rPr>
                        <a:t>0.351</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222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5"/>
                  </a:ext>
                </a:extLst>
              </a:tr>
              <a:tr h="492949">
                <a:tc>
                  <a:txBody>
                    <a:bodyPr/>
                    <a:lstStyle/>
                    <a:p>
                      <a:pPr>
                        <a:lnSpc>
                          <a:spcPct val="100000"/>
                        </a:lnSpc>
                      </a:pPr>
                      <a:endParaRPr sz="700">
                        <a:latin typeface="Times New Roman"/>
                        <a:cs typeface="Times New Roman"/>
                      </a:endParaRPr>
                    </a:p>
                    <a:p>
                      <a:pPr>
                        <a:lnSpc>
                          <a:spcPct val="100000"/>
                        </a:lnSpc>
                        <a:spcBef>
                          <a:spcPts val="15"/>
                        </a:spcBef>
                      </a:pPr>
                      <a:endParaRPr sz="750">
                        <a:latin typeface="Times New Roman"/>
                        <a:cs typeface="Times New Roman"/>
                      </a:endParaRPr>
                    </a:p>
                    <a:p>
                      <a:pPr marL="635" algn="ctr">
                        <a:lnSpc>
                          <a:spcPct val="100000"/>
                        </a:lnSpc>
                      </a:pPr>
                      <a:r>
                        <a:rPr sz="600" b="1" spc="-25" dirty="0">
                          <a:latin typeface="Tahoma"/>
                          <a:cs typeface="Tahoma"/>
                        </a:rPr>
                        <a:t>CHAIR</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25"/>
                        </a:spcBef>
                      </a:pPr>
                      <a:endParaRPr sz="1250">
                        <a:latin typeface="Times New Roman"/>
                        <a:cs typeface="Times New Roman"/>
                      </a:endParaRPr>
                    </a:p>
                    <a:p>
                      <a:pPr marR="22860"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222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222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0.313</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0.331</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dirty="0">
                        <a:latin typeface="Times New Roman"/>
                        <a:cs typeface="Times New Roman"/>
                      </a:endParaRPr>
                    </a:p>
                    <a:p>
                      <a:pPr marL="99060">
                        <a:lnSpc>
                          <a:spcPct val="100000"/>
                        </a:lnSpc>
                      </a:pPr>
                      <a:r>
                        <a:rPr sz="1000" spc="10" dirty="0">
                          <a:latin typeface="Tahoma"/>
                          <a:cs typeface="Tahoma"/>
                        </a:rPr>
                        <a:t>0.356</a:t>
                      </a:r>
                      <a:endParaRPr sz="1000" dirty="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6"/>
                  </a:ext>
                </a:extLst>
              </a:tr>
            </a:tbl>
          </a:graphicData>
        </a:graphic>
      </p:graphicFrame>
      <p:sp>
        <p:nvSpPr>
          <p:cNvPr id="5" name="object 4">
            <a:extLst>
              <a:ext uri="{FF2B5EF4-FFF2-40B4-BE49-F238E27FC236}">
                <a16:creationId xmlns:a16="http://schemas.microsoft.com/office/drawing/2014/main" id="{E1779196-66B4-BCBE-F152-7DD1454B055B}"/>
              </a:ext>
            </a:extLst>
          </p:cNvPr>
          <p:cNvSpPr/>
          <p:nvPr/>
        </p:nvSpPr>
        <p:spPr>
          <a:xfrm>
            <a:off x="2048329" y="3323814"/>
            <a:ext cx="1675463" cy="1685325"/>
          </a:xfrm>
          <a:custGeom>
            <a:avLst/>
            <a:gdLst/>
            <a:ahLst/>
            <a:cxnLst/>
            <a:rect l="l" t="t" r="r" b="b"/>
            <a:pathLst>
              <a:path w="1690370" h="1691639">
                <a:moveTo>
                  <a:pt x="1690116" y="0"/>
                </a:moveTo>
                <a:lnTo>
                  <a:pt x="0" y="0"/>
                </a:lnTo>
                <a:lnTo>
                  <a:pt x="0" y="1691639"/>
                </a:lnTo>
                <a:lnTo>
                  <a:pt x="1690116" y="1691639"/>
                </a:lnTo>
                <a:lnTo>
                  <a:pt x="1690116" y="0"/>
                </a:lnTo>
                <a:close/>
              </a:path>
            </a:pathLst>
          </a:custGeom>
          <a:solidFill>
            <a:srgbClr val="D2F5F1"/>
          </a:solidFill>
        </p:spPr>
        <p:txBody>
          <a:bodyPr wrap="square" lIns="0" tIns="0" rIns="0" bIns="0" rtlCol="0"/>
          <a:lstStyle/>
          <a:p>
            <a:endParaRPr/>
          </a:p>
        </p:txBody>
      </p:sp>
      <p:sp>
        <p:nvSpPr>
          <p:cNvPr id="18" name="object 5">
            <a:extLst>
              <a:ext uri="{FF2B5EF4-FFF2-40B4-BE49-F238E27FC236}">
                <a16:creationId xmlns:a16="http://schemas.microsoft.com/office/drawing/2014/main" id="{97E1D05F-B5B4-94F9-2231-CF8467C8D3E9}"/>
              </a:ext>
            </a:extLst>
          </p:cNvPr>
          <p:cNvSpPr txBox="1"/>
          <p:nvPr/>
        </p:nvSpPr>
        <p:spPr>
          <a:xfrm>
            <a:off x="2802136" y="4058510"/>
            <a:ext cx="154832" cy="196753"/>
          </a:xfrm>
          <a:prstGeom prst="rect">
            <a:avLst/>
          </a:prstGeom>
        </p:spPr>
        <p:txBody>
          <a:bodyPr vert="horz" wrap="square" lIns="0" tIns="12700" rIns="0" bIns="0" rtlCol="0">
            <a:spAutoFit/>
          </a:bodyPr>
          <a:lstStyle/>
          <a:p>
            <a:pPr marL="12700">
              <a:lnSpc>
                <a:spcPct val="100000"/>
              </a:lnSpc>
              <a:spcBef>
                <a:spcPts val="100"/>
              </a:spcBef>
            </a:pPr>
            <a:r>
              <a:rPr sz="1200" b="1" spc="100" dirty="0">
                <a:cs typeface="Tahoma"/>
              </a:rPr>
              <a:t>Q</a:t>
            </a:r>
            <a:endParaRPr sz="1200">
              <a:cs typeface="Tahoma"/>
            </a:endParaRPr>
          </a:p>
        </p:txBody>
      </p:sp>
      <p:sp>
        <p:nvSpPr>
          <p:cNvPr id="19" name="object 6">
            <a:extLst>
              <a:ext uri="{FF2B5EF4-FFF2-40B4-BE49-F238E27FC236}">
                <a16:creationId xmlns:a16="http://schemas.microsoft.com/office/drawing/2014/main" id="{4769B5FB-EB6E-D704-77A0-03515624928D}"/>
              </a:ext>
            </a:extLst>
          </p:cNvPr>
          <p:cNvSpPr txBox="1"/>
          <p:nvPr/>
        </p:nvSpPr>
        <p:spPr>
          <a:xfrm>
            <a:off x="2613940" y="4571717"/>
            <a:ext cx="528067" cy="16545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(6,</a:t>
            </a:r>
            <a:r>
              <a:rPr sz="1000" spc="-60" dirty="0">
                <a:cs typeface="Tahoma"/>
              </a:rPr>
              <a:t> </a:t>
            </a:r>
            <a:r>
              <a:rPr sz="1000" spc="25" dirty="0">
                <a:cs typeface="Tahoma"/>
              </a:rPr>
              <a:t>4096</a:t>
            </a:r>
            <a:r>
              <a:rPr sz="1000" spc="-85" dirty="0">
                <a:cs typeface="Tahoma"/>
              </a:rPr>
              <a:t>)</a:t>
            </a:r>
            <a:endParaRPr sz="1000">
              <a:cs typeface="Tahoma"/>
            </a:endParaRPr>
          </a:p>
        </p:txBody>
      </p:sp>
      <p:sp>
        <p:nvSpPr>
          <p:cNvPr id="20" name="object 7">
            <a:extLst>
              <a:ext uri="{FF2B5EF4-FFF2-40B4-BE49-F238E27FC236}">
                <a16:creationId xmlns:a16="http://schemas.microsoft.com/office/drawing/2014/main" id="{3D4F901C-9EE2-E822-8B9D-6387892F0D5D}"/>
              </a:ext>
            </a:extLst>
          </p:cNvPr>
          <p:cNvSpPr/>
          <p:nvPr/>
        </p:nvSpPr>
        <p:spPr>
          <a:xfrm>
            <a:off x="4428805" y="3323814"/>
            <a:ext cx="1674205" cy="1688489"/>
          </a:xfrm>
          <a:custGeom>
            <a:avLst/>
            <a:gdLst/>
            <a:ahLst/>
            <a:cxnLst/>
            <a:rect l="l" t="t" r="r" b="b"/>
            <a:pathLst>
              <a:path w="1689100" h="1694814">
                <a:moveTo>
                  <a:pt x="1688591" y="0"/>
                </a:moveTo>
                <a:lnTo>
                  <a:pt x="0" y="0"/>
                </a:lnTo>
                <a:lnTo>
                  <a:pt x="0" y="1694687"/>
                </a:lnTo>
                <a:lnTo>
                  <a:pt x="1688591" y="1694687"/>
                </a:lnTo>
                <a:lnTo>
                  <a:pt x="1688591" y="0"/>
                </a:lnTo>
                <a:close/>
              </a:path>
            </a:pathLst>
          </a:custGeom>
          <a:solidFill>
            <a:srgbClr val="D2F5F1"/>
          </a:solidFill>
        </p:spPr>
        <p:txBody>
          <a:bodyPr wrap="square" lIns="0" tIns="0" rIns="0" bIns="0" rtlCol="0"/>
          <a:lstStyle/>
          <a:p>
            <a:endParaRPr/>
          </a:p>
        </p:txBody>
      </p:sp>
      <p:sp>
        <p:nvSpPr>
          <p:cNvPr id="21" name="object 8">
            <a:extLst>
              <a:ext uri="{FF2B5EF4-FFF2-40B4-BE49-F238E27FC236}">
                <a16:creationId xmlns:a16="http://schemas.microsoft.com/office/drawing/2014/main" id="{A2B175DA-2631-65FE-EDDA-A4DBAC92FC65}"/>
              </a:ext>
            </a:extLst>
          </p:cNvPr>
          <p:cNvSpPr txBox="1"/>
          <p:nvPr/>
        </p:nvSpPr>
        <p:spPr>
          <a:xfrm>
            <a:off x="5139061" y="4014567"/>
            <a:ext cx="240431" cy="196753"/>
          </a:xfrm>
          <a:prstGeom prst="rect">
            <a:avLst/>
          </a:prstGeom>
        </p:spPr>
        <p:txBody>
          <a:bodyPr vert="horz" wrap="square" lIns="0" tIns="12700" rIns="0" bIns="0" rtlCol="0">
            <a:spAutoFit/>
          </a:bodyPr>
          <a:lstStyle/>
          <a:p>
            <a:pPr marL="38100">
              <a:lnSpc>
                <a:spcPct val="100000"/>
              </a:lnSpc>
              <a:spcBef>
                <a:spcPts val="100"/>
              </a:spcBef>
            </a:pPr>
            <a:r>
              <a:rPr sz="1800" b="1" spc="-15" baseline="-16203" dirty="0">
                <a:cs typeface="Tahoma"/>
              </a:rPr>
              <a:t>K</a:t>
            </a:r>
            <a:r>
              <a:rPr sz="800" b="1" spc="-10" dirty="0">
                <a:cs typeface="Tahoma"/>
              </a:rPr>
              <a:t>T</a:t>
            </a:r>
            <a:endParaRPr sz="800">
              <a:cs typeface="Tahoma"/>
            </a:endParaRPr>
          </a:p>
        </p:txBody>
      </p:sp>
      <p:sp>
        <p:nvSpPr>
          <p:cNvPr id="22" name="object 9">
            <a:extLst>
              <a:ext uri="{FF2B5EF4-FFF2-40B4-BE49-F238E27FC236}">
                <a16:creationId xmlns:a16="http://schemas.microsoft.com/office/drawing/2014/main" id="{14CFCB77-3A61-FC14-CDD7-7FCBAC118D5D}"/>
              </a:ext>
            </a:extLst>
          </p:cNvPr>
          <p:cNvSpPr txBox="1"/>
          <p:nvPr/>
        </p:nvSpPr>
        <p:spPr>
          <a:xfrm>
            <a:off x="4995433" y="4574511"/>
            <a:ext cx="526808" cy="165451"/>
          </a:xfrm>
          <a:prstGeom prst="rect">
            <a:avLst/>
          </a:prstGeom>
        </p:spPr>
        <p:txBody>
          <a:bodyPr vert="horz" wrap="square" lIns="0" tIns="12065" rIns="0" bIns="0" rtlCol="0">
            <a:spAutoFit/>
          </a:bodyPr>
          <a:lstStyle/>
          <a:p>
            <a:pPr marL="12700">
              <a:lnSpc>
                <a:spcPct val="100000"/>
              </a:lnSpc>
              <a:spcBef>
                <a:spcPts val="95"/>
              </a:spcBef>
            </a:pPr>
            <a:r>
              <a:rPr sz="1000" dirty="0">
                <a:cs typeface="Tahoma"/>
              </a:rPr>
              <a:t>(40</a:t>
            </a:r>
            <a:r>
              <a:rPr sz="1000" spc="-5" dirty="0">
                <a:cs typeface="Tahoma"/>
              </a:rPr>
              <a:t>9</a:t>
            </a:r>
            <a:r>
              <a:rPr sz="1000" spc="-15" dirty="0">
                <a:cs typeface="Tahoma"/>
              </a:rPr>
              <a:t>6</a:t>
            </a:r>
            <a:r>
              <a:rPr sz="1000" spc="-5" dirty="0">
                <a:cs typeface="Tahoma"/>
              </a:rPr>
              <a:t>,</a:t>
            </a:r>
            <a:r>
              <a:rPr sz="1000" spc="-75" dirty="0">
                <a:cs typeface="Tahoma"/>
              </a:rPr>
              <a:t> </a:t>
            </a:r>
            <a:r>
              <a:rPr sz="1000" spc="-35" dirty="0">
                <a:cs typeface="Tahoma"/>
              </a:rPr>
              <a:t>6)</a:t>
            </a:r>
            <a:endParaRPr sz="1000">
              <a:cs typeface="Tahoma"/>
            </a:endParaRPr>
          </a:p>
        </p:txBody>
      </p:sp>
      <p:sp>
        <p:nvSpPr>
          <p:cNvPr id="23" name="object 10">
            <a:extLst>
              <a:ext uri="{FF2B5EF4-FFF2-40B4-BE49-F238E27FC236}">
                <a16:creationId xmlns:a16="http://schemas.microsoft.com/office/drawing/2014/main" id="{59E943A7-C459-CCA4-A8BC-817AFCAF2A7B}"/>
              </a:ext>
            </a:extLst>
          </p:cNvPr>
          <p:cNvSpPr txBox="1"/>
          <p:nvPr/>
        </p:nvSpPr>
        <p:spPr>
          <a:xfrm>
            <a:off x="4031143" y="4009438"/>
            <a:ext cx="172456" cy="299234"/>
          </a:xfrm>
          <a:prstGeom prst="rect">
            <a:avLst/>
          </a:prstGeom>
        </p:spPr>
        <p:txBody>
          <a:bodyPr vert="horz" wrap="square" lIns="0" tIns="12700" rIns="0" bIns="0" rtlCol="0">
            <a:spAutoFit/>
          </a:bodyPr>
          <a:lstStyle/>
          <a:p>
            <a:pPr marL="12700">
              <a:lnSpc>
                <a:spcPct val="100000"/>
              </a:lnSpc>
              <a:spcBef>
                <a:spcPts val="100"/>
              </a:spcBef>
            </a:pPr>
            <a:r>
              <a:rPr sz="1800" spc="120" dirty="0">
                <a:cs typeface="Tahoma"/>
              </a:rPr>
              <a:t>X</a:t>
            </a:r>
            <a:endParaRPr sz="1800">
              <a:cs typeface="Tahoma"/>
            </a:endParaRPr>
          </a:p>
        </p:txBody>
      </p:sp>
      <p:sp>
        <p:nvSpPr>
          <p:cNvPr id="24" name="object 11">
            <a:extLst>
              <a:ext uri="{FF2B5EF4-FFF2-40B4-BE49-F238E27FC236}">
                <a16:creationId xmlns:a16="http://schemas.microsoft.com/office/drawing/2014/main" id="{1B91D1BD-F2C2-D1F7-0FE9-9C5BA186DF73}"/>
              </a:ext>
            </a:extLst>
          </p:cNvPr>
          <p:cNvSpPr txBox="1"/>
          <p:nvPr/>
        </p:nvSpPr>
        <p:spPr>
          <a:xfrm>
            <a:off x="6318702" y="4299301"/>
            <a:ext cx="176232" cy="298601"/>
          </a:xfrm>
          <a:prstGeom prst="rect">
            <a:avLst/>
          </a:prstGeom>
        </p:spPr>
        <p:txBody>
          <a:bodyPr vert="horz" wrap="square" lIns="0" tIns="12700" rIns="0" bIns="0" rtlCol="0">
            <a:spAutoFit/>
          </a:bodyPr>
          <a:lstStyle/>
          <a:p>
            <a:pPr marL="12700">
              <a:lnSpc>
                <a:spcPct val="100000"/>
              </a:lnSpc>
              <a:spcBef>
                <a:spcPts val="100"/>
              </a:spcBef>
            </a:pPr>
            <a:r>
              <a:rPr sz="1800" spc="-114" dirty="0">
                <a:cs typeface="Tahoma"/>
              </a:rPr>
              <a:t>=</a:t>
            </a:r>
            <a:endParaRPr sz="1800">
              <a:cs typeface="Tahoma"/>
            </a:endParaRPr>
          </a:p>
        </p:txBody>
      </p:sp>
      <p:sp>
        <p:nvSpPr>
          <p:cNvPr id="25" name="object 12">
            <a:extLst>
              <a:ext uri="{FF2B5EF4-FFF2-40B4-BE49-F238E27FC236}">
                <a16:creationId xmlns:a16="http://schemas.microsoft.com/office/drawing/2014/main" id="{73B0DE5F-A772-97EE-02BC-B5E040040CFF}"/>
              </a:ext>
            </a:extLst>
          </p:cNvPr>
          <p:cNvSpPr txBox="1"/>
          <p:nvPr/>
        </p:nvSpPr>
        <p:spPr>
          <a:xfrm>
            <a:off x="976256" y="4299301"/>
            <a:ext cx="831438" cy="298601"/>
          </a:xfrm>
          <a:prstGeom prst="rect">
            <a:avLst/>
          </a:prstGeom>
        </p:spPr>
        <p:txBody>
          <a:bodyPr vert="horz" wrap="square" lIns="0" tIns="12700" rIns="0" bIns="0" rtlCol="0">
            <a:spAutoFit/>
          </a:bodyPr>
          <a:lstStyle/>
          <a:p>
            <a:pPr marL="12700">
              <a:lnSpc>
                <a:spcPct val="100000"/>
              </a:lnSpc>
              <a:spcBef>
                <a:spcPts val="100"/>
              </a:spcBef>
            </a:pPr>
            <a:r>
              <a:rPr lang="en-US" spc="50" dirty="0">
                <a:cs typeface="Tahoma"/>
              </a:rPr>
              <a:t>S</a:t>
            </a:r>
            <a:r>
              <a:rPr sz="1800" spc="65" dirty="0">
                <a:cs typeface="Tahoma"/>
              </a:rPr>
              <a:t>o</a:t>
            </a:r>
            <a:r>
              <a:rPr sz="1800" spc="-75" dirty="0">
                <a:cs typeface="Tahoma"/>
              </a:rPr>
              <a:t>f</a:t>
            </a:r>
            <a:r>
              <a:rPr sz="1800" spc="10" dirty="0">
                <a:cs typeface="Tahoma"/>
              </a:rPr>
              <a:t>t</a:t>
            </a:r>
            <a:r>
              <a:rPr lang="en-US" sz="1800" spc="10" dirty="0">
                <a:cs typeface="Tahoma"/>
              </a:rPr>
              <a:t>M</a:t>
            </a:r>
            <a:r>
              <a:rPr sz="1800" spc="10" dirty="0">
                <a:cs typeface="Tahoma"/>
              </a:rPr>
              <a:t>ax</a:t>
            </a:r>
            <a:endParaRPr sz="1800" dirty="0">
              <a:cs typeface="Tahoma"/>
            </a:endParaRPr>
          </a:p>
        </p:txBody>
      </p:sp>
      <p:grpSp>
        <p:nvGrpSpPr>
          <p:cNvPr id="26" name="object 13">
            <a:extLst>
              <a:ext uri="{FF2B5EF4-FFF2-40B4-BE49-F238E27FC236}">
                <a16:creationId xmlns:a16="http://schemas.microsoft.com/office/drawing/2014/main" id="{1F05F0BD-A547-AA42-38D3-1EAEE30688BD}"/>
              </a:ext>
            </a:extLst>
          </p:cNvPr>
          <p:cNvGrpSpPr/>
          <p:nvPr/>
        </p:nvGrpSpPr>
        <p:grpSpPr>
          <a:xfrm>
            <a:off x="1931435" y="3029555"/>
            <a:ext cx="4310133" cy="2848733"/>
            <a:chOff x="1034669" y="2954908"/>
            <a:chExt cx="4348480" cy="2859405"/>
          </a:xfrm>
        </p:grpSpPr>
        <p:sp>
          <p:nvSpPr>
            <p:cNvPr id="27" name="object 14">
              <a:extLst>
                <a:ext uri="{FF2B5EF4-FFF2-40B4-BE49-F238E27FC236}">
                  <a16:creationId xmlns:a16="http://schemas.microsoft.com/office/drawing/2014/main" id="{D39FA64B-8165-2EFA-D61A-464239B94425}"/>
                </a:ext>
              </a:extLst>
            </p:cNvPr>
            <p:cNvSpPr/>
            <p:nvPr/>
          </p:nvSpPr>
          <p:spPr>
            <a:xfrm>
              <a:off x="1037844" y="2958083"/>
              <a:ext cx="4342130" cy="2853055"/>
            </a:xfrm>
            <a:custGeom>
              <a:avLst/>
              <a:gdLst/>
              <a:ahLst/>
              <a:cxnLst/>
              <a:rect l="l" t="t" r="r" b="b"/>
              <a:pathLst>
                <a:path w="4342130" h="2853054">
                  <a:moveTo>
                    <a:pt x="475488" y="2852928"/>
                  </a:moveTo>
                  <a:lnTo>
                    <a:pt x="426873" y="2850473"/>
                  </a:lnTo>
                  <a:lnTo>
                    <a:pt x="379662" y="2843267"/>
                  </a:lnTo>
                  <a:lnTo>
                    <a:pt x="334094" y="2831550"/>
                  </a:lnTo>
                  <a:lnTo>
                    <a:pt x="290409" y="2815560"/>
                  </a:lnTo>
                  <a:lnTo>
                    <a:pt x="248845" y="2795537"/>
                  </a:lnTo>
                  <a:lnTo>
                    <a:pt x="209641" y="2771720"/>
                  </a:lnTo>
                  <a:lnTo>
                    <a:pt x="173036" y="2744347"/>
                  </a:lnTo>
                  <a:lnTo>
                    <a:pt x="139269" y="2713658"/>
                  </a:lnTo>
                  <a:lnTo>
                    <a:pt x="108580" y="2679891"/>
                  </a:lnTo>
                  <a:lnTo>
                    <a:pt x="81207" y="2643286"/>
                  </a:lnTo>
                  <a:lnTo>
                    <a:pt x="57390" y="2604082"/>
                  </a:lnTo>
                  <a:lnTo>
                    <a:pt x="37367" y="2562518"/>
                  </a:lnTo>
                  <a:lnTo>
                    <a:pt x="21377" y="2518833"/>
                  </a:lnTo>
                  <a:lnTo>
                    <a:pt x="9660" y="2473265"/>
                  </a:lnTo>
                  <a:lnTo>
                    <a:pt x="2454" y="2426054"/>
                  </a:lnTo>
                  <a:lnTo>
                    <a:pt x="0" y="2377440"/>
                  </a:lnTo>
                  <a:lnTo>
                    <a:pt x="0" y="475488"/>
                  </a:lnTo>
                  <a:lnTo>
                    <a:pt x="2454" y="426866"/>
                  </a:lnTo>
                  <a:lnTo>
                    <a:pt x="9660" y="379651"/>
                  </a:lnTo>
                  <a:lnTo>
                    <a:pt x="21377" y="334080"/>
                  </a:lnTo>
                  <a:lnTo>
                    <a:pt x="37367" y="290393"/>
                  </a:lnTo>
                  <a:lnTo>
                    <a:pt x="57390" y="248828"/>
                  </a:lnTo>
                  <a:lnTo>
                    <a:pt x="81207" y="209624"/>
                  </a:lnTo>
                  <a:lnTo>
                    <a:pt x="108580" y="173020"/>
                  </a:lnTo>
                  <a:lnTo>
                    <a:pt x="139269" y="139255"/>
                  </a:lnTo>
                  <a:lnTo>
                    <a:pt x="173036" y="108568"/>
                  </a:lnTo>
                  <a:lnTo>
                    <a:pt x="209641" y="81197"/>
                  </a:lnTo>
                  <a:lnTo>
                    <a:pt x="248845" y="57382"/>
                  </a:lnTo>
                  <a:lnTo>
                    <a:pt x="290409" y="37361"/>
                  </a:lnTo>
                  <a:lnTo>
                    <a:pt x="334094" y="21374"/>
                  </a:lnTo>
                  <a:lnTo>
                    <a:pt x="379662" y="9658"/>
                  </a:lnTo>
                  <a:lnTo>
                    <a:pt x="426873" y="2454"/>
                  </a:lnTo>
                  <a:lnTo>
                    <a:pt x="475488" y="0"/>
                  </a:lnTo>
                </a:path>
                <a:path w="4342130" h="2853054">
                  <a:moveTo>
                    <a:pt x="3866388" y="0"/>
                  </a:moveTo>
                  <a:lnTo>
                    <a:pt x="3915009" y="2454"/>
                  </a:lnTo>
                  <a:lnTo>
                    <a:pt x="3962224" y="9658"/>
                  </a:lnTo>
                  <a:lnTo>
                    <a:pt x="4007795" y="21374"/>
                  </a:lnTo>
                  <a:lnTo>
                    <a:pt x="4051482" y="37361"/>
                  </a:lnTo>
                  <a:lnTo>
                    <a:pt x="4093047" y="57382"/>
                  </a:lnTo>
                  <a:lnTo>
                    <a:pt x="4132251" y="81197"/>
                  </a:lnTo>
                  <a:lnTo>
                    <a:pt x="4168855" y="108568"/>
                  </a:lnTo>
                  <a:lnTo>
                    <a:pt x="4202620" y="139255"/>
                  </a:lnTo>
                  <a:lnTo>
                    <a:pt x="4233307" y="173020"/>
                  </a:lnTo>
                  <a:lnTo>
                    <a:pt x="4260678" y="209624"/>
                  </a:lnTo>
                  <a:lnTo>
                    <a:pt x="4284493" y="248828"/>
                  </a:lnTo>
                  <a:lnTo>
                    <a:pt x="4304514" y="290393"/>
                  </a:lnTo>
                  <a:lnTo>
                    <a:pt x="4320501" y="334080"/>
                  </a:lnTo>
                  <a:lnTo>
                    <a:pt x="4332217" y="379651"/>
                  </a:lnTo>
                  <a:lnTo>
                    <a:pt x="4339421" y="426866"/>
                  </a:lnTo>
                  <a:lnTo>
                    <a:pt x="4341876" y="475488"/>
                  </a:lnTo>
                  <a:lnTo>
                    <a:pt x="4341876" y="2377440"/>
                  </a:lnTo>
                  <a:lnTo>
                    <a:pt x="4339421" y="2426054"/>
                  </a:lnTo>
                  <a:lnTo>
                    <a:pt x="4332217" y="2473265"/>
                  </a:lnTo>
                  <a:lnTo>
                    <a:pt x="4320501" y="2518833"/>
                  </a:lnTo>
                  <a:lnTo>
                    <a:pt x="4304514" y="2562518"/>
                  </a:lnTo>
                  <a:lnTo>
                    <a:pt x="4284493" y="2604082"/>
                  </a:lnTo>
                  <a:lnTo>
                    <a:pt x="4260678" y="2643286"/>
                  </a:lnTo>
                  <a:lnTo>
                    <a:pt x="4233307" y="2679891"/>
                  </a:lnTo>
                  <a:lnTo>
                    <a:pt x="4202620" y="2713658"/>
                  </a:lnTo>
                  <a:lnTo>
                    <a:pt x="4168855" y="2744347"/>
                  </a:lnTo>
                  <a:lnTo>
                    <a:pt x="4132251" y="2771720"/>
                  </a:lnTo>
                  <a:lnTo>
                    <a:pt x="4093047" y="2795537"/>
                  </a:lnTo>
                  <a:lnTo>
                    <a:pt x="4051482" y="2815560"/>
                  </a:lnTo>
                  <a:lnTo>
                    <a:pt x="4007795" y="2831550"/>
                  </a:lnTo>
                  <a:lnTo>
                    <a:pt x="3962224" y="2843267"/>
                  </a:lnTo>
                  <a:lnTo>
                    <a:pt x="3915009" y="2850473"/>
                  </a:lnTo>
                  <a:lnTo>
                    <a:pt x="3866388" y="2852928"/>
                  </a:lnTo>
                </a:path>
                <a:path w="4342130" h="2853054">
                  <a:moveTo>
                    <a:pt x="141731" y="2145791"/>
                  </a:moveTo>
                  <a:lnTo>
                    <a:pt x="4203700" y="2145791"/>
                  </a:lnTo>
                </a:path>
              </a:pathLst>
            </a:custGeom>
            <a:ln w="6350">
              <a:solidFill>
                <a:srgbClr val="ED7660"/>
              </a:solidFill>
            </a:ln>
          </p:spPr>
          <p:txBody>
            <a:bodyPr wrap="square" lIns="0" tIns="0" rIns="0" bIns="0" rtlCol="0"/>
            <a:lstStyle/>
            <a:p>
              <a:endParaRPr/>
            </a:p>
          </p:txBody>
        </p:sp>
        <p:sp>
          <p:nvSpPr>
            <p:cNvPr id="28" name="object 15">
              <a:extLst>
                <a:ext uri="{FF2B5EF4-FFF2-40B4-BE49-F238E27FC236}">
                  <a16:creationId xmlns:a16="http://schemas.microsoft.com/office/drawing/2014/main" id="{7A350F60-099A-E851-2227-1B24ECF80EDD}"/>
                </a:ext>
              </a:extLst>
            </p:cNvPr>
            <p:cNvSpPr/>
            <p:nvPr/>
          </p:nvSpPr>
          <p:spPr>
            <a:xfrm>
              <a:off x="2953766" y="5313172"/>
              <a:ext cx="654685" cy="220345"/>
            </a:xfrm>
            <a:custGeom>
              <a:avLst/>
              <a:gdLst/>
              <a:ahLst/>
              <a:cxnLst/>
              <a:rect l="l" t="t" r="r" b="b"/>
              <a:pathLst>
                <a:path w="654685" h="220345">
                  <a:moveTo>
                    <a:pt x="131190" y="0"/>
                  </a:moveTo>
                  <a:lnTo>
                    <a:pt x="76072" y="190499"/>
                  </a:lnTo>
                  <a:lnTo>
                    <a:pt x="36702" y="103885"/>
                  </a:lnTo>
                  <a:lnTo>
                    <a:pt x="0" y="120649"/>
                  </a:lnTo>
                  <a:lnTo>
                    <a:pt x="3556" y="129031"/>
                  </a:lnTo>
                  <a:lnTo>
                    <a:pt x="22351" y="120649"/>
                  </a:lnTo>
                  <a:lnTo>
                    <a:pt x="68579" y="219963"/>
                  </a:lnTo>
                  <a:lnTo>
                    <a:pt x="79375" y="219963"/>
                  </a:lnTo>
                  <a:lnTo>
                    <a:pt x="139445" y="14858"/>
                  </a:lnTo>
                  <a:lnTo>
                    <a:pt x="147065" y="14858"/>
                  </a:lnTo>
                  <a:lnTo>
                    <a:pt x="147065" y="15366"/>
                  </a:lnTo>
                  <a:lnTo>
                    <a:pt x="654557" y="15366"/>
                  </a:lnTo>
                  <a:lnTo>
                    <a:pt x="654557" y="126"/>
                  </a:lnTo>
                  <a:lnTo>
                    <a:pt x="131190" y="0"/>
                  </a:lnTo>
                  <a:close/>
                </a:path>
              </a:pathLst>
            </a:custGeom>
            <a:solidFill>
              <a:srgbClr val="000000"/>
            </a:solidFill>
          </p:spPr>
          <p:txBody>
            <a:bodyPr wrap="square" lIns="0" tIns="0" rIns="0" bIns="0" rtlCol="0"/>
            <a:lstStyle/>
            <a:p>
              <a:endParaRPr/>
            </a:p>
          </p:txBody>
        </p:sp>
      </p:grpSp>
      <p:sp>
        <p:nvSpPr>
          <p:cNvPr id="36" name="object 16">
            <a:extLst>
              <a:ext uri="{FF2B5EF4-FFF2-40B4-BE49-F238E27FC236}">
                <a16:creationId xmlns:a16="http://schemas.microsoft.com/office/drawing/2014/main" id="{50204540-182A-6353-4557-05E326221F75}"/>
              </a:ext>
            </a:extLst>
          </p:cNvPr>
          <p:cNvSpPr txBox="1"/>
          <p:nvPr/>
        </p:nvSpPr>
        <p:spPr>
          <a:xfrm>
            <a:off x="3951746" y="5355052"/>
            <a:ext cx="526808" cy="298601"/>
          </a:xfrm>
          <a:prstGeom prst="rect">
            <a:avLst/>
          </a:prstGeom>
        </p:spPr>
        <p:txBody>
          <a:bodyPr vert="horz" wrap="square" lIns="0" tIns="12700" rIns="0" bIns="0" rtlCol="0">
            <a:spAutoFit/>
          </a:bodyPr>
          <a:lstStyle/>
          <a:p>
            <a:pPr marL="12700">
              <a:lnSpc>
                <a:spcPct val="100000"/>
              </a:lnSpc>
              <a:spcBef>
                <a:spcPts val="100"/>
              </a:spcBef>
            </a:pPr>
            <a:r>
              <a:rPr sz="1800" spc="-5" dirty="0">
                <a:cs typeface="Cambria Math"/>
              </a:rPr>
              <a:t>4096</a:t>
            </a:r>
            <a:endParaRPr sz="1800">
              <a:cs typeface="Cambria Math"/>
            </a:endParaRPr>
          </a:p>
        </p:txBody>
      </p:sp>
      <p:sp>
        <p:nvSpPr>
          <p:cNvPr id="37" name="object 18">
            <a:extLst>
              <a:ext uri="{FF2B5EF4-FFF2-40B4-BE49-F238E27FC236}">
                <a16:creationId xmlns:a16="http://schemas.microsoft.com/office/drawing/2014/main" id="{68DB8898-8A6C-677C-7C45-C024F9DBA0F1}"/>
              </a:ext>
            </a:extLst>
          </p:cNvPr>
          <p:cNvSpPr/>
          <p:nvPr/>
        </p:nvSpPr>
        <p:spPr>
          <a:xfrm>
            <a:off x="9415221" y="2333613"/>
            <a:ext cx="528696" cy="141076"/>
          </a:xfrm>
          <a:custGeom>
            <a:avLst/>
            <a:gdLst/>
            <a:ahLst/>
            <a:cxnLst/>
            <a:rect l="l" t="t" r="r" b="b"/>
            <a:pathLst>
              <a:path w="533400" h="141605">
                <a:moveTo>
                  <a:pt x="488314" y="0"/>
                </a:moveTo>
                <a:lnTo>
                  <a:pt x="486282" y="5714"/>
                </a:lnTo>
                <a:lnTo>
                  <a:pt x="494401" y="9261"/>
                </a:lnTo>
                <a:lnTo>
                  <a:pt x="501411" y="14176"/>
                </a:lnTo>
                <a:lnTo>
                  <a:pt x="519922" y="57820"/>
                </a:lnTo>
                <a:lnTo>
                  <a:pt x="520446" y="69850"/>
                </a:lnTo>
                <a:lnTo>
                  <a:pt x="519922" y="82325"/>
                </a:lnTo>
                <a:lnTo>
                  <a:pt x="507323" y="120542"/>
                </a:lnTo>
                <a:lnTo>
                  <a:pt x="486409" y="135509"/>
                </a:lnTo>
                <a:lnTo>
                  <a:pt x="488314" y="141224"/>
                </a:lnTo>
                <a:lnTo>
                  <a:pt x="521715" y="116459"/>
                </a:lnTo>
                <a:lnTo>
                  <a:pt x="533273" y="70612"/>
                </a:lnTo>
                <a:lnTo>
                  <a:pt x="532536" y="57679"/>
                </a:lnTo>
                <a:lnTo>
                  <a:pt x="515157" y="16073"/>
                </a:lnTo>
                <a:lnTo>
                  <a:pt x="498532" y="3690"/>
                </a:lnTo>
                <a:lnTo>
                  <a:pt x="488314" y="0"/>
                </a:lnTo>
                <a:close/>
              </a:path>
              <a:path w="533400" h="141605">
                <a:moveTo>
                  <a:pt x="44957" y="0"/>
                </a:moveTo>
                <a:lnTo>
                  <a:pt x="11683" y="24764"/>
                </a:lnTo>
                <a:lnTo>
                  <a:pt x="0" y="70612"/>
                </a:lnTo>
                <a:lnTo>
                  <a:pt x="716" y="83615"/>
                </a:lnTo>
                <a:lnTo>
                  <a:pt x="18008" y="125150"/>
                </a:lnTo>
                <a:lnTo>
                  <a:pt x="44957" y="141224"/>
                </a:lnTo>
                <a:lnTo>
                  <a:pt x="46735" y="135509"/>
                </a:lnTo>
                <a:lnTo>
                  <a:pt x="38711" y="131885"/>
                </a:lnTo>
                <a:lnTo>
                  <a:pt x="31781" y="126904"/>
                </a:lnTo>
                <a:lnTo>
                  <a:pt x="13350" y="82325"/>
                </a:lnTo>
                <a:lnTo>
                  <a:pt x="12826" y="69850"/>
                </a:lnTo>
                <a:lnTo>
                  <a:pt x="13350" y="57820"/>
                </a:lnTo>
                <a:lnTo>
                  <a:pt x="25969" y="20448"/>
                </a:lnTo>
                <a:lnTo>
                  <a:pt x="46989" y="5714"/>
                </a:lnTo>
                <a:lnTo>
                  <a:pt x="44957" y="0"/>
                </a:lnTo>
                <a:close/>
              </a:path>
            </a:pathLst>
          </a:custGeom>
          <a:solidFill>
            <a:srgbClr val="000000"/>
          </a:solidFill>
        </p:spPr>
        <p:txBody>
          <a:bodyPr wrap="square" lIns="0" tIns="0" rIns="0" bIns="0" rtlCol="0"/>
          <a:lstStyle/>
          <a:p>
            <a:endParaRPr b="1"/>
          </a:p>
        </p:txBody>
      </p:sp>
      <p:sp>
        <p:nvSpPr>
          <p:cNvPr id="38" name="object 19">
            <a:extLst>
              <a:ext uri="{FF2B5EF4-FFF2-40B4-BE49-F238E27FC236}">
                <a16:creationId xmlns:a16="http://schemas.microsoft.com/office/drawing/2014/main" id="{23746594-E698-3A46-B0C9-1B7DE9958DF4}"/>
              </a:ext>
            </a:extLst>
          </p:cNvPr>
          <p:cNvSpPr txBox="1"/>
          <p:nvPr/>
        </p:nvSpPr>
        <p:spPr>
          <a:xfrm>
            <a:off x="8735868" y="2282126"/>
            <a:ext cx="1257907" cy="197490"/>
          </a:xfrm>
          <a:prstGeom prst="rect">
            <a:avLst/>
          </a:prstGeom>
        </p:spPr>
        <p:txBody>
          <a:bodyPr vert="horz" wrap="square" lIns="0" tIns="12700" rIns="0" bIns="0" rtlCol="0">
            <a:spAutoFit/>
          </a:bodyPr>
          <a:lstStyle/>
          <a:p>
            <a:pPr marL="12700">
              <a:lnSpc>
                <a:spcPct val="100000"/>
              </a:lnSpc>
              <a:spcBef>
                <a:spcPts val="100"/>
              </a:spcBef>
            </a:pPr>
            <a:r>
              <a:rPr sz="1200" b="1" spc="-10" dirty="0">
                <a:cs typeface="Cambria Math"/>
              </a:rPr>
              <a:t>𝐴𝑡𝑡</a:t>
            </a:r>
            <a:r>
              <a:rPr sz="1200" b="1" dirty="0">
                <a:cs typeface="Cambria Math"/>
              </a:rPr>
              <a:t>𝑒</a:t>
            </a:r>
            <a:r>
              <a:rPr sz="1200" b="1" spc="5" dirty="0">
                <a:cs typeface="Cambria Math"/>
              </a:rPr>
              <a:t>𝑛</a:t>
            </a:r>
            <a:r>
              <a:rPr sz="1200" b="1" spc="-10" dirty="0">
                <a:cs typeface="Cambria Math"/>
              </a:rPr>
              <a:t>𝑡</a:t>
            </a:r>
            <a:r>
              <a:rPr sz="1200" b="1" dirty="0">
                <a:cs typeface="Cambria Math"/>
              </a:rPr>
              <a:t>𝑖𝑜𝑛 </a:t>
            </a:r>
            <a:r>
              <a:rPr sz="1200" b="1" spc="5" dirty="0">
                <a:cs typeface="Cambria Math"/>
              </a:rPr>
              <a:t> </a:t>
            </a:r>
            <a:r>
              <a:rPr sz="1200" b="1" spc="25" dirty="0">
                <a:cs typeface="Cambria Math"/>
              </a:rPr>
              <a:t>𝑄</a:t>
            </a:r>
            <a:r>
              <a:rPr sz="1200" b="1" dirty="0">
                <a:cs typeface="Cambria Math"/>
              </a:rPr>
              <a:t>,</a:t>
            </a:r>
            <a:r>
              <a:rPr sz="1200" b="1" spc="-70" dirty="0">
                <a:cs typeface="Cambria Math"/>
              </a:rPr>
              <a:t> </a:t>
            </a:r>
            <a:r>
              <a:rPr sz="1200" b="1" spc="35" dirty="0">
                <a:cs typeface="Cambria Math"/>
              </a:rPr>
              <a:t>𝐾</a:t>
            </a:r>
            <a:r>
              <a:rPr sz="1200" b="1" dirty="0">
                <a:cs typeface="Cambria Math"/>
              </a:rPr>
              <a:t>,</a:t>
            </a:r>
            <a:r>
              <a:rPr sz="1200" b="1" spc="-55" dirty="0">
                <a:cs typeface="Cambria Math"/>
              </a:rPr>
              <a:t> </a:t>
            </a:r>
            <a:r>
              <a:rPr sz="1200" b="1" dirty="0">
                <a:cs typeface="Cambria Math"/>
              </a:rPr>
              <a:t>𝑉</a:t>
            </a:r>
          </a:p>
        </p:txBody>
      </p:sp>
      <p:sp>
        <p:nvSpPr>
          <p:cNvPr id="39" name="object 20">
            <a:extLst>
              <a:ext uri="{FF2B5EF4-FFF2-40B4-BE49-F238E27FC236}">
                <a16:creationId xmlns:a16="http://schemas.microsoft.com/office/drawing/2014/main" id="{FDF0DDF6-7960-7AEC-ECB1-A57C371C0B5A}"/>
              </a:ext>
            </a:extLst>
          </p:cNvPr>
          <p:cNvSpPr txBox="1"/>
          <p:nvPr/>
        </p:nvSpPr>
        <p:spPr>
          <a:xfrm>
            <a:off x="9993775" y="2282126"/>
            <a:ext cx="693599" cy="196753"/>
          </a:xfrm>
          <a:prstGeom prst="rect">
            <a:avLst/>
          </a:prstGeom>
        </p:spPr>
        <p:txBody>
          <a:bodyPr vert="horz" wrap="square" lIns="0" tIns="12700" rIns="0" bIns="0" rtlCol="0">
            <a:spAutoFit/>
          </a:bodyPr>
          <a:lstStyle/>
          <a:p>
            <a:pPr marL="12700">
              <a:lnSpc>
                <a:spcPct val="100000"/>
              </a:lnSpc>
              <a:spcBef>
                <a:spcPts val="100"/>
              </a:spcBef>
            </a:pPr>
            <a:r>
              <a:rPr sz="1200" b="1" dirty="0">
                <a:cs typeface="Cambria Math"/>
              </a:rPr>
              <a:t>=</a:t>
            </a:r>
            <a:r>
              <a:rPr sz="1200" b="1" spc="-5" dirty="0">
                <a:cs typeface="Cambria Math"/>
              </a:rPr>
              <a:t> softmax</a:t>
            </a:r>
            <a:endParaRPr sz="1200" b="1">
              <a:cs typeface="Cambria Math"/>
            </a:endParaRPr>
          </a:p>
        </p:txBody>
      </p:sp>
      <p:sp>
        <p:nvSpPr>
          <p:cNvPr id="40" name="object 21">
            <a:extLst>
              <a:ext uri="{FF2B5EF4-FFF2-40B4-BE49-F238E27FC236}">
                <a16:creationId xmlns:a16="http://schemas.microsoft.com/office/drawing/2014/main" id="{937A5D8F-4530-78F2-6AF9-028B0A81C477}"/>
              </a:ext>
            </a:extLst>
          </p:cNvPr>
          <p:cNvSpPr/>
          <p:nvPr/>
        </p:nvSpPr>
        <p:spPr>
          <a:xfrm>
            <a:off x="10714566" y="2178544"/>
            <a:ext cx="458203" cy="449167"/>
          </a:xfrm>
          <a:custGeom>
            <a:avLst/>
            <a:gdLst/>
            <a:ahLst/>
            <a:cxnLst/>
            <a:rect l="l" t="t" r="r" b="b"/>
            <a:pathLst>
              <a:path w="462279" h="450850">
                <a:moveTo>
                  <a:pt x="76200" y="5334"/>
                </a:moveTo>
                <a:lnTo>
                  <a:pt x="41478" y="39077"/>
                </a:lnTo>
                <a:lnTo>
                  <a:pt x="18923" y="90424"/>
                </a:lnTo>
                <a:lnTo>
                  <a:pt x="4737" y="152717"/>
                </a:lnTo>
                <a:lnTo>
                  <a:pt x="0" y="225044"/>
                </a:lnTo>
                <a:lnTo>
                  <a:pt x="1181" y="262445"/>
                </a:lnTo>
                <a:lnTo>
                  <a:pt x="10655" y="329971"/>
                </a:lnTo>
                <a:lnTo>
                  <a:pt x="29273" y="387146"/>
                </a:lnTo>
                <a:lnTo>
                  <a:pt x="55511" y="432346"/>
                </a:lnTo>
                <a:lnTo>
                  <a:pt x="71374" y="450342"/>
                </a:lnTo>
                <a:lnTo>
                  <a:pt x="76200" y="445008"/>
                </a:lnTo>
                <a:lnTo>
                  <a:pt x="62001" y="426770"/>
                </a:lnTo>
                <a:lnTo>
                  <a:pt x="49682" y="405599"/>
                </a:lnTo>
                <a:lnTo>
                  <a:pt x="30607" y="354457"/>
                </a:lnTo>
                <a:lnTo>
                  <a:pt x="19062" y="293712"/>
                </a:lnTo>
                <a:lnTo>
                  <a:pt x="15240" y="224917"/>
                </a:lnTo>
                <a:lnTo>
                  <a:pt x="16192" y="189903"/>
                </a:lnTo>
                <a:lnTo>
                  <a:pt x="23863" y="125323"/>
                </a:lnTo>
                <a:lnTo>
                  <a:pt x="39230" y="68884"/>
                </a:lnTo>
                <a:lnTo>
                  <a:pt x="62001" y="23634"/>
                </a:lnTo>
                <a:lnTo>
                  <a:pt x="76200" y="5334"/>
                </a:lnTo>
                <a:close/>
              </a:path>
              <a:path w="462279" h="450850">
                <a:moveTo>
                  <a:pt x="381254" y="219964"/>
                </a:moveTo>
                <a:lnTo>
                  <a:pt x="81026" y="219964"/>
                </a:lnTo>
                <a:lnTo>
                  <a:pt x="81026" y="230632"/>
                </a:lnTo>
                <a:lnTo>
                  <a:pt x="381254" y="230632"/>
                </a:lnTo>
                <a:lnTo>
                  <a:pt x="381254" y="219964"/>
                </a:lnTo>
                <a:close/>
              </a:path>
              <a:path w="462279" h="450850">
                <a:moveTo>
                  <a:pt x="462280" y="224917"/>
                </a:moveTo>
                <a:lnTo>
                  <a:pt x="457530" y="152717"/>
                </a:lnTo>
                <a:lnTo>
                  <a:pt x="443357" y="90424"/>
                </a:lnTo>
                <a:lnTo>
                  <a:pt x="420839" y="39077"/>
                </a:lnTo>
                <a:lnTo>
                  <a:pt x="390906" y="0"/>
                </a:lnTo>
                <a:lnTo>
                  <a:pt x="386207" y="5334"/>
                </a:lnTo>
                <a:lnTo>
                  <a:pt x="400329" y="23634"/>
                </a:lnTo>
                <a:lnTo>
                  <a:pt x="412597" y="44805"/>
                </a:lnTo>
                <a:lnTo>
                  <a:pt x="431673" y="95885"/>
                </a:lnTo>
                <a:lnTo>
                  <a:pt x="443204" y="156654"/>
                </a:lnTo>
                <a:lnTo>
                  <a:pt x="447040" y="225044"/>
                </a:lnTo>
                <a:lnTo>
                  <a:pt x="446074" y="260362"/>
                </a:lnTo>
                <a:lnTo>
                  <a:pt x="438404" y="325081"/>
                </a:lnTo>
                <a:lnTo>
                  <a:pt x="423049" y="381482"/>
                </a:lnTo>
                <a:lnTo>
                  <a:pt x="400329" y="426770"/>
                </a:lnTo>
                <a:lnTo>
                  <a:pt x="386207" y="445008"/>
                </a:lnTo>
                <a:lnTo>
                  <a:pt x="390906" y="450342"/>
                </a:lnTo>
                <a:lnTo>
                  <a:pt x="420839" y="411276"/>
                </a:lnTo>
                <a:lnTo>
                  <a:pt x="443357" y="359918"/>
                </a:lnTo>
                <a:lnTo>
                  <a:pt x="457530" y="297472"/>
                </a:lnTo>
                <a:lnTo>
                  <a:pt x="461086" y="262445"/>
                </a:lnTo>
                <a:lnTo>
                  <a:pt x="462280" y="224917"/>
                </a:lnTo>
                <a:close/>
              </a:path>
            </a:pathLst>
          </a:custGeom>
          <a:solidFill>
            <a:srgbClr val="000000"/>
          </a:solidFill>
        </p:spPr>
        <p:txBody>
          <a:bodyPr wrap="square" lIns="0" tIns="0" rIns="0" bIns="0" rtlCol="0"/>
          <a:lstStyle/>
          <a:p>
            <a:endParaRPr b="1"/>
          </a:p>
        </p:txBody>
      </p:sp>
      <p:sp>
        <p:nvSpPr>
          <p:cNvPr id="41" name="object 22">
            <a:extLst>
              <a:ext uri="{FF2B5EF4-FFF2-40B4-BE49-F238E27FC236}">
                <a16:creationId xmlns:a16="http://schemas.microsoft.com/office/drawing/2014/main" id="{83E1BEBC-B31C-DC0B-B40B-07499ECC7D58}"/>
              </a:ext>
            </a:extLst>
          </p:cNvPr>
          <p:cNvSpPr txBox="1"/>
          <p:nvPr/>
        </p:nvSpPr>
        <p:spPr>
          <a:xfrm>
            <a:off x="10757909" y="2166606"/>
            <a:ext cx="362535" cy="196753"/>
          </a:xfrm>
          <a:prstGeom prst="rect">
            <a:avLst/>
          </a:prstGeom>
        </p:spPr>
        <p:txBody>
          <a:bodyPr vert="horz" wrap="square" lIns="0" tIns="12700" rIns="0" bIns="0" rtlCol="0">
            <a:spAutoFit/>
          </a:bodyPr>
          <a:lstStyle/>
          <a:p>
            <a:pPr marL="38100">
              <a:lnSpc>
                <a:spcPct val="100000"/>
              </a:lnSpc>
              <a:spcBef>
                <a:spcPts val="100"/>
              </a:spcBef>
            </a:pPr>
            <a:r>
              <a:rPr sz="1200" b="1" spc="35" dirty="0">
                <a:cs typeface="Cambria Math"/>
              </a:rPr>
              <a:t>𝑄𝐾</a:t>
            </a:r>
            <a:r>
              <a:rPr sz="1275" b="1" spc="52" baseline="29411" dirty="0">
                <a:cs typeface="Cambria Math"/>
              </a:rPr>
              <a:t>𝑇</a:t>
            </a:r>
            <a:endParaRPr sz="1275" b="1" baseline="29411">
              <a:cs typeface="Cambria Math"/>
            </a:endParaRPr>
          </a:p>
        </p:txBody>
      </p:sp>
      <p:sp>
        <p:nvSpPr>
          <p:cNvPr id="42" name="object 23">
            <a:extLst>
              <a:ext uri="{FF2B5EF4-FFF2-40B4-BE49-F238E27FC236}">
                <a16:creationId xmlns:a16="http://schemas.microsoft.com/office/drawing/2014/main" id="{55B35598-8E5B-6348-5546-BC53F997309B}"/>
              </a:ext>
            </a:extLst>
          </p:cNvPr>
          <p:cNvSpPr/>
          <p:nvPr/>
        </p:nvSpPr>
        <p:spPr>
          <a:xfrm>
            <a:off x="10807276" y="2437625"/>
            <a:ext cx="272530" cy="188524"/>
          </a:xfrm>
          <a:custGeom>
            <a:avLst/>
            <a:gdLst/>
            <a:ahLst/>
            <a:cxnLst/>
            <a:rect l="l" t="t" r="r" b="b"/>
            <a:pathLst>
              <a:path w="274954" h="189230">
                <a:moveTo>
                  <a:pt x="116204" y="0"/>
                </a:moveTo>
                <a:lnTo>
                  <a:pt x="95376" y="0"/>
                </a:lnTo>
                <a:lnTo>
                  <a:pt x="50165" y="169290"/>
                </a:lnTo>
                <a:lnTo>
                  <a:pt x="24383" y="111760"/>
                </a:lnTo>
                <a:lnTo>
                  <a:pt x="0" y="122936"/>
                </a:lnTo>
                <a:lnTo>
                  <a:pt x="2286" y="128524"/>
                </a:lnTo>
                <a:lnTo>
                  <a:pt x="14858" y="122936"/>
                </a:lnTo>
                <a:lnTo>
                  <a:pt x="45720" y="189229"/>
                </a:lnTo>
                <a:lnTo>
                  <a:pt x="52958" y="189229"/>
                </a:lnTo>
                <a:lnTo>
                  <a:pt x="101219" y="9905"/>
                </a:lnTo>
                <a:lnTo>
                  <a:pt x="110108" y="9905"/>
                </a:lnTo>
                <a:lnTo>
                  <a:pt x="110108" y="11175"/>
                </a:lnTo>
                <a:lnTo>
                  <a:pt x="274700" y="11175"/>
                </a:lnTo>
                <a:lnTo>
                  <a:pt x="274700" y="507"/>
                </a:lnTo>
                <a:lnTo>
                  <a:pt x="116204" y="507"/>
                </a:lnTo>
                <a:lnTo>
                  <a:pt x="116204" y="0"/>
                </a:lnTo>
                <a:close/>
              </a:path>
            </a:pathLst>
          </a:custGeom>
          <a:solidFill>
            <a:srgbClr val="000000"/>
          </a:solidFill>
        </p:spPr>
        <p:txBody>
          <a:bodyPr wrap="square" lIns="0" tIns="0" rIns="0" bIns="0" rtlCol="0"/>
          <a:lstStyle/>
          <a:p>
            <a:endParaRPr b="1"/>
          </a:p>
        </p:txBody>
      </p:sp>
      <p:sp>
        <p:nvSpPr>
          <p:cNvPr id="43" name="object 24">
            <a:extLst>
              <a:ext uri="{FF2B5EF4-FFF2-40B4-BE49-F238E27FC236}">
                <a16:creationId xmlns:a16="http://schemas.microsoft.com/office/drawing/2014/main" id="{E64B20CE-3025-0B47-4AD0-3492002F0DFF}"/>
              </a:ext>
            </a:extLst>
          </p:cNvPr>
          <p:cNvSpPr txBox="1"/>
          <p:nvPr/>
        </p:nvSpPr>
        <p:spPr>
          <a:xfrm>
            <a:off x="10880180" y="2414714"/>
            <a:ext cx="230360" cy="196753"/>
          </a:xfrm>
          <a:prstGeom prst="rect">
            <a:avLst/>
          </a:prstGeom>
        </p:spPr>
        <p:txBody>
          <a:bodyPr vert="horz" wrap="square" lIns="0" tIns="12700" rIns="0" bIns="0" rtlCol="0">
            <a:spAutoFit/>
          </a:bodyPr>
          <a:lstStyle/>
          <a:p>
            <a:pPr marL="38100">
              <a:lnSpc>
                <a:spcPct val="100000"/>
              </a:lnSpc>
              <a:spcBef>
                <a:spcPts val="100"/>
              </a:spcBef>
            </a:pPr>
            <a:r>
              <a:rPr sz="1200" b="1" spc="25" dirty="0">
                <a:cs typeface="Cambria Math"/>
              </a:rPr>
              <a:t>𝑑</a:t>
            </a:r>
            <a:r>
              <a:rPr sz="1275" b="1" spc="37" baseline="-16339" dirty="0">
                <a:cs typeface="Cambria Math"/>
              </a:rPr>
              <a:t>𝑘</a:t>
            </a:r>
            <a:endParaRPr sz="1275" b="1" baseline="-16339">
              <a:cs typeface="Cambria Math"/>
            </a:endParaRPr>
          </a:p>
        </p:txBody>
      </p:sp>
      <p:sp>
        <p:nvSpPr>
          <p:cNvPr id="44" name="object 25">
            <a:extLst>
              <a:ext uri="{FF2B5EF4-FFF2-40B4-BE49-F238E27FC236}">
                <a16:creationId xmlns:a16="http://schemas.microsoft.com/office/drawing/2014/main" id="{6C900A61-EC9D-D617-A65A-FBE3BF8090F3}"/>
              </a:ext>
            </a:extLst>
          </p:cNvPr>
          <p:cNvSpPr txBox="1"/>
          <p:nvPr/>
        </p:nvSpPr>
        <p:spPr>
          <a:xfrm>
            <a:off x="11198732" y="2282126"/>
            <a:ext cx="120215" cy="196753"/>
          </a:xfrm>
          <a:prstGeom prst="rect">
            <a:avLst/>
          </a:prstGeom>
        </p:spPr>
        <p:txBody>
          <a:bodyPr vert="horz" wrap="square" lIns="0" tIns="12700" rIns="0" bIns="0" rtlCol="0">
            <a:spAutoFit/>
          </a:bodyPr>
          <a:lstStyle/>
          <a:p>
            <a:pPr marL="12700">
              <a:lnSpc>
                <a:spcPct val="100000"/>
              </a:lnSpc>
              <a:spcBef>
                <a:spcPts val="100"/>
              </a:spcBef>
            </a:pPr>
            <a:r>
              <a:rPr sz="1200" b="1" dirty="0">
                <a:cs typeface="Cambria Math"/>
              </a:rPr>
              <a:t>𝑉</a:t>
            </a:r>
            <a:endParaRPr sz="1200" b="1">
              <a:cs typeface="Cambria Math"/>
            </a:endParaRPr>
          </a:p>
        </p:txBody>
      </p:sp>
    </p:spTree>
    <p:extLst>
      <p:ext uri="{BB962C8B-B14F-4D97-AF65-F5344CB8AC3E}">
        <p14:creationId xmlns:p14="http://schemas.microsoft.com/office/powerpoint/2010/main" val="1370626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E68E6-F093-D789-01D2-6E40B4376A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BCED32-26DC-B689-3116-8DE44500BF80}"/>
              </a:ext>
            </a:extLst>
          </p:cNvPr>
          <p:cNvSpPr>
            <a:spLocks noGrp="1"/>
          </p:cNvSpPr>
          <p:nvPr>
            <p:ph type="title"/>
          </p:nvPr>
        </p:nvSpPr>
        <p:spPr>
          <a:xfrm>
            <a:off x="669552" y="594335"/>
            <a:ext cx="10863635" cy="639153"/>
          </a:xfrm>
        </p:spPr>
        <p:txBody>
          <a:bodyPr/>
          <a:lstStyle/>
          <a:p>
            <a:r>
              <a:rPr lang="en-US" dirty="0"/>
              <a:t>Sliding Window Attention: Information Flow (2)</a:t>
            </a:r>
            <a:endParaRPr lang="en-IN" dirty="0"/>
          </a:p>
        </p:txBody>
      </p:sp>
      <p:sp>
        <p:nvSpPr>
          <p:cNvPr id="3" name="Content Placeholder 2">
            <a:extLst>
              <a:ext uri="{FF2B5EF4-FFF2-40B4-BE49-F238E27FC236}">
                <a16:creationId xmlns:a16="http://schemas.microsoft.com/office/drawing/2014/main" id="{FD3BFD61-7D5E-D432-5FB6-8823C6FF214A}"/>
              </a:ext>
            </a:extLst>
          </p:cNvPr>
          <p:cNvSpPr>
            <a:spLocks noGrp="1"/>
          </p:cNvSpPr>
          <p:nvPr>
            <p:ph idx="1"/>
          </p:nvPr>
        </p:nvSpPr>
        <p:spPr>
          <a:xfrm>
            <a:off x="678884" y="1675075"/>
            <a:ext cx="10854304" cy="4398066"/>
          </a:xfrm>
        </p:spPr>
        <p:txBody>
          <a:bodyPr>
            <a:normAutofit/>
          </a:bodyPr>
          <a:lstStyle/>
          <a:p>
            <a:pPr marL="0" indent="0">
              <a:buNone/>
            </a:pPr>
            <a:r>
              <a:rPr lang="en-US" sz="1600" dirty="0">
                <a:solidFill>
                  <a:srgbClr val="161A3E"/>
                </a:solidFill>
              </a:rPr>
              <a:t>The output of the Self-Attention is a matrix of  the same shape as the input sequence, but  where each token now captures information  about other tokens according to the mask  applied. In our case, the last token of the  output captures information about itself and  the two preceding tokens.</a:t>
            </a:r>
          </a:p>
        </p:txBody>
      </p:sp>
      <p:graphicFrame>
        <p:nvGraphicFramePr>
          <p:cNvPr id="6" name="object 3">
            <a:extLst>
              <a:ext uri="{FF2B5EF4-FFF2-40B4-BE49-F238E27FC236}">
                <a16:creationId xmlns:a16="http://schemas.microsoft.com/office/drawing/2014/main" id="{E095A43B-A706-50E1-79B7-9F17A65F0597}"/>
              </a:ext>
            </a:extLst>
          </p:cNvPr>
          <p:cNvGraphicFramePr>
            <a:graphicFrameLocks noGrp="1"/>
          </p:cNvGraphicFramePr>
          <p:nvPr>
            <p:extLst>
              <p:ext uri="{D42A27DB-BD31-4B8C-83A1-F6EECF244321}">
                <p14:modId xmlns:p14="http://schemas.microsoft.com/office/powerpoint/2010/main" val="2747318365"/>
              </p:ext>
            </p:extLst>
          </p:nvPr>
        </p:nvGraphicFramePr>
        <p:xfrm>
          <a:off x="1190298" y="2515392"/>
          <a:ext cx="3637640" cy="3107350"/>
        </p:xfrm>
        <a:graphic>
          <a:graphicData uri="http://schemas.openxmlformats.org/drawingml/2006/table">
            <a:tbl>
              <a:tblPr firstRow="1" bandRow="1">
                <a:tableStyleId>{2D5ABB26-0587-4C30-8999-92F81FD0307C}</a:tableStyleId>
              </a:tblPr>
              <a:tblGrid>
                <a:gridCol w="496764">
                  <a:extLst>
                    <a:ext uri="{9D8B030D-6E8A-4147-A177-3AD203B41FA5}">
                      <a16:colId xmlns:a16="http://schemas.microsoft.com/office/drawing/2014/main" val="20000"/>
                    </a:ext>
                  </a:extLst>
                </a:gridCol>
                <a:gridCol w="523478">
                  <a:extLst>
                    <a:ext uri="{9D8B030D-6E8A-4147-A177-3AD203B41FA5}">
                      <a16:colId xmlns:a16="http://schemas.microsoft.com/office/drawing/2014/main" val="20001"/>
                    </a:ext>
                  </a:extLst>
                </a:gridCol>
                <a:gridCol w="523480">
                  <a:extLst>
                    <a:ext uri="{9D8B030D-6E8A-4147-A177-3AD203B41FA5}">
                      <a16:colId xmlns:a16="http://schemas.microsoft.com/office/drawing/2014/main" val="20002"/>
                    </a:ext>
                  </a:extLst>
                </a:gridCol>
                <a:gridCol w="523480">
                  <a:extLst>
                    <a:ext uri="{9D8B030D-6E8A-4147-A177-3AD203B41FA5}">
                      <a16:colId xmlns:a16="http://schemas.microsoft.com/office/drawing/2014/main" val="20003"/>
                    </a:ext>
                  </a:extLst>
                </a:gridCol>
                <a:gridCol w="523480">
                  <a:extLst>
                    <a:ext uri="{9D8B030D-6E8A-4147-A177-3AD203B41FA5}">
                      <a16:colId xmlns:a16="http://schemas.microsoft.com/office/drawing/2014/main" val="20004"/>
                    </a:ext>
                  </a:extLst>
                </a:gridCol>
                <a:gridCol w="523480">
                  <a:extLst>
                    <a:ext uri="{9D8B030D-6E8A-4147-A177-3AD203B41FA5}">
                      <a16:colId xmlns:a16="http://schemas.microsoft.com/office/drawing/2014/main" val="20005"/>
                    </a:ext>
                  </a:extLst>
                </a:gridCol>
                <a:gridCol w="523478">
                  <a:extLst>
                    <a:ext uri="{9D8B030D-6E8A-4147-A177-3AD203B41FA5}">
                      <a16:colId xmlns:a16="http://schemas.microsoft.com/office/drawing/2014/main" val="20006"/>
                    </a:ext>
                  </a:extLst>
                </a:gridCol>
              </a:tblGrid>
              <a:tr h="443876">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algn="ctr">
                        <a:lnSpc>
                          <a:spcPct val="100000"/>
                        </a:lnSpc>
                      </a:pPr>
                      <a:r>
                        <a:rPr sz="600" b="1" spc="-10" dirty="0">
                          <a:latin typeface="Tahoma"/>
                          <a:cs typeface="Tahoma"/>
                        </a:rPr>
                        <a:t>THE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635" algn="ctr">
                        <a:lnSpc>
                          <a:spcPct val="100000"/>
                        </a:lnSpc>
                      </a:pPr>
                      <a:r>
                        <a:rPr sz="600" b="1" spc="5" dirty="0">
                          <a:latin typeface="Tahoma"/>
                          <a:cs typeface="Tahoma"/>
                        </a:rPr>
                        <a:t>CAT</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algn="ctr">
                        <a:lnSpc>
                          <a:spcPct val="100000"/>
                        </a:lnSpc>
                      </a:pPr>
                      <a:r>
                        <a:rPr sz="600" b="1" spc="-65" dirty="0">
                          <a:latin typeface="Tahoma"/>
                          <a:cs typeface="Tahoma"/>
                        </a:rPr>
                        <a:t>IS</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algn="ctr">
                        <a:lnSpc>
                          <a:spcPct val="100000"/>
                        </a:lnSpc>
                      </a:pPr>
                      <a:r>
                        <a:rPr sz="600" b="1" spc="35" dirty="0">
                          <a:latin typeface="Tahoma"/>
                          <a:cs typeface="Tahoma"/>
                        </a:rPr>
                        <a:t>ON</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1270" algn="ctr">
                        <a:lnSpc>
                          <a:spcPct val="100000"/>
                        </a:lnSpc>
                      </a:pPr>
                      <a:r>
                        <a:rPr sz="600" b="1" dirty="0">
                          <a:latin typeface="Tahoma"/>
                          <a:cs typeface="Tahoma"/>
                        </a:rPr>
                        <a:t>A</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1270" algn="ctr">
                        <a:lnSpc>
                          <a:spcPct val="100000"/>
                        </a:lnSpc>
                      </a:pPr>
                      <a:r>
                        <a:rPr sz="600" b="1" spc="-25" dirty="0">
                          <a:latin typeface="Tahoma"/>
                          <a:cs typeface="Tahoma"/>
                        </a:rPr>
                        <a:t>CHAIR</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extLst>
                  <a:ext uri="{0D108BD9-81ED-4DB2-BD59-A6C34878D82A}">
                    <a16:rowId xmlns:a16="http://schemas.microsoft.com/office/drawing/2014/main" val="10000"/>
                  </a:ext>
                </a:extLst>
              </a:tr>
              <a:tr h="443984">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spc="-10" dirty="0">
                          <a:latin typeface="Tahoma"/>
                          <a:cs typeface="Tahoma"/>
                        </a:rPr>
                        <a:t>THE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5"/>
                        </a:spcBef>
                      </a:pPr>
                      <a:endParaRPr sz="1250">
                        <a:latin typeface="Times New Roman"/>
                        <a:cs typeface="Times New Roman"/>
                      </a:endParaRPr>
                    </a:p>
                    <a:p>
                      <a:pPr algn="ctr">
                        <a:lnSpc>
                          <a:spcPct val="100000"/>
                        </a:lnSpc>
                      </a:pPr>
                      <a:r>
                        <a:rPr sz="1000" spc="5" dirty="0">
                          <a:latin typeface="Tahoma"/>
                          <a:cs typeface="Tahoma"/>
                        </a:rPr>
                        <a:t>1.0</a:t>
                      </a:r>
                      <a:endParaRPr sz="1000">
                        <a:latin typeface="Tahoma"/>
                        <a:cs typeface="Tahoma"/>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4130"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1"/>
                  </a:ext>
                </a:extLst>
              </a:tr>
              <a:tr h="443876">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spc="5" dirty="0">
                          <a:latin typeface="Tahoma"/>
                          <a:cs typeface="Tahoma"/>
                        </a:rPr>
                        <a:t>CAT</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5"/>
                        </a:spcBef>
                      </a:pPr>
                      <a:endParaRPr sz="1250">
                        <a:latin typeface="Times New Roman"/>
                        <a:cs typeface="Times New Roman"/>
                      </a:endParaRPr>
                    </a:p>
                    <a:p>
                      <a:pPr algn="ctr">
                        <a:lnSpc>
                          <a:spcPct val="100000"/>
                        </a:lnSpc>
                        <a:spcBef>
                          <a:spcPts val="5"/>
                        </a:spcBef>
                      </a:pPr>
                      <a:r>
                        <a:rPr sz="1000" spc="10" dirty="0">
                          <a:latin typeface="Tahoma"/>
                          <a:cs typeface="Tahoma"/>
                        </a:rPr>
                        <a:t>0.461</a:t>
                      </a:r>
                      <a:endParaRPr sz="1000">
                        <a:latin typeface="Tahoma"/>
                        <a:cs typeface="Tahoma"/>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
                        </a:spcBef>
                      </a:pPr>
                      <a:endParaRPr sz="1250" dirty="0">
                        <a:latin typeface="Times New Roman"/>
                        <a:cs typeface="Times New Roman"/>
                      </a:endParaRPr>
                    </a:p>
                    <a:p>
                      <a:pPr algn="ctr">
                        <a:lnSpc>
                          <a:spcPct val="100000"/>
                        </a:lnSpc>
                        <a:spcBef>
                          <a:spcPts val="5"/>
                        </a:spcBef>
                      </a:pPr>
                      <a:r>
                        <a:rPr sz="1000" spc="10" dirty="0">
                          <a:latin typeface="Tahoma"/>
                          <a:cs typeface="Tahoma"/>
                        </a:rPr>
                        <a:t>0.538</a:t>
                      </a:r>
                      <a:endParaRPr sz="1000" dirty="0">
                        <a:latin typeface="Tahoma"/>
                        <a:cs typeface="Tahoma"/>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dirty="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dirty="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2"/>
                  </a:ext>
                </a:extLst>
              </a:tr>
              <a:tr h="443877">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spc="-65" dirty="0">
                          <a:latin typeface="Tahoma"/>
                          <a:cs typeface="Tahoma"/>
                        </a:rPr>
                        <a:t>IS</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5" dirty="0">
                          <a:latin typeface="Tahoma"/>
                          <a:cs typeface="Tahoma"/>
                        </a:rPr>
                        <a:t>0.3219</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0.317</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0.361</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3"/>
                  </a:ext>
                </a:extLst>
              </a:tr>
              <a:tr h="443876">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spc="35" dirty="0">
                          <a:latin typeface="Tahoma"/>
                          <a:cs typeface="Tahoma"/>
                        </a:rPr>
                        <a:t>ON</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20"/>
                        </a:spcBef>
                      </a:pPr>
                      <a:endParaRPr sz="1250">
                        <a:latin typeface="Times New Roman"/>
                        <a:cs typeface="Times New Roman"/>
                      </a:endParaRPr>
                    </a:p>
                    <a:p>
                      <a:pPr marR="24130"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0.316</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0.341</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0.343</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4"/>
                  </a:ext>
                </a:extLst>
              </a:tr>
              <a:tr h="443984">
                <a:tc>
                  <a:txBody>
                    <a:bodyPr/>
                    <a:lstStyle/>
                    <a:p>
                      <a:pPr>
                        <a:lnSpc>
                          <a:spcPct val="100000"/>
                        </a:lnSpc>
                      </a:pPr>
                      <a:endParaRPr sz="700">
                        <a:latin typeface="Times New Roman"/>
                        <a:cs typeface="Times New Roman"/>
                      </a:endParaRPr>
                    </a:p>
                    <a:p>
                      <a:pPr>
                        <a:lnSpc>
                          <a:spcPct val="100000"/>
                        </a:lnSpc>
                        <a:spcBef>
                          <a:spcPts val="15"/>
                        </a:spcBef>
                      </a:pPr>
                      <a:endParaRPr sz="750">
                        <a:latin typeface="Times New Roman"/>
                        <a:cs typeface="Times New Roman"/>
                      </a:endParaRPr>
                    </a:p>
                    <a:p>
                      <a:pPr marL="635" algn="ctr">
                        <a:lnSpc>
                          <a:spcPct val="100000"/>
                        </a:lnSpc>
                      </a:pPr>
                      <a:r>
                        <a:rPr sz="600" b="1" dirty="0">
                          <a:latin typeface="Tahoma"/>
                          <a:cs typeface="Tahoma"/>
                        </a:rPr>
                        <a:t>A</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25"/>
                        </a:spcBef>
                      </a:pPr>
                      <a:endParaRPr sz="1250">
                        <a:latin typeface="Times New Roman"/>
                        <a:cs typeface="Times New Roman"/>
                      </a:endParaRPr>
                    </a:p>
                    <a:p>
                      <a:pPr marR="24130"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4130"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0.326</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0.323</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0.351</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5"/>
                  </a:ext>
                </a:extLst>
              </a:tr>
              <a:tr h="443877">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spcBef>
                          <a:spcPts val="5"/>
                        </a:spcBef>
                      </a:pPr>
                      <a:r>
                        <a:rPr sz="600" b="1" spc="-25" dirty="0">
                          <a:latin typeface="Tahoma"/>
                          <a:cs typeface="Tahoma"/>
                        </a:rPr>
                        <a:t>CHAIR</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25"/>
                        </a:spcBef>
                      </a:pPr>
                      <a:endParaRPr sz="1250">
                        <a:latin typeface="Times New Roman"/>
                        <a:cs typeface="Times New Roman"/>
                      </a:endParaRPr>
                    </a:p>
                    <a:p>
                      <a:pPr marR="24130"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4130"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spcBef>
                          <a:spcPts val="5"/>
                        </a:spcBef>
                      </a:pPr>
                      <a:r>
                        <a:rPr sz="1000" spc="10" dirty="0">
                          <a:latin typeface="Tahoma"/>
                          <a:cs typeface="Tahoma"/>
                        </a:rPr>
                        <a:t>0.313</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spcBef>
                          <a:spcPts val="5"/>
                        </a:spcBef>
                      </a:pPr>
                      <a:r>
                        <a:rPr sz="1000" spc="10" dirty="0">
                          <a:latin typeface="Tahoma"/>
                          <a:cs typeface="Tahoma"/>
                        </a:rPr>
                        <a:t>0.331</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dirty="0">
                        <a:latin typeface="Times New Roman"/>
                        <a:cs typeface="Times New Roman"/>
                      </a:endParaRPr>
                    </a:p>
                    <a:p>
                      <a:pPr algn="ctr">
                        <a:lnSpc>
                          <a:spcPct val="100000"/>
                        </a:lnSpc>
                        <a:spcBef>
                          <a:spcPts val="5"/>
                        </a:spcBef>
                      </a:pPr>
                      <a:r>
                        <a:rPr sz="1000" spc="10" dirty="0">
                          <a:latin typeface="Tahoma"/>
                          <a:cs typeface="Tahoma"/>
                        </a:rPr>
                        <a:t>0.356</a:t>
                      </a:r>
                      <a:endParaRPr sz="1000" dirty="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6"/>
                  </a:ext>
                </a:extLst>
              </a:tr>
            </a:tbl>
          </a:graphicData>
        </a:graphic>
      </p:graphicFrame>
      <p:sp>
        <p:nvSpPr>
          <p:cNvPr id="7" name="object 4">
            <a:extLst>
              <a:ext uri="{FF2B5EF4-FFF2-40B4-BE49-F238E27FC236}">
                <a16:creationId xmlns:a16="http://schemas.microsoft.com/office/drawing/2014/main" id="{B2BEB365-B42A-E33A-A5A3-57CD016EF4D6}"/>
              </a:ext>
            </a:extLst>
          </p:cNvPr>
          <p:cNvSpPr txBox="1"/>
          <p:nvPr/>
        </p:nvSpPr>
        <p:spPr>
          <a:xfrm>
            <a:off x="5396236" y="3256606"/>
            <a:ext cx="1689100" cy="1696720"/>
          </a:xfrm>
          <a:prstGeom prst="rect">
            <a:avLst/>
          </a:prstGeom>
          <a:solidFill>
            <a:srgbClr val="D2F5F1"/>
          </a:solidFill>
        </p:spPr>
        <p:txBody>
          <a:bodyPr vert="horz" wrap="square" lIns="0" tIns="0" rIns="0" bIns="0" rtlCol="0">
            <a:spAutoFit/>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marL="3175" algn="ctr">
              <a:lnSpc>
                <a:spcPct val="100000"/>
              </a:lnSpc>
              <a:spcBef>
                <a:spcPts val="1075"/>
              </a:spcBef>
            </a:pPr>
            <a:r>
              <a:rPr sz="1200" b="1" spc="5" dirty="0">
                <a:latin typeface="Tahoma"/>
                <a:cs typeface="Tahoma"/>
              </a:rPr>
              <a:t>V</a:t>
            </a:r>
            <a:endParaRPr sz="1200">
              <a:latin typeface="Tahoma"/>
              <a:cs typeface="Tahoma"/>
            </a:endParaRPr>
          </a:p>
          <a:p>
            <a:pPr>
              <a:lnSpc>
                <a:spcPct val="100000"/>
              </a:lnSpc>
            </a:pPr>
            <a:endParaRPr sz="1400">
              <a:latin typeface="Tahoma"/>
              <a:cs typeface="Tahoma"/>
            </a:endParaRPr>
          </a:p>
          <a:p>
            <a:pPr algn="ctr">
              <a:lnSpc>
                <a:spcPct val="100000"/>
              </a:lnSpc>
              <a:spcBef>
                <a:spcPts val="915"/>
              </a:spcBef>
            </a:pPr>
            <a:r>
              <a:rPr sz="1000" spc="-35" dirty="0">
                <a:latin typeface="Tahoma"/>
                <a:cs typeface="Tahoma"/>
              </a:rPr>
              <a:t>(6,</a:t>
            </a:r>
            <a:r>
              <a:rPr sz="1000" spc="-60" dirty="0">
                <a:latin typeface="Tahoma"/>
                <a:cs typeface="Tahoma"/>
              </a:rPr>
              <a:t> </a:t>
            </a:r>
            <a:r>
              <a:rPr sz="1000" spc="25" dirty="0">
                <a:latin typeface="Tahoma"/>
                <a:cs typeface="Tahoma"/>
              </a:rPr>
              <a:t>4096</a:t>
            </a:r>
            <a:r>
              <a:rPr sz="1000" spc="-85" dirty="0">
                <a:latin typeface="Tahoma"/>
                <a:cs typeface="Tahoma"/>
              </a:rPr>
              <a:t>)</a:t>
            </a:r>
            <a:endParaRPr sz="1000">
              <a:latin typeface="Tahoma"/>
              <a:cs typeface="Tahoma"/>
            </a:endParaRPr>
          </a:p>
        </p:txBody>
      </p:sp>
      <p:sp>
        <p:nvSpPr>
          <p:cNvPr id="8" name="object 5">
            <a:extLst>
              <a:ext uri="{FF2B5EF4-FFF2-40B4-BE49-F238E27FC236}">
                <a16:creationId xmlns:a16="http://schemas.microsoft.com/office/drawing/2014/main" id="{6ADEF40B-4874-0DCE-7C8E-DB8AA69C3004}"/>
              </a:ext>
            </a:extLst>
          </p:cNvPr>
          <p:cNvSpPr txBox="1"/>
          <p:nvPr/>
        </p:nvSpPr>
        <p:spPr>
          <a:xfrm>
            <a:off x="4986406" y="3955563"/>
            <a:ext cx="173990" cy="300355"/>
          </a:xfrm>
          <a:prstGeom prst="rect">
            <a:avLst/>
          </a:prstGeom>
        </p:spPr>
        <p:txBody>
          <a:bodyPr vert="horz" wrap="square" lIns="0" tIns="12700" rIns="0" bIns="0" rtlCol="0">
            <a:spAutoFit/>
          </a:bodyPr>
          <a:lstStyle/>
          <a:p>
            <a:pPr marL="12700">
              <a:lnSpc>
                <a:spcPct val="100000"/>
              </a:lnSpc>
              <a:spcBef>
                <a:spcPts val="100"/>
              </a:spcBef>
            </a:pPr>
            <a:r>
              <a:rPr sz="1800" spc="120" dirty="0">
                <a:latin typeface="Tahoma"/>
                <a:cs typeface="Tahoma"/>
              </a:rPr>
              <a:t>X</a:t>
            </a:r>
            <a:endParaRPr sz="1800" dirty="0">
              <a:latin typeface="Tahoma"/>
              <a:cs typeface="Tahoma"/>
            </a:endParaRPr>
          </a:p>
        </p:txBody>
      </p:sp>
      <p:sp>
        <p:nvSpPr>
          <p:cNvPr id="9" name="object 6">
            <a:extLst>
              <a:ext uri="{FF2B5EF4-FFF2-40B4-BE49-F238E27FC236}">
                <a16:creationId xmlns:a16="http://schemas.microsoft.com/office/drawing/2014/main" id="{3D4485C4-9963-B2EA-A052-067878A88FBC}"/>
              </a:ext>
            </a:extLst>
          </p:cNvPr>
          <p:cNvSpPr txBox="1"/>
          <p:nvPr/>
        </p:nvSpPr>
        <p:spPr>
          <a:xfrm>
            <a:off x="2164568" y="5725069"/>
            <a:ext cx="1689100" cy="245745"/>
          </a:xfrm>
          <a:prstGeom prst="rect">
            <a:avLst/>
          </a:prstGeom>
          <a:solidFill>
            <a:srgbClr val="D2F5F1"/>
          </a:solidFill>
        </p:spPr>
        <p:txBody>
          <a:bodyPr vert="horz" wrap="square" lIns="0" tIns="40005" rIns="0" bIns="0" rtlCol="0">
            <a:spAutoFit/>
          </a:bodyPr>
          <a:lstStyle/>
          <a:p>
            <a:pPr algn="ctr">
              <a:lnSpc>
                <a:spcPct val="100000"/>
              </a:lnSpc>
              <a:spcBef>
                <a:spcPts val="315"/>
              </a:spcBef>
            </a:pPr>
            <a:r>
              <a:rPr sz="1000" spc="-35" dirty="0">
                <a:latin typeface="Tahoma"/>
                <a:cs typeface="Tahoma"/>
              </a:rPr>
              <a:t>(6,</a:t>
            </a:r>
            <a:r>
              <a:rPr sz="1000" spc="-60" dirty="0">
                <a:latin typeface="Tahoma"/>
                <a:cs typeface="Tahoma"/>
              </a:rPr>
              <a:t> </a:t>
            </a:r>
            <a:r>
              <a:rPr sz="1000" spc="-35" dirty="0">
                <a:latin typeface="Tahoma"/>
                <a:cs typeface="Tahoma"/>
              </a:rPr>
              <a:t>6)</a:t>
            </a:r>
            <a:endParaRPr sz="1000">
              <a:latin typeface="Tahoma"/>
              <a:cs typeface="Tahoma"/>
            </a:endParaRPr>
          </a:p>
        </p:txBody>
      </p:sp>
      <p:sp>
        <p:nvSpPr>
          <p:cNvPr id="10" name="object 7">
            <a:extLst>
              <a:ext uri="{FF2B5EF4-FFF2-40B4-BE49-F238E27FC236}">
                <a16:creationId xmlns:a16="http://schemas.microsoft.com/office/drawing/2014/main" id="{F8E944A9-E1D9-9E7F-529A-F59CDEC17440}"/>
              </a:ext>
            </a:extLst>
          </p:cNvPr>
          <p:cNvSpPr txBox="1"/>
          <p:nvPr/>
        </p:nvSpPr>
        <p:spPr>
          <a:xfrm>
            <a:off x="7307078" y="3955563"/>
            <a:ext cx="178435" cy="300355"/>
          </a:xfrm>
          <a:prstGeom prst="rect">
            <a:avLst/>
          </a:prstGeom>
        </p:spPr>
        <p:txBody>
          <a:bodyPr vert="horz" wrap="square" lIns="0" tIns="12700" rIns="0" bIns="0" rtlCol="0">
            <a:spAutoFit/>
          </a:bodyPr>
          <a:lstStyle/>
          <a:p>
            <a:pPr marL="12700">
              <a:lnSpc>
                <a:spcPct val="100000"/>
              </a:lnSpc>
              <a:spcBef>
                <a:spcPts val="100"/>
              </a:spcBef>
            </a:pPr>
            <a:r>
              <a:rPr sz="1800" spc="-110" dirty="0">
                <a:latin typeface="Tahoma"/>
                <a:cs typeface="Tahoma"/>
              </a:rPr>
              <a:t>=</a:t>
            </a:r>
            <a:endParaRPr sz="1800">
              <a:latin typeface="Tahoma"/>
              <a:cs typeface="Tahoma"/>
            </a:endParaRPr>
          </a:p>
        </p:txBody>
      </p:sp>
      <p:sp>
        <p:nvSpPr>
          <p:cNvPr id="11" name="object 8">
            <a:extLst>
              <a:ext uri="{FF2B5EF4-FFF2-40B4-BE49-F238E27FC236}">
                <a16:creationId xmlns:a16="http://schemas.microsoft.com/office/drawing/2014/main" id="{FCCCEB40-3650-65A3-D9CD-05663192522D}"/>
              </a:ext>
            </a:extLst>
          </p:cNvPr>
          <p:cNvSpPr txBox="1"/>
          <p:nvPr/>
        </p:nvSpPr>
        <p:spPr>
          <a:xfrm>
            <a:off x="7638040" y="3256606"/>
            <a:ext cx="1689100" cy="1696720"/>
          </a:xfrm>
          <a:prstGeom prst="rect">
            <a:avLst/>
          </a:prstGeom>
          <a:solidFill>
            <a:srgbClr val="D2F5F1"/>
          </a:solidFill>
        </p:spPr>
        <p:txBody>
          <a:bodyPr vert="horz" wrap="square" lIns="0" tIns="0" rIns="0" bIns="0" rtlCol="0">
            <a:spAutoFit/>
          </a:bodyPr>
          <a:lstStyle/>
          <a:p>
            <a:pPr>
              <a:lnSpc>
                <a:spcPct val="100000"/>
              </a:lnSpc>
            </a:pPr>
            <a:endParaRPr sz="1000">
              <a:latin typeface="Times New Roman"/>
              <a:cs typeface="Times New Roman"/>
            </a:endParaRPr>
          </a:p>
          <a:p>
            <a:pPr>
              <a:lnSpc>
                <a:spcPct val="100000"/>
              </a:lnSpc>
            </a:pPr>
            <a:endParaRPr sz="1000">
              <a:latin typeface="Times New Roman"/>
              <a:cs typeface="Times New Roman"/>
            </a:endParaRPr>
          </a:p>
          <a:p>
            <a:pPr>
              <a:lnSpc>
                <a:spcPct val="100000"/>
              </a:lnSpc>
            </a:pPr>
            <a:endParaRPr sz="1000">
              <a:latin typeface="Times New Roman"/>
              <a:cs typeface="Times New Roman"/>
            </a:endParaRPr>
          </a:p>
          <a:p>
            <a:pPr>
              <a:lnSpc>
                <a:spcPct val="100000"/>
              </a:lnSpc>
            </a:pPr>
            <a:endParaRPr sz="1000">
              <a:latin typeface="Times New Roman"/>
              <a:cs typeface="Times New Roman"/>
            </a:endParaRPr>
          </a:p>
          <a:p>
            <a:pPr>
              <a:lnSpc>
                <a:spcPct val="100000"/>
              </a:lnSpc>
              <a:spcBef>
                <a:spcPts val="5"/>
              </a:spcBef>
            </a:pPr>
            <a:endParaRPr sz="1050">
              <a:latin typeface="Times New Roman"/>
              <a:cs typeface="Times New Roman"/>
            </a:endParaRPr>
          </a:p>
          <a:p>
            <a:pPr marL="1270" algn="ctr">
              <a:lnSpc>
                <a:spcPct val="100000"/>
              </a:lnSpc>
            </a:pPr>
            <a:r>
              <a:rPr sz="800" b="1" spc="-10" dirty="0">
                <a:latin typeface="Tahoma"/>
                <a:cs typeface="Tahoma"/>
              </a:rPr>
              <a:t>Output</a:t>
            </a:r>
            <a:endParaRPr sz="800">
              <a:latin typeface="Tahoma"/>
              <a:cs typeface="Tahoma"/>
            </a:endParaRPr>
          </a:p>
          <a:p>
            <a:pPr>
              <a:lnSpc>
                <a:spcPct val="100000"/>
              </a:lnSpc>
            </a:pPr>
            <a:endParaRPr sz="1000">
              <a:latin typeface="Tahoma"/>
              <a:cs typeface="Tahoma"/>
            </a:endParaRPr>
          </a:p>
          <a:p>
            <a:pPr>
              <a:lnSpc>
                <a:spcPct val="100000"/>
              </a:lnSpc>
            </a:pPr>
            <a:endParaRPr sz="1000">
              <a:latin typeface="Tahoma"/>
              <a:cs typeface="Tahoma"/>
            </a:endParaRPr>
          </a:p>
          <a:p>
            <a:pPr algn="ctr">
              <a:lnSpc>
                <a:spcPct val="100000"/>
              </a:lnSpc>
              <a:spcBef>
                <a:spcPts val="760"/>
              </a:spcBef>
            </a:pPr>
            <a:r>
              <a:rPr sz="1000" spc="-35" dirty="0">
                <a:latin typeface="Tahoma"/>
                <a:cs typeface="Tahoma"/>
              </a:rPr>
              <a:t>(6,</a:t>
            </a:r>
            <a:r>
              <a:rPr sz="1000" spc="-60" dirty="0">
                <a:latin typeface="Tahoma"/>
                <a:cs typeface="Tahoma"/>
              </a:rPr>
              <a:t> </a:t>
            </a:r>
            <a:r>
              <a:rPr sz="1000" spc="25" dirty="0">
                <a:latin typeface="Tahoma"/>
                <a:cs typeface="Tahoma"/>
              </a:rPr>
              <a:t>4096</a:t>
            </a:r>
            <a:r>
              <a:rPr sz="1000" spc="-85" dirty="0">
                <a:latin typeface="Tahoma"/>
                <a:cs typeface="Tahoma"/>
              </a:rPr>
              <a:t>)</a:t>
            </a:r>
            <a:endParaRPr sz="1000">
              <a:latin typeface="Tahoma"/>
              <a:cs typeface="Tahoma"/>
            </a:endParaRPr>
          </a:p>
        </p:txBody>
      </p:sp>
      <p:sp>
        <p:nvSpPr>
          <p:cNvPr id="12" name="object 10">
            <a:extLst>
              <a:ext uri="{FF2B5EF4-FFF2-40B4-BE49-F238E27FC236}">
                <a16:creationId xmlns:a16="http://schemas.microsoft.com/office/drawing/2014/main" id="{C0AA1231-ED83-16A2-11F3-5462C7BC0F8A}"/>
              </a:ext>
            </a:extLst>
          </p:cNvPr>
          <p:cNvSpPr/>
          <p:nvPr/>
        </p:nvSpPr>
        <p:spPr>
          <a:xfrm>
            <a:off x="9093272" y="2893449"/>
            <a:ext cx="533400" cy="141605"/>
          </a:xfrm>
          <a:custGeom>
            <a:avLst/>
            <a:gdLst/>
            <a:ahLst/>
            <a:cxnLst/>
            <a:rect l="l" t="t" r="r" b="b"/>
            <a:pathLst>
              <a:path w="533400" h="141605">
                <a:moveTo>
                  <a:pt x="488314" y="0"/>
                </a:moveTo>
                <a:lnTo>
                  <a:pt x="486282" y="5714"/>
                </a:lnTo>
                <a:lnTo>
                  <a:pt x="494401" y="9261"/>
                </a:lnTo>
                <a:lnTo>
                  <a:pt x="501411" y="14176"/>
                </a:lnTo>
                <a:lnTo>
                  <a:pt x="519922" y="57820"/>
                </a:lnTo>
                <a:lnTo>
                  <a:pt x="520446" y="69850"/>
                </a:lnTo>
                <a:lnTo>
                  <a:pt x="519922" y="82325"/>
                </a:lnTo>
                <a:lnTo>
                  <a:pt x="507323" y="120542"/>
                </a:lnTo>
                <a:lnTo>
                  <a:pt x="486409" y="135509"/>
                </a:lnTo>
                <a:lnTo>
                  <a:pt x="488314" y="141224"/>
                </a:lnTo>
                <a:lnTo>
                  <a:pt x="521715" y="116459"/>
                </a:lnTo>
                <a:lnTo>
                  <a:pt x="533273" y="70612"/>
                </a:lnTo>
                <a:lnTo>
                  <a:pt x="532536" y="57679"/>
                </a:lnTo>
                <a:lnTo>
                  <a:pt x="515157" y="16073"/>
                </a:lnTo>
                <a:lnTo>
                  <a:pt x="498532" y="3690"/>
                </a:lnTo>
                <a:lnTo>
                  <a:pt x="488314" y="0"/>
                </a:lnTo>
                <a:close/>
              </a:path>
              <a:path w="533400" h="141605">
                <a:moveTo>
                  <a:pt x="44957" y="0"/>
                </a:moveTo>
                <a:lnTo>
                  <a:pt x="11683" y="24764"/>
                </a:lnTo>
                <a:lnTo>
                  <a:pt x="0" y="70612"/>
                </a:lnTo>
                <a:lnTo>
                  <a:pt x="716" y="83615"/>
                </a:lnTo>
                <a:lnTo>
                  <a:pt x="18008" y="125150"/>
                </a:lnTo>
                <a:lnTo>
                  <a:pt x="44957" y="141224"/>
                </a:lnTo>
                <a:lnTo>
                  <a:pt x="46735" y="135509"/>
                </a:lnTo>
                <a:lnTo>
                  <a:pt x="38711" y="131885"/>
                </a:lnTo>
                <a:lnTo>
                  <a:pt x="31781" y="126904"/>
                </a:lnTo>
                <a:lnTo>
                  <a:pt x="13350" y="82325"/>
                </a:lnTo>
                <a:lnTo>
                  <a:pt x="12826" y="69850"/>
                </a:lnTo>
                <a:lnTo>
                  <a:pt x="13350" y="57820"/>
                </a:lnTo>
                <a:lnTo>
                  <a:pt x="25969" y="20448"/>
                </a:lnTo>
                <a:lnTo>
                  <a:pt x="46989" y="5714"/>
                </a:lnTo>
                <a:lnTo>
                  <a:pt x="44957" y="0"/>
                </a:lnTo>
                <a:close/>
              </a:path>
            </a:pathLst>
          </a:custGeom>
          <a:solidFill>
            <a:srgbClr val="000000"/>
          </a:solidFill>
        </p:spPr>
        <p:txBody>
          <a:bodyPr wrap="square" lIns="0" tIns="0" rIns="0" bIns="0" rtlCol="0"/>
          <a:lstStyle/>
          <a:p>
            <a:endParaRPr b="1"/>
          </a:p>
        </p:txBody>
      </p:sp>
      <p:sp>
        <p:nvSpPr>
          <p:cNvPr id="13" name="object 11">
            <a:extLst>
              <a:ext uri="{FF2B5EF4-FFF2-40B4-BE49-F238E27FC236}">
                <a16:creationId xmlns:a16="http://schemas.microsoft.com/office/drawing/2014/main" id="{B45D5719-DF03-E59A-D549-33386A2CFDBA}"/>
              </a:ext>
            </a:extLst>
          </p:cNvPr>
          <p:cNvSpPr txBox="1"/>
          <p:nvPr/>
        </p:nvSpPr>
        <p:spPr>
          <a:xfrm>
            <a:off x="8408235" y="2841963"/>
            <a:ext cx="1962150" cy="197490"/>
          </a:xfrm>
          <a:prstGeom prst="rect">
            <a:avLst/>
          </a:prstGeom>
        </p:spPr>
        <p:txBody>
          <a:bodyPr vert="horz" wrap="square" lIns="0" tIns="12700" rIns="0" bIns="0" rtlCol="0">
            <a:spAutoFit/>
          </a:bodyPr>
          <a:lstStyle/>
          <a:p>
            <a:pPr marL="12700">
              <a:lnSpc>
                <a:spcPct val="100000"/>
              </a:lnSpc>
              <a:spcBef>
                <a:spcPts val="100"/>
              </a:spcBef>
            </a:pPr>
            <a:r>
              <a:rPr sz="1200" b="1" spc="-10" dirty="0">
                <a:cs typeface="Cambria Math"/>
              </a:rPr>
              <a:t>𝐴𝑡𝑡</a:t>
            </a:r>
            <a:r>
              <a:rPr sz="1200" b="1" dirty="0">
                <a:cs typeface="Cambria Math"/>
              </a:rPr>
              <a:t>𝑒</a:t>
            </a:r>
            <a:r>
              <a:rPr sz="1200" b="1" spc="5" dirty="0">
                <a:cs typeface="Cambria Math"/>
              </a:rPr>
              <a:t>𝑛</a:t>
            </a:r>
            <a:r>
              <a:rPr sz="1200" b="1" spc="-10" dirty="0">
                <a:cs typeface="Cambria Math"/>
              </a:rPr>
              <a:t>𝑡</a:t>
            </a:r>
            <a:r>
              <a:rPr sz="1200" b="1" dirty="0">
                <a:cs typeface="Cambria Math"/>
              </a:rPr>
              <a:t>𝑖𝑜𝑛 </a:t>
            </a:r>
            <a:r>
              <a:rPr sz="1200" b="1" spc="5" dirty="0">
                <a:cs typeface="Cambria Math"/>
              </a:rPr>
              <a:t> </a:t>
            </a:r>
            <a:r>
              <a:rPr sz="1200" b="1" spc="25" dirty="0">
                <a:cs typeface="Cambria Math"/>
              </a:rPr>
              <a:t>𝑄</a:t>
            </a:r>
            <a:r>
              <a:rPr sz="1200" b="1" dirty="0">
                <a:cs typeface="Cambria Math"/>
              </a:rPr>
              <a:t>,</a:t>
            </a:r>
            <a:r>
              <a:rPr sz="1200" b="1" spc="-70" dirty="0">
                <a:cs typeface="Cambria Math"/>
              </a:rPr>
              <a:t> </a:t>
            </a:r>
            <a:r>
              <a:rPr sz="1200" b="1" spc="35" dirty="0">
                <a:cs typeface="Cambria Math"/>
              </a:rPr>
              <a:t>𝐾</a:t>
            </a:r>
            <a:r>
              <a:rPr sz="1200" b="1" dirty="0">
                <a:cs typeface="Cambria Math"/>
              </a:rPr>
              <a:t>,</a:t>
            </a:r>
            <a:r>
              <a:rPr sz="1200" b="1" spc="-55" dirty="0">
                <a:cs typeface="Cambria Math"/>
              </a:rPr>
              <a:t> </a:t>
            </a:r>
            <a:r>
              <a:rPr sz="1200" b="1" dirty="0">
                <a:cs typeface="Cambria Math"/>
              </a:rPr>
              <a:t>𝑉  </a:t>
            </a:r>
            <a:r>
              <a:rPr sz="1200" b="1" spc="75" dirty="0">
                <a:cs typeface="Cambria Math"/>
              </a:rPr>
              <a:t> </a:t>
            </a:r>
            <a:r>
              <a:rPr sz="1200" b="1" dirty="0">
                <a:cs typeface="Cambria Math"/>
              </a:rPr>
              <a:t>=</a:t>
            </a:r>
            <a:r>
              <a:rPr sz="1200" b="1" spc="60" dirty="0">
                <a:cs typeface="Cambria Math"/>
              </a:rPr>
              <a:t> </a:t>
            </a:r>
            <a:r>
              <a:rPr sz="1200" b="1" dirty="0">
                <a:cs typeface="Cambria Math"/>
              </a:rPr>
              <a:t>so</a:t>
            </a:r>
            <a:r>
              <a:rPr sz="1200" b="1" spc="-10" dirty="0">
                <a:cs typeface="Cambria Math"/>
              </a:rPr>
              <a:t>f</a:t>
            </a:r>
            <a:r>
              <a:rPr sz="1200" b="1" spc="-5" dirty="0">
                <a:cs typeface="Cambria Math"/>
              </a:rPr>
              <a:t>tmax</a:t>
            </a:r>
            <a:endParaRPr sz="1200" b="1">
              <a:cs typeface="Cambria Math"/>
            </a:endParaRPr>
          </a:p>
        </p:txBody>
      </p:sp>
      <p:sp>
        <p:nvSpPr>
          <p:cNvPr id="14" name="object 12">
            <a:extLst>
              <a:ext uri="{FF2B5EF4-FFF2-40B4-BE49-F238E27FC236}">
                <a16:creationId xmlns:a16="http://schemas.microsoft.com/office/drawing/2014/main" id="{5F5E7F2B-6682-D548-667C-2BD13943EC77}"/>
              </a:ext>
            </a:extLst>
          </p:cNvPr>
          <p:cNvSpPr/>
          <p:nvPr/>
        </p:nvSpPr>
        <p:spPr>
          <a:xfrm>
            <a:off x="10393245" y="2738381"/>
            <a:ext cx="462280" cy="450850"/>
          </a:xfrm>
          <a:custGeom>
            <a:avLst/>
            <a:gdLst/>
            <a:ahLst/>
            <a:cxnLst/>
            <a:rect l="l" t="t" r="r" b="b"/>
            <a:pathLst>
              <a:path w="462279" h="450850">
                <a:moveTo>
                  <a:pt x="76200" y="5334"/>
                </a:moveTo>
                <a:lnTo>
                  <a:pt x="41478" y="39077"/>
                </a:lnTo>
                <a:lnTo>
                  <a:pt x="18923" y="90424"/>
                </a:lnTo>
                <a:lnTo>
                  <a:pt x="4737" y="152717"/>
                </a:lnTo>
                <a:lnTo>
                  <a:pt x="0" y="225044"/>
                </a:lnTo>
                <a:lnTo>
                  <a:pt x="1181" y="262445"/>
                </a:lnTo>
                <a:lnTo>
                  <a:pt x="10655" y="329971"/>
                </a:lnTo>
                <a:lnTo>
                  <a:pt x="29273" y="387146"/>
                </a:lnTo>
                <a:lnTo>
                  <a:pt x="55511" y="432346"/>
                </a:lnTo>
                <a:lnTo>
                  <a:pt x="71374" y="450342"/>
                </a:lnTo>
                <a:lnTo>
                  <a:pt x="76200" y="445008"/>
                </a:lnTo>
                <a:lnTo>
                  <a:pt x="62001" y="426770"/>
                </a:lnTo>
                <a:lnTo>
                  <a:pt x="49682" y="405599"/>
                </a:lnTo>
                <a:lnTo>
                  <a:pt x="30607" y="354457"/>
                </a:lnTo>
                <a:lnTo>
                  <a:pt x="19062" y="293712"/>
                </a:lnTo>
                <a:lnTo>
                  <a:pt x="15240" y="224917"/>
                </a:lnTo>
                <a:lnTo>
                  <a:pt x="16192" y="189903"/>
                </a:lnTo>
                <a:lnTo>
                  <a:pt x="23863" y="125323"/>
                </a:lnTo>
                <a:lnTo>
                  <a:pt x="39230" y="68884"/>
                </a:lnTo>
                <a:lnTo>
                  <a:pt x="62001" y="23634"/>
                </a:lnTo>
                <a:lnTo>
                  <a:pt x="76200" y="5334"/>
                </a:lnTo>
                <a:close/>
              </a:path>
              <a:path w="462279" h="450850">
                <a:moveTo>
                  <a:pt x="381254" y="219964"/>
                </a:moveTo>
                <a:lnTo>
                  <a:pt x="81026" y="219964"/>
                </a:lnTo>
                <a:lnTo>
                  <a:pt x="81026" y="230632"/>
                </a:lnTo>
                <a:lnTo>
                  <a:pt x="381254" y="230632"/>
                </a:lnTo>
                <a:lnTo>
                  <a:pt x="381254" y="219964"/>
                </a:lnTo>
                <a:close/>
              </a:path>
              <a:path w="462279" h="450850">
                <a:moveTo>
                  <a:pt x="462280" y="224917"/>
                </a:moveTo>
                <a:lnTo>
                  <a:pt x="457530" y="152717"/>
                </a:lnTo>
                <a:lnTo>
                  <a:pt x="443357" y="90424"/>
                </a:lnTo>
                <a:lnTo>
                  <a:pt x="420839" y="39077"/>
                </a:lnTo>
                <a:lnTo>
                  <a:pt x="390906" y="0"/>
                </a:lnTo>
                <a:lnTo>
                  <a:pt x="386207" y="5334"/>
                </a:lnTo>
                <a:lnTo>
                  <a:pt x="400329" y="23634"/>
                </a:lnTo>
                <a:lnTo>
                  <a:pt x="412597" y="44805"/>
                </a:lnTo>
                <a:lnTo>
                  <a:pt x="431673" y="95885"/>
                </a:lnTo>
                <a:lnTo>
                  <a:pt x="443204" y="156654"/>
                </a:lnTo>
                <a:lnTo>
                  <a:pt x="447040" y="225044"/>
                </a:lnTo>
                <a:lnTo>
                  <a:pt x="446074" y="260362"/>
                </a:lnTo>
                <a:lnTo>
                  <a:pt x="438404" y="325081"/>
                </a:lnTo>
                <a:lnTo>
                  <a:pt x="423049" y="381482"/>
                </a:lnTo>
                <a:lnTo>
                  <a:pt x="400329" y="426770"/>
                </a:lnTo>
                <a:lnTo>
                  <a:pt x="386207" y="445008"/>
                </a:lnTo>
                <a:lnTo>
                  <a:pt x="390906" y="450342"/>
                </a:lnTo>
                <a:lnTo>
                  <a:pt x="420839" y="411276"/>
                </a:lnTo>
                <a:lnTo>
                  <a:pt x="443357" y="359918"/>
                </a:lnTo>
                <a:lnTo>
                  <a:pt x="457530" y="297472"/>
                </a:lnTo>
                <a:lnTo>
                  <a:pt x="461086" y="262445"/>
                </a:lnTo>
                <a:lnTo>
                  <a:pt x="462280" y="224917"/>
                </a:lnTo>
                <a:close/>
              </a:path>
            </a:pathLst>
          </a:custGeom>
          <a:solidFill>
            <a:srgbClr val="000000"/>
          </a:solidFill>
        </p:spPr>
        <p:txBody>
          <a:bodyPr wrap="square" lIns="0" tIns="0" rIns="0" bIns="0" rtlCol="0"/>
          <a:lstStyle/>
          <a:p>
            <a:endParaRPr b="1"/>
          </a:p>
        </p:txBody>
      </p:sp>
      <p:sp>
        <p:nvSpPr>
          <p:cNvPr id="15" name="object 13">
            <a:extLst>
              <a:ext uri="{FF2B5EF4-FFF2-40B4-BE49-F238E27FC236}">
                <a16:creationId xmlns:a16="http://schemas.microsoft.com/office/drawing/2014/main" id="{43A00C6C-6BD5-A630-34B1-1D7EF572A33C}"/>
              </a:ext>
            </a:extLst>
          </p:cNvPr>
          <p:cNvSpPr txBox="1"/>
          <p:nvPr/>
        </p:nvSpPr>
        <p:spPr>
          <a:xfrm>
            <a:off x="10437440" y="2726443"/>
            <a:ext cx="365760" cy="197490"/>
          </a:xfrm>
          <a:prstGeom prst="rect">
            <a:avLst/>
          </a:prstGeom>
        </p:spPr>
        <p:txBody>
          <a:bodyPr vert="horz" wrap="square" lIns="0" tIns="12700" rIns="0" bIns="0" rtlCol="0">
            <a:spAutoFit/>
          </a:bodyPr>
          <a:lstStyle/>
          <a:p>
            <a:pPr marL="38100">
              <a:lnSpc>
                <a:spcPct val="100000"/>
              </a:lnSpc>
              <a:spcBef>
                <a:spcPts val="100"/>
              </a:spcBef>
            </a:pPr>
            <a:r>
              <a:rPr sz="1200" b="1" spc="35" dirty="0">
                <a:cs typeface="Cambria Math"/>
              </a:rPr>
              <a:t>𝑄𝐾</a:t>
            </a:r>
            <a:r>
              <a:rPr sz="1275" b="1" spc="52" baseline="29411" dirty="0">
                <a:cs typeface="Cambria Math"/>
              </a:rPr>
              <a:t>𝑇</a:t>
            </a:r>
            <a:endParaRPr sz="1275" b="1" baseline="29411">
              <a:cs typeface="Cambria Math"/>
            </a:endParaRPr>
          </a:p>
        </p:txBody>
      </p:sp>
      <p:sp>
        <p:nvSpPr>
          <p:cNvPr id="16" name="object 14">
            <a:extLst>
              <a:ext uri="{FF2B5EF4-FFF2-40B4-BE49-F238E27FC236}">
                <a16:creationId xmlns:a16="http://schemas.microsoft.com/office/drawing/2014/main" id="{092B7B7B-34BA-0BBE-9A6B-953A97BC3EBE}"/>
              </a:ext>
            </a:extLst>
          </p:cNvPr>
          <p:cNvSpPr/>
          <p:nvPr/>
        </p:nvSpPr>
        <p:spPr>
          <a:xfrm>
            <a:off x="10487606" y="2997462"/>
            <a:ext cx="274955" cy="189230"/>
          </a:xfrm>
          <a:custGeom>
            <a:avLst/>
            <a:gdLst/>
            <a:ahLst/>
            <a:cxnLst/>
            <a:rect l="l" t="t" r="r" b="b"/>
            <a:pathLst>
              <a:path w="274954" h="189230">
                <a:moveTo>
                  <a:pt x="116204" y="0"/>
                </a:moveTo>
                <a:lnTo>
                  <a:pt x="95376" y="0"/>
                </a:lnTo>
                <a:lnTo>
                  <a:pt x="50165" y="169290"/>
                </a:lnTo>
                <a:lnTo>
                  <a:pt x="24383" y="111760"/>
                </a:lnTo>
                <a:lnTo>
                  <a:pt x="0" y="122936"/>
                </a:lnTo>
                <a:lnTo>
                  <a:pt x="2286" y="128524"/>
                </a:lnTo>
                <a:lnTo>
                  <a:pt x="14858" y="122936"/>
                </a:lnTo>
                <a:lnTo>
                  <a:pt x="45720" y="189229"/>
                </a:lnTo>
                <a:lnTo>
                  <a:pt x="52958" y="189229"/>
                </a:lnTo>
                <a:lnTo>
                  <a:pt x="101219" y="9905"/>
                </a:lnTo>
                <a:lnTo>
                  <a:pt x="110108" y="9905"/>
                </a:lnTo>
                <a:lnTo>
                  <a:pt x="110108" y="11175"/>
                </a:lnTo>
                <a:lnTo>
                  <a:pt x="274700" y="11175"/>
                </a:lnTo>
                <a:lnTo>
                  <a:pt x="274700" y="507"/>
                </a:lnTo>
                <a:lnTo>
                  <a:pt x="116204" y="507"/>
                </a:lnTo>
                <a:lnTo>
                  <a:pt x="116204" y="0"/>
                </a:lnTo>
                <a:close/>
              </a:path>
            </a:pathLst>
          </a:custGeom>
          <a:solidFill>
            <a:srgbClr val="000000"/>
          </a:solidFill>
        </p:spPr>
        <p:txBody>
          <a:bodyPr wrap="square" lIns="0" tIns="0" rIns="0" bIns="0" rtlCol="0"/>
          <a:lstStyle/>
          <a:p>
            <a:endParaRPr b="1"/>
          </a:p>
        </p:txBody>
      </p:sp>
      <p:sp>
        <p:nvSpPr>
          <p:cNvPr id="17" name="object 15">
            <a:extLst>
              <a:ext uri="{FF2B5EF4-FFF2-40B4-BE49-F238E27FC236}">
                <a16:creationId xmlns:a16="http://schemas.microsoft.com/office/drawing/2014/main" id="{7B5E11A5-460D-0B82-A07E-20805A0591EB}"/>
              </a:ext>
            </a:extLst>
          </p:cNvPr>
          <p:cNvSpPr txBox="1"/>
          <p:nvPr/>
        </p:nvSpPr>
        <p:spPr>
          <a:xfrm>
            <a:off x="10560885" y="2974551"/>
            <a:ext cx="232410" cy="197490"/>
          </a:xfrm>
          <a:prstGeom prst="rect">
            <a:avLst/>
          </a:prstGeom>
        </p:spPr>
        <p:txBody>
          <a:bodyPr vert="horz" wrap="square" lIns="0" tIns="12700" rIns="0" bIns="0" rtlCol="0">
            <a:spAutoFit/>
          </a:bodyPr>
          <a:lstStyle/>
          <a:p>
            <a:pPr marL="38100">
              <a:lnSpc>
                <a:spcPct val="100000"/>
              </a:lnSpc>
              <a:spcBef>
                <a:spcPts val="100"/>
              </a:spcBef>
            </a:pPr>
            <a:r>
              <a:rPr sz="1200" b="1" spc="25" dirty="0">
                <a:cs typeface="Cambria Math"/>
              </a:rPr>
              <a:t>𝑑</a:t>
            </a:r>
            <a:r>
              <a:rPr sz="1275" b="1" spc="37" baseline="-16339" dirty="0">
                <a:cs typeface="Cambria Math"/>
              </a:rPr>
              <a:t>𝑘</a:t>
            </a:r>
            <a:endParaRPr sz="1275" b="1" baseline="-16339">
              <a:cs typeface="Cambria Math"/>
            </a:endParaRPr>
          </a:p>
        </p:txBody>
      </p:sp>
      <p:sp>
        <p:nvSpPr>
          <p:cNvPr id="29" name="object 16">
            <a:extLst>
              <a:ext uri="{FF2B5EF4-FFF2-40B4-BE49-F238E27FC236}">
                <a16:creationId xmlns:a16="http://schemas.microsoft.com/office/drawing/2014/main" id="{00339C97-9791-365C-260A-15B76198B354}"/>
              </a:ext>
            </a:extLst>
          </p:cNvPr>
          <p:cNvSpPr txBox="1"/>
          <p:nvPr/>
        </p:nvSpPr>
        <p:spPr>
          <a:xfrm>
            <a:off x="10880417" y="2841963"/>
            <a:ext cx="121285" cy="197490"/>
          </a:xfrm>
          <a:prstGeom prst="rect">
            <a:avLst/>
          </a:prstGeom>
        </p:spPr>
        <p:txBody>
          <a:bodyPr vert="horz" wrap="square" lIns="0" tIns="12700" rIns="0" bIns="0" rtlCol="0">
            <a:spAutoFit/>
          </a:bodyPr>
          <a:lstStyle/>
          <a:p>
            <a:pPr marL="12700">
              <a:lnSpc>
                <a:spcPct val="100000"/>
              </a:lnSpc>
              <a:spcBef>
                <a:spcPts val="100"/>
              </a:spcBef>
            </a:pPr>
            <a:r>
              <a:rPr sz="1200" b="1" dirty="0">
                <a:cs typeface="Cambria Math"/>
              </a:rPr>
              <a:t>𝑉</a:t>
            </a:r>
            <a:endParaRPr sz="1200" b="1">
              <a:cs typeface="Cambria Math"/>
            </a:endParaRPr>
          </a:p>
        </p:txBody>
      </p:sp>
    </p:spTree>
    <p:extLst>
      <p:ext uri="{BB962C8B-B14F-4D97-AF65-F5344CB8AC3E}">
        <p14:creationId xmlns:p14="http://schemas.microsoft.com/office/powerpoint/2010/main" val="1200480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BD8E5-B926-103D-B273-6E68158EFE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1BECDA-8F8A-B352-7B1F-ABF8C2F16604}"/>
              </a:ext>
            </a:extLst>
          </p:cNvPr>
          <p:cNvSpPr>
            <a:spLocks noGrp="1"/>
          </p:cNvSpPr>
          <p:nvPr>
            <p:ph type="title"/>
          </p:nvPr>
        </p:nvSpPr>
        <p:spPr>
          <a:xfrm>
            <a:off x="669552" y="594335"/>
            <a:ext cx="10863635" cy="639153"/>
          </a:xfrm>
        </p:spPr>
        <p:txBody>
          <a:bodyPr/>
          <a:lstStyle/>
          <a:p>
            <a:r>
              <a:rPr lang="en-US" dirty="0">
                <a:latin typeface="+mn-lt"/>
              </a:rPr>
              <a:t>Sliding Window Attention: Information Flow (3)</a:t>
            </a:r>
            <a:endParaRPr lang="en-IN" dirty="0">
              <a:latin typeface="+mn-lt"/>
            </a:endParaRPr>
          </a:p>
        </p:txBody>
      </p:sp>
      <p:sp>
        <p:nvSpPr>
          <p:cNvPr id="3" name="Content Placeholder 2">
            <a:extLst>
              <a:ext uri="{FF2B5EF4-FFF2-40B4-BE49-F238E27FC236}">
                <a16:creationId xmlns:a16="http://schemas.microsoft.com/office/drawing/2014/main" id="{13732F43-559B-D143-2C36-6AB96E774676}"/>
              </a:ext>
            </a:extLst>
          </p:cNvPr>
          <p:cNvSpPr>
            <a:spLocks noGrp="1"/>
          </p:cNvSpPr>
          <p:nvPr>
            <p:ph idx="1"/>
          </p:nvPr>
        </p:nvSpPr>
        <p:spPr>
          <a:xfrm>
            <a:off x="678884" y="1675075"/>
            <a:ext cx="10854304" cy="4417750"/>
          </a:xfrm>
        </p:spPr>
        <p:txBody>
          <a:bodyPr>
            <a:normAutofit/>
          </a:bodyPr>
          <a:lstStyle/>
          <a:p>
            <a:pPr marL="0" indent="0">
              <a:spcBef>
                <a:spcPts val="0"/>
              </a:spcBef>
              <a:buNone/>
            </a:pPr>
            <a:r>
              <a:rPr lang="en-US" sz="1600" dirty="0">
                <a:solidFill>
                  <a:srgbClr val="161A3E"/>
                </a:solidFill>
                <a:latin typeface="+mn-lt"/>
              </a:rPr>
              <a:t>With a sliding window size 𝑊 = 3, every layer adds information about (𝑊 – 1) = 2 tokens.</a:t>
            </a:r>
          </a:p>
          <a:p>
            <a:pPr marL="0" indent="0">
              <a:spcBef>
                <a:spcPts val="0"/>
              </a:spcBef>
              <a:buNone/>
            </a:pPr>
            <a:r>
              <a:rPr lang="en-US" sz="1600" dirty="0">
                <a:solidFill>
                  <a:srgbClr val="161A3E"/>
                </a:solidFill>
                <a:latin typeface="+mn-lt"/>
              </a:rPr>
              <a:t>This means that after 𝑁 layers, we will have an information flow in the order of 𝑊 × 𝑁.</a:t>
            </a:r>
          </a:p>
          <a:p>
            <a:pPr marL="0" indent="0">
              <a:spcBef>
                <a:spcPts val="0"/>
              </a:spcBef>
              <a:buNone/>
            </a:pPr>
            <a:r>
              <a:rPr lang="en-US" sz="1600" b="1" dirty="0">
                <a:solidFill>
                  <a:srgbClr val="161A3E"/>
                </a:solidFill>
                <a:latin typeface="+mn-lt"/>
              </a:rPr>
              <a:t>You can test all the future configurations using the Python Notebook provided in the GitHub repository.</a:t>
            </a:r>
          </a:p>
        </p:txBody>
      </p:sp>
      <p:graphicFrame>
        <p:nvGraphicFramePr>
          <p:cNvPr id="4" name="object 3">
            <a:extLst>
              <a:ext uri="{FF2B5EF4-FFF2-40B4-BE49-F238E27FC236}">
                <a16:creationId xmlns:a16="http://schemas.microsoft.com/office/drawing/2014/main" id="{8BCCCC34-E4ED-ECF1-744F-7B5D4BF04F58}"/>
              </a:ext>
            </a:extLst>
          </p:cNvPr>
          <p:cNvGraphicFramePr>
            <a:graphicFrameLocks noGrp="1"/>
          </p:cNvGraphicFramePr>
          <p:nvPr>
            <p:extLst>
              <p:ext uri="{D42A27DB-BD31-4B8C-83A1-F6EECF244321}">
                <p14:modId xmlns:p14="http://schemas.microsoft.com/office/powerpoint/2010/main" val="2376292971"/>
              </p:ext>
            </p:extLst>
          </p:nvPr>
        </p:nvGraphicFramePr>
        <p:xfrm>
          <a:off x="678884" y="3185685"/>
          <a:ext cx="2381638" cy="1997240"/>
        </p:xfrm>
        <a:graphic>
          <a:graphicData uri="http://schemas.openxmlformats.org/drawingml/2006/table">
            <a:tbl>
              <a:tblPr firstRow="1" bandRow="1">
                <a:tableStyleId>{2D5ABB26-0587-4C30-8999-92F81FD0307C}</a:tableStyleId>
              </a:tblPr>
              <a:tblGrid>
                <a:gridCol w="2381638">
                  <a:extLst>
                    <a:ext uri="{9D8B030D-6E8A-4147-A177-3AD203B41FA5}">
                      <a16:colId xmlns:a16="http://schemas.microsoft.com/office/drawing/2014/main" val="20000"/>
                    </a:ext>
                  </a:extLst>
                </a:gridCol>
              </a:tblGrid>
              <a:tr h="332874">
                <a:tc>
                  <a:txBody>
                    <a:bodyPr/>
                    <a:lstStyle/>
                    <a:p>
                      <a:pPr marL="91440">
                        <a:lnSpc>
                          <a:spcPct val="100000"/>
                        </a:lnSpc>
                        <a:spcBef>
                          <a:spcPts val="280"/>
                        </a:spcBef>
                      </a:pPr>
                      <a:r>
                        <a:rPr sz="1800" spc="30" dirty="0">
                          <a:latin typeface="Tahoma"/>
                          <a:cs typeface="Tahoma"/>
                        </a:rPr>
                        <a:t>THE</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0"/>
                  </a:ext>
                </a:extLst>
              </a:tr>
              <a:tr h="332873">
                <a:tc>
                  <a:txBody>
                    <a:bodyPr/>
                    <a:lstStyle/>
                    <a:p>
                      <a:pPr marL="91440">
                        <a:lnSpc>
                          <a:spcPct val="100000"/>
                        </a:lnSpc>
                        <a:spcBef>
                          <a:spcPts val="280"/>
                        </a:spcBef>
                      </a:pPr>
                      <a:r>
                        <a:rPr sz="1800" spc="75" dirty="0">
                          <a:latin typeface="Tahoma"/>
                          <a:cs typeface="Tahoma"/>
                        </a:rPr>
                        <a:t>CAT</a:t>
                      </a:r>
                      <a:endParaRPr sz="1800" dirty="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1"/>
                  </a:ext>
                </a:extLst>
              </a:tr>
              <a:tr h="332873">
                <a:tc>
                  <a:txBody>
                    <a:bodyPr/>
                    <a:lstStyle/>
                    <a:p>
                      <a:pPr marL="91440">
                        <a:lnSpc>
                          <a:spcPct val="100000"/>
                        </a:lnSpc>
                        <a:spcBef>
                          <a:spcPts val="280"/>
                        </a:spcBef>
                      </a:pPr>
                      <a:r>
                        <a:rPr sz="1800" spc="-100" dirty="0">
                          <a:latin typeface="Tahoma"/>
                          <a:cs typeface="Tahoma"/>
                        </a:rPr>
                        <a:t>IS</a:t>
                      </a:r>
                      <a:endParaRPr sz="1800" dirty="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2"/>
                  </a:ext>
                </a:extLst>
              </a:tr>
              <a:tr h="332873">
                <a:tc>
                  <a:txBody>
                    <a:bodyPr/>
                    <a:lstStyle/>
                    <a:p>
                      <a:pPr marL="91440">
                        <a:lnSpc>
                          <a:spcPct val="100000"/>
                        </a:lnSpc>
                        <a:spcBef>
                          <a:spcPts val="280"/>
                        </a:spcBef>
                      </a:pPr>
                      <a:r>
                        <a:rPr sz="1800" spc="215" dirty="0">
                          <a:latin typeface="Tahoma"/>
                          <a:cs typeface="Tahoma"/>
                        </a:rPr>
                        <a:t>ON</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3"/>
                  </a:ext>
                </a:extLst>
              </a:tr>
              <a:tr h="332874">
                <a:tc>
                  <a:txBody>
                    <a:bodyPr/>
                    <a:lstStyle/>
                    <a:p>
                      <a:pPr marL="91440">
                        <a:lnSpc>
                          <a:spcPct val="100000"/>
                        </a:lnSpc>
                        <a:spcBef>
                          <a:spcPts val="280"/>
                        </a:spcBef>
                      </a:pPr>
                      <a:r>
                        <a:rPr sz="1800" dirty="0">
                          <a:latin typeface="Tahoma"/>
                          <a:cs typeface="Tahoma"/>
                        </a:rPr>
                        <a:t>A</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4"/>
                  </a:ext>
                </a:extLst>
              </a:tr>
              <a:tr h="332873">
                <a:tc>
                  <a:txBody>
                    <a:bodyPr/>
                    <a:lstStyle/>
                    <a:p>
                      <a:pPr marL="91440">
                        <a:lnSpc>
                          <a:spcPct val="100000"/>
                        </a:lnSpc>
                        <a:spcBef>
                          <a:spcPts val="280"/>
                        </a:spcBef>
                      </a:pPr>
                      <a:r>
                        <a:rPr sz="1800" spc="40" dirty="0">
                          <a:latin typeface="Tahoma"/>
                          <a:cs typeface="Tahoma"/>
                        </a:rPr>
                        <a:t>CHAIR</a:t>
                      </a:r>
                      <a:endParaRPr sz="1800" dirty="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5"/>
                  </a:ext>
                </a:extLst>
              </a:tr>
            </a:tbl>
          </a:graphicData>
        </a:graphic>
      </p:graphicFrame>
      <p:graphicFrame>
        <p:nvGraphicFramePr>
          <p:cNvPr id="5" name="object 4">
            <a:extLst>
              <a:ext uri="{FF2B5EF4-FFF2-40B4-BE49-F238E27FC236}">
                <a16:creationId xmlns:a16="http://schemas.microsoft.com/office/drawing/2014/main" id="{0BF976EA-2E56-1D3F-D49E-9A353BD5FB8E}"/>
              </a:ext>
            </a:extLst>
          </p:cNvPr>
          <p:cNvGraphicFramePr>
            <a:graphicFrameLocks noGrp="1"/>
          </p:cNvGraphicFramePr>
          <p:nvPr>
            <p:extLst>
              <p:ext uri="{D42A27DB-BD31-4B8C-83A1-F6EECF244321}">
                <p14:modId xmlns:p14="http://schemas.microsoft.com/office/powerpoint/2010/main" val="528214812"/>
              </p:ext>
            </p:extLst>
          </p:nvPr>
        </p:nvGraphicFramePr>
        <p:xfrm>
          <a:off x="4650267" y="3185685"/>
          <a:ext cx="2629688" cy="1997240"/>
        </p:xfrm>
        <a:graphic>
          <a:graphicData uri="http://schemas.openxmlformats.org/drawingml/2006/table">
            <a:tbl>
              <a:tblPr firstRow="1" bandRow="1">
                <a:tableStyleId>{2D5ABB26-0587-4C30-8999-92F81FD0307C}</a:tableStyleId>
              </a:tblPr>
              <a:tblGrid>
                <a:gridCol w="2629688">
                  <a:extLst>
                    <a:ext uri="{9D8B030D-6E8A-4147-A177-3AD203B41FA5}">
                      <a16:colId xmlns:a16="http://schemas.microsoft.com/office/drawing/2014/main" val="20000"/>
                    </a:ext>
                  </a:extLst>
                </a:gridCol>
              </a:tblGrid>
              <a:tr h="332874">
                <a:tc>
                  <a:txBody>
                    <a:bodyPr/>
                    <a:lstStyle/>
                    <a:p>
                      <a:pPr marL="92075">
                        <a:lnSpc>
                          <a:spcPct val="100000"/>
                        </a:lnSpc>
                        <a:spcBef>
                          <a:spcPts val="280"/>
                        </a:spcBef>
                      </a:pPr>
                      <a:r>
                        <a:rPr sz="1800" spc="30" dirty="0">
                          <a:latin typeface="Tahoma"/>
                          <a:cs typeface="Tahoma"/>
                        </a:rPr>
                        <a:t>THE</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0"/>
                  </a:ext>
                </a:extLst>
              </a:tr>
              <a:tr h="332873">
                <a:tc>
                  <a:txBody>
                    <a:bodyPr/>
                    <a:lstStyle/>
                    <a:p>
                      <a:pPr marL="92075">
                        <a:lnSpc>
                          <a:spcPct val="100000"/>
                        </a:lnSpc>
                        <a:spcBef>
                          <a:spcPts val="280"/>
                        </a:spcBef>
                      </a:pPr>
                      <a:r>
                        <a:rPr sz="1800" spc="-10" dirty="0">
                          <a:solidFill>
                            <a:srgbClr val="E23717"/>
                          </a:solidFill>
                          <a:latin typeface="Tahoma"/>
                          <a:cs typeface="Tahoma"/>
                        </a:rPr>
                        <a:t>T</a:t>
                      </a:r>
                      <a:r>
                        <a:rPr sz="1800" dirty="0">
                          <a:solidFill>
                            <a:srgbClr val="E23717"/>
                          </a:solidFill>
                          <a:latin typeface="Tahoma"/>
                          <a:cs typeface="Tahoma"/>
                        </a:rPr>
                        <a:t>H</a:t>
                      </a:r>
                      <a:r>
                        <a:rPr sz="1800" spc="5" dirty="0">
                          <a:solidFill>
                            <a:srgbClr val="E23717"/>
                          </a:solidFill>
                          <a:latin typeface="Tahoma"/>
                          <a:cs typeface="Tahoma"/>
                        </a:rPr>
                        <a:t>E</a:t>
                      </a:r>
                      <a:r>
                        <a:rPr sz="1800" dirty="0">
                          <a:latin typeface="Tahoma"/>
                          <a:cs typeface="Tahoma"/>
                        </a:rPr>
                        <a:t>,</a:t>
                      </a:r>
                      <a:r>
                        <a:rPr sz="1800" spc="-180" dirty="0">
                          <a:latin typeface="Tahoma"/>
                          <a:cs typeface="Tahoma"/>
                        </a:rPr>
                        <a:t> </a:t>
                      </a:r>
                      <a:r>
                        <a:rPr sz="1800" spc="-25" dirty="0">
                          <a:latin typeface="Tahoma"/>
                          <a:cs typeface="Tahoma"/>
                        </a:rPr>
                        <a:t>C</a:t>
                      </a:r>
                      <a:r>
                        <a:rPr sz="1800" spc="-110" dirty="0">
                          <a:latin typeface="Tahoma"/>
                          <a:cs typeface="Tahoma"/>
                        </a:rPr>
                        <a:t>A</a:t>
                      </a:r>
                      <a:r>
                        <a:rPr sz="1800" dirty="0">
                          <a:latin typeface="Tahoma"/>
                          <a:cs typeface="Tahoma"/>
                        </a:rPr>
                        <a:t>T</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1"/>
                  </a:ext>
                </a:extLst>
              </a:tr>
              <a:tr h="332873">
                <a:tc>
                  <a:txBody>
                    <a:bodyPr/>
                    <a:lstStyle/>
                    <a:p>
                      <a:pPr marL="92075">
                        <a:lnSpc>
                          <a:spcPct val="100000"/>
                        </a:lnSpc>
                        <a:spcBef>
                          <a:spcPts val="280"/>
                        </a:spcBef>
                      </a:pPr>
                      <a:r>
                        <a:rPr sz="1800" spc="-10" dirty="0">
                          <a:solidFill>
                            <a:srgbClr val="E23717"/>
                          </a:solidFill>
                          <a:latin typeface="Tahoma"/>
                          <a:cs typeface="Tahoma"/>
                        </a:rPr>
                        <a:t>T</a:t>
                      </a:r>
                      <a:r>
                        <a:rPr sz="1800" dirty="0">
                          <a:solidFill>
                            <a:srgbClr val="E23717"/>
                          </a:solidFill>
                          <a:latin typeface="Tahoma"/>
                          <a:cs typeface="Tahoma"/>
                        </a:rPr>
                        <a:t>H</a:t>
                      </a:r>
                      <a:r>
                        <a:rPr sz="1800" spc="5" dirty="0">
                          <a:solidFill>
                            <a:srgbClr val="E23717"/>
                          </a:solidFill>
                          <a:latin typeface="Tahoma"/>
                          <a:cs typeface="Tahoma"/>
                        </a:rPr>
                        <a:t>E</a:t>
                      </a:r>
                      <a:r>
                        <a:rPr sz="1800" dirty="0">
                          <a:latin typeface="Tahoma"/>
                          <a:cs typeface="Tahoma"/>
                        </a:rPr>
                        <a:t>,</a:t>
                      </a:r>
                      <a:r>
                        <a:rPr sz="1800" spc="-180" dirty="0">
                          <a:latin typeface="Tahoma"/>
                          <a:cs typeface="Tahoma"/>
                        </a:rPr>
                        <a:t> </a:t>
                      </a:r>
                      <a:r>
                        <a:rPr sz="1800" spc="-25" dirty="0">
                          <a:solidFill>
                            <a:srgbClr val="E23717"/>
                          </a:solidFill>
                          <a:latin typeface="Tahoma"/>
                          <a:cs typeface="Tahoma"/>
                        </a:rPr>
                        <a:t>C</a:t>
                      </a:r>
                      <a:r>
                        <a:rPr sz="1800" spc="-110" dirty="0">
                          <a:solidFill>
                            <a:srgbClr val="E23717"/>
                          </a:solidFill>
                          <a:latin typeface="Tahoma"/>
                          <a:cs typeface="Tahoma"/>
                        </a:rPr>
                        <a:t>A</a:t>
                      </a:r>
                      <a:r>
                        <a:rPr sz="1800" spc="-155" dirty="0">
                          <a:solidFill>
                            <a:srgbClr val="E23717"/>
                          </a:solidFill>
                          <a:latin typeface="Tahoma"/>
                          <a:cs typeface="Tahoma"/>
                        </a:rPr>
                        <a:t>T</a:t>
                      </a:r>
                      <a:r>
                        <a:rPr sz="1800" dirty="0">
                          <a:latin typeface="Tahoma"/>
                          <a:cs typeface="Tahoma"/>
                        </a:rPr>
                        <a:t>,</a:t>
                      </a:r>
                      <a:r>
                        <a:rPr sz="1800" spc="-160" dirty="0">
                          <a:latin typeface="Tahoma"/>
                          <a:cs typeface="Tahoma"/>
                        </a:rPr>
                        <a:t> </a:t>
                      </a:r>
                      <a:r>
                        <a:rPr sz="1800" dirty="0">
                          <a:latin typeface="Tahoma"/>
                          <a:cs typeface="Tahoma"/>
                        </a:rPr>
                        <a:t>IS</a:t>
                      </a: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2"/>
                  </a:ext>
                </a:extLst>
              </a:tr>
              <a:tr h="332873">
                <a:tc>
                  <a:txBody>
                    <a:bodyPr/>
                    <a:lstStyle/>
                    <a:p>
                      <a:pPr marL="92075">
                        <a:lnSpc>
                          <a:spcPct val="100000"/>
                        </a:lnSpc>
                        <a:spcBef>
                          <a:spcPts val="280"/>
                        </a:spcBef>
                      </a:pPr>
                      <a:r>
                        <a:rPr sz="1800" spc="-30" dirty="0">
                          <a:solidFill>
                            <a:srgbClr val="E23717"/>
                          </a:solidFill>
                          <a:latin typeface="Tahoma"/>
                          <a:cs typeface="Tahoma"/>
                        </a:rPr>
                        <a:t>C</a:t>
                      </a:r>
                      <a:r>
                        <a:rPr sz="1800" spc="-114" dirty="0">
                          <a:solidFill>
                            <a:srgbClr val="E23717"/>
                          </a:solidFill>
                          <a:latin typeface="Tahoma"/>
                          <a:cs typeface="Tahoma"/>
                        </a:rPr>
                        <a:t>A</a:t>
                      </a:r>
                      <a:r>
                        <a:rPr sz="1800" spc="-155" dirty="0">
                          <a:solidFill>
                            <a:srgbClr val="E23717"/>
                          </a:solidFill>
                          <a:latin typeface="Tahoma"/>
                          <a:cs typeface="Tahoma"/>
                        </a:rPr>
                        <a:t>T</a:t>
                      </a:r>
                      <a:r>
                        <a:rPr sz="1800" dirty="0">
                          <a:latin typeface="Tahoma"/>
                          <a:cs typeface="Tahoma"/>
                        </a:rPr>
                        <a:t>,</a:t>
                      </a:r>
                      <a:r>
                        <a:rPr sz="1800" spc="-155" dirty="0">
                          <a:latin typeface="Tahoma"/>
                          <a:cs typeface="Tahoma"/>
                        </a:rPr>
                        <a:t> </a:t>
                      </a:r>
                      <a:r>
                        <a:rPr sz="1800" spc="-5" dirty="0">
                          <a:solidFill>
                            <a:srgbClr val="E23717"/>
                          </a:solidFill>
                          <a:latin typeface="Tahoma"/>
                          <a:cs typeface="Tahoma"/>
                        </a:rPr>
                        <a:t>I</a:t>
                      </a:r>
                      <a:r>
                        <a:rPr sz="1800" dirty="0">
                          <a:solidFill>
                            <a:srgbClr val="E23717"/>
                          </a:solidFill>
                          <a:latin typeface="Tahoma"/>
                          <a:cs typeface="Tahoma"/>
                        </a:rPr>
                        <a:t>S</a:t>
                      </a:r>
                      <a:r>
                        <a:rPr sz="1800" dirty="0">
                          <a:latin typeface="Tahoma"/>
                          <a:cs typeface="Tahoma"/>
                        </a:rPr>
                        <a:t>,</a:t>
                      </a:r>
                      <a:r>
                        <a:rPr sz="1800" spc="-195" dirty="0">
                          <a:latin typeface="Tahoma"/>
                          <a:cs typeface="Tahoma"/>
                        </a:rPr>
                        <a:t> </a:t>
                      </a:r>
                      <a:r>
                        <a:rPr sz="1800" spc="-5" dirty="0">
                          <a:latin typeface="Tahoma"/>
                          <a:cs typeface="Tahoma"/>
                        </a:rPr>
                        <a:t>ON</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3"/>
                  </a:ext>
                </a:extLst>
              </a:tr>
              <a:tr h="332874">
                <a:tc>
                  <a:txBody>
                    <a:bodyPr/>
                    <a:lstStyle/>
                    <a:p>
                      <a:pPr marL="92075">
                        <a:lnSpc>
                          <a:spcPct val="100000"/>
                        </a:lnSpc>
                        <a:spcBef>
                          <a:spcPts val="280"/>
                        </a:spcBef>
                      </a:pPr>
                      <a:r>
                        <a:rPr sz="1800" dirty="0">
                          <a:solidFill>
                            <a:srgbClr val="E23717"/>
                          </a:solidFill>
                          <a:latin typeface="Tahoma"/>
                          <a:cs typeface="Tahoma"/>
                        </a:rPr>
                        <a:t>IS</a:t>
                      </a:r>
                      <a:r>
                        <a:rPr sz="1800" dirty="0">
                          <a:latin typeface="Tahoma"/>
                          <a:cs typeface="Tahoma"/>
                        </a:rPr>
                        <a:t>,</a:t>
                      </a:r>
                      <a:r>
                        <a:rPr sz="1800" spc="-195" dirty="0">
                          <a:latin typeface="Tahoma"/>
                          <a:cs typeface="Tahoma"/>
                        </a:rPr>
                        <a:t> </a:t>
                      </a:r>
                      <a:r>
                        <a:rPr sz="1800" spc="5" dirty="0">
                          <a:solidFill>
                            <a:srgbClr val="E23717"/>
                          </a:solidFill>
                          <a:latin typeface="Tahoma"/>
                          <a:cs typeface="Tahoma"/>
                        </a:rPr>
                        <a:t>O</a:t>
                      </a:r>
                      <a:r>
                        <a:rPr sz="1800" dirty="0">
                          <a:solidFill>
                            <a:srgbClr val="E23717"/>
                          </a:solidFill>
                          <a:latin typeface="Tahoma"/>
                          <a:cs typeface="Tahoma"/>
                        </a:rPr>
                        <a:t>N</a:t>
                      </a:r>
                      <a:r>
                        <a:rPr sz="1800" dirty="0">
                          <a:latin typeface="Tahoma"/>
                          <a:cs typeface="Tahoma"/>
                        </a:rPr>
                        <a:t>,</a:t>
                      </a:r>
                      <a:r>
                        <a:rPr sz="1800" spc="-215" dirty="0">
                          <a:latin typeface="Tahoma"/>
                          <a:cs typeface="Tahoma"/>
                        </a:rPr>
                        <a:t> </a:t>
                      </a:r>
                      <a:r>
                        <a:rPr sz="1800" dirty="0">
                          <a:latin typeface="Tahoma"/>
                          <a:cs typeface="Tahoma"/>
                        </a:rPr>
                        <a:t>A</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4"/>
                  </a:ext>
                </a:extLst>
              </a:tr>
              <a:tr h="332873">
                <a:tc>
                  <a:txBody>
                    <a:bodyPr/>
                    <a:lstStyle/>
                    <a:p>
                      <a:pPr marL="92075">
                        <a:lnSpc>
                          <a:spcPct val="100000"/>
                        </a:lnSpc>
                        <a:spcBef>
                          <a:spcPts val="280"/>
                        </a:spcBef>
                      </a:pPr>
                      <a:r>
                        <a:rPr sz="1800" spc="5" dirty="0">
                          <a:solidFill>
                            <a:srgbClr val="E23717"/>
                          </a:solidFill>
                          <a:latin typeface="Tahoma"/>
                          <a:cs typeface="Tahoma"/>
                        </a:rPr>
                        <a:t>O</a:t>
                      </a:r>
                      <a:r>
                        <a:rPr sz="1800" dirty="0">
                          <a:solidFill>
                            <a:srgbClr val="E23717"/>
                          </a:solidFill>
                          <a:latin typeface="Tahoma"/>
                          <a:cs typeface="Tahoma"/>
                        </a:rPr>
                        <a:t>N</a:t>
                      </a:r>
                      <a:r>
                        <a:rPr sz="1800" dirty="0">
                          <a:latin typeface="Tahoma"/>
                          <a:cs typeface="Tahoma"/>
                        </a:rPr>
                        <a:t>,</a:t>
                      </a:r>
                      <a:r>
                        <a:rPr sz="1800" spc="-215" dirty="0">
                          <a:latin typeface="Tahoma"/>
                          <a:cs typeface="Tahoma"/>
                        </a:rPr>
                        <a:t> </a:t>
                      </a:r>
                      <a:r>
                        <a:rPr sz="1800" spc="-5" dirty="0">
                          <a:solidFill>
                            <a:srgbClr val="E23717"/>
                          </a:solidFill>
                          <a:latin typeface="Tahoma"/>
                          <a:cs typeface="Tahoma"/>
                        </a:rPr>
                        <a:t>A</a:t>
                      </a:r>
                      <a:r>
                        <a:rPr sz="1800" dirty="0">
                          <a:latin typeface="Tahoma"/>
                          <a:cs typeface="Tahoma"/>
                        </a:rPr>
                        <a:t>,</a:t>
                      </a:r>
                      <a:r>
                        <a:rPr sz="1800" spc="-180" dirty="0">
                          <a:latin typeface="Tahoma"/>
                          <a:cs typeface="Tahoma"/>
                        </a:rPr>
                        <a:t> </a:t>
                      </a:r>
                      <a:r>
                        <a:rPr sz="1800" spc="-5" dirty="0">
                          <a:latin typeface="Tahoma"/>
                          <a:cs typeface="Tahoma"/>
                        </a:rPr>
                        <a:t>CHAIR</a:t>
                      </a:r>
                      <a:endParaRPr sz="1800" dirty="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5"/>
                  </a:ext>
                </a:extLst>
              </a:tr>
            </a:tbl>
          </a:graphicData>
        </a:graphic>
      </p:graphicFrame>
      <p:graphicFrame>
        <p:nvGraphicFramePr>
          <p:cNvPr id="18" name="object 5">
            <a:extLst>
              <a:ext uri="{FF2B5EF4-FFF2-40B4-BE49-F238E27FC236}">
                <a16:creationId xmlns:a16="http://schemas.microsoft.com/office/drawing/2014/main" id="{D6A6049D-6243-EF8D-54D0-2A1DD4711D50}"/>
              </a:ext>
            </a:extLst>
          </p:cNvPr>
          <p:cNvGraphicFramePr>
            <a:graphicFrameLocks noGrp="1"/>
          </p:cNvGraphicFramePr>
          <p:nvPr>
            <p:extLst>
              <p:ext uri="{D42A27DB-BD31-4B8C-83A1-F6EECF244321}">
                <p14:modId xmlns:p14="http://schemas.microsoft.com/office/powerpoint/2010/main" val="1794362273"/>
              </p:ext>
            </p:extLst>
          </p:nvPr>
        </p:nvGraphicFramePr>
        <p:xfrm>
          <a:off x="8903500" y="3196391"/>
          <a:ext cx="2629688" cy="1997240"/>
        </p:xfrm>
        <a:graphic>
          <a:graphicData uri="http://schemas.openxmlformats.org/drawingml/2006/table">
            <a:tbl>
              <a:tblPr firstRow="1" bandRow="1">
                <a:tableStyleId>{2D5ABB26-0587-4C30-8999-92F81FD0307C}</a:tableStyleId>
              </a:tblPr>
              <a:tblGrid>
                <a:gridCol w="2629688">
                  <a:extLst>
                    <a:ext uri="{9D8B030D-6E8A-4147-A177-3AD203B41FA5}">
                      <a16:colId xmlns:a16="http://schemas.microsoft.com/office/drawing/2014/main" val="20000"/>
                    </a:ext>
                  </a:extLst>
                </a:gridCol>
              </a:tblGrid>
              <a:tr h="332874">
                <a:tc>
                  <a:txBody>
                    <a:bodyPr/>
                    <a:lstStyle/>
                    <a:p>
                      <a:pPr marL="92710">
                        <a:lnSpc>
                          <a:spcPct val="100000"/>
                        </a:lnSpc>
                        <a:spcBef>
                          <a:spcPts val="280"/>
                        </a:spcBef>
                      </a:pPr>
                      <a:r>
                        <a:rPr sz="1800" spc="30" dirty="0">
                          <a:latin typeface="Tahoma"/>
                          <a:cs typeface="Tahoma"/>
                        </a:rPr>
                        <a:t>THE</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0"/>
                  </a:ext>
                </a:extLst>
              </a:tr>
              <a:tr h="332873">
                <a:tc>
                  <a:txBody>
                    <a:bodyPr/>
                    <a:lstStyle/>
                    <a:p>
                      <a:pPr marL="92710">
                        <a:lnSpc>
                          <a:spcPct val="100000"/>
                        </a:lnSpc>
                        <a:spcBef>
                          <a:spcPts val="280"/>
                        </a:spcBef>
                      </a:pPr>
                      <a:r>
                        <a:rPr sz="1800" spc="-10" dirty="0">
                          <a:latin typeface="Tahoma"/>
                          <a:cs typeface="Tahoma"/>
                        </a:rPr>
                        <a:t>T</a:t>
                      </a:r>
                      <a:r>
                        <a:rPr sz="1800" dirty="0">
                          <a:latin typeface="Tahoma"/>
                          <a:cs typeface="Tahoma"/>
                        </a:rPr>
                        <a:t>HE,</a:t>
                      </a:r>
                      <a:r>
                        <a:rPr sz="1800" spc="-180" dirty="0">
                          <a:latin typeface="Tahoma"/>
                          <a:cs typeface="Tahoma"/>
                        </a:rPr>
                        <a:t> </a:t>
                      </a:r>
                      <a:r>
                        <a:rPr sz="1800" spc="-25" dirty="0">
                          <a:latin typeface="Tahoma"/>
                          <a:cs typeface="Tahoma"/>
                        </a:rPr>
                        <a:t>C</a:t>
                      </a:r>
                      <a:r>
                        <a:rPr sz="1800" spc="-110" dirty="0">
                          <a:latin typeface="Tahoma"/>
                          <a:cs typeface="Tahoma"/>
                        </a:rPr>
                        <a:t>A</a:t>
                      </a:r>
                      <a:r>
                        <a:rPr sz="1800" dirty="0">
                          <a:latin typeface="Tahoma"/>
                          <a:cs typeface="Tahoma"/>
                        </a:rPr>
                        <a:t>T</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1"/>
                  </a:ext>
                </a:extLst>
              </a:tr>
              <a:tr h="332873">
                <a:tc>
                  <a:txBody>
                    <a:bodyPr/>
                    <a:lstStyle/>
                    <a:p>
                      <a:pPr marL="92710">
                        <a:lnSpc>
                          <a:spcPct val="100000"/>
                        </a:lnSpc>
                        <a:spcBef>
                          <a:spcPts val="280"/>
                        </a:spcBef>
                      </a:pPr>
                      <a:r>
                        <a:rPr sz="1800" spc="-10" dirty="0">
                          <a:latin typeface="Tahoma"/>
                          <a:cs typeface="Tahoma"/>
                        </a:rPr>
                        <a:t>T</a:t>
                      </a:r>
                      <a:r>
                        <a:rPr sz="1800" dirty="0">
                          <a:latin typeface="Tahoma"/>
                          <a:cs typeface="Tahoma"/>
                        </a:rPr>
                        <a:t>HE,</a:t>
                      </a:r>
                      <a:r>
                        <a:rPr sz="1800" spc="-180" dirty="0">
                          <a:latin typeface="Tahoma"/>
                          <a:cs typeface="Tahoma"/>
                        </a:rPr>
                        <a:t> </a:t>
                      </a:r>
                      <a:r>
                        <a:rPr sz="1800" spc="-25" dirty="0">
                          <a:latin typeface="Tahoma"/>
                          <a:cs typeface="Tahoma"/>
                        </a:rPr>
                        <a:t>C</a:t>
                      </a:r>
                      <a:r>
                        <a:rPr sz="1800" spc="-110" dirty="0">
                          <a:latin typeface="Tahoma"/>
                          <a:cs typeface="Tahoma"/>
                        </a:rPr>
                        <a:t>A</a:t>
                      </a:r>
                      <a:r>
                        <a:rPr sz="1800" spc="-150" dirty="0">
                          <a:latin typeface="Tahoma"/>
                          <a:cs typeface="Tahoma"/>
                        </a:rPr>
                        <a:t>T</a:t>
                      </a:r>
                      <a:r>
                        <a:rPr sz="1800" dirty="0">
                          <a:latin typeface="Tahoma"/>
                          <a:cs typeface="Tahoma"/>
                        </a:rPr>
                        <a:t>,</a:t>
                      </a:r>
                      <a:r>
                        <a:rPr sz="1800" spc="-160" dirty="0">
                          <a:latin typeface="Tahoma"/>
                          <a:cs typeface="Tahoma"/>
                        </a:rPr>
                        <a:t> </a:t>
                      </a:r>
                      <a:r>
                        <a:rPr sz="1800" dirty="0">
                          <a:latin typeface="Tahoma"/>
                          <a:cs typeface="Tahoma"/>
                        </a:rPr>
                        <a:t>IS</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2"/>
                  </a:ext>
                </a:extLst>
              </a:tr>
              <a:tr h="332873">
                <a:tc>
                  <a:txBody>
                    <a:bodyPr/>
                    <a:lstStyle/>
                    <a:p>
                      <a:pPr marL="92710">
                        <a:lnSpc>
                          <a:spcPct val="100000"/>
                        </a:lnSpc>
                        <a:spcBef>
                          <a:spcPts val="280"/>
                        </a:spcBef>
                      </a:pPr>
                      <a:r>
                        <a:rPr sz="1800" spc="-10" dirty="0">
                          <a:solidFill>
                            <a:srgbClr val="E23717"/>
                          </a:solidFill>
                          <a:latin typeface="Tahoma"/>
                          <a:cs typeface="Tahoma"/>
                        </a:rPr>
                        <a:t>T</a:t>
                      </a:r>
                      <a:r>
                        <a:rPr sz="1800" dirty="0">
                          <a:solidFill>
                            <a:srgbClr val="E23717"/>
                          </a:solidFill>
                          <a:latin typeface="Tahoma"/>
                          <a:cs typeface="Tahoma"/>
                        </a:rPr>
                        <a:t>HE</a:t>
                      </a:r>
                      <a:r>
                        <a:rPr sz="1800" dirty="0">
                          <a:latin typeface="Tahoma"/>
                          <a:cs typeface="Tahoma"/>
                        </a:rPr>
                        <a:t>,</a:t>
                      </a:r>
                      <a:r>
                        <a:rPr sz="1800" spc="-180" dirty="0">
                          <a:latin typeface="Tahoma"/>
                          <a:cs typeface="Tahoma"/>
                        </a:rPr>
                        <a:t> </a:t>
                      </a:r>
                      <a:r>
                        <a:rPr sz="1800" spc="-30" dirty="0">
                          <a:latin typeface="Tahoma"/>
                          <a:cs typeface="Tahoma"/>
                        </a:rPr>
                        <a:t>C</a:t>
                      </a:r>
                      <a:r>
                        <a:rPr sz="1800" spc="-114" dirty="0">
                          <a:latin typeface="Tahoma"/>
                          <a:cs typeface="Tahoma"/>
                        </a:rPr>
                        <a:t>A</a:t>
                      </a:r>
                      <a:r>
                        <a:rPr sz="1800" spc="-155" dirty="0">
                          <a:latin typeface="Tahoma"/>
                          <a:cs typeface="Tahoma"/>
                        </a:rPr>
                        <a:t>T</a:t>
                      </a:r>
                      <a:r>
                        <a:rPr sz="1800" dirty="0">
                          <a:latin typeface="Tahoma"/>
                          <a:cs typeface="Tahoma"/>
                        </a:rPr>
                        <a:t>,</a:t>
                      </a:r>
                      <a:r>
                        <a:rPr sz="1800" spc="-165" dirty="0">
                          <a:latin typeface="Tahoma"/>
                          <a:cs typeface="Tahoma"/>
                        </a:rPr>
                        <a:t> </a:t>
                      </a:r>
                      <a:r>
                        <a:rPr sz="1800" dirty="0">
                          <a:latin typeface="Tahoma"/>
                          <a:cs typeface="Tahoma"/>
                        </a:rPr>
                        <a:t>I</a:t>
                      </a:r>
                      <a:r>
                        <a:rPr sz="1800" spc="5" dirty="0">
                          <a:latin typeface="Tahoma"/>
                          <a:cs typeface="Tahoma"/>
                        </a:rPr>
                        <a:t>S</a:t>
                      </a:r>
                      <a:r>
                        <a:rPr sz="1800" dirty="0">
                          <a:latin typeface="Tahoma"/>
                          <a:cs typeface="Tahoma"/>
                        </a:rPr>
                        <a:t>,</a:t>
                      </a:r>
                      <a:r>
                        <a:rPr sz="1800" spc="-195" dirty="0">
                          <a:latin typeface="Tahoma"/>
                          <a:cs typeface="Tahoma"/>
                        </a:rPr>
                        <a:t> </a:t>
                      </a:r>
                      <a:r>
                        <a:rPr sz="1800" spc="-5" dirty="0">
                          <a:latin typeface="Tahoma"/>
                          <a:cs typeface="Tahoma"/>
                        </a:rPr>
                        <a:t>ON</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3"/>
                  </a:ext>
                </a:extLst>
              </a:tr>
              <a:tr h="332874">
                <a:tc>
                  <a:txBody>
                    <a:bodyPr/>
                    <a:lstStyle/>
                    <a:p>
                      <a:pPr marL="92710">
                        <a:lnSpc>
                          <a:spcPct val="100000"/>
                        </a:lnSpc>
                        <a:spcBef>
                          <a:spcPts val="280"/>
                        </a:spcBef>
                      </a:pPr>
                      <a:r>
                        <a:rPr sz="1800" spc="-10" dirty="0">
                          <a:solidFill>
                            <a:srgbClr val="E23717"/>
                          </a:solidFill>
                          <a:latin typeface="Tahoma"/>
                          <a:cs typeface="Tahoma"/>
                        </a:rPr>
                        <a:t>T</a:t>
                      </a:r>
                      <a:r>
                        <a:rPr sz="1800" dirty="0">
                          <a:solidFill>
                            <a:srgbClr val="E23717"/>
                          </a:solidFill>
                          <a:latin typeface="Tahoma"/>
                          <a:cs typeface="Tahoma"/>
                        </a:rPr>
                        <a:t>H</a:t>
                      </a:r>
                      <a:r>
                        <a:rPr sz="1800" spc="5" dirty="0">
                          <a:solidFill>
                            <a:srgbClr val="E23717"/>
                          </a:solidFill>
                          <a:latin typeface="Tahoma"/>
                          <a:cs typeface="Tahoma"/>
                        </a:rPr>
                        <a:t>E</a:t>
                      </a:r>
                      <a:r>
                        <a:rPr sz="1800" dirty="0">
                          <a:latin typeface="Tahoma"/>
                          <a:cs typeface="Tahoma"/>
                        </a:rPr>
                        <a:t>,</a:t>
                      </a:r>
                      <a:r>
                        <a:rPr sz="1800" spc="-180" dirty="0">
                          <a:latin typeface="Tahoma"/>
                          <a:cs typeface="Tahoma"/>
                        </a:rPr>
                        <a:t> </a:t>
                      </a:r>
                      <a:r>
                        <a:rPr sz="1800" spc="-25" dirty="0">
                          <a:solidFill>
                            <a:srgbClr val="E23717"/>
                          </a:solidFill>
                          <a:latin typeface="Tahoma"/>
                          <a:cs typeface="Tahoma"/>
                        </a:rPr>
                        <a:t>C</a:t>
                      </a:r>
                      <a:r>
                        <a:rPr sz="1800" spc="-110" dirty="0">
                          <a:solidFill>
                            <a:srgbClr val="E23717"/>
                          </a:solidFill>
                          <a:latin typeface="Tahoma"/>
                          <a:cs typeface="Tahoma"/>
                        </a:rPr>
                        <a:t>A</a:t>
                      </a:r>
                      <a:r>
                        <a:rPr sz="1800" spc="-155" dirty="0">
                          <a:solidFill>
                            <a:srgbClr val="E23717"/>
                          </a:solidFill>
                          <a:latin typeface="Tahoma"/>
                          <a:cs typeface="Tahoma"/>
                        </a:rPr>
                        <a:t>T</a:t>
                      </a:r>
                      <a:r>
                        <a:rPr sz="1800" dirty="0">
                          <a:latin typeface="Tahoma"/>
                          <a:cs typeface="Tahoma"/>
                        </a:rPr>
                        <a:t>,</a:t>
                      </a:r>
                      <a:r>
                        <a:rPr sz="1800" spc="-160" dirty="0">
                          <a:latin typeface="Tahoma"/>
                          <a:cs typeface="Tahoma"/>
                        </a:rPr>
                        <a:t> </a:t>
                      </a:r>
                      <a:r>
                        <a:rPr sz="1800" dirty="0">
                          <a:latin typeface="Tahoma"/>
                          <a:cs typeface="Tahoma"/>
                        </a:rPr>
                        <a:t>IS,</a:t>
                      </a:r>
                      <a:r>
                        <a:rPr sz="1800" spc="-190" dirty="0">
                          <a:latin typeface="Tahoma"/>
                          <a:cs typeface="Tahoma"/>
                        </a:rPr>
                        <a:t> </a:t>
                      </a:r>
                      <a:r>
                        <a:rPr sz="1800" dirty="0">
                          <a:latin typeface="Tahoma"/>
                          <a:cs typeface="Tahoma"/>
                        </a:rPr>
                        <a:t>O</a:t>
                      </a:r>
                      <a:r>
                        <a:rPr sz="1800" spc="-5" dirty="0">
                          <a:latin typeface="Tahoma"/>
                          <a:cs typeface="Tahoma"/>
                        </a:rPr>
                        <a:t>N</a:t>
                      </a:r>
                      <a:r>
                        <a:rPr sz="1800" dirty="0">
                          <a:latin typeface="Tahoma"/>
                          <a:cs typeface="Tahoma"/>
                        </a:rPr>
                        <a:t>,</a:t>
                      </a:r>
                      <a:r>
                        <a:rPr sz="1800" spc="-210" dirty="0">
                          <a:latin typeface="Tahoma"/>
                          <a:cs typeface="Tahoma"/>
                        </a:rPr>
                        <a:t> </a:t>
                      </a:r>
                      <a:r>
                        <a:rPr sz="1800" dirty="0">
                          <a:latin typeface="Tahoma"/>
                          <a:cs typeface="Tahoma"/>
                        </a:rPr>
                        <a:t>A</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4"/>
                  </a:ext>
                </a:extLst>
              </a:tr>
              <a:tr h="332873">
                <a:tc>
                  <a:txBody>
                    <a:bodyPr/>
                    <a:lstStyle/>
                    <a:p>
                      <a:pPr marL="92710">
                        <a:lnSpc>
                          <a:spcPct val="100000"/>
                        </a:lnSpc>
                        <a:spcBef>
                          <a:spcPts val="280"/>
                        </a:spcBef>
                      </a:pPr>
                      <a:r>
                        <a:rPr sz="1800" spc="-25" dirty="0">
                          <a:solidFill>
                            <a:srgbClr val="E23717"/>
                          </a:solidFill>
                          <a:latin typeface="Tahoma"/>
                          <a:cs typeface="Tahoma"/>
                        </a:rPr>
                        <a:t>C</a:t>
                      </a:r>
                      <a:r>
                        <a:rPr sz="1800" spc="-110" dirty="0">
                          <a:solidFill>
                            <a:srgbClr val="E23717"/>
                          </a:solidFill>
                          <a:latin typeface="Tahoma"/>
                          <a:cs typeface="Tahoma"/>
                        </a:rPr>
                        <a:t>A</a:t>
                      </a:r>
                      <a:r>
                        <a:rPr sz="1800" spc="-155" dirty="0">
                          <a:solidFill>
                            <a:srgbClr val="E23717"/>
                          </a:solidFill>
                          <a:latin typeface="Tahoma"/>
                          <a:cs typeface="Tahoma"/>
                        </a:rPr>
                        <a:t>T</a:t>
                      </a:r>
                      <a:r>
                        <a:rPr sz="1800" dirty="0">
                          <a:latin typeface="Tahoma"/>
                          <a:cs typeface="Tahoma"/>
                        </a:rPr>
                        <a:t>,</a:t>
                      </a:r>
                      <a:r>
                        <a:rPr sz="1800" spc="-155" dirty="0">
                          <a:latin typeface="Tahoma"/>
                          <a:cs typeface="Tahoma"/>
                        </a:rPr>
                        <a:t> </a:t>
                      </a:r>
                      <a:r>
                        <a:rPr sz="1800" dirty="0">
                          <a:solidFill>
                            <a:srgbClr val="E23717"/>
                          </a:solidFill>
                          <a:latin typeface="Tahoma"/>
                          <a:cs typeface="Tahoma"/>
                        </a:rPr>
                        <a:t>IS</a:t>
                      </a:r>
                      <a:r>
                        <a:rPr sz="1800" dirty="0">
                          <a:latin typeface="Tahoma"/>
                          <a:cs typeface="Tahoma"/>
                        </a:rPr>
                        <a:t>,</a:t>
                      </a:r>
                      <a:r>
                        <a:rPr sz="1800" spc="-195" dirty="0">
                          <a:latin typeface="Tahoma"/>
                          <a:cs typeface="Tahoma"/>
                        </a:rPr>
                        <a:t> </a:t>
                      </a:r>
                      <a:r>
                        <a:rPr sz="1800" dirty="0">
                          <a:latin typeface="Tahoma"/>
                          <a:cs typeface="Tahoma"/>
                        </a:rPr>
                        <a:t>O</a:t>
                      </a:r>
                      <a:r>
                        <a:rPr sz="1800" spc="-5" dirty="0">
                          <a:latin typeface="Tahoma"/>
                          <a:cs typeface="Tahoma"/>
                        </a:rPr>
                        <a:t>N</a:t>
                      </a:r>
                      <a:r>
                        <a:rPr sz="1800" dirty="0">
                          <a:latin typeface="Tahoma"/>
                          <a:cs typeface="Tahoma"/>
                        </a:rPr>
                        <a:t>,</a:t>
                      </a:r>
                      <a:r>
                        <a:rPr sz="1800" spc="-210" dirty="0">
                          <a:latin typeface="Tahoma"/>
                          <a:cs typeface="Tahoma"/>
                        </a:rPr>
                        <a:t> </a:t>
                      </a:r>
                      <a:r>
                        <a:rPr sz="1800" spc="-5" dirty="0">
                          <a:latin typeface="Tahoma"/>
                          <a:cs typeface="Tahoma"/>
                        </a:rPr>
                        <a:t>A</a:t>
                      </a:r>
                      <a:r>
                        <a:rPr sz="1800" dirty="0">
                          <a:latin typeface="Tahoma"/>
                          <a:cs typeface="Tahoma"/>
                        </a:rPr>
                        <a:t>,</a:t>
                      </a:r>
                      <a:r>
                        <a:rPr sz="1800" spc="-170" dirty="0">
                          <a:latin typeface="Tahoma"/>
                          <a:cs typeface="Tahoma"/>
                        </a:rPr>
                        <a:t> </a:t>
                      </a:r>
                      <a:r>
                        <a:rPr sz="1800" spc="-5" dirty="0">
                          <a:latin typeface="Tahoma"/>
                          <a:cs typeface="Tahoma"/>
                        </a:rPr>
                        <a:t>CHAIR</a:t>
                      </a:r>
                      <a:endParaRPr sz="1800" dirty="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5"/>
                  </a:ext>
                </a:extLst>
              </a:tr>
            </a:tbl>
          </a:graphicData>
        </a:graphic>
      </p:graphicFrame>
      <p:sp>
        <p:nvSpPr>
          <p:cNvPr id="19" name="object 6">
            <a:extLst>
              <a:ext uri="{FF2B5EF4-FFF2-40B4-BE49-F238E27FC236}">
                <a16:creationId xmlns:a16="http://schemas.microsoft.com/office/drawing/2014/main" id="{213398E5-1F2A-A4A9-4943-62EC7718C33D}"/>
              </a:ext>
            </a:extLst>
          </p:cNvPr>
          <p:cNvSpPr/>
          <p:nvPr/>
        </p:nvSpPr>
        <p:spPr>
          <a:xfrm>
            <a:off x="3328257" y="4008585"/>
            <a:ext cx="1165954" cy="153897"/>
          </a:xfrm>
          <a:custGeom>
            <a:avLst/>
            <a:gdLst/>
            <a:ahLst/>
            <a:cxnLst/>
            <a:rect l="l" t="t" r="r" b="b"/>
            <a:pathLst>
              <a:path w="1319529" h="171450">
                <a:moveTo>
                  <a:pt x="1148079" y="0"/>
                </a:moveTo>
                <a:lnTo>
                  <a:pt x="1148079" y="171450"/>
                </a:lnTo>
                <a:lnTo>
                  <a:pt x="1262379" y="114300"/>
                </a:lnTo>
                <a:lnTo>
                  <a:pt x="1176654" y="114300"/>
                </a:lnTo>
                <a:lnTo>
                  <a:pt x="1176654" y="57150"/>
                </a:lnTo>
                <a:lnTo>
                  <a:pt x="1262379" y="57150"/>
                </a:lnTo>
                <a:lnTo>
                  <a:pt x="1148079" y="0"/>
                </a:lnTo>
                <a:close/>
              </a:path>
              <a:path w="1319529" h="171450">
                <a:moveTo>
                  <a:pt x="1148079" y="57150"/>
                </a:moveTo>
                <a:lnTo>
                  <a:pt x="0" y="57150"/>
                </a:lnTo>
                <a:lnTo>
                  <a:pt x="0" y="114300"/>
                </a:lnTo>
                <a:lnTo>
                  <a:pt x="1148079" y="114300"/>
                </a:lnTo>
                <a:lnTo>
                  <a:pt x="1148079" y="57150"/>
                </a:lnTo>
                <a:close/>
              </a:path>
              <a:path w="1319529" h="171450">
                <a:moveTo>
                  <a:pt x="1262379" y="57150"/>
                </a:moveTo>
                <a:lnTo>
                  <a:pt x="1176654" y="57150"/>
                </a:lnTo>
                <a:lnTo>
                  <a:pt x="1176654" y="114300"/>
                </a:lnTo>
                <a:lnTo>
                  <a:pt x="1262379" y="114300"/>
                </a:lnTo>
                <a:lnTo>
                  <a:pt x="1319529" y="85725"/>
                </a:lnTo>
                <a:lnTo>
                  <a:pt x="1262379" y="57150"/>
                </a:lnTo>
                <a:close/>
              </a:path>
            </a:pathLst>
          </a:custGeom>
          <a:solidFill>
            <a:srgbClr val="ED7660"/>
          </a:solidFill>
        </p:spPr>
        <p:txBody>
          <a:bodyPr wrap="square" lIns="0" tIns="0" rIns="0" bIns="0" rtlCol="0"/>
          <a:lstStyle/>
          <a:p>
            <a:endParaRPr/>
          </a:p>
        </p:txBody>
      </p:sp>
      <p:sp>
        <p:nvSpPr>
          <p:cNvPr id="20" name="object 7">
            <a:extLst>
              <a:ext uri="{FF2B5EF4-FFF2-40B4-BE49-F238E27FC236}">
                <a16:creationId xmlns:a16="http://schemas.microsoft.com/office/drawing/2014/main" id="{6395C3AD-669D-17E0-357A-6E81AA4C23A5}"/>
              </a:ext>
            </a:extLst>
          </p:cNvPr>
          <p:cNvSpPr/>
          <p:nvPr/>
        </p:nvSpPr>
        <p:spPr>
          <a:xfrm>
            <a:off x="7541734" y="3956050"/>
            <a:ext cx="1165954" cy="153897"/>
          </a:xfrm>
          <a:custGeom>
            <a:avLst/>
            <a:gdLst/>
            <a:ahLst/>
            <a:cxnLst/>
            <a:rect l="l" t="t" r="r" b="b"/>
            <a:pathLst>
              <a:path w="1319529" h="171450">
                <a:moveTo>
                  <a:pt x="1148079" y="0"/>
                </a:moveTo>
                <a:lnTo>
                  <a:pt x="1148079" y="171450"/>
                </a:lnTo>
                <a:lnTo>
                  <a:pt x="1262379" y="114300"/>
                </a:lnTo>
                <a:lnTo>
                  <a:pt x="1176654" y="114300"/>
                </a:lnTo>
                <a:lnTo>
                  <a:pt x="1176654" y="57150"/>
                </a:lnTo>
                <a:lnTo>
                  <a:pt x="1262379" y="57150"/>
                </a:lnTo>
                <a:lnTo>
                  <a:pt x="1148079" y="0"/>
                </a:lnTo>
                <a:close/>
              </a:path>
              <a:path w="1319529" h="171450">
                <a:moveTo>
                  <a:pt x="1148079" y="57150"/>
                </a:moveTo>
                <a:lnTo>
                  <a:pt x="0" y="57150"/>
                </a:lnTo>
                <a:lnTo>
                  <a:pt x="0" y="114300"/>
                </a:lnTo>
                <a:lnTo>
                  <a:pt x="1148079" y="114300"/>
                </a:lnTo>
                <a:lnTo>
                  <a:pt x="1148079" y="57150"/>
                </a:lnTo>
                <a:close/>
              </a:path>
              <a:path w="1319529" h="171450">
                <a:moveTo>
                  <a:pt x="1262379" y="57150"/>
                </a:moveTo>
                <a:lnTo>
                  <a:pt x="1176654" y="57150"/>
                </a:lnTo>
                <a:lnTo>
                  <a:pt x="1176654" y="114300"/>
                </a:lnTo>
                <a:lnTo>
                  <a:pt x="1262379" y="114300"/>
                </a:lnTo>
                <a:lnTo>
                  <a:pt x="1319529" y="85725"/>
                </a:lnTo>
                <a:lnTo>
                  <a:pt x="1262379" y="57150"/>
                </a:lnTo>
                <a:close/>
              </a:path>
            </a:pathLst>
          </a:custGeom>
          <a:solidFill>
            <a:srgbClr val="ED7660"/>
          </a:solidFill>
        </p:spPr>
        <p:txBody>
          <a:bodyPr wrap="square" lIns="0" tIns="0" rIns="0" bIns="0" rtlCol="0"/>
          <a:lstStyle/>
          <a:p>
            <a:endParaRPr/>
          </a:p>
        </p:txBody>
      </p:sp>
      <p:sp>
        <p:nvSpPr>
          <p:cNvPr id="21" name="object 8">
            <a:extLst>
              <a:ext uri="{FF2B5EF4-FFF2-40B4-BE49-F238E27FC236}">
                <a16:creationId xmlns:a16="http://schemas.microsoft.com/office/drawing/2014/main" id="{7C6250D9-99F7-7D42-E067-C4137ED672AC}"/>
              </a:ext>
            </a:extLst>
          </p:cNvPr>
          <p:cNvSpPr txBox="1"/>
          <p:nvPr/>
        </p:nvSpPr>
        <p:spPr>
          <a:xfrm>
            <a:off x="3453856" y="4195011"/>
            <a:ext cx="1040355" cy="289823"/>
          </a:xfrm>
          <a:prstGeom prst="rect">
            <a:avLst/>
          </a:prstGeom>
        </p:spPr>
        <p:txBody>
          <a:bodyPr vert="horz" wrap="square" lIns="0" tIns="12700" rIns="0" bIns="0" rtlCol="0">
            <a:spAutoFit/>
          </a:bodyPr>
          <a:lstStyle/>
          <a:p>
            <a:pPr marL="12700">
              <a:lnSpc>
                <a:spcPct val="100000"/>
              </a:lnSpc>
              <a:spcBef>
                <a:spcPts val="100"/>
              </a:spcBef>
            </a:pPr>
            <a:r>
              <a:rPr sz="1800" b="1" spc="-45" dirty="0">
                <a:cs typeface="Tahoma"/>
              </a:rPr>
              <a:t>Layer</a:t>
            </a:r>
            <a:r>
              <a:rPr sz="1800" b="1" spc="-85" dirty="0">
                <a:cs typeface="Tahoma"/>
              </a:rPr>
              <a:t> </a:t>
            </a:r>
            <a:r>
              <a:rPr sz="1800" b="1" spc="15" dirty="0">
                <a:cs typeface="Tahoma"/>
              </a:rPr>
              <a:t>1</a:t>
            </a:r>
            <a:endParaRPr sz="1800" dirty="0">
              <a:cs typeface="Tahoma"/>
            </a:endParaRPr>
          </a:p>
        </p:txBody>
      </p:sp>
      <p:sp>
        <p:nvSpPr>
          <p:cNvPr id="22" name="object 9">
            <a:extLst>
              <a:ext uri="{FF2B5EF4-FFF2-40B4-BE49-F238E27FC236}">
                <a16:creationId xmlns:a16="http://schemas.microsoft.com/office/drawing/2014/main" id="{0B0FD936-1B46-80BE-EF73-27DBC0F17438}"/>
              </a:ext>
            </a:extLst>
          </p:cNvPr>
          <p:cNvSpPr txBox="1"/>
          <p:nvPr/>
        </p:nvSpPr>
        <p:spPr>
          <a:xfrm>
            <a:off x="7737689" y="4109947"/>
            <a:ext cx="969999" cy="289823"/>
          </a:xfrm>
          <a:prstGeom prst="rect">
            <a:avLst/>
          </a:prstGeom>
        </p:spPr>
        <p:txBody>
          <a:bodyPr vert="horz" wrap="square" lIns="0" tIns="12700" rIns="0" bIns="0" rtlCol="0">
            <a:spAutoFit/>
          </a:bodyPr>
          <a:lstStyle/>
          <a:p>
            <a:pPr marL="12700">
              <a:lnSpc>
                <a:spcPct val="100000"/>
              </a:lnSpc>
              <a:spcBef>
                <a:spcPts val="100"/>
              </a:spcBef>
            </a:pPr>
            <a:r>
              <a:rPr sz="1800" b="1" spc="-45" dirty="0">
                <a:cs typeface="Tahoma"/>
              </a:rPr>
              <a:t>Layer</a:t>
            </a:r>
            <a:r>
              <a:rPr sz="1800" b="1" spc="-85" dirty="0">
                <a:cs typeface="Tahoma"/>
              </a:rPr>
              <a:t> </a:t>
            </a:r>
            <a:r>
              <a:rPr sz="1800" b="1" spc="15" dirty="0">
                <a:cs typeface="Tahoma"/>
              </a:rPr>
              <a:t>2</a:t>
            </a:r>
            <a:endParaRPr sz="1800" dirty="0">
              <a:cs typeface="Tahoma"/>
            </a:endParaRPr>
          </a:p>
        </p:txBody>
      </p:sp>
      <p:sp>
        <p:nvSpPr>
          <p:cNvPr id="23" name="object 11">
            <a:extLst>
              <a:ext uri="{FF2B5EF4-FFF2-40B4-BE49-F238E27FC236}">
                <a16:creationId xmlns:a16="http://schemas.microsoft.com/office/drawing/2014/main" id="{0FB005A7-CA41-F9BC-E518-9A27262A07C6}"/>
              </a:ext>
            </a:extLst>
          </p:cNvPr>
          <p:cNvSpPr txBox="1"/>
          <p:nvPr/>
        </p:nvSpPr>
        <p:spPr>
          <a:xfrm>
            <a:off x="1122886" y="5315020"/>
            <a:ext cx="1493633" cy="194284"/>
          </a:xfrm>
          <a:prstGeom prst="rect">
            <a:avLst/>
          </a:prstGeom>
          <a:solidFill>
            <a:srgbClr val="FBE3DF"/>
          </a:solidFill>
        </p:spPr>
        <p:txBody>
          <a:bodyPr vert="horz" wrap="square" lIns="0" tIns="40005" rIns="0" bIns="0" rtlCol="0">
            <a:spAutoFit/>
          </a:bodyPr>
          <a:lstStyle/>
          <a:p>
            <a:pPr algn="ctr">
              <a:lnSpc>
                <a:spcPct val="100000"/>
              </a:lnSpc>
              <a:spcBef>
                <a:spcPts val="315"/>
              </a:spcBef>
            </a:pPr>
            <a:r>
              <a:rPr sz="1000" spc="-35" dirty="0">
                <a:cs typeface="Tahoma"/>
              </a:rPr>
              <a:t>(6,</a:t>
            </a:r>
            <a:r>
              <a:rPr sz="1000" spc="-60" dirty="0">
                <a:cs typeface="Tahoma"/>
              </a:rPr>
              <a:t> </a:t>
            </a:r>
            <a:r>
              <a:rPr sz="1000" spc="25" dirty="0">
                <a:cs typeface="Tahoma"/>
              </a:rPr>
              <a:t>4096</a:t>
            </a:r>
            <a:r>
              <a:rPr sz="1000" spc="-85" dirty="0">
                <a:cs typeface="Tahoma"/>
              </a:rPr>
              <a:t>)</a:t>
            </a:r>
            <a:endParaRPr sz="1000" dirty="0">
              <a:cs typeface="Tahoma"/>
            </a:endParaRPr>
          </a:p>
        </p:txBody>
      </p:sp>
      <p:sp>
        <p:nvSpPr>
          <p:cNvPr id="24" name="object 12">
            <a:extLst>
              <a:ext uri="{FF2B5EF4-FFF2-40B4-BE49-F238E27FC236}">
                <a16:creationId xmlns:a16="http://schemas.microsoft.com/office/drawing/2014/main" id="{0291C772-D235-8039-6AB3-94155A2B64F2}"/>
              </a:ext>
            </a:extLst>
          </p:cNvPr>
          <p:cNvSpPr txBox="1"/>
          <p:nvPr/>
        </p:nvSpPr>
        <p:spPr>
          <a:xfrm>
            <a:off x="5349744" y="5315020"/>
            <a:ext cx="1492511" cy="194284"/>
          </a:xfrm>
          <a:prstGeom prst="rect">
            <a:avLst/>
          </a:prstGeom>
          <a:solidFill>
            <a:srgbClr val="FBE3DF"/>
          </a:solidFill>
        </p:spPr>
        <p:txBody>
          <a:bodyPr vert="horz" wrap="square" lIns="0" tIns="40005" rIns="0" bIns="0" rtlCol="0">
            <a:spAutoFit/>
          </a:bodyPr>
          <a:lstStyle/>
          <a:p>
            <a:pPr algn="ctr">
              <a:lnSpc>
                <a:spcPct val="100000"/>
              </a:lnSpc>
              <a:spcBef>
                <a:spcPts val="315"/>
              </a:spcBef>
            </a:pPr>
            <a:r>
              <a:rPr sz="1000" spc="-35" dirty="0">
                <a:cs typeface="Tahoma"/>
              </a:rPr>
              <a:t>(6,</a:t>
            </a:r>
            <a:r>
              <a:rPr sz="1000" spc="-60" dirty="0">
                <a:cs typeface="Tahoma"/>
              </a:rPr>
              <a:t> </a:t>
            </a:r>
            <a:r>
              <a:rPr sz="1000" spc="25" dirty="0">
                <a:cs typeface="Tahoma"/>
              </a:rPr>
              <a:t>4096</a:t>
            </a:r>
            <a:r>
              <a:rPr sz="1000" spc="-85" dirty="0">
                <a:cs typeface="Tahoma"/>
              </a:rPr>
              <a:t>)</a:t>
            </a:r>
            <a:endParaRPr sz="1000" dirty="0">
              <a:cs typeface="Tahoma"/>
            </a:endParaRPr>
          </a:p>
        </p:txBody>
      </p:sp>
      <p:sp>
        <p:nvSpPr>
          <p:cNvPr id="25" name="object 13">
            <a:extLst>
              <a:ext uri="{FF2B5EF4-FFF2-40B4-BE49-F238E27FC236}">
                <a16:creationId xmlns:a16="http://schemas.microsoft.com/office/drawing/2014/main" id="{AFA3A616-E7F5-0507-51CD-710B08C5F294}"/>
              </a:ext>
            </a:extLst>
          </p:cNvPr>
          <p:cNvSpPr txBox="1"/>
          <p:nvPr/>
        </p:nvSpPr>
        <p:spPr>
          <a:xfrm>
            <a:off x="9471527" y="5315020"/>
            <a:ext cx="1493633" cy="194284"/>
          </a:xfrm>
          <a:prstGeom prst="rect">
            <a:avLst/>
          </a:prstGeom>
          <a:solidFill>
            <a:srgbClr val="FBE3DF"/>
          </a:solidFill>
        </p:spPr>
        <p:txBody>
          <a:bodyPr vert="horz" wrap="square" lIns="0" tIns="40005" rIns="0" bIns="0" rtlCol="0">
            <a:spAutoFit/>
          </a:bodyPr>
          <a:lstStyle/>
          <a:p>
            <a:pPr marL="635" algn="ctr">
              <a:lnSpc>
                <a:spcPct val="100000"/>
              </a:lnSpc>
              <a:spcBef>
                <a:spcPts val="315"/>
              </a:spcBef>
            </a:pPr>
            <a:r>
              <a:rPr sz="1000" spc="-35" dirty="0">
                <a:cs typeface="Tahoma"/>
              </a:rPr>
              <a:t>(6,</a:t>
            </a:r>
            <a:r>
              <a:rPr sz="1000" spc="-60" dirty="0">
                <a:cs typeface="Tahoma"/>
              </a:rPr>
              <a:t> </a:t>
            </a:r>
            <a:r>
              <a:rPr sz="1000" spc="25" dirty="0">
                <a:cs typeface="Tahoma"/>
              </a:rPr>
              <a:t>4096</a:t>
            </a:r>
            <a:r>
              <a:rPr sz="1000" spc="-85" dirty="0">
                <a:cs typeface="Tahoma"/>
              </a:rPr>
              <a:t>)</a:t>
            </a:r>
            <a:endParaRPr sz="1000">
              <a:cs typeface="Tahoma"/>
            </a:endParaRPr>
          </a:p>
        </p:txBody>
      </p:sp>
    </p:spTree>
    <p:extLst>
      <p:ext uri="{BB962C8B-B14F-4D97-AF65-F5344CB8AC3E}">
        <p14:creationId xmlns:p14="http://schemas.microsoft.com/office/powerpoint/2010/main" val="1927148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D907A-4C47-1653-69FE-EB88E8FE12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054E6-EC20-5414-BF45-BE8A4FB26E70}"/>
              </a:ext>
            </a:extLst>
          </p:cNvPr>
          <p:cNvSpPr>
            <a:spLocks noGrp="1"/>
          </p:cNvSpPr>
          <p:nvPr>
            <p:ph type="title"/>
          </p:nvPr>
        </p:nvSpPr>
        <p:spPr>
          <a:xfrm>
            <a:off x="669552" y="594335"/>
            <a:ext cx="10863635" cy="639153"/>
          </a:xfrm>
        </p:spPr>
        <p:txBody>
          <a:bodyPr/>
          <a:lstStyle/>
          <a:p>
            <a:r>
              <a:rPr lang="en-US" dirty="0">
                <a:latin typeface="+mn-lt"/>
              </a:rPr>
              <a:t>Sliding Window Attention: Information Flow (4)</a:t>
            </a:r>
            <a:endParaRPr lang="en-IN" dirty="0">
              <a:latin typeface="+mn-lt"/>
            </a:endParaRPr>
          </a:p>
        </p:txBody>
      </p:sp>
      <p:graphicFrame>
        <p:nvGraphicFramePr>
          <p:cNvPr id="8" name="object 3">
            <a:extLst>
              <a:ext uri="{FF2B5EF4-FFF2-40B4-BE49-F238E27FC236}">
                <a16:creationId xmlns:a16="http://schemas.microsoft.com/office/drawing/2014/main" id="{E591161B-B477-B340-AEAC-0E05CB9BFB64}"/>
              </a:ext>
            </a:extLst>
          </p:cNvPr>
          <p:cNvGraphicFramePr>
            <a:graphicFrameLocks noGrp="1"/>
          </p:cNvGraphicFramePr>
          <p:nvPr>
            <p:extLst>
              <p:ext uri="{D42A27DB-BD31-4B8C-83A1-F6EECF244321}">
                <p14:modId xmlns:p14="http://schemas.microsoft.com/office/powerpoint/2010/main" val="2401440094"/>
              </p:ext>
            </p:extLst>
          </p:nvPr>
        </p:nvGraphicFramePr>
        <p:xfrm>
          <a:off x="1671479" y="1815853"/>
          <a:ext cx="3631562" cy="3657597"/>
        </p:xfrm>
        <a:graphic>
          <a:graphicData uri="http://schemas.openxmlformats.org/drawingml/2006/table">
            <a:tbl>
              <a:tblPr firstRow="1" bandRow="1">
                <a:tableStyleId>{2D5ABB26-0587-4C30-8999-92F81FD0307C}</a:tableStyleId>
              </a:tblPr>
              <a:tblGrid>
                <a:gridCol w="495934">
                  <a:extLst>
                    <a:ext uri="{9D8B030D-6E8A-4147-A177-3AD203B41FA5}">
                      <a16:colId xmlns:a16="http://schemas.microsoft.com/office/drawing/2014/main" val="20000"/>
                    </a:ext>
                  </a:extLst>
                </a:gridCol>
                <a:gridCol w="522604">
                  <a:extLst>
                    <a:ext uri="{9D8B030D-6E8A-4147-A177-3AD203B41FA5}">
                      <a16:colId xmlns:a16="http://schemas.microsoft.com/office/drawing/2014/main" val="20001"/>
                    </a:ext>
                  </a:extLst>
                </a:gridCol>
                <a:gridCol w="522605">
                  <a:extLst>
                    <a:ext uri="{9D8B030D-6E8A-4147-A177-3AD203B41FA5}">
                      <a16:colId xmlns:a16="http://schemas.microsoft.com/office/drawing/2014/main" val="20002"/>
                    </a:ext>
                  </a:extLst>
                </a:gridCol>
                <a:gridCol w="522605">
                  <a:extLst>
                    <a:ext uri="{9D8B030D-6E8A-4147-A177-3AD203B41FA5}">
                      <a16:colId xmlns:a16="http://schemas.microsoft.com/office/drawing/2014/main" val="20003"/>
                    </a:ext>
                  </a:extLst>
                </a:gridCol>
                <a:gridCol w="522605">
                  <a:extLst>
                    <a:ext uri="{9D8B030D-6E8A-4147-A177-3AD203B41FA5}">
                      <a16:colId xmlns:a16="http://schemas.microsoft.com/office/drawing/2014/main" val="20004"/>
                    </a:ext>
                  </a:extLst>
                </a:gridCol>
                <a:gridCol w="522605">
                  <a:extLst>
                    <a:ext uri="{9D8B030D-6E8A-4147-A177-3AD203B41FA5}">
                      <a16:colId xmlns:a16="http://schemas.microsoft.com/office/drawing/2014/main" val="20005"/>
                    </a:ext>
                  </a:extLst>
                </a:gridCol>
                <a:gridCol w="522604">
                  <a:extLst>
                    <a:ext uri="{9D8B030D-6E8A-4147-A177-3AD203B41FA5}">
                      <a16:colId xmlns:a16="http://schemas.microsoft.com/office/drawing/2014/main" val="20006"/>
                    </a:ext>
                  </a:extLst>
                </a:gridCol>
              </a:tblGrid>
              <a:tr h="522477">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algn="ctr">
                        <a:lnSpc>
                          <a:spcPct val="100000"/>
                        </a:lnSpc>
                      </a:pPr>
                      <a:r>
                        <a:rPr sz="600" b="1" spc="-10" dirty="0">
                          <a:latin typeface="Tahoma"/>
                          <a:cs typeface="Tahoma"/>
                        </a:rPr>
                        <a:t>THE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635" algn="ctr">
                        <a:lnSpc>
                          <a:spcPct val="100000"/>
                        </a:lnSpc>
                      </a:pPr>
                      <a:r>
                        <a:rPr sz="600" b="1" spc="-20" dirty="0">
                          <a:latin typeface="Tahoma"/>
                          <a:cs typeface="Tahoma"/>
                        </a:rPr>
                        <a:t>THE/CAT</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marL="635" algn="ctr">
                        <a:lnSpc>
                          <a:spcPct val="100000"/>
                        </a:lnSpc>
                        <a:spcBef>
                          <a:spcPts val="509"/>
                        </a:spcBef>
                      </a:pPr>
                      <a:r>
                        <a:rPr sz="600" b="1" spc="-20" dirty="0">
                          <a:latin typeface="Tahoma"/>
                          <a:cs typeface="Tahoma"/>
                        </a:rPr>
                        <a:t>THE/CAT</a:t>
                      </a:r>
                      <a:endParaRPr sz="600">
                        <a:latin typeface="Tahoma"/>
                        <a:cs typeface="Tahoma"/>
                      </a:endParaRPr>
                    </a:p>
                    <a:p>
                      <a:pPr algn="ctr">
                        <a:lnSpc>
                          <a:spcPct val="100000"/>
                        </a:lnSpc>
                      </a:pPr>
                      <a:r>
                        <a:rPr sz="600" b="1" spc="-75" dirty="0">
                          <a:latin typeface="Tahoma"/>
                          <a:cs typeface="Tahoma"/>
                        </a:rPr>
                        <a:t>/IS</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gn="ctr">
                        <a:lnSpc>
                          <a:spcPct val="100000"/>
                        </a:lnSpc>
                        <a:spcBef>
                          <a:spcPts val="509"/>
                        </a:spcBef>
                      </a:pPr>
                      <a:r>
                        <a:rPr sz="600" b="1" spc="-45" dirty="0">
                          <a:latin typeface="Tahoma"/>
                          <a:cs typeface="Tahoma"/>
                        </a:rPr>
                        <a:t>CAT/IS/</a:t>
                      </a:r>
                      <a:endParaRPr sz="600">
                        <a:latin typeface="Tahoma"/>
                        <a:cs typeface="Tahoma"/>
                      </a:endParaRPr>
                    </a:p>
                    <a:p>
                      <a:pPr algn="ctr">
                        <a:lnSpc>
                          <a:spcPct val="100000"/>
                        </a:lnSpc>
                      </a:pPr>
                      <a:r>
                        <a:rPr sz="600" b="1" spc="30" dirty="0">
                          <a:latin typeface="Tahoma"/>
                          <a:cs typeface="Tahoma"/>
                        </a:rPr>
                        <a:t>ON</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algn="ctr">
                        <a:lnSpc>
                          <a:spcPct val="100000"/>
                        </a:lnSpc>
                      </a:pPr>
                      <a:r>
                        <a:rPr sz="600" b="1" spc="-35" dirty="0">
                          <a:latin typeface="Tahoma"/>
                          <a:cs typeface="Tahoma"/>
                        </a:rPr>
                        <a:t>IS/ON/A</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marL="112395">
                        <a:lnSpc>
                          <a:spcPct val="100000"/>
                        </a:lnSpc>
                        <a:spcBef>
                          <a:spcPts val="509"/>
                        </a:spcBef>
                      </a:pPr>
                      <a:r>
                        <a:rPr sz="600" b="1" spc="-20" dirty="0">
                          <a:latin typeface="Tahoma"/>
                          <a:cs typeface="Tahoma"/>
                        </a:rPr>
                        <a:t>ON/A/C</a:t>
                      </a:r>
                      <a:endParaRPr sz="600">
                        <a:latin typeface="Tahoma"/>
                        <a:cs typeface="Tahoma"/>
                      </a:endParaRPr>
                    </a:p>
                    <a:p>
                      <a:pPr marL="167005">
                        <a:lnSpc>
                          <a:spcPct val="100000"/>
                        </a:lnSpc>
                      </a:pPr>
                      <a:r>
                        <a:rPr sz="600" b="1" spc="-30" dirty="0">
                          <a:latin typeface="Tahoma"/>
                          <a:cs typeface="Tahoma"/>
                        </a:rPr>
                        <a:t>HAIR</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extLst>
                  <a:ext uri="{0D108BD9-81ED-4DB2-BD59-A6C34878D82A}">
                    <a16:rowId xmlns:a16="http://schemas.microsoft.com/office/drawing/2014/main" val="10000"/>
                  </a:ext>
                </a:extLst>
              </a:tr>
              <a:tr h="522605">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spc="-10" dirty="0">
                          <a:latin typeface="Tahoma"/>
                          <a:cs typeface="Tahoma"/>
                        </a:rPr>
                        <a:t>THE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5"/>
                        </a:spcBef>
                      </a:pPr>
                      <a:endParaRPr sz="1250">
                        <a:latin typeface="Times New Roman"/>
                        <a:cs typeface="Times New Roman"/>
                      </a:endParaRPr>
                    </a:p>
                    <a:p>
                      <a:pPr algn="ctr">
                        <a:lnSpc>
                          <a:spcPct val="100000"/>
                        </a:lnSpc>
                      </a:pPr>
                      <a:r>
                        <a:rPr sz="1000" spc="5" dirty="0">
                          <a:latin typeface="Tahoma"/>
                          <a:cs typeface="Tahoma"/>
                        </a:rPr>
                        <a:t>1.0</a:t>
                      </a:r>
                      <a:endParaRPr sz="1000">
                        <a:latin typeface="Tahoma"/>
                        <a:cs typeface="Tahoma"/>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4130"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dirty="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dirty="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1"/>
                  </a:ext>
                </a:extLst>
              </a:tr>
              <a:tr h="522477">
                <a:tc>
                  <a:txBody>
                    <a:bodyPr/>
                    <a:lstStyle/>
                    <a:p>
                      <a:pPr>
                        <a:lnSpc>
                          <a:spcPct val="100000"/>
                        </a:lnSpc>
                        <a:spcBef>
                          <a:spcPts val="35"/>
                        </a:spcBef>
                      </a:pPr>
                      <a:endParaRPr sz="800">
                        <a:latin typeface="Times New Roman"/>
                        <a:cs typeface="Times New Roman"/>
                      </a:endParaRPr>
                    </a:p>
                    <a:p>
                      <a:pPr marL="224790" marR="95885" indent="-121920">
                        <a:lnSpc>
                          <a:spcPct val="100000"/>
                        </a:lnSpc>
                        <a:spcBef>
                          <a:spcPts val="5"/>
                        </a:spcBef>
                      </a:pPr>
                      <a:r>
                        <a:rPr sz="600" b="1" dirty="0">
                          <a:latin typeface="Tahoma"/>
                          <a:cs typeface="Tahoma"/>
                        </a:rPr>
                        <a:t>T</a:t>
                      </a:r>
                      <a:r>
                        <a:rPr sz="600" b="1" spc="-5" dirty="0">
                          <a:latin typeface="Tahoma"/>
                          <a:cs typeface="Tahoma"/>
                        </a:rPr>
                        <a:t>HE</a:t>
                      </a:r>
                      <a:r>
                        <a:rPr sz="600" b="1" dirty="0">
                          <a:latin typeface="Tahoma"/>
                          <a:cs typeface="Tahoma"/>
                        </a:rPr>
                        <a:t>/CA  </a:t>
                      </a:r>
                      <a:r>
                        <a:rPr sz="600" b="1" spc="-20" dirty="0">
                          <a:latin typeface="Tahoma"/>
                          <a:cs typeface="Tahoma"/>
                        </a:rPr>
                        <a:t>T</a:t>
                      </a:r>
                      <a:endParaRPr sz="600">
                        <a:latin typeface="Tahoma"/>
                        <a:cs typeface="Tahoma"/>
                      </a:endParaRPr>
                    </a:p>
                  </a:txBody>
                  <a:tcPr marL="0" marR="0" marT="44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5"/>
                        </a:spcBef>
                      </a:pPr>
                      <a:endParaRPr sz="1250">
                        <a:latin typeface="Times New Roman"/>
                        <a:cs typeface="Times New Roman"/>
                      </a:endParaRPr>
                    </a:p>
                    <a:p>
                      <a:pPr algn="ctr">
                        <a:lnSpc>
                          <a:spcPct val="100000"/>
                        </a:lnSpc>
                        <a:spcBef>
                          <a:spcPts val="5"/>
                        </a:spcBef>
                      </a:pPr>
                      <a:r>
                        <a:rPr sz="1000" spc="10" dirty="0">
                          <a:latin typeface="Tahoma"/>
                          <a:cs typeface="Tahoma"/>
                        </a:rPr>
                        <a:t>0.461</a:t>
                      </a:r>
                      <a:endParaRPr sz="1000">
                        <a:latin typeface="Tahoma"/>
                        <a:cs typeface="Tahoma"/>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
                        </a:spcBef>
                      </a:pPr>
                      <a:endParaRPr sz="1250">
                        <a:latin typeface="Times New Roman"/>
                        <a:cs typeface="Times New Roman"/>
                      </a:endParaRPr>
                    </a:p>
                    <a:p>
                      <a:pPr algn="ctr">
                        <a:lnSpc>
                          <a:spcPct val="100000"/>
                        </a:lnSpc>
                        <a:spcBef>
                          <a:spcPts val="5"/>
                        </a:spcBef>
                      </a:pPr>
                      <a:r>
                        <a:rPr sz="1000" spc="10" dirty="0">
                          <a:latin typeface="Tahoma"/>
                          <a:cs typeface="Tahoma"/>
                        </a:rPr>
                        <a:t>0.538</a:t>
                      </a:r>
                      <a:endParaRPr sz="1000">
                        <a:latin typeface="Tahoma"/>
                        <a:cs typeface="Tahoma"/>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2"/>
                  </a:ext>
                </a:extLst>
              </a:tr>
              <a:tr h="522478">
                <a:tc>
                  <a:txBody>
                    <a:bodyPr/>
                    <a:lstStyle/>
                    <a:p>
                      <a:pPr>
                        <a:lnSpc>
                          <a:spcPct val="100000"/>
                        </a:lnSpc>
                      </a:pPr>
                      <a:endParaRPr sz="700">
                        <a:latin typeface="Times New Roman"/>
                        <a:cs typeface="Times New Roman"/>
                      </a:endParaRPr>
                    </a:p>
                    <a:p>
                      <a:pPr marL="174625" marR="95885" indent="-71755">
                        <a:lnSpc>
                          <a:spcPct val="100000"/>
                        </a:lnSpc>
                        <a:spcBef>
                          <a:spcPts val="515"/>
                        </a:spcBef>
                      </a:pPr>
                      <a:r>
                        <a:rPr sz="600" b="1" dirty="0">
                          <a:latin typeface="Tahoma"/>
                          <a:cs typeface="Tahoma"/>
                        </a:rPr>
                        <a:t>T</a:t>
                      </a:r>
                      <a:r>
                        <a:rPr sz="600" b="1" spc="-5" dirty="0">
                          <a:latin typeface="Tahoma"/>
                          <a:cs typeface="Tahoma"/>
                        </a:rPr>
                        <a:t>HE</a:t>
                      </a:r>
                      <a:r>
                        <a:rPr sz="600" b="1" dirty="0">
                          <a:latin typeface="Tahoma"/>
                          <a:cs typeface="Tahoma"/>
                        </a:rPr>
                        <a:t>/CA  </a:t>
                      </a:r>
                      <a:r>
                        <a:rPr sz="600" b="1" spc="-65" dirty="0">
                          <a:latin typeface="Tahoma"/>
                          <a:cs typeface="Tahoma"/>
                        </a:rPr>
                        <a:t>T/IS</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5" dirty="0">
                          <a:latin typeface="Tahoma"/>
                          <a:cs typeface="Tahoma"/>
                        </a:rPr>
                        <a:t>0.3219</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0.317</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0.361</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3"/>
                  </a:ext>
                </a:extLst>
              </a:tr>
              <a:tr h="522477">
                <a:tc>
                  <a:txBody>
                    <a:bodyPr/>
                    <a:lstStyle/>
                    <a:p>
                      <a:pPr>
                        <a:lnSpc>
                          <a:spcPct val="100000"/>
                        </a:lnSpc>
                      </a:pPr>
                      <a:endParaRPr sz="700">
                        <a:latin typeface="Times New Roman"/>
                        <a:cs typeface="Times New Roman"/>
                      </a:endParaRPr>
                    </a:p>
                    <a:p>
                      <a:pPr marL="183515" marR="97155" indent="-79375">
                        <a:lnSpc>
                          <a:spcPct val="100000"/>
                        </a:lnSpc>
                        <a:spcBef>
                          <a:spcPts val="515"/>
                        </a:spcBef>
                      </a:pPr>
                      <a:r>
                        <a:rPr sz="600" b="1" dirty="0">
                          <a:latin typeface="Tahoma"/>
                          <a:cs typeface="Tahoma"/>
                        </a:rPr>
                        <a:t>C</a:t>
                      </a:r>
                      <a:r>
                        <a:rPr sz="600" b="1" spc="-10" dirty="0">
                          <a:latin typeface="Tahoma"/>
                          <a:cs typeface="Tahoma"/>
                        </a:rPr>
                        <a:t>A</a:t>
                      </a:r>
                      <a:r>
                        <a:rPr sz="600" b="1" dirty="0">
                          <a:latin typeface="Tahoma"/>
                          <a:cs typeface="Tahoma"/>
                        </a:rPr>
                        <a:t>T/I</a:t>
                      </a:r>
                      <a:r>
                        <a:rPr sz="600" b="1" spc="5" dirty="0">
                          <a:latin typeface="Tahoma"/>
                          <a:cs typeface="Tahoma"/>
                        </a:rPr>
                        <a:t>S</a:t>
                      </a:r>
                      <a:r>
                        <a:rPr sz="600" b="1" dirty="0">
                          <a:latin typeface="Tahoma"/>
                          <a:cs typeface="Tahoma"/>
                        </a:rPr>
                        <a:t>/  </a:t>
                      </a:r>
                      <a:r>
                        <a:rPr sz="600" b="1" spc="35" dirty="0">
                          <a:latin typeface="Tahoma"/>
                          <a:cs typeface="Tahoma"/>
                        </a:rPr>
                        <a:t>ON</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20"/>
                        </a:spcBef>
                      </a:pPr>
                      <a:endParaRPr sz="1250">
                        <a:latin typeface="Times New Roman"/>
                        <a:cs typeface="Times New Roman"/>
                      </a:endParaRPr>
                    </a:p>
                    <a:p>
                      <a:pPr marR="24130"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0.316</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0.341</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0.343</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4"/>
                  </a:ext>
                </a:extLst>
              </a:tr>
              <a:tr h="522605">
                <a:tc>
                  <a:txBody>
                    <a:bodyPr/>
                    <a:lstStyle/>
                    <a:p>
                      <a:pPr>
                        <a:lnSpc>
                          <a:spcPct val="100000"/>
                        </a:lnSpc>
                      </a:pPr>
                      <a:endParaRPr sz="700">
                        <a:latin typeface="Times New Roman"/>
                        <a:cs typeface="Times New Roman"/>
                      </a:endParaRPr>
                    </a:p>
                    <a:p>
                      <a:pPr algn="ctr">
                        <a:lnSpc>
                          <a:spcPct val="100000"/>
                        </a:lnSpc>
                        <a:spcBef>
                          <a:spcPts val="515"/>
                        </a:spcBef>
                      </a:pPr>
                      <a:r>
                        <a:rPr sz="600" b="1" spc="-45" dirty="0">
                          <a:latin typeface="Tahoma"/>
                          <a:cs typeface="Tahoma"/>
                        </a:rPr>
                        <a:t>IS/ON/</a:t>
                      </a:r>
                      <a:endParaRPr sz="600">
                        <a:latin typeface="Tahoma"/>
                        <a:cs typeface="Tahoma"/>
                      </a:endParaRPr>
                    </a:p>
                    <a:p>
                      <a:pPr marL="635" algn="ctr">
                        <a:lnSpc>
                          <a:spcPct val="100000"/>
                        </a:lnSpc>
                      </a:pPr>
                      <a:r>
                        <a:rPr sz="600" b="1" dirty="0">
                          <a:latin typeface="Tahoma"/>
                          <a:cs typeface="Tahoma"/>
                        </a:rPr>
                        <a:t>A</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25"/>
                        </a:spcBef>
                      </a:pPr>
                      <a:endParaRPr sz="1250">
                        <a:latin typeface="Times New Roman"/>
                        <a:cs typeface="Times New Roman"/>
                      </a:endParaRPr>
                    </a:p>
                    <a:p>
                      <a:pPr marR="24130"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4130"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0.326</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0.323</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0.351</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5"/>
                  </a:ext>
                </a:extLst>
              </a:tr>
              <a:tr h="522478">
                <a:tc>
                  <a:txBody>
                    <a:bodyPr/>
                    <a:lstStyle/>
                    <a:p>
                      <a:pPr>
                        <a:lnSpc>
                          <a:spcPct val="100000"/>
                        </a:lnSpc>
                      </a:pPr>
                      <a:endParaRPr sz="700">
                        <a:latin typeface="Times New Roman"/>
                        <a:cs typeface="Times New Roman"/>
                      </a:endParaRPr>
                    </a:p>
                    <a:p>
                      <a:pPr marL="153035" marR="91440" indent="-55244">
                        <a:lnSpc>
                          <a:spcPct val="100000"/>
                        </a:lnSpc>
                        <a:spcBef>
                          <a:spcPts val="515"/>
                        </a:spcBef>
                      </a:pPr>
                      <a:r>
                        <a:rPr sz="600" b="1" dirty="0">
                          <a:latin typeface="Tahoma"/>
                          <a:cs typeface="Tahoma"/>
                        </a:rPr>
                        <a:t>O</a:t>
                      </a:r>
                      <a:r>
                        <a:rPr sz="600" b="1" spc="5" dirty="0">
                          <a:latin typeface="Tahoma"/>
                          <a:cs typeface="Tahoma"/>
                        </a:rPr>
                        <a:t>N</a:t>
                      </a:r>
                      <a:r>
                        <a:rPr sz="600" b="1" dirty="0">
                          <a:latin typeface="Tahoma"/>
                          <a:cs typeface="Tahoma"/>
                        </a:rPr>
                        <a:t>/</a:t>
                      </a:r>
                      <a:r>
                        <a:rPr sz="600" b="1" spc="-10" dirty="0">
                          <a:latin typeface="Tahoma"/>
                          <a:cs typeface="Tahoma"/>
                        </a:rPr>
                        <a:t>A</a:t>
                      </a:r>
                      <a:r>
                        <a:rPr sz="600" b="1" dirty="0">
                          <a:latin typeface="Tahoma"/>
                          <a:cs typeface="Tahoma"/>
                        </a:rPr>
                        <a:t>/C  </a:t>
                      </a:r>
                      <a:r>
                        <a:rPr sz="600" b="1" spc="-35" dirty="0">
                          <a:latin typeface="Tahoma"/>
                          <a:cs typeface="Tahoma"/>
                        </a:rPr>
                        <a:t>HAIR</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25"/>
                        </a:spcBef>
                      </a:pPr>
                      <a:endParaRPr sz="1250">
                        <a:latin typeface="Times New Roman"/>
                        <a:cs typeface="Times New Roman"/>
                      </a:endParaRPr>
                    </a:p>
                    <a:p>
                      <a:pPr marR="24130"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4130"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0</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spcBef>
                          <a:spcPts val="5"/>
                        </a:spcBef>
                      </a:pPr>
                      <a:r>
                        <a:rPr sz="1000" spc="10" dirty="0">
                          <a:latin typeface="Tahoma"/>
                          <a:cs typeface="Tahoma"/>
                        </a:rPr>
                        <a:t>0.313</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spcBef>
                          <a:spcPts val="5"/>
                        </a:spcBef>
                      </a:pPr>
                      <a:r>
                        <a:rPr sz="1000" spc="10" dirty="0">
                          <a:latin typeface="Tahoma"/>
                          <a:cs typeface="Tahoma"/>
                        </a:rPr>
                        <a:t>0.331</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dirty="0">
                        <a:latin typeface="Times New Roman"/>
                        <a:cs typeface="Times New Roman"/>
                      </a:endParaRPr>
                    </a:p>
                    <a:p>
                      <a:pPr algn="ctr">
                        <a:lnSpc>
                          <a:spcPct val="100000"/>
                        </a:lnSpc>
                        <a:spcBef>
                          <a:spcPts val="5"/>
                        </a:spcBef>
                      </a:pPr>
                      <a:r>
                        <a:rPr sz="1000" spc="10" dirty="0">
                          <a:latin typeface="Tahoma"/>
                          <a:cs typeface="Tahoma"/>
                        </a:rPr>
                        <a:t>0.356</a:t>
                      </a:r>
                      <a:endParaRPr sz="1000" dirty="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6"/>
                  </a:ext>
                </a:extLst>
              </a:tr>
            </a:tbl>
          </a:graphicData>
        </a:graphic>
      </p:graphicFrame>
      <p:sp>
        <p:nvSpPr>
          <p:cNvPr id="9" name="object 4">
            <a:extLst>
              <a:ext uri="{FF2B5EF4-FFF2-40B4-BE49-F238E27FC236}">
                <a16:creationId xmlns:a16="http://schemas.microsoft.com/office/drawing/2014/main" id="{9AB66E06-5E95-0A33-9B96-185C33109039}"/>
              </a:ext>
            </a:extLst>
          </p:cNvPr>
          <p:cNvSpPr txBox="1"/>
          <p:nvPr/>
        </p:nvSpPr>
        <p:spPr>
          <a:xfrm>
            <a:off x="5937410" y="2790071"/>
            <a:ext cx="1689100" cy="1696720"/>
          </a:xfrm>
          <a:prstGeom prst="rect">
            <a:avLst/>
          </a:prstGeom>
          <a:solidFill>
            <a:srgbClr val="D2F5F1"/>
          </a:solidFill>
        </p:spPr>
        <p:txBody>
          <a:bodyPr vert="horz" wrap="square" lIns="0" tIns="0" rIns="0" bIns="0" rtlCol="0">
            <a:spAutoFit/>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marL="3175" algn="ctr">
              <a:lnSpc>
                <a:spcPct val="100000"/>
              </a:lnSpc>
              <a:spcBef>
                <a:spcPts val="1075"/>
              </a:spcBef>
            </a:pPr>
            <a:r>
              <a:rPr sz="1200" b="1" spc="5" dirty="0">
                <a:latin typeface="Tahoma"/>
                <a:cs typeface="Tahoma"/>
              </a:rPr>
              <a:t>V</a:t>
            </a:r>
            <a:endParaRPr sz="1200">
              <a:latin typeface="Tahoma"/>
              <a:cs typeface="Tahoma"/>
            </a:endParaRPr>
          </a:p>
          <a:p>
            <a:pPr>
              <a:lnSpc>
                <a:spcPct val="100000"/>
              </a:lnSpc>
            </a:pPr>
            <a:endParaRPr sz="1400">
              <a:latin typeface="Tahoma"/>
              <a:cs typeface="Tahoma"/>
            </a:endParaRPr>
          </a:p>
          <a:p>
            <a:pPr algn="ctr">
              <a:lnSpc>
                <a:spcPct val="100000"/>
              </a:lnSpc>
              <a:spcBef>
                <a:spcPts val="915"/>
              </a:spcBef>
            </a:pPr>
            <a:r>
              <a:rPr sz="1000" spc="-35" dirty="0">
                <a:latin typeface="Tahoma"/>
                <a:cs typeface="Tahoma"/>
              </a:rPr>
              <a:t>(6,</a:t>
            </a:r>
            <a:r>
              <a:rPr sz="1000" spc="-60" dirty="0">
                <a:latin typeface="Tahoma"/>
                <a:cs typeface="Tahoma"/>
              </a:rPr>
              <a:t> </a:t>
            </a:r>
            <a:r>
              <a:rPr sz="1000" spc="25" dirty="0">
                <a:latin typeface="Tahoma"/>
                <a:cs typeface="Tahoma"/>
              </a:rPr>
              <a:t>4096</a:t>
            </a:r>
            <a:r>
              <a:rPr sz="1000" spc="-85" dirty="0">
                <a:latin typeface="Tahoma"/>
                <a:cs typeface="Tahoma"/>
              </a:rPr>
              <a:t>)</a:t>
            </a:r>
            <a:endParaRPr sz="1000">
              <a:latin typeface="Tahoma"/>
              <a:cs typeface="Tahoma"/>
            </a:endParaRPr>
          </a:p>
        </p:txBody>
      </p:sp>
      <p:sp>
        <p:nvSpPr>
          <p:cNvPr id="10" name="object 5">
            <a:extLst>
              <a:ext uri="{FF2B5EF4-FFF2-40B4-BE49-F238E27FC236}">
                <a16:creationId xmlns:a16="http://schemas.microsoft.com/office/drawing/2014/main" id="{1EE7E2DA-B626-EB76-7CA1-52134AE72930}"/>
              </a:ext>
            </a:extLst>
          </p:cNvPr>
          <p:cNvSpPr txBox="1"/>
          <p:nvPr/>
        </p:nvSpPr>
        <p:spPr>
          <a:xfrm>
            <a:off x="5527580" y="3489028"/>
            <a:ext cx="173990" cy="300355"/>
          </a:xfrm>
          <a:prstGeom prst="rect">
            <a:avLst/>
          </a:prstGeom>
        </p:spPr>
        <p:txBody>
          <a:bodyPr vert="horz" wrap="square" lIns="0" tIns="12700" rIns="0" bIns="0" rtlCol="0">
            <a:spAutoFit/>
          </a:bodyPr>
          <a:lstStyle/>
          <a:p>
            <a:pPr marL="12700">
              <a:lnSpc>
                <a:spcPct val="100000"/>
              </a:lnSpc>
              <a:spcBef>
                <a:spcPts val="100"/>
              </a:spcBef>
            </a:pPr>
            <a:r>
              <a:rPr sz="1800" spc="120" dirty="0">
                <a:latin typeface="Tahoma"/>
                <a:cs typeface="Tahoma"/>
              </a:rPr>
              <a:t>X</a:t>
            </a:r>
            <a:endParaRPr sz="1800">
              <a:latin typeface="Tahoma"/>
              <a:cs typeface="Tahoma"/>
            </a:endParaRPr>
          </a:p>
        </p:txBody>
      </p:sp>
      <p:sp>
        <p:nvSpPr>
          <p:cNvPr id="11" name="object 6">
            <a:extLst>
              <a:ext uri="{FF2B5EF4-FFF2-40B4-BE49-F238E27FC236}">
                <a16:creationId xmlns:a16="http://schemas.microsoft.com/office/drawing/2014/main" id="{14D55EE4-1E36-9DC5-8750-03BE26F203CF}"/>
              </a:ext>
            </a:extLst>
          </p:cNvPr>
          <p:cNvSpPr txBox="1"/>
          <p:nvPr/>
        </p:nvSpPr>
        <p:spPr>
          <a:xfrm>
            <a:off x="2648617" y="5771015"/>
            <a:ext cx="1689100" cy="245745"/>
          </a:xfrm>
          <a:prstGeom prst="rect">
            <a:avLst/>
          </a:prstGeom>
          <a:solidFill>
            <a:srgbClr val="D2F5F1"/>
          </a:solidFill>
        </p:spPr>
        <p:txBody>
          <a:bodyPr vert="horz" wrap="square" lIns="0" tIns="40005" rIns="0" bIns="0" rtlCol="0">
            <a:spAutoFit/>
          </a:bodyPr>
          <a:lstStyle/>
          <a:p>
            <a:pPr algn="ctr">
              <a:lnSpc>
                <a:spcPct val="100000"/>
              </a:lnSpc>
              <a:spcBef>
                <a:spcPts val="315"/>
              </a:spcBef>
            </a:pPr>
            <a:r>
              <a:rPr sz="1000" spc="-35" dirty="0">
                <a:latin typeface="Tahoma"/>
                <a:cs typeface="Tahoma"/>
              </a:rPr>
              <a:t>(6,</a:t>
            </a:r>
            <a:r>
              <a:rPr sz="1000" spc="-60" dirty="0">
                <a:latin typeface="Tahoma"/>
                <a:cs typeface="Tahoma"/>
              </a:rPr>
              <a:t> </a:t>
            </a:r>
            <a:r>
              <a:rPr sz="1000" spc="-35" dirty="0">
                <a:latin typeface="Tahoma"/>
                <a:cs typeface="Tahoma"/>
              </a:rPr>
              <a:t>6)</a:t>
            </a:r>
            <a:endParaRPr sz="1000">
              <a:latin typeface="Tahoma"/>
              <a:cs typeface="Tahoma"/>
            </a:endParaRPr>
          </a:p>
        </p:txBody>
      </p:sp>
      <p:sp>
        <p:nvSpPr>
          <p:cNvPr id="12" name="object 7">
            <a:extLst>
              <a:ext uri="{FF2B5EF4-FFF2-40B4-BE49-F238E27FC236}">
                <a16:creationId xmlns:a16="http://schemas.microsoft.com/office/drawing/2014/main" id="{1B4E59A9-BAC9-DE06-B18F-D0C45ABF3FF7}"/>
              </a:ext>
            </a:extLst>
          </p:cNvPr>
          <p:cNvSpPr txBox="1"/>
          <p:nvPr/>
        </p:nvSpPr>
        <p:spPr>
          <a:xfrm>
            <a:off x="7848252" y="3489028"/>
            <a:ext cx="178435" cy="300355"/>
          </a:xfrm>
          <a:prstGeom prst="rect">
            <a:avLst/>
          </a:prstGeom>
        </p:spPr>
        <p:txBody>
          <a:bodyPr vert="horz" wrap="square" lIns="0" tIns="12700" rIns="0" bIns="0" rtlCol="0">
            <a:spAutoFit/>
          </a:bodyPr>
          <a:lstStyle/>
          <a:p>
            <a:pPr marL="12700">
              <a:lnSpc>
                <a:spcPct val="100000"/>
              </a:lnSpc>
              <a:spcBef>
                <a:spcPts val="100"/>
              </a:spcBef>
            </a:pPr>
            <a:r>
              <a:rPr sz="1800" spc="-110" dirty="0">
                <a:latin typeface="Tahoma"/>
                <a:cs typeface="Tahoma"/>
              </a:rPr>
              <a:t>=</a:t>
            </a:r>
            <a:endParaRPr sz="1800">
              <a:latin typeface="Tahoma"/>
              <a:cs typeface="Tahoma"/>
            </a:endParaRPr>
          </a:p>
        </p:txBody>
      </p:sp>
      <p:sp>
        <p:nvSpPr>
          <p:cNvPr id="13" name="object 8">
            <a:extLst>
              <a:ext uri="{FF2B5EF4-FFF2-40B4-BE49-F238E27FC236}">
                <a16:creationId xmlns:a16="http://schemas.microsoft.com/office/drawing/2014/main" id="{7FC132BA-0298-7F44-6AF3-DFFE5F628064}"/>
              </a:ext>
            </a:extLst>
          </p:cNvPr>
          <p:cNvSpPr txBox="1"/>
          <p:nvPr/>
        </p:nvSpPr>
        <p:spPr>
          <a:xfrm>
            <a:off x="8179214" y="2790071"/>
            <a:ext cx="1689100" cy="1696720"/>
          </a:xfrm>
          <a:prstGeom prst="rect">
            <a:avLst/>
          </a:prstGeom>
          <a:solidFill>
            <a:srgbClr val="D2F5F1"/>
          </a:solidFill>
        </p:spPr>
        <p:txBody>
          <a:bodyPr vert="horz" wrap="square" lIns="0" tIns="0" rIns="0" bIns="0" rtlCol="0">
            <a:spAutoFit/>
          </a:bodyPr>
          <a:lstStyle/>
          <a:p>
            <a:pPr>
              <a:lnSpc>
                <a:spcPct val="100000"/>
              </a:lnSpc>
            </a:pPr>
            <a:endParaRPr sz="1000">
              <a:latin typeface="Times New Roman"/>
              <a:cs typeface="Times New Roman"/>
            </a:endParaRPr>
          </a:p>
          <a:p>
            <a:pPr>
              <a:lnSpc>
                <a:spcPct val="100000"/>
              </a:lnSpc>
            </a:pPr>
            <a:endParaRPr sz="1000">
              <a:latin typeface="Times New Roman"/>
              <a:cs typeface="Times New Roman"/>
            </a:endParaRPr>
          </a:p>
          <a:p>
            <a:pPr>
              <a:lnSpc>
                <a:spcPct val="100000"/>
              </a:lnSpc>
            </a:pPr>
            <a:endParaRPr sz="1000">
              <a:latin typeface="Times New Roman"/>
              <a:cs typeface="Times New Roman"/>
            </a:endParaRPr>
          </a:p>
          <a:p>
            <a:pPr>
              <a:lnSpc>
                <a:spcPct val="100000"/>
              </a:lnSpc>
            </a:pPr>
            <a:endParaRPr sz="1000">
              <a:latin typeface="Times New Roman"/>
              <a:cs typeface="Times New Roman"/>
            </a:endParaRPr>
          </a:p>
          <a:p>
            <a:pPr>
              <a:lnSpc>
                <a:spcPct val="100000"/>
              </a:lnSpc>
              <a:spcBef>
                <a:spcPts val="5"/>
              </a:spcBef>
            </a:pPr>
            <a:endParaRPr sz="1050">
              <a:latin typeface="Times New Roman"/>
              <a:cs typeface="Times New Roman"/>
            </a:endParaRPr>
          </a:p>
          <a:p>
            <a:pPr marL="1270" algn="ctr">
              <a:lnSpc>
                <a:spcPct val="100000"/>
              </a:lnSpc>
            </a:pPr>
            <a:r>
              <a:rPr sz="800" b="1" spc="-10" dirty="0">
                <a:latin typeface="Tahoma"/>
                <a:cs typeface="Tahoma"/>
              </a:rPr>
              <a:t>Output</a:t>
            </a:r>
            <a:endParaRPr sz="800">
              <a:latin typeface="Tahoma"/>
              <a:cs typeface="Tahoma"/>
            </a:endParaRPr>
          </a:p>
          <a:p>
            <a:pPr>
              <a:lnSpc>
                <a:spcPct val="100000"/>
              </a:lnSpc>
            </a:pPr>
            <a:endParaRPr sz="1000">
              <a:latin typeface="Tahoma"/>
              <a:cs typeface="Tahoma"/>
            </a:endParaRPr>
          </a:p>
          <a:p>
            <a:pPr>
              <a:lnSpc>
                <a:spcPct val="100000"/>
              </a:lnSpc>
            </a:pPr>
            <a:endParaRPr sz="1000">
              <a:latin typeface="Tahoma"/>
              <a:cs typeface="Tahoma"/>
            </a:endParaRPr>
          </a:p>
          <a:p>
            <a:pPr algn="ctr">
              <a:lnSpc>
                <a:spcPct val="100000"/>
              </a:lnSpc>
              <a:spcBef>
                <a:spcPts val="760"/>
              </a:spcBef>
            </a:pPr>
            <a:r>
              <a:rPr sz="1000" spc="-35" dirty="0">
                <a:latin typeface="Tahoma"/>
                <a:cs typeface="Tahoma"/>
              </a:rPr>
              <a:t>(6,</a:t>
            </a:r>
            <a:r>
              <a:rPr sz="1000" spc="-60" dirty="0">
                <a:latin typeface="Tahoma"/>
                <a:cs typeface="Tahoma"/>
              </a:rPr>
              <a:t> </a:t>
            </a:r>
            <a:r>
              <a:rPr sz="1000" spc="25" dirty="0">
                <a:latin typeface="Tahoma"/>
                <a:cs typeface="Tahoma"/>
              </a:rPr>
              <a:t>4096</a:t>
            </a:r>
            <a:r>
              <a:rPr sz="1000" spc="-85" dirty="0">
                <a:latin typeface="Tahoma"/>
                <a:cs typeface="Tahoma"/>
              </a:rPr>
              <a:t>)</a:t>
            </a:r>
            <a:endParaRPr sz="1000">
              <a:latin typeface="Tahoma"/>
              <a:cs typeface="Tahoma"/>
            </a:endParaRPr>
          </a:p>
        </p:txBody>
      </p:sp>
    </p:spTree>
    <p:extLst>
      <p:ext uri="{BB962C8B-B14F-4D97-AF65-F5344CB8AC3E}">
        <p14:creationId xmlns:p14="http://schemas.microsoft.com/office/powerpoint/2010/main" val="27857275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BA470-BCCE-C693-B0A6-FADCE1E1BE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9C7A0D-2DEE-3E35-28B2-FAC4B9553588}"/>
              </a:ext>
            </a:extLst>
          </p:cNvPr>
          <p:cNvSpPr>
            <a:spLocks noGrp="1"/>
          </p:cNvSpPr>
          <p:nvPr>
            <p:ph type="title"/>
          </p:nvPr>
        </p:nvSpPr>
        <p:spPr>
          <a:xfrm>
            <a:off x="669552" y="594335"/>
            <a:ext cx="10863635" cy="639153"/>
          </a:xfrm>
        </p:spPr>
        <p:txBody>
          <a:bodyPr/>
          <a:lstStyle/>
          <a:p>
            <a:r>
              <a:rPr lang="en-US" dirty="0">
                <a:latin typeface="+mn-lt"/>
              </a:rPr>
              <a:t>Sliding Window Attention: Information Flow (5)</a:t>
            </a:r>
            <a:endParaRPr lang="en-IN" dirty="0">
              <a:latin typeface="+mn-lt"/>
            </a:endParaRPr>
          </a:p>
        </p:txBody>
      </p:sp>
      <p:sp>
        <p:nvSpPr>
          <p:cNvPr id="3" name="Content Placeholder 2">
            <a:extLst>
              <a:ext uri="{FF2B5EF4-FFF2-40B4-BE49-F238E27FC236}">
                <a16:creationId xmlns:a16="http://schemas.microsoft.com/office/drawing/2014/main" id="{01969881-FD7E-3F6F-0E64-132E7AF4B2C4}"/>
              </a:ext>
            </a:extLst>
          </p:cNvPr>
          <p:cNvSpPr>
            <a:spLocks noGrp="1"/>
          </p:cNvSpPr>
          <p:nvPr>
            <p:ph idx="1"/>
          </p:nvPr>
        </p:nvSpPr>
        <p:spPr>
          <a:xfrm>
            <a:off x="678884" y="1675075"/>
            <a:ext cx="10854304" cy="4417750"/>
          </a:xfrm>
        </p:spPr>
        <p:txBody>
          <a:bodyPr>
            <a:normAutofit/>
          </a:bodyPr>
          <a:lstStyle/>
          <a:p>
            <a:pPr marL="0" indent="0">
              <a:spcBef>
                <a:spcPts val="0"/>
              </a:spcBef>
              <a:buNone/>
            </a:pPr>
            <a:r>
              <a:rPr lang="en-US" sz="1600" dirty="0">
                <a:solidFill>
                  <a:srgbClr val="161A3E"/>
                </a:solidFill>
                <a:latin typeface="+mn-lt"/>
              </a:rPr>
              <a:t>As you can see, the information flow is very similar to the receptive field of a CNN.</a:t>
            </a:r>
          </a:p>
        </p:txBody>
      </p:sp>
      <p:pic>
        <p:nvPicPr>
          <p:cNvPr id="7" name="Picture 6">
            <a:extLst>
              <a:ext uri="{FF2B5EF4-FFF2-40B4-BE49-F238E27FC236}">
                <a16:creationId xmlns:a16="http://schemas.microsoft.com/office/drawing/2014/main" id="{5EC91132-A88F-5C6C-1675-36EE1DC55DF6}"/>
              </a:ext>
            </a:extLst>
          </p:cNvPr>
          <p:cNvPicPr>
            <a:picLocks noChangeAspect="1"/>
          </p:cNvPicPr>
          <p:nvPr/>
        </p:nvPicPr>
        <p:blipFill>
          <a:blip r:embed="rId2"/>
          <a:stretch>
            <a:fillRect/>
          </a:stretch>
        </p:blipFill>
        <p:spPr>
          <a:xfrm>
            <a:off x="3601838" y="2017530"/>
            <a:ext cx="3803774" cy="4096372"/>
          </a:xfrm>
          <a:prstGeom prst="rect">
            <a:avLst/>
          </a:prstGeom>
        </p:spPr>
      </p:pic>
    </p:spTree>
    <p:extLst>
      <p:ext uri="{BB962C8B-B14F-4D97-AF65-F5344CB8AC3E}">
        <p14:creationId xmlns:p14="http://schemas.microsoft.com/office/powerpoint/2010/main" val="32821461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438F5-B01D-E66B-1995-8937A1BC56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385A20-417D-1B89-780E-6C551B33544B}"/>
              </a:ext>
            </a:extLst>
          </p:cNvPr>
          <p:cNvSpPr>
            <a:spLocks noGrp="1"/>
          </p:cNvSpPr>
          <p:nvPr>
            <p:ph type="title"/>
          </p:nvPr>
        </p:nvSpPr>
        <p:spPr>
          <a:xfrm>
            <a:off x="669552" y="594335"/>
            <a:ext cx="10863635" cy="639153"/>
          </a:xfrm>
        </p:spPr>
        <p:txBody>
          <a:bodyPr/>
          <a:lstStyle/>
          <a:p>
            <a:r>
              <a:rPr lang="en-US" dirty="0">
                <a:latin typeface="+mn-lt"/>
              </a:rPr>
              <a:t>Sliding Window Attention: Information Flow (5)</a:t>
            </a:r>
            <a:endParaRPr lang="en-IN" dirty="0">
              <a:latin typeface="+mn-lt"/>
            </a:endParaRPr>
          </a:p>
        </p:txBody>
      </p:sp>
      <p:sp>
        <p:nvSpPr>
          <p:cNvPr id="3" name="Content Placeholder 2">
            <a:extLst>
              <a:ext uri="{FF2B5EF4-FFF2-40B4-BE49-F238E27FC236}">
                <a16:creationId xmlns:a16="http://schemas.microsoft.com/office/drawing/2014/main" id="{AA4B41E9-90CD-119F-29FD-E1DF6EABE009}"/>
              </a:ext>
            </a:extLst>
          </p:cNvPr>
          <p:cNvSpPr>
            <a:spLocks noGrp="1"/>
          </p:cNvSpPr>
          <p:nvPr>
            <p:ph idx="1"/>
          </p:nvPr>
        </p:nvSpPr>
        <p:spPr>
          <a:xfrm>
            <a:off x="678883" y="1675075"/>
            <a:ext cx="6495548" cy="4417750"/>
          </a:xfrm>
        </p:spPr>
        <p:txBody>
          <a:bodyPr>
            <a:normAutofit fontScale="92500" lnSpcReduction="10000"/>
          </a:bodyPr>
          <a:lstStyle/>
          <a:p>
            <a:pPr marL="0" indent="0">
              <a:spcBef>
                <a:spcPts val="0"/>
              </a:spcBef>
              <a:buNone/>
            </a:pPr>
            <a:r>
              <a:rPr lang="en-US" sz="1600" dirty="0">
                <a:solidFill>
                  <a:srgbClr val="161A3E"/>
                </a:solidFill>
                <a:latin typeface="+mn-lt"/>
              </a:rPr>
              <a:t>Imagine we want to train a model to write Dante Alighieri’s Divine Comedy’s 5th Canto from the Inferno.</a:t>
            </a:r>
          </a:p>
          <a:p>
            <a:pPr marL="0" indent="0">
              <a:spcBef>
                <a:spcPts val="0"/>
              </a:spcBef>
              <a:buNone/>
            </a:pPr>
            <a:endParaRPr lang="en-US" sz="1600" dirty="0">
              <a:solidFill>
                <a:srgbClr val="161A3E"/>
              </a:solidFill>
              <a:latin typeface="+mn-lt"/>
            </a:endParaRPr>
          </a:p>
          <a:p>
            <a:pPr marL="0" indent="0">
              <a:spcBef>
                <a:spcPts val="0"/>
              </a:spcBef>
              <a:buNone/>
            </a:pPr>
            <a:endParaRPr lang="en-US" sz="1600" dirty="0">
              <a:solidFill>
                <a:srgbClr val="161A3E"/>
              </a:solidFill>
              <a:latin typeface="+mn-lt"/>
            </a:endParaRPr>
          </a:p>
          <a:p>
            <a:pPr marL="0" indent="0">
              <a:spcBef>
                <a:spcPts val="0"/>
              </a:spcBef>
              <a:buNone/>
            </a:pPr>
            <a:r>
              <a:rPr lang="it-IT" sz="1600" b="1" i="1" dirty="0">
                <a:solidFill>
                  <a:srgbClr val="161A3E"/>
                </a:solidFill>
                <a:latin typeface="+mj-lt"/>
              </a:rPr>
              <a:t>Amor, ch'al cor gentil ratto s'apprende,  </a:t>
            </a:r>
            <a:r>
              <a:rPr lang="it-IT" sz="1600" i="1" dirty="0">
                <a:solidFill>
                  <a:srgbClr val="161A3E"/>
                </a:solidFill>
                <a:latin typeface="+mj-lt"/>
              </a:rPr>
              <a:t>prese costui de la bella persona</a:t>
            </a:r>
          </a:p>
          <a:p>
            <a:pPr marL="0" indent="0">
              <a:spcBef>
                <a:spcPts val="0"/>
              </a:spcBef>
              <a:buNone/>
            </a:pPr>
            <a:r>
              <a:rPr lang="it-IT" sz="1600" i="1" dirty="0">
                <a:solidFill>
                  <a:srgbClr val="161A3E"/>
                </a:solidFill>
                <a:latin typeface="+mj-lt"/>
              </a:rPr>
              <a:t>che mi fu tolta; e 'l modo ancor m'offende.</a:t>
            </a:r>
          </a:p>
          <a:p>
            <a:pPr marL="0" indent="0">
              <a:spcBef>
                <a:spcPts val="0"/>
              </a:spcBef>
              <a:buNone/>
            </a:pPr>
            <a:endParaRPr lang="en-US" sz="1600" i="1" dirty="0">
              <a:solidFill>
                <a:srgbClr val="161A3E"/>
              </a:solidFill>
              <a:latin typeface="+mj-lt"/>
            </a:endParaRPr>
          </a:p>
          <a:p>
            <a:pPr marL="0" indent="0">
              <a:spcBef>
                <a:spcPts val="0"/>
              </a:spcBef>
              <a:buNone/>
            </a:pPr>
            <a:r>
              <a:rPr lang="it-IT" sz="1600" i="1" dirty="0">
                <a:solidFill>
                  <a:srgbClr val="161A3E"/>
                </a:solidFill>
                <a:latin typeface="+mj-lt"/>
              </a:rPr>
              <a:t>Amor, ch'a nullo amato amar perdona,  mi prese del costui piacer sì forte,</a:t>
            </a:r>
          </a:p>
          <a:p>
            <a:pPr marL="0" indent="0">
              <a:spcBef>
                <a:spcPts val="0"/>
              </a:spcBef>
              <a:buNone/>
            </a:pPr>
            <a:r>
              <a:rPr lang="it-IT" sz="1600" i="1" dirty="0">
                <a:solidFill>
                  <a:srgbClr val="161A3E"/>
                </a:solidFill>
                <a:latin typeface="+mj-lt"/>
              </a:rPr>
              <a:t>che, come vedi, ancor non m'abbandona.</a:t>
            </a:r>
          </a:p>
          <a:p>
            <a:pPr marL="0" indent="0">
              <a:spcBef>
                <a:spcPts val="0"/>
              </a:spcBef>
              <a:buNone/>
            </a:pPr>
            <a:endParaRPr lang="en-US" sz="1600" i="1" dirty="0">
              <a:solidFill>
                <a:srgbClr val="161A3E"/>
              </a:solidFill>
              <a:latin typeface="+mj-lt"/>
            </a:endParaRPr>
          </a:p>
          <a:p>
            <a:pPr marL="0" indent="0">
              <a:spcBef>
                <a:spcPts val="0"/>
              </a:spcBef>
              <a:buNone/>
            </a:pPr>
            <a:r>
              <a:rPr lang="it-IT" sz="1600" i="1" dirty="0">
                <a:solidFill>
                  <a:srgbClr val="161A3E"/>
                </a:solidFill>
                <a:latin typeface="+mj-lt"/>
              </a:rPr>
              <a:t>Amor condusse noi ad una morte.  Caina attende chi a vita ci spense.</a:t>
            </a:r>
          </a:p>
          <a:p>
            <a:pPr marL="0" indent="0">
              <a:spcBef>
                <a:spcPts val="0"/>
              </a:spcBef>
              <a:buNone/>
            </a:pPr>
            <a:endParaRPr lang="en-US" sz="1600" dirty="0">
              <a:solidFill>
                <a:srgbClr val="161A3E"/>
              </a:solidFill>
              <a:latin typeface="+mn-lt"/>
            </a:endParaRPr>
          </a:p>
          <a:p>
            <a:pPr marL="0" indent="0">
              <a:spcBef>
                <a:spcPts val="0"/>
              </a:spcBef>
              <a:buNone/>
            </a:pPr>
            <a:endParaRPr lang="en-US" sz="1600" dirty="0">
              <a:solidFill>
                <a:srgbClr val="161A3E"/>
              </a:solidFill>
              <a:latin typeface="+mn-lt"/>
            </a:endParaRPr>
          </a:p>
          <a:p>
            <a:pPr marL="0" indent="0">
              <a:spcBef>
                <a:spcPts val="0"/>
              </a:spcBef>
              <a:buNone/>
            </a:pPr>
            <a:endParaRPr lang="en-US" sz="1600" dirty="0">
              <a:solidFill>
                <a:srgbClr val="161A3E"/>
              </a:solidFill>
              <a:latin typeface="+mn-lt"/>
            </a:endParaRPr>
          </a:p>
          <a:p>
            <a:pPr marL="0" indent="0">
              <a:spcBef>
                <a:spcPts val="0"/>
              </a:spcBef>
              <a:buNone/>
            </a:pPr>
            <a:r>
              <a:rPr lang="en-US" sz="1600" b="1" dirty="0">
                <a:solidFill>
                  <a:srgbClr val="161A3E"/>
                </a:solidFill>
                <a:latin typeface="+mn-lt"/>
              </a:rPr>
              <a:t>Love, that can quickly seize the gentle heart,  </a:t>
            </a:r>
            <a:r>
              <a:rPr lang="en-US" sz="1600" dirty="0">
                <a:solidFill>
                  <a:srgbClr val="161A3E"/>
                </a:solidFill>
                <a:latin typeface="+mn-lt"/>
              </a:rPr>
              <a:t>took hold of him because of the fair body</a:t>
            </a:r>
          </a:p>
          <a:p>
            <a:pPr marL="0" indent="0">
              <a:spcBef>
                <a:spcPts val="0"/>
              </a:spcBef>
              <a:buNone/>
            </a:pPr>
            <a:r>
              <a:rPr lang="en-US" sz="1600" dirty="0">
                <a:solidFill>
                  <a:srgbClr val="161A3E"/>
                </a:solidFill>
                <a:latin typeface="+mn-lt"/>
              </a:rPr>
              <a:t>taken from me—how that was done still wounds me.</a:t>
            </a:r>
          </a:p>
          <a:p>
            <a:pPr marL="0" indent="0">
              <a:spcBef>
                <a:spcPts val="0"/>
              </a:spcBef>
              <a:buNone/>
            </a:pPr>
            <a:endParaRPr lang="en-US" sz="1600" dirty="0">
              <a:solidFill>
                <a:srgbClr val="161A3E"/>
              </a:solidFill>
              <a:latin typeface="+mn-lt"/>
            </a:endParaRPr>
          </a:p>
          <a:p>
            <a:pPr marL="0" indent="0">
              <a:spcBef>
                <a:spcPts val="0"/>
              </a:spcBef>
              <a:buNone/>
            </a:pPr>
            <a:r>
              <a:rPr lang="en-US" sz="1600" dirty="0">
                <a:solidFill>
                  <a:srgbClr val="161A3E"/>
                </a:solidFill>
                <a:latin typeface="+mn-lt"/>
              </a:rPr>
              <a:t>Love, that releases no beloved from loving,  took hold of me so strongly through his beauty  that, as you see, it has not left me yet.</a:t>
            </a:r>
          </a:p>
          <a:p>
            <a:pPr marL="0" indent="0">
              <a:spcBef>
                <a:spcPts val="0"/>
              </a:spcBef>
              <a:buNone/>
            </a:pPr>
            <a:endParaRPr lang="en-US" sz="1600" dirty="0">
              <a:solidFill>
                <a:srgbClr val="161A3E"/>
              </a:solidFill>
              <a:latin typeface="+mn-lt"/>
            </a:endParaRPr>
          </a:p>
          <a:p>
            <a:pPr marL="0" indent="0">
              <a:spcBef>
                <a:spcPts val="0"/>
              </a:spcBef>
              <a:buNone/>
            </a:pPr>
            <a:r>
              <a:rPr lang="en-US" sz="1600" dirty="0">
                <a:solidFill>
                  <a:srgbClr val="161A3E"/>
                </a:solidFill>
                <a:latin typeface="+mn-lt"/>
              </a:rPr>
              <a:t>Love led the two of us unto one death.  </a:t>
            </a:r>
            <a:r>
              <a:rPr lang="en-US" sz="1600" dirty="0" err="1">
                <a:solidFill>
                  <a:srgbClr val="161A3E"/>
                </a:solidFill>
                <a:latin typeface="+mn-lt"/>
              </a:rPr>
              <a:t>Caina</a:t>
            </a:r>
            <a:r>
              <a:rPr lang="en-US" sz="1600" dirty="0">
                <a:solidFill>
                  <a:srgbClr val="161A3E"/>
                </a:solidFill>
                <a:latin typeface="+mn-lt"/>
              </a:rPr>
              <a:t> waits for him who took our life.”</a:t>
            </a:r>
          </a:p>
        </p:txBody>
      </p:sp>
      <p:grpSp>
        <p:nvGrpSpPr>
          <p:cNvPr id="4" name="object 11">
            <a:extLst>
              <a:ext uri="{FF2B5EF4-FFF2-40B4-BE49-F238E27FC236}">
                <a16:creationId xmlns:a16="http://schemas.microsoft.com/office/drawing/2014/main" id="{40F307E4-C3D5-4486-2E2E-C999764E3B30}"/>
              </a:ext>
            </a:extLst>
          </p:cNvPr>
          <p:cNvGrpSpPr/>
          <p:nvPr/>
        </p:nvGrpSpPr>
        <p:grpSpPr>
          <a:xfrm>
            <a:off x="7608517" y="2387447"/>
            <a:ext cx="3159760" cy="3279775"/>
            <a:chOff x="6858000" y="1950720"/>
            <a:chExt cx="3159760" cy="3279775"/>
          </a:xfrm>
        </p:grpSpPr>
        <p:sp>
          <p:nvSpPr>
            <p:cNvPr id="5" name="object 12">
              <a:extLst>
                <a:ext uri="{FF2B5EF4-FFF2-40B4-BE49-F238E27FC236}">
                  <a16:creationId xmlns:a16="http://schemas.microsoft.com/office/drawing/2014/main" id="{E6ABE170-FD39-1805-6212-3114EEEB94E2}"/>
                </a:ext>
              </a:extLst>
            </p:cNvPr>
            <p:cNvSpPr/>
            <p:nvPr/>
          </p:nvSpPr>
          <p:spPr>
            <a:xfrm>
              <a:off x="6858000" y="1950720"/>
              <a:ext cx="3159760" cy="3279775"/>
            </a:xfrm>
            <a:custGeom>
              <a:avLst/>
              <a:gdLst/>
              <a:ahLst/>
              <a:cxnLst/>
              <a:rect l="l" t="t" r="r" b="b"/>
              <a:pathLst>
                <a:path w="3159759" h="3279775">
                  <a:moveTo>
                    <a:pt x="3159252" y="0"/>
                  </a:moveTo>
                  <a:lnTo>
                    <a:pt x="0" y="0"/>
                  </a:lnTo>
                  <a:lnTo>
                    <a:pt x="0" y="3279648"/>
                  </a:lnTo>
                  <a:lnTo>
                    <a:pt x="3159252" y="3279648"/>
                  </a:lnTo>
                  <a:lnTo>
                    <a:pt x="3159252" y="0"/>
                  </a:lnTo>
                  <a:close/>
                </a:path>
              </a:pathLst>
            </a:custGeom>
            <a:solidFill>
              <a:srgbClr val="F3F3F4">
                <a:alpha val="50195"/>
              </a:srgbClr>
            </a:solidFill>
          </p:spPr>
          <p:txBody>
            <a:bodyPr wrap="square" lIns="0" tIns="0" rIns="0" bIns="0" rtlCol="0"/>
            <a:lstStyle/>
            <a:p>
              <a:endParaRPr/>
            </a:p>
          </p:txBody>
        </p:sp>
        <p:sp>
          <p:nvSpPr>
            <p:cNvPr id="6" name="object 13">
              <a:extLst>
                <a:ext uri="{FF2B5EF4-FFF2-40B4-BE49-F238E27FC236}">
                  <a16:creationId xmlns:a16="http://schemas.microsoft.com/office/drawing/2014/main" id="{B42F08AA-ECBE-0F32-01B6-93941BA28AA3}"/>
                </a:ext>
              </a:extLst>
            </p:cNvPr>
            <p:cNvSpPr/>
            <p:nvPr/>
          </p:nvSpPr>
          <p:spPr>
            <a:xfrm>
              <a:off x="6858000" y="1950720"/>
              <a:ext cx="3159760" cy="3279775"/>
            </a:xfrm>
            <a:custGeom>
              <a:avLst/>
              <a:gdLst/>
              <a:ahLst/>
              <a:cxnLst/>
              <a:rect l="l" t="t" r="r" b="b"/>
              <a:pathLst>
                <a:path w="3159759" h="3279775">
                  <a:moveTo>
                    <a:pt x="0" y="3279648"/>
                  </a:moveTo>
                  <a:lnTo>
                    <a:pt x="3159252" y="3279648"/>
                  </a:lnTo>
                  <a:lnTo>
                    <a:pt x="3159252" y="0"/>
                  </a:lnTo>
                  <a:lnTo>
                    <a:pt x="0" y="0"/>
                  </a:lnTo>
                  <a:lnTo>
                    <a:pt x="0" y="3279648"/>
                  </a:lnTo>
                  <a:close/>
                </a:path>
              </a:pathLst>
            </a:custGeom>
            <a:ln w="12700">
              <a:solidFill>
                <a:srgbClr val="632D23"/>
              </a:solidFill>
              <a:prstDash val="sysDash"/>
            </a:ln>
          </p:spPr>
          <p:txBody>
            <a:bodyPr wrap="square" lIns="0" tIns="0" rIns="0" bIns="0" rtlCol="0"/>
            <a:lstStyle/>
            <a:p>
              <a:endParaRPr/>
            </a:p>
          </p:txBody>
        </p:sp>
      </p:grpSp>
      <p:sp>
        <p:nvSpPr>
          <p:cNvPr id="8" name="object 14">
            <a:extLst>
              <a:ext uri="{FF2B5EF4-FFF2-40B4-BE49-F238E27FC236}">
                <a16:creationId xmlns:a16="http://schemas.microsoft.com/office/drawing/2014/main" id="{090FC2BC-703D-6A01-B678-1EC1B37D043F}"/>
              </a:ext>
            </a:extLst>
          </p:cNvPr>
          <p:cNvSpPr txBox="1"/>
          <p:nvPr/>
        </p:nvSpPr>
        <p:spPr>
          <a:xfrm>
            <a:off x="9075622" y="6003125"/>
            <a:ext cx="267970" cy="135935"/>
          </a:xfrm>
          <a:prstGeom prst="rect">
            <a:avLst/>
          </a:prstGeom>
        </p:spPr>
        <p:txBody>
          <a:bodyPr vert="horz" wrap="square" lIns="0" tIns="12700" rIns="0" bIns="0" rtlCol="0">
            <a:spAutoFit/>
          </a:bodyPr>
          <a:lstStyle/>
          <a:p>
            <a:pPr marL="12700">
              <a:lnSpc>
                <a:spcPct val="100000"/>
              </a:lnSpc>
              <a:spcBef>
                <a:spcPts val="100"/>
              </a:spcBef>
            </a:pPr>
            <a:r>
              <a:rPr sz="800" spc="-95" dirty="0">
                <a:latin typeface="Tahoma"/>
                <a:cs typeface="Tahoma"/>
              </a:rPr>
              <a:t>I</a:t>
            </a:r>
            <a:r>
              <a:rPr sz="800" spc="40" dirty="0">
                <a:latin typeface="Tahoma"/>
                <a:cs typeface="Tahoma"/>
              </a:rPr>
              <a:t>n</a:t>
            </a:r>
            <a:r>
              <a:rPr sz="800" spc="45" dirty="0">
                <a:latin typeface="Tahoma"/>
                <a:cs typeface="Tahoma"/>
              </a:rPr>
              <a:t>p</a:t>
            </a:r>
            <a:r>
              <a:rPr sz="800" dirty="0">
                <a:latin typeface="Tahoma"/>
                <a:cs typeface="Tahoma"/>
              </a:rPr>
              <a:t>ut</a:t>
            </a:r>
          </a:p>
        </p:txBody>
      </p:sp>
      <p:sp>
        <p:nvSpPr>
          <p:cNvPr id="9" name="object 15">
            <a:extLst>
              <a:ext uri="{FF2B5EF4-FFF2-40B4-BE49-F238E27FC236}">
                <a16:creationId xmlns:a16="http://schemas.microsoft.com/office/drawing/2014/main" id="{12DE9921-B051-921F-60BE-1FB1929F6A3B}"/>
              </a:ext>
            </a:extLst>
          </p:cNvPr>
          <p:cNvSpPr txBox="1"/>
          <p:nvPr/>
        </p:nvSpPr>
        <p:spPr>
          <a:xfrm>
            <a:off x="8757315" y="5739314"/>
            <a:ext cx="868680" cy="191719"/>
          </a:xfrm>
          <a:prstGeom prst="rect">
            <a:avLst/>
          </a:prstGeom>
          <a:solidFill>
            <a:srgbClr val="FBDFE0"/>
          </a:solidFill>
          <a:ln w="12700">
            <a:solidFill>
              <a:srgbClr val="000000"/>
            </a:solidFill>
          </a:ln>
        </p:spPr>
        <p:txBody>
          <a:bodyPr vert="horz" wrap="square" lIns="0" tIns="67945" rIns="0" bIns="0" rtlCol="0">
            <a:spAutoFit/>
          </a:bodyPr>
          <a:lstStyle/>
          <a:p>
            <a:pPr marL="134620">
              <a:lnSpc>
                <a:spcPct val="100000"/>
              </a:lnSpc>
              <a:spcBef>
                <a:spcPts val="535"/>
              </a:spcBef>
            </a:pPr>
            <a:r>
              <a:rPr sz="800" spc="40" dirty="0">
                <a:latin typeface="Tahoma"/>
                <a:cs typeface="Tahoma"/>
              </a:rPr>
              <a:t>Embeddings</a:t>
            </a:r>
            <a:endParaRPr sz="800" dirty="0">
              <a:latin typeface="Tahoma"/>
              <a:cs typeface="Tahoma"/>
            </a:endParaRPr>
          </a:p>
        </p:txBody>
      </p:sp>
      <p:grpSp>
        <p:nvGrpSpPr>
          <p:cNvPr id="14" name="object 20">
            <a:extLst>
              <a:ext uri="{FF2B5EF4-FFF2-40B4-BE49-F238E27FC236}">
                <a16:creationId xmlns:a16="http://schemas.microsoft.com/office/drawing/2014/main" id="{065D40E3-A0B3-E7B0-CE1B-45B628FE0CDA}"/>
              </a:ext>
            </a:extLst>
          </p:cNvPr>
          <p:cNvGrpSpPr/>
          <p:nvPr/>
        </p:nvGrpSpPr>
        <p:grpSpPr>
          <a:xfrm>
            <a:off x="7906967" y="4171797"/>
            <a:ext cx="2590165" cy="401320"/>
            <a:chOff x="7156450" y="3735070"/>
            <a:chExt cx="2590165" cy="401320"/>
          </a:xfrm>
        </p:grpSpPr>
        <p:sp>
          <p:nvSpPr>
            <p:cNvPr id="15" name="object 21">
              <a:extLst>
                <a:ext uri="{FF2B5EF4-FFF2-40B4-BE49-F238E27FC236}">
                  <a16:creationId xmlns:a16="http://schemas.microsoft.com/office/drawing/2014/main" id="{1D3DF631-70D6-0B3A-69F4-4242C6CE9EF4}"/>
                </a:ext>
              </a:extLst>
            </p:cNvPr>
            <p:cNvSpPr/>
            <p:nvPr/>
          </p:nvSpPr>
          <p:spPr>
            <a:xfrm>
              <a:off x="7162800" y="3741420"/>
              <a:ext cx="2577465" cy="388620"/>
            </a:xfrm>
            <a:custGeom>
              <a:avLst/>
              <a:gdLst/>
              <a:ahLst/>
              <a:cxnLst/>
              <a:rect l="l" t="t" r="r" b="b"/>
              <a:pathLst>
                <a:path w="2577465" h="388620">
                  <a:moveTo>
                    <a:pt x="2577083" y="0"/>
                  </a:moveTo>
                  <a:lnTo>
                    <a:pt x="0" y="0"/>
                  </a:lnTo>
                  <a:lnTo>
                    <a:pt x="0" y="388619"/>
                  </a:lnTo>
                  <a:lnTo>
                    <a:pt x="2577083" y="388619"/>
                  </a:lnTo>
                  <a:lnTo>
                    <a:pt x="2577083" y="0"/>
                  </a:lnTo>
                  <a:close/>
                </a:path>
              </a:pathLst>
            </a:custGeom>
            <a:solidFill>
              <a:srgbClr val="FFE1BA"/>
            </a:solidFill>
          </p:spPr>
          <p:txBody>
            <a:bodyPr wrap="square" lIns="0" tIns="0" rIns="0" bIns="0" rtlCol="0"/>
            <a:lstStyle/>
            <a:p>
              <a:endParaRPr/>
            </a:p>
          </p:txBody>
        </p:sp>
        <p:sp>
          <p:nvSpPr>
            <p:cNvPr id="16" name="object 22">
              <a:extLst>
                <a:ext uri="{FF2B5EF4-FFF2-40B4-BE49-F238E27FC236}">
                  <a16:creationId xmlns:a16="http://schemas.microsoft.com/office/drawing/2014/main" id="{CE144561-61F5-61C2-BF01-9DAAA454DFDD}"/>
                </a:ext>
              </a:extLst>
            </p:cNvPr>
            <p:cNvSpPr/>
            <p:nvPr/>
          </p:nvSpPr>
          <p:spPr>
            <a:xfrm>
              <a:off x="7162800" y="3741420"/>
              <a:ext cx="2577465" cy="388620"/>
            </a:xfrm>
            <a:custGeom>
              <a:avLst/>
              <a:gdLst/>
              <a:ahLst/>
              <a:cxnLst/>
              <a:rect l="l" t="t" r="r" b="b"/>
              <a:pathLst>
                <a:path w="2577465" h="388620">
                  <a:moveTo>
                    <a:pt x="0" y="388619"/>
                  </a:moveTo>
                  <a:lnTo>
                    <a:pt x="2577083" y="388619"/>
                  </a:lnTo>
                  <a:lnTo>
                    <a:pt x="2577083" y="0"/>
                  </a:lnTo>
                  <a:lnTo>
                    <a:pt x="0" y="0"/>
                  </a:lnTo>
                  <a:lnTo>
                    <a:pt x="0" y="388619"/>
                  </a:lnTo>
                  <a:close/>
                </a:path>
              </a:pathLst>
            </a:custGeom>
            <a:ln w="12700">
              <a:solidFill>
                <a:srgbClr val="000000"/>
              </a:solidFill>
            </a:ln>
          </p:spPr>
          <p:txBody>
            <a:bodyPr wrap="square" lIns="0" tIns="0" rIns="0" bIns="0" rtlCol="0"/>
            <a:lstStyle/>
            <a:p>
              <a:endParaRPr/>
            </a:p>
          </p:txBody>
        </p:sp>
      </p:grpSp>
      <p:sp>
        <p:nvSpPr>
          <p:cNvPr id="17" name="object 23">
            <a:extLst>
              <a:ext uri="{FF2B5EF4-FFF2-40B4-BE49-F238E27FC236}">
                <a16:creationId xmlns:a16="http://schemas.microsoft.com/office/drawing/2014/main" id="{7E808666-81AD-C119-864A-6B69F97FA411}"/>
              </a:ext>
            </a:extLst>
          </p:cNvPr>
          <p:cNvSpPr txBox="1"/>
          <p:nvPr/>
        </p:nvSpPr>
        <p:spPr>
          <a:xfrm>
            <a:off x="7823083" y="4246723"/>
            <a:ext cx="2571115" cy="228268"/>
          </a:xfrm>
          <a:prstGeom prst="rect">
            <a:avLst/>
          </a:prstGeom>
        </p:spPr>
        <p:txBody>
          <a:bodyPr vert="horz" wrap="square" lIns="0" tIns="12700" rIns="0" bIns="0" rtlCol="0">
            <a:spAutoFit/>
          </a:bodyPr>
          <a:lstStyle/>
          <a:p>
            <a:pPr marL="5715" algn="ctr">
              <a:lnSpc>
                <a:spcPct val="100000"/>
              </a:lnSpc>
              <a:spcBef>
                <a:spcPts val="100"/>
              </a:spcBef>
            </a:pPr>
            <a:r>
              <a:rPr sz="700" spc="5" dirty="0">
                <a:latin typeface="Tahoma"/>
                <a:cs typeface="Tahoma"/>
              </a:rPr>
              <a:t>S</a:t>
            </a:r>
            <a:r>
              <a:rPr sz="700" spc="30" dirty="0">
                <a:latin typeface="Tahoma"/>
                <a:cs typeface="Tahoma"/>
              </a:rPr>
              <a:t>e</a:t>
            </a:r>
            <a:r>
              <a:rPr sz="700" dirty="0">
                <a:latin typeface="Tahoma"/>
                <a:cs typeface="Tahoma"/>
              </a:rPr>
              <a:t>l</a:t>
            </a:r>
            <a:r>
              <a:rPr sz="700" spc="5" dirty="0">
                <a:latin typeface="Tahoma"/>
                <a:cs typeface="Tahoma"/>
              </a:rPr>
              <a:t>f</a:t>
            </a:r>
            <a:r>
              <a:rPr sz="700" spc="-45" dirty="0">
                <a:latin typeface="Tahoma"/>
                <a:cs typeface="Tahoma"/>
              </a:rPr>
              <a:t>-</a:t>
            </a:r>
            <a:r>
              <a:rPr sz="700" spc="10" dirty="0">
                <a:latin typeface="Tahoma"/>
                <a:cs typeface="Tahoma"/>
              </a:rPr>
              <a:t>Att</a:t>
            </a:r>
            <a:r>
              <a:rPr sz="700" spc="30" dirty="0">
                <a:latin typeface="Tahoma"/>
                <a:cs typeface="Tahoma"/>
              </a:rPr>
              <a:t>e</a:t>
            </a:r>
            <a:r>
              <a:rPr sz="700" spc="20" dirty="0">
                <a:latin typeface="Tahoma"/>
                <a:cs typeface="Tahoma"/>
              </a:rPr>
              <a:t>ntion</a:t>
            </a:r>
            <a:r>
              <a:rPr sz="700" spc="-85" dirty="0">
                <a:latin typeface="Tahoma"/>
                <a:cs typeface="Tahoma"/>
              </a:rPr>
              <a:t> </a:t>
            </a:r>
            <a:r>
              <a:rPr sz="700" spc="10" dirty="0">
                <a:latin typeface="Tahoma"/>
                <a:cs typeface="Tahoma"/>
              </a:rPr>
              <a:t>w</a:t>
            </a:r>
            <a:r>
              <a:rPr sz="700" spc="5" dirty="0">
                <a:latin typeface="Tahoma"/>
                <a:cs typeface="Tahoma"/>
              </a:rPr>
              <a:t>i</a:t>
            </a:r>
            <a:r>
              <a:rPr sz="700" spc="-20" dirty="0">
                <a:latin typeface="Tahoma"/>
                <a:cs typeface="Tahoma"/>
              </a:rPr>
              <a:t>t</a:t>
            </a:r>
            <a:r>
              <a:rPr sz="700" spc="20" dirty="0">
                <a:latin typeface="Tahoma"/>
                <a:cs typeface="Tahoma"/>
              </a:rPr>
              <a:t>h</a:t>
            </a:r>
            <a:r>
              <a:rPr sz="700" spc="-60" dirty="0">
                <a:latin typeface="Tahoma"/>
                <a:cs typeface="Tahoma"/>
              </a:rPr>
              <a:t> </a:t>
            </a:r>
            <a:r>
              <a:rPr sz="700" b="1" spc="-35" dirty="0">
                <a:solidFill>
                  <a:srgbClr val="FF0000"/>
                </a:solidFill>
                <a:latin typeface="Tahoma"/>
                <a:cs typeface="Tahoma"/>
              </a:rPr>
              <a:t>S</a:t>
            </a:r>
            <a:r>
              <a:rPr sz="700" b="1" spc="-5" dirty="0">
                <a:solidFill>
                  <a:srgbClr val="FF0000"/>
                </a:solidFill>
                <a:latin typeface="Tahoma"/>
                <a:cs typeface="Tahoma"/>
              </a:rPr>
              <a:t>li</a:t>
            </a:r>
            <a:r>
              <a:rPr sz="700" b="1" dirty="0">
                <a:solidFill>
                  <a:srgbClr val="FF0000"/>
                </a:solidFill>
                <a:latin typeface="Tahoma"/>
                <a:cs typeface="Tahoma"/>
              </a:rPr>
              <a:t>din</a:t>
            </a:r>
            <a:r>
              <a:rPr sz="700" b="1" spc="5" dirty="0">
                <a:solidFill>
                  <a:srgbClr val="FF0000"/>
                </a:solidFill>
                <a:latin typeface="Tahoma"/>
                <a:cs typeface="Tahoma"/>
              </a:rPr>
              <a:t>g</a:t>
            </a:r>
            <a:r>
              <a:rPr sz="700" b="1" spc="-60" dirty="0">
                <a:solidFill>
                  <a:srgbClr val="FF0000"/>
                </a:solidFill>
                <a:latin typeface="Tahoma"/>
                <a:cs typeface="Tahoma"/>
              </a:rPr>
              <a:t> </a:t>
            </a:r>
            <a:r>
              <a:rPr sz="700" b="1" dirty="0">
                <a:solidFill>
                  <a:srgbClr val="FF0000"/>
                </a:solidFill>
                <a:latin typeface="Tahoma"/>
                <a:cs typeface="Tahoma"/>
              </a:rPr>
              <a:t>Wind</a:t>
            </a:r>
            <a:r>
              <a:rPr sz="700" b="1" spc="-5" dirty="0">
                <a:solidFill>
                  <a:srgbClr val="FF0000"/>
                </a:solidFill>
                <a:latin typeface="Tahoma"/>
                <a:cs typeface="Tahoma"/>
              </a:rPr>
              <a:t>o</a:t>
            </a:r>
            <a:r>
              <a:rPr sz="700" b="1" spc="-15" dirty="0">
                <a:solidFill>
                  <a:srgbClr val="FF0000"/>
                </a:solidFill>
                <a:latin typeface="Tahoma"/>
                <a:cs typeface="Tahoma"/>
              </a:rPr>
              <a:t>w</a:t>
            </a:r>
            <a:r>
              <a:rPr sz="700" b="1" spc="-60" dirty="0">
                <a:solidFill>
                  <a:srgbClr val="FF0000"/>
                </a:solidFill>
                <a:latin typeface="Tahoma"/>
                <a:cs typeface="Tahoma"/>
              </a:rPr>
              <a:t> </a:t>
            </a:r>
            <a:r>
              <a:rPr sz="700" b="1" dirty="0">
                <a:solidFill>
                  <a:srgbClr val="FF0000"/>
                </a:solidFill>
                <a:latin typeface="Tahoma"/>
                <a:cs typeface="Tahoma"/>
              </a:rPr>
              <a:t>At</a:t>
            </a:r>
            <a:r>
              <a:rPr sz="700" b="1" spc="-20" dirty="0">
                <a:solidFill>
                  <a:srgbClr val="FF0000"/>
                </a:solidFill>
                <a:latin typeface="Tahoma"/>
                <a:cs typeface="Tahoma"/>
              </a:rPr>
              <a:t>tention</a:t>
            </a:r>
            <a:endParaRPr sz="700" dirty="0">
              <a:latin typeface="Tahoma"/>
              <a:cs typeface="Tahoma"/>
            </a:endParaRPr>
          </a:p>
          <a:p>
            <a:pPr marL="117475" marR="102870" algn="ctr">
              <a:lnSpc>
                <a:spcPct val="100000"/>
              </a:lnSpc>
              <a:spcBef>
                <a:spcPts val="5"/>
              </a:spcBef>
            </a:pPr>
            <a:r>
              <a:rPr sz="700" spc="35" dirty="0">
                <a:latin typeface="Tahoma"/>
                <a:cs typeface="Tahoma"/>
              </a:rPr>
              <a:t>,Grouped</a:t>
            </a:r>
            <a:r>
              <a:rPr sz="700" spc="-45" dirty="0">
                <a:latin typeface="Tahoma"/>
                <a:cs typeface="Tahoma"/>
              </a:rPr>
              <a:t> </a:t>
            </a:r>
            <a:r>
              <a:rPr sz="700" spc="30" dirty="0">
                <a:latin typeface="Tahoma"/>
                <a:cs typeface="Tahoma"/>
              </a:rPr>
              <a:t>Query</a:t>
            </a:r>
            <a:r>
              <a:rPr sz="700" spc="-55" dirty="0">
                <a:latin typeface="Tahoma"/>
                <a:cs typeface="Tahoma"/>
              </a:rPr>
              <a:t> </a:t>
            </a:r>
            <a:r>
              <a:rPr sz="700" spc="10" dirty="0">
                <a:latin typeface="Tahoma"/>
                <a:cs typeface="Tahoma"/>
              </a:rPr>
              <a:t>Attention,</a:t>
            </a:r>
            <a:r>
              <a:rPr sz="700" spc="-70" dirty="0">
                <a:latin typeface="Tahoma"/>
                <a:cs typeface="Tahoma"/>
              </a:rPr>
              <a:t> </a:t>
            </a:r>
            <a:r>
              <a:rPr sz="700" spc="30" dirty="0">
                <a:latin typeface="Tahoma"/>
                <a:cs typeface="Tahoma"/>
              </a:rPr>
              <a:t>and</a:t>
            </a:r>
            <a:r>
              <a:rPr sz="700" spc="-45" dirty="0">
                <a:latin typeface="Tahoma"/>
                <a:cs typeface="Tahoma"/>
              </a:rPr>
              <a:t> </a:t>
            </a:r>
            <a:r>
              <a:rPr sz="700" b="1" spc="-10" dirty="0">
                <a:solidFill>
                  <a:srgbClr val="FF0000"/>
                </a:solidFill>
                <a:latin typeface="Tahoma"/>
                <a:cs typeface="Tahoma"/>
              </a:rPr>
              <a:t>Rolling</a:t>
            </a:r>
            <a:r>
              <a:rPr sz="700" b="1" spc="-55" dirty="0">
                <a:solidFill>
                  <a:srgbClr val="FF0000"/>
                </a:solidFill>
                <a:latin typeface="Tahoma"/>
                <a:cs typeface="Tahoma"/>
              </a:rPr>
              <a:t> </a:t>
            </a:r>
            <a:r>
              <a:rPr sz="700" b="1" spc="-20" dirty="0">
                <a:solidFill>
                  <a:srgbClr val="FF0000"/>
                </a:solidFill>
                <a:latin typeface="Tahoma"/>
                <a:cs typeface="Tahoma"/>
              </a:rPr>
              <a:t>Buffer</a:t>
            </a:r>
            <a:r>
              <a:rPr sz="700" b="1" spc="-55" dirty="0">
                <a:solidFill>
                  <a:srgbClr val="FF0000"/>
                </a:solidFill>
                <a:latin typeface="Tahoma"/>
                <a:cs typeface="Tahoma"/>
              </a:rPr>
              <a:t> </a:t>
            </a:r>
            <a:r>
              <a:rPr sz="700" spc="5" dirty="0">
                <a:latin typeface="Tahoma"/>
                <a:cs typeface="Tahoma"/>
              </a:rPr>
              <a:t>KV- </a:t>
            </a:r>
            <a:r>
              <a:rPr sz="700" spc="-235" dirty="0">
                <a:latin typeface="Tahoma"/>
                <a:cs typeface="Tahoma"/>
              </a:rPr>
              <a:t> </a:t>
            </a:r>
            <a:r>
              <a:rPr sz="700" spc="35" dirty="0">
                <a:latin typeface="Tahoma"/>
                <a:cs typeface="Tahoma"/>
              </a:rPr>
              <a:t>Cache</a:t>
            </a:r>
            <a:endParaRPr sz="700" dirty="0">
              <a:latin typeface="Tahoma"/>
              <a:cs typeface="Tahoma"/>
            </a:endParaRPr>
          </a:p>
        </p:txBody>
      </p:sp>
      <p:grpSp>
        <p:nvGrpSpPr>
          <p:cNvPr id="18" name="object 24">
            <a:extLst>
              <a:ext uri="{FF2B5EF4-FFF2-40B4-BE49-F238E27FC236}">
                <a16:creationId xmlns:a16="http://schemas.microsoft.com/office/drawing/2014/main" id="{6F714C61-A0EE-8974-782C-5C1967C619EF}"/>
              </a:ext>
            </a:extLst>
          </p:cNvPr>
          <p:cNvGrpSpPr/>
          <p:nvPr/>
        </p:nvGrpSpPr>
        <p:grpSpPr>
          <a:xfrm>
            <a:off x="9141026" y="4604897"/>
            <a:ext cx="1273175" cy="1146175"/>
            <a:chOff x="8413242" y="4166361"/>
            <a:chExt cx="1273175" cy="1146175"/>
          </a:xfrm>
        </p:grpSpPr>
        <p:pic>
          <p:nvPicPr>
            <p:cNvPr id="19" name="object 25">
              <a:extLst>
                <a:ext uri="{FF2B5EF4-FFF2-40B4-BE49-F238E27FC236}">
                  <a16:creationId xmlns:a16="http://schemas.microsoft.com/office/drawing/2014/main" id="{5A2C7A10-527C-AFC5-FEA4-31CA64AB5345}"/>
                </a:ext>
              </a:extLst>
            </p:cNvPr>
            <p:cNvPicPr/>
            <p:nvPr/>
          </p:nvPicPr>
          <p:blipFill>
            <a:blip r:embed="rId2" cstate="print"/>
            <a:stretch>
              <a:fillRect/>
            </a:stretch>
          </p:blipFill>
          <p:spPr>
            <a:xfrm>
              <a:off x="8535670" y="4166361"/>
              <a:ext cx="142239" cy="127000"/>
            </a:xfrm>
            <a:prstGeom prst="rect">
              <a:avLst/>
            </a:prstGeom>
          </p:spPr>
        </p:pic>
        <p:sp>
          <p:nvSpPr>
            <p:cNvPr id="20" name="object 26">
              <a:extLst>
                <a:ext uri="{FF2B5EF4-FFF2-40B4-BE49-F238E27FC236}">
                  <a16:creationId xmlns:a16="http://schemas.microsoft.com/office/drawing/2014/main" id="{EC04581F-5515-C850-92B5-D8283762FF24}"/>
                </a:ext>
              </a:extLst>
            </p:cNvPr>
            <p:cNvSpPr/>
            <p:nvPr/>
          </p:nvSpPr>
          <p:spPr>
            <a:xfrm>
              <a:off x="8413242" y="4348733"/>
              <a:ext cx="1273175" cy="963930"/>
            </a:xfrm>
            <a:custGeom>
              <a:avLst/>
              <a:gdLst/>
              <a:ahLst/>
              <a:cxnLst/>
              <a:rect l="l" t="t" r="r" b="b"/>
              <a:pathLst>
                <a:path w="1273175" h="963929">
                  <a:moveTo>
                    <a:pt x="76200" y="705612"/>
                  </a:moveTo>
                  <a:lnTo>
                    <a:pt x="69850" y="692912"/>
                  </a:lnTo>
                  <a:lnTo>
                    <a:pt x="38100" y="629412"/>
                  </a:lnTo>
                  <a:lnTo>
                    <a:pt x="0" y="705612"/>
                  </a:lnTo>
                  <a:lnTo>
                    <a:pt x="28575" y="705612"/>
                  </a:lnTo>
                  <a:lnTo>
                    <a:pt x="28575" y="963422"/>
                  </a:lnTo>
                  <a:lnTo>
                    <a:pt x="47625" y="963422"/>
                  </a:lnTo>
                  <a:lnTo>
                    <a:pt x="47625" y="705612"/>
                  </a:lnTo>
                  <a:lnTo>
                    <a:pt x="76200" y="705612"/>
                  </a:lnTo>
                  <a:close/>
                </a:path>
                <a:path w="1273175" h="963929">
                  <a:moveTo>
                    <a:pt x="1272794" y="76200"/>
                  </a:moveTo>
                  <a:lnTo>
                    <a:pt x="1266444" y="63500"/>
                  </a:lnTo>
                  <a:lnTo>
                    <a:pt x="1234694" y="0"/>
                  </a:lnTo>
                  <a:lnTo>
                    <a:pt x="1196594" y="76200"/>
                  </a:lnTo>
                  <a:lnTo>
                    <a:pt x="1225169" y="76200"/>
                  </a:lnTo>
                  <a:lnTo>
                    <a:pt x="1225169" y="174244"/>
                  </a:lnTo>
                  <a:lnTo>
                    <a:pt x="51092" y="174244"/>
                  </a:lnTo>
                  <a:lnTo>
                    <a:pt x="52857" y="76365"/>
                  </a:lnTo>
                  <a:lnTo>
                    <a:pt x="81407" y="76835"/>
                  </a:lnTo>
                  <a:lnTo>
                    <a:pt x="74968" y="63373"/>
                  </a:lnTo>
                  <a:lnTo>
                    <a:pt x="44704" y="0"/>
                  </a:lnTo>
                  <a:lnTo>
                    <a:pt x="5207" y="75565"/>
                  </a:lnTo>
                  <a:lnTo>
                    <a:pt x="33807" y="76047"/>
                  </a:lnTo>
                  <a:lnTo>
                    <a:pt x="32042" y="174244"/>
                  </a:lnTo>
                  <a:lnTo>
                    <a:pt x="28575" y="174244"/>
                  </a:lnTo>
                  <a:lnTo>
                    <a:pt x="28575" y="367411"/>
                  </a:lnTo>
                  <a:lnTo>
                    <a:pt x="28575" y="367665"/>
                  </a:lnTo>
                  <a:lnTo>
                    <a:pt x="41275" y="367665"/>
                  </a:lnTo>
                  <a:lnTo>
                    <a:pt x="47625" y="367792"/>
                  </a:lnTo>
                  <a:lnTo>
                    <a:pt x="47625" y="367665"/>
                  </a:lnTo>
                  <a:lnTo>
                    <a:pt x="50749" y="193294"/>
                  </a:lnTo>
                  <a:lnTo>
                    <a:pt x="1244219" y="193294"/>
                  </a:lnTo>
                  <a:lnTo>
                    <a:pt x="1244219" y="174244"/>
                  </a:lnTo>
                  <a:lnTo>
                    <a:pt x="1244219" y="76200"/>
                  </a:lnTo>
                  <a:lnTo>
                    <a:pt x="1272794" y="76200"/>
                  </a:lnTo>
                  <a:close/>
                </a:path>
              </a:pathLst>
            </a:custGeom>
            <a:solidFill>
              <a:srgbClr val="000000"/>
            </a:solidFill>
          </p:spPr>
          <p:txBody>
            <a:bodyPr wrap="square" lIns="0" tIns="0" rIns="0" bIns="0" rtlCol="0"/>
            <a:lstStyle/>
            <a:p>
              <a:endParaRPr/>
            </a:p>
          </p:txBody>
        </p:sp>
      </p:grpSp>
      <p:pic>
        <p:nvPicPr>
          <p:cNvPr id="21" name="object 27">
            <a:extLst>
              <a:ext uri="{FF2B5EF4-FFF2-40B4-BE49-F238E27FC236}">
                <a16:creationId xmlns:a16="http://schemas.microsoft.com/office/drawing/2014/main" id="{0BC49ADA-CAD0-FD9E-1FEA-6BCDA8B6387A}"/>
              </a:ext>
            </a:extLst>
          </p:cNvPr>
          <p:cNvPicPr/>
          <p:nvPr/>
        </p:nvPicPr>
        <p:blipFill>
          <a:blip r:embed="rId3" cstate="print"/>
          <a:stretch>
            <a:fillRect/>
          </a:stretch>
        </p:blipFill>
        <p:spPr>
          <a:xfrm>
            <a:off x="9141026" y="5914526"/>
            <a:ext cx="76200" cy="138963"/>
          </a:xfrm>
          <a:prstGeom prst="rect">
            <a:avLst/>
          </a:prstGeom>
        </p:spPr>
      </p:pic>
      <p:sp>
        <p:nvSpPr>
          <p:cNvPr id="22" name="object 28">
            <a:extLst>
              <a:ext uri="{FF2B5EF4-FFF2-40B4-BE49-F238E27FC236}">
                <a16:creationId xmlns:a16="http://schemas.microsoft.com/office/drawing/2014/main" id="{73C17570-C37D-53DD-7792-C70EEB3ADBB9}"/>
              </a:ext>
            </a:extLst>
          </p:cNvPr>
          <p:cNvSpPr txBox="1"/>
          <p:nvPr/>
        </p:nvSpPr>
        <p:spPr>
          <a:xfrm>
            <a:off x="10333556" y="4573624"/>
            <a:ext cx="121285" cy="182101"/>
          </a:xfrm>
          <a:prstGeom prst="rect">
            <a:avLst/>
          </a:prstGeom>
        </p:spPr>
        <p:txBody>
          <a:bodyPr vert="horz" wrap="square" lIns="0" tIns="12700" rIns="0" bIns="0" rtlCol="0">
            <a:spAutoFit/>
          </a:bodyPr>
          <a:lstStyle/>
          <a:p>
            <a:pPr marL="12700">
              <a:lnSpc>
                <a:spcPct val="100000"/>
              </a:lnSpc>
              <a:spcBef>
                <a:spcPts val="100"/>
              </a:spcBef>
            </a:pPr>
            <a:r>
              <a:rPr sz="1100" b="1" spc="10" dirty="0">
                <a:latin typeface="Tahoma"/>
                <a:cs typeface="Tahoma"/>
              </a:rPr>
              <a:t>V</a:t>
            </a:r>
            <a:endParaRPr sz="1100">
              <a:latin typeface="Tahoma"/>
              <a:cs typeface="Tahoma"/>
            </a:endParaRPr>
          </a:p>
        </p:txBody>
      </p:sp>
      <p:sp>
        <p:nvSpPr>
          <p:cNvPr id="23" name="object 29">
            <a:extLst>
              <a:ext uri="{FF2B5EF4-FFF2-40B4-BE49-F238E27FC236}">
                <a16:creationId xmlns:a16="http://schemas.microsoft.com/office/drawing/2014/main" id="{3DDF4547-21B2-94A4-6284-5213EEE578B2}"/>
              </a:ext>
            </a:extLst>
          </p:cNvPr>
          <p:cNvSpPr txBox="1"/>
          <p:nvPr/>
        </p:nvSpPr>
        <p:spPr>
          <a:xfrm>
            <a:off x="7988755" y="4573624"/>
            <a:ext cx="1277620" cy="182101"/>
          </a:xfrm>
          <a:prstGeom prst="rect">
            <a:avLst/>
          </a:prstGeom>
        </p:spPr>
        <p:txBody>
          <a:bodyPr vert="horz" wrap="square" lIns="0" tIns="12700" rIns="0" bIns="0" rtlCol="0">
            <a:spAutoFit/>
          </a:bodyPr>
          <a:lstStyle/>
          <a:p>
            <a:pPr marL="12700">
              <a:lnSpc>
                <a:spcPct val="100000"/>
              </a:lnSpc>
              <a:spcBef>
                <a:spcPts val="100"/>
              </a:spcBef>
              <a:tabLst>
                <a:tab pos="1164590" algn="l"/>
              </a:tabLst>
            </a:pPr>
            <a:r>
              <a:rPr sz="1650" b="1" spc="142" baseline="2525" dirty="0">
                <a:latin typeface="Tahoma"/>
                <a:cs typeface="Tahoma"/>
              </a:rPr>
              <a:t>Q	</a:t>
            </a:r>
            <a:r>
              <a:rPr sz="1100" b="1" spc="15" dirty="0">
                <a:latin typeface="Tahoma"/>
                <a:cs typeface="Tahoma"/>
              </a:rPr>
              <a:t>K</a:t>
            </a:r>
            <a:endParaRPr sz="1100">
              <a:latin typeface="Tahoma"/>
              <a:cs typeface="Tahoma"/>
            </a:endParaRPr>
          </a:p>
        </p:txBody>
      </p:sp>
      <p:grpSp>
        <p:nvGrpSpPr>
          <p:cNvPr id="24" name="object 30">
            <a:extLst>
              <a:ext uri="{FF2B5EF4-FFF2-40B4-BE49-F238E27FC236}">
                <a16:creationId xmlns:a16="http://schemas.microsoft.com/office/drawing/2014/main" id="{00DB11B3-5300-CF47-18D4-B1C4E4DF64D2}"/>
              </a:ext>
            </a:extLst>
          </p:cNvPr>
          <p:cNvGrpSpPr/>
          <p:nvPr/>
        </p:nvGrpSpPr>
        <p:grpSpPr>
          <a:xfrm>
            <a:off x="7752536" y="3362107"/>
            <a:ext cx="1869439" cy="2374900"/>
            <a:chOff x="7022338" y="2938017"/>
            <a:chExt cx="1869439" cy="2374900"/>
          </a:xfrm>
        </p:grpSpPr>
        <p:sp>
          <p:nvSpPr>
            <p:cNvPr id="25" name="object 31">
              <a:extLst>
                <a:ext uri="{FF2B5EF4-FFF2-40B4-BE49-F238E27FC236}">
                  <a16:creationId xmlns:a16="http://schemas.microsoft.com/office/drawing/2014/main" id="{BA59A4BA-30F4-1EDE-1587-7E998661B869}"/>
                </a:ext>
              </a:extLst>
            </p:cNvPr>
            <p:cNvSpPr/>
            <p:nvPr/>
          </p:nvSpPr>
          <p:spPr>
            <a:xfrm>
              <a:off x="7276338" y="4339589"/>
              <a:ext cx="1184275" cy="375920"/>
            </a:xfrm>
            <a:custGeom>
              <a:avLst/>
              <a:gdLst/>
              <a:ahLst/>
              <a:cxnLst/>
              <a:rect l="l" t="t" r="r" b="b"/>
              <a:pathLst>
                <a:path w="1184275" h="375920">
                  <a:moveTo>
                    <a:pt x="1164970" y="187833"/>
                  </a:moveTo>
                  <a:lnTo>
                    <a:pt x="1164970" y="375666"/>
                  </a:lnTo>
                  <a:lnTo>
                    <a:pt x="1184020" y="375666"/>
                  </a:lnTo>
                  <a:lnTo>
                    <a:pt x="1184020" y="197358"/>
                  </a:lnTo>
                  <a:lnTo>
                    <a:pt x="1174495" y="197358"/>
                  </a:lnTo>
                  <a:lnTo>
                    <a:pt x="1164970" y="187833"/>
                  </a:lnTo>
                  <a:close/>
                </a:path>
                <a:path w="1184275" h="375920">
                  <a:moveTo>
                    <a:pt x="47625" y="63500"/>
                  </a:moveTo>
                  <a:lnTo>
                    <a:pt x="28575" y="63500"/>
                  </a:lnTo>
                  <a:lnTo>
                    <a:pt x="28575" y="197358"/>
                  </a:lnTo>
                  <a:lnTo>
                    <a:pt x="1164970" y="197358"/>
                  </a:lnTo>
                  <a:lnTo>
                    <a:pt x="1164970" y="187833"/>
                  </a:lnTo>
                  <a:lnTo>
                    <a:pt x="47625" y="187833"/>
                  </a:lnTo>
                  <a:lnTo>
                    <a:pt x="38100" y="178308"/>
                  </a:lnTo>
                  <a:lnTo>
                    <a:pt x="47625" y="178308"/>
                  </a:lnTo>
                  <a:lnTo>
                    <a:pt x="47625" y="63500"/>
                  </a:lnTo>
                  <a:close/>
                </a:path>
                <a:path w="1184275" h="375920">
                  <a:moveTo>
                    <a:pt x="1184020" y="178308"/>
                  </a:moveTo>
                  <a:lnTo>
                    <a:pt x="47625" y="178308"/>
                  </a:lnTo>
                  <a:lnTo>
                    <a:pt x="47625" y="187833"/>
                  </a:lnTo>
                  <a:lnTo>
                    <a:pt x="1164970" y="187833"/>
                  </a:lnTo>
                  <a:lnTo>
                    <a:pt x="1174495" y="197358"/>
                  </a:lnTo>
                  <a:lnTo>
                    <a:pt x="1184020" y="197358"/>
                  </a:lnTo>
                  <a:lnTo>
                    <a:pt x="1184020" y="178308"/>
                  </a:lnTo>
                  <a:close/>
                </a:path>
                <a:path w="1184275" h="375920">
                  <a:moveTo>
                    <a:pt x="47625" y="178308"/>
                  </a:moveTo>
                  <a:lnTo>
                    <a:pt x="38100" y="178308"/>
                  </a:lnTo>
                  <a:lnTo>
                    <a:pt x="47625" y="187833"/>
                  </a:lnTo>
                  <a:lnTo>
                    <a:pt x="47625" y="178308"/>
                  </a:lnTo>
                  <a:close/>
                </a:path>
                <a:path w="1184275" h="375920">
                  <a:moveTo>
                    <a:pt x="38100" y="0"/>
                  </a:moveTo>
                  <a:lnTo>
                    <a:pt x="0" y="76200"/>
                  </a:lnTo>
                  <a:lnTo>
                    <a:pt x="28575" y="76200"/>
                  </a:lnTo>
                  <a:lnTo>
                    <a:pt x="28575" y="63500"/>
                  </a:lnTo>
                  <a:lnTo>
                    <a:pt x="69850" y="63500"/>
                  </a:lnTo>
                  <a:lnTo>
                    <a:pt x="38100" y="0"/>
                  </a:lnTo>
                  <a:close/>
                </a:path>
                <a:path w="1184275" h="375920">
                  <a:moveTo>
                    <a:pt x="69850" y="63500"/>
                  </a:moveTo>
                  <a:lnTo>
                    <a:pt x="47625" y="63500"/>
                  </a:lnTo>
                  <a:lnTo>
                    <a:pt x="47625" y="76200"/>
                  </a:lnTo>
                  <a:lnTo>
                    <a:pt x="76200" y="76200"/>
                  </a:lnTo>
                  <a:lnTo>
                    <a:pt x="69850" y="63500"/>
                  </a:lnTo>
                  <a:close/>
                </a:path>
              </a:pathLst>
            </a:custGeom>
            <a:solidFill>
              <a:srgbClr val="000000"/>
            </a:solidFill>
          </p:spPr>
          <p:txBody>
            <a:bodyPr wrap="square" lIns="0" tIns="0" rIns="0" bIns="0" rtlCol="0"/>
            <a:lstStyle/>
            <a:p>
              <a:endParaRPr/>
            </a:p>
          </p:txBody>
        </p:sp>
        <p:pic>
          <p:nvPicPr>
            <p:cNvPr id="26" name="object 32">
              <a:extLst>
                <a:ext uri="{FF2B5EF4-FFF2-40B4-BE49-F238E27FC236}">
                  <a16:creationId xmlns:a16="http://schemas.microsoft.com/office/drawing/2014/main" id="{A94A741F-3863-DC97-527E-8ADCACAB45FF}"/>
                </a:ext>
              </a:extLst>
            </p:cNvPr>
            <p:cNvPicPr/>
            <p:nvPr/>
          </p:nvPicPr>
          <p:blipFill>
            <a:blip r:embed="rId4" cstate="print"/>
            <a:stretch>
              <a:fillRect/>
            </a:stretch>
          </p:blipFill>
          <p:spPr>
            <a:xfrm>
              <a:off x="8345424" y="3418331"/>
              <a:ext cx="211835" cy="185927"/>
            </a:xfrm>
            <a:prstGeom prst="rect">
              <a:avLst/>
            </a:prstGeom>
          </p:spPr>
        </p:pic>
        <p:pic>
          <p:nvPicPr>
            <p:cNvPr id="27" name="object 33">
              <a:extLst>
                <a:ext uri="{FF2B5EF4-FFF2-40B4-BE49-F238E27FC236}">
                  <a16:creationId xmlns:a16="http://schemas.microsoft.com/office/drawing/2014/main" id="{12DE5DFC-1119-3C53-2AC4-27C3453537BC}"/>
                </a:ext>
              </a:extLst>
            </p:cNvPr>
            <p:cNvPicPr/>
            <p:nvPr/>
          </p:nvPicPr>
          <p:blipFill>
            <a:blip r:embed="rId5" cstate="print"/>
            <a:stretch>
              <a:fillRect/>
            </a:stretch>
          </p:blipFill>
          <p:spPr>
            <a:xfrm>
              <a:off x="8413241" y="3605021"/>
              <a:ext cx="76200" cy="137794"/>
            </a:xfrm>
            <a:prstGeom prst="rect">
              <a:avLst/>
            </a:prstGeom>
          </p:spPr>
        </p:pic>
        <p:sp>
          <p:nvSpPr>
            <p:cNvPr id="28" name="object 34">
              <a:extLst>
                <a:ext uri="{FF2B5EF4-FFF2-40B4-BE49-F238E27FC236}">
                  <a16:creationId xmlns:a16="http://schemas.microsoft.com/office/drawing/2014/main" id="{D24355BA-55EC-0F3C-DD1C-3302A92F676B}"/>
                </a:ext>
              </a:extLst>
            </p:cNvPr>
            <p:cNvSpPr/>
            <p:nvPr/>
          </p:nvSpPr>
          <p:spPr>
            <a:xfrm>
              <a:off x="7022338" y="3473957"/>
              <a:ext cx="1439545" cy="1838960"/>
            </a:xfrm>
            <a:custGeom>
              <a:avLst/>
              <a:gdLst/>
              <a:ahLst/>
              <a:cxnLst/>
              <a:rect l="l" t="t" r="r" b="b"/>
              <a:pathLst>
                <a:path w="1439545" h="1838960">
                  <a:moveTo>
                    <a:pt x="1420367" y="1693164"/>
                  </a:moveTo>
                  <a:lnTo>
                    <a:pt x="1420367" y="1838832"/>
                  </a:lnTo>
                  <a:lnTo>
                    <a:pt x="1439417" y="1838832"/>
                  </a:lnTo>
                  <a:lnTo>
                    <a:pt x="1439417" y="1702689"/>
                  </a:lnTo>
                  <a:lnTo>
                    <a:pt x="1429892" y="1702689"/>
                  </a:lnTo>
                  <a:lnTo>
                    <a:pt x="1420367" y="1693164"/>
                  </a:lnTo>
                  <a:close/>
                </a:path>
                <a:path w="1439545" h="1838960">
                  <a:moveTo>
                    <a:pt x="1247647" y="28575"/>
                  </a:moveTo>
                  <a:lnTo>
                    <a:pt x="0" y="28575"/>
                  </a:lnTo>
                  <a:lnTo>
                    <a:pt x="0" y="1702689"/>
                  </a:lnTo>
                  <a:lnTo>
                    <a:pt x="1420367" y="1702689"/>
                  </a:lnTo>
                  <a:lnTo>
                    <a:pt x="1420367" y="1693164"/>
                  </a:lnTo>
                  <a:lnTo>
                    <a:pt x="19050" y="1693164"/>
                  </a:lnTo>
                  <a:lnTo>
                    <a:pt x="9525" y="1683639"/>
                  </a:lnTo>
                  <a:lnTo>
                    <a:pt x="19050" y="1683639"/>
                  </a:lnTo>
                  <a:lnTo>
                    <a:pt x="19050" y="47625"/>
                  </a:lnTo>
                  <a:lnTo>
                    <a:pt x="9525" y="47625"/>
                  </a:lnTo>
                  <a:lnTo>
                    <a:pt x="19050" y="38100"/>
                  </a:lnTo>
                  <a:lnTo>
                    <a:pt x="1247647" y="38100"/>
                  </a:lnTo>
                  <a:lnTo>
                    <a:pt x="1247647" y="28575"/>
                  </a:lnTo>
                  <a:close/>
                </a:path>
                <a:path w="1439545" h="1838960">
                  <a:moveTo>
                    <a:pt x="1439417" y="1683639"/>
                  </a:moveTo>
                  <a:lnTo>
                    <a:pt x="19050" y="1683639"/>
                  </a:lnTo>
                  <a:lnTo>
                    <a:pt x="19050" y="1693164"/>
                  </a:lnTo>
                  <a:lnTo>
                    <a:pt x="1420367" y="1693164"/>
                  </a:lnTo>
                  <a:lnTo>
                    <a:pt x="1429892" y="1702689"/>
                  </a:lnTo>
                  <a:lnTo>
                    <a:pt x="1439417" y="1702689"/>
                  </a:lnTo>
                  <a:lnTo>
                    <a:pt x="1439417" y="1683639"/>
                  </a:lnTo>
                  <a:close/>
                </a:path>
                <a:path w="1439545" h="1838960">
                  <a:moveTo>
                    <a:pt x="19050" y="1683639"/>
                  </a:moveTo>
                  <a:lnTo>
                    <a:pt x="9525" y="1683639"/>
                  </a:lnTo>
                  <a:lnTo>
                    <a:pt x="19050" y="1693164"/>
                  </a:lnTo>
                  <a:lnTo>
                    <a:pt x="19050" y="1683639"/>
                  </a:lnTo>
                  <a:close/>
                </a:path>
                <a:path w="1439545" h="1838960">
                  <a:moveTo>
                    <a:pt x="1247647" y="0"/>
                  </a:moveTo>
                  <a:lnTo>
                    <a:pt x="1247647" y="76200"/>
                  </a:lnTo>
                  <a:lnTo>
                    <a:pt x="1304797" y="47625"/>
                  </a:lnTo>
                  <a:lnTo>
                    <a:pt x="1260347" y="47625"/>
                  </a:lnTo>
                  <a:lnTo>
                    <a:pt x="1260347" y="28575"/>
                  </a:lnTo>
                  <a:lnTo>
                    <a:pt x="1304797" y="28575"/>
                  </a:lnTo>
                  <a:lnTo>
                    <a:pt x="1247647" y="0"/>
                  </a:lnTo>
                  <a:close/>
                </a:path>
                <a:path w="1439545" h="1838960">
                  <a:moveTo>
                    <a:pt x="19050" y="38100"/>
                  </a:moveTo>
                  <a:lnTo>
                    <a:pt x="9525" y="47625"/>
                  </a:lnTo>
                  <a:lnTo>
                    <a:pt x="19050" y="47625"/>
                  </a:lnTo>
                  <a:lnTo>
                    <a:pt x="19050" y="38100"/>
                  </a:lnTo>
                  <a:close/>
                </a:path>
                <a:path w="1439545" h="1838960">
                  <a:moveTo>
                    <a:pt x="1247647" y="38100"/>
                  </a:moveTo>
                  <a:lnTo>
                    <a:pt x="19050" y="38100"/>
                  </a:lnTo>
                  <a:lnTo>
                    <a:pt x="19050" y="47625"/>
                  </a:lnTo>
                  <a:lnTo>
                    <a:pt x="1247647" y="47625"/>
                  </a:lnTo>
                  <a:lnTo>
                    <a:pt x="1247647" y="38100"/>
                  </a:lnTo>
                  <a:close/>
                </a:path>
                <a:path w="1439545" h="1838960">
                  <a:moveTo>
                    <a:pt x="1304797" y="28575"/>
                  </a:moveTo>
                  <a:lnTo>
                    <a:pt x="1260347" y="28575"/>
                  </a:lnTo>
                  <a:lnTo>
                    <a:pt x="1260347" y="47625"/>
                  </a:lnTo>
                  <a:lnTo>
                    <a:pt x="1304797" y="47625"/>
                  </a:lnTo>
                  <a:lnTo>
                    <a:pt x="1323847" y="38100"/>
                  </a:lnTo>
                  <a:lnTo>
                    <a:pt x="1304797" y="28575"/>
                  </a:lnTo>
                  <a:close/>
                </a:path>
              </a:pathLst>
            </a:custGeom>
            <a:solidFill>
              <a:srgbClr val="000000"/>
            </a:solidFill>
          </p:spPr>
          <p:txBody>
            <a:bodyPr wrap="square" lIns="0" tIns="0" rIns="0" bIns="0" rtlCol="0"/>
            <a:lstStyle/>
            <a:p>
              <a:endParaRPr/>
            </a:p>
          </p:txBody>
        </p:sp>
        <p:sp>
          <p:nvSpPr>
            <p:cNvPr id="29" name="object 35">
              <a:extLst>
                <a:ext uri="{FF2B5EF4-FFF2-40B4-BE49-F238E27FC236}">
                  <a16:creationId xmlns:a16="http://schemas.microsoft.com/office/drawing/2014/main" id="{68B1318D-FA72-41C7-3FDA-B714D01B2388}"/>
                </a:ext>
              </a:extLst>
            </p:cNvPr>
            <p:cNvSpPr/>
            <p:nvPr/>
          </p:nvSpPr>
          <p:spPr>
            <a:xfrm>
              <a:off x="8016240" y="2944367"/>
              <a:ext cx="868680" cy="264160"/>
            </a:xfrm>
            <a:custGeom>
              <a:avLst/>
              <a:gdLst/>
              <a:ahLst/>
              <a:cxnLst/>
              <a:rect l="l" t="t" r="r" b="b"/>
              <a:pathLst>
                <a:path w="868679" h="264160">
                  <a:moveTo>
                    <a:pt x="868679" y="0"/>
                  </a:moveTo>
                  <a:lnTo>
                    <a:pt x="0" y="0"/>
                  </a:lnTo>
                  <a:lnTo>
                    <a:pt x="0" y="263651"/>
                  </a:lnTo>
                  <a:lnTo>
                    <a:pt x="868679" y="263651"/>
                  </a:lnTo>
                  <a:lnTo>
                    <a:pt x="868679" y="0"/>
                  </a:lnTo>
                  <a:close/>
                </a:path>
              </a:pathLst>
            </a:custGeom>
            <a:solidFill>
              <a:srgbClr val="F1F4C1"/>
            </a:solidFill>
          </p:spPr>
          <p:txBody>
            <a:bodyPr wrap="square" lIns="0" tIns="0" rIns="0" bIns="0" rtlCol="0"/>
            <a:lstStyle/>
            <a:p>
              <a:endParaRPr/>
            </a:p>
          </p:txBody>
        </p:sp>
        <p:sp>
          <p:nvSpPr>
            <p:cNvPr id="30" name="object 36">
              <a:extLst>
                <a:ext uri="{FF2B5EF4-FFF2-40B4-BE49-F238E27FC236}">
                  <a16:creationId xmlns:a16="http://schemas.microsoft.com/office/drawing/2014/main" id="{7726DD32-91D1-A20A-0352-3F3A4AC025F6}"/>
                </a:ext>
              </a:extLst>
            </p:cNvPr>
            <p:cNvSpPr/>
            <p:nvPr/>
          </p:nvSpPr>
          <p:spPr>
            <a:xfrm>
              <a:off x="8016240" y="2944367"/>
              <a:ext cx="868680" cy="264160"/>
            </a:xfrm>
            <a:custGeom>
              <a:avLst/>
              <a:gdLst/>
              <a:ahLst/>
              <a:cxnLst/>
              <a:rect l="l" t="t" r="r" b="b"/>
              <a:pathLst>
                <a:path w="868679" h="264160">
                  <a:moveTo>
                    <a:pt x="0" y="263651"/>
                  </a:moveTo>
                  <a:lnTo>
                    <a:pt x="868679" y="263651"/>
                  </a:lnTo>
                  <a:lnTo>
                    <a:pt x="868679" y="0"/>
                  </a:lnTo>
                  <a:lnTo>
                    <a:pt x="0" y="0"/>
                  </a:lnTo>
                  <a:lnTo>
                    <a:pt x="0" y="263651"/>
                  </a:lnTo>
                  <a:close/>
                </a:path>
              </a:pathLst>
            </a:custGeom>
            <a:ln w="12700">
              <a:solidFill>
                <a:srgbClr val="000000"/>
              </a:solidFill>
            </a:ln>
          </p:spPr>
          <p:txBody>
            <a:bodyPr wrap="square" lIns="0" tIns="0" rIns="0" bIns="0" rtlCol="0"/>
            <a:lstStyle/>
            <a:p>
              <a:endParaRPr/>
            </a:p>
          </p:txBody>
        </p:sp>
      </p:grpSp>
      <p:pic>
        <p:nvPicPr>
          <p:cNvPr id="31" name="object 37">
            <a:extLst>
              <a:ext uri="{FF2B5EF4-FFF2-40B4-BE49-F238E27FC236}">
                <a16:creationId xmlns:a16="http://schemas.microsoft.com/office/drawing/2014/main" id="{FC394ED0-9B24-669D-EBC7-1FC1A7F180D5}"/>
              </a:ext>
            </a:extLst>
          </p:cNvPr>
          <p:cNvPicPr/>
          <p:nvPr/>
        </p:nvPicPr>
        <p:blipFill>
          <a:blip r:embed="rId6" cstate="print"/>
          <a:stretch>
            <a:fillRect/>
          </a:stretch>
        </p:blipFill>
        <p:spPr>
          <a:xfrm>
            <a:off x="10961062" y="4601565"/>
            <a:ext cx="140715" cy="125475"/>
          </a:xfrm>
          <a:prstGeom prst="rect">
            <a:avLst/>
          </a:prstGeom>
        </p:spPr>
      </p:pic>
      <p:sp>
        <p:nvSpPr>
          <p:cNvPr id="32" name="object 38">
            <a:extLst>
              <a:ext uri="{FF2B5EF4-FFF2-40B4-BE49-F238E27FC236}">
                <a16:creationId xmlns:a16="http://schemas.microsoft.com/office/drawing/2014/main" id="{2D547686-3AAD-27E3-28CC-67DD5E21AB61}"/>
              </a:ext>
            </a:extLst>
          </p:cNvPr>
          <p:cNvSpPr txBox="1"/>
          <p:nvPr/>
        </p:nvSpPr>
        <p:spPr>
          <a:xfrm>
            <a:off x="10953316" y="4807227"/>
            <a:ext cx="992505" cy="259045"/>
          </a:xfrm>
          <a:prstGeom prst="rect">
            <a:avLst/>
          </a:prstGeom>
        </p:spPr>
        <p:txBody>
          <a:bodyPr vert="horz" wrap="square" lIns="0" tIns="12700" rIns="0" bIns="0" rtlCol="0">
            <a:spAutoFit/>
          </a:bodyPr>
          <a:lstStyle/>
          <a:p>
            <a:pPr marL="12700">
              <a:lnSpc>
                <a:spcPct val="100000"/>
              </a:lnSpc>
              <a:spcBef>
                <a:spcPts val="100"/>
              </a:spcBef>
            </a:pPr>
            <a:r>
              <a:rPr sz="800" dirty="0">
                <a:latin typeface="Tahoma"/>
                <a:cs typeface="Tahoma"/>
              </a:rPr>
              <a:t>Rotary</a:t>
            </a:r>
          </a:p>
          <a:p>
            <a:pPr marL="12700">
              <a:lnSpc>
                <a:spcPct val="100000"/>
              </a:lnSpc>
            </a:pPr>
            <a:r>
              <a:rPr sz="800" spc="25" dirty="0">
                <a:latin typeface="Tahoma"/>
                <a:cs typeface="Tahoma"/>
              </a:rPr>
              <a:t>Pos</a:t>
            </a:r>
            <a:r>
              <a:rPr sz="800" spc="10" dirty="0">
                <a:latin typeface="Tahoma"/>
                <a:cs typeface="Tahoma"/>
              </a:rPr>
              <a:t>i</a:t>
            </a:r>
            <a:r>
              <a:rPr sz="800" spc="-20" dirty="0">
                <a:latin typeface="Tahoma"/>
                <a:cs typeface="Tahoma"/>
              </a:rPr>
              <a:t>t</a:t>
            </a:r>
            <a:r>
              <a:rPr sz="800" spc="25" dirty="0">
                <a:latin typeface="Tahoma"/>
                <a:cs typeface="Tahoma"/>
              </a:rPr>
              <a:t>ion</a:t>
            </a:r>
            <a:r>
              <a:rPr sz="800" spc="20" dirty="0">
                <a:latin typeface="Tahoma"/>
                <a:cs typeface="Tahoma"/>
              </a:rPr>
              <a:t>al</a:t>
            </a:r>
            <a:r>
              <a:rPr sz="800" spc="-95" dirty="0">
                <a:latin typeface="Tahoma"/>
                <a:cs typeface="Tahoma"/>
              </a:rPr>
              <a:t> </a:t>
            </a:r>
            <a:r>
              <a:rPr sz="800" spc="25" dirty="0">
                <a:latin typeface="Tahoma"/>
                <a:cs typeface="Tahoma"/>
              </a:rPr>
              <a:t>Enc</a:t>
            </a:r>
            <a:r>
              <a:rPr sz="800" spc="45" dirty="0">
                <a:latin typeface="Tahoma"/>
                <a:cs typeface="Tahoma"/>
              </a:rPr>
              <a:t>odin</a:t>
            </a:r>
            <a:r>
              <a:rPr sz="800" spc="30" dirty="0">
                <a:latin typeface="Tahoma"/>
                <a:cs typeface="Tahoma"/>
              </a:rPr>
              <a:t>g</a:t>
            </a:r>
            <a:r>
              <a:rPr sz="800" dirty="0">
                <a:latin typeface="Tahoma"/>
                <a:cs typeface="Tahoma"/>
              </a:rPr>
              <a:t>s</a:t>
            </a:r>
          </a:p>
        </p:txBody>
      </p:sp>
      <p:sp>
        <p:nvSpPr>
          <p:cNvPr id="33" name="object 39">
            <a:extLst>
              <a:ext uri="{FF2B5EF4-FFF2-40B4-BE49-F238E27FC236}">
                <a16:creationId xmlns:a16="http://schemas.microsoft.com/office/drawing/2014/main" id="{D7C16464-4A50-738D-3DA7-0FC8F7CFFEE3}"/>
              </a:ext>
            </a:extLst>
          </p:cNvPr>
          <p:cNvSpPr txBox="1"/>
          <p:nvPr/>
        </p:nvSpPr>
        <p:spPr>
          <a:xfrm>
            <a:off x="8766757" y="3435197"/>
            <a:ext cx="862330" cy="136576"/>
          </a:xfrm>
          <a:prstGeom prst="rect">
            <a:avLst/>
          </a:prstGeom>
        </p:spPr>
        <p:txBody>
          <a:bodyPr vert="horz" wrap="square" lIns="0" tIns="13335" rIns="0" bIns="0" rtlCol="0">
            <a:spAutoFit/>
          </a:bodyPr>
          <a:lstStyle/>
          <a:p>
            <a:pPr marL="184785">
              <a:lnSpc>
                <a:spcPct val="100000"/>
              </a:lnSpc>
              <a:spcBef>
                <a:spcPts val="105"/>
              </a:spcBef>
            </a:pPr>
            <a:r>
              <a:rPr sz="800" spc="30" dirty="0">
                <a:latin typeface="Tahoma"/>
                <a:cs typeface="Tahoma"/>
              </a:rPr>
              <a:t>R</a:t>
            </a:r>
            <a:r>
              <a:rPr sz="800" spc="35" dirty="0">
                <a:latin typeface="Tahoma"/>
                <a:cs typeface="Tahoma"/>
              </a:rPr>
              <a:t>M</a:t>
            </a:r>
            <a:r>
              <a:rPr sz="800" spc="5" dirty="0">
                <a:latin typeface="Tahoma"/>
                <a:cs typeface="Tahoma"/>
              </a:rPr>
              <a:t>S</a:t>
            </a:r>
            <a:r>
              <a:rPr sz="800" spc="-60" dirty="0">
                <a:latin typeface="Tahoma"/>
                <a:cs typeface="Tahoma"/>
              </a:rPr>
              <a:t> </a:t>
            </a:r>
            <a:r>
              <a:rPr sz="800" spc="40" dirty="0">
                <a:latin typeface="Tahoma"/>
                <a:cs typeface="Tahoma"/>
              </a:rPr>
              <a:t>Nor</a:t>
            </a:r>
            <a:r>
              <a:rPr sz="800" spc="35" dirty="0">
                <a:latin typeface="Tahoma"/>
                <a:cs typeface="Tahoma"/>
              </a:rPr>
              <a:t>m</a:t>
            </a:r>
            <a:endParaRPr sz="800">
              <a:latin typeface="Tahoma"/>
              <a:cs typeface="Tahoma"/>
            </a:endParaRPr>
          </a:p>
        </p:txBody>
      </p:sp>
      <p:grpSp>
        <p:nvGrpSpPr>
          <p:cNvPr id="34" name="object 40">
            <a:extLst>
              <a:ext uri="{FF2B5EF4-FFF2-40B4-BE49-F238E27FC236}">
                <a16:creationId xmlns:a16="http://schemas.microsoft.com/office/drawing/2014/main" id="{05C779A7-F28B-B648-EEB6-7B5B11A898C7}"/>
              </a:ext>
            </a:extLst>
          </p:cNvPr>
          <p:cNvGrpSpPr/>
          <p:nvPr/>
        </p:nvGrpSpPr>
        <p:grpSpPr>
          <a:xfrm>
            <a:off x="8586671" y="2791053"/>
            <a:ext cx="1229360" cy="1065530"/>
            <a:chOff x="7836154" y="2354326"/>
            <a:chExt cx="1229360" cy="1065530"/>
          </a:xfrm>
        </p:grpSpPr>
        <p:pic>
          <p:nvPicPr>
            <p:cNvPr id="35" name="object 41">
              <a:extLst>
                <a:ext uri="{FF2B5EF4-FFF2-40B4-BE49-F238E27FC236}">
                  <a16:creationId xmlns:a16="http://schemas.microsoft.com/office/drawing/2014/main" id="{FAAA463A-328B-3CB2-770B-FEC9AC9055A1}"/>
                </a:ext>
              </a:extLst>
            </p:cNvPr>
            <p:cNvPicPr/>
            <p:nvPr/>
          </p:nvPicPr>
          <p:blipFill>
            <a:blip r:embed="rId7" cstate="print"/>
            <a:stretch>
              <a:fillRect/>
            </a:stretch>
          </p:blipFill>
          <p:spPr>
            <a:xfrm>
              <a:off x="8413242" y="3208782"/>
              <a:ext cx="76200" cy="210946"/>
            </a:xfrm>
            <a:prstGeom prst="rect">
              <a:avLst/>
            </a:prstGeom>
          </p:spPr>
        </p:pic>
        <p:sp>
          <p:nvSpPr>
            <p:cNvPr id="36" name="object 42">
              <a:extLst>
                <a:ext uri="{FF2B5EF4-FFF2-40B4-BE49-F238E27FC236}">
                  <a16:creationId xmlns:a16="http://schemas.microsoft.com/office/drawing/2014/main" id="{0BDD72DC-0DAA-3D31-CD5F-9B4780C29200}"/>
                </a:ext>
              </a:extLst>
            </p:cNvPr>
            <p:cNvSpPr/>
            <p:nvPr/>
          </p:nvSpPr>
          <p:spPr>
            <a:xfrm>
              <a:off x="7842504" y="2360676"/>
              <a:ext cx="1216660" cy="325120"/>
            </a:xfrm>
            <a:custGeom>
              <a:avLst/>
              <a:gdLst/>
              <a:ahLst/>
              <a:cxnLst/>
              <a:rect l="l" t="t" r="r" b="b"/>
              <a:pathLst>
                <a:path w="1216659" h="325119">
                  <a:moveTo>
                    <a:pt x="1216152" y="0"/>
                  </a:moveTo>
                  <a:lnTo>
                    <a:pt x="0" y="0"/>
                  </a:lnTo>
                  <a:lnTo>
                    <a:pt x="0" y="324612"/>
                  </a:lnTo>
                  <a:lnTo>
                    <a:pt x="1216152" y="324612"/>
                  </a:lnTo>
                  <a:lnTo>
                    <a:pt x="1216152" y="0"/>
                  </a:lnTo>
                  <a:close/>
                </a:path>
              </a:pathLst>
            </a:custGeom>
            <a:solidFill>
              <a:srgbClr val="C2E8F7"/>
            </a:solidFill>
          </p:spPr>
          <p:txBody>
            <a:bodyPr wrap="square" lIns="0" tIns="0" rIns="0" bIns="0" rtlCol="0"/>
            <a:lstStyle/>
            <a:p>
              <a:endParaRPr/>
            </a:p>
          </p:txBody>
        </p:sp>
        <p:sp>
          <p:nvSpPr>
            <p:cNvPr id="37" name="object 43">
              <a:extLst>
                <a:ext uri="{FF2B5EF4-FFF2-40B4-BE49-F238E27FC236}">
                  <a16:creationId xmlns:a16="http://schemas.microsoft.com/office/drawing/2014/main" id="{52CFFA1E-EB43-B530-B599-03C8D8EDDF67}"/>
                </a:ext>
              </a:extLst>
            </p:cNvPr>
            <p:cNvSpPr/>
            <p:nvPr/>
          </p:nvSpPr>
          <p:spPr>
            <a:xfrm>
              <a:off x="7842504" y="2360676"/>
              <a:ext cx="1216660" cy="325120"/>
            </a:xfrm>
            <a:custGeom>
              <a:avLst/>
              <a:gdLst/>
              <a:ahLst/>
              <a:cxnLst/>
              <a:rect l="l" t="t" r="r" b="b"/>
              <a:pathLst>
                <a:path w="1216659" h="325119">
                  <a:moveTo>
                    <a:pt x="0" y="324612"/>
                  </a:moveTo>
                  <a:lnTo>
                    <a:pt x="1216152" y="324612"/>
                  </a:lnTo>
                  <a:lnTo>
                    <a:pt x="1216152" y="0"/>
                  </a:lnTo>
                  <a:lnTo>
                    <a:pt x="0" y="0"/>
                  </a:lnTo>
                  <a:lnTo>
                    <a:pt x="0" y="324612"/>
                  </a:lnTo>
                  <a:close/>
                </a:path>
              </a:pathLst>
            </a:custGeom>
            <a:ln w="12700">
              <a:solidFill>
                <a:srgbClr val="000000"/>
              </a:solidFill>
            </a:ln>
          </p:spPr>
          <p:txBody>
            <a:bodyPr wrap="square" lIns="0" tIns="0" rIns="0" bIns="0" rtlCol="0"/>
            <a:lstStyle/>
            <a:p>
              <a:endParaRPr/>
            </a:p>
          </p:txBody>
        </p:sp>
      </p:grpSp>
      <p:sp>
        <p:nvSpPr>
          <p:cNvPr id="38" name="object 44">
            <a:extLst>
              <a:ext uri="{FF2B5EF4-FFF2-40B4-BE49-F238E27FC236}">
                <a16:creationId xmlns:a16="http://schemas.microsoft.com/office/drawing/2014/main" id="{AC6C97AA-5031-102E-94C3-B77B5CCC43B0}"/>
              </a:ext>
            </a:extLst>
          </p:cNvPr>
          <p:cNvSpPr txBox="1"/>
          <p:nvPr/>
        </p:nvSpPr>
        <p:spPr>
          <a:xfrm>
            <a:off x="8593021" y="2821025"/>
            <a:ext cx="1210310" cy="269875"/>
          </a:xfrm>
          <a:prstGeom prst="rect">
            <a:avLst/>
          </a:prstGeom>
        </p:spPr>
        <p:txBody>
          <a:bodyPr vert="horz" wrap="square" lIns="0" tIns="13335" rIns="0" bIns="0" rtlCol="0">
            <a:spAutoFit/>
          </a:bodyPr>
          <a:lstStyle/>
          <a:p>
            <a:pPr marL="6350" algn="ctr">
              <a:lnSpc>
                <a:spcPct val="100000"/>
              </a:lnSpc>
              <a:spcBef>
                <a:spcPts val="105"/>
              </a:spcBef>
            </a:pPr>
            <a:r>
              <a:rPr sz="800" spc="-75" dirty="0">
                <a:latin typeface="Tahoma"/>
                <a:cs typeface="Tahoma"/>
              </a:rPr>
              <a:t>(</a:t>
            </a:r>
            <a:r>
              <a:rPr sz="800" b="1" spc="25" dirty="0">
                <a:solidFill>
                  <a:srgbClr val="FF0000"/>
                </a:solidFill>
                <a:latin typeface="Tahoma"/>
                <a:cs typeface="Tahoma"/>
              </a:rPr>
              <a:t>Mo</a:t>
            </a:r>
            <a:r>
              <a:rPr sz="800" b="1" spc="-5" dirty="0">
                <a:solidFill>
                  <a:srgbClr val="FF0000"/>
                </a:solidFill>
                <a:latin typeface="Tahoma"/>
                <a:cs typeface="Tahoma"/>
              </a:rPr>
              <a:t>E</a:t>
            </a:r>
            <a:r>
              <a:rPr sz="800" spc="-70" dirty="0">
                <a:latin typeface="Tahoma"/>
                <a:cs typeface="Tahoma"/>
              </a:rPr>
              <a:t>)</a:t>
            </a:r>
            <a:r>
              <a:rPr sz="800" spc="-75" dirty="0">
                <a:latin typeface="Tahoma"/>
                <a:cs typeface="Tahoma"/>
              </a:rPr>
              <a:t> </a:t>
            </a:r>
            <a:r>
              <a:rPr sz="800" spc="30" dirty="0">
                <a:latin typeface="Tahoma"/>
                <a:cs typeface="Tahoma"/>
              </a:rPr>
              <a:t>Fee</a:t>
            </a:r>
            <a:r>
              <a:rPr sz="800" spc="70" dirty="0">
                <a:latin typeface="Tahoma"/>
                <a:cs typeface="Tahoma"/>
              </a:rPr>
              <a:t>d</a:t>
            </a:r>
            <a:r>
              <a:rPr sz="800" spc="-45" dirty="0">
                <a:latin typeface="Tahoma"/>
                <a:cs typeface="Tahoma"/>
              </a:rPr>
              <a:t> </a:t>
            </a:r>
            <a:r>
              <a:rPr sz="800" spc="30" dirty="0">
                <a:latin typeface="Tahoma"/>
                <a:cs typeface="Tahoma"/>
              </a:rPr>
              <a:t>F</a:t>
            </a:r>
            <a:r>
              <a:rPr sz="800" spc="15" dirty="0">
                <a:latin typeface="Tahoma"/>
                <a:cs typeface="Tahoma"/>
              </a:rPr>
              <a:t>orwa</a:t>
            </a:r>
            <a:r>
              <a:rPr sz="800" spc="35" dirty="0">
                <a:latin typeface="Tahoma"/>
                <a:cs typeface="Tahoma"/>
              </a:rPr>
              <a:t>rd</a:t>
            </a:r>
            <a:endParaRPr sz="800">
              <a:latin typeface="Tahoma"/>
              <a:cs typeface="Tahoma"/>
            </a:endParaRPr>
          </a:p>
          <a:p>
            <a:pPr marL="9525" algn="ctr">
              <a:lnSpc>
                <a:spcPct val="100000"/>
              </a:lnSpc>
            </a:pPr>
            <a:r>
              <a:rPr sz="800" b="1" spc="-55" dirty="0">
                <a:solidFill>
                  <a:srgbClr val="FF0000"/>
                </a:solidFill>
                <a:latin typeface="Tahoma"/>
                <a:cs typeface="Tahoma"/>
              </a:rPr>
              <a:t>SILU</a:t>
            </a:r>
            <a:endParaRPr sz="800">
              <a:latin typeface="Tahoma"/>
              <a:cs typeface="Tahoma"/>
            </a:endParaRPr>
          </a:p>
        </p:txBody>
      </p:sp>
      <p:grpSp>
        <p:nvGrpSpPr>
          <p:cNvPr id="39" name="object 45">
            <a:extLst>
              <a:ext uri="{FF2B5EF4-FFF2-40B4-BE49-F238E27FC236}">
                <a16:creationId xmlns:a16="http://schemas.microsoft.com/office/drawing/2014/main" id="{877C59C6-AE79-EDF1-1F06-F56D1AE4A6C2}"/>
              </a:ext>
            </a:extLst>
          </p:cNvPr>
          <p:cNvGrpSpPr/>
          <p:nvPr/>
        </p:nvGrpSpPr>
        <p:grpSpPr>
          <a:xfrm>
            <a:off x="8152331" y="2249525"/>
            <a:ext cx="1156970" cy="2471420"/>
            <a:chOff x="7401814" y="1812798"/>
            <a:chExt cx="1156970" cy="2471420"/>
          </a:xfrm>
        </p:grpSpPr>
        <p:sp>
          <p:nvSpPr>
            <p:cNvPr id="40" name="object 46">
              <a:extLst>
                <a:ext uri="{FF2B5EF4-FFF2-40B4-BE49-F238E27FC236}">
                  <a16:creationId xmlns:a16="http://schemas.microsoft.com/office/drawing/2014/main" id="{1AB5C544-2B42-A865-14C6-0D4807BD30FC}"/>
                </a:ext>
              </a:extLst>
            </p:cNvPr>
            <p:cNvSpPr/>
            <p:nvPr/>
          </p:nvSpPr>
          <p:spPr>
            <a:xfrm>
              <a:off x="8413242" y="2686050"/>
              <a:ext cx="76200" cy="260350"/>
            </a:xfrm>
            <a:custGeom>
              <a:avLst/>
              <a:gdLst/>
              <a:ahLst/>
              <a:cxnLst/>
              <a:rect l="l" t="t" r="r" b="b"/>
              <a:pathLst>
                <a:path w="76200" h="260350">
                  <a:moveTo>
                    <a:pt x="47625" y="63500"/>
                  </a:moveTo>
                  <a:lnTo>
                    <a:pt x="28575" y="63500"/>
                  </a:lnTo>
                  <a:lnTo>
                    <a:pt x="28575" y="260096"/>
                  </a:lnTo>
                  <a:lnTo>
                    <a:pt x="47625" y="260096"/>
                  </a:lnTo>
                  <a:lnTo>
                    <a:pt x="47625" y="63500"/>
                  </a:lnTo>
                  <a:close/>
                </a:path>
                <a:path w="76200" h="260350">
                  <a:moveTo>
                    <a:pt x="38100" y="0"/>
                  </a:moveTo>
                  <a:lnTo>
                    <a:pt x="0" y="76200"/>
                  </a:lnTo>
                  <a:lnTo>
                    <a:pt x="28575" y="76200"/>
                  </a:lnTo>
                  <a:lnTo>
                    <a:pt x="28575" y="63500"/>
                  </a:lnTo>
                  <a:lnTo>
                    <a:pt x="69850" y="63500"/>
                  </a:lnTo>
                  <a:lnTo>
                    <a:pt x="38100" y="0"/>
                  </a:lnTo>
                  <a:close/>
                </a:path>
                <a:path w="76200" h="260350">
                  <a:moveTo>
                    <a:pt x="69850" y="63500"/>
                  </a:moveTo>
                  <a:lnTo>
                    <a:pt x="47625" y="63500"/>
                  </a:lnTo>
                  <a:lnTo>
                    <a:pt x="47625" y="76200"/>
                  </a:lnTo>
                  <a:lnTo>
                    <a:pt x="76200" y="76200"/>
                  </a:lnTo>
                  <a:lnTo>
                    <a:pt x="69850" y="63500"/>
                  </a:lnTo>
                  <a:close/>
                </a:path>
              </a:pathLst>
            </a:custGeom>
            <a:solidFill>
              <a:srgbClr val="000000"/>
            </a:solidFill>
          </p:spPr>
          <p:txBody>
            <a:bodyPr wrap="square" lIns="0" tIns="0" rIns="0" bIns="0" rtlCol="0"/>
            <a:lstStyle/>
            <a:p>
              <a:endParaRPr/>
            </a:p>
          </p:txBody>
        </p:sp>
        <p:pic>
          <p:nvPicPr>
            <p:cNvPr id="41" name="object 47">
              <a:extLst>
                <a:ext uri="{FF2B5EF4-FFF2-40B4-BE49-F238E27FC236}">
                  <a16:creationId xmlns:a16="http://schemas.microsoft.com/office/drawing/2014/main" id="{C4AAE9BE-9266-5217-849F-F3B379C99D7D}"/>
                </a:ext>
              </a:extLst>
            </p:cNvPr>
            <p:cNvPicPr/>
            <p:nvPr/>
          </p:nvPicPr>
          <p:blipFill>
            <a:blip r:embed="rId4" cstate="print"/>
            <a:stretch>
              <a:fillRect/>
            </a:stretch>
          </p:blipFill>
          <p:spPr>
            <a:xfrm>
              <a:off x="8346948" y="1988820"/>
              <a:ext cx="211835" cy="185927"/>
            </a:xfrm>
            <a:prstGeom prst="rect">
              <a:avLst/>
            </a:prstGeom>
          </p:spPr>
        </p:pic>
        <p:sp>
          <p:nvSpPr>
            <p:cNvPr id="42" name="object 48">
              <a:extLst>
                <a:ext uri="{FF2B5EF4-FFF2-40B4-BE49-F238E27FC236}">
                  <a16:creationId xmlns:a16="http://schemas.microsoft.com/office/drawing/2014/main" id="{E0A06837-BF98-BC73-BE0C-F3C9B2CE3D6C}"/>
                </a:ext>
              </a:extLst>
            </p:cNvPr>
            <p:cNvSpPr/>
            <p:nvPr/>
          </p:nvSpPr>
          <p:spPr>
            <a:xfrm>
              <a:off x="7673467" y="2044446"/>
              <a:ext cx="788035" cy="1375410"/>
            </a:xfrm>
            <a:custGeom>
              <a:avLst/>
              <a:gdLst/>
              <a:ahLst/>
              <a:cxnLst/>
              <a:rect l="l" t="t" r="r" b="b"/>
              <a:pathLst>
                <a:path w="788034" h="1375410">
                  <a:moveTo>
                    <a:pt x="768857" y="1309369"/>
                  </a:moveTo>
                  <a:lnTo>
                    <a:pt x="768857" y="1374902"/>
                  </a:lnTo>
                  <a:lnTo>
                    <a:pt x="787907" y="1374902"/>
                  </a:lnTo>
                  <a:lnTo>
                    <a:pt x="787907" y="1318894"/>
                  </a:lnTo>
                  <a:lnTo>
                    <a:pt x="778382" y="1318894"/>
                  </a:lnTo>
                  <a:lnTo>
                    <a:pt x="768857" y="1309369"/>
                  </a:lnTo>
                  <a:close/>
                </a:path>
                <a:path w="788034" h="1375410">
                  <a:moveTo>
                    <a:pt x="598042" y="28575"/>
                  </a:moveTo>
                  <a:lnTo>
                    <a:pt x="0" y="28575"/>
                  </a:lnTo>
                  <a:lnTo>
                    <a:pt x="0" y="1318894"/>
                  </a:lnTo>
                  <a:lnTo>
                    <a:pt x="768857" y="1318894"/>
                  </a:lnTo>
                  <a:lnTo>
                    <a:pt x="768857" y="1309369"/>
                  </a:lnTo>
                  <a:lnTo>
                    <a:pt x="19050" y="1309369"/>
                  </a:lnTo>
                  <a:lnTo>
                    <a:pt x="9525" y="1299844"/>
                  </a:lnTo>
                  <a:lnTo>
                    <a:pt x="19050" y="1299844"/>
                  </a:lnTo>
                  <a:lnTo>
                    <a:pt x="19050" y="47625"/>
                  </a:lnTo>
                  <a:lnTo>
                    <a:pt x="9525" y="47625"/>
                  </a:lnTo>
                  <a:lnTo>
                    <a:pt x="19050" y="38100"/>
                  </a:lnTo>
                  <a:lnTo>
                    <a:pt x="598042" y="38100"/>
                  </a:lnTo>
                  <a:lnTo>
                    <a:pt x="598042" y="28575"/>
                  </a:lnTo>
                  <a:close/>
                </a:path>
                <a:path w="788034" h="1375410">
                  <a:moveTo>
                    <a:pt x="787907" y="1299844"/>
                  </a:moveTo>
                  <a:lnTo>
                    <a:pt x="19050" y="1299844"/>
                  </a:lnTo>
                  <a:lnTo>
                    <a:pt x="19050" y="1309369"/>
                  </a:lnTo>
                  <a:lnTo>
                    <a:pt x="768857" y="1309369"/>
                  </a:lnTo>
                  <a:lnTo>
                    <a:pt x="778382" y="1318894"/>
                  </a:lnTo>
                  <a:lnTo>
                    <a:pt x="787907" y="1318894"/>
                  </a:lnTo>
                  <a:lnTo>
                    <a:pt x="787907" y="1299844"/>
                  </a:lnTo>
                  <a:close/>
                </a:path>
                <a:path w="788034" h="1375410">
                  <a:moveTo>
                    <a:pt x="19050" y="1299844"/>
                  </a:moveTo>
                  <a:lnTo>
                    <a:pt x="9525" y="1299844"/>
                  </a:lnTo>
                  <a:lnTo>
                    <a:pt x="19050" y="1309369"/>
                  </a:lnTo>
                  <a:lnTo>
                    <a:pt x="19050" y="1299844"/>
                  </a:lnTo>
                  <a:close/>
                </a:path>
                <a:path w="788034" h="1375410">
                  <a:moveTo>
                    <a:pt x="598042" y="0"/>
                  </a:moveTo>
                  <a:lnTo>
                    <a:pt x="598042" y="76200"/>
                  </a:lnTo>
                  <a:lnTo>
                    <a:pt x="655192" y="47625"/>
                  </a:lnTo>
                  <a:lnTo>
                    <a:pt x="610742" y="47625"/>
                  </a:lnTo>
                  <a:lnTo>
                    <a:pt x="610742" y="28575"/>
                  </a:lnTo>
                  <a:lnTo>
                    <a:pt x="655192" y="28575"/>
                  </a:lnTo>
                  <a:lnTo>
                    <a:pt x="598042" y="0"/>
                  </a:lnTo>
                  <a:close/>
                </a:path>
                <a:path w="788034" h="1375410">
                  <a:moveTo>
                    <a:pt x="19050" y="38100"/>
                  </a:moveTo>
                  <a:lnTo>
                    <a:pt x="9525" y="47625"/>
                  </a:lnTo>
                  <a:lnTo>
                    <a:pt x="19050" y="47625"/>
                  </a:lnTo>
                  <a:lnTo>
                    <a:pt x="19050" y="38100"/>
                  </a:lnTo>
                  <a:close/>
                </a:path>
                <a:path w="788034" h="1375410">
                  <a:moveTo>
                    <a:pt x="598042" y="38100"/>
                  </a:moveTo>
                  <a:lnTo>
                    <a:pt x="19050" y="38100"/>
                  </a:lnTo>
                  <a:lnTo>
                    <a:pt x="19050" y="47625"/>
                  </a:lnTo>
                  <a:lnTo>
                    <a:pt x="598042" y="47625"/>
                  </a:lnTo>
                  <a:lnTo>
                    <a:pt x="598042" y="38100"/>
                  </a:lnTo>
                  <a:close/>
                </a:path>
                <a:path w="788034" h="1375410">
                  <a:moveTo>
                    <a:pt x="655192" y="28575"/>
                  </a:moveTo>
                  <a:lnTo>
                    <a:pt x="610742" y="28575"/>
                  </a:lnTo>
                  <a:lnTo>
                    <a:pt x="610742" y="47625"/>
                  </a:lnTo>
                  <a:lnTo>
                    <a:pt x="655192" y="47625"/>
                  </a:lnTo>
                  <a:lnTo>
                    <a:pt x="674242" y="38100"/>
                  </a:lnTo>
                  <a:lnTo>
                    <a:pt x="655192" y="28575"/>
                  </a:lnTo>
                  <a:close/>
                </a:path>
              </a:pathLst>
            </a:custGeom>
            <a:solidFill>
              <a:srgbClr val="000000"/>
            </a:solidFill>
          </p:spPr>
          <p:txBody>
            <a:bodyPr wrap="square" lIns="0" tIns="0" rIns="0" bIns="0" rtlCol="0"/>
            <a:lstStyle/>
            <a:p>
              <a:endParaRPr/>
            </a:p>
          </p:txBody>
        </p:sp>
        <p:pic>
          <p:nvPicPr>
            <p:cNvPr id="43" name="object 49">
              <a:extLst>
                <a:ext uri="{FF2B5EF4-FFF2-40B4-BE49-F238E27FC236}">
                  <a16:creationId xmlns:a16="http://schemas.microsoft.com/office/drawing/2014/main" id="{B3B35173-A9CD-DD41-826D-AAF9ADDBA7DB}"/>
                </a:ext>
              </a:extLst>
            </p:cNvPr>
            <p:cNvPicPr/>
            <p:nvPr/>
          </p:nvPicPr>
          <p:blipFill>
            <a:blip r:embed="rId8" cstate="print"/>
            <a:stretch>
              <a:fillRect/>
            </a:stretch>
          </p:blipFill>
          <p:spPr>
            <a:xfrm>
              <a:off x="8414385" y="2175510"/>
              <a:ext cx="76200" cy="187198"/>
            </a:xfrm>
            <a:prstGeom prst="rect">
              <a:avLst/>
            </a:prstGeom>
          </p:spPr>
        </p:pic>
        <p:pic>
          <p:nvPicPr>
            <p:cNvPr id="44" name="object 50">
              <a:extLst>
                <a:ext uri="{FF2B5EF4-FFF2-40B4-BE49-F238E27FC236}">
                  <a16:creationId xmlns:a16="http://schemas.microsoft.com/office/drawing/2014/main" id="{15E8A8DA-550E-EBAD-CF8E-6B02189D6917}"/>
                </a:ext>
              </a:extLst>
            </p:cNvPr>
            <p:cNvPicPr/>
            <p:nvPr/>
          </p:nvPicPr>
          <p:blipFill>
            <a:blip r:embed="rId9" cstate="print"/>
            <a:stretch>
              <a:fillRect/>
            </a:stretch>
          </p:blipFill>
          <p:spPr>
            <a:xfrm>
              <a:off x="8414004" y="1812798"/>
              <a:ext cx="76200" cy="177164"/>
            </a:xfrm>
            <a:prstGeom prst="rect">
              <a:avLst/>
            </a:prstGeom>
          </p:spPr>
        </p:pic>
        <p:pic>
          <p:nvPicPr>
            <p:cNvPr id="45" name="object 51">
              <a:extLst>
                <a:ext uri="{FF2B5EF4-FFF2-40B4-BE49-F238E27FC236}">
                  <a16:creationId xmlns:a16="http://schemas.microsoft.com/office/drawing/2014/main" id="{97DBD08F-DD98-4FC6-3EEE-110D3A9A7B7E}"/>
                </a:ext>
              </a:extLst>
            </p:cNvPr>
            <p:cNvPicPr/>
            <p:nvPr/>
          </p:nvPicPr>
          <p:blipFill>
            <a:blip r:embed="rId10" cstate="print"/>
            <a:stretch>
              <a:fillRect/>
            </a:stretch>
          </p:blipFill>
          <p:spPr>
            <a:xfrm>
              <a:off x="7401814" y="4157218"/>
              <a:ext cx="140715" cy="127000"/>
            </a:xfrm>
            <a:prstGeom prst="rect">
              <a:avLst/>
            </a:prstGeom>
          </p:spPr>
        </p:pic>
      </p:grpSp>
      <p:sp>
        <p:nvSpPr>
          <p:cNvPr id="46" name="object 52">
            <a:extLst>
              <a:ext uri="{FF2B5EF4-FFF2-40B4-BE49-F238E27FC236}">
                <a16:creationId xmlns:a16="http://schemas.microsoft.com/office/drawing/2014/main" id="{EC2660C2-8152-1A58-4B41-4030FE3EF3CB}"/>
              </a:ext>
            </a:extLst>
          </p:cNvPr>
          <p:cNvSpPr txBox="1"/>
          <p:nvPr/>
        </p:nvSpPr>
        <p:spPr>
          <a:xfrm>
            <a:off x="8744024" y="2061566"/>
            <a:ext cx="868680" cy="191078"/>
          </a:xfrm>
          <a:prstGeom prst="rect">
            <a:avLst/>
          </a:prstGeom>
          <a:solidFill>
            <a:srgbClr val="F1F4C1"/>
          </a:solidFill>
          <a:ln w="12700">
            <a:solidFill>
              <a:srgbClr val="000000"/>
            </a:solidFill>
          </a:ln>
        </p:spPr>
        <p:txBody>
          <a:bodyPr vert="horz" wrap="square" lIns="0" tIns="67310" rIns="0" bIns="0" rtlCol="0">
            <a:spAutoFit/>
          </a:bodyPr>
          <a:lstStyle/>
          <a:p>
            <a:pPr marL="184785">
              <a:lnSpc>
                <a:spcPct val="100000"/>
              </a:lnSpc>
              <a:spcBef>
                <a:spcPts val="530"/>
              </a:spcBef>
            </a:pPr>
            <a:r>
              <a:rPr sz="800" spc="30" dirty="0">
                <a:latin typeface="Tahoma"/>
                <a:cs typeface="Tahoma"/>
              </a:rPr>
              <a:t>R</a:t>
            </a:r>
            <a:r>
              <a:rPr sz="800" spc="35" dirty="0">
                <a:latin typeface="Tahoma"/>
                <a:cs typeface="Tahoma"/>
              </a:rPr>
              <a:t>M</a:t>
            </a:r>
            <a:r>
              <a:rPr sz="800" spc="5" dirty="0">
                <a:latin typeface="Tahoma"/>
                <a:cs typeface="Tahoma"/>
              </a:rPr>
              <a:t>S</a:t>
            </a:r>
            <a:r>
              <a:rPr sz="800" spc="-60" dirty="0">
                <a:latin typeface="Tahoma"/>
                <a:cs typeface="Tahoma"/>
              </a:rPr>
              <a:t> </a:t>
            </a:r>
            <a:r>
              <a:rPr sz="800" spc="40" dirty="0">
                <a:latin typeface="Tahoma"/>
                <a:cs typeface="Tahoma"/>
              </a:rPr>
              <a:t>Nor</a:t>
            </a:r>
            <a:r>
              <a:rPr sz="800" spc="35" dirty="0">
                <a:latin typeface="Tahoma"/>
                <a:cs typeface="Tahoma"/>
              </a:rPr>
              <a:t>m</a:t>
            </a:r>
            <a:endParaRPr sz="800" dirty="0">
              <a:latin typeface="Tahoma"/>
              <a:cs typeface="Tahoma"/>
            </a:endParaRPr>
          </a:p>
        </p:txBody>
      </p:sp>
      <p:sp>
        <p:nvSpPr>
          <p:cNvPr id="47" name="object 53">
            <a:extLst>
              <a:ext uri="{FF2B5EF4-FFF2-40B4-BE49-F238E27FC236}">
                <a16:creationId xmlns:a16="http://schemas.microsoft.com/office/drawing/2014/main" id="{C47C2842-522A-D4A7-5A10-7E1F9151FA3E}"/>
              </a:ext>
            </a:extLst>
          </p:cNvPr>
          <p:cNvSpPr txBox="1"/>
          <p:nvPr/>
        </p:nvSpPr>
        <p:spPr>
          <a:xfrm>
            <a:off x="8744024" y="1686633"/>
            <a:ext cx="868680" cy="189796"/>
          </a:xfrm>
          <a:prstGeom prst="rect">
            <a:avLst/>
          </a:prstGeom>
          <a:solidFill>
            <a:srgbClr val="DBDFEE"/>
          </a:solidFill>
          <a:ln w="12700">
            <a:solidFill>
              <a:srgbClr val="000000"/>
            </a:solidFill>
          </a:ln>
        </p:spPr>
        <p:txBody>
          <a:bodyPr vert="horz" wrap="square" lIns="0" tIns="66040" rIns="0" bIns="0" rtlCol="0">
            <a:spAutoFit/>
          </a:bodyPr>
          <a:lstStyle/>
          <a:p>
            <a:pPr marL="1270" algn="ctr">
              <a:lnSpc>
                <a:spcPct val="100000"/>
              </a:lnSpc>
              <a:spcBef>
                <a:spcPts val="520"/>
              </a:spcBef>
            </a:pPr>
            <a:r>
              <a:rPr sz="800" spc="15" dirty="0">
                <a:latin typeface="Tahoma"/>
                <a:cs typeface="Tahoma"/>
              </a:rPr>
              <a:t>Linear</a:t>
            </a:r>
            <a:endParaRPr sz="800">
              <a:latin typeface="Tahoma"/>
              <a:cs typeface="Tahoma"/>
            </a:endParaRPr>
          </a:p>
        </p:txBody>
      </p:sp>
      <p:sp>
        <p:nvSpPr>
          <p:cNvPr id="48" name="object 54">
            <a:extLst>
              <a:ext uri="{FF2B5EF4-FFF2-40B4-BE49-F238E27FC236}">
                <a16:creationId xmlns:a16="http://schemas.microsoft.com/office/drawing/2014/main" id="{F2DABE31-A36B-EE72-DC9A-246704D319E0}"/>
              </a:ext>
            </a:extLst>
          </p:cNvPr>
          <p:cNvSpPr txBox="1"/>
          <p:nvPr/>
        </p:nvSpPr>
        <p:spPr>
          <a:xfrm>
            <a:off x="8744024" y="1314936"/>
            <a:ext cx="868680" cy="190437"/>
          </a:xfrm>
          <a:prstGeom prst="rect">
            <a:avLst/>
          </a:prstGeom>
          <a:solidFill>
            <a:srgbClr val="CCE7CF"/>
          </a:solidFill>
          <a:ln w="12700">
            <a:solidFill>
              <a:srgbClr val="000000"/>
            </a:solidFill>
          </a:ln>
        </p:spPr>
        <p:txBody>
          <a:bodyPr vert="horz" wrap="square" lIns="0" tIns="66675" rIns="0" bIns="0" rtlCol="0">
            <a:spAutoFit/>
          </a:bodyPr>
          <a:lstStyle/>
          <a:p>
            <a:pPr marL="247015">
              <a:lnSpc>
                <a:spcPct val="100000"/>
              </a:lnSpc>
              <a:spcBef>
                <a:spcPts val="525"/>
              </a:spcBef>
            </a:pPr>
            <a:r>
              <a:rPr sz="800" spc="5" dirty="0">
                <a:latin typeface="Tahoma"/>
                <a:cs typeface="Tahoma"/>
              </a:rPr>
              <a:t>Softmax</a:t>
            </a:r>
            <a:endParaRPr sz="800" dirty="0">
              <a:latin typeface="Tahoma"/>
              <a:cs typeface="Tahoma"/>
            </a:endParaRPr>
          </a:p>
        </p:txBody>
      </p:sp>
      <p:pic>
        <p:nvPicPr>
          <p:cNvPr id="49" name="object 55">
            <a:extLst>
              <a:ext uri="{FF2B5EF4-FFF2-40B4-BE49-F238E27FC236}">
                <a16:creationId xmlns:a16="http://schemas.microsoft.com/office/drawing/2014/main" id="{E550C7E1-109C-6D1F-1BBD-1C88968EAFC8}"/>
              </a:ext>
            </a:extLst>
          </p:cNvPr>
          <p:cNvPicPr/>
          <p:nvPr/>
        </p:nvPicPr>
        <p:blipFill>
          <a:blip r:embed="rId11" cstate="print"/>
          <a:stretch>
            <a:fillRect/>
          </a:stretch>
        </p:blipFill>
        <p:spPr>
          <a:xfrm>
            <a:off x="9141026" y="1874876"/>
            <a:ext cx="76200" cy="187959"/>
          </a:xfrm>
          <a:prstGeom prst="rect">
            <a:avLst/>
          </a:prstGeom>
        </p:spPr>
      </p:pic>
      <p:pic>
        <p:nvPicPr>
          <p:cNvPr id="50" name="object 56">
            <a:extLst>
              <a:ext uri="{FF2B5EF4-FFF2-40B4-BE49-F238E27FC236}">
                <a16:creationId xmlns:a16="http://schemas.microsoft.com/office/drawing/2014/main" id="{3292F1AD-6451-6F20-4FAC-099B47C3029D}"/>
              </a:ext>
            </a:extLst>
          </p:cNvPr>
          <p:cNvPicPr/>
          <p:nvPr/>
        </p:nvPicPr>
        <p:blipFill>
          <a:blip r:embed="rId12" cstate="print"/>
          <a:stretch>
            <a:fillRect/>
          </a:stretch>
        </p:blipFill>
        <p:spPr>
          <a:xfrm>
            <a:off x="9141026" y="1504702"/>
            <a:ext cx="76200" cy="191770"/>
          </a:xfrm>
          <a:prstGeom prst="rect">
            <a:avLst/>
          </a:prstGeom>
        </p:spPr>
      </p:pic>
      <p:sp>
        <p:nvSpPr>
          <p:cNvPr id="51" name="object 57">
            <a:extLst>
              <a:ext uri="{FF2B5EF4-FFF2-40B4-BE49-F238E27FC236}">
                <a16:creationId xmlns:a16="http://schemas.microsoft.com/office/drawing/2014/main" id="{3234335E-8A2D-AEC2-B88F-2BAC028A0E46}"/>
              </a:ext>
            </a:extLst>
          </p:cNvPr>
          <p:cNvSpPr txBox="1"/>
          <p:nvPr/>
        </p:nvSpPr>
        <p:spPr>
          <a:xfrm>
            <a:off x="10847778" y="3657700"/>
            <a:ext cx="313055" cy="299720"/>
          </a:xfrm>
          <a:prstGeom prst="rect">
            <a:avLst/>
          </a:prstGeom>
        </p:spPr>
        <p:txBody>
          <a:bodyPr vert="horz" wrap="square" lIns="0" tIns="12700" rIns="0" bIns="0" rtlCol="0">
            <a:spAutoFit/>
          </a:bodyPr>
          <a:lstStyle/>
          <a:p>
            <a:pPr marL="12700">
              <a:lnSpc>
                <a:spcPct val="100000"/>
              </a:lnSpc>
              <a:spcBef>
                <a:spcPts val="100"/>
              </a:spcBef>
            </a:pPr>
            <a:r>
              <a:rPr sz="1800" spc="80" dirty="0">
                <a:latin typeface="Tahoma"/>
                <a:cs typeface="Tahoma"/>
              </a:rPr>
              <a:t>Nx</a:t>
            </a:r>
            <a:endParaRPr sz="1800">
              <a:latin typeface="Tahoma"/>
              <a:cs typeface="Tahoma"/>
            </a:endParaRPr>
          </a:p>
        </p:txBody>
      </p:sp>
      <p:grpSp>
        <p:nvGrpSpPr>
          <p:cNvPr id="10" name="object 16">
            <a:extLst>
              <a:ext uri="{FF2B5EF4-FFF2-40B4-BE49-F238E27FC236}">
                <a16:creationId xmlns:a16="http://schemas.microsoft.com/office/drawing/2014/main" id="{91A25DD7-A135-2769-110A-62B70FEB7E31}"/>
              </a:ext>
            </a:extLst>
          </p:cNvPr>
          <p:cNvGrpSpPr/>
          <p:nvPr/>
        </p:nvGrpSpPr>
        <p:grpSpPr>
          <a:xfrm>
            <a:off x="8716719" y="5157258"/>
            <a:ext cx="881380" cy="274955"/>
            <a:chOff x="8009890" y="4708905"/>
            <a:chExt cx="881380" cy="274955"/>
          </a:xfrm>
        </p:grpSpPr>
        <p:sp>
          <p:nvSpPr>
            <p:cNvPr id="11" name="object 17">
              <a:extLst>
                <a:ext uri="{FF2B5EF4-FFF2-40B4-BE49-F238E27FC236}">
                  <a16:creationId xmlns:a16="http://schemas.microsoft.com/office/drawing/2014/main" id="{9B29B6FD-00B4-633D-C643-DB56AF666C3A}"/>
                </a:ext>
              </a:extLst>
            </p:cNvPr>
            <p:cNvSpPr/>
            <p:nvPr/>
          </p:nvSpPr>
          <p:spPr>
            <a:xfrm>
              <a:off x="8016240" y="4715255"/>
              <a:ext cx="868680" cy="262255"/>
            </a:xfrm>
            <a:custGeom>
              <a:avLst/>
              <a:gdLst/>
              <a:ahLst/>
              <a:cxnLst/>
              <a:rect l="l" t="t" r="r" b="b"/>
              <a:pathLst>
                <a:path w="868679" h="262254">
                  <a:moveTo>
                    <a:pt x="868679" y="0"/>
                  </a:moveTo>
                  <a:lnTo>
                    <a:pt x="0" y="0"/>
                  </a:lnTo>
                  <a:lnTo>
                    <a:pt x="0" y="262128"/>
                  </a:lnTo>
                  <a:lnTo>
                    <a:pt x="868679" y="262128"/>
                  </a:lnTo>
                  <a:lnTo>
                    <a:pt x="868679" y="0"/>
                  </a:lnTo>
                  <a:close/>
                </a:path>
              </a:pathLst>
            </a:custGeom>
            <a:solidFill>
              <a:srgbClr val="F1F4C1"/>
            </a:solidFill>
          </p:spPr>
          <p:txBody>
            <a:bodyPr wrap="square" lIns="0" tIns="0" rIns="0" bIns="0" rtlCol="0"/>
            <a:lstStyle/>
            <a:p>
              <a:endParaRPr/>
            </a:p>
          </p:txBody>
        </p:sp>
        <p:sp>
          <p:nvSpPr>
            <p:cNvPr id="12" name="object 18">
              <a:extLst>
                <a:ext uri="{FF2B5EF4-FFF2-40B4-BE49-F238E27FC236}">
                  <a16:creationId xmlns:a16="http://schemas.microsoft.com/office/drawing/2014/main" id="{B21EF219-ACB7-4ABD-C725-FB6DEF2F5FCD}"/>
                </a:ext>
              </a:extLst>
            </p:cNvPr>
            <p:cNvSpPr/>
            <p:nvPr/>
          </p:nvSpPr>
          <p:spPr>
            <a:xfrm>
              <a:off x="8016240" y="4715255"/>
              <a:ext cx="868680" cy="262255"/>
            </a:xfrm>
            <a:custGeom>
              <a:avLst/>
              <a:gdLst/>
              <a:ahLst/>
              <a:cxnLst/>
              <a:rect l="l" t="t" r="r" b="b"/>
              <a:pathLst>
                <a:path w="868679" h="262254">
                  <a:moveTo>
                    <a:pt x="0" y="262128"/>
                  </a:moveTo>
                  <a:lnTo>
                    <a:pt x="868679" y="262128"/>
                  </a:lnTo>
                  <a:lnTo>
                    <a:pt x="868679" y="0"/>
                  </a:lnTo>
                  <a:lnTo>
                    <a:pt x="0" y="0"/>
                  </a:lnTo>
                  <a:lnTo>
                    <a:pt x="0" y="262128"/>
                  </a:lnTo>
                  <a:close/>
                </a:path>
              </a:pathLst>
            </a:custGeom>
            <a:ln w="12700">
              <a:solidFill>
                <a:srgbClr val="000000"/>
              </a:solidFill>
            </a:ln>
          </p:spPr>
          <p:txBody>
            <a:bodyPr wrap="square" lIns="0" tIns="0" rIns="0" bIns="0" rtlCol="0"/>
            <a:lstStyle/>
            <a:p>
              <a:endParaRPr/>
            </a:p>
          </p:txBody>
        </p:sp>
      </p:grpSp>
      <p:sp>
        <p:nvSpPr>
          <p:cNvPr id="13" name="object 19">
            <a:extLst>
              <a:ext uri="{FF2B5EF4-FFF2-40B4-BE49-F238E27FC236}">
                <a16:creationId xmlns:a16="http://schemas.microsoft.com/office/drawing/2014/main" id="{60A1F90E-3A29-603F-0919-FA466DC555C2}"/>
              </a:ext>
            </a:extLst>
          </p:cNvPr>
          <p:cNvSpPr txBox="1"/>
          <p:nvPr/>
        </p:nvSpPr>
        <p:spPr>
          <a:xfrm>
            <a:off x="8766757" y="5205704"/>
            <a:ext cx="862330" cy="135935"/>
          </a:xfrm>
          <a:prstGeom prst="rect">
            <a:avLst/>
          </a:prstGeom>
        </p:spPr>
        <p:txBody>
          <a:bodyPr vert="horz" wrap="square" lIns="0" tIns="12700" rIns="0" bIns="0" rtlCol="0">
            <a:spAutoFit/>
          </a:bodyPr>
          <a:lstStyle/>
          <a:p>
            <a:pPr marL="184785">
              <a:lnSpc>
                <a:spcPct val="100000"/>
              </a:lnSpc>
              <a:spcBef>
                <a:spcPts val="100"/>
              </a:spcBef>
            </a:pPr>
            <a:r>
              <a:rPr sz="800" spc="30" dirty="0">
                <a:latin typeface="Tahoma"/>
                <a:cs typeface="Tahoma"/>
              </a:rPr>
              <a:t>R</a:t>
            </a:r>
            <a:r>
              <a:rPr sz="800" spc="35" dirty="0">
                <a:latin typeface="Tahoma"/>
                <a:cs typeface="Tahoma"/>
              </a:rPr>
              <a:t>M</a:t>
            </a:r>
            <a:r>
              <a:rPr sz="800" spc="5" dirty="0">
                <a:latin typeface="Tahoma"/>
                <a:cs typeface="Tahoma"/>
              </a:rPr>
              <a:t>S</a:t>
            </a:r>
            <a:r>
              <a:rPr sz="800" spc="-60" dirty="0">
                <a:latin typeface="Tahoma"/>
                <a:cs typeface="Tahoma"/>
              </a:rPr>
              <a:t> </a:t>
            </a:r>
            <a:r>
              <a:rPr sz="800" spc="40" dirty="0">
                <a:latin typeface="Tahoma"/>
                <a:cs typeface="Tahoma"/>
              </a:rPr>
              <a:t>Nor</a:t>
            </a:r>
            <a:r>
              <a:rPr sz="800" spc="35" dirty="0">
                <a:latin typeface="Tahoma"/>
                <a:cs typeface="Tahoma"/>
              </a:rPr>
              <a:t>m</a:t>
            </a:r>
            <a:endParaRPr sz="800" dirty="0">
              <a:latin typeface="Tahoma"/>
              <a:cs typeface="Tahoma"/>
            </a:endParaRPr>
          </a:p>
        </p:txBody>
      </p:sp>
    </p:spTree>
    <p:extLst>
      <p:ext uri="{BB962C8B-B14F-4D97-AF65-F5344CB8AC3E}">
        <p14:creationId xmlns:p14="http://schemas.microsoft.com/office/powerpoint/2010/main" val="35673715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A29E1-C8C2-446B-4DE5-A02560040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6C3B86-8E5E-71B5-F06F-87D4CFAEA9DC}"/>
              </a:ext>
            </a:extLst>
          </p:cNvPr>
          <p:cNvSpPr>
            <a:spLocks noGrp="1"/>
          </p:cNvSpPr>
          <p:nvPr>
            <p:ph type="title"/>
          </p:nvPr>
        </p:nvSpPr>
        <p:spPr>
          <a:xfrm>
            <a:off x="669552" y="594335"/>
            <a:ext cx="10863635" cy="639153"/>
          </a:xfrm>
        </p:spPr>
        <p:txBody>
          <a:bodyPr/>
          <a:lstStyle/>
          <a:p>
            <a:r>
              <a:rPr lang="en-US" dirty="0">
                <a:latin typeface="+mn-lt"/>
              </a:rPr>
              <a:t>Next Token Prediction Task</a:t>
            </a:r>
            <a:endParaRPr lang="en-IN" dirty="0">
              <a:latin typeface="+mn-lt"/>
            </a:endParaRPr>
          </a:p>
        </p:txBody>
      </p:sp>
      <p:pic>
        <p:nvPicPr>
          <p:cNvPr id="59" name="object 3">
            <a:extLst>
              <a:ext uri="{FF2B5EF4-FFF2-40B4-BE49-F238E27FC236}">
                <a16:creationId xmlns:a16="http://schemas.microsoft.com/office/drawing/2014/main" id="{F4247804-A616-1F7F-A13B-4B192ECC177C}"/>
              </a:ext>
            </a:extLst>
          </p:cNvPr>
          <p:cNvPicPr/>
          <p:nvPr/>
        </p:nvPicPr>
        <p:blipFill>
          <a:blip r:embed="rId2" cstate="print"/>
          <a:stretch>
            <a:fillRect/>
          </a:stretch>
        </p:blipFill>
        <p:spPr>
          <a:xfrm>
            <a:off x="6960638" y="735717"/>
            <a:ext cx="4320074" cy="4398930"/>
          </a:xfrm>
          <a:prstGeom prst="rect">
            <a:avLst/>
          </a:prstGeom>
        </p:spPr>
      </p:pic>
      <p:sp>
        <p:nvSpPr>
          <p:cNvPr id="60" name="object 4">
            <a:extLst>
              <a:ext uri="{FF2B5EF4-FFF2-40B4-BE49-F238E27FC236}">
                <a16:creationId xmlns:a16="http://schemas.microsoft.com/office/drawing/2014/main" id="{43BD6785-BBA2-EE67-37F7-C0C6E61231F8}"/>
              </a:ext>
            </a:extLst>
          </p:cNvPr>
          <p:cNvSpPr txBox="1"/>
          <p:nvPr/>
        </p:nvSpPr>
        <p:spPr>
          <a:xfrm>
            <a:off x="4334705" y="5627346"/>
            <a:ext cx="6487520" cy="289823"/>
          </a:xfrm>
          <a:prstGeom prst="rect">
            <a:avLst/>
          </a:prstGeom>
        </p:spPr>
        <p:txBody>
          <a:bodyPr vert="horz" wrap="square" lIns="0" tIns="12700" rIns="0" bIns="0" rtlCol="0">
            <a:spAutoFit/>
          </a:bodyPr>
          <a:lstStyle/>
          <a:p>
            <a:pPr marL="12700">
              <a:lnSpc>
                <a:spcPct val="100000"/>
              </a:lnSpc>
              <a:spcBef>
                <a:spcPts val="100"/>
              </a:spcBef>
            </a:pPr>
            <a:r>
              <a:rPr spc="30" dirty="0">
                <a:cs typeface="Tahoma"/>
              </a:rPr>
              <a:t>[S</a:t>
            </a:r>
            <a:r>
              <a:rPr spc="55" dirty="0">
                <a:cs typeface="Tahoma"/>
              </a:rPr>
              <a:t>O</a:t>
            </a:r>
            <a:r>
              <a:rPr spc="-70" dirty="0">
                <a:cs typeface="Tahoma"/>
              </a:rPr>
              <a:t>S]</a:t>
            </a:r>
            <a:r>
              <a:rPr spc="-140" dirty="0">
                <a:cs typeface="Tahoma"/>
              </a:rPr>
              <a:t> </a:t>
            </a:r>
            <a:r>
              <a:rPr spc="-25" dirty="0">
                <a:cs typeface="Tahoma"/>
              </a:rPr>
              <a:t>L</a:t>
            </a:r>
            <a:r>
              <a:rPr spc="60" dirty="0">
                <a:cs typeface="Tahoma"/>
              </a:rPr>
              <a:t>ove</a:t>
            </a:r>
            <a:r>
              <a:rPr spc="-114" dirty="0">
                <a:cs typeface="Tahoma"/>
              </a:rPr>
              <a:t> </a:t>
            </a:r>
            <a:r>
              <a:rPr spc="5" dirty="0">
                <a:cs typeface="Tahoma"/>
              </a:rPr>
              <a:t>th</a:t>
            </a:r>
            <a:r>
              <a:rPr spc="-5" dirty="0">
                <a:cs typeface="Tahoma"/>
              </a:rPr>
              <a:t>a</a:t>
            </a:r>
            <a:r>
              <a:rPr spc="-35" dirty="0">
                <a:cs typeface="Tahoma"/>
              </a:rPr>
              <a:t>t</a:t>
            </a:r>
            <a:r>
              <a:rPr spc="-114" dirty="0">
                <a:cs typeface="Tahoma"/>
              </a:rPr>
              <a:t> </a:t>
            </a:r>
            <a:r>
              <a:rPr spc="40" dirty="0">
                <a:cs typeface="Tahoma"/>
              </a:rPr>
              <a:t>can</a:t>
            </a:r>
            <a:r>
              <a:rPr spc="-100" dirty="0">
                <a:cs typeface="Tahoma"/>
              </a:rPr>
              <a:t> </a:t>
            </a:r>
            <a:r>
              <a:rPr spc="45" dirty="0">
                <a:cs typeface="Tahoma"/>
              </a:rPr>
              <a:t>quickly</a:t>
            </a:r>
            <a:r>
              <a:rPr spc="-140" dirty="0">
                <a:cs typeface="Tahoma"/>
              </a:rPr>
              <a:t> </a:t>
            </a:r>
            <a:r>
              <a:rPr spc="35" dirty="0">
                <a:cs typeface="Tahoma"/>
              </a:rPr>
              <a:t>s</a:t>
            </a:r>
            <a:r>
              <a:rPr spc="45" dirty="0">
                <a:cs typeface="Tahoma"/>
              </a:rPr>
              <a:t>e</a:t>
            </a:r>
            <a:r>
              <a:rPr spc="35" dirty="0">
                <a:cs typeface="Tahoma"/>
              </a:rPr>
              <a:t>ize</a:t>
            </a:r>
            <a:r>
              <a:rPr spc="-135" dirty="0">
                <a:cs typeface="Tahoma"/>
              </a:rPr>
              <a:t> </a:t>
            </a:r>
            <a:r>
              <a:rPr spc="30" dirty="0">
                <a:cs typeface="Tahoma"/>
              </a:rPr>
              <a:t>the</a:t>
            </a:r>
            <a:r>
              <a:rPr spc="-105" dirty="0">
                <a:cs typeface="Tahoma"/>
              </a:rPr>
              <a:t> </a:t>
            </a:r>
            <a:r>
              <a:rPr spc="65" dirty="0">
                <a:cs typeface="Tahoma"/>
              </a:rPr>
              <a:t>gen</a:t>
            </a:r>
            <a:r>
              <a:rPr spc="40" dirty="0">
                <a:cs typeface="Tahoma"/>
              </a:rPr>
              <a:t>t</a:t>
            </a:r>
            <a:r>
              <a:rPr spc="60" dirty="0">
                <a:cs typeface="Tahoma"/>
              </a:rPr>
              <a:t>le</a:t>
            </a:r>
            <a:r>
              <a:rPr spc="-125" dirty="0">
                <a:cs typeface="Tahoma"/>
              </a:rPr>
              <a:t> </a:t>
            </a:r>
            <a:r>
              <a:rPr spc="35" dirty="0">
                <a:cs typeface="Tahoma"/>
              </a:rPr>
              <a:t>h</a:t>
            </a:r>
            <a:r>
              <a:rPr spc="70" dirty="0">
                <a:cs typeface="Tahoma"/>
              </a:rPr>
              <a:t>e</a:t>
            </a:r>
            <a:r>
              <a:rPr dirty="0">
                <a:cs typeface="Tahoma"/>
              </a:rPr>
              <a:t>a</a:t>
            </a:r>
            <a:r>
              <a:rPr spc="-25" dirty="0">
                <a:cs typeface="Tahoma"/>
              </a:rPr>
              <a:t>r</a:t>
            </a:r>
            <a:r>
              <a:rPr spc="-35" dirty="0">
                <a:cs typeface="Tahoma"/>
              </a:rPr>
              <a:t>t</a:t>
            </a:r>
            <a:endParaRPr dirty="0">
              <a:cs typeface="Tahoma"/>
            </a:endParaRPr>
          </a:p>
        </p:txBody>
      </p:sp>
      <p:sp>
        <p:nvSpPr>
          <p:cNvPr id="61" name="object 5">
            <a:extLst>
              <a:ext uri="{FF2B5EF4-FFF2-40B4-BE49-F238E27FC236}">
                <a16:creationId xmlns:a16="http://schemas.microsoft.com/office/drawing/2014/main" id="{34E629F4-289B-D548-E8C7-A1A89F944284}"/>
              </a:ext>
            </a:extLst>
          </p:cNvPr>
          <p:cNvSpPr txBox="1"/>
          <p:nvPr/>
        </p:nvSpPr>
        <p:spPr>
          <a:xfrm>
            <a:off x="669553" y="1665288"/>
            <a:ext cx="5426447" cy="289823"/>
          </a:xfrm>
          <a:prstGeom prst="rect">
            <a:avLst/>
          </a:prstGeom>
        </p:spPr>
        <p:txBody>
          <a:bodyPr vert="horz" wrap="square" lIns="0" tIns="12700" rIns="0" bIns="0" rtlCol="0">
            <a:spAutoFit/>
          </a:bodyPr>
          <a:lstStyle/>
          <a:p>
            <a:pPr marL="12700">
              <a:lnSpc>
                <a:spcPct val="100000"/>
              </a:lnSpc>
              <a:spcBef>
                <a:spcPts val="100"/>
              </a:spcBef>
            </a:pPr>
            <a:r>
              <a:rPr b="1" spc="-229" dirty="0">
                <a:solidFill>
                  <a:srgbClr val="FF0000"/>
                </a:solidFill>
                <a:cs typeface="Tahoma"/>
              </a:rPr>
              <a:t>T</a:t>
            </a:r>
            <a:r>
              <a:rPr b="1" spc="-75" dirty="0">
                <a:solidFill>
                  <a:srgbClr val="FF0000"/>
                </a:solidFill>
                <a:cs typeface="Tahoma"/>
              </a:rPr>
              <a:t>a</a:t>
            </a:r>
            <a:r>
              <a:rPr b="1" spc="-90" dirty="0">
                <a:solidFill>
                  <a:srgbClr val="FF0000"/>
                </a:solidFill>
                <a:cs typeface="Tahoma"/>
              </a:rPr>
              <a:t>r</a:t>
            </a:r>
            <a:r>
              <a:rPr b="1" spc="50" dirty="0">
                <a:solidFill>
                  <a:srgbClr val="FF0000"/>
                </a:solidFill>
                <a:cs typeface="Tahoma"/>
              </a:rPr>
              <a:t>g</a:t>
            </a:r>
            <a:r>
              <a:rPr b="1" spc="-50" dirty="0">
                <a:solidFill>
                  <a:srgbClr val="FF0000"/>
                </a:solidFill>
                <a:cs typeface="Tahoma"/>
              </a:rPr>
              <a:t>e</a:t>
            </a:r>
            <a:r>
              <a:rPr b="1" spc="-35" dirty="0">
                <a:solidFill>
                  <a:srgbClr val="FF0000"/>
                </a:solidFill>
                <a:cs typeface="Tahoma"/>
              </a:rPr>
              <a:t>t</a:t>
            </a:r>
            <a:r>
              <a:rPr b="1" spc="114" dirty="0">
                <a:solidFill>
                  <a:srgbClr val="FF0000"/>
                </a:solidFill>
                <a:cs typeface="Tahoma"/>
              </a:rPr>
              <a:t> </a:t>
            </a:r>
            <a:r>
              <a:rPr spc="-25" dirty="0">
                <a:cs typeface="Tahoma"/>
              </a:rPr>
              <a:t>L</a:t>
            </a:r>
            <a:r>
              <a:rPr spc="60" dirty="0">
                <a:cs typeface="Tahoma"/>
              </a:rPr>
              <a:t>ove</a:t>
            </a:r>
            <a:r>
              <a:rPr spc="-114" dirty="0">
                <a:cs typeface="Tahoma"/>
              </a:rPr>
              <a:t> </a:t>
            </a:r>
            <a:r>
              <a:rPr spc="5" dirty="0">
                <a:cs typeface="Tahoma"/>
              </a:rPr>
              <a:t>th</a:t>
            </a:r>
            <a:r>
              <a:rPr spc="-5" dirty="0">
                <a:cs typeface="Tahoma"/>
              </a:rPr>
              <a:t>a</a:t>
            </a:r>
            <a:r>
              <a:rPr spc="-35" dirty="0">
                <a:cs typeface="Tahoma"/>
              </a:rPr>
              <a:t>t</a:t>
            </a:r>
            <a:r>
              <a:rPr spc="-114" dirty="0">
                <a:cs typeface="Tahoma"/>
              </a:rPr>
              <a:t> </a:t>
            </a:r>
            <a:r>
              <a:rPr spc="40" dirty="0">
                <a:cs typeface="Tahoma"/>
              </a:rPr>
              <a:t>can</a:t>
            </a:r>
            <a:r>
              <a:rPr spc="-100" dirty="0">
                <a:cs typeface="Tahoma"/>
              </a:rPr>
              <a:t> </a:t>
            </a:r>
            <a:r>
              <a:rPr spc="45" dirty="0">
                <a:cs typeface="Tahoma"/>
              </a:rPr>
              <a:t>quickly</a:t>
            </a:r>
            <a:r>
              <a:rPr spc="-140" dirty="0">
                <a:cs typeface="Tahoma"/>
              </a:rPr>
              <a:t> </a:t>
            </a:r>
            <a:r>
              <a:rPr spc="35" dirty="0">
                <a:cs typeface="Tahoma"/>
              </a:rPr>
              <a:t>s</a:t>
            </a:r>
            <a:r>
              <a:rPr spc="45" dirty="0">
                <a:cs typeface="Tahoma"/>
              </a:rPr>
              <a:t>e</a:t>
            </a:r>
            <a:r>
              <a:rPr spc="35" dirty="0">
                <a:cs typeface="Tahoma"/>
              </a:rPr>
              <a:t>ize</a:t>
            </a:r>
            <a:r>
              <a:rPr spc="-120" dirty="0">
                <a:cs typeface="Tahoma"/>
              </a:rPr>
              <a:t> </a:t>
            </a:r>
            <a:r>
              <a:rPr spc="30" dirty="0">
                <a:cs typeface="Tahoma"/>
              </a:rPr>
              <a:t>the</a:t>
            </a:r>
            <a:r>
              <a:rPr spc="-114" dirty="0">
                <a:cs typeface="Tahoma"/>
              </a:rPr>
              <a:t> </a:t>
            </a:r>
            <a:r>
              <a:rPr spc="60" dirty="0">
                <a:cs typeface="Tahoma"/>
              </a:rPr>
              <a:t>gent</a:t>
            </a:r>
            <a:r>
              <a:rPr spc="30" dirty="0">
                <a:cs typeface="Tahoma"/>
              </a:rPr>
              <a:t>l</a:t>
            </a:r>
            <a:r>
              <a:rPr spc="80" dirty="0">
                <a:cs typeface="Tahoma"/>
              </a:rPr>
              <a:t>e</a:t>
            </a:r>
            <a:r>
              <a:rPr spc="-130" dirty="0">
                <a:cs typeface="Tahoma"/>
              </a:rPr>
              <a:t> </a:t>
            </a:r>
            <a:r>
              <a:rPr spc="35" dirty="0">
                <a:cs typeface="Tahoma"/>
              </a:rPr>
              <a:t>h</a:t>
            </a:r>
            <a:r>
              <a:rPr spc="70" dirty="0">
                <a:cs typeface="Tahoma"/>
              </a:rPr>
              <a:t>e</a:t>
            </a:r>
            <a:r>
              <a:rPr dirty="0">
                <a:cs typeface="Tahoma"/>
              </a:rPr>
              <a:t>a</a:t>
            </a:r>
            <a:r>
              <a:rPr spc="-25" dirty="0">
                <a:cs typeface="Tahoma"/>
              </a:rPr>
              <a:t>r</a:t>
            </a:r>
            <a:r>
              <a:rPr spc="-35" dirty="0">
                <a:cs typeface="Tahoma"/>
              </a:rPr>
              <a:t>t</a:t>
            </a:r>
            <a:r>
              <a:rPr spc="-105" dirty="0">
                <a:cs typeface="Tahoma"/>
              </a:rPr>
              <a:t> </a:t>
            </a:r>
            <a:r>
              <a:rPr spc="45" dirty="0">
                <a:cs typeface="Tahoma"/>
              </a:rPr>
              <a:t>[E</a:t>
            </a:r>
            <a:r>
              <a:rPr spc="70" dirty="0">
                <a:cs typeface="Tahoma"/>
              </a:rPr>
              <a:t>O</a:t>
            </a:r>
            <a:r>
              <a:rPr spc="-70" dirty="0">
                <a:cs typeface="Tahoma"/>
              </a:rPr>
              <a:t>S]</a:t>
            </a:r>
            <a:endParaRPr dirty="0">
              <a:cs typeface="Tahoma"/>
            </a:endParaRPr>
          </a:p>
        </p:txBody>
      </p:sp>
      <p:sp>
        <p:nvSpPr>
          <p:cNvPr id="62" name="object 6">
            <a:extLst>
              <a:ext uri="{FF2B5EF4-FFF2-40B4-BE49-F238E27FC236}">
                <a16:creationId xmlns:a16="http://schemas.microsoft.com/office/drawing/2014/main" id="{CEDAA587-16D9-9486-21C8-CD4263D1B3A4}"/>
              </a:ext>
            </a:extLst>
          </p:cNvPr>
          <p:cNvSpPr/>
          <p:nvPr/>
        </p:nvSpPr>
        <p:spPr>
          <a:xfrm>
            <a:off x="8444013" y="5134647"/>
            <a:ext cx="102014" cy="468168"/>
          </a:xfrm>
          <a:custGeom>
            <a:avLst/>
            <a:gdLst/>
            <a:ahLst/>
            <a:cxnLst/>
            <a:rect l="l" t="t" r="r" b="b"/>
            <a:pathLst>
              <a:path w="76200" h="411479">
                <a:moveTo>
                  <a:pt x="44450" y="63500"/>
                </a:moveTo>
                <a:lnTo>
                  <a:pt x="31750" y="63500"/>
                </a:lnTo>
                <a:lnTo>
                  <a:pt x="31750" y="410895"/>
                </a:lnTo>
                <a:lnTo>
                  <a:pt x="44450" y="410895"/>
                </a:lnTo>
                <a:lnTo>
                  <a:pt x="44450" y="63500"/>
                </a:lnTo>
                <a:close/>
              </a:path>
              <a:path w="76200" h="411479">
                <a:moveTo>
                  <a:pt x="38100" y="0"/>
                </a:moveTo>
                <a:lnTo>
                  <a:pt x="0" y="76200"/>
                </a:lnTo>
                <a:lnTo>
                  <a:pt x="31750" y="76200"/>
                </a:lnTo>
                <a:lnTo>
                  <a:pt x="31750" y="63500"/>
                </a:lnTo>
                <a:lnTo>
                  <a:pt x="69850" y="63500"/>
                </a:lnTo>
                <a:lnTo>
                  <a:pt x="38100" y="0"/>
                </a:lnTo>
                <a:close/>
              </a:path>
              <a:path w="76200" h="411479">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63" name="object 7">
            <a:extLst>
              <a:ext uri="{FF2B5EF4-FFF2-40B4-BE49-F238E27FC236}">
                <a16:creationId xmlns:a16="http://schemas.microsoft.com/office/drawing/2014/main" id="{6B3E1116-7C25-88DB-C4C6-0381E4636555}"/>
              </a:ext>
            </a:extLst>
          </p:cNvPr>
          <p:cNvSpPr txBox="1"/>
          <p:nvPr/>
        </p:nvSpPr>
        <p:spPr>
          <a:xfrm>
            <a:off x="3476442" y="5596568"/>
            <a:ext cx="858263" cy="320601"/>
          </a:xfrm>
          <a:prstGeom prst="rect">
            <a:avLst/>
          </a:prstGeom>
        </p:spPr>
        <p:txBody>
          <a:bodyPr vert="horz" wrap="square" lIns="0" tIns="12700" rIns="0" bIns="0" rtlCol="0">
            <a:spAutoFit/>
          </a:bodyPr>
          <a:lstStyle/>
          <a:p>
            <a:pPr marL="12700">
              <a:lnSpc>
                <a:spcPct val="100000"/>
              </a:lnSpc>
              <a:spcBef>
                <a:spcPts val="100"/>
              </a:spcBef>
            </a:pPr>
            <a:r>
              <a:rPr sz="2000" b="1" spc="-95" dirty="0">
                <a:solidFill>
                  <a:srgbClr val="FF0000"/>
                </a:solidFill>
                <a:cs typeface="Tahoma"/>
              </a:rPr>
              <a:t>In</a:t>
            </a:r>
            <a:r>
              <a:rPr sz="2000" b="1" spc="-100" dirty="0">
                <a:solidFill>
                  <a:srgbClr val="FF0000"/>
                </a:solidFill>
                <a:cs typeface="Tahoma"/>
              </a:rPr>
              <a:t>p</a:t>
            </a:r>
            <a:r>
              <a:rPr sz="2000" b="1" spc="-65" dirty="0">
                <a:solidFill>
                  <a:srgbClr val="FF0000"/>
                </a:solidFill>
                <a:cs typeface="Tahoma"/>
              </a:rPr>
              <a:t>ut</a:t>
            </a:r>
            <a:r>
              <a:rPr lang="en-US" sz="2000" b="1" spc="-65" dirty="0">
                <a:solidFill>
                  <a:srgbClr val="FF0000"/>
                </a:solidFill>
                <a:cs typeface="Tahoma"/>
              </a:rPr>
              <a:t> :</a:t>
            </a:r>
            <a:endParaRPr sz="2000" dirty="0">
              <a:cs typeface="Tahoma"/>
            </a:endParaRPr>
          </a:p>
        </p:txBody>
      </p:sp>
      <p:sp>
        <p:nvSpPr>
          <p:cNvPr id="64" name="object 8">
            <a:extLst>
              <a:ext uri="{FF2B5EF4-FFF2-40B4-BE49-F238E27FC236}">
                <a16:creationId xmlns:a16="http://schemas.microsoft.com/office/drawing/2014/main" id="{C3831904-A3FB-E0BE-6CE6-FE2BE5E660D5}"/>
              </a:ext>
            </a:extLst>
          </p:cNvPr>
          <p:cNvSpPr txBox="1"/>
          <p:nvPr/>
        </p:nvSpPr>
        <p:spPr>
          <a:xfrm>
            <a:off x="658813" y="3243657"/>
            <a:ext cx="2252980" cy="443711"/>
          </a:xfrm>
          <a:prstGeom prst="rect">
            <a:avLst/>
          </a:prstGeom>
        </p:spPr>
        <p:txBody>
          <a:bodyPr vert="horz" wrap="square" lIns="0" tIns="12700" rIns="0" bIns="0" rtlCol="0">
            <a:spAutoFit/>
          </a:bodyPr>
          <a:lstStyle/>
          <a:p>
            <a:pPr marL="12700">
              <a:lnSpc>
                <a:spcPct val="100000"/>
              </a:lnSpc>
              <a:spcBef>
                <a:spcPts val="100"/>
              </a:spcBef>
            </a:pPr>
            <a:r>
              <a:rPr sz="2800" b="1" spc="30" dirty="0">
                <a:solidFill>
                  <a:srgbClr val="FF0000"/>
                </a:solidFill>
                <a:cs typeface="Tahoma"/>
              </a:rPr>
              <a:t>Training</a:t>
            </a:r>
            <a:endParaRPr sz="2800" b="1" dirty="0">
              <a:cs typeface="Tahoma"/>
            </a:endParaRPr>
          </a:p>
        </p:txBody>
      </p:sp>
    </p:spTree>
    <p:extLst>
      <p:ext uri="{BB962C8B-B14F-4D97-AF65-F5344CB8AC3E}">
        <p14:creationId xmlns:p14="http://schemas.microsoft.com/office/powerpoint/2010/main" val="33487897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C70C5-70AA-3C31-3B12-439A9AE31A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8A4617-902D-F7B1-EC24-BED1A5E19A59}"/>
              </a:ext>
            </a:extLst>
          </p:cNvPr>
          <p:cNvSpPr>
            <a:spLocks noGrp="1"/>
          </p:cNvSpPr>
          <p:nvPr>
            <p:ph type="title"/>
          </p:nvPr>
        </p:nvSpPr>
        <p:spPr>
          <a:xfrm>
            <a:off x="669552" y="594335"/>
            <a:ext cx="10863635" cy="639153"/>
          </a:xfrm>
        </p:spPr>
        <p:txBody>
          <a:bodyPr/>
          <a:lstStyle/>
          <a:p>
            <a:r>
              <a:rPr lang="en-US" dirty="0">
                <a:latin typeface="+mn-lt"/>
              </a:rPr>
              <a:t>Next Token Prediction Task</a:t>
            </a:r>
            <a:endParaRPr lang="en-IN" dirty="0">
              <a:latin typeface="+mn-lt"/>
            </a:endParaRPr>
          </a:p>
        </p:txBody>
      </p:sp>
      <p:pic>
        <p:nvPicPr>
          <p:cNvPr id="59" name="object 3">
            <a:extLst>
              <a:ext uri="{FF2B5EF4-FFF2-40B4-BE49-F238E27FC236}">
                <a16:creationId xmlns:a16="http://schemas.microsoft.com/office/drawing/2014/main" id="{42C981DE-469C-3D06-A8BE-768EDAD29EB7}"/>
              </a:ext>
            </a:extLst>
          </p:cNvPr>
          <p:cNvPicPr/>
          <p:nvPr/>
        </p:nvPicPr>
        <p:blipFill>
          <a:blip r:embed="rId2" cstate="print"/>
          <a:stretch>
            <a:fillRect/>
          </a:stretch>
        </p:blipFill>
        <p:spPr>
          <a:xfrm>
            <a:off x="6960638" y="735717"/>
            <a:ext cx="4320074" cy="4398930"/>
          </a:xfrm>
          <a:prstGeom prst="rect">
            <a:avLst/>
          </a:prstGeom>
        </p:spPr>
      </p:pic>
      <p:sp>
        <p:nvSpPr>
          <p:cNvPr id="60" name="object 4">
            <a:extLst>
              <a:ext uri="{FF2B5EF4-FFF2-40B4-BE49-F238E27FC236}">
                <a16:creationId xmlns:a16="http://schemas.microsoft.com/office/drawing/2014/main" id="{2DC2131D-3188-F2E9-E34F-4664B8E7AF64}"/>
              </a:ext>
            </a:extLst>
          </p:cNvPr>
          <p:cNvSpPr txBox="1"/>
          <p:nvPr/>
        </p:nvSpPr>
        <p:spPr>
          <a:xfrm>
            <a:off x="4334705" y="5627346"/>
            <a:ext cx="6487520" cy="289823"/>
          </a:xfrm>
          <a:prstGeom prst="rect">
            <a:avLst/>
          </a:prstGeom>
        </p:spPr>
        <p:txBody>
          <a:bodyPr vert="horz" wrap="square" lIns="0" tIns="12700" rIns="0" bIns="0" rtlCol="0">
            <a:spAutoFit/>
          </a:bodyPr>
          <a:lstStyle/>
          <a:p>
            <a:pPr marL="12700">
              <a:lnSpc>
                <a:spcPct val="100000"/>
              </a:lnSpc>
              <a:spcBef>
                <a:spcPts val="100"/>
              </a:spcBef>
            </a:pPr>
            <a:r>
              <a:rPr spc="30" dirty="0">
                <a:cs typeface="Tahoma"/>
              </a:rPr>
              <a:t>[S</a:t>
            </a:r>
            <a:r>
              <a:rPr spc="55" dirty="0">
                <a:cs typeface="Tahoma"/>
              </a:rPr>
              <a:t>O</a:t>
            </a:r>
            <a:r>
              <a:rPr spc="-70" dirty="0">
                <a:cs typeface="Tahoma"/>
              </a:rPr>
              <a:t>S]</a:t>
            </a:r>
            <a:endParaRPr dirty="0">
              <a:cs typeface="Tahoma"/>
            </a:endParaRPr>
          </a:p>
        </p:txBody>
      </p:sp>
      <p:sp>
        <p:nvSpPr>
          <p:cNvPr id="61" name="object 5">
            <a:extLst>
              <a:ext uri="{FF2B5EF4-FFF2-40B4-BE49-F238E27FC236}">
                <a16:creationId xmlns:a16="http://schemas.microsoft.com/office/drawing/2014/main" id="{25BE523F-7880-43F3-01F5-8C8B0D9212C1}"/>
              </a:ext>
            </a:extLst>
          </p:cNvPr>
          <p:cNvSpPr txBox="1"/>
          <p:nvPr/>
        </p:nvSpPr>
        <p:spPr>
          <a:xfrm>
            <a:off x="669553" y="1665288"/>
            <a:ext cx="5426447" cy="289823"/>
          </a:xfrm>
          <a:prstGeom prst="rect">
            <a:avLst/>
          </a:prstGeom>
        </p:spPr>
        <p:txBody>
          <a:bodyPr vert="horz" wrap="square" lIns="0" tIns="12700" rIns="0" bIns="0" rtlCol="0">
            <a:spAutoFit/>
          </a:bodyPr>
          <a:lstStyle/>
          <a:p>
            <a:pPr marL="12700">
              <a:lnSpc>
                <a:spcPct val="100000"/>
              </a:lnSpc>
              <a:spcBef>
                <a:spcPts val="100"/>
              </a:spcBef>
            </a:pPr>
            <a:r>
              <a:rPr lang="en-US" b="1" spc="-25" dirty="0">
                <a:solidFill>
                  <a:srgbClr val="FF0000"/>
                </a:solidFill>
                <a:cs typeface="Tahoma"/>
              </a:rPr>
              <a:t>Output</a:t>
            </a:r>
            <a:r>
              <a:rPr lang="en-US" spc="-25" dirty="0">
                <a:cs typeface="Tahoma"/>
              </a:rPr>
              <a:t> </a:t>
            </a:r>
            <a:r>
              <a:rPr spc="-25" dirty="0">
                <a:cs typeface="Tahoma"/>
              </a:rPr>
              <a:t>L</a:t>
            </a:r>
            <a:r>
              <a:rPr spc="60" dirty="0">
                <a:cs typeface="Tahoma"/>
              </a:rPr>
              <a:t>ov</a:t>
            </a:r>
            <a:r>
              <a:rPr lang="en-IN" spc="60" dirty="0">
                <a:cs typeface="Tahoma"/>
              </a:rPr>
              <a:t>e</a:t>
            </a:r>
            <a:endParaRPr lang="en-US" dirty="0">
              <a:cs typeface="Tahoma"/>
            </a:endParaRPr>
          </a:p>
        </p:txBody>
      </p:sp>
      <p:sp>
        <p:nvSpPr>
          <p:cNvPr id="62" name="object 6">
            <a:extLst>
              <a:ext uri="{FF2B5EF4-FFF2-40B4-BE49-F238E27FC236}">
                <a16:creationId xmlns:a16="http://schemas.microsoft.com/office/drawing/2014/main" id="{22B6CAD1-9B22-9D68-7073-451796D1F3C6}"/>
              </a:ext>
            </a:extLst>
          </p:cNvPr>
          <p:cNvSpPr/>
          <p:nvPr/>
        </p:nvSpPr>
        <p:spPr>
          <a:xfrm>
            <a:off x="8444013" y="5134647"/>
            <a:ext cx="102014" cy="468168"/>
          </a:xfrm>
          <a:custGeom>
            <a:avLst/>
            <a:gdLst/>
            <a:ahLst/>
            <a:cxnLst/>
            <a:rect l="l" t="t" r="r" b="b"/>
            <a:pathLst>
              <a:path w="76200" h="411479">
                <a:moveTo>
                  <a:pt x="44450" y="63500"/>
                </a:moveTo>
                <a:lnTo>
                  <a:pt x="31750" y="63500"/>
                </a:lnTo>
                <a:lnTo>
                  <a:pt x="31750" y="410895"/>
                </a:lnTo>
                <a:lnTo>
                  <a:pt x="44450" y="410895"/>
                </a:lnTo>
                <a:lnTo>
                  <a:pt x="44450" y="63500"/>
                </a:lnTo>
                <a:close/>
              </a:path>
              <a:path w="76200" h="411479">
                <a:moveTo>
                  <a:pt x="38100" y="0"/>
                </a:moveTo>
                <a:lnTo>
                  <a:pt x="0" y="76200"/>
                </a:lnTo>
                <a:lnTo>
                  <a:pt x="31750" y="76200"/>
                </a:lnTo>
                <a:lnTo>
                  <a:pt x="31750" y="63500"/>
                </a:lnTo>
                <a:lnTo>
                  <a:pt x="69850" y="63500"/>
                </a:lnTo>
                <a:lnTo>
                  <a:pt x="38100" y="0"/>
                </a:lnTo>
                <a:close/>
              </a:path>
              <a:path w="76200" h="411479">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63" name="object 7">
            <a:extLst>
              <a:ext uri="{FF2B5EF4-FFF2-40B4-BE49-F238E27FC236}">
                <a16:creationId xmlns:a16="http://schemas.microsoft.com/office/drawing/2014/main" id="{1F077187-2862-F610-5D68-26A97BC45B80}"/>
              </a:ext>
            </a:extLst>
          </p:cNvPr>
          <p:cNvSpPr txBox="1"/>
          <p:nvPr/>
        </p:nvSpPr>
        <p:spPr>
          <a:xfrm>
            <a:off x="3476442" y="5602815"/>
            <a:ext cx="858263" cy="320601"/>
          </a:xfrm>
          <a:prstGeom prst="rect">
            <a:avLst/>
          </a:prstGeom>
        </p:spPr>
        <p:txBody>
          <a:bodyPr vert="horz" wrap="square" lIns="0" tIns="12700" rIns="0" bIns="0" rtlCol="0">
            <a:spAutoFit/>
          </a:bodyPr>
          <a:lstStyle/>
          <a:p>
            <a:pPr marL="12700">
              <a:lnSpc>
                <a:spcPct val="100000"/>
              </a:lnSpc>
              <a:spcBef>
                <a:spcPts val="100"/>
              </a:spcBef>
            </a:pPr>
            <a:r>
              <a:rPr sz="2000" b="1" spc="-95" dirty="0">
                <a:solidFill>
                  <a:srgbClr val="FF0000"/>
                </a:solidFill>
                <a:cs typeface="Tahoma"/>
              </a:rPr>
              <a:t>In</a:t>
            </a:r>
            <a:r>
              <a:rPr sz="2000" b="1" spc="-100" dirty="0">
                <a:solidFill>
                  <a:srgbClr val="FF0000"/>
                </a:solidFill>
                <a:cs typeface="Tahoma"/>
              </a:rPr>
              <a:t>p</a:t>
            </a:r>
            <a:r>
              <a:rPr sz="2000" b="1" spc="-65" dirty="0">
                <a:solidFill>
                  <a:srgbClr val="FF0000"/>
                </a:solidFill>
                <a:cs typeface="Tahoma"/>
              </a:rPr>
              <a:t>ut</a:t>
            </a:r>
            <a:r>
              <a:rPr lang="en-US" sz="2000" b="1" spc="-65" dirty="0">
                <a:solidFill>
                  <a:srgbClr val="FF0000"/>
                </a:solidFill>
                <a:cs typeface="Tahoma"/>
              </a:rPr>
              <a:t> :</a:t>
            </a:r>
            <a:endParaRPr sz="2000" dirty="0">
              <a:cs typeface="Tahoma"/>
            </a:endParaRPr>
          </a:p>
        </p:txBody>
      </p:sp>
      <p:sp>
        <p:nvSpPr>
          <p:cNvPr id="64" name="object 8">
            <a:extLst>
              <a:ext uri="{FF2B5EF4-FFF2-40B4-BE49-F238E27FC236}">
                <a16:creationId xmlns:a16="http://schemas.microsoft.com/office/drawing/2014/main" id="{7E5B9017-7BDC-57F9-1DF9-8D4E624E3302}"/>
              </a:ext>
            </a:extLst>
          </p:cNvPr>
          <p:cNvSpPr txBox="1"/>
          <p:nvPr/>
        </p:nvSpPr>
        <p:spPr>
          <a:xfrm>
            <a:off x="658813" y="3243657"/>
            <a:ext cx="2252980" cy="443711"/>
          </a:xfrm>
          <a:prstGeom prst="rect">
            <a:avLst/>
          </a:prstGeom>
        </p:spPr>
        <p:txBody>
          <a:bodyPr vert="horz" wrap="square" lIns="0" tIns="12700" rIns="0" bIns="0" rtlCol="0">
            <a:spAutoFit/>
          </a:bodyPr>
          <a:lstStyle/>
          <a:p>
            <a:pPr marL="12700">
              <a:lnSpc>
                <a:spcPct val="100000"/>
              </a:lnSpc>
              <a:spcBef>
                <a:spcPts val="100"/>
              </a:spcBef>
            </a:pPr>
            <a:r>
              <a:rPr lang="en-US" sz="2800" b="1" spc="30" dirty="0">
                <a:solidFill>
                  <a:srgbClr val="FF0000"/>
                </a:solidFill>
                <a:cs typeface="Tahoma"/>
              </a:rPr>
              <a:t>Inference T = 1</a:t>
            </a:r>
            <a:endParaRPr sz="2800" b="1" dirty="0">
              <a:cs typeface="Tahoma"/>
            </a:endParaRPr>
          </a:p>
        </p:txBody>
      </p:sp>
    </p:spTree>
    <p:extLst>
      <p:ext uri="{BB962C8B-B14F-4D97-AF65-F5344CB8AC3E}">
        <p14:creationId xmlns:p14="http://schemas.microsoft.com/office/powerpoint/2010/main" val="2824086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A5E44-1E38-6D1A-31F9-CC8E660186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F90F8C-DD35-2ABE-4A2C-5054E775147E}"/>
              </a:ext>
            </a:extLst>
          </p:cNvPr>
          <p:cNvSpPr>
            <a:spLocks noGrp="1"/>
          </p:cNvSpPr>
          <p:nvPr>
            <p:ph type="title"/>
          </p:nvPr>
        </p:nvSpPr>
        <p:spPr>
          <a:xfrm>
            <a:off x="669552" y="594335"/>
            <a:ext cx="10863635" cy="639153"/>
          </a:xfrm>
        </p:spPr>
        <p:txBody>
          <a:bodyPr/>
          <a:lstStyle/>
          <a:p>
            <a:r>
              <a:rPr lang="en-US" dirty="0">
                <a:latin typeface="+mn-lt"/>
              </a:rPr>
              <a:t>Next Token Prediction Task</a:t>
            </a:r>
            <a:endParaRPr lang="en-IN" dirty="0">
              <a:latin typeface="+mn-lt"/>
            </a:endParaRPr>
          </a:p>
        </p:txBody>
      </p:sp>
      <p:pic>
        <p:nvPicPr>
          <p:cNvPr id="59" name="object 3">
            <a:extLst>
              <a:ext uri="{FF2B5EF4-FFF2-40B4-BE49-F238E27FC236}">
                <a16:creationId xmlns:a16="http://schemas.microsoft.com/office/drawing/2014/main" id="{965651EA-3182-5376-DD4D-C8A8D1FF6982}"/>
              </a:ext>
            </a:extLst>
          </p:cNvPr>
          <p:cNvPicPr/>
          <p:nvPr/>
        </p:nvPicPr>
        <p:blipFill>
          <a:blip r:embed="rId2" cstate="print"/>
          <a:stretch>
            <a:fillRect/>
          </a:stretch>
        </p:blipFill>
        <p:spPr>
          <a:xfrm>
            <a:off x="6960638" y="735717"/>
            <a:ext cx="4320074" cy="4398930"/>
          </a:xfrm>
          <a:prstGeom prst="rect">
            <a:avLst/>
          </a:prstGeom>
        </p:spPr>
      </p:pic>
      <p:sp>
        <p:nvSpPr>
          <p:cNvPr id="60" name="object 4">
            <a:extLst>
              <a:ext uri="{FF2B5EF4-FFF2-40B4-BE49-F238E27FC236}">
                <a16:creationId xmlns:a16="http://schemas.microsoft.com/office/drawing/2014/main" id="{D98BAA25-EC92-F83B-A352-505F12991563}"/>
              </a:ext>
            </a:extLst>
          </p:cNvPr>
          <p:cNvSpPr txBox="1"/>
          <p:nvPr/>
        </p:nvSpPr>
        <p:spPr>
          <a:xfrm>
            <a:off x="4334705" y="5627346"/>
            <a:ext cx="6487520" cy="289823"/>
          </a:xfrm>
          <a:prstGeom prst="rect">
            <a:avLst/>
          </a:prstGeom>
        </p:spPr>
        <p:txBody>
          <a:bodyPr vert="horz" wrap="square" lIns="0" tIns="12700" rIns="0" bIns="0" rtlCol="0">
            <a:spAutoFit/>
          </a:bodyPr>
          <a:lstStyle/>
          <a:p>
            <a:pPr marL="12700">
              <a:lnSpc>
                <a:spcPct val="100000"/>
              </a:lnSpc>
              <a:spcBef>
                <a:spcPts val="100"/>
              </a:spcBef>
            </a:pPr>
            <a:r>
              <a:rPr spc="30" dirty="0">
                <a:cs typeface="Tahoma"/>
              </a:rPr>
              <a:t>[S</a:t>
            </a:r>
            <a:r>
              <a:rPr spc="55" dirty="0">
                <a:cs typeface="Tahoma"/>
              </a:rPr>
              <a:t>O</a:t>
            </a:r>
            <a:r>
              <a:rPr spc="-70" dirty="0">
                <a:cs typeface="Tahoma"/>
              </a:rPr>
              <a:t>S]</a:t>
            </a:r>
            <a:r>
              <a:rPr lang="en-US" spc="-70" dirty="0">
                <a:cs typeface="Tahoma"/>
              </a:rPr>
              <a:t> Love</a:t>
            </a:r>
            <a:endParaRPr dirty="0">
              <a:cs typeface="Tahoma"/>
            </a:endParaRPr>
          </a:p>
        </p:txBody>
      </p:sp>
      <p:sp>
        <p:nvSpPr>
          <p:cNvPr id="61" name="object 5">
            <a:extLst>
              <a:ext uri="{FF2B5EF4-FFF2-40B4-BE49-F238E27FC236}">
                <a16:creationId xmlns:a16="http://schemas.microsoft.com/office/drawing/2014/main" id="{D2811FDE-D631-EC44-4A9C-F662A5B20022}"/>
              </a:ext>
            </a:extLst>
          </p:cNvPr>
          <p:cNvSpPr txBox="1"/>
          <p:nvPr/>
        </p:nvSpPr>
        <p:spPr>
          <a:xfrm>
            <a:off x="669553" y="1665288"/>
            <a:ext cx="5426447" cy="289823"/>
          </a:xfrm>
          <a:prstGeom prst="rect">
            <a:avLst/>
          </a:prstGeom>
        </p:spPr>
        <p:txBody>
          <a:bodyPr vert="horz" wrap="square" lIns="0" tIns="12700" rIns="0" bIns="0" rtlCol="0">
            <a:spAutoFit/>
          </a:bodyPr>
          <a:lstStyle/>
          <a:p>
            <a:pPr marL="12700">
              <a:lnSpc>
                <a:spcPct val="100000"/>
              </a:lnSpc>
              <a:spcBef>
                <a:spcPts val="100"/>
              </a:spcBef>
            </a:pPr>
            <a:r>
              <a:rPr lang="en-US" b="1" spc="-25" dirty="0">
                <a:solidFill>
                  <a:srgbClr val="FF0000"/>
                </a:solidFill>
                <a:cs typeface="Tahoma"/>
              </a:rPr>
              <a:t>Output</a:t>
            </a:r>
            <a:r>
              <a:rPr lang="en-US" spc="-25" dirty="0">
                <a:cs typeface="Tahoma"/>
              </a:rPr>
              <a:t> L</a:t>
            </a:r>
            <a:r>
              <a:rPr lang="en-US" spc="60" dirty="0">
                <a:cs typeface="Tahoma"/>
              </a:rPr>
              <a:t>ove that</a:t>
            </a:r>
            <a:endParaRPr lang="en-US" dirty="0">
              <a:cs typeface="Tahoma"/>
            </a:endParaRPr>
          </a:p>
        </p:txBody>
      </p:sp>
      <p:sp>
        <p:nvSpPr>
          <p:cNvPr id="62" name="object 6">
            <a:extLst>
              <a:ext uri="{FF2B5EF4-FFF2-40B4-BE49-F238E27FC236}">
                <a16:creationId xmlns:a16="http://schemas.microsoft.com/office/drawing/2014/main" id="{8552671F-A3D6-C1F4-2AF3-4D0CCE6C7A5A}"/>
              </a:ext>
            </a:extLst>
          </p:cNvPr>
          <p:cNvSpPr/>
          <p:nvPr/>
        </p:nvSpPr>
        <p:spPr>
          <a:xfrm>
            <a:off x="8444013" y="5134647"/>
            <a:ext cx="102014" cy="468168"/>
          </a:xfrm>
          <a:custGeom>
            <a:avLst/>
            <a:gdLst/>
            <a:ahLst/>
            <a:cxnLst/>
            <a:rect l="l" t="t" r="r" b="b"/>
            <a:pathLst>
              <a:path w="76200" h="411479">
                <a:moveTo>
                  <a:pt x="44450" y="63500"/>
                </a:moveTo>
                <a:lnTo>
                  <a:pt x="31750" y="63500"/>
                </a:lnTo>
                <a:lnTo>
                  <a:pt x="31750" y="410895"/>
                </a:lnTo>
                <a:lnTo>
                  <a:pt x="44450" y="410895"/>
                </a:lnTo>
                <a:lnTo>
                  <a:pt x="44450" y="63500"/>
                </a:lnTo>
                <a:close/>
              </a:path>
              <a:path w="76200" h="411479">
                <a:moveTo>
                  <a:pt x="38100" y="0"/>
                </a:moveTo>
                <a:lnTo>
                  <a:pt x="0" y="76200"/>
                </a:lnTo>
                <a:lnTo>
                  <a:pt x="31750" y="76200"/>
                </a:lnTo>
                <a:lnTo>
                  <a:pt x="31750" y="63500"/>
                </a:lnTo>
                <a:lnTo>
                  <a:pt x="69850" y="63500"/>
                </a:lnTo>
                <a:lnTo>
                  <a:pt x="38100" y="0"/>
                </a:lnTo>
                <a:close/>
              </a:path>
              <a:path w="76200" h="411479">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63" name="object 7">
            <a:extLst>
              <a:ext uri="{FF2B5EF4-FFF2-40B4-BE49-F238E27FC236}">
                <a16:creationId xmlns:a16="http://schemas.microsoft.com/office/drawing/2014/main" id="{6ECA22D5-6AF7-755F-2B58-92D24E7D6E54}"/>
              </a:ext>
            </a:extLst>
          </p:cNvPr>
          <p:cNvSpPr txBox="1"/>
          <p:nvPr/>
        </p:nvSpPr>
        <p:spPr>
          <a:xfrm>
            <a:off x="3476442" y="5602815"/>
            <a:ext cx="858263" cy="320601"/>
          </a:xfrm>
          <a:prstGeom prst="rect">
            <a:avLst/>
          </a:prstGeom>
        </p:spPr>
        <p:txBody>
          <a:bodyPr vert="horz" wrap="square" lIns="0" tIns="12700" rIns="0" bIns="0" rtlCol="0">
            <a:spAutoFit/>
          </a:bodyPr>
          <a:lstStyle/>
          <a:p>
            <a:pPr marL="12700">
              <a:lnSpc>
                <a:spcPct val="100000"/>
              </a:lnSpc>
              <a:spcBef>
                <a:spcPts val="100"/>
              </a:spcBef>
            </a:pPr>
            <a:r>
              <a:rPr sz="2000" b="1" spc="-95" dirty="0">
                <a:solidFill>
                  <a:srgbClr val="FF0000"/>
                </a:solidFill>
                <a:cs typeface="Tahoma"/>
              </a:rPr>
              <a:t>In</a:t>
            </a:r>
            <a:r>
              <a:rPr sz="2000" b="1" spc="-100" dirty="0">
                <a:solidFill>
                  <a:srgbClr val="FF0000"/>
                </a:solidFill>
                <a:cs typeface="Tahoma"/>
              </a:rPr>
              <a:t>p</a:t>
            </a:r>
            <a:r>
              <a:rPr sz="2000" b="1" spc="-65" dirty="0">
                <a:solidFill>
                  <a:srgbClr val="FF0000"/>
                </a:solidFill>
                <a:cs typeface="Tahoma"/>
              </a:rPr>
              <a:t>ut</a:t>
            </a:r>
            <a:r>
              <a:rPr lang="en-US" sz="2000" b="1" spc="-65" dirty="0">
                <a:solidFill>
                  <a:srgbClr val="FF0000"/>
                </a:solidFill>
                <a:cs typeface="Tahoma"/>
              </a:rPr>
              <a:t> :</a:t>
            </a:r>
            <a:endParaRPr sz="2000" dirty="0">
              <a:cs typeface="Tahoma"/>
            </a:endParaRPr>
          </a:p>
        </p:txBody>
      </p:sp>
      <p:sp>
        <p:nvSpPr>
          <p:cNvPr id="64" name="object 8">
            <a:extLst>
              <a:ext uri="{FF2B5EF4-FFF2-40B4-BE49-F238E27FC236}">
                <a16:creationId xmlns:a16="http://schemas.microsoft.com/office/drawing/2014/main" id="{4B5A73D5-6EBA-5053-C9B6-4A030A4F6745}"/>
              </a:ext>
            </a:extLst>
          </p:cNvPr>
          <p:cNvSpPr txBox="1"/>
          <p:nvPr/>
        </p:nvSpPr>
        <p:spPr>
          <a:xfrm>
            <a:off x="658813" y="3243657"/>
            <a:ext cx="2252980" cy="443711"/>
          </a:xfrm>
          <a:prstGeom prst="rect">
            <a:avLst/>
          </a:prstGeom>
        </p:spPr>
        <p:txBody>
          <a:bodyPr vert="horz" wrap="square" lIns="0" tIns="12700" rIns="0" bIns="0" rtlCol="0">
            <a:spAutoFit/>
          </a:bodyPr>
          <a:lstStyle/>
          <a:p>
            <a:pPr marL="12700">
              <a:lnSpc>
                <a:spcPct val="100000"/>
              </a:lnSpc>
              <a:spcBef>
                <a:spcPts val="100"/>
              </a:spcBef>
            </a:pPr>
            <a:r>
              <a:rPr lang="en-US" sz="2800" b="1" spc="30" dirty="0">
                <a:solidFill>
                  <a:srgbClr val="FF0000"/>
                </a:solidFill>
                <a:cs typeface="Tahoma"/>
              </a:rPr>
              <a:t>Inference T = 2</a:t>
            </a:r>
            <a:endParaRPr sz="2800" b="1" dirty="0">
              <a:cs typeface="Tahoma"/>
            </a:endParaRPr>
          </a:p>
        </p:txBody>
      </p:sp>
    </p:spTree>
    <p:extLst>
      <p:ext uri="{BB962C8B-B14F-4D97-AF65-F5344CB8AC3E}">
        <p14:creationId xmlns:p14="http://schemas.microsoft.com/office/powerpoint/2010/main" val="34834250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319EB-1408-8653-F225-22D5F45A45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280DBD-E4CE-A6E7-4722-F90AFFEF8724}"/>
              </a:ext>
            </a:extLst>
          </p:cNvPr>
          <p:cNvSpPr>
            <a:spLocks noGrp="1"/>
          </p:cNvSpPr>
          <p:nvPr>
            <p:ph type="title"/>
          </p:nvPr>
        </p:nvSpPr>
        <p:spPr>
          <a:xfrm>
            <a:off x="669552" y="594335"/>
            <a:ext cx="10863635" cy="639153"/>
          </a:xfrm>
        </p:spPr>
        <p:txBody>
          <a:bodyPr/>
          <a:lstStyle/>
          <a:p>
            <a:r>
              <a:rPr lang="en-US" dirty="0">
                <a:latin typeface="+mn-lt"/>
              </a:rPr>
              <a:t>Next Token Prediction Task</a:t>
            </a:r>
            <a:endParaRPr lang="en-IN" dirty="0">
              <a:latin typeface="+mn-lt"/>
            </a:endParaRPr>
          </a:p>
        </p:txBody>
      </p:sp>
      <p:pic>
        <p:nvPicPr>
          <p:cNvPr id="59" name="object 3">
            <a:extLst>
              <a:ext uri="{FF2B5EF4-FFF2-40B4-BE49-F238E27FC236}">
                <a16:creationId xmlns:a16="http://schemas.microsoft.com/office/drawing/2014/main" id="{088ACAD7-B357-043B-86B9-2BEC08697B36}"/>
              </a:ext>
            </a:extLst>
          </p:cNvPr>
          <p:cNvPicPr/>
          <p:nvPr/>
        </p:nvPicPr>
        <p:blipFill>
          <a:blip r:embed="rId2" cstate="print"/>
          <a:stretch>
            <a:fillRect/>
          </a:stretch>
        </p:blipFill>
        <p:spPr>
          <a:xfrm>
            <a:off x="6960638" y="735717"/>
            <a:ext cx="4320074" cy="4398930"/>
          </a:xfrm>
          <a:prstGeom prst="rect">
            <a:avLst/>
          </a:prstGeom>
        </p:spPr>
      </p:pic>
      <p:sp>
        <p:nvSpPr>
          <p:cNvPr id="60" name="object 4">
            <a:extLst>
              <a:ext uri="{FF2B5EF4-FFF2-40B4-BE49-F238E27FC236}">
                <a16:creationId xmlns:a16="http://schemas.microsoft.com/office/drawing/2014/main" id="{ABBF2123-EA98-72F7-08EE-75C8718F66FF}"/>
              </a:ext>
            </a:extLst>
          </p:cNvPr>
          <p:cNvSpPr txBox="1"/>
          <p:nvPr/>
        </p:nvSpPr>
        <p:spPr>
          <a:xfrm>
            <a:off x="4334705" y="5627346"/>
            <a:ext cx="6487520" cy="289823"/>
          </a:xfrm>
          <a:prstGeom prst="rect">
            <a:avLst/>
          </a:prstGeom>
        </p:spPr>
        <p:txBody>
          <a:bodyPr vert="horz" wrap="square" lIns="0" tIns="12700" rIns="0" bIns="0" rtlCol="0">
            <a:spAutoFit/>
          </a:bodyPr>
          <a:lstStyle/>
          <a:p>
            <a:pPr marL="12700">
              <a:lnSpc>
                <a:spcPct val="100000"/>
              </a:lnSpc>
              <a:spcBef>
                <a:spcPts val="100"/>
              </a:spcBef>
            </a:pPr>
            <a:r>
              <a:rPr lang="en-IN" spc="30" dirty="0">
                <a:cs typeface="Tahoma"/>
              </a:rPr>
              <a:t>[S</a:t>
            </a:r>
            <a:r>
              <a:rPr lang="en-IN" spc="55" dirty="0">
                <a:cs typeface="Tahoma"/>
              </a:rPr>
              <a:t>O</a:t>
            </a:r>
            <a:r>
              <a:rPr lang="en-IN" spc="-70" dirty="0">
                <a:cs typeface="Tahoma"/>
              </a:rPr>
              <a:t>S] Love that</a:t>
            </a:r>
            <a:endParaRPr lang="en-IN" dirty="0">
              <a:cs typeface="Tahoma"/>
            </a:endParaRPr>
          </a:p>
        </p:txBody>
      </p:sp>
      <p:sp>
        <p:nvSpPr>
          <p:cNvPr id="61" name="object 5">
            <a:extLst>
              <a:ext uri="{FF2B5EF4-FFF2-40B4-BE49-F238E27FC236}">
                <a16:creationId xmlns:a16="http://schemas.microsoft.com/office/drawing/2014/main" id="{36D57F14-C864-6EEA-49CC-56EBF33D4D6D}"/>
              </a:ext>
            </a:extLst>
          </p:cNvPr>
          <p:cNvSpPr txBox="1"/>
          <p:nvPr/>
        </p:nvSpPr>
        <p:spPr>
          <a:xfrm>
            <a:off x="669553" y="1665288"/>
            <a:ext cx="5426447" cy="289823"/>
          </a:xfrm>
          <a:prstGeom prst="rect">
            <a:avLst/>
          </a:prstGeom>
        </p:spPr>
        <p:txBody>
          <a:bodyPr vert="horz" wrap="square" lIns="0" tIns="12700" rIns="0" bIns="0" rtlCol="0">
            <a:spAutoFit/>
          </a:bodyPr>
          <a:lstStyle/>
          <a:p>
            <a:pPr marL="12700">
              <a:lnSpc>
                <a:spcPct val="100000"/>
              </a:lnSpc>
              <a:spcBef>
                <a:spcPts val="100"/>
              </a:spcBef>
            </a:pPr>
            <a:r>
              <a:rPr lang="en-US" b="1" spc="-25" dirty="0">
                <a:solidFill>
                  <a:srgbClr val="FF0000"/>
                </a:solidFill>
                <a:cs typeface="Tahoma"/>
              </a:rPr>
              <a:t>Output</a:t>
            </a:r>
            <a:r>
              <a:rPr lang="en-US" spc="-25" dirty="0">
                <a:cs typeface="Tahoma"/>
              </a:rPr>
              <a:t> L</a:t>
            </a:r>
            <a:r>
              <a:rPr lang="en-US" spc="60" dirty="0">
                <a:cs typeface="Tahoma"/>
              </a:rPr>
              <a:t>ove that can</a:t>
            </a:r>
            <a:endParaRPr lang="en-US" dirty="0">
              <a:cs typeface="Tahoma"/>
            </a:endParaRPr>
          </a:p>
        </p:txBody>
      </p:sp>
      <p:sp>
        <p:nvSpPr>
          <p:cNvPr id="62" name="object 6">
            <a:extLst>
              <a:ext uri="{FF2B5EF4-FFF2-40B4-BE49-F238E27FC236}">
                <a16:creationId xmlns:a16="http://schemas.microsoft.com/office/drawing/2014/main" id="{D4A91D01-E34E-35F0-55D3-B64DBB303DD1}"/>
              </a:ext>
            </a:extLst>
          </p:cNvPr>
          <p:cNvSpPr/>
          <p:nvPr/>
        </p:nvSpPr>
        <p:spPr>
          <a:xfrm>
            <a:off x="8444013" y="5134647"/>
            <a:ext cx="102014" cy="468168"/>
          </a:xfrm>
          <a:custGeom>
            <a:avLst/>
            <a:gdLst/>
            <a:ahLst/>
            <a:cxnLst/>
            <a:rect l="l" t="t" r="r" b="b"/>
            <a:pathLst>
              <a:path w="76200" h="411479">
                <a:moveTo>
                  <a:pt x="44450" y="63500"/>
                </a:moveTo>
                <a:lnTo>
                  <a:pt x="31750" y="63500"/>
                </a:lnTo>
                <a:lnTo>
                  <a:pt x="31750" y="410895"/>
                </a:lnTo>
                <a:lnTo>
                  <a:pt x="44450" y="410895"/>
                </a:lnTo>
                <a:lnTo>
                  <a:pt x="44450" y="63500"/>
                </a:lnTo>
                <a:close/>
              </a:path>
              <a:path w="76200" h="411479">
                <a:moveTo>
                  <a:pt x="38100" y="0"/>
                </a:moveTo>
                <a:lnTo>
                  <a:pt x="0" y="76200"/>
                </a:lnTo>
                <a:lnTo>
                  <a:pt x="31750" y="76200"/>
                </a:lnTo>
                <a:lnTo>
                  <a:pt x="31750" y="63500"/>
                </a:lnTo>
                <a:lnTo>
                  <a:pt x="69850" y="63500"/>
                </a:lnTo>
                <a:lnTo>
                  <a:pt x="38100" y="0"/>
                </a:lnTo>
                <a:close/>
              </a:path>
              <a:path w="76200" h="411479">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63" name="object 7">
            <a:extLst>
              <a:ext uri="{FF2B5EF4-FFF2-40B4-BE49-F238E27FC236}">
                <a16:creationId xmlns:a16="http://schemas.microsoft.com/office/drawing/2014/main" id="{328467CE-717C-FC41-17F5-C83EC44F191C}"/>
              </a:ext>
            </a:extLst>
          </p:cNvPr>
          <p:cNvSpPr txBox="1"/>
          <p:nvPr/>
        </p:nvSpPr>
        <p:spPr>
          <a:xfrm>
            <a:off x="3476442" y="5602815"/>
            <a:ext cx="858263" cy="320601"/>
          </a:xfrm>
          <a:prstGeom prst="rect">
            <a:avLst/>
          </a:prstGeom>
        </p:spPr>
        <p:txBody>
          <a:bodyPr vert="horz" wrap="square" lIns="0" tIns="12700" rIns="0" bIns="0" rtlCol="0">
            <a:spAutoFit/>
          </a:bodyPr>
          <a:lstStyle/>
          <a:p>
            <a:pPr marL="12700">
              <a:lnSpc>
                <a:spcPct val="100000"/>
              </a:lnSpc>
              <a:spcBef>
                <a:spcPts val="100"/>
              </a:spcBef>
            </a:pPr>
            <a:r>
              <a:rPr sz="2000" b="1" spc="-95" dirty="0">
                <a:solidFill>
                  <a:srgbClr val="FF0000"/>
                </a:solidFill>
                <a:cs typeface="Tahoma"/>
              </a:rPr>
              <a:t>In</a:t>
            </a:r>
            <a:r>
              <a:rPr sz="2000" b="1" spc="-100" dirty="0">
                <a:solidFill>
                  <a:srgbClr val="FF0000"/>
                </a:solidFill>
                <a:cs typeface="Tahoma"/>
              </a:rPr>
              <a:t>p</a:t>
            </a:r>
            <a:r>
              <a:rPr sz="2000" b="1" spc="-65" dirty="0">
                <a:solidFill>
                  <a:srgbClr val="FF0000"/>
                </a:solidFill>
                <a:cs typeface="Tahoma"/>
              </a:rPr>
              <a:t>ut</a:t>
            </a:r>
            <a:r>
              <a:rPr lang="en-US" sz="2000" b="1" spc="-65" dirty="0">
                <a:solidFill>
                  <a:srgbClr val="FF0000"/>
                </a:solidFill>
                <a:cs typeface="Tahoma"/>
              </a:rPr>
              <a:t> :</a:t>
            </a:r>
            <a:endParaRPr sz="2000" dirty="0">
              <a:cs typeface="Tahoma"/>
            </a:endParaRPr>
          </a:p>
        </p:txBody>
      </p:sp>
      <p:sp>
        <p:nvSpPr>
          <p:cNvPr id="64" name="object 8">
            <a:extLst>
              <a:ext uri="{FF2B5EF4-FFF2-40B4-BE49-F238E27FC236}">
                <a16:creationId xmlns:a16="http://schemas.microsoft.com/office/drawing/2014/main" id="{13123076-63CB-4072-FEEF-D80EE8C555DC}"/>
              </a:ext>
            </a:extLst>
          </p:cNvPr>
          <p:cNvSpPr txBox="1"/>
          <p:nvPr/>
        </p:nvSpPr>
        <p:spPr>
          <a:xfrm>
            <a:off x="658813" y="3243657"/>
            <a:ext cx="2252980" cy="443711"/>
          </a:xfrm>
          <a:prstGeom prst="rect">
            <a:avLst/>
          </a:prstGeom>
        </p:spPr>
        <p:txBody>
          <a:bodyPr vert="horz" wrap="square" lIns="0" tIns="12700" rIns="0" bIns="0" rtlCol="0">
            <a:spAutoFit/>
          </a:bodyPr>
          <a:lstStyle/>
          <a:p>
            <a:pPr marL="12700">
              <a:lnSpc>
                <a:spcPct val="100000"/>
              </a:lnSpc>
              <a:spcBef>
                <a:spcPts val="100"/>
              </a:spcBef>
            </a:pPr>
            <a:r>
              <a:rPr lang="en-US" sz="2800" b="1" spc="30" dirty="0">
                <a:solidFill>
                  <a:srgbClr val="FF0000"/>
                </a:solidFill>
                <a:cs typeface="Tahoma"/>
              </a:rPr>
              <a:t>Inference T = 3</a:t>
            </a:r>
            <a:endParaRPr sz="2800" b="1" dirty="0">
              <a:cs typeface="Tahoma"/>
            </a:endParaRPr>
          </a:p>
        </p:txBody>
      </p:sp>
    </p:spTree>
    <p:extLst>
      <p:ext uri="{BB962C8B-B14F-4D97-AF65-F5344CB8AC3E}">
        <p14:creationId xmlns:p14="http://schemas.microsoft.com/office/powerpoint/2010/main" val="3979691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0DA50-4742-F533-BD45-8DDA65C54E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76BDDE-DE66-72A2-EF1C-B5F05F6DC7A7}"/>
              </a:ext>
            </a:extLst>
          </p:cNvPr>
          <p:cNvSpPr>
            <a:spLocks noGrp="1"/>
          </p:cNvSpPr>
          <p:nvPr>
            <p:ph type="title"/>
          </p:nvPr>
        </p:nvSpPr>
        <p:spPr>
          <a:xfrm>
            <a:off x="669552" y="594335"/>
            <a:ext cx="10863635" cy="639153"/>
          </a:xfrm>
        </p:spPr>
        <p:txBody>
          <a:bodyPr/>
          <a:lstStyle/>
          <a:p>
            <a:r>
              <a:rPr lang="en-US" dirty="0">
                <a:latin typeface="+mn-lt"/>
              </a:rPr>
              <a:t>Next Token Prediction Task</a:t>
            </a:r>
            <a:endParaRPr lang="en-IN" dirty="0">
              <a:latin typeface="+mn-lt"/>
            </a:endParaRPr>
          </a:p>
        </p:txBody>
      </p:sp>
      <p:pic>
        <p:nvPicPr>
          <p:cNvPr id="59" name="object 3">
            <a:extLst>
              <a:ext uri="{FF2B5EF4-FFF2-40B4-BE49-F238E27FC236}">
                <a16:creationId xmlns:a16="http://schemas.microsoft.com/office/drawing/2014/main" id="{F96C211E-560E-0235-6054-99BBE13C3499}"/>
              </a:ext>
            </a:extLst>
          </p:cNvPr>
          <p:cNvPicPr/>
          <p:nvPr/>
        </p:nvPicPr>
        <p:blipFill>
          <a:blip r:embed="rId2" cstate="print"/>
          <a:stretch>
            <a:fillRect/>
          </a:stretch>
        </p:blipFill>
        <p:spPr>
          <a:xfrm>
            <a:off x="6960638" y="735717"/>
            <a:ext cx="4320074" cy="4398930"/>
          </a:xfrm>
          <a:prstGeom prst="rect">
            <a:avLst/>
          </a:prstGeom>
        </p:spPr>
      </p:pic>
      <p:sp>
        <p:nvSpPr>
          <p:cNvPr id="60" name="object 4">
            <a:extLst>
              <a:ext uri="{FF2B5EF4-FFF2-40B4-BE49-F238E27FC236}">
                <a16:creationId xmlns:a16="http://schemas.microsoft.com/office/drawing/2014/main" id="{F8FD199D-5E0C-DA78-5BFB-6FA8B9E22B8D}"/>
              </a:ext>
            </a:extLst>
          </p:cNvPr>
          <p:cNvSpPr txBox="1"/>
          <p:nvPr/>
        </p:nvSpPr>
        <p:spPr>
          <a:xfrm>
            <a:off x="4334705" y="5627346"/>
            <a:ext cx="6487520" cy="289823"/>
          </a:xfrm>
          <a:prstGeom prst="rect">
            <a:avLst/>
          </a:prstGeom>
        </p:spPr>
        <p:txBody>
          <a:bodyPr vert="horz" wrap="square" lIns="0" tIns="12700" rIns="0" bIns="0" rtlCol="0">
            <a:spAutoFit/>
          </a:bodyPr>
          <a:lstStyle/>
          <a:p>
            <a:pPr marL="12700">
              <a:lnSpc>
                <a:spcPct val="100000"/>
              </a:lnSpc>
              <a:spcBef>
                <a:spcPts val="100"/>
              </a:spcBef>
            </a:pPr>
            <a:r>
              <a:rPr lang="en-IN" spc="30" dirty="0">
                <a:cs typeface="Tahoma"/>
              </a:rPr>
              <a:t>[S</a:t>
            </a:r>
            <a:r>
              <a:rPr lang="en-IN" spc="55" dirty="0">
                <a:cs typeface="Tahoma"/>
              </a:rPr>
              <a:t>O</a:t>
            </a:r>
            <a:r>
              <a:rPr lang="en-IN" spc="-70" dirty="0">
                <a:cs typeface="Tahoma"/>
              </a:rPr>
              <a:t>S] Love that can</a:t>
            </a:r>
            <a:endParaRPr lang="en-IN" dirty="0">
              <a:cs typeface="Tahoma"/>
            </a:endParaRPr>
          </a:p>
        </p:txBody>
      </p:sp>
      <p:sp>
        <p:nvSpPr>
          <p:cNvPr id="61" name="object 5">
            <a:extLst>
              <a:ext uri="{FF2B5EF4-FFF2-40B4-BE49-F238E27FC236}">
                <a16:creationId xmlns:a16="http://schemas.microsoft.com/office/drawing/2014/main" id="{48AA7CBE-D4B1-C204-85B5-635A4E801B56}"/>
              </a:ext>
            </a:extLst>
          </p:cNvPr>
          <p:cNvSpPr txBox="1"/>
          <p:nvPr/>
        </p:nvSpPr>
        <p:spPr>
          <a:xfrm>
            <a:off x="669553" y="1665288"/>
            <a:ext cx="5426447" cy="289823"/>
          </a:xfrm>
          <a:prstGeom prst="rect">
            <a:avLst/>
          </a:prstGeom>
        </p:spPr>
        <p:txBody>
          <a:bodyPr vert="horz" wrap="square" lIns="0" tIns="12700" rIns="0" bIns="0" rtlCol="0">
            <a:spAutoFit/>
          </a:bodyPr>
          <a:lstStyle/>
          <a:p>
            <a:pPr marL="12700">
              <a:lnSpc>
                <a:spcPct val="100000"/>
              </a:lnSpc>
              <a:spcBef>
                <a:spcPts val="100"/>
              </a:spcBef>
            </a:pPr>
            <a:r>
              <a:rPr lang="en-US" b="1" spc="-25" dirty="0">
                <a:solidFill>
                  <a:srgbClr val="FF0000"/>
                </a:solidFill>
                <a:cs typeface="Tahoma"/>
              </a:rPr>
              <a:t>Output</a:t>
            </a:r>
            <a:r>
              <a:rPr lang="en-US" spc="-25" dirty="0">
                <a:cs typeface="Tahoma"/>
              </a:rPr>
              <a:t> L</a:t>
            </a:r>
            <a:r>
              <a:rPr lang="en-US" spc="60" dirty="0">
                <a:cs typeface="Tahoma"/>
              </a:rPr>
              <a:t>ove that can quickly</a:t>
            </a:r>
            <a:endParaRPr lang="en-US" dirty="0">
              <a:cs typeface="Tahoma"/>
            </a:endParaRPr>
          </a:p>
        </p:txBody>
      </p:sp>
      <p:sp>
        <p:nvSpPr>
          <p:cNvPr id="62" name="object 6">
            <a:extLst>
              <a:ext uri="{FF2B5EF4-FFF2-40B4-BE49-F238E27FC236}">
                <a16:creationId xmlns:a16="http://schemas.microsoft.com/office/drawing/2014/main" id="{36862E48-1F28-D1B6-D49A-78F1D445C1D9}"/>
              </a:ext>
            </a:extLst>
          </p:cNvPr>
          <p:cNvSpPr/>
          <p:nvPr/>
        </p:nvSpPr>
        <p:spPr>
          <a:xfrm>
            <a:off x="8444013" y="5134647"/>
            <a:ext cx="102014" cy="468168"/>
          </a:xfrm>
          <a:custGeom>
            <a:avLst/>
            <a:gdLst/>
            <a:ahLst/>
            <a:cxnLst/>
            <a:rect l="l" t="t" r="r" b="b"/>
            <a:pathLst>
              <a:path w="76200" h="411479">
                <a:moveTo>
                  <a:pt x="44450" y="63500"/>
                </a:moveTo>
                <a:lnTo>
                  <a:pt x="31750" y="63500"/>
                </a:lnTo>
                <a:lnTo>
                  <a:pt x="31750" y="410895"/>
                </a:lnTo>
                <a:lnTo>
                  <a:pt x="44450" y="410895"/>
                </a:lnTo>
                <a:lnTo>
                  <a:pt x="44450" y="63500"/>
                </a:lnTo>
                <a:close/>
              </a:path>
              <a:path w="76200" h="411479">
                <a:moveTo>
                  <a:pt x="38100" y="0"/>
                </a:moveTo>
                <a:lnTo>
                  <a:pt x="0" y="76200"/>
                </a:lnTo>
                <a:lnTo>
                  <a:pt x="31750" y="76200"/>
                </a:lnTo>
                <a:lnTo>
                  <a:pt x="31750" y="63500"/>
                </a:lnTo>
                <a:lnTo>
                  <a:pt x="69850" y="63500"/>
                </a:lnTo>
                <a:lnTo>
                  <a:pt x="38100" y="0"/>
                </a:lnTo>
                <a:close/>
              </a:path>
              <a:path w="76200" h="411479">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63" name="object 7">
            <a:extLst>
              <a:ext uri="{FF2B5EF4-FFF2-40B4-BE49-F238E27FC236}">
                <a16:creationId xmlns:a16="http://schemas.microsoft.com/office/drawing/2014/main" id="{BC1D97B2-D267-D04A-190D-8EF5C35151BA}"/>
              </a:ext>
            </a:extLst>
          </p:cNvPr>
          <p:cNvSpPr txBox="1"/>
          <p:nvPr/>
        </p:nvSpPr>
        <p:spPr>
          <a:xfrm>
            <a:off x="3476442" y="5602815"/>
            <a:ext cx="858263" cy="320601"/>
          </a:xfrm>
          <a:prstGeom prst="rect">
            <a:avLst/>
          </a:prstGeom>
        </p:spPr>
        <p:txBody>
          <a:bodyPr vert="horz" wrap="square" lIns="0" tIns="12700" rIns="0" bIns="0" rtlCol="0">
            <a:spAutoFit/>
          </a:bodyPr>
          <a:lstStyle/>
          <a:p>
            <a:pPr marL="12700">
              <a:lnSpc>
                <a:spcPct val="100000"/>
              </a:lnSpc>
              <a:spcBef>
                <a:spcPts val="100"/>
              </a:spcBef>
            </a:pPr>
            <a:r>
              <a:rPr sz="2000" b="1" spc="-95" dirty="0">
                <a:solidFill>
                  <a:srgbClr val="FF0000"/>
                </a:solidFill>
                <a:cs typeface="Tahoma"/>
              </a:rPr>
              <a:t>In</a:t>
            </a:r>
            <a:r>
              <a:rPr sz="2000" b="1" spc="-100" dirty="0">
                <a:solidFill>
                  <a:srgbClr val="FF0000"/>
                </a:solidFill>
                <a:cs typeface="Tahoma"/>
              </a:rPr>
              <a:t>p</a:t>
            </a:r>
            <a:r>
              <a:rPr sz="2000" b="1" spc="-65" dirty="0">
                <a:solidFill>
                  <a:srgbClr val="FF0000"/>
                </a:solidFill>
                <a:cs typeface="Tahoma"/>
              </a:rPr>
              <a:t>ut</a:t>
            </a:r>
            <a:r>
              <a:rPr lang="en-US" sz="2000" b="1" spc="-65" dirty="0">
                <a:solidFill>
                  <a:srgbClr val="FF0000"/>
                </a:solidFill>
                <a:cs typeface="Tahoma"/>
              </a:rPr>
              <a:t> :</a:t>
            </a:r>
            <a:endParaRPr sz="2000" dirty="0">
              <a:cs typeface="Tahoma"/>
            </a:endParaRPr>
          </a:p>
        </p:txBody>
      </p:sp>
      <p:sp>
        <p:nvSpPr>
          <p:cNvPr id="64" name="object 8">
            <a:extLst>
              <a:ext uri="{FF2B5EF4-FFF2-40B4-BE49-F238E27FC236}">
                <a16:creationId xmlns:a16="http://schemas.microsoft.com/office/drawing/2014/main" id="{F97930EE-DD6F-21B3-8A56-6278BC58E466}"/>
              </a:ext>
            </a:extLst>
          </p:cNvPr>
          <p:cNvSpPr txBox="1"/>
          <p:nvPr/>
        </p:nvSpPr>
        <p:spPr>
          <a:xfrm>
            <a:off x="658813" y="3243657"/>
            <a:ext cx="2252980" cy="443711"/>
          </a:xfrm>
          <a:prstGeom prst="rect">
            <a:avLst/>
          </a:prstGeom>
        </p:spPr>
        <p:txBody>
          <a:bodyPr vert="horz" wrap="square" lIns="0" tIns="12700" rIns="0" bIns="0" rtlCol="0">
            <a:spAutoFit/>
          </a:bodyPr>
          <a:lstStyle/>
          <a:p>
            <a:pPr marL="12700">
              <a:lnSpc>
                <a:spcPct val="100000"/>
              </a:lnSpc>
              <a:spcBef>
                <a:spcPts val="100"/>
              </a:spcBef>
            </a:pPr>
            <a:r>
              <a:rPr lang="en-US" sz="2800" b="1" spc="30" dirty="0">
                <a:solidFill>
                  <a:srgbClr val="FF0000"/>
                </a:solidFill>
                <a:cs typeface="Tahoma"/>
              </a:rPr>
              <a:t>Inference T = 4</a:t>
            </a:r>
            <a:endParaRPr sz="2800" b="1" dirty="0">
              <a:cs typeface="Tahoma"/>
            </a:endParaRPr>
          </a:p>
        </p:txBody>
      </p:sp>
    </p:spTree>
    <p:extLst>
      <p:ext uri="{BB962C8B-B14F-4D97-AF65-F5344CB8AC3E}">
        <p14:creationId xmlns:p14="http://schemas.microsoft.com/office/powerpoint/2010/main" val="12898932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2421-3E79-4DA9-055D-2C2E9286B2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7BC348-080A-2402-D120-8B258C8F4690}"/>
              </a:ext>
            </a:extLst>
          </p:cNvPr>
          <p:cNvSpPr>
            <a:spLocks noGrp="1"/>
          </p:cNvSpPr>
          <p:nvPr>
            <p:ph type="title"/>
          </p:nvPr>
        </p:nvSpPr>
        <p:spPr>
          <a:xfrm>
            <a:off x="669552" y="594335"/>
            <a:ext cx="10863635" cy="639153"/>
          </a:xfrm>
        </p:spPr>
        <p:txBody>
          <a:bodyPr/>
          <a:lstStyle/>
          <a:p>
            <a:r>
              <a:rPr lang="en-US" dirty="0">
                <a:latin typeface="+mn-lt"/>
              </a:rPr>
              <a:t>Next Token Prediction Task</a:t>
            </a:r>
            <a:endParaRPr lang="en-IN" dirty="0">
              <a:latin typeface="+mn-lt"/>
            </a:endParaRPr>
          </a:p>
        </p:txBody>
      </p:sp>
      <p:pic>
        <p:nvPicPr>
          <p:cNvPr id="59" name="object 3">
            <a:extLst>
              <a:ext uri="{FF2B5EF4-FFF2-40B4-BE49-F238E27FC236}">
                <a16:creationId xmlns:a16="http://schemas.microsoft.com/office/drawing/2014/main" id="{5A9EC2A5-EE33-7A75-2CA9-5FD0E9EB8DAA}"/>
              </a:ext>
            </a:extLst>
          </p:cNvPr>
          <p:cNvPicPr/>
          <p:nvPr/>
        </p:nvPicPr>
        <p:blipFill>
          <a:blip r:embed="rId2" cstate="print"/>
          <a:stretch>
            <a:fillRect/>
          </a:stretch>
        </p:blipFill>
        <p:spPr>
          <a:xfrm>
            <a:off x="6960638" y="735717"/>
            <a:ext cx="4320074" cy="4398930"/>
          </a:xfrm>
          <a:prstGeom prst="rect">
            <a:avLst/>
          </a:prstGeom>
        </p:spPr>
      </p:pic>
      <p:sp>
        <p:nvSpPr>
          <p:cNvPr id="60" name="object 4">
            <a:extLst>
              <a:ext uri="{FF2B5EF4-FFF2-40B4-BE49-F238E27FC236}">
                <a16:creationId xmlns:a16="http://schemas.microsoft.com/office/drawing/2014/main" id="{2CDAAD19-F9D6-09F4-5B12-F292D94C1448}"/>
              </a:ext>
            </a:extLst>
          </p:cNvPr>
          <p:cNvSpPr txBox="1"/>
          <p:nvPr/>
        </p:nvSpPr>
        <p:spPr>
          <a:xfrm>
            <a:off x="4334705" y="5627346"/>
            <a:ext cx="6487520" cy="289823"/>
          </a:xfrm>
          <a:prstGeom prst="rect">
            <a:avLst/>
          </a:prstGeom>
        </p:spPr>
        <p:txBody>
          <a:bodyPr vert="horz" wrap="square" lIns="0" tIns="12700" rIns="0" bIns="0" rtlCol="0">
            <a:spAutoFit/>
          </a:bodyPr>
          <a:lstStyle/>
          <a:p>
            <a:pPr marL="12700">
              <a:lnSpc>
                <a:spcPct val="100000"/>
              </a:lnSpc>
              <a:spcBef>
                <a:spcPts val="100"/>
              </a:spcBef>
            </a:pPr>
            <a:r>
              <a:rPr lang="en-IN" spc="30" dirty="0">
                <a:cs typeface="Tahoma"/>
              </a:rPr>
              <a:t>[S</a:t>
            </a:r>
            <a:r>
              <a:rPr lang="en-IN" spc="55" dirty="0">
                <a:cs typeface="Tahoma"/>
              </a:rPr>
              <a:t>O</a:t>
            </a:r>
            <a:r>
              <a:rPr lang="en-IN" spc="-70" dirty="0">
                <a:cs typeface="Tahoma"/>
              </a:rPr>
              <a:t>S] Love that can quickly</a:t>
            </a:r>
            <a:endParaRPr lang="en-IN" dirty="0">
              <a:cs typeface="Tahoma"/>
            </a:endParaRPr>
          </a:p>
        </p:txBody>
      </p:sp>
      <p:sp>
        <p:nvSpPr>
          <p:cNvPr id="61" name="object 5">
            <a:extLst>
              <a:ext uri="{FF2B5EF4-FFF2-40B4-BE49-F238E27FC236}">
                <a16:creationId xmlns:a16="http://schemas.microsoft.com/office/drawing/2014/main" id="{91BF1E04-8764-E598-73D3-8C20BF4FEDB7}"/>
              </a:ext>
            </a:extLst>
          </p:cNvPr>
          <p:cNvSpPr txBox="1"/>
          <p:nvPr/>
        </p:nvSpPr>
        <p:spPr>
          <a:xfrm>
            <a:off x="669553" y="1665288"/>
            <a:ext cx="5426447" cy="289823"/>
          </a:xfrm>
          <a:prstGeom prst="rect">
            <a:avLst/>
          </a:prstGeom>
        </p:spPr>
        <p:txBody>
          <a:bodyPr vert="horz" wrap="square" lIns="0" tIns="12700" rIns="0" bIns="0" rtlCol="0">
            <a:spAutoFit/>
          </a:bodyPr>
          <a:lstStyle/>
          <a:p>
            <a:pPr marL="12700">
              <a:lnSpc>
                <a:spcPct val="100000"/>
              </a:lnSpc>
              <a:spcBef>
                <a:spcPts val="100"/>
              </a:spcBef>
            </a:pPr>
            <a:r>
              <a:rPr lang="en-US" b="1" spc="-25" dirty="0">
                <a:solidFill>
                  <a:srgbClr val="FF0000"/>
                </a:solidFill>
                <a:cs typeface="Tahoma"/>
              </a:rPr>
              <a:t>Output</a:t>
            </a:r>
            <a:r>
              <a:rPr lang="en-US" spc="-25" dirty="0">
                <a:cs typeface="Tahoma"/>
              </a:rPr>
              <a:t> L</a:t>
            </a:r>
            <a:r>
              <a:rPr lang="en-US" spc="60" dirty="0">
                <a:cs typeface="Tahoma"/>
              </a:rPr>
              <a:t>ove that can quickly seize</a:t>
            </a:r>
            <a:endParaRPr lang="en-US" dirty="0">
              <a:cs typeface="Tahoma"/>
            </a:endParaRPr>
          </a:p>
        </p:txBody>
      </p:sp>
      <p:sp>
        <p:nvSpPr>
          <p:cNvPr id="62" name="object 6">
            <a:extLst>
              <a:ext uri="{FF2B5EF4-FFF2-40B4-BE49-F238E27FC236}">
                <a16:creationId xmlns:a16="http://schemas.microsoft.com/office/drawing/2014/main" id="{7801AEC7-6F43-4E80-417C-BA7FABA143CB}"/>
              </a:ext>
            </a:extLst>
          </p:cNvPr>
          <p:cNvSpPr/>
          <p:nvPr/>
        </p:nvSpPr>
        <p:spPr>
          <a:xfrm>
            <a:off x="8444013" y="5134647"/>
            <a:ext cx="102014" cy="468168"/>
          </a:xfrm>
          <a:custGeom>
            <a:avLst/>
            <a:gdLst/>
            <a:ahLst/>
            <a:cxnLst/>
            <a:rect l="l" t="t" r="r" b="b"/>
            <a:pathLst>
              <a:path w="76200" h="411479">
                <a:moveTo>
                  <a:pt x="44450" y="63500"/>
                </a:moveTo>
                <a:lnTo>
                  <a:pt x="31750" y="63500"/>
                </a:lnTo>
                <a:lnTo>
                  <a:pt x="31750" y="410895"/>
                </a:lnTo>
                <a:lnTo>
                  <a:pt x="44450" y="410895"/>
                </a:lnTo>
                <a:lnTo>
                  <a:pt x="44450" y="63500"/>
                </a:lnTo>
                <a:close/>
              </a:path>
              <a:path w="76200" h="411479">
                <a:moveTo>
                  <a:pt x="38100" y="0"/>
                </a:moveTo>
                <a:lnTo>
                  <a:pt x="0" y="76200"/>
                </a:lnTo>
                <a:lnTo>
                  <a:pt x="31750" y="76200"/>
                </a:lnTo>
                <a:lnTo>
                  <a:pt x="31750" y="63500"/>
                </a:lnTo>
                <a:lnTo>
                  <a:pt x="69850" y="63500"/>
                </a:lnTo>
                <a:lnTo>
                  <a:pt x="38100" y="0"/>
                </a:lnTo>
                <a:close/>
              </a:path>
              <a:path w="76200" h="411479">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63" name="object 7">
            <a:extLst>
              <a:ext uri="{FF2B5EF4-FFF2-40B4-BE49-F238E27FC236}">
                <a16:creationId xmlns:a16="http://schemas.microsoft.com/office/drawing/2014/main" id="{BD4765AD-47CA-E0B4-A55C-EBD38221DA62}"/>
              </a:ext>
            </a:extLst>
          </p:cNvPr>
          <p:cNvSpPr txBox="1"/>
          <p:nvPr/>
        </p:nvSpPr>
        <p:spPr>
          <a:xfrm>
            <a:off x="3476442" y="5602815"/>
            <a:ext cx="858263" cy="320601"/>
          </a:xfrm>
          <a:prstGeom prst="rect">
            <a:avLst/>
          </a:prstGeom>
        </p:spPr>
        <p:txBody>
          <a:bodyPr vert="horz" wrap="square" lIns="0" tIns="12700" rIns="0" bIns="0" rtlCol="0">
            <a:spAutoFit/>
          </a:bodyPr>
          <a:lstStyle/>
          <a:p>
            <a:pPr marL="12700">
              <a:lnSpc>
                <a:spcPct val="100000"/>
              </a:lnSpc>
              <a:spcBef>
                <a:spcPts val="100"/>
              </a:spcBef>
            </a:pPr>
            <a:r>
              <a:rPr sz="2000" b="1" spc="-95" dirty="0">
                <a:solidFill>
                  <a:srgbClr val="FF0000"/>
                </a:solidFill>
                <a:cs typeface="Tahoma"/>
              </a:rPr>
              <a:t>In</a:t>
            </a:r>
            <a:r>
              <a:rPr sz="2000" b="1" spc="-100" dirty="0">
                <a:solidFill>
                  <a:srgbClr val="FF0000"/>
                </a:solidFill>
                <a:cs typeface="Tahoma"/>
              </a:rPr>
              <a:t>p</a:t>
            </a:r>
            <a:r>
              <a:rPr sz="2000" b="1" spc="-65" dirty="0">
                <a:solidFill>
                  <a:srgbClr val="FF0000"/>
                </a:solidFill>
                <a:cs typeface="Tahoma"/>
              </a:rPr>
              <a:t>ut</a:t>
            </a:r>
            <a:r>
              <a:rPr lang="en-US" sz="2000" b="1" spc="-65" dirty="0">
                <a:solidFill>
                  <a:srgbClr val="FF0000"/>
                </a:solidFill>
                <a:cs typeface="Tahoma"/>
              </a:rPr>
              <a:t> :</a:t>
            </a:r>
            <a:endParaRPr sz="2000" dirty="0">
              <a:cs typeface="Tahoma"/>
            </a:endParaRPr>
          </a:p>
        </p:txBody>
      </p:sp>
      <p:sp>
        <p:nvSpPr>
          <p:cNvPr id="64" name="object 8">
            <a:extLst>
              <a:ext uri="{FF2B5EF4-FFF2-40B4-BE49-F238E27FC236}">
                <a16:creationId xmlns:a16="http://schemas.microsoft.com/office/drawing/2014/main" id="{0BEBDC12-B8A4-FD81-07A5-57CB7132899A}"/>
              </a:ext>
            </a:extLst>
          </p:cNvPr>
          <p:cNvSpPr txBox="1"/>
          <p:nvPr/>
        </p:nvSpPr>
        <p:spPr>
          <a:xfrm>
            <a:off x="658813" y="3243657"/>
            <a:ext cx="2252980" cy="443711"/>
          </a:xfrm>
          <a:prstGeom prst="rect">
            <a:avLst/>
          </a:prstGeom>
        </p:spPr>
        <p:txBody>
          <a:bodyPr vert="horz" wrap="square" lIns="0" tIns="12700" rIns="0" bIns="0" rtlCol="0">
            <a:spAutoFit/>
          </a:bodyPr>
          <a:lstStyle/>
          <a:p>
            <a:pPr marL="12700">
              <a:lnSpc>
                <a:spcPct val="100000"/>
              </a:lnSpc>
              <a:spcBef>
                <a:spcPts val="100"/>
              </a:spcBef>
            </a:pPr>
            <a:r>
              <a:rPr lang="en-US" sz="2800" b="1" spc="30" dirty="0">
                <a:solidFill>
                  <a:srgbClr val="FF0000"/>
                </a:solidFill>
                <a:cs typeface="Tahoma"/>
              </a:rPr>
              <a:t>Inference T = 5</a:t>
            </a:r>
            <a:endParaRPr sz="2800" b="1" dirty="0">
              <a:cs typeface="Tahoma"/>
            </a:endParaRPr>
          </a:p>
        </p:txBody>
      </p:sp>
    </p:spTree>
    <p:extLst>
      <p:ext uri="{BB962C8B-B14F-4D97-AF65-F5344CB8AC3E}">
        <p14:creationId xmlns:p14="http://schemas.microsoft.com/office/powerpoint/2010/main" val="27762660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54E79-DF29-5423-A9D9-B4F7069A86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718B42-CB02-77EA-B046-317AF8477BA2}"/>
              </a:ext>
            </a:extLst>
          </p:cNvPr>
          <p:cNvSpPr>
            <a:spLocks noGrp="1"/>
          </p:cNvSpPr>
          <p:nvPr>
            <p:ph type="title"/>
          </p:nvPr>
        </p:nvSpPr>
        <p:spPr>
          <a:xfrm>
            <a:off x="669552" y="594335"/>
            <a:ext cx="10863635" cy="639153"/>
          </a:xfrm>
        </p:spPr>
        <p:txBody>
          <a:bodyPr/>
          <a:lstStyle/>
          <a:p>
            <a:r>
              <a:rPr lang="en-US" dirty="0">
                <a:latin typeface="+mn-lt"/>
              </a:rPr>
              <a:t>Next Token Prediction Task</a:t>
            </a:r>
            <a:endParaRPr lang="en-IN" dirty="0">
              <a:latin typeface="+mn-lt"/>
            </a:endParaRPr>
          </a:p>
        </p:txBody>
      </p:sp>
      <p:pic>
        <p:nvPicPr>
          <p:cNvPr id="59" name="object 3">
            <a:extLst>
              <a:ext uri="{FF2B5EF4-FFF2-40B4-BE49-F238E27FC236}">
                <a16:creationId xmlns:a16="http://schemas.microsoft.com/office/drawing/2014/main" id="{5BD1E301-605B-E187-9E09-A374E5D6B07D}"/>
              </a:ext>
            </a:extLst>
          </p:cNvPr>
          <p:cNvPicPr/>
          <p:nvPr/>
        </p:nvPicPr>
        <p:blipFill>
          <a:blip r:embed="rId2" cstate="print"/>
          <a:stretch>
            <a:fillRect/>
          </a:stretch>
        </p:blipFill>
        <p:spPr>
          <a:xfrm>
            <a:off x="6960638" y="735717"/>
            <a:ext cx="4320074" cy="4398930"/>
          </a:xfrm>
          <a:prstGeom prst="rect">
            <a:avLst/>
          </a:prstGeom>
        </p:spPr>
      </p:pic>
      <p:sp>
        <p:nvSpPr>
          <p:cNvPr id="60" name="object 4">
            <a:extLst>
              <a:ext uri="{FF2B5EF4-FFF2-40B4-BE49-F238E27FC236}">
                <a16:creationId xmlns:a16="http://schemas.microsoft.com/office/drawing/2014/main" id="{22EAD646-F25B-5F35-95A1-3161FC378188}"/>
              </a:ext>
            </a:extLst>
          </p:cNvPr>
          <p:cNvSpPr txBox="1"/>
          <p:nvPr/>
        </p:nvSpPr>
        <p:spPr>
          <a:xfrm>
            <a:off x="4334705" y="5627346"/>
            <a:ext cx="6487520" cy="289823"/>
          </a:xfrm>
          <a:prstGeom prst="rect">
            <a:avLst/>
          </a:prstGeom>
        </p:spPr>
        <p:txBody>
          <a:bodyPr vert="horz" wrap="square" lIns="0" tIns="12700" rIns="0" bIns="0" rtlCol="0">
            <a:spAutoFit/>
          </a:bodyPr>
          <a:lstStyle/>
          <a:p>
            <a:pPr marL="12700">
              <a:lnSpc>
                <a:spcPct val="100000"/>
              </a:lnSpc>
              <a:spcBef>
                <a:spcPts val="100"/>
              </a:spcBef>
            </a:pPr>
            <a:r>
              <a:rPr lang="en-IN" spc="30" dirty="0">
                <a:cs typeface="Tahoma"/>
              </a:rPr>
              <a:t>[S</a:t>
            </a:r>
            <a:r>
              <a:rPr lang="en-IN" spc="55" dirty="0">
                <a:cs typeface="Tahoma"/>
              </a:rPr>
              <a:t>O</a:t>
            </a:r>
            <a:r>
              <a:rPr lang="en-IN" spc="-70" dirty="0">
                <a:cs typeface="Tahoma"/>
              </a:rPr>
              <a:t>S] Love that can quickly seize</a:t>
            </a:r>
            <a:endParaRPr lang="en-IN" dirty="0">
              <a:cs typeface="Tahoma"/>
            </a:endParaRPr>
          </a:p>
        </p:txBody>
      </p:sp>
      <p:sp>
        <p:nvSpPr>
          <p:cNvPr id="61" name="object 5">
            <a:extLst>
              <a:ext uri="{FF2B5EF4-FFF2-40B4-BE49-F238E27FC236}">
                <a16:creationId xmlns:a16="http://schemas.microsoft.com/office/drawing/2014/main" id="{4E6A7E2E-9ABE-B514-DBAA-BD7A6EA620B9}"/>
              </a:ext>
            </a:extLst>
          </p:cNvPr>
          <p:cNvSpPr txBox="1"/>
          <p:nvPr/>
        </p:nvSpPr>
        <p:spPr>
          <a:xfrm>
            <a:off x="669553" y="1665288"/>
            <a:ext cx="5426447" cy="289823"/>
          </a:xfrm>
          <a:prstGeom prst="rect">
            <a:avLst/>
          </a:prstGeom>
        </p:spPr>
        <p:txBody>
          <a:bodyPr vert="horz" wrap="square" lIns="0" tIns="12700" rIns="0" bIns="0" rtlCol="0">
            <a:spAutoFit/>
          </a:bodyPr>
          <a:lstStyle/>
          <a:p>
            <a:pPr marL="12700">
              <a:lnSpc>
                <a:spcPct val="100000"/>
              </a:lnSpc>
              <a:spcBef>
                <a:spcPts val="100"/>
              </a:spcBef>
            </a:pPr>
            <a:r>
              <a:rPr lang="en-US" b="1" spc="-25" dirty="0">
                <a:solidFill>
                  <a:srgbClr val="FF0000"/>
                </a:solidFill>
                <a:cs typeface="Tahoma"/>
              </a:rPr>
              <a:t>Output</a:t>
            </a:r>
            <a:r>
              <a:rPr lang="en-US" spc="-25" dirty="0">
                <a:cs typeface="Tahoma"/>
              </a:rPr>
              <a:t> L</a:t>
            </a:r>
            <a:r>
              <a:rPr lang="en-US" spc="60" dirty="0">
                <a:cs typeface="Tahoma"/>
              </a:rPr>
              <a:t>ove that can quickly seize the</a:t>
            </a:r>
            <a:endParaRPr lang="en-US" dirty="0">
              <a:cs typeface="Tahoma"/>
            </a:endParaRPr>
          </a:p>
        </p:txBody>
      </p:sp>
      <p:sp>
        <p:nvSpPr>
          <p:cNvPr id="62" name="object 6">
            <a:extLst>
              <a:ext uri="{FF2B5EF4-FFF2-40B4-BE49-F238E27FC236}">
                <a16:creationId xmlns:a16="http://schemas.microsoft.com/office/drawing/2014/main" id="{E557A8B7-FF46-8A51-2D38-51D5FCD016FD}"/>
              </a:ext>
            </a:extLst>
          </p:cNvPr>
          <p:cNvSpPr/>
          <p:nvPr/>
        </p:nvSpPr>
        <p:spPr>
          <a:xfrm>
            <a:off x="8444013" y="5134647"/>
            <a:ext cx="102014" cy="468168"/>
          </a:xfrm>
          <a:custGeom>
            <a:avLst/>
            <a:gdLst/>
            <a:ahLst/>
            <a:cxnLst/>
            <a:rect l="l" t="t" r="r" b="b"/>
            <a:pathLst>
              <a:path w="76200" h="411479">
                <a:moveTo>
                  <a:pt x="44450" y="63500"/>
                </a:moveTo>
                <a:lnTo>
                  <a:pt x="31750" y="63500"/>
                </a:lnTo>
                <a:lnTo>
                  <a:pt x="31750" y="410895"/>
                </a:lnTo>
                <a:lnTo>
                  <a:pt x="44450" y="410895"/>
                </a:lnTo>
                <a:lnTo>
                  <a:pt x="44450" y="63500"/>
                </a:lnTo>
                <a:close/>
              </a:path>
              <a:path w="76200" h="411479">
                <a:moveTo>
                  <a:pt x="38100" y="0"/>
                </a:moveTo>
                <a:lnTo>
                  <a:pt x="0" y="76200"/>
                </a:lnTo>
                <a:lnTo>
                  <a:pt x="31750" y="76200"/>
                </a:lnTo>
                <a:lnTo>
                  <a:pt x="31750" y="63500"/>
                </a:lnTo>
                <a:lnTo>
                  <a:pt x="69850" y="63500"/>
                </a:lnTo>
                <a:lnTo>
                  <a:pt x="38100" y="0"/>
                </a:lnTo>
                <a:close/>
              </a:path>
              <a:path w="76200" h="411479">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63" name="object 7">
            <a:extLst>
              <a:ext uri="{FF2B5EF4-FFF2-40B4-BE49-F238E27FC236}">
                <a16:creationId xmlns:a16="http://schemas.microsoft.com/office/drawing/2014/main" id="{367768D7-AA05-E3BB-BF2A-1AEBA287B094}"/>
              </a:ext>
            </a:extLst>
          </p:cNvPr>
          <p:cNvSpPr txBox="1"/>
          <p:nvPr/>
        </p:nvSpPr>
        <p:spPr>
          <a:xfrm>
            <a:off x="3476442" y="5602815"/>
            <a:ext cx="858263" cy="320601"/>
          </a:xfrm>
          <a:prstGeom prst="rect">
            <a:avLst/>
          </a:prstGeom>
        </p:spPr>
        <p:txBody>
          <a:bodyPr vert="horz" wrap="square" lIns="0" tIns="12700" rIns="0" bIns="0" rtlCol="0">
            <a:spAutoFit/>
          </a:bodyPr>
          <a:lstStyle/>
          <a:p>
            <a:pPr marL="12700">
              <a:lnSpc>
                <a:spcPct val="100000"/>
              </a:lnSpc>
              <a:spcBef>
                <a:spcPts val="100"/>
              </a:spcBef>
            </a:pPr>
            <a:r>
              <a:rPr sz="2000" b="1" spc="-95" dirty="0">
                <a:solidFill>
                  <a:srgbClr val="FF0000"/>
                </a:solidFill>
                <a:cs typeface="Tahoma"/>
              </a:rPr>
              <a:t>In</a:t>
            </a:r>
            <a:r>
              <a:rPr sz="2000" b="1" spc="-100" dirty="0">
                <a:solidFill>
                  <a:srgbClr val="FF0000"/>
                </a:solidFill>
                <a:cs typeface="Tahoma"/>
              </a:rPr>
              <a:t>p</a:t>
            </a:r>
            <a:r>
              <a:rPr sz="2000" b="1" spc="-65" dirty="0">
                <a:solidFill>
                  <a:srgbClr val="FF0000"/>
                </a:solidFill>
                <a:cs typeface="Tahoma"/>
              </a:rPr>
              <a:t>ut</a:t>
            </a:r>
            <a:r>
              <a:rPr lang="en-US" sz="2000" b="1" spc="-65" dirty="0">
                <a:solidFill>
                  <a:srgbClr val="FF0000"/>
                </a:solidFill>
                <a:cs typeface="Tahoma"/>
              </a:rPr>
              <a:t> :</a:t>
            </a:r>
            <a:endParaRPr sz="2000" dirty="0">
              <a:cs typeface="Tahoma"/>
            </a:endParaRPr>
          </a:p>
        </p:txBody>
      </p:sp>
      <p:sp>
        <p:nvSpPr>
          <p:cNvPr id="64" name="object 8">
            <a:extLst>
              <a:ext uri="{FF2B5EF4-FFF2-40B4-BE49-F238E27FC236}">
                <a16:creationId xmlns:a16="http://schemas.microsoft.com/office/drawing/2014/main" id="{AE91C355-D71B-C92A-CE65-83EA8D6C6E4C}"/>
              </a:ext>
            </a:extLst>
          </p:cNvPr>
          <p:cNvSpPr txBox="1"/>
          <p:nvPr/>
        </p:nvSpPr>
        <p:spPr>
          <a:xfrm>
            <a:off x="658813" y="3243657"/>
            <a:ext cx="2252980" cy="443711"/>
          </a:xfrm>
          <a:prstGeom prst="rect">
            <a:avLst/>
          </a:prstGeom>
        </p:spPr>
        <p:txBody>
          <a:bodyPr vert="horz" wrap="square" lIns="0" tIns="12700" rIns="0" bIns="0" rtlCol="0">
            <a:spAutoFit/>
          </a:bodyPr>
          <a:lstStyle/>
          <a:p>
            <a:pPr marL="12700">
              <a:lnSpc>
                <a:spcPct val="100000"/>
              </a:lnSpc>
              <a:spcBef>
                <a:spcPts val="100"/>
              </a:spcBef>
            </a:pPr>
            <a:r>
              <a:rPr lang="en-US" sz="2800" b="1" spc="30" dirty="0">
                <a:solidFill>
                  <a:srgbClr val="FF0000"/>
                </a:solidFill>
                <a:cs typeface="Tahoma"/>
              </a:rPr>
              <a:t>Inference T = 6</a:t>
            </a:r>
            <a:endParaRPr lang="en-IN" sz="2800" b="1" dirty="0">
              <a:cs typeface="Tahoma"/>
            </a:endParaRPr>
          </a:p>
        </p:txBody>
      </p:sp>
    </p:spTree>
    <p:extLst>
      <p:ext uri="{BB962C8B-B14F-4D97-AF65-F5344CB8AC3E}">
        <p14:creationId xmlns:p14="http://schemas.microsoft.com/office/powerpoint/2010/main" val="16895664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D942F-A929-B649-2ECD-F95DDAD9B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BB8750-0689-78D4-050D-B48D48893FC5}"/>
              </a:ext>
            </a:extLst>
          </p:cNvPr>
          <p:cNvSpPr>
            <a:spLocks noGrp="1"/>
          </p:cNvSpPr>
          <p:nvPr>
            <p:ph type="title"/>
          </p:nvPr>
        </p:nvSpPr>
        <p:spPr>
          <a:xfrm>
            <a:off x="669552" y="594335"/>
            <a:ext cx="10863635" cy="639153"/>
          </a:xfrm>
        </p:spPr>
        <p:txBody>
          <a:bodyPr/>
          <a:lstStyle/>
          <a:p>
            <a:r>
              <a:rPr lang="en-US" dirty="0">
                <a:latin typeface="+mn-lt"/>
              </a:rPr>
              <a:t>Next Token Prediction Task</a:t>
            </a:r>
            <a:endParaRPr lang="en-IN" dirty="0">
              <a:latin typeface="+mn-lt"/>
            </a:endParaRPr>
          </a:p>
        </p:txBody>
      </p:sp>
      <p:pic>
        <p:nvPicPr>
          <p:cNvPr id="59" name="object 3">
            <a:extLst>
              <a:ext uri="{FF2B5EF4-FFF2-40B4-BE49-F238E27FC236}">
                <a16:creationId xmlns:a16="http://schemas.microsoft.com/office/drawing/2014/main" id="{476FCB6E-69A0-0E31-C036-E8020ADB6112}"/>
              </a:ext>
            </a:extLst>
          </p:cNvPr>
          <p:cNvPicPr/>
          <p:nvPr/>
        </p:nvPicPr>
        <p:blipFill>
          <a:blip r:embed="rId2" cstate="print"/>
          <a:stretch>
            <a:fillRect/>
          </a:stretch>
        </p:blipFill>
        <p:spPr>
          <a:xfrm>
            <a:off x="6960638" y="735717"/>
            <a:ext cx="4320074" cy="4398930"/>
          </a:xfrm>
          <a:prstGeom prst="rect">
            <a:avLst/>
          </a:prstGeom>
        </p:spPr>
      </p:pic>
      <p:sp>
        <p:nvSpPr>
          <p:cNvPr id="60" name="object 4">
            <a:extLst>
              <a:ext uri="{FF2B5EF4-FFF2-40B4-BE49-F238E27FC236}">
                <a16:creationId xmlns:a16="http://schemas.microsoft.com/office/drawing/2014/main" id="{ED1A332A-7B0D-7E46-4E5D-494D0E494E2C}"/>
              </a:ext>
            </a:extLst>
          </p:cNvPr>
          <p:cNvSpPr txBox="1"/>
          <p:nvPr/>
        </p:nvSpPr>
        <p:spPr>
          <a:xfrm>
            <a:off x="4334705" y="5627346"/>
            <a:ext cx="6487520" cy="289823"/>
          </a:xfrm>
          <a:prstGeom prst="rect">
            <a:avLst/>
          </a:prstGeom>
        </p:spPr>
        <p:txBody>
          <a:bodyPr vert="horz" wrap="square" lIns="0" tIns="12700" rIns="0" bIns="0" rtlCol="0">
            <a:spAutoFit/>
          </a:bodyPr>
          <a:lstStyle/>
          <a:p>
            <a:pPr marL="12700">
              <a:lnSpc>
                <a:spcPct val="100000"/>
              </a:lnSpc>
              <a:spcBef>
                <a:spcPts val="100"/>
              </a:spcBef>
            </a:pPr>
            <a:r>
              <a:rPr lang="en-IN" spc="30" dirty="0">
                <a:cs typeface="Tahoma"/>
              </a:rPr>
              <a:t>[S</a:t>
            </a:r>
            <a:r>
              <a:rPr lang="en-IN" spc="55" dirty="0">
                <a:cs typeface="Tahoma"/>
              </a:rPr>
              <a:t>O</a:t>
            </a:r>
            <a:r>
              <a:rPr lang="en-IN" spc="-70" dirty="0">
                <a:cs typeface="Tahoma"/>
              </a:rPr>
              <a:t>S] Love that can quickly seize the</a:t>
            </a:r>
            <a:endParaRPr lang="en-IN" dirty="0">
              <a:cs typeface="Tahoma"/>
            </a:endParaRPr>
          </a:p>
        </p:txBody>
      </p:sp>
      <p:sp>
        <p:nvSpPr>
          <p:cNvPr id="61" name="object 5">
            <a:extLst>
              <a:ext uri="{FF2B5EF4-FFF2-40B4-BE49-F238E27FC236}">
                <a16:creationId xmlns:a16="http://schemas.microsoft.com/office/drawing/2014/main" id="{3E49AF60-39D2-91D3-478D-C7B613C62D91}"/>
              </a:ext>
            </a:extLst>
          </p:cNvPr>
          <p:cNvSpPr txBox="1"/>
          <p:nvPr/>
        </p:nvSpPr>
        <p:spPr>
          <a:xfrm>
            <a:off x="669553" y="1665288"/>
            <a:ext cx="5426447" cy="289823"/>
          </a:xfrm>
          <a:prstGeom prst="rect">
            <a:avLst/>
          </a:prstGeom>
        </p:spPr>
        <p:txBody>
          <a:bodyPr vert="horz" wrap="square" lIns="0" tIns="12700" rIns="0" bIns="0" rtlCol="0">
            <a:spAutoFit/>
          </a:bodyPr>
          <a:lstStyle/>
          <a:p>
            <a:pPr marL="12700">
              <a:lnSpc>
                <a:spcPct val="100000"/>
              </a:lnSpc>
              <a:spcBef>
                <a:spcPts val="100"/>
              </a:spcBef>
            </a:pPr>
            <a:r>
              <a:rPr lang="en-US" b="1" spc="-25" dirty="0">
                <a:solidFill>
                  <a:srgbClr val="FF0000"/>
                </a:solidFill>
                <a:cs typeface="Tahoma"/>
              </a:rPr>
              <a:t>Output</a:t>
            </a:r>
            <a:r>
              <a:rPr lang="en-US" spc="-25" dirty="0">
                <a:cs typeface="Tahoma"/>
              </a:rPr>
              <a:t> L</a:t>
            </a:r>
            <a:r>
              <a:rPr lang="en-US" spc="60" dirty="0">
                <a:cs typeface="Tahoma"/>
              </a:rPr>
              <a:t>ove that can quickly seize the gentle</a:t>
            </a:r>
            <a:endParaRPr lang="en-US" dirty="0">
              <a:cs typeface="Tahoma"/>
            </a:endParaRPr>
          </a:p>
        </p:txBody>
      </p:sp>
      <p:sp>
        <p:nvSpPr>
          <p:cNvPr id="62" name="object 6">
            <a:extLst>
              <a:ext uri="{FF2B5EF4-FFF2-40B4-BE49-F238E27FC236}">
                <a16:creationId xmlns:a16="http://schemas.microsoft.com/office/drawing/2014/main" id="{455EC65E-FBD6-1A6A-3956-3E42DF6571D1}"/>
              </a:ext>
            </a:extLst>
          </p:cNvPr>
          <p:cNvSpPr/>
          <p:nvPr/>
        </p:nvSpPr>
        <p:spPr>
          <a:xfrm>
            <a:off x="8444013" y="5134647"/>
            <a:ext cx="102014" cy="468168"/>
          </a:xfrm>
          <a:custGeom>
            <a:avLst/>
            <a:gdLst/>
            <a:ahLst/>
            <a:cxnLst/>
            <a:rect l="l" t="t" r="r" b="b"/>
            <a:pathLst>
              <a:path w="76200" h="411479">
                <a:moveTo>
                  <a:pt x="44450" y="63500"/>
                </a:moveTo>
                <a:lnTo>
                  <a:pt x="31750" y="63500"/>
                </a:lnTo>
                <a:lnTo>
                  <a:pt x="31750" y="410895"/>
                </a:lnTo>
                <a:lnTo>
                  <a:pt x="44450" y="410895"/>
                </a:lnTo>
                <a:lnTo>
                  <a:pt x="44450" y="63500"/>
                </a:lnTo>
                <a:close/>
              </a:path>
              <a:path w="76200" h="411479">
                <a:moveTo>
                  <a:pt x="38100" y="0"/>
                </a:moveTo>
                <a:lnTo>
                  <a:pt x="0" y="76200"/>
                </a:lnTo>
                <a:lnTo>
                  <a:pt x="31750" y="76200"/>
                </a:lnTo>
                <a:lnTo>
                  <a:pt x="31750" y="63500"/>
                </a:lnTo>
                <a:lnTo>
                  <a:pt x="69850" y="63500"/>
                </a:lnTo>
                <a:lnTo>
                  <a:pt x="38100" y="0"/>
                </a:lnTo>
                <a:close/>
              </a:path>
              <a:path w="76200" h="411479">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63" name="object 7">
            <a:extLst>
              <a:ext uri="{FF2B5EF4-FFF2-40B4-BE49-F238E27FC236}">
                <a16:creationId xmlns:a16="http://schemas.microsoft.com/office/drawing/2014/main" id="{91586C0B-D42D-6FF3-8255-4D57392864DA}"/>
              </a:ext>
            </a:extLst>
          </p:cNvPr>
          <p:cNvSpPr txBox="1"/>
          <p:nvPr/>
        </p:nvSpPr>
        <p:spPr>
          <a:xfrm>
            <a:off x="3476442" y="5602815"/>
            <a:ext cx="858263" cy="320601"/>
          </a:xfrm>
          <a:prstGeom prst="rect">
            <a:avLst/>
          </a:prstGeom>
        </p:spPr>
        <p:txBody>
          <a:bodyPr vert="horz" wrap="square" lIns="0" tIns="12700" rIns="0" bIns="0" rtlCol="0">
            <a:spAutoFit/>
          </a:bodyPr>
          <a:lstStyle/>
          <a:p>
            <a:pPr marL="12700">
              <a:lnSpc>
                <a:spcPct val="100000"/>
              </a:lnSpc>
              <a:spcBef>
                <a:spcPts val="100"/>
              </a:spcBef>
            </a:pPr>
            <a:r>
              <a:rPr sz="2000" b="1" spc="-95" dirty="0">
                <a:solidFill>
                  <a:srgbClr val="FF0000"/>
                </a:solidFill>
                <a:cs typeface="Tahoma"/>
              </a:rPr>
              <a:t>In</a:t>
            </a:r>
            <a:r>
              <a:rPr sz="2000" b="1" spc="-100" dirty="0">
                <a:solidFill>
                  <a:srgbClr val="FF0000"/>
                </a:solidFill>
                <a:cs typeface="Tahoma"/>
              </a:rPr>
              <a:t>p</a:t>
            </a:r>
            <a:r>
              <a:rPr sz="2000" b="1" spc="-65" dirty="0">
                <a:solidFill>
                  <a:srgbClr val="FF0000"/>
                </a:solidFill>
                <a:cs typeface="Tahoma"/>
              </a:rPr>
              <a:t>ut</a:t>
            </a:r>
            <a:r>
              <a:rPr lang="en-US" sz="2000" b="1" spc="-65" dirty="0">
                <a:solidFill>
                  <a:srgbClr val="FF0000"/>
                </a:solidFill>
                <a:cs typeface="Tahoma"/>
              </a:rPr>
              <a:t> :</a:t>
            </a:r>
            <a:endParaRPr sz="2000" dirty="0">
              <a:cs typeface="Tahoma"/>
            </a:endParaRPr>
          </a:p>
        </p:txBody>
      </p:sp>
      <p:sp>
        <p:nvSpPr>
          <p:cNvPr id="64" name="object 8">
            <a:extLst>
              <a:ext uri="{FF2B5EF4-FFF2-40B4-BE49-F238E27FC236}">
                <a16:creationId xmlns:a16="http://schemas.microsoft.com/office/drawing/2014/main" id="{F91BBCA3-9FD9-7662-B188-B4FD268C4707}"/>
              </a:ext>
            </a:extLst>
          </p:cNvPr>
          <p:cNvSpPr txBox="1"/>
          <p:nvPr/>
        </p:nvSpPr>
        <p:spPr>
          <a:xfrm>
            <a:off x="658813" y="3243657"/>
            <a:ext cx="2252980" cy="443711"/>
          </a:xfrm>
          <a:prstGeom prst="rect">
            <a:avLst/>
          </a:prstGeom>
        </p:spPr>
        <p:txBody>
          <a:bodyPr vert="horz" wrap="square" lIns="0" tIns="12700" rIns="0" bIns="0" rtlCol="0">
            <a:spAutoFit/>
          </a:bodyPr>
          <a:lstStyle/>
          <a:p>
            <a:pPr marL="12700">
              <a:lnSpc>
                <a:spcPct val="100000"/>
              </a:lnSpc>
              <a:spcBef>
                <a:spcPts val="100"/>
              </a:spcBef>
            </a:pPr>
            <a:r>
              <a:rPr lang="en-US" sz="2800" b="1" spc="30" dirty="0">
                <a:solidFill>
                  <a:srgbClr val="FF0000"/>
                </a:solidFill>
                <a:cs typeface="Tahoma"/>
              </a:rPr>
              <a:t>Inference T = 7</a:t>
            </a:r>
            <a:endParaRPr sz="2800" b="1" dirty="0">
              <a:cs typeface="Tahoma"/>
            </a:endParaRPr>
          </a:p>
        </p:txBody>
      </p:sp>
    </p:spTree>
    <p:extLst>
      <p:ext uri="{BB962C8B-B14F-4D97-AF65-F5344CB8AC3E}">
        <p14:creationId xmlns:p14="http://schemas.microsoft.com/office/powerpoint/2010/main" val="38949174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E2407-45B2-EA07-68AF-E16361EA52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3B8400-78DA-431E-C205-1A3E11F9683B}"/>
              </a:ext>
            </a:extLst>
          </p:cNvPr>
          <p:cNvSpPr>
            <a:spLocks noGrp="1"/>
          </p:cNvSpPr>
          <p:nvPr>
            <p:ph type="title"/>
          </p:nvPr>
        </p:nvSpPr>
        <p:spPr>
          <a:xfrm>
            <a:off x="669552" y="594335"/>
            <a:ext cx="10863635" cy="639153"/>
          </a:xfrm>
        </p:spPr>
        <p:txBody>
          <a:bodyPr/>
          <a:lstStyle/>
          <a:p>
            <a:r>
              <a:rPr lang="en-US" dirty="0">
                <a:latin typeface="+mn-lt"/>
              </a:rPr>
              <a:t>Next Token Prediction Task</a:t>
            </a:r>
            <a:endParaRPr lang="en-IN" dirty="0">
              <a:latin typeface="+mn-lt"/>
            </a:endParaRPr>
          </a:p>
        </p:txBody>
      </p:sp>
      <p:pic>
        <p:nvPicPr>
          <p:cNvPr id="59" name="object 3">
            <a:extLst>
              <a:ext uri="{FF2B5EF4-FFF2-40B4-BE49-F238E27FC236}">
                <a16:creationId xmlns:a16="http://schemas.microsoft.com/office/drawing/2014/main" id="{32C27996-B6F0-777A-5F07-883D44623FBC}"/>
              </a:ext>
            </a:extLst>
          </p:cNvPr>
          <p:cNvPicPr/>
          <p:nvPr/>
        </p:nvPicPr>
        <p:blipFill>
          <a:blip r:embed="rId2" cstate="print"/>
          <a:stretch>
            <a:fillRect/>
          </a:stretch>
        </p:blipFill>
        <p:spPr>
          <a:xfrm>
            <a:off x="6960638" y="735717"/>
            <a:ext cx="4320074" cy="4398930"/>
          </a:xfrm>
          <a:prstGeom prst="rect">
            <a:avLst/>
          </a:prstGeom>
        </p:spPr>
      </p:pic>
      <p:sp>
        <p:nvSpPr>
          <p:cNvPr id="60" name="object 4">
            <a:extLst>
              <a:ext uri="{FF2B5EF4-FFF2-40B4-BE49-F238E27FC236}">
                <a16:creationId xmlns:a16="http://schemas.microsoft.com/office/drawing/2014/main" id="{0C4757B4-D0EE-1B5E-A6ED-C0C83F088BEB}"/>
              </a:ext>
            </a:extLst>
          </p:cNvPr>
          <p:cNvSpPr txBox="1"/>
          <p:nvPr/>
        </p:nvSpPr>
        <p:spPr>
          <a:xfrm>
            <a:off x="4334705" y="5627346"/>
            <a:ext cx="6487520" cy="289823"/>
          </a:xfrm>
          <a:prstGeom prst="rect">
            <a:avLst/>
          </a:prstGeom>
        </p:spPr>
        <p:txBody>
          <a:bodyPr vert="horz" wrap="square" lIns="0" tIns="12700" rIns="0" bIns="0" rtlCol="0">
            <a:spAutoFit/>
          </a:bodyPr>
          <a:lstStyle/>
          <a:p>
            <a:pPr marL="12700">
              <a:lnSpc>
                <a:spcPct val="100000"/>
              </a:lnSpc>
              <a:spcBef>
                <a:spcPts val="100"/>
              </a:spcBef>
            </a:pPr>
            <a:r>
              <a:rPr spc="30" dirty="0">
                <a:cs typeface="Tahoma"/>
              </a:rPr>
              <a:t>[S</a:t>
            </a:r>
            <a:r>
              <a:rPr spc="55" dirty="0">
                <a:cs typeface="Tahoma"/>
              </a:rPr>
              <a:t>O</a:t>
            </a:r>
            <a:r>
              <a:rPr spc="-70" dirty="0">
                <a:cs typeface="Tahoma"/>
              </a:rPr>
              <a:t>S]</a:t>
            </a:r>
            <a:r>
              <a:rPr lang="en-US" spc="-70" dirty="0">
                <a:cs typeface="Tahoma"/>
              </a:rPr>
              <a:t> </a:t>
            </a:r>
            <a:r>
              <a:rPr lang="en-US" spc="-25" dirty="0">
                <a:cs typeface="Tahoma"/>
              </a:rPr>
              <a:t>L</a:t>
            </a:r>
            <a:r>
              <a:rPr lang="en-US" spc="60" dirty="0">
                <a:cs typeface="Tahoma"/>
              </a:rPr>
              <a:t>ove that can quickly seize the gentle</a:t>
            </a:r>
            <a:endParaRPr dirty="0">
              <a:cs typeface="Tahoma"/>
            </a:endParaRPr>
          </a:p>
        </p:txBody>
      </p:sp>
      <p:sp>
        <p:nvSpPr>
          <p:cNvPr id="61" name="object 5">
            <a:extLst>
              <a:ext uri="{FF2B5EF4-FFF2-40B4-BE49-F238E27FC236}">
                <a16:creationId xmlns:a16="http://schemas.microsoft.com/office/drawing/2014/main" id="{51C1CF45-ABD3-E2A4-48C3-64A1F03D0B44}"/>
              </a:ext>
            </a:extLst>
          </p:cNvPr>
          <p:cNvSpPr txBox="1"/>
          <p:nvPr/>
        </p:nvSpPr>
        <p:spPr>
          <a:xfrm>
            <a:off x="669553" y="1665288"/>
            <a:ext cx="5426447" cy="289823"/>
          </a:xfrm>
          <a:prstGeom prst="rect">
            <a:avLst/>
          </a:prstGeom>
        </p:spPr>
        <p:txBody>
          <a:bodyPr vert="horz" wrap="square" lIns="0" tIns="12700" rIns="0" bIns="0" rtlCol="0">
            <a:spAutoFit/>
          </a:bodyPr>
          <a:lstStyle/>
          <a:p>
            <a:pPr marL="12700">
              <a:lnSpc>
                <a:spcPct val="100000"/>
              </a:lnSpc>
              <a:spcBef>
                <a:spcPts val="100"/>
              </a:spcBef>
            </a:pPr>
            <a:r>
              <a:rPr lang="en-US" b="1" spc="-25" dirty="0">
                <a:solidFill>
                  <a:srgbClr val="FF0000"/>
                </a:solidFill>
                <a:cs typeface="Tahoma"/>
              </a:rPr>
              <a:t>Output</a:t>
            </a:r>
            <a:r>
              <a:rPr lang="en-US" spc="-25" dirty="0">
                <a:cs typeface="Tahoma"/>
              </a:rPr>
              <a:t> L</a:t>
            </a:r>
            <a:r>
              <a:rPr lang="en-US" spc="60" dirty="0">
                <a:cs typeface="Tahoma"/>
              </a:rPr>
              <a:t>ove that can quickly seize the gentle heart</a:t>
            </a:r>
            <a:endParaRPr lang="en-US" dirty="0">
              <a:cs typeface="Tahoma"/>
            </a:endParaRPr>
          </a:p>
        </p:txBody>
      </p:sp>
      <p:sp>
        <p:nvSpPr>
          <p:cNvPr id="62" name="object 6">
            <a:extLst>
              <a:ext uri="{FF2B5EF4-FFF2-40B4-BE49-F238E27FC236}">
                <a16:creationId xmlns:a16="http://schemas.microsoft.com/office/drawing/2014/main" id="{2C18701C-6315-A457-7321-A57655BF47A3}"/>
              </a:ext>
            </a:extLst>
          </p:cNvPr>
          <p:cNvSpPr/>
          <p:nvPr/>
        </p:nvSpPr>
        <p:spPr>
          <a:xfrm>
            <a:off x="8444013" y="5134647"/>
            <a:ext cx="102014" cy="468168"/>
          </a:xfrm>
          <a:custGeom>
            <a:avLst/>
            <a:gdLst/>
            <a:ahLst/>
            <a:cxnLst/>
            <a:rect l="l" t="t" r="r" b="b"/>
            <a:pathLst>
              <a:path w="76200" h="411479">
                <a:moveTo>
                  <a:pt x="44450" y="63500"/>
                </a:moveTo>
                <a:lnTo>
                  <a:pt x="31750" y="63500"/>
                </a:lnTo>
                <a:lnTo>
                  <a:pt x="31750" y="410895"/>
                </a:lnTo>
                <a:lnTo>
                  <a:pt x="44450" y="410895"/>
                </a:lnTo>
                <a:lnTo>
                  <a:pt x="44450" y="63500"/>
                </a:lnTo>
                <a:close/>
              </a:path>
              <a:path w="76200" h="411479">
                <a:moveTo>
                  <a:pt x="38100" y="0"/>
                </a:moveTo>
                <a:lnTo>
                  <a:pt x="0" y="76200"/>
                </a:lnTo>
                <a:lnTo>
                  <a:pt x="31750" y="76200"/>
                </a:lnTo>
                <a:lnTo>
                  <a:pt x="31750" y="63500"/>
                </a:lnTo>
                <a:lnTo>
                  <a:pt x="69850" y="63500"/>
                </a:lnTo>
                <a:lnTo>
                  <a:pt x="38100" y="0"/>
                </a:lnTo>
                <a:close/>
              </a:path>
              <a:path w="76200" h="411479">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63" name="object 7">
            <a:extLst>
              <a:ext uri="{FF2B5EF4-FFF2-40B4-BE49-F238E27FC236}">
                <a16:creationId xmlns:a16="http://schemas.microsoft.com/office/drawing/2014/main" id="{B4A79EAC-4E36-25E7-E06E-BBDEDFF497F4}"/>
              </a:ext>
            </a:extLst>
          </p:cNvPr>
          <p:cNvSpPr txBox="1"/>
          <p:nvPr/>
        </p:nvSpPr>
        <p:spPr>
          <a:xfrm>
            <a:off x="3476442" y="5602815"/>
            <a:ext cx="858263" cy="320601"/>
          </a:xfrm>
          <a:prstGeom prst="rect">
            <a:avLst/>
          </a:prstGeom>
        </p:spPr>
        <p:txBody>
          <a:bodyPr vert="horz" wrap="square" lIns="0" tIns="12700" rIns="0" bIns="0" rtlCol="0">
            <a:spAutoFit/>
          </a:bodyPr>
          <a:lstStyle/>
          <a:p>
            <a:pPr marL="12700">
              <a:lnSpc>
                <a:spcPct val="100000"/>
              </a:lnSpc>
              <a:spcBef>
                <a:spcPts val="100"/>
              </a:spcBef>
            </a:pPr>
            <a:r>
              <a:rPr sz="2000" b="1" spc="-95" dirty="0">
                <a:solidFill>
                  <a:srgbClr val="FF0000"/>
                </a:solidFill>
                <a:cs typeface="Tahoma"/>
              </a:rPr>
              <a:t>In</a:t>
            </a:r>
            <a:r>
              <a:rPr sz="2000" b="1" spc="-100" dirty="0">
                <a:solidFill>
                  <a:srgbClr val="FF0000"/>
                </a:solidFill>
                <a:cs typeface="Tahoma"/>
              </a:rPr>
              <a:t>p</a:t>
            </a:r>
            <a:r>
              <a:rPr sz="2000" b="1" spc="-65" dirty="0">
                <a:solidFill>
                  <a:srgbClr val="FF0000"/>
                </a:solidFill>
                <a:cs typeface="Tahoma"/>
              </a:rPr>
              <a:t>ut</a:t>
            </a:r>
            <a:r>
              <a:rPr lang="en-US" sz="2000" b="1" spc="-65" dirty="0">
                <a:solidFill>
                  <a:srgbClr val="FF0000"/>
                </a:solidFill>
                <a:cs typeface="Tahoma"/>
              </a:rPr>
              <a:t> :</a:t>
            </a:r>
            <a:endParaRPr sz="2000" dirty="0">
              <a:cs typeface="Tahoma"/>
            </a:endParaRPr>
          </a:p>
        </p:txBody>
      </p:sp>
      <p:sp>
        <p:nvSpPr>
          <p:cNvPr id="64" name="object 8">
            <a:extLst>
              <a:ext uri="{FF2B5EF4-FFF2-40B4-BE49-F238E27FC236}">
                <a16:creationId xmlns:a16="http://schemas.microsoft.com/office/drawing/2014/main" id="{3F5116B5-FE99-2D13-FAB0-0DEE8700BC2F}"/>
              </a:ext>
            </a:extLst>
          </p:cNvPr>
          <p:cNvSpPr txBox="1"/>
          <p:nvPr/>
        </p:nvSpPr>
        <p:spPr>
          <a:xfrm>
            <a:off x="658813" y="3243657"/>
            <a:ext cx="2252980" cy="443711"/>
          </a:xfrm>
          <a:prstGeom prst="rect">
            <a:avLst/>
          </a:prstGeom>
        </p:spPr>
        <p:txBody>
          <a:bodyPr vert="horz" wrap="square" lIns="0" tIns="12700" rIns="0" bIns="0" rtlCol="0">
            <a:spAutoFit/>
          </a:bodyPr>
          <a:lstStyle/>
          <a:p>
            <a:pPr marL="12700">
              <a:lnSpc>
                <a:spcPct val="100000"/>
              </a:lnSpc>
              <a:spcBef>
                <a:spcPts val="100"/>
              </a:spcBef>
            </a:pPr>
            <a:r>
              <a:rPr lang="en-US" sz="2800" b="1" spc="30" dirty="0">
                <a:solidFill>
                  <a:srgbClr val="FF0000"/>
                </a:solidFill>
                <a:cs typeface="Tahoma"/>
              </a:rPr>
              <a:t>Inference T = 8</a:t>
            </a:r>
            <a:endParaRPr sz="2800" b="1" dirty="0">
              <a:cs typeface="Tahoma"/>
            </a:endParaRPr>
          </a:p>
        </p:txBody>
      </p:sp>
    </p:spTree>
    <p:extLst>
      <p:ext uri="{BB962C8B-B14F-4D97-AF65-F5344CB8AC3E}">
        <p14:creationId xmlns:p14="http://schemas.microsoft.com/office/powerpoint/2010/main" val="14893232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20EE2-5486-0C1A-0686-6E86A1CCBA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5D31C0-95F9-3FDF-0E3C-F2CFE286F360}"/>
              </a:ext>
            </a:extLst>
          </p:cNvPr>
          <p:cNvSpPr>
            <a:spLocks noGrp="1"/>
          </p:cNvSpPr>
          <p:nvPr>
            <p:ph type="title"/>
          </p:nvPr>
        </p:nvSpPr>
        <p:spPr>
          <a:xfrm>
            <a:off x="669552" y="594335"/>
            <a:ext cx="10863635" cy="639153"/>
          </a:xfrm>
        </p:spPr>
        <p:txBody>
          <a:bodyPr/>
          <a:lstStyle/>
          <a:p>
            <a:r>
              <a:rPr lang="en-US" dirty="0">
                <a:latin typeface="+mn-lt"/>
              </a:rPr>
              <a:t>Next Token Prediction Task</a:t>
            </a:r>
            <a:endParaRPr lang="en-IN" dirty="0">
              <a:latin typeface="+mn-lt"/>
            </a:endParaRPr>
          </a:p>
        </p:txBody>
      </p:sp>
      <p:pic>
        <p:nvPicPr>
          <p:cNvPr id="59" name="object 3">
            <a:extLst>
              <a:ext uri="{FF2B5EF4-FFF2-40B4-BE49-F238E27FC236}">
                <a16:creationId xmlns:a16="http://schemas.microsoft.com/office/drawing/2014/main" id="{6D172EA8-E2AF-5F54-04F9-1E932FBA5E37}"/>
              </a:ext>
            </a:extLst>
          </p:cNvPr>
          <p:cNvPicPr/>
          <p:nvPr/>
        </p:nvPicPr>
        <p:blipFill>
          <a:blip r:embed="rId2" cstate="print"/>
          <a:stretch>
            <a:fillRect/>
          </a:stretch>
        </p:blipFill>
        <p:spPr>
          <a:xfrm>
            <a:off x="6960638" y="735717"/>
            <a:ext cx="4320074" cy="4398930"/>
          </a:xfrm>
          <a:prstGeom prst="rect">
            <a:avLst/>
          </a:prstGeom>
        </p:spPr>
      </p:pic>
      <p:sp>
        <p:nvSpPr>
          <p:cNvPr id="60" name="object 4">
            <a:extLst>
              <a:ext uri="{FF2B5EF4-FFF2-40B4-BE49-F238E27FC236}">
                <a16:creationId xmlns:a16="http://schemas.microsoft.com/office/drawing/2014/main" id="{3518D505-725B-BC91-3607-E00FD1D5CD62}"/>
              </a:ext>
            </a:extLst>
          </p:cNvPr>
          <p:cNvSpPr txBox="1"/>
          <p:nvPr/>
        </p:nvSpPr>
        <p:spPr>
          <a:xfrm>
            <a:off x="4334705" y="5627346"/>
            <a:ext cx="6487520" cy="289823"/>
          </a:xfrm>
          <a:prstGeom prst="rect">
            <a:avLst/>
          </a:prstGeom>
        </p:spPr>
        <p:txBody>
          <a:bodyPr vert="horz" wrap="square" lIns="0" tIns="12700" rIns="0" bIns="0" rtlCol="0">
            <a:spAutoFit/>
          </a:bodyPr>
          <a:lstStyle/>
          <a:p>
            <a:pPr marL="12700">
              <a:lnSpc>
                <a:spcPct val="100000"/>
              </a:lnSpc>
              <a:spcBef>
                <a:spcPts val="100"/>
              </a:spcBef>
            </a:pPr>
            <a:r>
              <a:rPr lang="en-US" spc="30" dirty="0">
                <a:cs typeface="Tahoma"/>
              </a:rPr>
              <a:t>[SOS] Love that can quickly seize the gentle heart</a:t>
            </a:r>
          </a:p>
        </p:txBody>
      </p:sp>
      <p:sp>
        <p:nvSpPr>
          <p:cNvPr id="61" name="object 5">
            <a:extLst>
              <a:ext uri="{FF2B5EF4-FFF2-40B4-BE49-F238E27FC236}">
                <a16:creationId xmlns:a16="http://schemas.microsoft.com/office/drawing/2014/main" id="{54C53D47-5CD4-1455-D367-B52E1F3AD8F7}"/>
              </a:ext>
            </a:extLst>
          </p:cNvPr>
          <p:cNvSpPr txBox="1"/>
          <p:nvPr/>
        </p:nvSpPr>
        <p:spPr>
          <a:xfrm>
            <a:off x="669553" y="1665288"/>
            <a:ext cx="5815223" cy="289823"/>
          </a:xfrm>
          <a:prstGeom prst="rect">
            <a:avLst/>
          </a:prstGeom>
        </p:spPr>
        <p:txBody>
          <a:bodyPr vert="horz" wrap="square" lIns="0" tIns="12700" rIns="0" bIns="0" rtlCol="0">
            <a:spAutoFit/>
          </a:bodyPr>
          <a:lstStyle/>
          <a:p>
            <a:pPr marL="12700">
              <a:lnSpc>
                <a:spcPct val="100000"/>
              </a:lnSpc>
              <a:spcBef>
                <a:spcPts val="100"/>
              </a:spcBef>
            </a:pPr>
            <a:r>
              <a:rPr lang="en-US" b="1" spc="-25" dirty="0">
                <a:solidFill>
                  <a:srgbClr val="FF0000"/>
                </a:solidFill>
                <a:cs typeface="Tahoma"/>
              </a:rPr>
              <a:t>Output</a:t>
            </a:r>
            <a:r>
              <a:rPr lang="en-US" spc="-25" dirty="0">
                <a:cs typeface="Tahoma"/>
              </a:rPr>
              <a:t> L</a:t>
            </a:r>
            <a:r>
              <a:rPr lang="en-US" spc="60" dirty="0">
                <a:cs typeface="Tahoma"/>
              </a:rPr>
              <a:t>ove that can quickly seize the gentle heart [EOS]</a:t>
            </a:r>
            <a:endParaRPr lang="en-US" dirty="0">
              <a:cs typeface="Tahoma"/>
            </a:endParaRPr>
          </a:p>
        </p:txBody>
      </p:sp>
      <p:sp>
        <p:nvSpPr>
          <p:cNvPr id="62" name="object 6">
            <a:extLst>
              <a:ext uri="{FF2B5EF4-FFF2-40B4-BE49-F238E27FC236}">
                <a16:creationId xmlns:a16="http://schemas.microsoft.com/office/drawing/2014/main" id="{A57FD649-ECD4-8E2D-5641-C20CB0389CEE}"/>
              </a:ext>
            </a:extLst>
          </p:cNvPr>
          <p:cNvSpPr/>
          <p:nvPr/>
        </p:nvSpPr>
        <p:spPr>
          <a:xfrm>
            <a:off x="8444013" y="5134647"/>
            <a:ext cx="102014" cy="468168"/>
          </a:xfrm>
          <a:custGeom>
            <a:avLst/>
            <a:gdLst/>
            <a:ahLst/>
            <a:cxnLst/>
            <a:rect l="l" t="t" r="r" b="b"/>
            <a:pathLst>
              <a:path w="76200" h="411479">
                <a:moveTo>
                  <a:pt x="44450" y="63500"/>
                </a:moveTo>
                <a:lnTo>
                  <a:pt x="31750" y="63500"/>
                </a:lnTo>
                <a:lnTo>
                  <a:pt x="31750" y="410895"/>
                </a:lnTo>
                <a:lnTo>
                  <a:pt x="44450" y="410895"/>
                </a:lnTo>
                <a:lnTo>
                  <a:pt x="44450" y="63500"/>
                </a:lnTo>
                <a:close/>
              </a:path>
              <a:path w="76200" h="411479">
                <a:moveTo>
                  <a:pt x="38100" y="0"/>
                </a:moveTo>
                <a:lnTo>
                  <a:pt x="0" y="76200"/>
                </a:lnTo>
                <a:lnTo>
                  <a:pt x="31750" y="76200"/>
                </a:lnTo>
                <a:lnTo>
                  <a:pt x="31750" y="63500"/>
                </a:lnTo>
                <a:lnTo>
                  <a:pt x="69850" y="63500"/>
                </a:lnTo>
                <a:lnTo>
                  <a:pt x="38100" y="0"/>
                </a:lnTo>
                <a:close/>
              </a:path>
              <a:path w="76200" h="411479">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63" name="object 7">
            <a:extLst>
              <a:ext uri="{FF2B5EF4-FFF2-40B4-BE49-F238E27FC236}">
                <a16:creationId xmlns:a16="http://schemas.microsoft.com/office/drawing/2014/main" id="{71A949F9-05B7-B921-21F3-55812246DB98}"/>
              </a:ext>
            </a:extLst>
          </p:cNvPr>
          <p:cNvSpPr txBox="1"/>
          <p:nvPr/>
        </p:nvSpPr>
        <p:spPr>
          <a:xfrm>
            <a:off x="3476442" y="5602815"/>
            <a:ext cx="858263" cy="320601"/>
          </a:xfrm>
          <a:prstGeom prst="rect">
            <a:avLst/>
          </a:prstGeom>
        </p:spPr>
        <p:txBody>
          <a:bodyPr vert="horz" wrap="square" lIns="0" tIns="12700" rIns="0" bIns="0" rtlCol="0">
            <a:spAutoFit/>
          </a:bodyPr>
          <a:lstStyle/>
          <a:p>
            <a:pPr marL="12700">
              <a:lnSpc>
                <a:spcPct val="100000"/>
              </a:lnSpc>
              <a:spcBef>
                <a:spcPts val="100"/>
              </a:spcBef>
            </a:pPr>
            <a:r>
              <a:rPr sz="2000" b="1" spc="-95" dirty="0">
                <a:solidFill>
                  <a:srgbClr val="FF0000"/>
                </a:solidFill>
                <a:cs typeface="Tahoma"/>
              </a:rPr>
              <a:t>In</a:t>
            </a:r>
            <a:r>
              <a:rPr sz="2000" b="1" spc="-100" dirty="0">
                <a:solidFill>
                  <a:srgbClr val="FF0000"/>
                </a:solidFill>
                <a:cs typeface="Tahoma"/>
              </a:rPr>
              <a:t>p</a:t>
            </a:r>
            <a:r>
              <a:rPr sz="2000" b="1" spc="-65" dirty="0">
                <a:solidFill>
                  <a:srgbClr val="FF0000"/>
                </a:solidFill>
                <a:cs typeface="Tahoma"/>
              </a:rPr>
              <a:t>ut</a:t>
            </a:r>
            <a:r>
              <a:rPr lang="en-US" sz="2000" b="1" spc="-65" dirty="0">
                <a:solidFill>
                  <a:srgbClr val="FF0000"/>
                </a:solidFill>
                <a:cs typeface="Tahoma"/>
              </a:rPr>
              <a:t> :</a:t>
            </a:r>
            <a:endParaRPr sz="2000" dirty="0">
              <a:cs typeface="Tahoma"/>
            </a:endParaRPr>
          </a:p>
        </p:txBody>
      </p:sp>
      <p:sp>
        <p:nvSpPr>
          <p:cNvPr id="64" name="object 8">
            <a:extLst>
              <a:ext uri="{FF2B5EF4-FFF2-40B4-BE49-F238E27FC236}">
                <a16:creationId xmlns:a16="http://schemas.microsoft.com/office/drawing/2014/main" id="{3411E7EE-CD05-D5D7-42AD-881A58D095BB}"/>
              </a:ext>
            </a:extLst>
          </p:cNvPr>
          <p:cNvSpPr txBox="1"/>
          <p:nvPr/>
        </p:nvSpPr>
        <p:spPr>
          <a:xfrm>
            <a:off x="658813" y="3243657"/>
            <a:ext cx="2252980" cy="443711"/>
          </a:xfrm>
          <a:prstGeom prst="rect">
            <a:avLst/>
          </a:prstGeom>
        </p:spPr>
        <p:txBody>
          <a:bodyPr vert="horz" wrap="square" lIns="0" tIns="12700" rIns="0" bIns="0" rtlCol="0">
            <a:spAutoFit/>
          </a:bodyPr>
          <a:lstStyle/>
          <a:p>
            <a:pPr marL="12700">
              <a:lnSpc>
                <a:spcPct val="100000"/>
              </a:lnSpc>
              <a:spcBef>
                <a:spcPts val="100"/>
              </a:spcBef>
            </a:pPr>
            <a:r>
              <a:rPr lang="en-US" sz="2800" b="1" spc="30" dirty="0">
                <a:solidFill>
                  <a:srgbClr val="FF0000"/>
                </a:solidFill>
                <a:cs typeface="Tahoma"/>
              </a:rPr>
              <a:t>Inference T = 9</a:t>
            </a:r>
            <a:endParaRPr sz="2800" b="1" dirty="0">
              <a:cs typeface="Tahoma"/>
            </a:endParaRPr>
          </a:p>
        </p:txBody>
      </p:sp>
    </p:spTree>
    <p:extLst>
      <p:ext uri="{BB962C8B-B14F-4D97-AF65-F5344CB8AC3E}">
        <p14:creationId xmlns:p14="http://schemas.microsoft.com/office/powerpoint/2010/main" val="30727536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7F066-EB4B-407F-AA51-671CBBF038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39EE26-3398-B93C-3978-31B8791FAAE4}"/>
              </a:ext>
            </a:extLst>
          </p:cNvPr>
          <p:cNvSpPr>
            <a:spLocks noGrp="1"/>
          </p:cNvSpPr>
          <p:nvPr>
            <p:ph type="title"/>
          </p:nvPr>
        </p:nvSpPr>
        <p:spPr>
          <a:xfrm>
            <a:off x="669552" y="594335"/>
            <a:ext cx="10863635" cy="639153"/>
          </a:xfrm>
        </p:spPr>
        <p:txBody>
          <a:bodyPr>
            <a:normAutofit fontScale="90000"/>
          </a:bodyPr>
          <a:lstStyle/>
          <a:p>
            <a:r>
              <a:rPr lang="en-US" dirty="0">
                <a:latin typeface="+mn-lt"/>
              </a:rPr>
              <a:t>Next Token Prediction Task: the motivation  behind the KV cache</a:t>
            </a:r>
            <a:endParaRPr lang="en-IN" dirty="0">
              <a:latin typeface="+mn-lt"/>
            </a:endParaRPr>
          </a:p>
        </p:txBody>
      </p:sp>
      <p:sp>
        <p:nvSpPr>
          <p:cNvPr id="3" name="Content Placeholder 2">
            <a:extLst>
              <a:ext uri="{FF2B5EF4-FFF2-40B4-BE49-F238E27FC236}">
                <a16:creationId xmlns:a16="http://schemas.microsoft.com/office/drawing/2014/main" id="{4F319425-DB49-41B5-0CCA-558595742DD2}"/>
              </a:ext>
            </a:extLst>
          </p:cNvPr>
          <p:cNvSpPr>
            <a:spLocks noGrp="1"/>
          </p:cNvSpPr>
          <p:nvPr>
            <p:ph idx="1"/>
          </p:nvPr>
        </p:nvSpPr>
        <p:spPr>
          <a:xfrm>
            <a:off x="678883" y="1675074"/>
            <a:ext cx="10854304" cy="4454263"/>
          </a:xfrm>
        </p:spPr>
        <p:txBody>
          <a:bodyPr>
            <a:normAutofit/>
          </a:bodyPr>
          <a:lstStyle/>
          <a:p>
            <a:pPr>
              <a:spcBef>
                <a:spcPts val="600"/>
              </a:spcBef>
              <a:spcAft>
                <a:spcPts val="600"/>
              </a:spcAft>
            </a:pPr>
            <a:r>
              <a:rPr lang="en-US" sz="2400" dirty="0">
                <a:solidFill>
                  <a:srgbClr val="161A3E"/>
                </a:solidFill>
                <a:latin typeface="+mn-lt"/>
              </a:rPr>
              <a:t>At every step of the inference, we are only interested in the last token output by the model, because we already  have the previous ones. However, the model needs access to all the previous tokens to decide on which token to  output, since they constitute its context (or the “prompt”).</a:t>
            </a:r>
          </a:p>
          <a:p>
            <a:pPr>
              <a:spcBef>
                <a:spcPts val="600"/>
              </a:spcBef>
              <a:spcAft>
                <a:spcPts val="600"/>
              </a:spcAft>
            </a:pPr>
            <a:r>
              <a:rPr lang="en-US" sz="2400" dirty="0">
                <a:solidFill>
                  <a:srgbClr val="161A3E"/>
                </a:solidFill>
                <a:latin typeface="+mn-lt"/>
              </a:rPr>
              <a:t>Is there a way to make the model do less computation on the token it has already seen during inference?  YES! The solution is the KV cache!</a:t>
            </a:r>
          </a:p>
        </p:txBody>
      </p:sp>
    </p:spTree>
    <p:extLst>
      <p:ext uri="{BB962C8B-B14F-4D97-AF65-F5344CB8AC3E}">
        <p14:creationId xmlns:p14="http://schemas.microsoft.com/office/powerpoint/2010/main" val="19304618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2171719959"/>
              </p:ext>
            </p:extLst>
          </p:nvPr>
        </p:nvGraphicFramePr>
        <p:xfrm>
          <a:off x="910855" y="2807877"/>
          <a:ext cx="1093282" cy="1907952"/>
        </p:xfrm>
        <a:graphic>
          <a:graphicData uri="http://schemas.openxmlformats.org/drawingml/2006/table">
            <a:tbl>
              <a:tblPr firstRow="1" bandRow="1">
                <a:tableStyleId>{2D5ABB26-0587-4C30-8999-92F81FD0307C}</a:tableStyleId>
              </a:tblPr>
              <a:tblGrid>
                <a:gridCol w="1093282">
                  <a:extLst>
                    <a:ext uri="{9D8B030D-6E8A-4147-A177-3AD203B41FA5}">
                      <a16:colId xmlns:a16="http://schemas.microsoft.com/office/drawing/2014/main" val="20000"/>
                    </a:ext>
                  </a:extLst>
                </a:gridCol>
              </a:tblGrid>
              <a:tr h="211995">
                <a:tc>
                  <a:txBody>
                    <a:bodyPr/>
                    <a:lstStyle/>
                    <a:p>
                      <a:pPr marL="91440">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1</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0"/>
                  </a:ext>
                </a:extLst>
              </a:tr>
              <a:tr h="211994">
                <a:tc>
                  <a:txBody>
                    <a:bodyPr/>
                    <a:lstStyle/>
                    <a:p>
                      <a:pPr marL="91440">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2</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1"/>
                  </a:ext>
                </a:extLst>
              </a:tr>
              <a:tr h="211995">
                <a:tc>
                  <a:txBody>
                    <a:bodyPr/>
                    <a:lstStyle/>
                    <a:p>
                      <a:pPr marL="91440">
                        <a:lnSpc>
                          <a:spcPct val="100000"/>
                        </a:lnSpc>
                        <a:spcBef>
                          <a:spcPts val="330"/>
                        </a:spcBef>
                      </a:pPr>
                      <a:r>
                        <a:rPr sz="800" spc="-5" dirty="0">
                          <a:latin typeface="Tahoma"/>
                          <a:cs typeface="Tahoma"/>
                        </a:rPr>
                        <a:t>TOK</a:t>
                      </a:r>
                      <a:r>
                        <a:rPr sz="800" dirty="0">
                          <a:latin typeface="Tahoma"/>
                          <a:cs typeface="Tahoma"/>
                        </a:rPr>
                        <a:t>EN</a:t>
                      </a:r>
                      <a:r>
                        <a:rPr sz="800" spc="-75" dirty="0">
                          <a:latin typeface="Tahoma"/>
                          <a:cs typeface="Tahoma"/>
                        </a:rPr>
                        <a:t> </a:t>
                      </a:r>
                      <a:r>
                        <a:rPr sz="800" dirty="0">
                          <a:latin typeface="Tahoma"/>
                          <a:cs typeface="Tahoma"/>
                        </a:rPr>
                        <a:t>3</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2"/>
                  </a:ext>
                </a:extLst>
              </a:tr>
              <a:tr h="211995">
                <a:tc>
                  <a:txBody>
                    <a:bodyPr/>
                    <a:lstStyle/>
                    <a:p>
                      <a:pPr marL="91440">
                        <a:lnSpc>
                          <a:spcPct val="100000"/>
                        </a:lnSpc>
                        <a:spcBef>
                          <a:spcPts val="335"/>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4</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3"/>
                  </a:ext>
                </a:extLst>
              </a:tr>
              <a:tr h="211995">
                <a:tc>
                  <a:txBody>
                    <a:bodyPr/>
                    <a:lstStyle/>
                    <a:p>
                      <a:pPr marL="91440">
                        <a:lnSpc>
                          <a:spcPct val="100000"/>
                        </a:lnSpc>
                        <a:spcBef>
                          <a:spcPts val="335"/>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5</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4"/>
                  </a:ext>
                </a:extLst>
              </a:tr>
              <a:tr h="211994">
                <a:tc>
                  <a:txBody>
                    <a:bodyPr/>
                    <a:lstStyle/>
                    <a:p>
                      <a:pPr marL="91440">
                        <a:lnSpc>
                          <a:spcPct val="100000"/>
                        </a:lnSpc>
                        <a:spcBef>
                          <a:spcPts val="334"/>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6</a:t>
                      </a:r>
                      <a:endParaRPr sz="800">
                        <a:latin typeface="Tahoma"/>
                        <a:cs typeface="Tahoma"/>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5"/>
                  </a:ext>
                </a:extLst>
              </a:tr>
              <a:tr h="211995">
                <a:tc>
                  <a:txBody>
                    <a:bodyPr/>
                    <a:lstStyle/>
                    <a:p>
                      <a:pPr marL="91440">
                        <a:lnSpc>
                          <a:spcPct val="100000"/>
                        </a:lnSpc>
                        <a:spcBef>
                          <a:spcPts val="334"/>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7</a:t>
                      </a:r>
                      <a:endParaRPr sz="800">
                        <a:latin typeface="Tahoma"/>
                        <a:cs typeface="Tahoma"/>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6"/>
                  </a:ext>
                </a:extLst>
              </a:tr>
              <a:tr h="211994">
                <a:tc>
                  <a:txBody>
                    <a:bodyPr/>
                    <a:lstStyle/>
                    <a:p>
                      <a:pPr marL="91440">
                        <a:lnSpc>
                          <a:spcPct val="100000"/>
                        </a:lnSpc>
                        <a:spcBef>
                          <a:spcPts val="334"/>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8</a:t>
                      </a:r>
                      <a:endParaRPr sz="800">
                        <a:latin typeface="Tahoma"/>
                        <a:cs typeface="Tahoma"/>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7"/>
                  </a:ext>
                </a:extLst>
              </a:tr>
              <a:tr h="211995">
                <a:tc>
                  <a:txBody>
                    <a:bodyPr/>
                    <a:lstStyle/>
                    <a:p>
                      <a:pPr marL="91440">
                        <a:lnSpc>
                          <a:spcPct val="100000"/>
                        </a:lnSpc>
                        <a:spcBef>
                          <a:spcPts val="335"/>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9</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8"/>
                  </a:ext>
                </a:extLst>
              </a:tr>
            </a:tbl>
          </a:graphicData>
        </a:graphic>
      </p:graphicFrame>
      <p:graphicFrame>
        <p:nvGraphicFramePr>
          <p:cNvPr id="4" name="object 4"/>
          <p:cNvGraphicFramePr>
            <a:graphicFrameLocks noGrp="1"/>
          </p:cNvGraphicFramePr>
          <p:nvPr>
            <p:extLst>
              <p:ext uri="{D42A27DB-BD31-4B8C-83A1-F6EECF244321}">
                <p14:modId xmlns:p14="http://schemas.microsoft.com/office/powerpoint/2010/main" val="3137020599"/>
              </p:ext>
            </p:extLst>
          </p:nvPr>
        </p:nvGraphicFramePr>
        <p:xfrm>
          <a:off x="2644341" y="3008225"/>
          <a:ext cx="1867685" cy="1504658"/>
        </p:xfrm>
        <a:graphic>
          <a:graphicData uri="http://schemas.openxmlformats.org/drawingml/2006/table">
            <a:tbl>
              <a:tblPr firstRow="1" bandRow="1">
                <a:tableStyleId>{2D5ABB26-0587-4C30-8999-92F81FD0307C}</a:tableStyleId>
              </a:tblPr>
              <a:tblGrid>
                <a:gridCol w="207520">
                  <a:extLst>
                    <a:ext uri="{9D8B030D-6E8A-4147-A177-3AD203B41FA5}">
                      <a16:colId xmlns:a16="http://schemas.microsoft.com/office/drawing/2014/main" val="20000"/>
                    </a:ext>
                  </a:extLst>
                </a:gridCol>
                <a:gridCol w="207520">
                  <a:extLst>
                    <a:ext uri="{9D8B030D-6E8A-4147-A177-3AD203B41FA5}">
                      <a16:colId xmlns:a16="http://schemas.microsoft.com/office/drawing/2014/main" val="20001"/>
                    </a:ext>
                  </a:extLst>
                </a:gridCol>
                <a:gridCol w="207520">
                  <a:extLst>
                    <a:ext uri="{9D8B030D-6E8A-4147-A177-3AD203B41FA5}">
                      <a16:colId xmlns:a16="http://schemas.microsoft.com/office/drawing/2014/main" val="20002"/>
                    </a:ext>
                  </a:extLst>
                </a:gridCol>
                <a:gridCol w="207520">
                  <a:extLst>
                    <a:ext uri="{9D8B030D-6E8A-4147-A177-3AD203B41FA5}">
                      <a16:colId xmlns:a16="http://schemas.microsoft.com/office/drawing/2014/main" val="20003"/>
                    </a:ext>
                  </a:extLst>
                </a:gridCol>
                <a:gridCol w="207521">
                  <a:extLst>
                    <a:ext uri="{9D8B030D-6E8A-4147-A177-3AD203B41FA5}">
                      <a16:colId xmlns:a16="http://schemas.microsoft.com/office/drawing/2014/main" val="20004"/>
                    </a:ext>
                  </a:extLst>
                </a:gridCol>
                <a:gridCol w="207521">
                  <a:extLst>
                    <a:ext uri="{9D8B030D-6E8A-4147-A177-3AD203B41FA5}">
                      <a16:colId xmlns:a16="http://schemas.microsoft.com/office/drawing/2014/main" val="20005"/>
                    </a:ext>
                  </a:extLst>
                </a:gridCol>
                <a:gridCol w="207521">
                  <a:extLst>
                    <a:ext uri="{9D8B030D-6E8A-4147-A177-3AD203B41FA5}">
                      <a16:colId xmlns:a16="http://schemas.microsoft.com/office/drawing/2014/main" val="20006"/>
                    </a:ext>
                  </a:extLst>
                </a:gridCol>
                <a:gridCol w="207521">
                  <a:extLst>
                    <a:ext uri="{9D8B030D-6E8A-4147-A177-3AD203B41FA5}">
                      <a16:colId xmlns:a16="http://schemas.microsoft.com/office/drawing/2014/main" val="20007"/>
                    </a:ext>
                  </a:extLst>
                </a:gridCol>
                <a:gridCol w="207521">
                  <a:extLst>
                    <a:ext uri="{9D8B030D-6E8A-4147-A177-3AD203B41FA5}">
                      <a16:colId xmlns:a16="http://schemas.microsoft.com/office/drawing/2014/main" val="20008"/>
                    </a:ext>
                  </a:extLst>
                </a:gridCol>
              </a:tblGrid>
              <a:tr h="1504658">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1</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2</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3</a:t>
                      </a:r>
                      <a:endParaRPr sz="900" dirty="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4</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2075" marR="10795"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5</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6</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7</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2075" marR="10795"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8</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9</a:t>
                      </a:r>
                      <a:endParaRPr sz="900" dirty="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extLst>
                  <a:ext uri="{0D108BD9-81ED-4DB2-BD59-A6C34878D82A}">
                    <a16:rowId xmlns:a16="http://schemas.microsoft.com/office/drawing/2014/main" val="10000"/>
                  </a:ext>
                </a:extLst>
              </a:tr>
            </a:tbl>
          </a:graphicData>
        </a:graphic>
      </p:graphicFrame>
      <p:sp>
        <p:nvSpPr>
          <p:cNvPr id="5" name="object 5"/>
          <p:cNvSpPr txBox="1"/>
          <p:nvPr/>
        </p:nvSpPr>
        <p:spPr>
          <a:xfrm>
            <a:off x="2238093" y="3464320"/>
            <a:ext cx="172723" cy="287969"/>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𝑋</a:t>
            </a:r>
            <a:endParaRPr sz="1800">
              <a:latin typeface="Cambria Math"/>
              <a:cs typeface="Cambria Math"/>
            </a:endParaRPr>
          </a:p>
        </p:txBody>
      </p:sp>
      <p:sp>
        <p:nvSpPr>
          <p:cNvPr id="6" name="object 6"/>
          <p:cNvSpPr txBox="1"/>
          <p:nvPr/>
        </p:nvSpPr>
        <p:spPr>
          <a:xfrm>
            <a:off x="4746426" y="3464384"/>
            <a:ext cx="195500" cy="297802"/>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a:t>
            </a:r>
            <a:endParaRPr sz="1800">
              <a:latin typeface="Cambria Math"/>
              <a:cs typeface="Cambria Math"/>
            </a:endParaRPr>
          </a:p>
        </p:txBody>
      </p:sp>
      <p:graphicFrame>
        <p:nvGraphicFramePr>
          <p:cNvPr id="7" name="object 7"/>
          <p:cNvGraphicFramePr>
            <a:graphicFrameLocks noGrp="1"/>
          </p:cNvGraphicFramePr>
          <p:nvPr>
            <p:extLst>
              <p:ext uri="{D42A27DB-BD31-4B8C-83A1-F6EECF244321}">
                <p14:modId xmlns:p14="http://schemas.microsoft.com/office/powerpoint/2010/main" val="3538969551"/>
              </p:ext>
            </p:extLst>
          </p:nvPr>
        </p:nvGraphicFramePr>
        <p:xfrm>
          <a:off x="5171168" y="2132608"/>
          <a:ext cx="1981571" cy="3543327"/>
        </p:xfrm>
        <a:graphic>
          <a:graphicData uri="http://schemas.openxmlformats.org/drawingml/2006/table">
            <a:tbl>
              <a:tblPr firstRow="1" bandRow="1">
                <a:tableStyleId>{2D5ABB26-0587-4C30-8999-92F81FD0307C}</a:tableStyleId>
              </a:tblPr>
              <a:tblGrid>
                <a:gridCol w="207520">
                  <a:extLst>
                    <a:ext uri="{9D8B030D-6E8A-4147-A177-3AD203B41FA5}">
                      <a16:colId xmlns:a16="http://schemas.microsoft.com/office/drawing/2014/main" val="20000"/>
                    </a:ext>
                  </a:extLst>
                </a:gridCol>
                <a:gridCol w="232828">
                  <a:extLst>
                    <a:ext uri="{9D8B030D-6E8A-4147-A177-3AD203B41FA5}">
                      <a16:colId xmlns:a16="http://schemas.microsoft.com/office/drawing/2014/main" val="20001"/>
                    </a:ext>
                  </a:extLst>
                </a:gridCol>
                <a:gridCol w="220174">
                  <a:extLst>
                    <a:ext uri="{9D8B030D-6E8A-4147-A177-3AD203B41FA5}">
                      <a16:colId xmlns:a16="http://schemas.microsoft.com/office/drawing/2014/main" val="20002"/>
                    </a:ext>
                  </a:extLst>
                </a:gridCol>
                <a:gridCol w="220174">
                  <a:extLst>
                    <a:ext uri="{9D8B030D-6E8A-4147-A177-3AD203B41FA5}">
                      <a16:colId xmlns:a16="http://schemas.microsoft.com/office/drawing/2014/main" val="20003"/>
                    </a:ext>
                  </a:extLst>
                </a:gridCol>
                <a:gridCol w="220175">
                  <a:extLst>
                    <a:ext uri="{9D8B030D-6E8A-4147-A177-3AD203B41FA5}">
                      <a16:colId xmlns:a16="http://schemas.microsoft.com/office/drawing/2014/main" val="20004"/>
                    </a:ext>
                  </a:extLst>
                </a:gridCol>
                <a:gridCol w="220175">
                  <a:extLst>
                    <a:ext uri="{9D8B030D-6E8A-4147-A177-3AD203B41FA5}">
                      <a16:colId xmlns:a16="http://schemas.microsoft.com/office/drawing/2014/main" val="20005"/>
                    </a:ext>
                  </a:extLst>
                </a:gridCol>
                <a:gridCol w="220175">
                  <a:extLst>
                    <a:ext uri="{9D8B030D-6E8A-4147-A177-3AD203B41FA5}">
                      <a16:colId xmlns:a16="http://schemas.microsoft.com/office/drawing/2014/main" val="20006"/>
                    </a:ext>
                  </a:extLst>
                </a:gridCol>
                <a:gridCol w="220175">
                  <a:extLst>
                    <a:ext uri="{9D8B030D-6E8A-4147-A177-3AD203B41FA5}">
                      <a16:colId xmlns:a16="http://schemas.microsoft.com/office/drawing/2014/main" val="20007"/>
                    </a:ext>
                  </a:extLst>
                </a:gridCol>
                <a:gridCol w="220175">
                  <a:extLst>
                    <a:ext uri="{9D8B030D-6E8A-4147-A177-3AD203B41FA5}">
                      <a16:colId xmlns:a16="http://schemas.microsoft.com/office/drawing/2014/main" val="20008"/>
                    </a:ext>
                  </a:extLst>
                </a:gridCol>
              </a:tblGrid>
              <a:tr h="393704">
                <a:tc>
                  <a:txBody>
                    <a:bodyPr/>
                    <a:lstStyle/>
                    <a:p>
                      <a:pPr marL="92075" marR="78740" indent="-635" algn="ctr">
                        <a:lnSpc>
                          <a:spcPct val="100000"/>
                        </a:lnSpc>
                        <a:spcBef>
                          <a:spcPts val="345"/>
                        </a:spcBef>
                      </a:pPr>
                      <a:r>
                        <a:rPr sz="400" dirty="0">
                          <a:latin typeface="Tahoma"/>
                          <a:cs typeface="Tahoma"/>
                        </a:rPr>
                        <a:t>T  1</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88900">
                        <a:lnSpc>
                          <a:spcPct val="100000"/>
                        </a:lnSpc>
                        <a:spcBef>
                          <a:spcPts val="345"/>
                        </a:spcBef>
                      </a:pPr>
                      <a:r>
                        <a:rPr sz="400" dirty="0">
                          <a:latin typeface="Tahoma"/>
                          <a:cs typeface="Tahoma"/>
                        </a:rPr>
                        <a:t>T  </a:t>
                      </a:r>
                      <a:r>
                        <a:rPr sz="400" spc="-5" dirty="0">
                          <a:latin typeface="Tahoma"/>
                          <a:cs typeface="Tahoma"/>
                        </a:rPr>
                        <a:t>1</a:t>
                      </a: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extLst>
                  <a:ext uri="{0D108BD9-81ED-4DB2-BD59-A6C34878D82A}">
                    <a16:rowId xmlns:a16="http://schemas.microsoft.com/office/drawing/2014/main" val="10000"/>
                  </a:ext>
                </a:extLst>
              </a:tr>
              <a:tr h="393704">
                <a:tc>
                  <a:txBody>
                    <a:bodyPr/>
                    <a:lstStyle/>
                    <a:p>
                      <a:pPr marL="92075" marR="78740" indent="-635" algn="ctr">
                        <a:lnSpc>
                          <a:spcPct val="100000"/>
                        </a:lnSpc>
                        <a:spcBef>
                          <a:spcPts val="345"/>
                        </a:spcBef>
                      </a:pPr>
                      <a:r>
                        <a:rPr sz="400" dirty="0">
                          <a:latin typeface="Tahoma"/>
                          <a:cs typeface="Tahoma"/>
                        </a:rPr>
                        <a:t>T  1</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88900">
                        <a:lnSpc>
                          <a:spcPct val="100000"/>
                        </a:lnSpc>
                        <a:spcBef>
                          <a:spcPts val="345"/>
                        </a:spcBef>
                      </a:pPr>
                      <a:r>
                        <a:rPr sz="400" dirty="0">
                          <a:latin typeface="Tahoma"/>
                          <a:cs typeface="Tahoma"/>
                        </a:rPr>
                        <a:t>T  </a:t>
                      </a:r>
                      <a:r>
                        <a:rPr sz="400" spc="-5" dirty="0">
                          <a:latin typeface="Tahoma"/>
                          <a:cs typeface="Tahoma"/>
                        </a:rPr>
                        <a:t>1</a:t>
                      </a: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extLst>
                  <a:ext uri="{0D108BD9-81ED-4DB2-BD59-A6C34878D82A}">
                    <a16:rowId xmlns:a16="http://schemas.microsoft.com/office/drawing/2014/main" val="10001"/>
                  </a:ext>
                </a:extLst>
              </a:tr>
              <a:tr h="393704">
                <a:tc>
                  <a:txBody>
                    <a:bodyPr/>
                    <a:lstStyle/>
                    <a:p>
                      <a:pPr marL="92075" marR="78740" indent="-635" algn="ctr">
                        <a:lnSpc>
                          <a:spcPct val="100000"/>
                        </a:lnSpc>
                        <a:spcBef>
                          <a:spcPts val="345"/>
                        </a:spcBef>
                      </a:pPr>
                      <a:r>
                        <a:rPr sz="400" dirty="0">
                          <a:latin typeface="Tahoma"/>
                          <a:cs typeface="Tahoma"/>
                        </a:rPr>
                        <a:t>T  1</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88900">
                        <a:lnSpc>
                          <a:spcPct val="100000"/>
                        </a:lnSpc>
                        <a:spcBef>
                          <a:spcPts val="345"/>
                        </a:spcBef>
                      </a:pPr>
                      <a:r>
                        <a:rPr sz="400" dirty="0">
                          <a:latin typeface="Tahoma"/>
                          <a:cs typeface="Tahoma"/>
                        </a:rPr>
                        <a:t>T  </a:t>
                      </a:r>
                      <a:r>
                        <a:rPr sz="400" spc="-5" dirty="0">
                          <a:latin typeface="Tahoma"/>
                          <a:cs typeface="Tahoma"/>
                        </a:rPr>
                        <a:t>1</a:t>
                      </a: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extLst>
                  <a:ext uri="{0D108BD9-81ED-4DB2-BD59-A6C34878D82A}">
                    <a16:rowId xmlns:a16="http://schemas.microsoft.com/office/drawing/2014/main" val="10002"/>
                  </a:ext>
                </a:extLst>
              </a:tr>
              <a:tr h="393705">
                <a:tc>
                  <a:txBody>
                    <a:bodyPr/>
                    <a:lstStyle/>
                    <a:p>
                      <a:pPr marL="4445" algn="ctr">
                        <a:lnSpc>
                          <a:spcPct val="100000"/>
                        </a:lnSpc>
                        <a:spcBef>
                          <a:spcPts val="345"/>
                        </a:spcBef>
                      </a:pPr>
                      <a:r>
                        <a:rPr sz="400" dirty="0">
                          <a:latin typeface="Tahoma"/>
                          <a:cs typeface="Tahoma"/>
                        </a:rPr>
                        <a:t>T</a:t>
                      </a:r>
                      <a:endParaRPr sz="400">
                        <a:latin typeface="Tahoma"/>
                        <a:cs typeface="Tahoma"/>
                      </a:endParaRPr>
                    </a:p>
                    <a:p>
                      <a:pPr marL="5080" algn="ctr">
                        <a:lnSpc>
                          <a:spcPct val="100000"/>
                        </a:lnSpc>
                        <a:spcBef>
                          <a:spcPts val="5"/>
                        </a:spcBef>
                      </a:pPr>
                      <a:r>
                        <a:rPr sz="400" dirty="0">
                          <a:latin typeface="Tahoma"/>
                          <a:cs typeface="Tahoma"/>
                        </a:rPr>
                        <a:t>1</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88900">
                        <a:lnSpc>
                          <a:spcPct val="100000"/>
                        </a:lnSpc>
                        <a:spcBef>
                          <a:spcPts val="345"/>
                        </a:spcBef>
                      </a:pPr>
                      <a:r>
                        <a:rPr sz="400" dirty="0">
                          <a:latin typeface="Tahoma"/>
                          <a:cs typeface="Tahoma"/>
                        </a:rPr>
                        <a:t>T  </a:t>
                      </a:r>
                      <a:r>
                        <a:rPr sz="400" spc="-5" dirty="0">
                          <a:latin typeface="Tahoma"/>
                          <a:cs typeface="Tahoma"/>
                        </a:rPr>
                        <a:t>1</a:t>
                      </a: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45"/>
                        </a:spcBef>
                      </a:pPr>
                      <a:r>
                        <a:rPr sz="400" dirty="0">
                          <a:latin typeface="Tahoma"/>
                          <a:cs typeface="Tahoma"/>
                        </a:rPr>
                        <a:t>T</a:t>
                      </a:r>
                      <a:endParaRPr sz="400">
                        <a:latin typeface="Tahoma"/>
                        <a:cs typeface="Tahoma"/>
                      </a:endParaRPr>
                    </a:p>
                    <a:p>
                      <a:pPr algn="ctr">
                        <a:lnSpc>
                          <a:spcPct val="100000"/>
                        </a:lnSpc>
                        <a:spcBef>
                          <a:spcPts val="5"/>
                        </a:spcBef>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45"/>
                        </a:spcBef>
                      </a:pPr>
                      <a:r>
                        <a:rPr sz="400" dirty="0">
                          <a:latin typeface="Tahoma"/>
                          <a:cs typeface="Tahoma"/>
                        </a:rPr>
                        <a:t>T</a:t>
                      </a:r>
                      <a:endParaRPr sz="400">
                        <a:latin typeface="Tahoma"/>
                        <a:cs typeface="Tahoma"/>
                      </a:endParaRPr>
                    </a:p>
                    <a:p>
                      <a:pPr algn="ctr">
                        <a:lnSpc>
                          <a:spcPct val="100000"/>
                        </a:lnSpc>
                        <a:spcBef>
                          <a:spcPts val="5"/>
                        </a:spcBef>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45"/>
                        </a:spcBef>
                      </a:pPr>
                      <a:r>
                        <a:rPr sz="400" dirty="0">
                          <a:latin typeface="Tahoma"/>
                          <a:cs typeface="Tahoma"/>
                        </a:rPr>
                        <a:t>T</a:t>
                      </a:r>
                      <a:endParaRPr sz="400">
                        <a:latin typeface="Tahoma"/>
                        <a:cs typeface="Tahoma"/>
                      </a:endParaRPr>
                    </a:p>
                    <a:p>
                      <a:pPr algn="ctr">
                        <a:lnSpc>
                          <a:spcPct val="100000"/>
                        </a:lnSpc>
                        <a:spcBef>
                          <a:spcPts val="5"/>
                        </a:spcBef>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R="635" algn="ctr">
                        <a:lnSpc>
                          <a:spcPct val="100000"/>
                        </a:lnSpc>
                        <a:spcBef>
                          <a:spcPts val="345"/>
                        </a:spcBef>
                      </a:pPr>
                      <a:r>
                        <a:rPr sz="400" dirty="0">
                          <a:latin typeface="Tahoma"/>
                          <a:cs typeface="Tahoma"/>
                        </a:rPr>
                        <a:t>T</a:t>
                      </a:r>
                      <a:endParaRPr sz="400">
                        <a:latin typeface="Tahoma"/>
                        <a:cs typeface="Tahoma"/>
                      </a:endParaRPr>
                    </a:p>
                    <a:p>
                      <a:pPr algn="ctr">
                        <a:lnSpc>
                          <a:spcPct val="100000"/>
                        </a:lnSpc>
                        <a:spcBef>
                          <a:spcPts val="5"/>
                        </a:spcBef>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45"/>
                        </a:spcBef>
                      </a:pPr>
                      <a:r>
                        <a:rPr sz="400" dirty="0">
                          <a:latin typeface="Tahoma"/>
                          <a:cs typeface="Tahoma"/>
                        </a:rPr>
                        <a:t>T</a:t>
                      </a:r>
                      <a:endParaRPr sz="400">
                        <a:latin typeface="Tahoma"/>
                        <a:cs typeface="Tahoma"/>
                      </a:endParaRPr>
                    </a:p>
                    <a:p>
                      <a:pPr algn="ctr">
                        <a:lnSpc>
                          <a:spcPct val="100000"/>
                        </a:lnSpc>
                        <a:spcBef>
                          <a:spcPts val="5"/>
                        </a:spcBef>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45"/>
                        </a:spcBef>
                      </a:pPr>
                      <a:r>
                        <a:rPr sz="400" dirty="0">
                          <a:latin typeface="Tahoma"/>
                          <a:cs typeface="Tahoma"/>
                        </a:rPr>
                        <a:t>T</a:t>
                      </a:r>
                      <a:endParaRPr sz="400">
                        <a:latin typeface="Tahoma"/>
                        <a:cs typeface="Tahoma"/>
                      </a:endParaRPr>
                    </a:p>
                    <a:p>
                      <a:pPr algn="ctr">
                        <a:lnSpc>
                          <a:spcPct val="100000"/>
                        </a:lnSpc>
                        <a:spcBef>
                          <a:spcPts val="5"/>
                        </a:spcBef>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45"/>
                        </a:spcBef>
                      </a:pPr>
                      <a:r>
                        <a:rPr sz="400" dirty="0">
                          <a:latin typeface="Tahoma"/>
                          <a:cs typeface="Tahoma"/>
                        </a:rPr>
                        <a:t>T</a:t>
                      </a:r>
                      <a:endParaRPr sz="400">
                        <a:latin typeface="Tahoma"/>
                        <a:cs typeface="Tahoma"/>
                      </a:endParaRPr>
                    </a:p>
                    <a:p>
                      <a:pPr algn="ctr">
                        <a:lnSpc>
                          <a:spcPct val="100000"/>
                        </a:lnSpc>
                        <a:spcBef>
                          <a:spcPts val="5"/>
                        </a:spcBef>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extLst>
                  <a:ext uri="{0D108BD9-81ED-4DB2-BD59-A6C34878D82A}">
                    <a16:rowId xmlns:a16="http://schemas.microsoft.com/office/drawing/2014/main" val="10003"/>
                  </a:ext>
                </a:extLst>
              </a:tr>
              <a:tr h="393705">
                <a:tc>
                  <a:txBody>
                    <a:bodyPr/>
                    <a:lstStyle/>
                    <a:p>
                      <a:pPr marL="92075" marR="78740" indent="-635" algn="ctr">
                        <a:lnSpc>
                          <a:spcPct val="100000"/>
                        </a:lnSpc>
                        <a:spcBef>
                          <a:spcPts val="350"/>
                        </a:spcBef>
                      </a:pPr>
                      <a:r>
                        <a:rPr sz="400" dirty="0">
                          <a:latin typeface="Tahoma"/>
                          <a:cs typeface="Tahoma"/>
                        </a:rPr>
                        <a:t>T  1</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88900">
                        <a:lnSpc>
                          <a:spcPct val="100000"/>
                        </a:lnSpc>
                        <a:spcBef>
                          <a:spcPts val="350"/>
                        </a:spcBef>
                      </a:pPr>
                      <a:r>
                        <a:rPr sz="400" dirty="0">
                          <a:latin typeface="Tahoma"/>
                          <a:cs typeface="Tahoma"/>
                        </a:rPr>
                        <a:t>T  </a:t>
                      </a:r>
                      <a:r>
                        <a:rPr sz="400" spc="-5" dirty="0">
                          <a:latin typeface="Tahoma"/>
                          <a:cs typeface="Tahoma"/>
                        </a:rPr>
                        <a:t>1</a:t>
                      </a: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extLst>
                  <a:ext uri="{0D108BD9-81ED-4DB2-BD59-A6C34878D82A}">
                    <a16:rowId xmlns:a16="http://schemas.microsoft.com/office/drawing/2014/main" val="10004"/>
                  </a:ext>
                </a:extLst>
              </a:tr>
              <a:tr h="393704">
                <a:tc>
                  <a:txBody>
                    <a:bodyPr/>
                    <a:lstStyle/>
                    <a:p>
                      <a:pPr marL="92075" marR="78740" indent="-635" algn="ctr">
                        <a:lnSpc>
                          <a:spcPct val="100000"/>
                        </a:lnSpc>
                        <a:spcBef>
                          <a:spcPts val="350"/>
                        </a:spcBef>
                      </a:pPr>
                      <a:r>
                        <a:rPr sz="400" dirty="0">
                          <a:latin typeface="Tahoma"/>
                          <a:cs typeface="Tahoma"/>
                        </a:rPr>
                        <a:t>T  1</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88900">
                        <a:lnSpc>
                          <a:spcPct val="100000"/>
                        </a:lnSpc>
                        <a:spcBef>
                          <a:spcPts val="350"/>
                        </a:spcBef>
                      </a:pPr>
                      <a:r>
                        <a:rPr sz="400" dirty="0">
                          <a:latin typeface="Tahoma"/>
                          <a:cs typeface="Tahoma"/>
                        </a:rPr>
                        <a:t>T  </a:t>
                      </a:r>
                      <a:r>
                        <a:rPr sz="400" spc="-5" dirty="0">
                          <a:latin typeface="Tahoma"/>
                          <a:cs typeface="Tahoma"/>
                        </a:rPr>
                        <a:t>1</a:t>
                      </a: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extLst>
                  <a:ext uri="{0D108BD9-81ED-4DB2-BD59-A6C34878D82A}">
                    <a16:rowId xmlns:a16="http://schemas.microsoft.com/office/drawing/2014/main" val="10005"/>
                  </a:ext>
                </a:extLst>
              </a:tr>
              <a:tr h="393704">
                <a:tc>
                  <a:txBody>
                    <a:bodyPr/>
                    <a:lstStyle/>
                    <a:p>
                      <a:pPr marL="92075" marR="78740" indent="-635" algn="ctr">
                        <a:lnSpc>
                          <a:spcPct val="100000"/>
                        </a:lnSpc>
                        <a:spcBef>
                          <a:spcPts val="350"/>
                        </a:spcBef>
                      </a:pPr>
                      <a:r>
                        <a:rPr sz="400" dirty="0">
                          <a:latin typeface="Tahoma"/>
                          <a:cs typeface="Tahoma"/>
                        </a:rPr>
                        <a:t>T  1</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88900">
                        <a:lnSpc>
                          <a:spcPct val="100000"/>
                        </a:lnSpc>
                        <a:spcBef>
                          <a:spcPts val="350"/>
                        </a:spcBef>
                      </a:pPr>
                      <a:r>
                        <a:rPr sz="400" dirty="0">
                          <a:latin typeface="Tahoma"/>
                          <a:cs typeface="Tahoma"/>
                        </a:rPr>
                        <a:t>T  </a:t>
                      </a:r>
                      <a:r>
                        <a:rPr sz="400" spc="-5" dirty="0">
                          <a:latin typeface="Tahoma"/>
                          <a:cs typeface="Tahoma"/>
                        </a:rPr>
                        <a:t>1</a:t>
                      </a: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extLst>
                  <a:ext uri="{0D108BD9-81ED-4DB2-BD59-A6C34878D82A}">
                    <a16:rowId xmlns:a16="http://schemas.microsoft.com/office/drawing/2014/main" val="10006"/>
                  </a:ext>
                </a:extLst>
              </a:tr>
              <a:tr h="393705">
                <a:tc>
                  <a:txBody>
                    <a:bodyPr/>
                    <a:lstStyle/>
                    <a:p>
                      <a:pPr marL="4445" algn="ctr">
                        <a:lnSpc>
                          <a:spcPct val="100000"/>
                        </a:lnSpc>
                        <a:spcBef>
                          <a:spcPts val="350"/>
                        </a:spcBef>
                      </a:pPr>
                      <a:r>
                        <a:rPr sz="400" dirty="0">
                          <a:latin typeface="Tahoma"/>
                          <a:cs typeface="Tahoma"/>
                        </a:rPr>
                        <a:t>T</a:t>
                      </a:r>
                      <a:endParaRPr sz="400">
                        <a:latin typeface="Tahoma"/>
                        <a:cs typeface="Tahoma"/>
                      </a:endParaRPr>
                    </a:p>
                    <a:p>
                      <a:pPr marL="5080" algn="ctr">
                        <a:lnSpc>
                          <a:spcPct val="100000"/>
                        </a:lnSpc>
                      </a:pPr>
                      <a:r>
                        <a:rPr sz="400" dirty="0">
                          <a:latin typeface="Tahoma"/>
                          <a:cs typeface="Tahoma"/>
                        </a:rPr>
                        <a:t>1</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88900">
                        <a:lnSpc>
                          <a:spcPct val="100000"/>
                        </a:lnSpc>
                        <a:spcBef>
                          <a:spcPts val="350"/>
                        </a:spcBef>
                      </a:pPr>
                      <a:r>
                        <a:rPr sz="400" dirty="0">
                          <a:latin typeface="Tahoma"/>
                          <a:cs typeface="Tahoma"/>
                        </a:rPr>
                        <a:t>T  </a:t>
                      </a:r>
                      <a:r>
                        <a:rPr sz="400" spc="-5" dirty="0">
                          <a:latin typeface="Tahoma"/>
                          <a:cs typeface="Tahoma"/>
                        </a:rPr>
                        <a:t>1</a:t>
                      </a: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50"/>
                        </a:spcBef>
                      </a:pPr>
                      <a:r>
                        <a:rPr sz="400" dirty="0">
                          <a:latin typeface="Tahoma"/>
                          <a:cs typeface="Tahoma"/>
                        </a:rPr>
                        <a:t>T</a:t>
                      </a:r>
                      <a:endParaRPr sz="400">
                        <a:latin typeface="Tahoma"/>
                        <a:cs typeface="Tahoma"/>
                      </a:endParaRPr>
                    </a:p>
                    <a:p>
                      <a:pPr algn="ctr">
                        <a:lnSpc>
                          <a:spcPct val="100000"/>
                        </a:lnSpc>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50"/>
                        </a:spcBef>
                      </a:pPr>
                      <a:r>
                        <a:rPr sz="400" dirty="0">
                          <a:latin typeface="Tahoma"/>
                          <a:cs typeface="Tahoma"/>
                        </a:rPr>
                        <a:t>T</a:t>
                      </a:r>
                      <a:endParaRPr sz="400">
                        <a:latin typeface="Tahoma"/>
                        <a:cs typeface="Tahoma"/>
                      </a:endParaRPr>
                    </a:p>
                    <a:p>
                      <a:pPr algn="ctr">
                        <a:lnSpc>
                          <a:spcPct val="100000"/>
                        </a:lnSpc>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50"/>
                        </a:spcBef>
                      </a:pPr>
                      <a:r>
                        <a:rPr sz="400" dirty="0">
                          <a:latin typeface="Tahoma"/>
                          <a:cs typeface="Tahoma"/>
                        </a:rPr>
                        <a:t>T</a:t>
                      </a:r>
                      <a:endParaRPr sz="400">
                        <a:latin typeface="Tahoma"/>
                        <a:cs typeface="Tahoma"/>
                      </a:endParaRPr>
                    </a:p>
                    <a:p>
                      <a:pPr algn="ctr">
                        <a:lnSpc>
                          <a:spcPct val="100000"/>
                        </a:lnSpc>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R="635" algn="ctr">
                        <a:lnSpc>
                          <a:spcPct val="100000"/>
                        </a:lnSpc>
                        <a:spcBef>
                          <a:spcPts val="350"/>
                        </a:spcBef>
                      </a:pPr>
                      <a:r>
                        <a:rPr sz="400" dirty="0">
                          <a:latin typeface="Tahoma"/>
                          <a:cs typeface="Tahoma"/>
                        </a:rPr>
                        <a:t>T</a:t>
                      </a:r>
                      <a:endParaRPr sz="400">
                        <a:latin typeface="Tahoma"/>
                        <a:cs typeface="Tahoma"/>
                      </a:endParaRPr>
                    </a:p>
                    <a:p>
                      <a:pPr algn="ctr">
                        <a:lnSpc>
                          <a:spcPct val="100000"/>
                        </a:lnSpc>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50"/>
                        </a:spcBef>
                      </a:pPr>
                      <a:r>
                        <a:rPr sz="400" dirty="0">
                          <a:latin typeface="Tahoma"/>
                          <a:cs typeface="Tahoma"/>
                        </a:rPr>
                        <a:t>T</a:t>
                      </a:r>
                      <a:endParaRPr sz="400">
                        <a:latin typeface="Tahoma"/>
                        <a:cs typeface="Tahoma"/>
                      </a:endParaRPr>
                    </a:p>
                    <a:p>
                      <a:pPr algn="ctr">
                        <a:lnSpc>
                          <a:spcPct val="100000"/>
                        </a:lnSpc>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50"/>
                        </a:spcBef>
                      </a:pPr>
                      <a:r>
                        <a:rPr sz="400" dirty="0">
                          <a:latin typeface="Tahoma"/>
                          <a:cs typeface="Tahoma"/>
                        </a:rPr>
                        <a:t>T</a:t>
                      </a:r>
                      <a:endParaRPr sz="400">
                        <a:latin typeface="Tahoma"/>
                        <a:cs typeface="Tahoma"/>
                      </a:endParaRPr>
                    </a:p>
                    <a:p>
                      <a:pPr algn="ctr">
                        <a:lnSpc>
                          <a:spcPct val="100000"/>
                        </a:lnSpc>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50"/>
                        </a:spcBef>
                      </a:pPr>
                      <a:r>
                        <a:rPr sz="400" dirty="0">
                          <a:latin typeface="Tahoma"/>
                          <a:cs typeface="Tahoma"/>
                        </a:rPr>
                        <a:t>T</a:t>
                      </a:r>
                      <a:endParaRPr sz="400">
                        <a:latin typeface="Tahoma"/>
                        <a:cs typeface="Tahoma"/>
                      </a:endParaRPr>
                    </a:p>
                    <a:p>
                      <a:pPr algn="ctr">
                        <a:lnSpc>
                          <a:spcPct val="100000"/>
                        </a:lnSpc>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extLst>
                  <a:ext uri="{0D108BD9-81ED-4DB2-BD59-A6C34878D82A}">
                    <a16:rowId xmlns:a16="http://schemas.microsoft.com/office/drawing/2014/main" val="10007"/>
                  </a:ext>
                </a:extLst>
              </a:tr>
              <a:tr h="393692">
                <a:tc>
                  <a:txBody>
                    <a:bodyPr/>
                    <a:lstStyle/>
                    <a:p>
                      <a:pPr marL="92075" marR="78740" indent="-635" algn="ctr">
                        <a:lnSpc>
                          <a:spcPct val="100000"/>
                        </a:lnSpc>
                        <a:spcBef>
                          <a:spcPts val="350"/>
                        </a:spcBef>
                      </a:pPr>
                      <a:r>
                        <a:rPr sz="400" dirty="0">
                          <a:latin typeface="Tahoma"/>
                          <a:cs typeface="Tahoma"/>
                        </a:rPr>
                        <a:t>T  1</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88900">
                        <a:lnSpc>
                          <a:spcPct val="100000"/>
                        </a:lnSpc>
                        <a:spcBef>
                          <a:spcPts val="350"/>
                        </a:spcBef>
                      </a:pPr>
                      <a:r>
                        <a:rPr sz="400" dirty="0">
                          <a:latin typeface="Tahoma"/>
                          <a:cs typeface="Tahoma"/>
                        </a:rPr>
                        <a:t>T  </a:t>
                      </a:r>
                      <a:r>
                        <a:rPr sz="400" spc="-5" dirty="0">
                          <a:latin typeface="Tahoma"/>
                          <a:cs typeface="Tahoma"/>
                        </a:rPr>
                        <a:t>1</a:t>
                      </a: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extLst>
                  <a:ext uri="{0D108BD9-81ED-4DB2-BD59-A6C34878D82A}">
                    <a16:rowId xmlns:a16="http://schemas.microsoft.com/office/drawing/2014/main" val="10008"/>
                  </a:ext>
                </a:extLst>
              </a:tr>
            </a:tbl>
          </a:graphicData>
        </a:graphic>
      </p:graphicFrame>
      <p:graphicFrame>
        <p:nvGraphicFramePr>
          <p:cNvPr id="8" name="object 8"/>
          <p:cNvGraphicFramePr>
            <a:graphicFrameLocks noGrp="1"/>
          </p:cNvGraphicFramePr>
          <p:nvPr>
            <p:extLst>
              <p:ext uri="{D42A27DB-BD31-4B8C-83A1-F6EECF244321}">
                <p14:modId xmlns:p14="http://schemas.microsoft.com/office/powerpoint/2010/main" val="3477569020"/>
              </p:ext>
            </p:extLst>
          </p:nvPr>
        </p:nvGraphicFramePr>
        <p:xfrm>
          <a:off x="8377337" y="2850470"/>
          <a:ext cx="1097280" cy="1920237"/>
        </p:xfrm>
        <a:graphic>
          <a:graphicData uri="http://schemas.openxmlformats.org/drawingml/2006/table">
            <a:tbl>
              <a:tblPr firstRow="1" bandRow="1">
                <a:tableStyleId>{2D5ABB26-0587-4C30-8999-92F81FD0307C}</a:tableStyleId>
              </a:tblPr>
              <a:tblGrid>
                <a:gridCol w="1097280">
                  <a:extLst>
                    <a:ext uri="{9D8B030D-6E8A-4147-A177-3AD203B41FA5}">
                      <a16:colId xmlns:a16="http://schemas.microsoft.com/office/drawing/2014/main" val="20000"/>
                    </a:ext>
                  </a:extLst>
                </a:gridCol>
              </a:tblGrid>
              <a:tr h="213360">
                <a:tc>
                  <a:txBody>
                    <a:bodyPr/>
                    <a:lstStyle/>
                    <a:p>
                      <a:pPr marL="92075">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1</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0"/>
                  </a:ext>
                </a:extLst>
              </a:tr>
              <a:tr h="213359">
                <a:tc>
                  <a:txBody>
                    <a:bodyPr/>
                    <a:lstStyle/>
                    <a:p>
                      <a:pPr marL="92075">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2</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1"/>
                  </a:ext>
                </a:extLst>
              </a:tr>
              <a:tr h="213360">
                <a:tc>
                  <a:txBody>
                    <a:bodyPr/>
                    <a:lstStyle/>
                    <a:p>
                      <a:pPr marL="92075">
                        <a:lnSpc>
                          <a:spcPct val="100000"/>
                        </a:lnSpc>
                        <a:spcBef>
                          <a:spcPts val="330"/>
                        </a:spcBef>
                      </a:pPr>
                      <a:r>
                        <a:rPr sz="800" spc="-5" dirty="0">
                          <a:latin typeface="Tahoma"/>
                          <a:cs typeface="Tahoma"/>
                        </a:rPr>
                        <a:t>TOK</a:t>
                      </a:r>
                      <a:r>
                        <a:rPr sz="800" dirty="0">
                          <a:latin typeface="Tahoma"/>
                          <a:cs typeface="Tahoma"/>
                        </a:rPr>
                        <a:t>EN</a:t>
                      </a:r>
                      <a:r>
                        <a:rPr sz="800" spc="-75" dirty="0">
                          <a:latin typeface="Tahoma"/>
                          <a:cs typeface="Tahoma"/>
                        </a:rPr>
                        <a:t> </a:t>
                      </a:r>
                      <a:r>
                        <a:rPr sz="800" dirty="0">
                          <a:latin typeface="Tahoma"/>
                          <a:cs typeface="Tahoma"/>
                        </a:rPr>
                        <a:t>3</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2"/>
                  </a:ext>
                </a:extLst>
              </a:tr>
              <a:tr h="213360">
                <a:tc>
                  <a:txBody>
                    <a:bodyPr/>
                    <a:lstStyle/>
                    <a:p>
                      <a:pPr marL="92075">
                        <a:lnSpc>
                          <a:spcPct val="100000"/>
                        </a:lnSpc>
                        <a:spcBef>
                          <a:spcPts val="335"/>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4</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3"/>
                  </a:ext>
                </a:extLst>
              </a:tr>
              <a:tr h="213360">
                <a:tc>
                  <a:txBody>
                    <a:bodyPr/>
                    <a:lstStyle/>
                    <a:p>
                      <a:pPr marL="92075">
                        <a:lnSpc>
                          <a:spcPct val="100000"/>
                        </a:lnSpc>
                        <a:spcBef>
                          <a:spcPts val="335"/>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5</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4"/>
                  </a:ext>
                </a:extLst>
              </a:tr>
              <a:tr h="213359">
                <a:tc>
                  <a:txBody>
                    <a:bodyPr/>
                    <a:lstStyle/>
                    <a:p>
                      <a:pPr marL="92075">
                        <a:lnSpc>
                          <a:spcPct val="100000"/>
                        </a:lnSpc>
                        <a:spcBef>
                          <a:spcPts val="334"/>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6</a:t>
                      </a:r>
                      <a:endParaRPr sz="800">
                        <a:latin typeface="Tahoma"/>
                        <a:cs typeface="Tahoma"/>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5"/>
                  </a:ext>
                </a:extLst>
              </a:tr>
              <a:tr h="213360">
                <a:tc>
                  <a:txBody>
                    <a:bodyPr/>
                    <a:lstStyle/>
                    <a:p>
                      <a:pPr marL="92075">
                        <a:lnSpc>
                          <a:spcPct val="100000"/>
                        </a:lnSpc>
                        <a:spcBef>
                          <a:spcPts val="334"/>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7</a:t>
                      </a:r>
                      <a:endParaRPr sz="800">
                        <a:latin typeface="Tahoma"/>
                        <a:cs typeface="Tahoma"/>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6"/>
                  </a:ext>
                </a:extLst>
              </a:tr>
              <a:tr h="213359">
                <a:tc>
                  <a:txBody>
                    <a:bodyPr/>
                    <a:lstStyle/>
                    <a:p>
                      <a:pPr marL="92075">
                        <a:lnSpc>
                          <a:spcPct val="100000"/>
                        </a:lnSpc>
                        <a:spcBef>
                          <a:spcPts val="334"/>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8</a:t>
                      </a:r>
                      <a:endParaRPr sz="800">
                        <a:latin typeface="Tahoma"/>
                        <a:cs typeface="Tahoma"/>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7"/>
                  </a:ext>
                </a:extLst>
              </a:tr>
              <a:tr h="213360">
                <a:tc>
                  <a:txBody>
                    <a:bodyPr/>
                    <a:lstStyle/>
                    <a:p>
                      <a:pPr marL="92075">
                        <a:lnSpc>
                          <a:spcPct val="100000"/>
                        </a:lnSpc>
                        <a:spcBef>
                          <a:spcPts val="335"/>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9</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8"/>
                  </a:ext>
                </a:extLst>
              </a:tr>
            </a:tbl>
          </a:graphicData>
        </a:graphic>
      </p:graphicFrame>
      <p:graphicFrame>
        <p:nvGraphicFramePr>
          <p:cNvPr id="9" name="object 9"/>
          <p:cNvGraphicFramePr>
            <a:graphicFrameLocks noGrp="1"/>
          </p:cNvGraphicFramePr>
          <p:nvPr>
            <p:extLst>
              <p:ext uri="{D42A27DB-BD31-4B8C-83A1-F6EECF244321}">
                <p14:modId xmlns:p14="http://schemas.microsoft.com/office/powerpoint/2010/main" val="570525663"/>
              </p:ext>
            </p:extLst>
          </p:nvPr>
        </p:nvGraphicFramePr>
        <p:xfrm>
          <a:off x="10416576" y="2850470"/>
          <a:ext cx="1097280" cy="1920237"/>
        </p:xfrm>
        <a:graphic>
          <a:graphicData uri="http://schemas.openxmlformats.org/drawingml/2006/table">
            <a:tbl>
              <a:tblPr firstRow="1" bandRow="1">
                <a:tableStyleId>{2D5ABB26-0587-4C30-8999-92F81FD0307C}</a:tableStyleId>
              </a:tblPr>
              <a:tblGrid>
                <a:gridCol w="1097280">
                  <a:extLst>
                    <a:ext uri="{9D8B030D-6E8A-4147-A177-3AD203B41FA5}">
                      <a16:colId xmlns:a16="http://schemas.microsoft.com/office/drawing/2014/main" val="20000"/>
                    </a:ext>
                  </a:extLst>
                </a:gridCol>
              </a:tblGrid>
              <a:tr h="213360">
                <a:tc>
                  <a:txBody>
                    <a:bodyPr/>
                    <a:lstStyle/>
                    <a:p>
                      <a:pPr marL="92710">
                        <a:lnSpc>
                          <a:spcPct val="100000"/>
                        </a:lnSpc>
                        <a:spcBef>
                          <a:spcPts val="330"/>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1</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0"/>
                  </a:ext>
                </a:extLst>
              </a:tr>
              <a:tr h="213359">
                <a:tc>
                  <a:txBody>
                    <a:bodyPr/>
                    <a:lstStyle/>
                    <a:p>
                      <a:pPr marL="92710">
                        <a:lnSpc>
                          <a:spcPct val="100000"/>
                        </a:lnSpc>
                        <a:spcBef>
                          <a:spcPts val="330"/>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2</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1"/>
                  </a:ext>
                </a:extLst>
              </a:tr>
              <a:tr h="213360">
                <a:tc>
                  <a:txBody>
                    <a:bodyPr/>
                    <a:lstStyle/>
                    <a:p>
                      <a:pPr marL="92710">
                        <a:lnSpc>
                          <a:spcPct val="100000"/>
                        </a:lnSpc>
                        <a:spcBef>
                          <a:spcPts val="330"/>
                        </a:spcBef>
                      </a:pPr>
                      <a:r>
                        <a:rPr sz="800" spc="-5" dirty="0">
                          <a:latin typeface="Tahoma"/>
                          <a:cs typeface="Tahoma"/>
                        </a:rPr>
                        <a:t>OUTP</a:t>
                      </a:r>
                      <a:r>
                        <a:rPr sz="800" spc="-10" dirty="0">
                          <a:latin typeface="Tahoma"/>
                          <a:cs typeface="Tahoma"/>
                        </a:rPr>
                        <a:t>U</a:t>
                      </a:r>
                      <a:r>
                        <a:rPr sz="800" dirty="0">
                          <a:latin typeface="Tahoma"/>
                          <a:cs typeface="Tahoma"/>
                        </a:rPr>
                        <a:t>T</a:t>
                      </a:r>
                      <a:r>
                        <a:rPr sz="800" spc="-100" dirty="0">
                          <a:latin typeface="Tahoma"/>
                          <a:cs typeface="Tahoma"/>
                        </a:rPr>
                        <a:t> </a:t>
                      </a:r>
                      <a:r>
                        <a:rPr sz="800" spc="-5" dirty="0">
                          <a:latin typeface="Tahoma"/>
                          <a:cs typeface="Tahoma"/>
                        </a:rPr>
                        <a:t>TOK</a:t>
                      </a:r>
                      <a:r>
                        <a:rPr sz="800" dirty="0">
                          <a:latin typeface="Tahoma"/>
                          <a:cs typeface="Tahoma"/>
                        </a:rPr>
                        <a:t>EN</a:t>
                      </a:r>
                      <a:r>
                        <a:rPr sz="800" spc="-75" dirty="0">
                          <a:latin typeface="Tahoma"/>
                          <a:cs typeface="Tahoma"/>
                        </a:rPr>
                        <a:t> </a:t>
                      </a:r>
                      <a:r>
                        <a:rPr sz="800" dirty="0">
                          <a:latin typeface="Tahoma"/>
                          <a:cs typeface="Tahoma"/>
                        </a:rPr>
                        <a:t>3</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2"/>
                  </a:ext>
                </a:extLst>
              </a:tr>
              <a:tr h="213360">
                <a:tc>
                  <a:txBody>
                    <a:bodyPr/>
                    <a:lstStyle/>
                    <a:p>
                      <a:pPr marL="92710">
                        <a:lnSpc>
                          <a:spcPct val="100000"/>
                        </a:lnSpc>
                        <a:spcBef>
                          <a:spcPts val="335"/>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4</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3"/>
                  </a:ext>
                </a:extLst>
              </a:tr>
              <a:tr h="213360">
                <a:tc>
                  <a:txBody>
                    <a:bodyPr/>
                    <a:lstStyle/>
                    <a:p>
                      <a:pPr marL="92710">
                        <a:lnSpc>
                          <a:spcPct val="100000"/>
                        </a:lnSpc>
                        <a:spcBef>
                          <a:spcPts val="335"/>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5</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4"/>
                  </a:ext>
                </a:extLst>
              </a:tr>
              <a:tr h="213359">
                <a:tc>
                  <a:txBody>
                    <a:bodyPr/>
                    <a:lstStyle/>
                    <a:p>
                      <a:pPr marL="92710">
                        <a:lnSpc>
                          <a:spcPct val="100000"/>
                        </a:lnSpc>
                        <a:spcBef>
                          <a:spcPts val="334"/>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6</a:t>
                      </a:r>
                      <a:endParaRPr sz="800">
                        <a:latin typeface="Tahoma"/>
                        <a:cs typeface="Tahoma"/>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5"/>
                  </a:ext>
                </a:extLst>
              </a:tr>
              <a:tr h="213360">
                <a:tc>
                  <a:txBody>
                    <a:bodyPr/>
                    <a:lstStyle/>
                    <a:p>
                      <a:pPr marL="92710">
                        <a:lnSpc>
                          <a:spcPct val="100000"/>
                        </a:lnSpc>
                        <a:spcBef>
                          <a:spcPts val="334"/>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7</a:t>
                      </a:r>
                      <a:endParaRPr sz="800">
                        <a:latin typeface="Tahoma"/>
                        <a:cs typeface="Tahoma"/>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6"/>
                  </a:ext>
                </a:extLst>
              </a:tr>
              <a:tr h="213359">
                <a:tc>
                  <a:txBody>
                    <a:bodyPr/>
                    <a:lstStyle/>
                    <a:p>
                      <a:pPr marL="92710">
                        <a:lnSpc>
                          <a:spcPct val="100000"/>
                        </a:lnSpc>
                        <a:spcBef>
                          <a:spcPts val="334"/>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8</a:t>
                      </a:r>
                      <a:endParaRPr sz="800">
                        <a:latin typeface="Tahoma"/>
                        <a:cs typeface="Tahoma"/>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7"/>
                  </a:ext>
                </a:extLst>
              </a:tr>
              <a:tr h="213360">
                <a:tc>
                  <a:txBody>
                    <a:bodyPr/>
                    <a:lstStyle/>
                    <a:p>
                      <a:pPr marL="92710">
                        <a:lnSpc>
                          <a:spcPct val="100000"/>
                        </a:lnSpc>
                        <a:spcBef>
                          <a:spcPts val="335"/>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9</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8"/>
                  </a:ext>
                </a:extLst>
              </a:tr>
            </a:tbl>
          </a:graphicData>
        </a:graphic>
      </p:graphicFrame>
      <p:sp>
        <p:nvSpPr>
          <p:cNvPr id="10" name="object 10"/>
          <p:cNvSpPr/>
          <p:nvPr/>
        </p:nvSpPr>
        <p:spPr>
          <a:xfrm>
            <a:off x="722224" y="1810381"/>
            <a:ext cx="173356" cy="3598232"/>
          </a:xfrm>
          <a:custGeom>
            <a:avLst/>
            <a:gdLst/>
            <a:ahLst/>
            <a:cxnLst/>
            <a:rect l="l" t="t" r="r" b="b"/>
            <a:pathLst>
              <a:path w="173990" h="3621404">
                <a:moveTo>
                  <a:pt x="173736" y="3621024"/>
                </a:moveTo>
                <a:lnTo>
                  <a:pt x="106111" y="3619886"/>
                </a:lnTo>
                <a:lnTo>
                  <a:pt x="50887" y="3616785"/>
                </a:lnTo>
                <a:lnTo>
                  <a:pt x="13653" y="3612183"/>
                </a:lnTo>
                <a:lnTo>
                  <a:pt x="0" y="3606546"/>
                </a:lnTo>
                <a:lnTo>
                  <a:pt x="0" y="14478"/>
                </a:lnTo>
                <a:lnTo>
                  <a:pt x="13653" y="8840"/>
                </a:lnTo>
                <a:lnTo>
                  <a:pt x="50887" y="4238"/>
                </a:lnTo>
                <a:lnTo>
                  <a:pt x="106111" y="1137"/>
                </a:lnTo>
                <a:lnTo>
                  <a:pt x="173736" y="0"/>
                </a:lnTo>
              </a:path>
            </a:pathLst>
          </a:custGeom>
          <a:ln w="76200">
            <a:solidFill>
              <a:srgbClr val="4E91EF"/>
            </a:solidFill>
          </a:ln>
        </p:spPr>
        <p:txBody>
          <a:bodyPr wrap="square" lIns="0" tIns="0" rIns="0" bIns="0" rtlCol="0"/>
          <a:lstStyle/>
          <a:p>
            <a:endParaRPr/>
          </a:p>
        </p:txBody>
      </p:sp>
      <p:sp>
        <p:nvSpPr>
          <p:cNvPr id="11" name="object 11"/>
          <p:cNvSpPr/>
          <p:nvPr/>
        </p:nvSpPr>
        <p:spPr>
          <a:xfrm>
            <a:off x="7369911" y="1810381"/>
            <a:ext cx="173356" cy="3598232"/>
          </a:xfrm>
          <a:custGeom>
            <a:avLst/>
            <a:gdLst/>
            <a:ahLst/>
            <a:cxnLst/>
            <a:rect l="l" t="t" r="r" b="b"/>
            <a:pathLst>
              <a:path w="173990" h="3621404">
                <a:moveTo>
                  <a:pt x="0" y="0"/>
                </a:moveTo>
                <a:lnTo>
                  <a:pt x="67651" y="1137"/>
                </a:lnTo>
                <a:lnTo>
                  <a:pt x="122872" y="4238"/>
                </a:lnTo>
                <a:lnTo>
                  <a:pt x="160091" y="8840"/>
                </a:lnTo>
                <a:lnTo>
                  <a:pt x="173735" y="14478"/>
                </a:lnTo>
                <a:lnTo>
                  <a:pt x="173735" y="3606546"/>
                </a:lnTo>
                <a:lnTo>
                  <a:pt x="160091" y="3612183"/>
                </a:lnTo>
                <a:lnTo>
                  <a:pt x="122872" y="3616785"/>
                </a:lnTo>
                <a:lnTo>
                  <a:pt x="67651" y="3619886"/>
                </a:lnTo>
                <a:lnTo>
                  <a:pt x="0" y="3621024"/>
                </a:lnTo>
              </a:path>
            </a:pathLst>
          </a:custGeom>
          <a:ln w="76200">
            <a:solidFill>
              <a:srgbClr val="4E91EF"/>
            </a:solidFill>
          </a:ln>
        </p:spPr>
        <p:txBody>
          <a:bodyPr wrap="square" lIns="0" tIns="0" rIns="0" bIns="0" rtlCol="0"/>
          <a:lstStyle/>
          <a:p>
            <a:endParaRPr/>
          </a:p>
        </p:txBody>
      </p:sp>
      <p:sp>
        <p:nvSpPr>
          <p:cNvPr id="12" name="object 12"/>
          <p:cNvSpPr txBox="1"/>
          <p:nvPr/>
        </p:nvSpPr>
        <p:spPr>
          <a:xfrm>
            <a:off x="7822856" y="3517346"/>
            <a:ext cx="173355" cy="289823"/>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𝑋</a:t>
            </a:r>
            <a:endParaRPr sz="1800">
              <a:latin typeface="Cambria Math"/>
              <a:cs typeface="Cambria Math"/>
            </a:endParaRPr>
          </a:p>
        </p:txBody>
      </p:sp>
      <p:sp>
        <p:nvSpPr>
          <p:cNvPr id="13" name="object 13"/>
          <p:cNvSpPr txBox="1"/>
          <p:nvPr/>
        </p:nvSpPr>
        <p:spPr>
          <a:xfrm>
            <a:off x="9854094" y="3517346"/>
            <a:ext cx="19621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a:t>
            </a:r>
            <a:endParaRPr sz="1800">
              <a:latin typeface="Cambria Math"/>
              <a:cs typeface="Cambria Math"/>
            </a:endParaRPr>
          </a:p>
        </p:txBody>
      </p:sp>
      <p:sp>
        <p:nvSpPr>
          <p:cNvPr id="14" name="object 14"/>
          <p:cNvSpPr txBox="1"/>
          <p:nvPr/>
        </p:nvSpPr>
        <p:spPr>
          <a:xfrm>
            <a:off x="1368828" y="2277124"/>
            <a:ext cx="179683" cy="287969"/>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𝑄</a:t>
            </a:r>
            <a:endParaRPr sz="1800">
              <a:latin typeface="Cambria Math"/>
              <a:cs typeface="Cambria Math"/>
            </a:endParaRPr>
          </a:p>
        </p:txBody>
      </p:sp>
      <p:sp>
        <p:nvSpPr>
          <p:cNvPr id="15" name="object 15"/>
          <p:cNvSpPr txBox="1"/>
          <p:nvPr/>
        </p:nvSpPr>
        <p:spPr>
          <a:xfrm>
            <a:off x="3444736" y="2196734"/>
            <a:ext cx="350508" cy="287969"/>
          </a:xfrm>
          <a:prstGeom prst="rect">
            <a:avLst/>
          </a:prstGeom>
        </p:spPr>
        <p:txBody>
          <a:bodyPr vert="horz" wrap="square" lIns="0" tIns="12700" rIns="0" bIns="0" rtlCol="0">
            <a:spAutoFit/>
          </a:bodyPr>
          <a:lstStyle/>
          <a:p>
            <a:pPr marL="38100">
              <a:lnSpc>
                <a:spcPct val="100000"/>
              </a:lnSpc>
              <a:spcBef>
                <a:spcPts val="100"/>
              </a:spcBef>
            </a:pPr>
            <a:r>
              <a:rPr sz="2700" spc="97" baseline="-20061" dirty="0">
                <a:latin typeface="Cambria Math"/>
                <a:cs typeface="Cambria Math"/>
              </a:rPr>
              <a:t>𝐾</a:t>
            </a:r>
            <a:r>
              <a:rPr sz="1300" spc="65" dirty="0">
                <a:latin typeface="Cambria Math"/>
                <a:cs typeface="Cambria Math"/>
              </a:rPr>
              <a:t>𝑇</a:t>
            </a:r>
            <a:endParaRPr sz="1300">
              <a:latin typeface="Cambria Math"/>
              <a:cs typeface="Cambria Math"/>
            </a:endParaRPr>
          </a:p>
        </p:txBody>
      </p:sp>
      <p:sp>
        <p:nvSpPr>
          <p:cNvPr id="16" name="object 16"/>
          <p:cNvSpPr txBox="1"/>
          <p:nvPr/>
        </p:nvSpPr>
        <p:spPr>
          <a:xfrm>
            <a:off x="5903276" y="1728485"/>
            <a:ext cx="509944" cy="287969"/>
          </a:xfrm>
          <a:prstGeom prst="rect">
            <a:avLst/>
          </a:prstGeom>
        </p:spPr>
        <p:txBody>
          <a:bodyPr vert="horz" wrap="square" lIns="0" tIns="12700" rIns="0" bIns="0" rtlCol="0">
            <a:spAutoFit/>
          </a:bodyPr>
          <a:lstStyle/>
          <a:p>
            <a:pPr marL="38100">
              <a:lnSpc>
                <a:spcPct val="100000"/>
              </a:lnSpc>
              <a:spcBef>
                <a:spcPts val="100"/>
              </a:spcBef>
            </a:pPr>
            <a:r>
              <a:rPr sz="1800" spc="55" dirty="0">
                <a:latin typeface="Cambria Math"/>
                <a:cs typeface="Cambria Math"/>
              </a:rPr>
              <a:t>𝑄𝐾</a:t>
            </a:r>
            <a:r>
              <a:rPr sz="1950" spc="82" baseline="27777" dirty="0">
                <a:latin typeface="Cambria Math"/>
                <a:cs typeface="Cambria Math"/>
              </a:rPr>
              <a:t>𝑇</a:t>
            </a:r>
            <a:endParaRPr sz="1950" baseline="27777">
              <a:latin typeface="Cambria Math"/>
              <a:cs typeface="Cambria Math"/>
            </a:endParaRPr>
          </a:p>
        </p:txBody>
      </p:sp>
      <p:sp>
        <p:nvSpPr>
          <p:cNvPr id="17" name="object 17"/>
          <p:cNvSpPr txBox="1"/>
          <p:nvPr/>
        </p:nvSpPr>
        <p:spPr>
          <a:xfrm>
            <a:off x="8844824" y="2330150"/>
            <a:ext cx="168910" cy="289823"/>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𝑉</a:t>
            </a:r>
            <a:endParaRPr sz="1800">
              <a:latin typeface="Cambria Math"/>
              <a:cs typeface="Cambria Math"/>
            </a:endParaRPr>
          </a:p>
        </p:txBody>
      </p:sp>
      <p:sp>
        <p:nvSpPr>
          <p:cNvPr id="18" name="object 18"/>
          <p:cNvSpPr txBox="1"/>
          <p:nvPr/>
        </p:nvSpPr>
        <p:spPr>
          <a:xfrm>
            <a:off x="10464328" y="2325960"/>
            <a:ext cx="1009650" cy="289823"/>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mbria Math"/>
                <a:cs typeface="Cambria Math"/>
              </a:rPr>
              <a:t>𝐴𝑡</a:t>
            </a:r>
            <a:r>
              <a:rPr sz="1800" spc="-10" dirty="0">
                <a:latin typeface="Cambria Math"/>
                <a:cs typeface="Cambria Math"/>
              </a:rPr>
              <a:t>𝑡</a:t>
            </a:r>
            <a:r>
              <a:rPr sz="1800" spc="-5" dirty="0">
                <a:latin typeface="Cambria Math"/>
                <a:cs typeface="Cambria Math"/>
              </a:rPr>
              <a:t>𝑒</a:t>
            </a:r>
            <a:r>
              <a:rPr sz="1800" spc="-10" dirty="0">
                <a:latin typeface="Cambria Math"/>
                <a:cs typeface="Cambria Math"/>
              </a:rPr>
              <a:t>𝑛</a:t>
            </a:r>
            <a:r>
              <a:rPr sz="1800" dirty="0">
                <a:latin typeface="Cambria Math"/>
                <a:cs typeface="Cambria Math"/>
              </a:rPr>
              <a:t>𝑡𝑖𝑜𝑛</a:t>
            </a:r>
            <a:endParaRPr sz="1800">
              <a:latin typeface="Cambria Math"/>
              <a:cs typeface="Cambria Math"/>
            </a:endParaRPr>
          </a:p>
        </p:txBody>
      </p:sp>
      <p:sp>
        <p:nvSpPr>
          <p:cNvPr id="19" name="object 19"/>
          <p:cNvSpPr/>
          <p:nvPr/>
        </p:nvSpPr>
        <p:spPr>
          <a:xfrm>
            <a:off x="8652905" y="5621071"/>
            <a:ext cx="800100" cy="212090"/>
          </a:xfrm>
          <a:custGeom>
            <a:avLst/>
            <a:gdLst/>
            <a:ahLst/>
            <a:cxnLst/>
            <a:rect l="l" t="t" r="r" b="b"/>
            <a:pathLst>
              <a:path w="800100" h="212089">
                <a:moveTo>
                  <a:pt x="732408" y="0"/>
                </a:moveTo>
                <a:lnTo>
                  <a:pt x="729360" y="8597"/>
                </a:lnTo>
                <a:lnTo>
                  <a:pt x="741628" y="13915"/>
                </a:lnTo>
                <a:lnTo>
                  <a:pt x="752157" y="21277"/>
                </a:lnTo>
                <a:lnTo>
                  <a:pt x="773596" y="55406"/>
                </a:lnTo>
                <a:lnTo>
                  <a:pt x="780668" y="104813"/>
                </a:lnTo>
                <a:lnTo>
                  <a:pt x="779883" y="123484"/>
                </a:lnTo>
                <a:lnTo>
                  <a:pt x="768096" y="169214"/>
                </a:lnTo>
                <a:lnTo>
                  <a:pt x="741789" y="197805"/>
                </a:lnTo>
                <a:lnTo>
                  <a:pt x="729741" y="203149"/>
                </a:lnTo>
                <a:lnTo>
                  <a:pt x="732408" y="211747"/>
                </a:lnTo>
                <a:lnTo>
                  <a:pt x="772824" y="187703"/>
                </a:lnTo>
                <a:lnTo>
                  <a:pt x="795591" y="143335"/>
                </a:lnTo>
                <a:lnTo>
                  <a:pt x="799973" y="105930"/>
                </a:lnTo>
                <a:lnTo>
                  <a:pt x="798877" y="86513"/>
                </a:lnTo>
                <a:lnTo>
                  <a:pt x="782447" y="37109"/>
                </a:lnTo>
                <a:lnTo>
                  <a:pt x="747746" y="5541"/>
                </a:lnTo>
                <a:lnTo>
                  <a:pt x="732408" y="0"/>
                </a:lnTo>
                <a:close/>
              </a:path>
              <a:path w="800100" h="212089">
                <a:moveTo>
                  <a:pt x="67563" y="0"/>
                </a:moveTo>
                <a:lnTo>
                  <a:pt x="27112" y="24095"/>
                </a:lnTo>
                <a:lnTo>
                  <a:pt x="4365" y="68572"/>
                </a:lnTo>
                <a:lnTo>
                  <a:pt x="0" y="105930"/>
                </a:lnTo>
                <a:lnTo>
                  <a:pt x="1093" y="125383"/>
                </a:lnTo>
                <a:lnTo>
                  <a:pt x="17399" y="174739"/>
                </a:lnTo>
                <a:lnTo>
                  <a:pt x="52135" y="206205"/>
                </a:lnTo>
                <a:lnTo>
                  <a:pt x="67563" y="211747"/>
                </a:lnTo>
                <a:lnTo>
                  <a:pt x="70230" y="203149"/>
                </a:lnTo>
                <a:lnTo>
                  <a:pt x="58130" y="197805"/>
                </a:lnTo>
                <a:lnTo>
                  <a:pt x="47720" y="190368"/>
                </a:lnTo>
                <a:lnTo>
                  <a:pt x="26376" y="155687"/>
                </a:lnTo>
                <a:lnTo>
                  <a:pt x="19303" y="104813"/>
                </a:lnTo>
                <a:lnTo>
                  <a:pt x="20089" y="86744"/>
                </a:lnTo>
                <a:lnTo>
                  <a:pt x="31876" y="42138"/>
                </a:lnTo>
                <a:lnTo>
                  <a:pt x="58291" y="13915"/>
                </a:lnTo>
                <a:lnTo>
                  <a:pt x="70484" y="8597"/>
                </a:lnTo>
                <a:lnTo>
                  <a:pt x="67563" y="0"/>
                </a:lnTo>
                <a:close/>
              </a:path>
            </a:pathLst>
          </a:custGeom>
          <a:solidFill>
            <a:srgbClr val="000000"/>
          </a:solidFill>
        </p:spPr>
        <p:txBody>
          <a:bodyPr wrap="square" lIns="0" tIns="0" rIns="0" bIns="0" rtlCol="0"/>
          <a:lstStyle/>
          <a:p>
            <a:endParaRPr/>
          </a:p>
        </p:txBody>
      </p:sp>
      <p:sp>
        <p:nvSpPr>
          <p:cNvPr id="20" name="object 20"/>
          <p:cNvSpPr txBox="1"/>
          <p:nvPr/>
        </p:nvSpPr>
        <p:spPr>
          <a:xfrm>
            <a:off x="7628904" y="5551322"/>
            <a:ext cx="1755775" cy="289823"/>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mbria Math"/>
                <a:cs typeface="Cambria Math"/>
              </a:rPr>
              <a:t>𝐴𝑡</a:t>
            </a:r>
            <a:r>
              <a:rPr sz="1800" spc="-10" dirty="0">
                <a:latin typeface="Cambria Math"/>
                <a:cs typeface="Cambria Math"/>
              </a:rPr>
              <a:t>𝑡</a:t>
            </a:r>
            <a:r>
              <a:rPr sz="1800" spc="-5" dirty="0">
                <a:latin typeface="Cambria Math"/>
                <a:cs typeface="Cambria Math"/>
              </a:rPr>
              <a:t>𝑒</a:t>
            </a:r>
            <a:r>
              <a:rPr sz="1800" spc="-10" dirty="0">
                <a:latin typeface="Cambria Math"/>
                <a:cs typeface="Cambria Math"/>
              </a:rPr>
              <a:t>𝑛</a:t>
            </a:r>
            <a:r>
              <a:rPr sz="1800" spc="5" dirty="0">
                <a:latin typeface="Cambria Math"/>
                <a:cs typeface="Cambria Math"/>
              </a:rPr>
              <a:t>𝑡</a:t>
            </a:r>
            <a:r>
              <a:rPr sz="1800" dirty="0">
                <a:latin typeface="Cambria Math"/>
                <a:cs typeface="Cambria Math"/>
              </a:rPr>
              <a:t>𝑖𝑜𝑛 </a:t>
            </a:r>
            <a:r>
              <a:rPr sz="1800" spc="5" dirty="0">
                <a:latin typeface="Cambria Math"/>
                <a:cs typeface="Cambria Math"/>
              </a:rPr>
              <a:t> </a:t>
            </a:r>
            <a:r>
              <a:rPr sz="1800" spc="40" dirty="0">
                <a:latin typeface="Cambria Math"/>
                <a:cs typeface="Cambria Math"/>
              </a:rPr>
              <a:t>𝑄</a:t>
            </a:r>
            <a:r>
              <a:rPr sz="1800" dirty="0">
                <a:latin typeface="Cambria Math"/>
                <a:cs typeface="Cambria Math"/>
              </a:rPr>
              <a:t>,</a:t>
            </a:r>
            <a:r>
              <a:rPr sz="1800" spc="-85" dirty="0">
                <a:latin typeface="Cambria Math"/>
                <a:cs typeface="Cambria Math"/>
              </a:rPr>
              <a:t> </a:t>
            </a:r>
            <a:r>
              <a:rPr sz="1800" spc="50" dirty="0">
                <a:latin typeface="Cambria Math"/>
                <a:cs typeface="Cambria Math"/>
              </a:rPr>
              <a:t>𝐾</a:t>
            </a:r>
            <a:r>
              <a:rPr sz="1800" dirty="0">
                <a:latin typeface="Cambria Math"/>
                <a:cs typeface="Cambria Math"/>
              </a:rPr>
              <a:t>,</a:t>
            </a:r>
            <a:r>
              <a:rPr sz="1800" spc="-85" dirty="0">
                <a:latin typeface="Cambria Math"/>
                <a:cs typeface="Cambria Math"/>
              </a:rPr>
              <a:t> </a:t>
            </a:r>
            <a:r>
              <a:rPr sz="1800" dirty="0">
                <a:latin typeface="Cambria Math"/>
                <a:cs typeface="Cambria Math"/>
              </a:rPr>
              <a:t>𝑉</a:t>
            </a:r>
            <a:endParaRPr sz="1800">
              <a:latin typeface="Cambria Math"/>
              <a:cs typeface="Cambria Math"/>
            </a:endParaRPr>
          </a:p>
        </p:txBody>
      </p:sp>
      <p:sp>
        <p:nvSpPr>
          <p:cNvPr id="21" name="object 21"/>
          <p:cNvSpPr txBox="1"/>
          <p:nvPr/>
        </p:nvSpPr>
        <p:spPr>
          <a:xfrm>
            <a:off x="9523617" y="5551322"/>
            <a:ext cx="1038860" cy="289823"/>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a:t>
            </a:r>
            <a:r>
              <a:rPr sz="1800" spc="45" dirty="0">
                <a:latin typeface="Cambria Math"/>
                <a:cs typeface="Cambria Math"/>
              </a:rPr>
              <a:t> </a:t>
            </a:r>
            <a:r>
              <a:rPr sz="1800" spc="-5" dirty="0">
                <a:latin typeface="Cambria Math"/>
                <a:cs typeface="Cambria Math"/>
              </a:rPr>
              <a:t>softmax</a:t>
            </a:r>
            <a:endParaRPr sz="1800">
              <a:latin typeface="Cambria Math"/>
              <a:cs typeface="Cambria Math"/>
            </a:endParaRPr>
          </a:p>
        </p:txBody>
      </p:sp>
      <p:sp>
        <p:nvSpPr>
          <p:cNvPr id="22" name="object 22"/>
          <p:cNvSpPr/>
          <p:nvPr/>
        </p:nvSpPr>
        <p:spPr>
          <a:xfrm>
            <a:off x="10605911" y="5388445"/>
            <a:ext cx="693420" cy="675640"/>
          </a:xfrm>
          <a:custGeom>
            <a:avLst/>
            <a:gdLst/>
            <a:ahLst/>
            <a:cxnLst/>
            <a:rect l="l" t="t" r="r" b="b"/>
            <a:pathLst>
              <a:path w="693420" h="675639">
                <a:moveTo>
                  <a:pt x="114173" y="7924"/>
                </a:moveTo>
                <a:lnTo>
                  <a:pt x="62166" y="58623"/>
                </a:lnTo>
                <a:lnTo>
                  <a:pt x="43865" y="94830"/>
                </a:lnTo>
                <a:lnTo>
                  <a:pt x="28321" y="135610"/>
                </a:lnTo>
                <a:lnTo>
                  <a:pt x="15963" y="180543"/>
                </a:lnTo>
                <a:lnTo>
                  <a:pt x="7112" y="229133"/>
                </a:lnTo>
                <a:lnTo>
                  <a:pt x="1778" y="281393"/>
                </a:lnTo>
                <a:lnTo>
                  <a:pt x="0" y="337312"/>
                </a:lnTo>
                <a:lnTo>
                  <a:pt x="1778" y="393636"/>
                </a:lnTo>
                <a:lnTo>
                  <a:pt x="7112" y="446176"/>
                </a:lnTo>
                <a:lnTo>
                  <a:pt x="15963" y="494931"/>
                </a:lnTo>
                <a:lnTo>
                  <a:pt x="28321" y="539902"/>
                </a:lnTo>
                <a:lnTo>
                  <a:pt x="43865" y="580707"/>
                </a:lnTo>
                <a:lnTo>
                  <a:pt x="62166" y="616902"/>
                </a:lnTo>
                <a:lnTo>
                  <a:pt x="107061" y="675525"/>
                </a:lnTo>
                <a:lnTo>
                  <a:pt x="114173" y="667600"/>
                </a:lnTo>
                <a:lnTo>
                  <a:pt x="92976" y="640156"/>
                </a:lnTo>
                <a:lnTo>
                  <a:pt x="74549" y="608368"/>
                </a:lnTo>
                <a:lnTo>
                  <a:pt x="58877" y="572236"/>
                </a:lnTo>
                <a:lnTo>
                  <a:pt x="45974" y="531761"/>
                </a:lnTo>
                <a:lnTo>
                  <a:pt x="35814" y="487641"/>
                </a:lnTo>
                <a:lnTo>
                  <a:pt x="28600" y="440575"/>
                </a:lnTo>
                <a:lnTo>
                  <a:pt x="24282" y="390537"/>
                </a:lnTo>
                <a:lnTo>
                  <a:pt x="22860" y="337312"/>
                </a:lnTo>
                <a:lnTo>
                  <a:pt x="24282" y="284797"/>
                </a:lnTo>
                <a:lnTo>
                  <a:pt x="28600" y="234924"/>
                </a:lnTo>
                <a:lnTo>
                  <a:pt x="35814" y="187934"/>
                </a:lnTo>
                <a:lnTo>
                  <a:pt x="45974" y="143814"/>
                </a:lnTo>
                <a:lnTo>
                  <a:pt x="58877" y="103327"/>
                </a:lnTo>
                <a:lnTo>
                  <a:pt x="74549" y="67183"/>
                </a:lnTo>
                <a:lnTo>
                  <a:pt x="92976" y="35382"/>
                </a:lnTo>
                <a:lnTo>
                  <a:pt x="114173" y="7924"/>
                </a:lnTo>
                <a:close/>
              </a:path>
              <a:path w="693420" h="675639">
                <a:moveTo>
                  <a:pt x="572008" y="329907"/>
                </a:moveTo>
                <a:lnTo>
                  <a:pt x="120904" y="329907"/>
                </a:lnTo>
                <a:lnTo>
                  <a:pt x="120904" y="345147"/>
                </a:lnTo>
                <a:lnTo>
                  <a:pt x="572008" y="345147"/>
                </a:lnTo>
                <a:lnTo>
                  <a:pt x="572008" y="329907"/>
                </a:lnTo>
                <a:close/>
              </a:path>
              <a:path w="693420" h="675639">
                <a:moveTo>
                  <a:pt x="693420" y="337312"/>
                </a:moveTo>
                <a:lnTo>
                  <a:pt x="691654" y="281393"/>
                </a:lnTo>
                <a:lnTo>
                  <a:pt x="686346" y="229133"/>
                </a:lnTo>
                <a:lnTo>
                  <a:pt x="677506" y="180543"/>
                </a:lnTo>
                <a:lnTo>
                  <a:pt x="665099" y="135610"/>
                </a:lnTo>
                <a:lnTo>
                  <a:pt x="649592" y="94830"/>
                </a:lnTo>
                <a:lnTo>
                  <a:pt x="631291" y="58623"/>
                </a:lnTo>
                <a:lnTo>
                  <a:pt x="586359" y="0"/>
                </a:lnTo>
                <a:lnTo>
                  <a:pt x="579247" y="7924"/>
                </a:lnTo>
                <a:lnTo>
                  <a:pt x="600430" y="35382"/>
                </a:lnTo>
                <a:lnTo>
                  <a:pt x="618883" y="67183"/>
                </a:lnTo>
                <a:lnTo>
                  <a:pt x="634580" y="103327"/>
                </a:lnTo>
                <a:lnTo>
                  <a:pt x="647573" y="143814"/>
                </a:lnTo>
                <a:lnTo>
                  <a:pt x="657656" y="187934"/>
                </a:lnTo>
                <a:lnTo>
                  <a:pt x="664883" y="234924"/>
                </a:lnTo>
                <a:lnTo>
                  <a:pt x="669226" y="284797"/>
                </a:lnTo>
                <a:lnTo>
                  <a:pt x="670687" y="337540"/>
                </a:lnTo>
                <a:lnTo>
                  <a:pt x="669226" y="390537"/>
                </a:lnTo>
                <a:lnTo>
                  <a:pt x="664883" y="440575"/>
                </a:lnTo>
                <a:lnTo>
                  <a:pt x="657656" y="487641"/>
                </a:lnTo>
                <a:lnTo>
                  <a:pt x="647573" y="531761"/>
                </a:lnTo>
                <a:lnTo>
                  <a:pt x="634580" y="572236"/>
                </a:lnTo>
                <a:lnTo>
                  <a:pt x="618883" y="608368"/>
                </a:lnTo>
                <a:lnTo>
                  <a:pt x="579247" y="667600"/>
                </a:lnTo>
                <a:lnTo>
                  <a:pt x="586359" y="675525"/>
                </a:lnTo>
                <a:lnTo>
                  <a:pt x="631291" y="616902"/>
                </a:lnTo>
                <a:lnTo>
                  <a:pt x="649592" y="580707"/>
                </a:lnTo>
                <a:lnTo>
                  <a:pt x="665099" y="539902"/>
                </a:lnTo>
                <a:lnTo>
                  <a:pt x="677506" y="494931"/>
                </a:lnTo>
                <a:lnTo>
                  <a:pt x="686346" y="446176"/>
                </a:lnTo>
                <a:lnTo>
                  <a:pt x="691654" y="393636"/>
                </a:lnTo>
                <a:lnTo>
                  <a:pt x="693420" y="337312"/>
                </a:lnTo>
                <a:close/>
              </a:path>
            </a:pathLst>
          </a:custGeom>
          <a:solidFill>
            <a:srgbClr val="000000"/>
          </a:solidFill>
        </p:spPr>
        <p:txBody>
          <a:bodyPr wrap="square" lIns="0" tIns="0" rIns="0" bIns="0" rtlCol="0"/>
          <a:lstStyle/>
          <a:p>
            <a:endParaRPr/>
          </a:p>
        </p:txBody>
      </p:sp>
      <p:sp>
        <p:nvSpPr>
          <p:cNvPr id="23" name="object 23"/>
          <p:cNvSpPr txBox="1"/>
          <p:nvPr/>
        </p:nvSpPr>
        <p:spPr>
          <a:xfrm>
            <a:off x="10690239" y="5377586"/>
            <a:ext cx="513080" cy="289823"/>
          </a:xfrm>
          <a:prstGeom prst="rect">
            <a:avLst/>
          </a:prstGeom>
        </p:spPr>
        <p:txBody>
          <a:bodyPr vert="horz" wrap="square" lIns="0" tIns="12700" rIns="0" bIns="0" rtlCol="0">
            <a:spAutoFit/>
          </a:bodyPr>
          <a:lstStyle/>
          <a:p>
            <a:pPr marL="38100">
              <a:lnSpc>
                <a:spcPct val="100000"/>
              </a:lnSpc>
              <a:spcBef>
                <a:spcPts val="100"/>
              </a:spcBef>
            </a:pPr>
            <a:r>
              <a:rPr sz="1800" spc="60" dirty="0">
                <a:latin typeface="Cambria Math"/>
                <a:cs typeface="Cambria Math"/>
              </a:rPr>
              <a:t>𝑄𝐾</a:t>
            </a:r>
            <a:r>
              <a:rPr sz="1950" spc="89" baseline="27777" dirty="0">
                <a:latin typeface="Cambria Math"/>
                <a:cs typeface="Cambria Math"/>
              </a:rPr>
              <a:t>𝑇</a:t>
            </a:r>
            <a:endParaRPr sz="1950" baseline="27777">
              <a:latin typeface="Cambria Math"/>
              <a:cs typeface="Cambria Math"/>
            </a:endParaRPr>
          </a:p>
        </p:txBody>
      </p:sp>
      <p:sp>
        <p:nvSpPr>
          <p:cNvPr id="24" name="object 24"/>
          <p:cNvSpPr/>
          <p:nvPr/>
        </p:nvSpPr>
        <p:spPr>
          <a:xfrm>
            <a:off x="10747389" y="5776265"/>
            <a:ext cx="414020" cy="285115"/>
          </a:xfrm>
          <a:custGeom>
            <a:avLst/>
            <a:gdLst/>
            <a:ahLst/>
            <a:cxnLst/>
            <a:rect l="l" t="t" r="r" b="b"/>
            <a:pathLst>
              <a:path w="414020" h="285114">
                <a:moveTo>
                  <a:pt x="413766" y="0"/>
                </a:moveTo>
                <a:lnTo>
                  <a:pt x="165353" y="0"/>
                </a:lnTo>
                <a:lnTo>
                  <a:pt x="165353" y="749"/>
                </a:lnTo>
                <a:lnTo>
                  <a:pt x="143001" y="749"/>
                </a:lnTo>
                <a:lnTo>
                  <a:pt x="75311" y="254685"/>
                </a:lnTo>
                <a:lnTo>
                  <a:pt x="36702" y="168516"/>
                </a:lnTo>
                <a:lnTo>
                  <a:pt x="0" y="185254"/>
                </a:lnTo>
                <a:lnTo>
                  <a:pt x="3555" y="193636"/>
                </a:lnTo>
                <a:lnTo>
                  <a:pt x="22351" y="185254"/>
                </a:lnTo>
                <a:lnTo>
                  <a:pt x="68579" y="284606"/>
                </a:lnTo>
                <a:lnTo>
                  <a:pt x="79375" y="284606"/>
                </a:lnTo>
                <a:lnTo>
                  <a:pt x="152019" y="15595"/>
                </a:lnTo>
                <a:lnTo>
                  <a:pt x="174244" y="15595"/>
                </a:lnTo>
                <a:lnTo>
                  <a:pt x="174244" y="15240"/>
                </a:lnTo>
                <a:lnTo>
                  <a:pt x="413766" y="15240"/>
                </a:lnTo>
                <a:lnTo>
                  <a:pt x="413766" y="0"/>
                </a:lnTo>
                <a:close/>
              </a:path>
            </a:pathLst>
          </a:custGeom>
          <a:solidFill>
            <a:srgbClr val="000000"/>
          </a:solidFill>
        </p:spPr>
        <p:txBody>
          <a:bodyPr wrap="square" lIns="0" tIns="0" rIns="0" bIns="0" rtlCol="0"/>
          <a:lstStyle/>
          <a:p>
            <a:endParaRPr/>
          </a:p>
        </p:txBody>
      </p:sp>
      <p:sp>
        <p:nvSpPr>
          <p:cNvPr id="25" name="object 25"/>
          <p:cNvSpPr txBox="1"/>
          <p:nvPr/>
        </p:nvSpPr>
        <p:spPr>
          <a:xfrm>
            <a:off x="10876167" y="5749442"/>
            <a:ext cx="310515" cy="289823"/>
          </a:xfrm>
          <a:prstGeom prst="rect">
            <a:avLst/>
          </a:prstGeom>
        </p:spPr>
        <p:txBody>
          <a:bodyPr vert="horz" wrap="square" lIns="0" tIns="12700" rIns="0" bIns="0" rtlCol="0">
            <a:spAutoFit/>
          </a:bodyPr>
          <a:lstStyle/>
          <a:p>
            <a:pPr marL="38100">
              <a:lnSpc>
                <a:spcPct val="100000"/>
              </a:lnSpc>
              <a:spcBef>
                <a:spcPts val="100"/>
              </a:spcBef>
            </a:pPr>
            <a:r>
              <a:rPr sz="1800" spc="40" dirty="0">
                <a:latin typeface="Cambria Math"/>
                <a:cs typeface="Cambria Math"/>
              </a:rPr>
              <a:t>𝑑</a:t>
            </a:r>
            <a:r>
              <a:rPr sz="1950" spc="60" baseline="-14957" dirty="0">
                <a:latin typeface="Cambria Math"/>
                <a:cs typeface="Cambria Math"/>
              </a:rPr>
              <a:t>𝑘</a:t>
            </a:r>
            <a:endParaRPr sz="1950" baseline="-14957">
              <a:latin typeface="Cambria Math"/>
              <a:cs typeface="Cambria Math"/>
            </a:endParaRPr>
          </a:p>
        </p:txBody>
      </p:sp>
      <p:sp>
        <p:nvSpPr>
          <p:cNvPr id="26" name="object 26"/>
          <p:cNvSpPr txBox="1"/>
          <p:nvPr/>
        </p:nvSpPr>
        <p:spPr>
          <a:xfrm>
            <a:off x="11343527" y="5551322"/>
            <a:ext cx="168910" cy="289823"/>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𝑉</a:t>
            </a:r>
            <a:endParaRPr sz="1800">
              <a:latin typeface="Cambria Math"/>
              <a:cs typeface="Cambria Math"/>
            </a:endParaRPr>
          </a:p>
        </p:txBody>
      </p:sp>
      <p:sp>
        <p:nvSpPr>
          <p:cNvPr id="27" name="object 27"/>
          <p:cNvSpPr txBox="1"/>
          <p:nvPr/>
        </p:nvSpPr>
        <p:spPr>
          <a:xfrm>
            <a:off x="1194548" y="4977751"/>
            <a:ext cx="530824" cy="165008"/>
          </a:xfrm>
          <a:prstGeom prst="rect">
            <a:avLst/>
          </a:prstGeom>
        </p:spPr>
        <p:txBody>
          <a:bodyPr vert="horz" wrap="square" lIns="0" tIns="12065" rIns="0" bIns="0" rtlCol="0">
            <a:spAutoFit/>
          </a:bodyPr>
          <a:lstStyle/>
          <a:p>
            <a:pPr marL="12700">
              <a:lnSpc>
                <a:spcPct val="100000"/>
              </a:lnSpc>
              <a:spcBef>
                <a:spcPts val="95"/>
              </a:spcBef>
            </a:pPr>
            <a:r>
              <a:rPr sz="1000" spc="-35" dirty="0">
                <a:latin typeface="Tahoma"/>
                <a:cs typeface="Tahoma"/>
              </a:rPr>
              <a:t>(9,</a:t>
            </a:r>
            <a:r>
              <a:rPr sz="1000" spc="-60" dirty="0">
                <a:latin typeface="Tahoma"/>
                <a:cs typeface="Tahoma"/>
              </a:rPr>
              <a:t> </a:t>
            </a:r>
            <a:r>
              <a:rPr sz="1000" spc="25" dirty="0">
                <a:latin typeface="Tahoma"/>
                <a:cs typeface="Tahoma"/>
              </a:rPr>
              <a:t>4096</a:t>
            </a:r>
            <a:r>
              <a:rPr sz="1000" spc="-85" dirty="0">
                <a:latin typeface="Tahoma"/>
                <a:cs typeface="Tahoma"/>
              </a:rPr>
              <a:t>)</a:t>
            </a:r>
            <a:endParaRPr sz="1000">
              <a:latin typeface="Tahoma"/>
              <a:cs typeface="Tahoma"/>
            </a:endParaRPr>
          </a:p>
        </p:txBody>
      </p:sp>
      <p:sp>
        <p:nvSpPr>
          <p:cNvPr id="28" name="object 28"/>
          <p:cNvSpPr txBox="1"/>
          <p:nvPr/>
        </p:nvSpPr>
        <p:spPr>
          <a:xfrm>
            <a:off x="3314072" y="4977751"/>
            <a:ext cx="529558" cy="165008"/>
          </a:xfrm>
          <a:prstGeom prst="rect">
            <a:avLst/>
          </a:prstGeom>
        </p:spPr>
        <p:txBody>
          <a:bodyPr vert="horz" wrap="square" lIns="0" tIns="12065" rIns="0" bIns="0" rtlCol="0">
            <a:spAutoFit/>
          </a:bodyPr>
          <a:lstStyle/>
          <a:p>
            <a:pPr marL="12700">
              <a:lnSpc>
                <a:spcPct val="100000"/>
              </a:lnSpc>
              <a:spcBef>
                <a:spcPts val="95"/>
              </a:spcBef>
            </a:pPr>
            <a:r>
              <a:rPr sz="1000" dirty="0">
                <a:latin typeface="Tahoma"/>
                <a:cs typeface="Tahoma"/>
              </a:rPr>
              <a:t>(40</a:t>
            </a:r>
            <a:r>
              <a:rPr sz="1000" spc="-5" dirty="0">
                <a:latin typeface="Tahoma"/>
                <a:cs typeface="Tahoma"/>
              </a:rPr>
              <a:t>9</a:t>
            </a:r>
            <a:r>
              <a:rPr sz="1000" spc="-15" dirty="0">
                <a:latin typeface="Tahoma"/>
                <a:cs typeface="Tahoma"/>
              </a:rPr>
              <a:t>6</a:t>
            </a:r>
            <a:r>
              <a:rPr sz="1000" spc="-5" dirty="0">
                <a:latin typeface="Tahoma"/>
                <a:cs typeface="Tahoma"/>
              </a:rPr>
              <a:t>,</a:t>
            </a:r>
            <a:r>
              <a:rPr sz="1000" spc="-75" dirty="0">
                <a:latin typeface="Tahoma"/>
                <a:cs typeface="Tahoma"/>
              </a:rPr>
              <a:t> </a:t>
            </a:r>
            <a:r>
              <a:rPr sz="1000" spc="-35" dirty="0">
                <a:latin typeface="Tahoma"/>
                <a:cs typeface="Tahoma"/>
              </a:rPr>
              <a:t>9)</a:t>
            </a:r>
            <a:endParaRPr sz="1000">
              <a:latin typeface="Tahoma"/>
              <a:cs typeface="Tahoma"/>
            </a:endParaRPr>
          </a:p>
        </p:txBody>
      </p:sp>
      <p:sp>
        <p:nvSpPr>
          <p:cNvPr id="29" name="object 29"/>
          <p:cNvSpPr txBox="1"/>
          <p:nvPr/>
        </p:nvSpPr>
        <p:spPr>
          <a:xfrm>
            <a:off x="6007709" y="5851663"/>
            <a:ext cx="312547" cy="165008"/>
          </a:xfrm>
          <a:prstGeom prst="rect">
            <a:avLst/>
          </a:prstGeom>
        </p:spPr>
        <p:txBody>
          <a:bodyPr vert="horz" wrap="square" lIns="0" tIns="12065" rIns="0" bIns="0" rtlCol="0">
            <a:spAutoFit/>
          </a:bodyPr>
          <a:lstStyle/>
          <a:p>
            <a:pPr marL="12700">
              <a:lnSpc>
                <a:spcPct val="100000"/>
              </a:lnSpc>
              <a:spcBef>
                <a:spcPts val="95"/>
              </a:spcBef>
            </a:pPr>
            <a:r>
              <a:rPr sz="1000" spc="-35" dirty="0">
                <a:latin typeface="Tahoma"/>
                <a:cs typeface="Tahoma"/>
              </a:rPr>
              <a:t>(9,</a:t>
            </a:r>
            <a:r>
              <a:rPr sz="1000" spc="-60" dirty="0">
                <a:latin typeface="Tahoma"/>
                <a:cs typeface="Tahoma"/>
              </a:rPr>
              <a:t> </a:t>
            </a:r>
            <a:r>
              <a:rPr sz="1000" spc="-35" dirty="0">
                <a:latin typeface="Tahoma"/>
                <a:cs typeface="Tahoma"/>
              </a:rPr>
              <a:t>9)</a:t>
            </a:r>
            <a:endParaRPr sz="1000">
              <a:latin typeface="Tahoma"/>
              <a:cs typeface="Tahoma"/>
            </a:endParaRPr>
          </a:p>
        </p:txBody>
      </p:sp>
      <p:sp>
        <p:nvSpPr>
          <p:cNvPr id="30" name="object 30"/>
          <p:cNvSpPr txBox="1"/>
          <p:nvPr/>
        </p:nvSpPr>
        <p:spPr>
          <a:xfrm>
            <a:off x="8664103" y="5033726"/>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latin typeface="Tahoma"/>
                <a:cs typeface="Tahoma"/>
              </a:rPr>
              <a:t>(9,</a:t>
            </a:r>
            <a:r>
              <a:rPr sz="1000" spc="-60" dirty="0">
                <a:latin typeface="Tahoma"/>
                <a:cs typeface="Tahoma"/>
              </a:rPr>
              <a:t> </a:t>
            </a:r>
            <a:r>
              <a:rPr sz="1000" spc="25" dirty="0">
                <a:latin typeface="Tahoma"/>
                <a:cs typeface="Tahoma"/>
              </a:rPr>
              <a:t>4096</a:t>
            </a:r>
            <a:r>
              <a:rPr sz="1000" spc="-85" dirty="0">
                <a:latin typeface="Tahoma"/>
                <a:cs typeface="Tahoma"/>
              </a:rPr>
              <a:t>)</a:t>
            </a:r>
            <a:endParaRPr sz="1000">
              <a:latin typeface="Tahoma"/>
              <a:cs typeface="Tahoma"/>
            </a:endParaRPr>
          </a:p>
        </p:txBody>
      </p:sp>
      <p:sp>
        <p:nvSpPr>
          <p:cNvPr id="31" name="object 31"/>
          <p:cNvSpPr txBox="1"/>
          <p:nvPr/>
        </p:nvSpPr>
        <p:spPr>
          <a:xfrm>
            <a:off x="10703597" y="5031568"/>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latin typeface="Tahoma"/>
                <a:cs typeface="Tahoma"/>
              </a:rPr>
              <a:t>(9,</a:t>
            </a:r>
            <a:r>
              <a:rPr sz="1000" spc="-60" dirty="0">
                <a:latin typeface="Tahoma"/>
                <a:cs typeface="Tahoma"/>
              </a:rPr>
              <a:t> </a:t>
            </a:r>
            <a:r>
              <a:rPr sz="1000" spc="25" dirty="0">
                <a:latin typeface="Tahoma"/>
                <a:cs typeface="Tahoma"/>
              </a:rPr>
              <a:t>4096</a:t>
            </a:r>
            <a:r>
              <a:rPr sz="1000" spc="-85" dirty="0">
                <a:latin typeface="Tahoma"/>
                <a:cs typeface="Tahoma"/>
              </a:rPr>
              <a:t>)</a:t>
            </a:r>
            <a:endParaRPr sz="1000">
              <a:latin typeface="Tahoma"/>
              <a:cs typeface="Tahoma"/>
            </a:endParaRPr>
          </a:p>
        </p:txBody>
      </p:sp>
      <p:sp>
        <p:nvSpPr>
          <p:cNvPr id="32" name="Title 1">
            <a:extLst>
              <a:ext uri="{FF2B5EF4-FFF2-40B4-BE49-F238E27FC236}">
                <a16:creationId xmlns:a16="http://schemas.microsoft.com/office/drawing/2014/main" id="{13604A5D-AF4F-B714-E166-A99E4C9536C8}"/>
              </a:ext>
            </a:extLst>
          </p:cNvPr>
          <p:cNvSpPr txBox="1">
            <a:spLocks/>
          </p:cNvSpPr>
          <p:nvPr/>
        </p:nvSpPr>
        <p:spPr>
          <a:xfrm>
            <a:off x="669552" y="594335"/>
            <a:ext cx="10863635" cy="639153"/>
          </a:xfrm>
          <a:prstGeom prst="rect">
            <a:avLst/>
          </a:prstGeom>
        </p:spPr>
        <p:txBody>
          <a:bodyPr vert="horz" lIns="0" tIns="0" rIns="0" bIns="0" rtlCol="0" anchor="ctr">
            <a:normAutofit fontScale="97500"/>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US" dirty="0">
                <a:latin typeface="+mn-lt"/>
              </a:rPr>
              <a:t>Self-Attention during Next Token Prediction Task</a:t>
            </a:r>
            <a:endParaRPr lang="en-IN" dirty="0">
              <a:latin typeface="+mn-l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914630" y="2853537"/>
            <a:ext cx="1123315" cy="1945639"/>
            <a:chOff x="470001" y="2975610"/>
            <a:chExt cx="1123315" cy="1945639"/>
          </a:xfrm>
        </p:grpSpPr>
        <p:sp>
          <p:nvSpPr>
            <p:cNvPr id="4" name="object 4"/>
            <p:cNvSpPr/>
            <p:nvPr/>
          </p:nvSpPr>
          <p:spPr>
            <a:xfrm>
              <a:off x="482701" y="2988310"/>
              <a:ext cx="1097280" cy="213360"/>
            </a:xfrm>
            <a:custGeom>
              <a:avLst/>
              <a:gdLst/>
              <a:ahLst/>
              <a:cxnLst/>
              <a:rect l="l" t="t" r="r" b="b"/>
              <a:pathLst>
                <a:path w="1097280" h="213360">
                  <a:moveTo>
                    <a:pt x="1097241" y="0"/>
                  </a:moveTo>
                  <a:lnTo>
                    <a:pt x="0" y="0"/>
                  </a:lnTo>
                  <a:lnTo>
                    <a:pt x="0" y="213360"/>
                  </a:lnTo>
                  <a:lnTo>
                    <a:pt x="1097241" y="213360"/>
                  </a:lnTo>
                  <a:lnTo>
                    <a:pt x="1097241" y="0"/>
                  </a:lnTo>
                  <a:close/>
                </a:path>
              </a:pathLst>
            </a:custGeom>
            <a:solidFill>
              <a:srgbClr val="FBEBEA"/>
            </a:solidFill>
          </p:spPr>
          <p:txBody>
            <a:bodyPr wrap="square" lIns="0" tIns="0" rIns="0" bIns="0" rtlCol="0"/>
            <a:lstStyle/>
            <a:p>
              <a:endParaRPr/>
            </a:p>
          </p:txBody>
        </p:sp>
        <p:sp>
          <p:nvSpPr>
            <p:cNvPr id="5" name="object 5"/>
            <p:cNvSpPr/>
            <p:nvPr/>
          </p:nvSpPr>
          <p:spPr>
            <a:xfrm>
              <a:off x="476351" y="3195320"/>
              <a:ext cx="1110615" cy="12700"/>
            </a:xfrm>
            <a:custGeom>
              <a:avLst/>
              <a:gdLst/>
              <a:ahLst/>
              <a:cxnLst/>
              <a:rect l="l" t="t" r="r" b="b"/>
              <a:pathLst>
                <a:path w="1110615" h="12700">
                  <a:moveTo>
                    <a:pt x="0" y="12700"/>
                  </a:moveTo>
                  <a:lnTo>
                    <a:pt x="1110005" y="12700"/>
                  </a:lnTo>
                  <a:lnTo>
                    <a:pt x="1110005" y="0"/>
                  </a:lnTo>
                  <a:lnTo>
                    <a:pt x="0" y="0"/>
                  </a:lnTo>
                  <a:lnTo>
                    <a:pt x="0" y="12700"/>
                  </a:lnTo>
                  <a:close/>
                </a:path>
              </a:pathLst>
            </a:custGeom>
            <a:solidFill>
              <a:srgbClr val="000000"/>
            </a:solidFill>
          </p:spPr>
          <p:txBody>
            <a:bodyPr wrap="square" lIns="0" tIns="0" rIns="0" bIns="0" rtlCol="0"/>
            <a:lstStyle/>
            <a:p>
              <a:endParaRPr/>
            </a:p>
          </p:txBody>
        </p:sp>
        <p:sp>
          <p:nvSpPr>
            <p:cNvPr id="6" name="object 6"/>
            <p:cNvSpPr/>
            <p:nvPr/>
          </p:nvSpPr>
          <p:spPr>
            <a:xfrm>
              <a:off x="482701"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7" name="object 7"/>
            <p:cNvSpPr/>
            <p:nvPr/>
          </p:nvSpPr>
          <p:spPr>
            <a:xfrm>
              <a:off x="482701" y="3201670"/>
              <a:ext cx="0" cy="1713230"/>
            </a:xfrm>
            <a:custGeom>
              <a:avLst/>
              <a:gdLst/>
              <a:ahLst/>
              <a:cxnLst/>
              <a:rect l="l" t="t" r="r" b="b"/>
              <a:pathLst>
                <a:path h="1713229">
                  <a:moveTo>
                    <a:pt x="0" y="0"/>
                  </a:moveTo>
                  <a:lnTo>
                    <a:pt x="0" y="1713229"/>
                  </a:lnTo>
                </a:path>
              </a:pathLst>
            </a:custGeom>
            <a:ln w="12700">
              <a:solidFill>
                <a:srgbClr val="FFFFFF"/>
              </a:solidFill>
            </a:ln>
          </p:spPr>
          <p:txBody>
            <a:bodyPr wrap="square" lIns="0" tIns="0" rIns="0" bIns="0" rtlCol="0"/>
            <a:lstStyle/>
            <a:p>
              <a:endParaRPr/>
            </a:p>
          </p:txBody>
        </p:sp>
        <p:sp>
          <p:nvSpPr>
            <p:cNvPr id="8" name="object 8"/>
            <p:cNvSpPr/>
            <p:nvPr/>
          </p:nvSpPr>
          <p:spPr>
            <a:xfrm>
              <a:off x="1580006"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9" name="object 9"/>
            <p:cNvSpPr/>
            <p:nvPr/>
          </p:nvSpPr>
          <p:spPr>
            <a:xfrm>
              <a:off x="476351" y="3201670"/>
              <a:ext cx="1110615" cy="1713230"/>
            </a:xfrm>
            <a:custGeom>
              <a:avLst/>
              <a:gdLst/>
              <a:ahLst/>
              <a:cxnLst/>
              <a:rect l="l" t="t" r="r" b="b"/>
              <a:pathLst>
                <a:path w="1110615" h="1713229">
                  <a:moveTo>
                    <a:pt x="1103655" y="0"/>
                  </a:moveTo>
                  <a:lnTo>
                    <a:pt x="1103655" y="1713229"/>
                  </a:lnTo>
                </a:path>
                <a:path w="1110615" h="1713229">
                  <a:moveTo>
                    <a:pt x="0" y="1706879"/>
                  </a:moveTo>
                  <a:lnTo>
                    <a:pt x="1110005" y="1706879"/>
                  </a:lnTo>
                </a:path>
              </a:pathLst>
            </a:custGeom>
            <a:ln w="12700">
              <a:solidFill>
                <a:srgbClr val="FFFFFF"/>
              </a:solidFill>
            </a:ln>
          </p:spPr>
          <p:txBody>
            <a:bodyPr wrap="square" lIns="0" tIns="0" rIns="0" bIns="0" rtlCol="0"/>
            <a:lstStyle/>
            <a:p>
              <a:endParaRPr/>
            </a:p>
          </p:txBody>
        </p:sp>
      </p:grpSp>
      <p:sp>
        <p:nvSpPr>
          <p:cNvPr id="10" name="object 10"/>
          <p:cNvSpPr txBox="1"/>
          <p:nvPr/>
        </p:nvSpPr>
        <p:spPr>
          <a:xfrm>
            <a:off x="927330" y="2866237"/>
            <a:ext cx="1097915" cy="165430"/>
          </a:xfrm>
          <a:prstGeom prst="rect">
            <a:avLst/>
          </a:prstGeom>
          <a:solidFill>
            <a:srgbClr val="FBEBEA"/>
          </a:solidFill>
          <a:ln w="12700">
            <a:solidFill>
              <a:srgbClr val="000000"/>
            </a:solidFill>
          </a:ln>
        </p:spPr>
        <p:txBody>
          <a:bodyPr vert="horz" wrap="square" lIns="0" tIns="41910" rIns="0" bIns="0" rtlCol="0">
            <a:spAutoFit/>
          </a:bodyPr>
          <a:lstStyle/>
          <a:p>
            <a:pPr marL="91440">
              <a:lnSpc>
                <a:spcPct val="100000"/>
              </a:lnSpc>
              <a:spcBef>
                <a:spcPts val="330"/>
              </a:spcBef>
            </a:pPr>
            <a:r>
              <a:rPr sz="800" spc="45" dirty="0">
                <a:cs typeface="Tahoma"/>
              </a:rPr>
              <a:t>TO</a:t>
            </a:r>
            <a:r>
              <a:rPr sz="800" spc="35" dirty="0">
                <a:cs typeface="Tahoma"/>
              </a:rPr>
              <a:t>K</a:t>
            </a:r>
            <a:r>
              <a:rPr sz="800" spc="25" dirty="0">
                <a:cs typeface="Tahoma"/>
              </a:rPr>
              <a:t>E</a:t>
            </a:r>
            <a:r>
              <a:rPr sz="800" spc="80" dirty="0">
                <a:cs typeface="Tahoma"/>
              </a:rPr>
              <a:t>N</a:t>
            </a:r>
            <a:r>
              <a:rPr sz="800" spc="-75" dirty="0">
                <a:cs typeface="Tahoma"/>
              </a:rPr>
              <a:t> </a:t>
            </a:r>
            <a:r>
              <a:rPr sz="800" spc="25" dirty="0">
                <a:cs typeface="Tahoma"/>
              </a:rPr>
              <a:t>1</a:t>
            </a:r>
            <a:endParaRPr sz="800">
              <a:cs typeface="Tahoma"/>
            </a:endParaRPr>
          </a:p>
        </p:txBody>
      </p:sp>
      <p:sp>
        <p:nvSpPr>
          <p:cNvPr id="11" name="object 11"/>
          <p:cNvSpPr/>
          <p:nvPr/>
        </p:nvSpPr>
        <p:spPr>
          <a:xfrm>
            <a:off x="2866264" y="3069182"/>
            <a:ext cx="1672589" cy="0"/>
          </a:xfrm>
          <a:custGeom>
            <a:avLst/>
            <a:gdLst/>
            <a:ahLst/>
            <a:cxnLst/>
            <a:rect l="l" t="t" r="r" b="b"/>
            <a:pathLst>
              <a:path w="1672589">
                <a:moveTo>
                  <a:pt x="0" y="0"/>
                </a:moveTo>
                <a:lnTo>
                  <a:pt x="1672589" y="0"/>
                </a:lnTo>
              </a:path>
            </a:pathLst>
          </a:custGeom>
          <a:ln w="12700">
            <a:solidFill>
              <a:srgbClr val="FFFFFF"/>
            </a:solidFill>
          </a:ln>
        </p:spPr>
        <p:txBody>
          <a:bodyPr wrap="square" lIns="0" tIns="0" rIns="0" bIns="0" rtlCol="0"/>
          <a:lstStyle/>
          <a:p>
            <a:endParaRPr/>
          </a:p>
        </p:txBody>
      </p:sp>
      <p:sp>
        <p:nvSpPr>
          <p:cNvPr id="12" name="object 12"/>
          <p:cNvSpPr/>
          <p:nvPr/>
        </p:nvSpPr>
        <p:spPr>
          <a:xfrm>
            <a:off x="2866264" y="4583530"/>
            <a:ext cx="1672589" cy="0"/>
          </a:xfrm>
          <a:custGeom>
            <a:avLst/>
            <a:gdLst/>
            <a:ahLst/>
            <a:cxnLst/>
            <a:rect l="l" t="t" r="r" b="b"/>
            <a:pathLst>
              <a:path w="1672589">
                <a:moveTo>
                  <a:pt x="0" y="0"/>
                </a:moveTo>
                <a:lnTo>
                  <a:pt x="1672589" y="0"/>
                </a:lnTo>
              </a:path>
            </a:pathLst>
          </a:custGeom>
          <a:ln w="12700">
            <a:solidFill>
              <a:srgbClr val="FFFFFF"/>
            </a:solidFill>
          </a:ln>
        </p:spPr>
        <p:txBody>
          <a:bodyPr wrap="square" lIns="0" tIns="0" rIns="0" bIns="0" rtlCol="0"/>
          <a:lstStyle/>
          <a:p>
            <a:endParaRPr/>
          </a:p>
        </p:txBody>
      </p:sp>
      <p:sp>
        <p:nvSpPr>
          <p:cNvPr id="13" name="object 13"/>
          <p:cNvSpPr txBox="1"/>
          <p:nvPr/>
        </p:nvSpPr>
        <p:spPr>
          <a:xfrm>
            <a:off x="2657984" y="3069182"/>
            <a:ext cx="208279" cy="871392"/>
          </a:xfrm>
          <a:prstGeom prst="rect">
            <a:avLst/>
          </a:prstGeom>
          <a:solidFill>
            <a:srgbClr val="E8F5F1"/>
          </a:solidFill>
          <a:ln w="12700">
            <a:solidFill>
              <a:srgbClr val="000000"/>
            </a:solidFill>
          </a:ln>
        </p:spPr>
        <p:txBody>
          <a:bodyPr vert="horz" wrap="square" lIns="0" tIns="40005" rIns="0" bIns="0" rtlCol="0">
            <a:spAutoFit/>
          </a:bodyPr>
          <a:lstStyle/>
          <a:p>
            <a:pPr marL="91440" marR="11430" algn="just">
              <a:lnSpc>
                <a:spcPct val="100000"/>
              </a:lnSpc>
              <a:spcBef>
                <a:spcPts val="315"/>
              </a:spcBef>
            </a:pPr>
            <a:r>
              <a:rPr sz="900" spc="-15" dirty="0">
                <a:cs typeface="Tahoma"/>
              </a:rPr>
              <a:t>T </a:t>
            </a:r>
            <a:r>
              <a:rPr sz="900" spc="-270" dirty="0">
                <a:cs typeface="Tahoma"/>
              </a:rPr>
              <a:t> </a:t>
            </a:r>
            <a:r>
              <a:rPr sz="900" spc="80" dirty="0">
                <a:cs typeface="Tahoma"/>
              </a:rPr>
              <a:t>O  </a:t>
            </a:r>
            <a:r>
              <a:rPr sz="900" spc="35" dirty="0">
                <a:cs typeface="Tahoma"/>
              </a:rPr>
              <a:t>K </a:t>
            </a:r>
            <a:r>
              <a:rPr sz="900" spc="-270" dirty="0">
                <a:cs typeface="Tahoma"/>
              </a:rPr>
              <a:t> </a:t>
            </a:r>
            <a:r>
              <a:rPr sz="900" spc="25" dirty="0">
                <a:cs typeface="Tahoma"/>
              </a:rPr>
              <a:t>E </a:t>
            </a:r>
            <a:r>
              <a:rPr sz="900" spc="-270" dirty="0">
                <a:cs typeface="Tahoma"/>
              </a:rPr>
              <a:t> </a:t>
            </a:r>
            <a:r>
              <a:rPr sz="900" spc="55" dirty="0">
                <a:cs typeface="Tahoma"/>
              </a:rPr>
              <a:t>N  </a:t>
            </a:r>
            <a:r>
              <a:rPr sz="900" spc="30" dirty="0">
                <a:cs typeface="Tahoma"/>
              </a:rPr>
              <a:t>1</a:t>
            </a:r>
            <a:endParaRPr sz="900">
              <a:cs typeface="Tahoma"/>
            </a:endParaRPr>
          </a:p>
        </p:txBody>
      </p:sp>
      <p:sp>
        <p:nvSpPr>
          <p:cNvPr id="14" name="object 14"/>
          <p:cNvSpPr txBox="1"/>
          <p:nvPr/>
        </p:nvSpPr>
        <p:spPr>
          <a:xfrm>
            <a:off x="2251584" y="3526763"/>
            <a:ext cx="17335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𝑋</a:t>
            </a:r>
            <a:endParaRPr sz="1800">
              <a:cs typeface="Cambria Math"/>
            </a:endParaRPr>
          </a:p>
        </p:txBody>
      </p:sp>
      <p:sp>
        <p:nvSpPr>
          <p:cNvPr id="15" name="object 15"/>
          <p:cNvSpPr txBox="1"/>
          <p:nvPr/>
        </p:nvSpPr>
        <p:spPr>
          <a:xfrm>
            <a:off x="4759834" y="3526763"/>
            <a:ext cx="19621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a:t>
            </a:r>
            <a:endParaRPr sz="1800">
              <a:cs typeface="Cambria Math"/>
            </a:endParaRPr>
          </a:p>
        </p:txBody>
      </p:sp>
      <p:graphicFrame>
        <p:nvGraphicFramePr>
          <p:cNvPr id="16" name="object 16"/>
          <p:cNvGraphicFramePr>
            <a:graphicFrameLocks noGrp="1"/>
          </p:cNvGraphicFramePr>
          <p:nvPr>
            <p:extLst>
              <p:ext uri="{D42A27DB-BD31-4B8C-83A1-F6EECF244321}">
                <p14:modId xmlns:p14="http://schemas.microsoft.com/office/powerpoint/2010/main" val="1774795216"/>
              </p:ext>
            </p:extLst>
          </p:nvPr>
        </p:nvGraphicFramePr>
        <p:xfrm>
          <a:off x="5178045" y="2174087"/>
          <a:ext cx="1988818" cy="3316413"/>
        </p:xfrm>
        <a:graphic>
          <a:graphicData uri="http://schemas.openxmlformats.org/drawingml/2006/table">
            <a:tbl>
              <a:tblPr firstRow="1" bandRow="1">
                <a:tableStyleId>{2D5ABB26-0587-4C30-8999-92F81FD0307C}</a:tableStyleId>
              </a:tblPr>
              <a:tblGrid>
                <a:gridCol w="208279">
                  <a:extLst>
                    <a:ext uri="{9D8B030D-6E8A-4147-A177-3AD203B41FA5}">
                      <a16:colId xmlns:a16="http://schemas.microsoft.com/office/drawing/2014/main" val="20000"/>
                    </a:ext>
                  </a:extLst>
                </a:gridCol>
                <a:gridCol w="1780539">
                  <a:extLst>
                    <a:ext uri="{9D8B030D-6E8A-4147-A177-3AD203B41FA5}">
                      <a16:colId xmlns:a16="http://schemas.microsoft.com/office/drawing/2014/main" val="20001"/>
                    </a:ext>
                  </a:extLst>
                </a:gridCol>
              </a:tblGrid>
              <a:tr h="396239">
                <a:tc>
                  <a:txBody>
                    <a:bodyPr/>
                    <a:lstStyle/>
                    <a:p>
                      <a:pPr marL="92075" marR="78740" indent="-635" algn="ctr">
                        <a:lnSpc>
                          <a:spcPct val="100000"/>
                        </a:lnSpc>
                        <a:spcBef>
                          <a:spcPts val="345"/>
                        </a:spcBef>
                      </a:pPr>
                      <a:r>
                        <a:rPr sz="400" dirty="0">
                          <a:latin typeface="Tahoma"/>
                          <a:cs typeface="Tahoma"/>
                        </a:rPr>
                        <a:t>T  1</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0"/>
                  </a:ext>
                </a:extLst>
              </a:tr>
              <a:tr h="2920174">
                <a:tc gridSpan="2">
                  <a:txBody>
                    <a:bodyPr/>
                    <a:lstStyle/>
                    <a:p>
                      <a:pPr>
                        <a:lnSpc>
                          <a:spcPct val="100000"/>
                        </a:lnSpc>
                      </a:pPr>
                      <a:endParaRPr sz="16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cap="flat" cmpd="sng" algn="ctr">
                      <a:solidFill>
                        <a:srgbClr val="000000"/>
                      </a:solidFill>
                      <a:prstDash val="solid"/>
                      <a:round/>
                      <a:headEnd type="none" w="med" len="med"/>
                      <a:tailEnd type="none" w="med" len="med"/>
                    </a:lnT>
                    <a:lnB w="12700">
                      <a:solidFill>
                        <a:srgbClr val="FFFFFF"/>
                      </a:solidFill>
                      <a:prstDash val="solid"/>
                    </a:lnB>
                  </a:tcPr>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pSp>
        <p:nvGrpSpPr>
          <p:cNvPr id="17" name="object 17"/>
          <p:cNvGrpSpPr/>
          <p:nvPr/>
        </p:nvGrpSpPr>
        <p:grpSpPr>
          <a:xfrm>
            <a:off x="8367903" y="2836290"/>
            <a:ext cx="1109980" cy="1932939"/>
            <a:chOff x="8048370" y="2981960"/>
            <a:chExt cx="1109980" cy="1932939"/>
          </a:xfrm>
        </p:grpSpPr>
        <p:sp>
          <p:nvSpPr>
            <p:cNvPr id="18" name="object 18"/>
            <p:cNvSpPr/>
            <p:nvPr/>
          </p:nvSpPr>
          <p:spPr>
            <a:xfrm>
              <a:off x="8054720" y="2988310"/>
              <a:ext cx="1097280" cy="213360"/>
            </a:xfrm>
            <a:custGeom>
              <a:avLst/>
              <a:gdLst/>
              <a:ahLst/>
              <a:cxnLst/>
              <a:rect l="l" t="t" r="r" b="b"/>
              <a:pathLst>
                <a:path w="1097279" h="213360">
                  <a:moveTo>
                    <a:pt x="1097241" y="0"/>
                  </a:moveTo>
                  <a:lnTo>
                    <a:pt x="0" y="0"/>
                  </a:lnTo>
                  <a:lnTo>
                    <a:pt x="0" y="213360"/>
                  </a:lnTo>
                  <a:lnTo>
                    <a:pt x="1097241" y="213360"/>
                  </a:lnTo>
                  <a:lnTo>
                    <a:pt x="1097241" y="0"/>
                  </a:lnTo>
                  <a:close/>
                </a:path>
              </a:pathLst>
            </a:custGeom>
            <a:solidFill>
              <a:srgbClr val="DFDBDF"/>
            </a:solidFill>
          </p:spPr>
          <p:txBody>
            <a:bodyPr wrap="square" lIns="0" tIns="0" rIns="0" bIns="0" rtlCol="0"/>
            <a:lstStyle/>
            <a:p>
              <a:endParaRPr/>
            </a:p>
          </p:txBody>
        </p:sp>
        <p:sp>
          <p:nvSpPr>
            <p:cNvPr id="19" name="object 19"/>
            <p:cNvSpPr/>
            <p:nvPr/>
          </p:nvSpPr>
          <p:spPr>
            <a:xfrm>
              <a:off x="8048370" y="3195320"/>
              <a:ext cx="1109980" cy="12700"/>
            </a:xfrm>
            <a:custGeom>
              <a:avLst/>
              <a:gdLst/>
              <a:ahLst/>
              <a:cxnLst/>
              <a:rect l="l" t="t" r="r" b="b"/>
              <a:pathLst>
                <a:path w="1109979" h="12700">
                  <a:moveTo>
                    <a:pt x="0" y="12700"/>
                  </a:moveTo>
                  <a:lnTo>
                    <a:pt x="1109852" y="12700"/>
                  </a:lnTo>
                  <a:lnTo>
                    <a:pt x="1109852" y="0"/>
                  </a:lnTo>
                  <a:lnTo>
                    <a:pt x="0" y="0"/>
                  </a:lnTo>
                  <a:lnTo>
                    <a:pt x="0" y="12700"/>
                  </a:lnTo>
                  <a:close/>
                </a:path>
              </a:pathLst>
            </a:custGeom>
            <a:solidFill>
              <a:srgbClr val="000000"/>
            </a:solidFill>
          </p:spPr>
          <p:txBody>
            <a:bodyPr wrap="square" lIns="0" tIns="0" rIns="0" bIns="0" rtlCol="0"/>
            <a:lstStyle/>
            <a:p>
              <a:endParaRPr/>
            </a:p>
          </p:txBody>
        </p:sp>
        <p:sp>
          <p:nvSpPr>
            <p:cNvPr id="20" name="object 20"/>
            <p:cNvSpPr/>
            <p:nvPr/>
          </p:nvSpPr>
          <p:spPr>
            <a:xfrm>
              <a:off x="8054720"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21" name="object 21"/>
            <p:cNvSpPr/>
            <p:nvPr/>
          </p:nvSpPr>
          <p:spPr>
            <a:xfrm>
              <a:off x="8054720" y="3201670"/>
              <a:ext cx="0" cy="1713230"/>
            </a:xfrm>
            <a:custGeom>
              <a:avLst/>
              <a:gdLst/>
              <a:ahLst/>
              <a:cxnLst/>
              <a:rect l="l" t="t" r="r" b="b"/>
              <a:pathLst>
                <a:path h="1713229">
                  <a:moveTo>
                    <a:pt x="0" y="0"/>
                  </a:moveTo>
                  <a:lnTo>
                    <a:pt x="0" y="1713229"/>
                  </a:lnTo>
                </a:path>
              </a:pathLst>
            </a:custGeom>
            <a:ln w="12700">
              <a:solidFill>
                <a:srgbClr val="FFFFFF"/>
              </a:solidFill>
            </a:ln>
          </p:spPr>
          <p:txBody>
            <a:bodyPr wrap="square" lIns="0" tIns="0" rIns="0" bIns="0" rtlCol="0"/>
            <a:lstStyle/>
            <a:p>
              <a:endParaRPr/>
            </a:p>
          </p:txBody>
        </p:sp>
        <p:sp>
          <p:nvSpPr>
            <p:cNvPr id="22" name="object 22"/>
            <p:cNvSpPr/>
            <p:nvPr/>
          </p:nvSpPr>
          <p:spPr>
            <a:xfrm>
              <a:off x="9151873"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23" name="object 23"/>
            <p:cNvSpPr/>
            <p:nvPr/>
          </p:nvSpPr>
          <p:spPr>
            <a:xfrm>
              <a:off x="8048370" y="3201670"/>
              <a:ext cx="1109980" cy="1713230"/>
            </a:xfrm>
            <a:custGeom>
              <a:avLst/>
              <a:gdLst/>
              <a:ahLst/>
              <a:cxnLst/>
              <a:rect l="l" t="t" r="r" b="b"/>
              <a:pathLst>
                <a:path w="1109979" h="1713229">
                  <a:moveTo>
                    <a:pt x="1103502" y="0"/>
                  </a:moveTo>
                  <a:lnTo>
                    <a:pt x="1103502" y="1713229"/>
                  </a:lnTo>
                </a:path>
                <a:path w="1109979" h="1713229">
                  <a:moveTo>
                    <a:pt x="0" y="1706879"/>
                  </a:moveTo>
                  <a:lnTo>
                    <a:pt x="1109852" y="1706879"/>
                  </a:lnTo>
                </a:path>
              </a:pathLst>
            </a:custGeom>
            <a:ln w="12700">
              <a:solidFill>
                <a:srgbClr val="FFFFFF"/>
              </a:solidFill>
            </a:ln>
          </p:spPr>
          <p:txBody>
            <a:bodyPr wrap="square" lIns="0" tIns="0" rIns="0" bIns="0" rtlCol="0"/>
            <a:lstStyle/>
            <a:p>
              <a:endParaRPr/>
            </a:p>
          </p:txBody>
        </p:sp>
      </p:grpSp>
      <p:sp>
        <p:nvSpPr>
          <p:cNvPr id="24" name="object 24"/>
          <p:cNvSpPr txBox="1"/>
          <p:nvPr/>
        </p:nvSpPr>
        <p:spPr>
          <a:xfrm>
            <a:off x="8374253" y="2842640"/>
            <a:ext cx="1097280" cy="165430"/>
          </a:xfrm>
          <a:prstGeom prst="rect">
            <a:avLst/>
          </a:prstGeom>
          <a:solidFill>
            <a:srgbClr val="DFDBDF"/>
          </a:solidFill>
          <a:ln w="12700">
            <a:solidFill>
              <a:srgbClr val="000000"/>
            </a:solidFill>
          </a:ln>
        </p:spPr>
        <p:txBody>
          <a:bodyPr vert="horz" wrap="square" lIns="0" tIns="41910" rIns="0" bIns="0" rtlCol="0">
            <a:spAutoFit/>
          </a:bodyPr>
          <a:lstStyle/>
          <a:p>
            <a:pPr marL="92075">
              <a:lnSpc>
                <a:spcPct val="100000"/>
              </a:lnSpc>
              <a:spcBef>
                <a:spcPts val="330"/>
              </a:spcBef>
            </a:pPr>
            <a:r>
              <a:rPr sz="800" spc="45" dirty="0">
                <a:cs typeface="Tahoma"/>
              </a:rPr>
              <a:t>TO</a:t>
            </a:r>
            <a:r>
              <a:rPr sz="800" spc="35" dirty="0">
                <a:cs typeface="Tahoma"/>
              </a:rPr>
              <a:t>K</a:t>
            </a:r>
            <a:r>
              <a:rPr sz="800" spc="25" dirty="0">
                <a:cs typeface="Tahoma"/>
              </a:rPr>
              <a:t>E</a:t>
            </a:r>
            <a:r>
              <a:rPr sz="800" spc="80" dirty="0">
                <a:cs typeface="Tahoma"/>
              </a:rPr>
              <a:t>N</a:t>
            </a:r>
            <a:r>
              <a:rPr sz="800" spc="-75" dirty="0">
                <a:cs typeface="Tahoma"/>
              </a:rPr>
              <a:t> </a:t>
            </a:r>
            <a:r>
              <a:rPr sz="800" spc="25" dirty="0">
                <a:cs typeface="Tahoma"/>
              </a:rPr>
              <a:t>1</a:t>
            </a:r>
            <a:endParaRPr sz="800">
              <a:cs typeface="Tahoma"/>
            </a:endParaRPr>
          </a:p>
        </p:txBody>
      </p:sp>
      <p:grpSp>
        <p:nvGrpSpPr>
          <p:cNvPr id="25" name="object 25"/>
          <p:cNvGrpSpPr/>
          <p:nvPr/>
        </p:nvGrpSpPr>
        <p:grpSpPr>
          <a:xfrm>
            <a:off x="10407142" y="2836290"/>
            <a:ext cx="1109980" cy="1932939"/>
            <a:chOff x="10087609" y="2981960"/>
            <a:chExt cx="1109980" cy="1932939"/>
          </a:xfrm>
        </p:grpSpPr>
        <p:sp>
          <p:nvSpPr>
            <p:cNvPr id="26" name="object 26"/>
            <p:cNvSpPr/>
            <p:nvPr/>
          </p:nvSpPr>
          <p:spPr>
            <a:xfrm>
              <a:off x="10093959" y="2988310"/>
              <a:ext cx="1097280" cy="213360"/>
            </a:xfrm>
            <a:custGeom>
              <a:avLst/>
              <a:gdLst/>
              <a:ahLst/>
              <a:cxnLst/>
              <a:rect l="l" t="t" r="r" b="b"/>
              <a:pathLst>
                <a:path w="1097279" h="213360">
                  <a:moveTo>
                    <a:pt x="1097241" y="0"/>
                  </a:moveTo>
                  <a:lnTo>
                    <a:pt x="0" y="0"/>
                  </a:lnTo>
                  <a:lnTo>
                    <a:pt x="0" y="213360"/>
                  </a:lnTo>
                  <a:lnTo>
                    <a:pt x="1097241" y="213360"/>
                  </a:lnTo>
                  <a:lnTo>
                    <a:pt x="1097241" y="0"/>
                  </a:lnTo>
                  <a:close/>
                </a:path>
              </a:pathLst>
            </a:custGeom>
            <a:solidFill>
              <a:srgbClr val="FFAD78"/>
            </a:solidFill>
          </p:spPr>
          <p:txBody>
            <a:bodyPr wrap="square" lIns="0" tIns="0" rIns="0" bIns="0" rtlCol="0"/>
            <a:lstStyle/>
            <a:p>
              <a:endParaRPr/>
            </a:p>
          </p:txBody>
        </p:sp>
        <p:sp>
          <p:nvSpPr>
            <p:cNvPr id="27" name="object 27"/>
            <p:cNvSpPr/>
            <p:nvPr/>
          </p:nvSpPr>
          <p:spPr>
            <a:xfrm>
              <a:off x="10087609" y="3195320"/>
              <a:ext cx="1109980" cy="12700"/>
            </a:xfrm>
            <a:custGeom>
              <a:avLst/>
              <a:gdLst/>
              <a:ahLst/>
              <a:cxnLst/>
              <a:rect l="l" t="t" r="r" b="b"/>
              <a:pathLst>
                <a:path w="1109979" h="12700">
                  <a:moveTo>
                    <a:pt x="0" y="12700"/>
                  </a:moveTo>
                  <a:lnTo>
                    <a:pt x="1109980" y="12700"/>
                  </a:lnTo>
                  <a:lnTo>
                    <a:pt x="1109980" y="0"/>
                  </a:lnTo>
                  <a:lnTo>
                    <a:pt x="0" y="0"/>
                  </a:lnTo>
                  <a:lnTo>
                    <a:pt x="0" y="12700"/>
                  </a:lnTo>
                  <a:close/>
                </a:path>
              </a:pathLst>
            </a:custGeom>
            <a:solidFill>
              <a:srgbClr val="000000"/>
            </a:solidFill>
          </p:spPr>
          <p:txBody>
            <a:bodyPr wrap="square" lIns="0" tIns="0" rIns="0" bIns="0" rtlCol="0"/>
            <a:lstStyle/>
            <a:p>
              <a:endParaRPr/>
            </a:p>
          </p:txBody>
        </p:sp>
        <p:sp>
          <p:nvSpPr>
            <p:cNvPr id="28" name="object 28"/>
            <p:cNvSpPr/>
            <p:nvPr/>
          </p:nvSpPr>
          <p:spPr>
            <a:xfrm>
              <a:off x="10093959"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29" name="object 29"/>
            <p:cNvSpPr/>
            <p:nvPr/>
          </p:nvSpPr>
          <p:spPr>
            <a:xfrm>
              <a:off x="10093959" y="3201670"/>
              <a:ext cx="0" cy="1713230"/>
            </a:xfrm>
            <a:custGeom>
              <a:avLst/>
              <a:gdLst/>
              <a:ahLst/>
              <a:cxnLst/>
              <a:rect l="l" t="t" r="r" b="b"/>
              <a:pathLst>
                <a:path h="1713229">
                  <a:moveTo>
                    <a:pt x="0" y="0"/>
                  </a:moveTo>
                  <a:lnTo>
                    <a:pt x="0" y="1713229"/>
                  </a:lnTo>
                </a:path>
              </a:pathLst>
            </a:custGeom>
            <a:ln w="12700">
              <a:solidFill>
                <a:srgbClr val="FFFFFF"/>
              </a:solidFill>
            </a:ln>
          </p:spPr>
          <p:txBody>
            <a:bodyPr wrap="square" lIns="0" tIns="0" rIns="0" bIns="0" rtlCol="0"/>
            <a:lstStyle/>
            <a:p>
              <a:endParaRPr/>
            </a:p>
          </p:txBody>
        </p:sp>
        <p:sp>
          <p:nvSpPr>
            <p:cNvPr id="30" name="object 30"/>
            <p:cNvSpPr/>
            <p:nvPr/>
          </p:nvSpPr>
          <p:spPr>
            <a:xfrm>
              <a:off x="11191239"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31" name="object 31"/>
            <p:cNvSpPr/>
            <p:nvPr/>
          </p:nvSpPr>
          <p:spPr>
            <a:xfrm>
              <a:off x="10087609" y="3201670"/>
              <a:ext cx="1109980" cy="1713230"/>
            </a:xfrm>
            <a:custGeom>
              <a:avLst/>
              <a:gdLst/>
              <a:ahLst/>
              <a:cxnLst/>
              <a:rect l="l" t="t" r="r" b="b"/>
              <a:pathLst>
                <a:path w="1109979" h="1713229">
                  <a:moveTo>
                    <a:pt x="1103630" y="0"/>
                  </a:moveTo>
                  <a:lnTo>
                    <a:pt x="1103630" y="1713229"/>
                  </a:lnTo>
                </a:path>
                <a:path w="1109979" h="1713229">
                  <a:moveTo>
                    <a:pt x="0" y="1706879"/>
                  </a:moveTo>
                  <a:lnTo>
                    <a:pt x="1109980" y="1706879"/>
                  </a:lnTo>
                </a:path>
              </a:pathLst>
            </a:custGeom>
            <a:ln w="12700">
              <a:solidFill>
                <a:srgbClr val="FFFFFF"/>
              </a:solidFill>
            </a:ln>
          </p:spPr>
          <p:txBody>
            <a:bodyPr wrap="square" lIns="0" tIns="0" rIns="0" bIns="0" rtlCol="0"/>
            <a:lstStyle/>
            <a:p>
              <a:endParaRPr/>
            </a:p>
          </p:txBody>
        </p:sp>
      </p:grpSp>
      <p:sp>
        <p:nvSpPr>
          <p:cNvPr id="32" name="object 32"/>
          <p:cNvSpPr txBox="1"/>
          <p:nvPr/>
        </p:nvSpPr>
        <p:spPr>
          <a:xfrm>
            <a:off x="10413492" y="2842640"/>
            <a:ext cx="1097280" cy="165430"/>
          </a:xfrm>
          <a:prstGeom prst="rect">
            <a:avLst/>
          </a:prstGeom>
          <a:solidFill>
            <a:srgbClr val="FFAD78"/>
          </a:solidFill>
          <a:ln w="12700">
            <a:solidFill>
              <a:srgbClr val="000000"/>
            </a:solidFill>
          </a:ln>
        </p:spPr>
        <p:txBody>
          <a:bodyPr vert="horz" wrap="square" lIns="0" tIns="41910" rIns="0" bIns="0" rtlCol="0">
            <a:spAutoFit/>
          </a:bodyPr>
          <a:lstStyle/>
          <a:p>
            <a:pPr marL="92710">
              <a:lnSpc>
                <a:spcPct val="100000"/>
              </a:lnSpc>
              <a:spcBef>
                <a:spcPts val="330"/>
              </a:spcBef>
            </a:pPr>
            <a:r>
              <a:rPr sz="800" spc="75" dirty="0">
                <a:cs typeface="Tahoma"/>
              </a:rPr>
              <a:t>OU</a:t>
            </a:r>
            <a:r>
              <a:rPr sz="800" spc="15" dirty="0">
                <a:cs typeface="Tahoma"/>
              </a:rPr>
              <a:t>TP</a:t>
            </a:r>
            <a:r>
              <a:rPr sz="800" spc="10" dirty="0">
                <a:cs typeface="Tahoma"/>
              </a:rPr>
              <a:t>U</a:t>
            </a:r>
            <a:r>
              <a:rPr sz="800" spc="-10" dirty="0">
                <a:cs typeface="Tahoma"/>
              </a:rPr>
              <a:t>T</a:t>
            </a:r>
            <a:r>
              <a:rPr sz="800" spc="-100" dirty="0">
                <a:cs typeface="Tahoma"/>
              </a:rPr>
              <a:t> </a:t>
            </a:r>
            <a:r>
              <a:rPr sz="800" spc="45" dirty="0">
                <a:cs typeface="Tahoma"/>
              </a:rPr>
              <a:t>TO</a:t>
            </a:r>
            <a:r>
              <a:rPr sz="800" spc="35" dirty="0">
                <a:cs typeface="Tahoma"/>
              </a:rPr>
              <a:t>K</a:t>
            </a:r>
            <a:r>
              <a:rPr sz="800" spc="25" dirty="0">
                <a:cs typeface="Tahoma"/>
              </a:rPr>
              <a:t>E</a:t>
            </a:r>
            <a:r>
              <a:rPr sz="800" spc="80" dirty="0">
                <a:cs typeface="Tahoma"/>
              </a:rPr>
              <a:t>N</a:t>
            </a:r>
            <a:r>
              <a:rPr sz="800" spc="-75" dirty="0">
                <a:cs typeface="Tahoma"/>
              </a:rPr>
              <a:t> </a:t>
            </a:r>
            <a:r>
              <a:rPr sz="800" spc="25" dirty="0">
                <a:cs typeface="Tahoma"/>
              </a:rPr>
              <a:t>1</a:t>
            </a:r>
            <a:endParaRPr sz="800">
              <a:cs typeface="Tahoma"/>
            </a:endParaRPr>
          </a:p>
        </p:txBody>
      </p:sp>
      <p:sp>
        <p:nvSpPr>
          <p:cNvPr id="33" name="object 33"/>
          <p:cNvSpPr/>
          <p:nvPr/>
        </p:nvSpPr>
        <p:spPr>
          <a:xfrm>
            <a:off x="735713" y="1851506"/>
            <a:ext cx="173990" cy="3621404"/>
          </a:xfrm>
          <a:custGeom>
            <a:avLst/>
            <a:gdLst/>
            <a:ahLst/>
            <a:cxnLst/>
            <a:rect l="l" t="t" r="r" b="b"/>
            <a:pathLst>
              <a:path w="173990" h="3621404">
                <a:moveTo>
                  <a:pt x="173736" y="3621024"/>
                </a:moveTo>
                <a:lnTo>
                  <a:pt x="106111" y="3619886"/>
                </a:lnTo>
                <a:lnTo>
                  <a:pt x="50887" y="3616785"/>
                </a:lnTo>
                <a:lnTo>
                  <a:pt x="13653" y="3612183"/>
                </a:lnTo>
                <a:lnTo>
                  <a:pt x="0" y="3606546"/>
                </a:lnTo>
                <a:lnTo>
                  <a:pt x="0" y="14478"/>
                </a:lnTo>
                <a:lnTo>
                  <a:pt x="13653" y="8840"/>
                </a:lnTo>
                <a:lnTo>
                  <a:pt x="50887" y="4238"/>
                </a:lnTo>
                <a:lnTo>
                  <a:pt x="106111" y="1137"/>
                </a:lnTo>
                <a:lnTo>
                  <a:pt x="173736" y="0"/>
                </a:lnTo>
              </a:path>
            </a:pathLst>
          </a:custGeom>
          <a:ln w="76200">
            <a:solidFill>
              <a:srgbClr val="4E91EF"/>
            </a:solidFill>
          </a:ln>
        </p:spPr>
        <p:txBody>
          <a:bodyPr wrap="square" lIns="0" tIns="0" rIns="0" bIns="0" rtlCol="0"/>
          <a:lstStyle/>
          <a:p>
            <a:endParaRPr/>
          </a:p>
        </p:txBody>
      </p:sp>
      <p:sp>
        <p:nvSpPr>
          <p:cNvPr id="34" name="object 34"/>
          <p:cNvSpPr/>
          <p:nvPr/>
        </p:nvSpPr>
        <p:spPr>
          <a:xfrm>
            <a:off x="7383400" y="1851506"/>
            <a:ext cx="173990" cy="3621404"/>
          </a:xfrm>
          <a:custGeom>
            <a:avLst/>
            <a:gdLst/>
            <a:ahLst/>
            <a:cxnLst/>
            <a:rect l="l" t="t" r="r" b="b"/>
            <a:pathLst>
              <a:path w="173990" h="3621404">
                <a:moveTo>
                  <a:pt x="0" y="0"/>
                </a:moveTo>
                <a:lnTo>
                  <a:pt x="67651" y="1137"/>
                </a:lnTo>
                <a:lnTo>
                  <a:pt x="122872" y="4238"/>
                </a:lnTo>
                <a:lnTo>
                  <a:pt x="160091" y="8840"/>
                </a:lnTo>
                <a:lnTo>
                  <a:pt x="173735" y="14478"/>
                </a:lnTo>
                <a:lnTo>
                  <a:pt x="173735" y="3606546"/>
                </a:lnTo>
                <a:lnTo>
                  <a:pt x="160091" y="3612183"/>
                </a:lnTo>
                <a:lnTo>
                  <a:pt x="122872" y="3616785"/>
                </a:lnTo>
                <a:lnTo>
                  <a:pt x="67651" y="3619886"/>
                </a:lnTo>
                <a:lnTo>
                  <a:pt x="0" y="3621024"/>
                </a:lnTo>
              </a:path>
            </a:pathLst>
          </a:custGeom>
          <a:ln w="76200">
            <a:solidFill>
              <a:srgbClr val="4E91EF"/>
            </a:solidFill>
          </a:ln>
        </p:spPr>
        <p:txBody>
          <a:bodyPr wrap="square" lIns="0" tIns="0" rIns="0" bIns="0" rtlCol="0"/>
          <a:lstStyle/>
          <a:p>
            <a:endParaRPr/>
          </a:p>
        </p:txBody>
      </p:sp>
      <p:sp>
        <p:nvSpPr>
          <p:cNvPr id="35" name="object 35"/>
          <p:cNvSpPr txBox="1"/>
          <p:nvPr/>
        </p:nvSpPr>
        <p:spPr>
          <a:xfrm>
            <a:off x="7813422" y="3503166"/>
            <a:ext cx="17335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𝑋</a:t>
            </a:r>
            <a:endParaRPr sz="1800">
              <a:cs typeface="Cambria Math"/>
            </a:endParaRPr>
          </a:p>
        </p:txBody>
      </p:sp>
      <p:sp>
        <p:nvSpPr>
          <p:cNvPr id="36" name="object 36"/>
          <p:cNvSpPr txBox="1"/>
          <p:nvPr/>
        </p:nvSpPr>
        <p:spPr>
          <a:xfrm>
            <a:off x="9844660" y="3503166"/>
            <a:ext cx="19621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a:t>
            </a:r>
            <a:endParaRPr sz="1800">
              <a:cs typeface="Cambria Math"/>
            </a:endParaRPr>
          </a:p>
        </p:txBody>
      </p:sp>
      <p:sp>
        <p:nvSpPr>
          <p:cNvPr id="37" name="object 37"/>
          <p:cNvSpPr txBox="1"/>
          <p:nvPr/>
        </p:nvSpPr>
        <p:spPr>
          <a:xfrm>
            <a:off x="1382295" y="2339567"/>
            <a:ext cx="18034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𝑄</a:t>
            </a:r>
            <a:endParaRPr sz="1800">
              <a:cs typeface="Cambria Math"/>
            </a:endParaRPr>
          </a:p>
        </p:txBody>
      </p:sp>
      <p:sp>
        <p:nvSpPr>
          <p:cNvPr id="38" name="object 38"/>
          <p:cNvSpPr txBox="1"/>
          <p:nvPr/>
        </p:nvSpPr>
        <p:spPr>
          <a:xfrm>
            <a:off x="3457577" y="2259177"/>
            <a:ext cx="351790" cy="299720"/>
          </a:xfrm>
          <a:prstGeom prst="rect">
            <a:avLst/>
          </a:prstGeom>
        </p:spPr>
        <p:txBody>
          <a:bodyPr vert="horz" wrap="square" lIns="0" tIns="12700" rIns="0" bIns="0" rtlCol="0">
            <a:spAutoFit/>
          </a:bodyPr>
          <a:lstStyle/>
          <a:p>
            <a:pPr marL="38100">
              <a:lnSpc>
                <a:spcPct val="100000"/>
              </a:lnSpc>
              <a:spcBef>
                <a:spcPts val="100"/>
              </a:spcBef>
            </a:pPr>
            <a:r>
              <a:rPr sz="2700" spc="97" baseline="-20061" dirty="0">
                <a:cs typeface="Cambria Math"/>
              </a:rPr>
              <a:t>𝐾</a:t>
            </a:r>
            <a:r>
              <a:rPr sz="1300" spc="65" dirty="0">
                <a:cs typeface="Cambria Math"/>
              </a:rPr>
              <a:t>𝑇</a:t>
            </a:r>
            <a:endParaRPr sz="1300">
              <a:cs typeface="Cambria Math"/>
            </a:endParaRPr>
          </a:p>
        </p:txBody>
      </p:sp>
      <p:sp>
        <p:nvSpPr>
          <p:cNvPr id="39" name="object 39"/>
          <p:cNvSpPr txBox="1"/>
          <p:nvPr/>
        </p:nvSpPr>
        <p:spPr>
          <a:xfrm>
            <a:off x="5915534" y="1790928"/>
            <a:ext cx="511809" cy="299720"/>
          </a:xfrm>
          <a:prstGeom prst="rect">
            <a:avLst/>
          </a:prstGeom>
        </p:spPr>
        <p:txBody>
          <a:bodyPr vert="horz" wrap="square" lIns="0" tIns="12700" rIns="0" bIns="0" rtlCol="0">
            <a:spAutoFit/>
          </a:bodyPr>
          <a:lstStyle/>
          <a:p>
            <a:pPr marL="38100">
              <a:lnSpc>
                <a:spcPct val="100000"/>
              </a:lnSpc>
              <a:spcBef>
                <a:spcPts val="100"/>
              </a:spcBef>
            </a:pPr>
            <a:r>
              <a:rPr sz="1800" spc="55" dirty="0">
                <a:cs typeface="Cambria Math"/>
              </a:rPr>
              <a:t>𝑄𝐾</a:t>
            </a:r>
            <a:r>
              <a:rPr sz="1950" spc="82" baseline="27777" dirty="0">
                <a:cs typeface="Cambria Math"/>
              </a:rPr>
              <a:t>𝑇</a:t>
            </a:r>
            <a:endParaRPr sz="1950" baseline="27777">
              <a:cs typeface="Cambria Math"/>
            </a:endParaRPr>
          </a:p>
        </p:txBody>
      </p:sp>
      <p:sp>
        <p:nvSpPr>
          <p:cNvPr id="40" name="object 40"/>
          <p:cNvSpPr txBox="1"/>
          <p:nvPr/>
        </p:nvSpPr>
        <p:spPr>
          <a:xfrm>
            <a:off x="8835390" y="2315970"/>
            <a:ext cx="16891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𝑉</a:t>
            </a:r>
            <a:endParaRPr sz="1800">
              <a:cs typeface="Cambria Math"/>
            </a:endParaRPr>
          </a:p>
        </p:txBody>
      </p:sp>
      <p:sp>
        <p:nvSpPr>
          <p:cNvPr id="41" name="object 41"/>
          <p:cNvSpPr txBox="1"/>
          <p:nvPr/>
        </p:nvSpPr>
        <p:spPr>
          <a:xfrm>
            <a:off x="10454894" y="2311780"/>
            <a:ext cx="1009650" cy="299720"/>
          </a:xfrm>
          <a:prstGeom prst="rect">
            <a:avLst/>
          </a:prstGeom>
        </p:spPr>
        <p:txBody>
          <a:bodyPr vert="horz" wrap="square" lIns="0" tIns="12700" rIns="0" bIns="0" rtlCol="0">
            <a:spAutoFit/>
          </a:bodyPr>
          <a:lstStyle/>
          <a:p>
            <a:pPr marL="12700">
              <a:lnSpc>
                <a:spcPct val="100000"/>
              </a:lnSpc>
              <a:spcBef>
                <a:spcPts val="100"/>
              </a:spcBef>
            </a:pPr>
            <a:r>
              <a:rPr sz="1800" spc="-5" dirty="0">
                <a:cs typeface="Cambria Math"/>
              </a:rPr>
              <a:t>𝐴𝑡</a:t>
            </a:r>
            <a:r>
              <a:rPr sz="1800" spc="-10" dirty="0">
                <a:cs typeface="Cambria Math"/>
              </a:rPr>
              <a:t>𝑡</a:t>
            </a:r>
            <a:r>
              <a:rPr sz="1800" spc="-5" dirty="0">
                <a:cs typeface="Cambria Math"/>
              </a:rPr>
              <a:t>𝑒</a:t>
            </a:r>
            <a:r>
              <a:rPr sz="1800" spc="-10" dirty="0">
                <a:cs typeface="Cambria Math"/>
              </a:rPr>
              <a:t>𝑛</a:t>
            </a:r>
            <a:r>
              <a:rPr sz="1800" dirty="0">
                <a:cs typeface="Cambria Math"/>
              </a:rPr>
              <a:t>𝑡𝑖𝑜𝑛</a:t>
            </a:r>
            <a:endParaRPr sz="1800">
              <a:cs typeface="Cambria Math"/>
            </a:endParaRPr>
          </a:p>
        </p:txBody>
      </p:sp>
      <p:sp>
        <p:nvSpPr>
          <p:cNvPr id="42" name="object 42"/>
          <p:cNvSpPr/>
          <p:nvPr/>
        </p:nvSpPr>
        <p:spPr>
          <a:xfrm>
            <a:off x="8702292" y="5629550"/>
            <a:ext cx="800100" cy="212090"/>
          </a:xfrm>
          <a:custGeom>
            <a:avLst/>
            <a:gdLst/>
            <a:ahLst/>
            <a:cxnLst/>
            <a:rect l="l" t="t" r="r" b="b"/>
            <a:pathLst>
              <a:path w="800100" h="212089">
                <a:moveTo>
                  <a:pt x="732408" y="0"/>
                </a:moveTo>
                <a:lnTo>
                  <a:pt x="729360" y="8597"/>
                </a:lnTo>
                <a:lnTo>
                  <a:pt x="741628" y="13915"/>
                </a:lnTo>
                <a:lnTo>
                  <a:pt x="752157" y="21277"/>
                </a:lnTo>
                <a:lnTo>
                  <a:pt x="773596" y="55406"/>
                </a:lnTo>
                <a:lnTo>
                  <a:pt x="780668" y="104813"/>
                </a:lnTo>
                <a:lnTo>
                  <a:pt x="779883" y="123484"/>
                </a:lnTo>
                <a:lnTo>
                  <a:pt x="768096" y="169214"/>
                </a:lnTo>
                <a:lnTo>
                  <a:pt x="741789" y="197805"/>
                </a:lnTo>
                <a:lnTo>
                  <a:pt x="729741" y="203149"/>
                </a:lnTo>
                <a:lnTo>
                  <a:pt x="732408" y="211747"/>
                </a:lnTo>
                <a:lnTo>
                  <a:pt x="772824" y="187703"/>
                </a:lnTo>
                <a:lnTo>
                  <a:pt x="795591" y="143335"/>
                </a:lnTo>
                <a:lnTo>
                  <a:pt x="799973" y="105930"/>
                </a:lnTo>
                <a:lnTo>
                  <a:pt x="798877" y="86513"/>
                </a:lnTo>
                <a:lnTo>
                  <a:pt x="782447" y="37109"/>
                </a:lnTo>
                <a:lnTo>
                  <a:pt x="747746" y="5541"/>
                </a:lnTo>
                <a:lnTo>
                  <a:pt x="732408" y="0"/>
                </a:lnTo>
                <a:close/>
              </a:path>
              <a:path w="800100" h="212089">
                <a:moveTo>
                  <a:pt x="67563" y="0"/>
                </a:moveTo>
                <a:lnTo>
                  <a:pt x="27112" y="24095"/>
                </a:lnTo>
                <a:lnTo>
                  <a:pt x="4365" y="68572"/>
                </a:lnTo>
                <a:lnTo>
                  <a:pt x="0" y="105930"/>
                </a:lnTo>
                <a:lnTo>
                  <a:pt x="1093" y="125383"/>
                </a:lnTo>
                <a:lnTo>
                  <a:pt x="17399" y="174739"/>
                </a:lnTo>
                <a:lnTo>
                  <a:pt x="52135" y="206205"/>
                </a:lnTo>
                <a:lnTo>
                  <a:pt x="67563" y="211747"/>
                </a:lnTo>
                <a:lnTo>
                  <a:pt x="70230" y="203149"/>
                </a:lnTo>
                <a:lnTo>
                  <a:pt x="58130" y="197805"/>
                </a:lnTo>
                <a:lnTo>
                  <a:pt x="47720" y="190368"/>
                </a:lnTo>
                <a:lnTo>
                  <a:pt x="26376" y="155687"/>
                </a:lnTo>
                <a:lnTo>
                  <a:pt x="19303" y="104813"/>
                </a:lnTo>
                <a:lnTo>
                  <a:pt x="20089" y="86744"/>
                </a:lnTo>
                <a:lnTo>
                  <a:pt x="31876" y="42138"/>
                </a:lnTo>
                <a:lnTo>
                  <a:pt x="58291" y="13915"/>
                </a:lnTo>
                <a:lnTo>
                  <a:pt x="70484" y="8597"/>
                </a:lnTo>
                <a:lnTo>
                  <a:pt x="67563" y="0"/>
                </a:lnTo>
                <a:close/>
              </a:path>
            </a:pathLst>
          </a:custGeom>
          <a:solidFill>
            <a:srgbClr val="000000"/>
          </a:solidFill>
        </p:spPr>
        <p:txBody>
          <a:bodyPr wrap="square" lIns="0" tIns="0" rIns="0" bIns="0" rtlCol="0"/>
          <a:lstStyle/>
          <a:p>
            <a:endParaRPr/>
          </a:p>
        </p:txBody>
      </p:sp>
      <p:sp>
        <p:nvSpPr>
          <p:cNvPr id="43" name="object 43"/>
          <p:cNvSpPr txBox="1"/>
          <p:nvPr/>
        </p:nvSpPr>
        <p:spPr>
          <a:xfrm>
            <a:off x="7678291" y="5559801"/>
            <a:ext cx="1894713" cy="289823"/>
          </a:xfrm>
          <a:prstGeom prst="rect">
            <a:avLst/>
          </a:prstGeom>
        </p:spPr>
        <p:txBody>
          <a:bodyPr vert="horz" wrap="square" lIns="0" tIns="12700" rIns="0" bIns="0" rtlCol="0">
            <a:spAutoFit/>
          </a:bodyPr>
          <a:lstStyle/>
          <a:p>
            <a:pPr marL="12700">
              <a:lnSpc>
                <a:spcPct val="100000"/>
              </a:lnSpc>
              <a:spcBef>
                <a:spcPts val="100"/>
              </a:spcBef>
            </a:pPr>
            <a:r>
              <a:rPr sz="1800" spc="-5" dirty="0">
                <a:cs typeface="Cambria Math"/>
              </a:rPr>
              <a:t>𝐴𝑡</a:t>
            </a:r>
            <a:r>
              <a:rPr sz="1800" spc="-10" dirty="0">
                <a:cs typeface="Cambria Math"/>
              </a:rPr>
              <a:t>𝑡</a:t>
            </a:r>
            <a:r>
              <a:rPr sz="1800" spc="-5" dirty="0">
                <a:cs typeface="Cambria Math"/>
              </a:rPr>
              <a:t>𝑒</a:t>
            </a:r>
            <a:r>
              <a:rPr sz="1800" spc="-10" dirty="0">
                <a:cs typeface="Cambria Math"/>
              </a:rPr>
              <a:t>𝑛</a:t>
            </a:r>
            <a:r>
              <a:rPr sz="1800" spc="5" dirty="0">
                <a:cs typeface="Cambria Math"/>
              </a:rPr>
              <a:t>𝑡</a:t>
            </a:r>
            <a:r>
              <a:rPr sz="1800" dirty="0">
                <a:cs typeface="Cambria Math"/>
              </a:rPr>
              <a:t>𝑖𝑜𝑛 </a:t>
            </a:r>
            <a:r>
              <a:rPr sz="1800" spc="5" dirty="0">
                <a:cs typeface="Cambria Math"/>
              </a:rPr>
              <a:t> </a:t>
            </a:r>
            <a:r>
              <a:rPr sz="1800" spc="40" dirty="0">
                <a:cs typeface="Cambria Math"/>
              </a:rPr>
              <a:t>𝑄</a:t>
            </a:r>
            <a:r>
              <a:rPr sz="1800" dirty="0">
                <a:cs typeface="Cambria Math"/>
              </a:rPr>
              <a:t>,</a:t>
            </a:r>
            <a:r>
              <a:rPr sz="1800" spc="-85" dirty="0">
                <a:cs typeface="Cambria Math"/>
              </a:rPr>
              <a:t> </a:t>
            </a:r>
            <a:r>
              <a:rPr sz="1800" spc="50" dirty="0">
                <a:cs typeface="Cambria Math"/>
              </a:rPr>
              <a:t>𝐾</a:t>
            </a:r>
            <a:r>
              <a:rPr sz="1800" dirty="0">
                <a:cs typeface="Cambria Math"/>
              </a:rPr>
              <a:t>,</a:t>
            </a:r>
            <a:r>
              <a:rPr sz="1800" spc="-85" dirty="0">
                <a:cs typeface="Cambria Math"/>
              </a:rPr>
              <a:t> </a:t>
            </a:r>
            <a:r>
              <a:rPr sz="1800" dirty="0">
                <a:cs typeface="Cambria Math"/>
              </a:rPr>
              <a:t>𝑉</a:t>
            </a:r>
          </a:p>
        </p:txBody>
      </p:sp>
      <p:sp>
        <p:nvSpPr>
          <p:cNvPr id="44" name="object 44"/>
          <p:cNvSpPr txBox="1"/>
          <p:nvPr/>
        </p:nvSpPr>
        <p:spPr>
          <a:xfrm>
            <a:off x="9573004" y="5559801"/>
            <a:ext cx="103886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a:t>
            </a:r>
            <a:r>
              <a:rPr sz="1800" spc="45" dirty="0">
                <a:cs typeface="Cambria Math"/>
              </a:rPr>
              <a:t> </a:t>
            </a:r>
            <a:r>
              <a:rPr sz="1800" spc="-5" dirty="0">
                <a:cs typeface="Cambria Math"/>
              </a:rPr>
              <a:t>softmax</a:t>
            </a:r>
            <a:endParaRPr sz="1800">
              <a:cs typeface="Cambria Math"/>
            </a:endParaRPr>
          </a:p>
        </p:txBody>
      </p:sp>
      <p:sp>
        <p:nvSpPr>
          <p:cNvPr id="45" name="object 45"/>
          <p:cNvSpPr/>
          <p:nvPr/>
        </p:nvSpPr>
        <p:spPr>
          <a:xfrm>
            <a:off x="10655298" y="5396924"/>
            <a:ext cx="693420" cy="675640"/>
          </a:xfrm>
          <a:custGeom>
            <a:avLst/>
            <a:gdLst/>
            <a:ahLst/>
            <a:cxnLst/>
            <a:rect l="l" t="t" r="r" b="b"/>
            <a:pathLst>
              <a:path w="693420" h="675639">
                <a:moveTo>
                  <a:pt x="114173" y="7924"/>
                </a:moveTo>
                <a:lnTo>
                  <a:pt x="62166" y="58623"/>
                </a:lnTo>
                <a:lnTo>
                  <a:pt x="43865" y="94830"/>
                </a:lnTo>
                <a:lnTo>
                  <a:pt x="28321" y="135610"/>
                </a:lnTo>
                <a:lnTo>
                  <a:pt x="15963" y="180543"/>
                </a:lnTo>
                <a:lnTo>
                  <a:pt x="7112" y="229133"/>
                </a:lnTo>
                <a:lnTo>
                  <a:pt x="1778" y="281393"/>
                </a:lnTo>
                <a:lnTo>
                  <a:pt x="0" y="337312"/>
                </a:lnTo>
                <a:lnTo>
                  <a:pt x="1778" y="393636"/>
                </a:lnTo>
                <a:lnTo>
                  <a:pt x="7112" y="446176"/>
                </a:lnTo>
                <a:lnTo>
                  <a:pt x="15963" y="494931"/>
                </a:lnTo>
                <a:lnTo>
                  <a:pt x="28321" y="539902"/>
                </a:lnTo>
                <a:lnTo>
                  <a:pt x="43865" y="580707"/>
                </a:lnTo>
                <a:lnTo>
                  <a:pt x="62166" y="616902"/>
                </a:lnTo>
                <a:lnTo>
                  <a:pt x="107061" y="675525"/>
                </a:lnTo>
                <a:lnTo>
                  <a:pt x="114173" y="667600"/>
                </a:lnTo>
                <a:lnTo>
                  <a:pt x="92976" y="640156"/>
                </a:lnTo>
                <a:lnTo>
                  <a:pt x="74549" y="608368"/>
                </a:lnTo>
                <a:lnTo>
                  <a:pt x="58877" y="572236"/>
                </a:lnTo>
                <a:lnTo>
                  <a:pt x="45974" y="531761"/>
                </a:lnTo>
                <a:lnTo>
                  <a:pt x="35814" y="487641"/>
                </a:lnTo>
                <a:lnTo>
                  <a:pt x="28600" y="440575"/>
                </a:lnTo>
                <a:lnTo>
                  <a:pt x="24282" y="390537"/>
                </a:lnTo>
                <a:lnTo>
                  <a:pt x="22860" y="337312"/>
                </a:lnTo>
                <a:lnTo>
                  <a:pt x="24282" y="284797"/>
                </a:lnTo>
                <a:lnTo>
                  <a:pt x="28600" y="234924"/>
                </a:lnTo>
                <a:lnTo>
                  <a:pt x="35814" y="187934"/>
                </a:lnTo>
                <a:lnTo>
                  <a:pt x="45974" y="143814"/>
                </a:lnTo>
                <a:lnTo>
                  <a:pt x="58877" y="103327"/>
                </a:lnTo>
                <a:lnTo>
                  <a:pt x="74549" y="67183"/>
                </a:lnTo>
                <a:lnTo>
                  <a:pt x="92976" y="35382"/>
                </a:lnTo>
                <a:lnTo>
                  <a:pt x="114173" y="7924"/>
                </a:lnTo>
                <a:close/>
              </a:path>
              <a:path w="693420" h="675639">
                <a:moveTo>
                  <a:pt x="572008" y="329907"/>
                </a:moveTo>
                <a:lnTo>
                  <a:pt x="120904" y="329907"/>
                </a:lnTo>
                <a:lnTo>
                  <a:pt x="120904" y="345147"/>
                </a:lnTo>
                <a:lnTo>
                  <a:pt x="572008" y="345147"/>
                </a:lnTo>
                <a:lnTo>
                  <a:pt x="572008" y="329907"/>
                </a:lnTo>
                <a:close/>
              </a:path>
              <a:path w="693420" h="675639">
                <a:moveTo>
                  <a:pt x="693420" y="337312"/>
                </a:moveTo>
                <a:lnTo>
                  <a:pt x="691654" y="281393"/>
                </a:lnTo>
                <a:lnTo>
                  <a:pt x="686346" y="229133"/>
                </a:lnTo>
                <a:lnTo>
                  <a:pt x="677506" y="180543"/>
                </a:lnTo>
                <a:lnTo>
                  <a:pt x="665099" y="135610"/>
                </a:lnTo>
                <a:lnTo>
                  <a:pt x="649592" y="94830"/>
                </a:lnTo>
                <a:lnTo>
                  <a:pt x="631291" y="58623"/>
                </a:lnTo>
                <a:lnTo>
                  <a:pt x="586359" y="0"/>
                </a:lnTo>
                <a:lnTo>
                  <a:pt x="579247" y="7924"/>
                </a:lnTo>
                <a:lnTo>
                  <a:pt x="600430" y="35382"/>
                </a:lnTo>
                <a:lnTo>
                  <a:pt x="618883" y="67183"/>
                </a:lnTo>
                <a:lnTo>
                  <a:pt x="634580" y="103327"/>
                </a:lnTo>
                <a:lnTo>
                  <a:pt x="647573" y="143814"/>
                </a:lnTo>
                <a:lnTo>
                  <a:pt x="657656" y="187934"/>
                </a:lnTo>
                <a:lnTo>
                  <a:pt x="664883" y="234924"/>
                </a:lnTo>
                <a:lnTo>
                  <a:pt x="669226" y="284797"/>
                </a:lnTo>
                <a:lnTo>
                  <a:pt x="670687" y="337540"/>
                </a:lnTo>
                <a:lnTo>
                  <a:pt x="669226" y="390537"/>
                </a:lnTo>
                <a:lnTo>
                  <a:pt x="664883" y="440575"/>
                </a:lnTo>
                <a:lnTo>
                  <a:pt x="657656" y="487641"/>
                </a:lnTo>
                <a:lnTo>
                  <a:pt x="647573" y="531761"/>
                </a:lnTo>
                <a:lnTo>
                  <a:pt x="634580" y="572236"/>
                </a:lnTo>
                <a:lnTo>
                  <a:pt x="618883" y="608368"/>
                </a:lnTo>
                <a:lnTo>
                  <a:pt x="579247" y="667600"/>
                </a:lnTo>
                <a:lnTo>
                  <a:pt x="586359" y="675525"/>
                </a:lnTo>
                <a:lnTo>
                  <a:pt x="631291" y="616902"/>
                </a:lnTo>
                <a:lnTo>
                  <a:pt x="649592" y="580707"/>
                </a:lnTo>
                <a:lnTo>
                  <a:pt x="665099" y="539902"/>
                </a:lnTo>
                <a:lnTo>
                  <a:pt x="677506" y="494931"/>
                </a:lnTo>
                <a:lnTo>
                  <a:pt x="686346" y="446176"/>
                </a:lnTo>
                <a:lnTo>
                  <a:pt x="691654" y="393636"/>
                </a:lnTo>
                <a:lnTo>
                  <a:pt x="693420" y="337312"/>
                </a:lnTo>
                <a:close/>
              </a:path>
            </a:pathLst>
          </a:custGeom>
          <a:solidFill>
            <a:srgbClr val="000000"/>
          </a:solidFill>
        </p:spPr>
        <p:txBody>
          <a:bodyPr wrap="square" lIns="0" tIns="0" rIns="0" bIns="0" rtlCol="0"/>
          <a:lstStyle/>
          <a:p>
            <a:endParaRPr/>
          </a:p>
        </p:txBody>
      </p:sp>
      <p:sp>
        <p:nvSpPr>
          <p:cNvPr id="46" name="object 46"/>
          <p:cNvSpPr txBox="1"/>
          <p:nvPr/>
        </p:nvSpPr>
        <p:spPr>
          <a:xfrm>
            <a:off x="10739626" y="5386065"/>
            <a:ext cx="513080" cy="299720"/>
          </a:xfrm>
          <a:prstGeom prst="rect">
            <a:avLst/>
          </a:prstGeom>
        </p:spPr>
        <p:txBody>
          <a:bodyPr vert="horz" wrap="square" lIns="0" tIns="12700" rIns="0" bIns="0" rtlCol="0">
            <a:spAutoFit/>
          </a:bodyPr>
          <a:lstStyle/>
          <a:p>
            <a:pPr marL="38100">
              <a:lnSpc>
                <a:spcPct val="100000"/>
              </a:lnSpc>
              <a:spcBef>
                <a:spcPts val="100"/>
              </a:spcBef>
            </a:pPr>
            <a:r>
              <a:rPr sz="1800" spc="60" dirty="0">
                <a:cs typeface="Cambria Math"/>
              </a:rPr>
              <a:t>𝑄𝐾</a:t>
            </a:r>
            <a:r>
              <a:rPr sz="1950" spc="89" baseline="27777" dirty="0">
                <a:cs typeface="Cambria Math"/>
              </a:rPr>
              <a:t>𝑇</a:t>
            </a:r>
            <a:endParaRPr sz="1950" baseline="27777">
              <a:cs typeface="Cambria Math"/>
            </a:endParaRPr>
          </a:p>
        </p:txBody>
      </p:sp>
      <p:sp>
        <p:nvSpPr>
          <p:cNvPr id="47" name="object 47"/>
          <p:cNvSpPr/>
          <p:nvPr/>
        </p:nvSpPr>
        <p:spPr>
          <a:xfrm>
            <a:off x="10796776" y="5784744"/>
            <a:ext cx="414020" cy="285115"/>
          </a:xfrm>
          <a:custGeom>
            <a:avLst/>
            <a:gdLst/>
            <a:ahLst/>
            <a:cxnLst/>
            <a:rect l="l" t="t" r="r" b="b"/>
            <a:pathLst>
              <a:path w="414020" h="285114">
                <a:moveTo>
                  <a:pt x="413766" y="0"/>
                </a:moveTo>
                <a:lnTo>
                  <a:pt x="165353" y="0"/>
                </a:lnTo>
                <a:lnTo>
                  <a:pt x="165353" y="749"/>
                </a:lnTo>
                <a:lnTo>
                  <a:pt x="143001" y="749"/>
                </a:lnTo>
                <a:lnTo>
                  <a:pt x="75311" y="254685"/>
                </a:lnTo>
                <a:lnTo>
                  <a:pt x="36702" y="168516"/>
                </a:lnTo>
                <a:lnTo>
                  <a:pt x="0" y="185254"/>
                </a:lnTo>
                <a:lnTo>
                  <a:pt x="3555" y="193636"/>
                </a:lnTo>
                <a:lnTo>
                  <a:pt x="22351" y="185254"/>
                </a:lnTo>
                <a:lnTo>
                  <a:pt x="68579" y="284606"/>
                </a:lnTo>
                <a:lnTo>
                  <a:pt x="79375" y="284606"/>
                </a:lnTo>
                <a:lnTo>
                  <a:pt x="152019" y="15595"/>
                </a:lnTo>
                <a:lnTo>
                  <a:pt x="174244" y="15595"/>
                </a:lnTo>
                <a:lnTo>
                  <a:pt x="174244" y="15240"/>
                </a:lnTo>
                <a:lnTo>
                  <a:pt x="413766" y="15240"/>
                </a:lnTo>
                <a:lnTo>
                  <a:pt x="413766" y="0"/>
                </a:lnTo>
                <a:close/>
              </a:path>
            </a:pathLst>
          </a:custGeom>
          <a:solidFill>
            <a:srgbClr val="000000"/>
          </a:solidFill>
        </p:spPr>
        <p:txBody>
          <a:bodyPr wrap="square" lIns="0" tIns="0" rIns="0" bIns="0" rtlCol="0"/>
          <a:lstStyle/>
          <a:p>
            <a:endParaRPr/>
          </a:p>
        </p:txBody>
      </p:sp>
      <p:sp>
        <p:nvSpPr>
          <p:cNvPr id="48" name="object 48"/>
          <p:cNvSpPr txBox="1"/>
          <p:nvPr/>
        </p:nvSpPr>
        <p:spPr>
          <a:xfrm>
            <a:off x="10925554" y="5757921"/>
            <a:ext cx="310515" cy="299720"/>
          </a:xfrm>
          <a:prstGeom prst="rect">
            <a:avLst/>
          </a:prstGeom>
        </p:spPr>
        <p:txBody>
          <a:bodyPr vert="horz" wrap="square" lIns="0" tIns="12700" rIns="0" bIns="0" rtlCol="0">
            <a:spAutoFit/>
          </a:bodyPr>
          <a:lstStyle/>
          <a:p>
            <a:pPr marL="38100">
              <a:lnSpc>
                <a:spcPct val="100000"/>
              </a:lnSpc>
              <a:spcBef>
                <a:spcPts val="100"/>
              </a:spcBef>
            </a:pPr>
            <a:r>
              <a:rPr sz="1800" spc="40" dirty="0">
                <a:cs typeface="Cambria Math"/>
              </a:rPr>
              <a:t>𝑑</a:t>
            </a:r>
            <a:r>
              <a:rPr sz="1950" spc="60" baseline="-14957" dirty="0">
                <a:cs typeface="Cambria Math"/>
              </a:rPr>
              <a:t>𝑘</a:t>
            </a:r>
            <a:endParaRPr sz="1950" baseline="-14957">
              <a:cs typeface="Cambria Math"/>
            </a:endParaRPr>
          </a:p>
        </p:txBody>
      </p:sp>
      <p:sp>
        <p:nvSpPr>
          <p:cNvPr id="49" name="object 49"/>
          <p:cNvSpPr txBox="1"/>
          <p:nvPr/>
        </p:nvSpPr>
        <p:spPr>
          <a:xfrm>
            <a:off x="11392914" y="5559801"/>
            <a:ext cx="16891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𝑉</a:t>
            </a:r>
            <a:endParaRPr sz="1800">
              <a:cs typeface="Cambria Math"/>
            </a:endParaRPr>
          </a:p>
        </p:txBody>
      </p:sp>
      <p:sp>
        <p:nvSpPr>
          <p:cNvPr id="50" name="object 50"/>
          <p:cNvSpPr txBox="1"/>
          <p:nvPr/>
        </p:nvSpPr>
        <p:spPr>
          <a:xfrm>
            <a:off x="1206730" y="5040985"/>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(1,</a:t>
            </a:r>
            <a:r>
              <a:rPr sz="1000" spc="-60" dirty="0">
                <a:cs typeface="Tahoma"/>
              </a:rPr>
              <a:t> </a:t>
            </a:r>
            <a:r>
              <a:rPr sz="1000" spc="25" dirty="0">
                <a:cs typeface="Tahoma"/>
              </a:rPr>
              <a:t>4096</a:t>
            </a:r>
            <a:r>
              <a:rPr sz="1000" spc="-85" dirty="0">
                <a:cs typeface="Tahoma"/>
              </a:rPr>
              <a:t>)</a:t>
            </a:r>
            <a:endParaRPr sz="1000">
              <a:cs typeface="Tahoma"/>
            </a:endParaRPr>
          </a:p>
        </p:txBody>
      </p:sp>
      <p:sp>
        <p:nvSpPr>
          <p:cNvPr id="51" name="object 51"/>
          <p:cNvSpPr txBox="1"/>
          <p:nvPr/>
        </p:nvSpPr>
        <p:spPr>
          <a:xfrm>
            <a:off x="3326258" y="5040985"/>
            <a:ext cx="531495" cy="166071"/>
          </a:xfrm>
          <a:prstGeom prst="rect">
            <a:avLst/>
          </a:prstGeom>
        </p:spPr>
        <p:txBody>
          <a:bodyPr vert="horz" wrap="square" lIns="0" tIns="12065" rIns="0" bIns="0" rtlCol="0">
            <a:spAutoFit/>
          </a:bodyPr>
          <a:lstStyle/>
          <a:p>
            <a:pPr marL="12700">
              <a:lnSpc>
                <a:spcPct val="100000"/>
              </a:lnSpc>
              <a:spcBef>
                <a:spcPts val="95"/>
              </a:spcBef>
            </a:pPr>
            <a:r>
              <a:rPr sz="1000" dirty="0">
                <a:cs typeface="Tahoma"/>
              </a:rPr>
              <a:t>(40</a:t>
            </a:r>
            <a:r>
              <a:rPr sz="1000" spc="-5" dirty="0">
                <a:cs typeface="Tahoma"/>
              </a:rPr>
              <a:t>9</a:t>
            </a:r>
            <a:r>
              <a:rPr sz="1000" spc="-15" dirty="0">
                <a:cs typeface="Tahoma"/>
              </a:rPr>
              <a:t>6</a:t>
            </a:r>
            <a:r>
              <a:rPr sz="1000" spc="-5" dirty="0">
                <a:cs typeface="Tahoma"/>
              </a:rPr>
              <a:t>,</a:t>
            </a:r>
            <a:r>
              <a:rPr sz="1000" spc="-75" dirty="0">
                <a:cs typeface="Tahoma"/>
              </a:rPr>
              <a:t> </a:t>
            </a:r>
            <a:r>
              <a:rPr sz="1000" spc="-35" dirty="0">
                <a:cs typeface="Tahoma"/>
              </a:rPr>
              <a:t>1)</a:t>
            </a:r>
            <a:endParaRPr sz="1000">
              <a:cs typeface="Tahoma"/>
            </a:endParaRPr>
          </a:p>
        </p:txBody>
      </p:sp>
      <p:sp>
        <p:nvSpPr>
          <p:cNvPr id="52" name="object 52"/>
          <p:cNvSpPr txBox="1"/>
          <p:nvPr/>
        </p:nvSpPr>
        <p:spPr>
          <a:xfrm>
            <a:off x="6020690" y="5914897"/>
            <a:ext cx="313690"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(1,</a:t>
            </a:r>
            <a:r>
              <a:rPr sz="1000" spc="-60" dirty="0">
                <a:cs typeface="Tahoma"/>
              </a:rPr>
              <a:t> </a:t>
            </a:r>
            <a:r>
              <a:rPr sz="1000" spc="-35" dirty="0">
                <a:cs typeface="Tahoma"/>
              </a:rPr>
              <a:t>1)</a:t>
            </a:r>
            <a:endParaRPr sz="1000">
              <a:cs typeface="Tahoma"/>
            </a:endParaRPr>
          </a:p>
        </p:txBody>
      </p:sp>
      <p:sp>
        <p:nvSpPr>
          <p:cNvPr id="53" name="object 53"/>
          <p:cNvSpPr txBox="1"/>
          <p:nvPr/>
        </p:nvSpPr>
        <p:spPr>
          <a:xfrm>
            <a:off x="8654669" y="5019546"/>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(1,</a:t>
            </a:r>
            <a:r>
              <a:rPr sz="1000" spc="-60" dirty="0">
                <a:cs typeface="Tahoma"/>
              </a:rPr>
              <a:t> </a:t>
            </a:r>
            <a:r>
              <a:rPr sz="1000" spc="25" dirty="0">
                <a:cs typeface="Tahoma"/>
              </a:rPr>
              <a:t>4096</a:t>
            </a:r>
            <a:r>
              <a:rPr sz="1000" spc="-85" dirty="0">
                <a:cs typeface="Tahoma"/>
              </a:rPr>
              <a:t>)</a:t>
            </a:r>
            <a:endParaRPr sz="1000">
              <a:cs typeface="Tahoma"/>
            </a:endParaRPr>
          </a:p>
        </p:txBody>
      </p:sp>
      <p:sp>
        <p:nvSpPr>
          <p:cNvPr id="54" name="object 54"/>
          <p:cNvSpPr txBox="1"/>
          <p:nvPr/>
        </p:nvSpPr>
        <p:spPr>
          <a:xfrm>
            <a:off x="10694163" y="5017388"/>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(1,</a:t>
            </a:r>
            <a:r>
              <a:rPr sz="1000" spc="-60" dirty="0">
                <a:cs typeface="Tahoma"/>
              </a:rPr>
              <a:t> </a:t>
            </a:r>
            <a:r>
              <a:rPr sz="1000" spc="25" dirty="0">
                <a:cs typeface="Tahoma"/>
              </a:rPr>
              <a:t>4096</a:t>
            </a:r>
            <a:r>
              <a:rPr sz="1000" spc="-85" dirty="0">
                <a:cs typeface="Tahoma"/>
              </a:rPr>
              <a:t>)</a:t>
            </a:r>
            <a:endParaRPr sz="1000">
              <a:cs typeface="Tahoma"/>
            </a:endParaRPr>
          </a:p>
        </p:txBody>
      </p:sp>
      <p:sp>
        <p:nvSpPr>
          <p:cNvPr id="58" name="Title 1">
            <a:extLst>
              <a:ext uri="{FF2B5EF4-FFF2-40B4-BE49-F238E27FC236}">
                <a16:creationId xmlns:a16="http://schemas.microsoft.com/office/drawing/2014/main" id="{5B2E4940-C690-118C-15DD-58054A9AA98B}"/>
              </a:ext>
            </a:extLst>
          </p:cNvPr>
          <p:cNvSpPr txBox="1">
            <a:spLocks/>
          </p:cNvSpPr>
          <p:nvPr/>
        </p:nvSpPr>
        <p:spPr>
          <a:xfrm>
            <a:off x="669552" y="594335"/>
            <a:ext cx="10863635" cy="639153"/>
          </a:xfrm>
          <a:prstGeom prst="rect">
            <a:avLst/>
          </a:prstGeom>
        </p:spPr>
        <p:txBody>
          <a:bodyPr vert="horz" lIns="0" tIns="0" rIns="0" bIns="0" rtlCol="0" anchor="ctr">
            <a:normAutofit fontScale="97500"/>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pPr marL="12700">
              <a:lnSpc>
                <a:spcPct val="100000"/>
              </a:lnSpc>
              <a:spcBef>
                <a:spcPts val="105"/>
              </a:spcBef>
            </a:pPr>
            <a:r>
              <a:rPr lang="en-IN" sz="3600" spc="10" dirty="0">
                <a:solidFill>
                  <a:srgbClr val="FF0000"/>
                </a:solidFill>
                <a:cs typeface="Tahoma"/>
              </a:rPr>
              <a:t>Inference</a:t>
            </a:r>
            <a:r>
              <a:rPr lang="en-IN" sz="3600" dirty="0">
                <a:cs typeface="Tahoma"/>
              </a:rPr>
              <a:t> </a:t>
            </a:r>
            <a:r>
              <a:rPr lang="en-IN" sz="3600" spc="-30" dirty="0">
                <a:solidFill>
                  <a:srgbClr val="FF0000"/>
                </a:solidFill>
                <a:cs typeface="Tahoma"/>
              </a:rPr>
              <a:t>T</a:t>
            </a:r>
            <a:r>
              <a:rPr lang="en-IN" sz="3600" spc="-185" dirty="0">
                <a:solidFill>
                  <a:srgbClr val="FF0000"/>
                </a:solidFill>
                <a:cs typeface="Tahoma"/>
              </a:rPr>
              <a:t> </a:t>
            </a:r>
            <a:r>
              <a:rPr lang="en-IN" sz="3600" spc="-125" dirty="0">
                <a:solidFill>
                  <a:srgbClr val="FF0000"/>
                </a:solidFill>
                <a:cs typeface="Tahoma"/>
              </a:rPr>
              <a:t>=</a:t>
            </a:r>
            <a:r>
              <a:rPr lang="en-IN" sz="3600" spc="-114" dirty="0">
                <a:solidFill>
                  <a:srgbClr val="FF0000"/>
                </a:solidFill>
                <a:cs typeface="Tahoma"/>
              </a:rPr>
              <a:t> </a:t>
            </a:r>
            <a:r>
              <a:rPr lang="en-IN" sz="3600" spc="70" dirty="0">
                <a:solidFill>
                  <a:srgbClr val="FF0000"/>
                </a:solidFill>
                <a:cs typeface="Tahoma"/>
              </a:rPr>
              <a:t>1</a:t>
            </a:r>
            <a:endParaRPr lang="en-IN" sz="3600" dirty="0">
              <a:cs typeface="Tahom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1998208645"/>
              </p:ext>
            </p:extLst>
          </p:nvPr>
        </p:nvGraphicFramePr>
        <p:xfrm>
          <a:off x="951142" y="2795590"/>
          <a:ext cx="1097280" cy="1920239"/>
        </p:xfrm>
        <a:graphic>
          <a:graphicData uri="http://schemas.openxmlformats.org/drawingml/2006/table">
            <a:tbl>
              <a:tblPr firstRow="1" bandRow="1">
                <a:tableStyleId>{2D5ABB26-0587-4C30-8999-92F81FD0307C}</a:tableStyleId>
              </a:tblPr>
              <a:tblGrid>
                <a:gridCol w="1097280">
                  <a:extLst>
                    <a:ext uri="{9D8B030D-6E8A-4147-A177-3AD203B41FA5}">
                      <a16:colId xmlns:a16="http://schemas.microsoft.com/office/drawing/2014/main" val="20000"/>
                    </a:ext>
                  </a:extLst>
                </a:gridCol>
              </a:tblGrid>
              <a:tr h="213360">
                <a:tc>
                  <a:txBody>
                    <a:bodyPr/>
                    <a:lstStyle/>
                    <a:p>
                      <a:pPr marL="91440">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1</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0"/>
                  </a:ext>
                </a:extLst>
              </a:tr>
              <a:tr h="213359">
                <a:tc>
                  <a:txBody>
                    <a:bodyPr/>
                    <a:lstStyle/>
                    <a:p>
                      <a:pPr marL="91440">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2</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1"/>
                  </a:ext>
                </a:extLst>
              </a:tr>
              <a:tr h="1493520">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000000"/>
                      </a:solidFill>
                      <a:prstDash val="solid"/>
                    </a:lnT>
                    <a:lnB w="12700">
                      <a:solidFill>
                        <a:srgbClr val="FFFFFF"/>
                      </a:solidFill>
                      <a:prstDash val="solid"/>
                    </a:lnB>
                  </a:tcPr>
                </a:tc>
                <a:extLst>
                  <a:ext uri="{0D108BD9-81ED-4DB2-BD59-A6C34878D82A}">
                    <a16:rowId xmlns:a16="http://schemas.microsoft.com/office/drawing/2014/main" val="10002"/>
                  </a:ext>
                </a:extLst>
              </a:tr>
            </a:tbl>
          </a:graphicData>
        </a:graphic>
      </p:graphicFrame>
      <p:graphicFrame>
        <p:nvGraphicFramePr>
          <p:cNvPr id="4" name="object 4"/>
          <p:cNvGraphicFramePr>
            <a:graphicFrameLocks noGrp="1"/>
          </p:cNvGraphicFramePr>
          <p:nvPr>
            <p:extLst>
              <p:ext uri="{D42A27DB-BD31-4B8C-83A1-F6EECF244321}">
                <p14:modId xmlns:p14="http://schemas.microsoft.com/office/powerpoint/2010/main" val="1304570492"/>
              </p:ext>
            </p:extLst>
          </p:nvPr>
        </p:nvGraphicFramePr>
        <p:xfrm>
          <a:off x="2681796" y="2998535"/>
          <a:ext cx="1880868" cy="1514348"/>
        </p:xfrm>
        <a:graphic>
          <a:graphicData uri="http://schemas.openxmlformats.org/drawingml/2006/table">
            <a:tbl>
              <a:tblPr firstRow="1" bandRow="1">
                <a:tableStyleId>{2D5ABB26-0587-4C30-8999-92F81FD0307C}</a:tableStyleId>
              </a:tblPr>
              <a:tblGrid>
                <a:gridCol w="208279">
                  <a:extLst>
                    <a:ext uri="{9D8B030D-6E8A-4147-A177-3AD203B41FA5}">
                      <a16:colId xmlns:a16="http://schemas.microsoft.com/office/drawing/2014/main" val="20000"/>
                    </a:ext>
                  </a:extLst>
                </a:gridCol>
                <a:gridCol w="208279">
                  <a:extLst>
                    <a:ext uri="{9D8B030D-6E8A-4147-A177-3AD203B41FA5}">
                      <a16:colId xmlns:a16="http://schemas.microsoft.com/office/drawing/2014/main" val="20001"/>
                    </a:ext>
                  </a:extLst>
                </a:gridCol>
                <a:gridCol w="1464310">
                  <a:extLst>
                    <a:ext uri="{9D8B030D-6E8A-4147-A177-3AD203B41FA5}">
                      <a16:colId xmlns:a16="http://schemas.microsoft.com/office/drawing/2014/main" val="20002"/>
                    </a:ext>
                  </a:extLst>
                </a:gridCol>
              </a:tblGrid>
              <a:tr h="1514348">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1</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2</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0"/>
                  </a:ext>
                </a:extLst>
              </a:tr>
            </a:tbl>
          </a:graphicData>
        </a:graphic>
      </p:graphicFrame>
      <p:sp>
        <p:nvSpPr>
          <p:cNvPr id="5" name="object 5"/>
          <p:cNvSpPr txBox="1"/>
          <p:nvPr/>
        </p:nvSpPr>
        <p:spPr>
          <a:xfrm>
            <a:off x="2281746" y="3462466"/>
            <a:ext cx="17335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𝑋</a:t>
            </a:r>
            <a:endParaRPr sz="1800">
              <a:cs typeface="Cambria Math"/>
            </a:endParaRPr>
          </a:p>
        </p:txBody>
      </p:sp>
      <p:sp>
        <p:nvSpPr>
          <p:cNvPr id="6" name="object 6"/>
          <p:cNvSpPr txBox="1"/>
          <p:nvPr/>
        </p:nvSpPr>
        <p:spPr>
          <a:xfrm>
            <a:off x="4789996" y="3462466"/>
            <a:ext cx="19621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a:t>
            </a:r>
            <a:endParaRPr sz="1800">
              <a:cs typeface="Cambria Math"/>
            </a:endParaRPr>
          </a:p>
        </p:txBody>
      </p:sp>
      <p:graphicFrame>
        <p:nvGraphicFramePr>
          <p:cNvPr id="7" name="object 7"/>
          <p:cNvGraphicFramePr>
            <a:graphicFrameLocks noGrp="1"/>
          </p:cNvGraphicFramePr>
          <p:nvPr>
            <p:extLst>
              <p:ext uri="{D42A27DB-BD31-4B8C-83A1-F6EECF244321}">
                <p14:modId xmlns:p14="http://schemas.microsoft.com/office/powerpoint/2010/main" val="4292625507"/>
              </p:ext>
            </p:extLst>
          </p:nvPr>
        </p:nvGraphicFramePr>
        <p:xfrm>
          <a:off x="5208207" y="2109790"/>
          <a:ext cx="1988818" cy="3347629"/>
        </p:xfrm>
        <a:graphic>
          <a:graphicData uri="http://schemas.openxmlformats.org/drawingml/2006/table">
            <a:tbl>
              <a:tblPr firstRow="1" bandRow="1">
                <a:tableStyleId>{2D5ABB26-0587-4C30-8999-92F81FD0307C}</a:tableStyleId>
              </a:tblPr>
              <a:tblGrid>
                <a:gridCol w="208279">
                  <a:extLst>
                    <a:ext uri="{9D8B030D-6E8A-4147-A177-3AD203B41FA5}">
                      <a16:colId xmlns:a16="http://schemas.microsoft.com/office/drawing/2014/main" val="20000"/>
                    </a:ext>
                  </a:extLst>
                </a:gridCol>
                <a:gridCol w="233679">
                  <a:extLst>
                    <a:ext uri="{9D8B030D-6E8A-4147-A177-3AD203B41FA5}">
                      <a16:colId xmlns:a16="http://schemas.microsoft.com/office/drawing/2014/main" val="20001"/>
                    </a:ext>
                  </a:extLst>
                </a:gridCol>
                <a:gridCol w="1546860">
                  <a:extLst>
                    <a:ext uri="{9D8B030D-6E8A-4147-A177-3AD203B41FA5}">
                      <a16:colId xmlns:a16="http://schemas.microsoft.com/office/drawing/2014/main" val="20002"/>
                    </a:ext>
                  </a:extLst>
                </a:gridCol>
              </a:tblGrid>
              <a:tr h="396239">
                <a:tc>
                  <a:txBody>
                    <a:bodyPr/>
                    <a:lstStyle/>
                    <a:p>
                      <a:pPr marL="92075" marR="78740" indent="-635" algn="ctr">
                        <a:lnSpc>
                          <a:spcPct val="100000"/>
                        </a:lnSpc>
                        <a:spcBef>
                          <a:spcPts val="345"/>
                        </a:spcBef>
                      </a:pPr>
                      <a:r>
                        <a:rPr sz="400" dirty="0">
                          <a:latin typeface="Tahoma"/>
                          <a:cs typeface="Tahoma"/>
                        </a:rPr>
                        <a:t>T  1</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104775" indent="-635" algn="ctr">
                        <a:lnSpc>
                          <a:spcPct val="100000"/>
                        </a:lnSpc>
                        <a:spcBef>
                          <a:spcPts val="345"/>
                        </a:spcBef>
                      </a:pPr>
                      <a:r>
                        <a:rPr sz="400" dirty="0">
                          <a:latin typeface="Tahoma"/>
                          <a:cs typeface="Tahoma"/>
                        </a:rPr>
                        <a:t>T  1</a:t>
                      </a:r>
                      <a:endParaRPr sz="400">
                        <a:latin typeface="Tahoma"/>
                        <a:cs typeface="Tahoma"/>
                      </a:endParaRPr>
                    </a:p>
                    <a:p>
                      <a:pPr marL="92075" marR="104775" algn="just">
                        <a:lnSpc>
                          <a:spcPct val="100000"/>
                        </a:lnSpc>
                      </a:pPr>
                      <a:r>
                        <a:rPr sz="400" dirty="0">
                          <a:latin typeface="Tahoma"/>
                          <a:cs typeface="Tahoma"/>
                        </a:rPr>
                        <a:t>-  T  2</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0"/>
                  </a:ext>
                </a:extLst>
              </a:tr>
              <a:tr h="396239">
                <a:tc>
                  <a:txBody>
                    <a:bodyPr/>
                    <a:lstStyle/>
                    <a:p>
                      <a:pPr marL="92075" marR="78740" indent="-635" algn="ctr">
                        <a:lnSpc>
                          <a:spcPct val="100000"/>
                        </a:lnSpc>
                        <a:spcBef>
                          <a:spcPts val="345"/>
                        </a:spcBef>
                      </a:pPr>
                      <a:r>
                        <a:rPr sz="400" dirty="0">
                          <a:latin typeface="Tahoma"/>
                          <a:cs typeface="Tahoma"/>
                        </a:rPr>
                        <a:t>T  2</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104775" indent="-635" algn="ctr">
                        <a:lnSpc>
                          <a:spcPct val="100000"/>
                        </a:lnSpc>
                        <a:spcBef>
                          <a:spcPts val="345"/>
                        </a:spcBef>
                      </a:pPr>
                      <a:r>
                        <a:rPr sz="400" dirty="0">
                          <a:latin typeface="Tahoma"/>
                          <a:cs typeface="Tahoma"/>
                        </a:rPr>
                        <a:t>T  2</a:t>
                      </a:r>
                      <a:endParaRPr sz="400">
                        <a:latin typeface="Tahoma"/>
                        <a:cs typeface="Tahoma"/>
                      </a:endParaRPr>
                    </a:p>
                    <a:p>
                      <a:pPr marL="92075" marR="104775" algn="just">
                        <a:lnSpc>
                          <a:spcPct val="100000"/>
                        </a:lnSpc>
                      </a:pPr>
                      <a:r>
                        <a:rPr sz="400" dirty="0">
                          <a:latin typeface="Tahoma"/>
                          <a:cs typeface="Tahoma"/>
                        </a:rPr>
                        <a:t>-  T  2</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1"/>
                  </a:ext>
                </a:extLst>
              </a:tr>
              <a:tr h="2555151">
                <a:tc gridSpan="3">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cap="flat" cmpd="sng" algn="ctr">
                      <a:solidFill>
                        <a:srgbClr val="000000"/>
                      </a:solidFill>
                      <a:prstDash val="solid"/>
                      <a:round/>
                      <a:headEnd type="none" w="med" len="med"/>
                      <a:tailEnd type="none" w="med" len="med"/>
                    </a:lnT>
                    <a:lnB w="12700">
                      <a:solidFill>
                        <a:srgbClr val="FFFFFF"/>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graphicFrame>
        <p:nvGraphicFramePr>
          <p:cNvPr id="8" name="object 8"/>
          <p:cNvGraphicFramePr>
            <a:graphicFrameLocks noGrp="1"/>
          </p:cNvGraphicFramePr>
          <p:nvPr>
            <p:extLst>
              <p:ext uri="{D42A27DB-BD31-4B8C-83A1-F6EECF244321}">
                <p14:modId xmlns:p14="http://schemas.microsoft.com/office/powerpoint/2010/main" val="4042255231"/>
              </p:ext>
            </p:extLst>
          </p:nvPr>
        </p:nvGraphicFramePr>
        <p:xfrm>
          <a:off x="8396669" y="2755900"/>
          <a:ext cx="1097280" cy="1920239"/>
        </p:xfrm>
        <a:graphic>
          <a:graphicData uri="http://schemas.openxmlformats.org/drawingml/2006/table">
            <a:tbl>
              <a:tblPr firstRow="1" bandRow="1">
                <a:tableStyleId>{2D5ABB26-0587-4C30-8999-92F81FD0307C}</a:tableStyleId>
              </a:tblPr>
              <a:tblGrid>
                <a:gridCol w="1097280">
                  <a:extLst>
                    <a:ext uri="{9D8B030D-6E8A-4147-A177-3AD203B41FA5}">
                      <a16:colId xmlns:a16="http://schemas.microsoft.com/office/drawing/2014/main" val="20000"/>
                    </a:ext>
                  </a:extLst>
                </a:gridCol>
              </a:tblGrid>
              <a:tr h="213360">
                <a:tc>
                  <a:txBody>
                    <a:bodyPr/>
                    <a:lstStyle/>
                    <a:p>
                      <a:pPr marL="92075">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1</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0"/>
                  </a:ext>
                </a:extLst>
              </a:tr>
              <a:tr h="213359">
                <a:tc>
                  <a:txBody>
                    <a:bodyPr/>
                    <a:lstStyle/>
                    <a:p>
                      <a:pPr marL="92075">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2</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1"/>
                  </a:ext>
                </a:extLst>
              </a:tr>
              <a:tr h="1493520">
                <a:tc>
                  <a:txBody>
                    <a:bodyPr/>
                    <a:lstStyle/>
                    <a:p>
                      <a:pPr>
                        <a:lnSpc>
                          <a:spcPct val="100000"/>
                        </a:lnSpc>
                      </a:pPr>
                      <a:endParaRPr sz="15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000000"/>
                      </a:solidFill>
                      <a:prstDash val="solid"/>
                    </a:lnT>
                    <a:lnB w="12700">
                      <a:solidFill>
                        <a:srgbClr val="FFFFFF"/>
                      </a:solidFill>
                      <a:prstDash val="solid"/>
                    </a:lnB>
                  </a:tcPr>
                </a:tc>
                <a:extLst>
                  <a:ext uri="{0D108BD9-81ED-4DB2-BD59-A6C34878D82A}">
                    <a16:rowId xmlns:a16="http://schemas.microsoft.com/office/drawing/2014/main" val="10002"/>
                  </a:ext>
                </a:extLst>
              </a:tr>
            </a:tbl>
          </a:graphicData>
        </a:graphic>
      </p:graphicFrame>
      <p:graphicFrame>
        <p:nvGraphicFramePr>
          <p:cNvPr id="9" name="object 9"/>
          <p:cNvGraphicFramePr>
            <a:graphicFrameLocks noGrp="1"/>
          </p:cNvGraphicFramePr>
          <p:nvPr>
            <p:extLst>
              <p:ext uri="{D42A27DB-BD31-4B8C-83A1-F6EECF244321}">
                <p14:modId xmlns:p14="http://schemas.microsoft.com/office/powerpoint/2010/main" val="1024192450"/>
              </p:ext>
            </p:extLst>
          </p:nvPr>
        </p:nvGraphicFramePr>
        <p:xfrm>
          <a:off x="10435908" y="2755900"/>
          <a:ext cx="1097280" cy="1920239"/>
        </p:xfrm>
        <a:graphic>
          <a:graphicData uri="http://schemas.openxmlformats.org/drawingml/2006/table">
            <a:tbl>
              <a:tblPr firstRow="1" bandRow="1">
                <a:tableStyleId>{2D5ABB26-0587-4C30-8999-92F81FD0307C}</a:tableStyleId>
              </a:tblPr>
              <a:tblGrid>
                <a:gridCol w="1097280">
                  <a:extLst>
                    <a:ext uri="{9D8B030D-6E8A-4147-A177-3AD203B41FA5}">
                      <a16:colId xmlns:a16="http://schemas.microsoft.com/office/drawing/2014/main" val="20000"/>
                    </a:ext>
                  </a:extLst>
                </a:gridCol>
              </a:tblGrid>
              <a:tr h="213360">
                <a:tc>
                  <a:txBody>
                    <a:bodyPr/>
                    <a:lstStyle/>
                    <a:p>
                      <a:pPr marL="92710">
                        <a:lnSpc>
                          <a:spcPct val="100000"/>
                        </a:lnSpc>
                        <a:spcBef>
                          <a:spcPts val="330"/>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1</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0"/>
                  </a:ext>
                </a:extLst>
              </a:tr>
              <a:tr h="213359">
                <a:tc>
                  <a:txBody>
                    <a:bodyPr/>
                    <a:lstStyle/>
                    <a:p>
                      <a:pPr marL="92710">
                        <a:lnSpc>
                          <a:spcPct val="100000"/>
                        </a:lnSpc>
                        <a:spcBef>
                          <a:spcPts val="330"/>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2</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1"/>
                  </a:ext>
                </a:extLst>
              </a:tr>
              <a:tr h="1493520">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000000"/>
                      </a:solidFill>
                      <a:prstDash val="solid"/>
                    </a:lnT>
                    <a:lnB w="12700">
                      <a:solidFill>
                        <a:srgbClr val="FFFFFF"/>
                      </a:solidFill>
                      <a:prstDash val="solid"/>
                    </a:lnB>
                  </a:tcPr>
                </a:tc>
                <a:extLst>
                  <a:ext uri="{0D108BD9-81ED-4DB2-BD59-A6C34878D82A}">
                    <a16:rowId xmlns:a16="http://schemas.microsoft.com/office/drawing/2014/main" val="10002"/>
                  </a:ext>
                </a:extLst>
              </a:tr>
            </a:tbl>
          </a:graphicData>
        </a:graphic>
      </p:graphicFrame>
      <p:sp>
        <p:nvSpPr>
          <p:cNvPr id="10" name="object 10"/>
          <p:cNvSpPr/>
          <p:nvPr/>
        </p:nvSpPr>
        <p:spPr>
          <a:xfrm>
            <a:off x="765875" y="1787209"/>
            <a:ext cx="173990" cy="3621404"/>
          </a:xfrm>
          <a:custGeom>
            <a:avLst/>
            <a:gdLst/>
            <a:ahLst/>
            <a:cxnLst/>
            <a:rect l="l" t="t" r="r" b="b"/>
            <a:pathLst>
              <a:path w="173990" h="3621404">
                <a:moveTo>
                  <a:pt x="173736" y="3621024"/>
                </a:moveTo>
                <a:lnTo>
                  <a:pt x="106111" y="3619886"/>
                </a:lnTo>
                <a:lnTo>
                  <a:pt x="50887" y="3616785"/>
                </a:lnTo>
                <a:lnTo>
                  <a:pt x="13653" y="3612183"/>
                </a:lnTo>
                <a:lnTo>
                  <a:pt x="0" y="3606546"/>
                </a:lnTo>
                <a:lnTo>
                  <a:pt x="0" y="14478"/>
                </a:lnTo>
                <a:lnTo>
                  <a:pt x="13653" y="8840"/>
                </a:lnTo>
                <a:lnTo>
                  <a:pt x="50887" y="4238"/>
                </a:lnTo>
                <a:lnTo>
                  <a:pt x="106111" y="1137"/>
                </a:lnTo>
                <a:lnTo>
                  <a:pt x="173736" y="0"/>
                </a:lnTo>
              </a:path>
            </a:pathLst>
          </a:custGeom>
          <a:ln w="76200">
            <a:solidFill>
              <a:srgbClr val="4E91EF"/>
            </a:solidFill>
          </a:ln>
        </p:spPr>
        <p:txBody>
          <a:bodyPr wrap="square" lIns="0" tIns="0" rIns="0" bIns="0" rtlCol="0"/>
          <a:lstStyle/>
          <a:p>
            <a:endParaRPr/>
          </a:p>
        </p:txBody>
      </p:sp>
      <p:sp>
        <p:nvSpPr>
          <p:cNvPr id="11" name="object 11"/>
          <p:cNvSpPr/>
          <p:nvPr/>
        </p:nvSpPr>
        <p:spPr>
          <a:xfrm>
            <a:off x="7413562" y="1787209"/>
            <a:ext cx="173990" cy="3621404"/>
          </a:xfrm>
          <a:custGeom>
            <a:avLst/>
            <a:gdLst/>
            <a:ahLst/>
            <a:cxnLst/>
            <a:rect l="l" t="t" r="r" b="b"/>
            <a:pathLst>
              <a:path w="173990" h="3621404">
                <a:moveTo>
                  <a:pt x="0" y="0"/>
                </a:moveTo>
                <a:lnTo>
                  <a:pt x="67651" y="1137"/>
                </a:lnTo>
                <a:lnTo>
                  <a:pt x="122872" y="4238"/>
                </a:lnTo>
                <a:lnTo>
                  <a:pt x="160091" y="8840"/>
                </a:lnTo>
                <a:lnTo>
                  <a:pt x="173735" y="14478"/>
                </a:lnTo>
                <a:lnTo>
                  <a:pt x="173735" y="3606546"/>
                </a:lnTo>
                <a:lnTo>
                  <a:pt x="160091" y="3612183"/>
                </a:lnTo>
                <a:lnTo>
                  <a:pt x="122872" y="3616785"/>
                </a:lnTo>
                <a:lnTo>
                  <a:pt x="67651" y="3619886"/>
                </a:lnTo>
                <a:lnTo>
                  <a:pt x="0" y="3621024"/>
                </a:lnTo>
              </a:path>
            </a:pathLst>
          </a:custGeom>
          <a:ln w="76200">
            <a:solidFill>
              <a:srgbClr val="4E91EF"/>
            </a:solidFill>
          </a:ln>
        </p:spPr>
        <p:txBody>
          <a:bodyPr wrap="square" lIns="0" tIns="0" rIns="0" bIns="0" rtlCol="0"/>
          <a:lstStyle/>
          <a:p>
            <a:endParaRPr/>
          </a:p>
        </p:txBody>
      </p:sp>
      <p:sp>
        <p:nvSpPr>
          <p:cNvPr id="12" name="object 12"/>
          <p:cNvSpPr txBox="1"/>
          <p:nvPr/>
        </p:nvSpPr>
        <p:spPr>
          <a:xfrm>
            <a:off x="7842188" y="3422776"/>
            <a:ext cx="17335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𝑋</a:t>
            </a:r>
            <a:endParaRPr sz="1800">
              <a:cs typeface="Cambria Math"/>
            </a:endParaRPr>
          </a:p>
        </p:txBody>
      </p:sp>
      <p:sp>
        <p:nvSpPr>
          <p:cNvPr id="13" name="object 13"/>
          <p:cNvSpPr txBox="1"/>
          <p:nvPr/>
        </p:nvSpPr>
        <p:spPr>
          <a:xfrm>
            <a:off x="9873426" y="3422776"/>
            <a:ext cx="19621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a:t>
            </a:r>
            <a:endParaRPr sz="1800">
              <a:cs typeface="Cambria Math"/>
            </a:endParaRPr>
          </a:p>
        </p:txBody>
      </p:sp>
      <p:sp>
        <p:nvSpPr>
          <p:cNvPr id="14" name="object 14"/>
          <p:cNvSpPr txBox="1"/>
          <p:nvPr/>
        </p:nvSpPr>
        <p:spPr>
          <a:xfrm>
            <a:off x="1412457" y="2275270"/>
            <a:ext cx="18034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𝑄</a:t>
            </a:r>
            <a:endParaRPr sz="1800">
              <a:cs typeface="Cambria Math"/>
            </a:endParaRPr>
          </a:p>
        </p:txBody>
      </p:sp>
      <p:sp>
        <p:nvSpPr>
          <p:cNvPr id="15" name="object 15"/>
          <p:cNvSpPr txBox="1"/>
          <p:nvPr/>
        </p:nvSpPr>
        <p:spPr>
          <a:xfrm>
            <a:off x="3487739" y="2194880"/>
            <a:ext cx="351790" cy="299720"/>
          </a:xfrm>
          <a:prstGeom prst="rect">
            <a:avLst/>
          </a:prstGeom>
        </p:spPr>
        <p:txBody>
          <a:bodyPr vert="horz" wrap="square" lIns="0" tIns="12700" rIns="0" bIns="0" rtlCol="0">
            <a:spAutoFit/>
          </a:bodyPr>
          <a:lstStyle/>
          <a:p>
            <a:pPr marL="38100">
              <a:lnSpc>
                <a:spcPct val="100000"/>
              </a:lnSpc>
              <a:spcBef>
                <a:spcPts val="100"/>
              </a:spcBef>
            </a:pPr>
            <a:r>
              <a:rPr sz="2700" spc="97" baseline="-20061" dirty="0">
                <a:cs typeface="Cambria Math"/>
              </a:rPr>
              <a:t>𝐾</a:t>
            </a:r>
            <a:r>
              <a:rPr sz="1300" spc="65" dirty="0">
                <a:cs typeface="Cambria Math"/>
              </a:rPr>
              <a:t>𝑇</a:t>
            </a:r>
            <a:endParaRPr sz="1300">
              <a:cs typeface="Cambria Math"/>
            </a:endParaRPr>
          </a:p>
        </p:txBody>
      </p:sp>
      <p:sp>
        <p:nvSpPr>
          <p:cNvPr id="16" name="object 16"/>
          <p:cNvSpPr txBox="1"/>
          <p:nvPr/>
        </p:nvSpPr>
        <p:spPr>
          <a:xfrm>
            <a:off x="5945696" y="1726631"/>
            <a:ext cx="511809" cy="299720"/>
          </a:xfrm>
          <a:prstGeom prst="rect">
            <a:avLst/>
          </a:prstGeom>
        </p:spPr>
        <p:txBody>
          <a:bodyPr vert="horz" wrap="square" lIns="0" tIns="12700" rIns="0" bIns="0" rtlCol="0">
            <a:spAutoFit/>
          </a:bodyPr>
          <a:lstStyle/>
          <a:p>
            <a:pPr marL="38100">
              <a:lnSpc>
                <a:spcPct val="100000"/>
              </a:lnSpc>
              <a:spcBef>
                <a:spcPts val="100"/>
              </a:spcBef>
            </a:pPr>
            <a:r>
              <a:rPr sz="1800" spc="55" dirty="0">
                <a:cs typeface="Cambria Math"/>
              </a:rPr>
              <a:t>𝑄𝐾</a:t>
            </a:r>
            <a:r>
              <a:rPr sz="1950" spc="82" baseline="27777" dirty="0">
                <a:cs typeface="Cambria Math"/>
              </a:rPr>
              <a:t>𝑇</a:t>
            </a:r>
            <a:endParaRPr sz="1950" baseline="27777">
              <a:cs typeface="Cambria Math"/>
            </a:endParaRPr>
          </a:p>
        </p:txBody>
      </p:sp>
      <p:sp>
        <p:nvSpPr>
          <p:cNvPr id="17" name="object 17"/>
          <p:cNvSpPr txBox="1"/>
          <p:nvPr/>
        </p:nvSpPr>
        <p:spPr>
          <a:xfrm>
            <a:off x="8864156" y="2235580"/>
            <a:ext cx="16891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𝑉</a:t>
            </a:r>
            <a:endParaRPr sz="1800">
              <a:cs typeface="Cambria Math"/>
            </a:endParaRPr>
          </a:p>
        </p:txBody>
      </p:sp>
      <p:sp>
        <p:nvSpPr>
          <p:cNvPr id="18" name="object 18"/>
          <p:cNvSpPr txBox="1"/>
          <p:nvPr/>
        </p:nvSpPr>
        <p:spPr>
          <a:xfrm>
            <a:off x="10483660" y="2231390"/>
            <a:ext cx="1009650" cy="299720"/>
          </a:xfrm>
          <a:prstGeom prst="rect">
            <a:avLst/>
          </a:prstGeom>
        </p:spPr>
        <p:txBody>
          <a:bodyPr vert="horz" wrap="square" lIns="0" tIns="12700" rIns="0" bIns="0" rtlCol="0">
            <a:spAutoFit/>
          </a:bodyPr>
          <a:lstStyle/>
          <a:p>
            <a:pPr marL="12700">
              <a:lnSpc>
                <a:spcPct val="100000"/>
              </a:lnSpc>
              <a:spcBef>
                <a:spcPts val="100"/>
              </a:spcBef>
            </a:pPr>
            <a:r>
              <a:rPr sz="1800" spc="-5" dirty="0">
                <a:cs typeface="Cambria Math"/>
              </a:rPr>
              <a:t>𝐴𝑡</a:t>
            </a:r>
            <a:r>
              <a:rPr sz="1800" spc="-10" dirty="0">
                <a:cs typeface="Cambria Math"/>
              </a:rPr>
              <a:t>𝑡</a:t>
            </a:r>
            <a:r>
              <a:rPr sz="1800" spc="-5" dirty="0">
                <a:cs typeface="Cambria Math"/>
              </a:rPr>
              <a:t>𝑒</a:t>
            </a:r>
            <a:r>
              <a:rPr sz="1800" spc="-10" dirty="0">
                <a:cs typeface="Cambria Math"/>
              </a:rPr>
              <a:t>𝑛</a:t>
            </a:r>
            <a:r>
              <a:rPr sz="1800" dirty="0">
                <a:cs typeface="Cambria Math"/>
              </a:rPr>
              <a:t>𝑡𝑖𝑜𝑛</a:t>
            </a:r>
            <a:endParaRPr sz="1800">
              <a:cs typeface="Cambria Math"/>
            </a:endParaRPr>
          </a:p>
        </p:txBody>
      </p:sp>
      <p:sp>
        <p:nvSpPr>
          <p:cNvPr id="19" name="object 19"/>
          <p:cNvSpPr/>
          <p:nvPr/>
        </p:nvSpPr>
        <p:spPr>
          <a:xfrm>
            <a:off x="8673656" y="5662007"/>
            <a:ext cx="800100" cy="212090"/>
          </a:xfrm>
          <a:custGeom>
            <a:avLst/>
            <a:gdLst/>
            <a:ahLst/>
            <a:cxnLst/>
            <a:rect l="l" t="t" r="r" b="b"/>
            <a:pathLst>
              <a:path w="800100" h="212089">
                <a:moveTo>
                  <a:pt x="732408" y="0"/>
                </a:moveTo>
                <a:lnTo>
                  <a:pt x="729360" y="8597"/>
                </a:lnTo>
                <a:lnTo>
                  <a:pt x="741628" y="13915"/>
                </a:lnTo>
                <a:lnTo>
                  <a:pt x="752157" y="21277"/>
                </a:lnTo>
                <a:lnTo>
                  <a:pt x="773596" y="55406"/>
                </a:lnTo>
                <a:lnTo>
                  <a:pt x="780668" y="104813"/>
                </a:lnTo>
                <a:lnTo>
                  <a:pt x="779883" y="123484"/>
                </a:lnTo>
                <a:lnTo>
                  <a:pt x="768096" y="169214"/>
                </a:lnTo>
                <a:lnTo>
                  <a:pt x="741789" y="197805"/>
                </a:lnTo>
                <a:lnTo>
                  <a:pt x="729741" y="203149"/>
                </a:lnTo>
                <a:lnTo>
                  <a:pt x="732408" y="211747"/>
                </a:lnTo>
                <a:lnTo>
                  <a:pt x="772824" y="187703"/>
                </a:lnTo>
                <a:lnTo>
                  <a:pt x="795591" y="143335"/>
                </a:lnTo>
                <a:lnTo>
                  <a:pt x="799973" y="105930"/>
                </a:lnTo>
                <a:lnTo>
                  <a:pt x="798877" y="86513"/>
                </a:lnTo>
                <a:lnTo>
                  <a:pt x="782447" y="37109"/>
                </a:lnTo>
                <a:lnTo>
                  <a:pt x="747746" y="5541"/>
                </a:lnTo>
                <a:lnTo>
                  <a:pt x="732408" y="0"/>
                </a:lnTo>
                <a:close/>
              </a:path>
              <a:path w="800100" h="212089">
                <a:moveTo>
                  <a:pt x="67563" y="0"/>
                </a:moveTo>
                <a:lnTo>
                  <a:pt x="27112" y="24095"/>
                </a:lnTo>
                <a:lnTo>
                  <a:pt x="4365" y="68572"/>
                </a:lnTo>
                <a:lnTo>
                  <a:pt x="0" y="105930"/>
                </a:lnTo>
                <a:lnTo>
                  <a:pt x="1093" y="125383"/>
                </a:lnTo>
                <a:lnTo>
                  <a:pt x="17399" y="174739"/>
                </a:lnTo>
                <a:lnTo>
                  <a:pt x="52135" y="206205"/>
                </a:lnTo>
                <a:lnTo>
                  <a:pt x="67563" y="211747"/>
                </a:lnTo>
                <a:lnTo>
                  <a:pt x="70230" y="203149"/>
                </a:lnTo>
                <a:lnTo>
                  <a:pt x="58130" y="197805"/>
                </a:lnTo>
                <a:lnTo>
                  <a:pt x="47720" y="190368"/>
                </a:lnTo>
                <a:lnTo>
                  <a:pt x="26376" y="155687"/>
                </a:lnTo>
                <a:lnTo>
                  <a:pt x="19303" y="104813"/>
                </a:lnTo>
                <a:lnTo>
                  <a:pt x="20089" y="86744"/>
                </a:lnTo>
                <a:lnTo>
                  <a:pt x="31876" y="42138"/>
                </a:lnTo>
                <a:lnTo>
                  <a:pt x="58291" y="13915"/>
                </a:lnTo>
                <a:lnTo>
                  <a:pt x="70484" y="8597"/>
                </a:lnTo>
                <a:lnTo>
                  <a:pt x="67563" y="0"/>
                </a:lnTo>
                <a:close/>
              </a:path>
            </a:pathLst>
          </a:custGeom>
          <a:solidFill>
            <a:srgbClr val="000000"/>
          </a:solidFill>
        </p:spPr>
        <p:txBody>
          <a:bodyPr wrap="square" lIns="0" tIns="0" rIns="0" bIns="0" rtlCol="0"/>
          <a:lstStyle/>
          <a:p>
            <a:endParaRPr/>
          </a:p>
        </p:txBody>
      </p:sp>
      <p:sp>
        <p:nvSpPr>
          <p:cNvPr id="20" name="object 20"/>
          <p:cNvSpPr/>
          <p:nvPr/>
        </p:nvSpPr>
        <p:spPr>
          <a:xfrm>
            <a:off x="10626662" y="5429381"/>
            <a:ext cx="693420" cy="675640"/>
          </a:xfrm>
          <a:custGeom>
            <a:avLst/>
            <a:gdLst/>
            <a:ahLst/>
            <a:cxnLst/>
            <a:rect l="l" t="t" r="r" b="b"/>
            <a:pathLst>
              <a:path w="693420" h="675639">
                <a:moveTo>
                  <a:pt x="114173" y="7924"/>
                </a:moveTo>
                <a:lnTo>
                  <a:pt x="62166" y="58623"/>
                </a:lnTo>
                <a:lnTo>
                  <a:pt x="43865" y="94830"/>
                </a:lnTo>
                <a:lnTo>
                  <a:pt x="28321" y="135610"/>
                </a:lnTo>
                <a:lnTo>
                  <a:pt x="15963" y="180543"/>
                </a:lnTo>
                <a:lnTo>
                  <a:pt x="7112" y="229133"/>
                </a:lnTo>
                <a:lnTo>
                  <a:pt x="1778" y="281393"/>
                </a:lnTo>
                <a:lnTo>
                  <a:pt x="0" y="337312"/>
                </a:lnTo>
                <a:lnTo>
                  <a:pt x="1778" y="393636"/>
                </a:lnTo>
                <a:lnTo>
                  <a:pt x="7112" y="446176"/>
                </a:lnTo>
                <a:lnTo>
                  <a:pt x="15963" y="494931"/>
                </a:lnTo>
                <a:lnTo>
                  <a:pt x="28321" y="539902"/>
                </a:lnTo>
                <a:lnTo>
                  <a:pt x="43865" y="580707"/>
                </a:lnTo>
                <a:lnTo>
                  <a:pt x="62166" y="616902"/>
                </a:lnTo>
                <a:lnTo>
                  <a:pt x="107061" y="675525"/>
                </a:lnTo>
                <a:lnTo>
                  <a:pt x="114173" y="667600"/>
                </a:lnTo>
                <a:lnTo>
                  <a:pt x="92976" y="640156"/>
                </a:lnTo>
                <a:lnTo>
                  <a:pt x="74549" y="608368"/>
                </a:lnTo>
                <a:lnTo>
                  <a:pt x="58877" y="572236"/>
                </a:lnTo>
                <a:lnTo>
                  <a:pt x="45974" y="531761"/>
                </a:lnTo>
                <a:lnTo>
                  <a:pt x="35814" y="487641"/>
                </a:lnTo>
                <a:lnTo>
                  <a:pt x="28600" y="440575"/>
                </a:lnTo>
                <a:lnTo>
                  <a:pt x="24282" y="390537"/>
                </a:lnTo>
                <a:lnTo>
                  <a:pt x="22860" y="337312"/>
                </a:lnTo>
                <a:lnTo>
                  <a:pt x="24282" y="284797"/>
                </a:lnTo>
                <a:lnTo>
                  <a:pt x="28600" y="234924"/>
                </a:lnTo>
                <a:lnTo>
                  <a:pt x="35814" y="187934"/>
                </a:lnTo>
                <a:lnTo>
                  <a:pt x="45974" y="143814"/>
                </a:lnTo>
                <a:lnTo>
                  <a:pt x="58877" y="103327"/>
                </a:lnTo>
                <a:lnTo>
                  <a:pt x="74549" y="67183"/>
                </a:lnTo>
                <a:lnTo>
                  <a:pt x="92976" y="35382"/>
                </a:lnTo>
                <a:lnTo>
                  <a:pt x="114173" y="7924"/>
                </a:lnTo>
                <a:close/>
              </a:path>
              <a:path w="693420" h="675639">
                <a:moveTo>
                  <a:pt x="555244" y="387819"/>
                </a:moveTo>
                <a:lnTo>
                  <a:pt x="306832" y="387819"/>
                </a:lnTo>
                <a:lnTo>
                  <a:pt x="306832" y="388569"/>
                </a:lnTo>
                <a:lnTo>
                  <a:pt x="284480" y="388569"/>
                </a:lnTo>
                <a:lnTo>
                  <a:pt x="216789" y="642505"/>
                </a:lnTo>
                <a:lnTo>
                  <a:pt x="178181" y="556336"/>
                </a:lnTo>
                <a:lnTo>
                  <a:pt x="141478" y="573074"/>
                </a:lnTo>
                <a:lnTo>
                  <a:pt x="145034" y="581456"/>
                </a:lnTo>
                <a:lnTo>
                  <a:pt x="163830" y="573074"/>
                </a:lnTo>
                <a:lnTo>
                  <a:pt x="210058" y="672426"/>
                </a:lnTo>
                <a:lnTo>
                  <a:pt x="220853" y="672426"/>
                </a:lnTo>
                <a:lnTo>
                  <a:pt x="293497" y="403415"/>
                </a:lnTo>
                <a:lnTo>
                  <a:pt x="315722" y="403415"/>
                </a:lnTo>
                <a:lnTo>
                  <a:pt x="315722" y="403059"/>
                </a:lnTo>
                <a:lnTo>
                  <a:pt x="555244" y="403059"/>
                </a:lnTo>
                <a:lnTo>
                  <a:pt x="555244" y="387819"/>
                </a:lnTo>
                <a:close/>
              </a:path>
              <a:path w="693420" h="675639">
                <a:moveTo>
                  <a:pt x="572008" y="329907"/>
                </a:moveTo>
                <a:lnTo>
                  <a:pt x="120904" y="329907"/>
                </a:lnTo>
                <a:lnTo>
                  <a:pt x="120904" y="345147"/>
                </a:lnTo>
                <a:lnTo>
                  <a:pt x="572008" y="345147"/>
                </a:lnTo>
                <a:lnTo>
                  <a:pt x="572008" y="329907"/>
                </a:lnTo>
                <a:close/>
              </a:path>
              <a:path w="693420" h="675639">
                <a:moveTo>
                  <a:pt x="693420" y="337312"/>
                </a:moveTo>
                <a:lnTo>
                  <a:pt x="691654" y="281393"/>
                </a:lnTo>
                <a:lnTo>
                  <a:pt x="686346" y="229133"/>
                </a:lnTo>
                <a:lnTo>
                  <a:pt x="677506" y="180543"/>
                </a:lnTo>
                <a:lnTo>
                  <a:pt x="665099" y="135610"/>
                </a:lnTo>
                <a:lnTo>
                  <a:pt x="649592" y="94830"/>
                </a:lnTo>
                <a:lnTo>
                  <a:pt x="631291" y="58623"/>
                </a:lnTo>
                <a:lnTo>
                  <a:pt x="586359" y="0"/>
                </a:lnTo>
                <a:lnTo>
                  <a:pt x="579247" y="7924"/>
                </a:lnTo>
                <a:lnTo>
                  <a:pt x="600430" y="35382"/>
                </a:lnTo>
                <a:lnTo>
                  <a:pt x="618883" y="67183"/>
                </a:lnTo>
                <a:lnTo>
                  <a:pt x="634580" y="103327"/>
                </a:lnTo>
                <a:lnTo>
                  <a:pt x="647573" y="143814"/>
                </a:lnTo>
                <a:lnTo>
                  <a:pt x="657656" y="187934"/>
                </a:lnTo>
                <a:lnTo>
                  <a:pt x="664883" y="234924"/>
                </a:lnTo>
                <a:lnTo>
                  <a:pt x="669226" y="284797"/>
                </a:lnTo>
                <a:lnTo>
                  <a:pt x="670687" y="337540"/>
                </a:lnTo>
                <a:lnTo>
                  <a:pt x="669226" y="390537"/>
                </a:lnTo>
                <a:lnTo>
                  <a:pt x="664883" y="440575"/>
                </a:lnTo>
                <a:lnTo>
                  <a:pt x="657656" y="487641"/>
                </a:lnTo>
                <a:lnTo>
                  <a:pt x="647573" y="531761"/>
                </a:lnTo>
                <a:lnTo>
                  <a:pt x="634580" y="572236"/>
                </a:lnTo>
                <a:lnTo>
                  <a:pt x="618883" y="608368"/>
                </a:lnTo>
                <a:lnTo>
                  <a:pt x="579247" y="667600"/>
                </a:lnTo>
                <a:lnTo>
                  <a:pt x="586359" y="675525"/>
                </a:lnTo>
                <a:lnTo>
                  <a:pt x="631291" y="616902"/>
                </a:lnTo>
                <a:lnTo>
                  <a:pt x="649592" y="580707"/>
                </a:lnTo>
                <a:lnTo>
                  <a:pt x="665099" y="539902"/>
                </a:lnTo>
                <a:lnTo>
                  <a:pt x="677506" y="494931"/>
                </a:lnTo>
                <a:lnTo>
                  <a:pt x="686346" y="446176"/>
                </a:lnTo>
                <a:lnTo>
                  <a:pt x="691654" y="393636"/>
                </a:lnTo>
                <a:lnTo>
                  <a:pt x="693420" y="337312"/>
                </a:lnTo>
                <a:close/>
              </a:path>
            </a:pathLst>
          </a:custGeom>
          <a:solidFill>
            <a:srgbClr val="000000"/>
          </a:solidFill>
        </p:spPr>
        <p:txBody>
          <a:bodyPr wrap="square" lIns="0" tIns="0" rIns="0" bIns="0" rtlCol="0"/>
          <a:lstStyle/>
          <a:p>
            <a:endParaRPr/>
          </a:p>
        </p:txBody>
      </p:sp>
      <p:sp>
        <p:nvSpPr>
          <p:cNvPr id="21" name="object 21"/>
          <p:cNvSpPr txBox="1"/>
          <p:nvPr/>
        </p:nvSpPr>
        <p:spPr>
          <a:xfrm>
            <a:off x="1236892" y="4976688"/>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(2,</a:t>
            </a:r>
            <a:r>
              <a:rPr sz="1000" spc="-60" dirty="0">
                <a:cs typeface="Tahoma"/>
              </a:rPr>
              <a:t> </a:t>
            </a:r>
            <a:r>
              <a:rPr sz="1000" spc="25" dirty="0">
                <a:cs typeface="Tahoma"/>
              </a:rPr>
              <a:t>4096</a:t>
            </a:r>
            <a:r>
              <a:rPr sz="1000" spc="-85" dirty="0">
                <a:cs typeface="Tahoma"/>
              </a:rPr>
              <a:t>)</a:t>
            </a:r>
            <a:endParaRPr sz="1000">
              <a:cs typeface="Tahoma"/>
            </a:endParaRPr>
          </a:p>
        </p:txBody>
      </p:sp>
      <p:sp>
        <p:nvSpPr>
          <p:cNvPr id="25" name="object 25"/>
          <p:cNvSpPr txBox="1"/>
          <p:nvPr/>
        </p:nvSpPr>
        <p:spPr>
          <a:xfrm>
            <a:off x="10736390" y="5432743"/>
            <a:ext cx="462280" cy="661720"/>
          </a:xfrm>
          <a:prstGeom prst="rect">
            <a:avLst/>
          </a:prstGeom>
        </p:spPr>
        <p:txBody>
          <a:bodyPr vert="horz" wrap="square" lIns="0" tIns="0" rIns="0" bIns="0" rtlCol="0">
            <a:spAutoFit/>
          </a:bodyPr>
          <a:lstStyle/>
          <a:p>
            <a:pPr marR="5080" algn="r">
              <a:lnSpc>
                <a:spcPts val="2150"/>
              </a:lnSpc>
            </a:pPr>
            <a:r>
              <a:rPr sz="1800" spc="50" dirty="0">
                <a:cs typeface="Cambria Math"/>
              </a:rPr>
              <a:t>𝑄</a:t>
            </a:r>
            <a:r>
              <a:rPr sz="1800" spc="95" dirty="0">
                <a:cs typeface="Cambria Math"/>
              </a:rPr>
              <a:t>𝐾</a:t>
            </a:r>
            <a:r>
              <a:rPr sz="1950" spc="89" baseline="27777" dirty="0">
                <a:cs typeface="Cambria Math"/>
              </a:rPr>
              <a:t>𝑇</a:t>
            </a:r>
            <a:endParaRPr sz="1950" baseline="27777">
              <a:cs typeface="Cambria Math"/>
            </a:endParaRPr>
          </a:p>
          <a:p>
            <a:pPr marR="21590" algn="r">
              <a:lnSpc>
                <a:spcPct val="100000"/>
              </a:lnSpc>
              <a:spcBef>
                <a:spcPts val="765"/>
              </a:spcBef>
            </a:pPr>
            <a:r>
              <a:rPr sz="1800" spc="40" dirty="0">
                <a:cs typeface="Cambria Math"/>
              </a:rPr>
              <a:t>𝑑</a:t>
            </a:r>
            <a:r>
              <a:rPr sz="1950" spc="60" baseline="-14957" dirty="0">
                <a:cs typeface="Cambria Math"/>
              </a:rPr>
              <a:t>𝑘</a:t>
            </a:r>
            <a:endParaRPr sz="1950" baseline="-14957">
              <a:cs typeface="Cambria Math"/>
            </a:endParaRPr>
          </a:p>
        </p:txBody>
      </p:sp>
      <p:sp>
        <p:nvSpPr>
          <p:cNvPr id="26" name="object 26"/>
          <p:cNvSpPr txBox="1"/>
          <p:nvPr/>
        </p:nvSpPr>
        <p:spPr>
          <a:xfrm>
            <a:off x="7649655" y="5642823"/>
            <a:ext cx="1867535" cy="243656"/>
          </a:xfrm>
          <a:prstGeom prst="rect">
            <a:avLst/>
          </a:prstGeom>
        </p:spPr>
        <p:txBody>
          <a:bodyPr vert="horz" wrap="square" lIns="0" tIns="0" rIns="0" bIns="0" rtlCol="0">
            <a:spAutoFit/>
          </a:bodyPr>
          <a:lstStyle/>
          <a:p>
            <a:pPr marL="12700">
              <a:lnSpc>
                <a:spcPts val="1860"/>
              </a:lnSpc>
            </a:pPr>
            <a:r>
              <a:rPr sz="1800" spc="-5" dirty="0">
                <a:cs typeface="Cambria Math"/>
              </a:rPr>
              <a:t>𝐴𝑡</a:t>
            </a:r>
            <a:r>
              <a:rPr sz="1800" spc="-10" dirty="0">
                <a:cs typeface="Cambria Math"/>
              </a:rPr>
              <a:t>𝑡</a:t>
            </a:r>
            <a:r>
              <a:rPr sz="1800" spc="-5" dirty="0">
                <a:cs typeface="Cambria Math"/>
              </a:rPr>
              <a:t>𝑒</a:t>
            </a:r>
            <a:r>
              <a:rPr sz="1800" spc="-10" dirty="0">
                <a:cs typeface="Cambria Math"/>
              </a:rPr>
              <a:t>𝑛</a:t>
            </a:r>
            <a:r>
              <a:rPr sz="1800" spc="5" dirty="0">
                <a:cs typeface="Cambria Math"/>
              </a:rPr>
              <a:t>𝑡</a:t>
            </a:r>
            <a:r>
              <a:rPr sz="1800" dirty="0">
                <a:cs typeface="Cambria Math"/>
              </a:rPr>
              <a:t>𝑖𝑜𝑛 </a:t>
            </a:r>
            <a:r>
              <a:rPr sz="1800" spc="5" dirty="0">
                <a:cs typeface="Cambria Math"/>
              </a:rPr>
              <a:t> </a:t>
            </a:r>
            <a:r>
              <a:rPr sz="1800" spc="40" dirty="0">
                <a:cs typeface="Cambria Math"/>
              </a:rPr>
              <a:t>𝑄</a:t>
            </a:r>
            <a:r>
              <a:rPr sz="1800" dirty="0">
                <a:cs typeface="Cambria Math"/>
              </a:rPr>
              <a:t>,</a:t>
            </a:r>
            <a:r>
              <a:rPr sz="1800" spc="-85" dirty="0">
                <a:cs typeface="Cambria Math"/>
              </a:rPr>
              <a:t> </a:t>
            </a:r>
            <a:r>
              <a:rPr sz="1800" spc="50" dirty="0">
                <a:cs typeface="Cambria Math"/>
              </a:rPr>
              <a:t>𝐾</a:t>
            </a:r>
            <a:r>
              <a:rPr sz="1800" dirty="0">
                <a:cs typeface="Cambria Math"/>
              </a:rPr>
              <a:t>,</a:t>
            </a:r>
            <a:r>
              <a:rPr sz="1800" spc="-85" dirty="0">
                <a:cs typeface="Cambria Math"/>
              </a:rPr>
              <a:t> </a:t>
            </a:r>
            <a:r>
              <a:rPr sz="1800" dirty="0">
                <a:cs typeface="Cambria Math"/>
              </a:rPr>
              <a:t>𝑉</a:t>
            </a:r>
          </a:p>
        </p:txBody>
      </p:sp>
      <p:sp>
        <p:nvSpPr>
          <p:cNvPr id="27" name="object 27"/>
          <p:cNvSpPr txBox="1"/>
          <p:nvPr/>
        </p:nvSpPr>
        <p:spPr>
          <a:xfrm>
            <a:off x="9544368" y="5642823"/>
            <a:ext cx="1038860" cy="243656"/>
          </a:xfrm>
          <a:prstGeom prst="rect">
            <a:avLst/>
          </a:prstGeom>
        </p:spPr>
        <p:txBody>
          <a:bodyPr vert="horz" wrap="square" lIns="0" tIns="0" rIns="0" bIns="0" rtlCol="0">
            <a:spAutoFit/>
          </a:bodyPr>
          <a:lstStyle/>
          <a:p>
            <a:pPr marL="12700">
              <a:lnSpc>
                <a:spcPts val="1860"/>
              </a:lnSpc>
            </a:pPr>
            <a:r>
              <a:rPr sz="1800" dirty="0">
                <a:cs typeface="Cambria Math"/>
              </a:rPr>
              <a:t>=</a:t>
            </a:r>
            <a:r>
              <a:rPr sz="1800" spc="45" dirty="0">
                <a:cs typeface="Cambria Math"/>
              </a:rPr>
              <a:t> </a:t>
            </a:r>
            <a:r>
              <a:rPr sz="1800" spc="-5" dirty="0">
                <a:cs typeface="Cambria Math"/>
              </a:rPr>
              <a:t>softmax</a:t>
            </a:r>
            <a:endParaRPr sz="1800">
              <a:cs typeface="Cambria Math"/>
            </a:endParaRPr>
          </a:p>
        </p:txBody>
      </p:sp>
      <p:sp>
        <p:nvSpPr>
          <p:cNvPr id="28" name="object 28"/>
          <p:cNvSpPr txBox="1"/>
          <p:nvPr/>
        </p:nvSpPr>
        <p:spPr>
          <a:xfrm>
            <a:off x="11364278" y="5642823"/>
            <a:ext cx="168910" cy="243656"/>
          </a:xfrm>
          <a:prstGeom prst="rect">
            <a:avLst/>
          </a:prstGeom>
        </p:spPr>
        <p:txBody>
          <a:bodyPr vert="horz" wrap="square" lIns="0" tIns="0" rIns="0" bIns="0" rtlCol="0">
            <a:spAutoFit/>
          </a:bodyPr>
          <a:lstStyle/>
          <a:p>
            <a:pPr marL="12700">
              <a:lnSpc>
                <a:spcPts val="1860"/>
              </a:lnSpc>
            </a:pPr>
            <a:r>
              <a:rPr sz="1800" dirty="0">
                <a:cs typeface="Cambria Math"/>
              </a:rPr>
              <a:t>𝑉</a:t>
            </a:r>
            <a:endParaRPr sz="1800">
              <a:cs typeface="Cambria Math"/>
            </a:endParaRPr>
          </a:p>
        </p:txBody>
      </p:sp>
      <p:sp>
        <p:nvSpPr>
          <p:cNvPr id="30" name="object 30"/>
          <p:cNvSpPr txBox="1"/>
          <p:nvPr/>
        </p:nvSpPr>
        <p:spPr>
          <a:xfrm>
            <a:off x="6050852" y="5855294"/>
            <a:ext cx="313690" cy="161583"/>
          </a:xfrm>
          <a:prstGeom prst="rect">
            <a:avLst/>
          </a:prstGeom>
        </p:spPr>
        <p:txBody>
          <a:bodyPr vert="horz" wrap="square" lIns="0" tIns="7620" rIns="0" bIns="0" rtlCol="0">
            <a:spAutoFit/>
          </a:bodyPr>
          <a:lstStyle/>
          <a:p>
            <a:pPr marL="12700">
              <a:lnSpc>
                <a:spcPct val="100000"/>
              </a:lnSpc>
              <a:spcBef>
                <a:spcPts val="60"/>
              </a:spcBef>
            </a:pPr>
            <a:r>
              <a:rPr sz="1000" spc="-35" dirty="0">
                <a:cs typeface="Tahoma"/>
              </a:rPr>
              <a:t>(2,</a:t>
            </a:r>
            <a:r>
              <a:rPr sz="1000" spc="-60" dirty="0">
                <a:cs typeface="Tahoma"/>
              </a:rPr>
              <a:t> </a:t>
            </a:r>
            <a:r>
              <a:rPr sz="1000" spc="-35" dirty="0">
                <a:cs typeface="Tahoma"/>
              </a:rPr>
              <a:t>2)</a:t>
            </a:r>
            <a:endParaRPr sz="1000">
              <a:cs typeface="Tahoma"/>
            </a:endParaRPr>
          </a:p>
        </p:txBody>
      </p:sp>
      <p:sp>
        <p:nvSpPr>
          <p:cNvPr id="22" name="object 22"/>
          <p:cNvSpPr txBox="1"/>
          <p:nvPr/>
        </p:nvSpPr>
        <p:spPr>
          <a:xfrm>
            <a:off x="3356420" y="4976688"/>
            <a:ext cx="531495" cy="166071"/>
          </a:xfrm>
          <a:prstGeom prst="rect">
            <a:avLst/>
          </a:prstGeom>
        </p:spPr>
        <p:txBody>
          <a:bodyPr vert="horz" wrap="square" lIns="0" tIns="12065" rIns="0" bIns="0" rtlCol="0">
            <a:spAutoFit/>
          </a:bodyPr>
          <a:lstStyle/>
          <a:p>
            <a:pPr marL="12700">
              <a:lnSpc>
                <a:spcPct val="100000"/>
              </a:lnSpc>
              <a:spcBef>
                <a:spcPts val="95"/>
              </a:spcBef>
            </a:pPr>
            <a:r>
              <a:rPr sz="1000" dirty="0">
                <a:cs typeface="Tahoma"/>
              </a:rPr>
              <a:t>(40</a:t>
            </a:r>
            <a:r>
              <a:rPr sz="1000" spc="-5" dirty="0">
                <a:cs typeface="Tahoma"/>
              </a:rPr>
              <a:t>9</a:t>
            </a:r>
            <a:r>
              <a:rPr sz="1000" spc="-15" dirty="0">
                <a:cs typeface="Tahoma"/>
              </a:rPr>
              <a:t>6</a:t>
            </a:r>
            <a:r>
              <a:rPr sz="1000" spc="-5" dirty="0">
                <a:cs typeface="Tahoma"/>
              </a:rPr>
              <a:t>,</a:t>
            </a:r>
            <a:r>
              <a:rPr sz="1000" spc="-75" dirty="0">
                <a:cs typeface="Tahoma"/>
              </a:rPr>
              <a:t> </a:t>
            </a:r>
            <a:r>
              <a:rPr sz="1000" spc="-35" dirty="0">
                <a:cs typeface="Tahoma"/>
              </a:rPr>
              <a:t>2)</a:t>
            </a:r>
            <a:endParaRPr sz="1000">
              <a:cs typeface="Tahoma"/>
            </a:endParaRPr>
          </a:p>
        </p:txBody>
      </p:sp>
      <p:sp>
        <p:nvSpPr>
          <p:cNvPr id="23" name="object 23"/>
          <p:cNvSpPr txBox="1"/>
          <p:nvPr/>
        </p:nvSpPr>
        <p:spPr>
          <a:xfrm>
            <a:off x="8683435" y="4939156"/>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(2,</a:t>
            </a:r>
            <a:r>
              <a:rPr sz="1000" spc="-60" dirty="0">
                <a:cs typeface="Tahoma"/>
              </a:rPr>
              <a:t> </a:t>
            </a:r>
            <a:r>
              <a:rPr sz="1000" spc="25" dirty="0">
                <a:cs typeface="Tahoma"/>
              </a:rPr>
              <a:t>4096</a:t>
            </a:r>
            <a:r>
              <a:rPr sz="1000" spc="-85" dirty="0">
                <a:cs typeface="Tahoma"/>
              </a:rPr>
              <a:t>)</a:t>
            </a:r>
            <a:endParaRPr sz="1000">
              <a:cs typeface="Tahoma"/>
            </a:endParaRPr>
          </a:p>
        </p:txBody>
      </p:sp>
      <p:sp>
        <p:nvSpPr>
          <p:cNvPr id="24" name="object 24"/>
          <p:cNvSpPr txBox="1"/>
          <p:nvPr/>
        </p:nvSpPr>
        <p:spPr>
          <a:xfrm>
            <a:off x="10722929" y="4936998"/>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(2,</a:t>
            </a:r>
            <a:r>
              <a:rPr sz="1000" spc="-60" dirty="0">
                <a:cs typeface="Tahoma"/>
              </a:rPr>
              <a:t> </a:t>
            </a:r>
            <a:r>
              <a:rPr sz="1000" spc="25" dirty="0">
                <a:cs typeface="Tahoma"/>
              </a:rPr>
              <a:t>4096</a:t>
            </a:r>
            <a:r>
              <a:rPr sz="1000" spc="-85" dirty="0">
                <a:cs typeface="Tahoma"/>
              </a:rPr>
              <a:t>)</a:t>
            </a:r>
            <a:endParaRPr sz="1000">
              <a:cs typeface="Tahoma"/>
            </a:endParaRPr>
          </a:p>
        </p:txBody>
      </p:sp>
      <p:sp>
        <p:nvSpPr>
          <p:cNvPr id="34" name="Title 1">
            <a:extLst>
              <a:ext uri="{FF2B5EF4-FFF2-40B4-BE49-F238E27FC236}">
                <a16:creationId xmlns:a16="http://schemas.microsoft.com/office/drawing/2014/main" id="{CF24666E-E359-994D-9C34-BE3914337DC9}"/>
              </a:ext>
            </a:extLst>
          </p:cNvPr>
          <p:cNvSpPr txBox="1">
            <a:spLocks/>
          </p:cNvSpPr>
          <p:nvPr/>
        </p:nvSpPr>
        <p:spPr>
          <a:xfrm>
            <a:off x="669552" y="594335"/>
            <a:ext cx="10863635" cy="639153"/>
          </a:xfrm>
          <a:prstGeom prst="rect">
            <a:avLst/>
          </a:prstGeom>
        </p:spPr>
        <p:txBody>
          <a:bodyPr vert="horz" lIns="0" tIns="0" rIns="0" bIns="0" rtlCol="0" anchor="ctr">
            <a:normAutofit fontScale="97500"/>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pPr marL="12700">
              <a:lnSpc>
                <a:spcPct val="100000"/>
              </a:lnSpc>
              <a:spcBef>
                <a:spcPts val="105"/>
              </a:spcBef>
            </a:pPr>
            <a:r>
              <a:rPr lang="en-IN" sz="3600" spc="10" dirty="0">
                <a:solidFill>
                  <a:srgbClr val="FF0000"/>
                </a:solidFill>
                <a:latin typeface="+mn-lt"/>
                <a:cs typeface="Tahoma"/>
              </a:rPr>
              <a:t>Inference</a:t>
            </a:r>
            <a:r>
              <a:rPr lang="en-IN" sz="3600" dirty="0">
                <a:latin typeface="+mn-lt"/>
                <a:cs typeface="Tahoma"/>
              </a:rPr>
              <a:t> </a:t>
            </a:r>
            <a:r>
              <a:rPr lang="en-IN" sz="3600" spc="-30" dirty="0">
                <a:solidFill>
                  <a:srgbClr val="FF0000"/>
                </a:solidFill>
                <a:latin typeface="+mn-lt"/>
                <a:cs typeface="Tahoma"/>
              </a:rPr>
              <a:t>T</a:t>
            </a:r>
            <a:r>
              <a:rPr lang="en-IN" sz="3600" spc="-185" dirty="0">
                <a:solidFill>
                  <a:srgbClr val="FF0000"/>
                </a:solidFill>
                <a:latin typeface="+mn-lt"/>
                <a:cs typeface="Tahoma"/>
              </a:rPr>
              <a:t> </a:t>
            </a:r>
            <a:r>
              <a:rPr lang="en-IN" sz="3600" spc="-125" dirty="0">
                <a:solidFill>
                  <a:srgbClr val="FF0000"/>
                </a:solidFill>
                <a:latin typeface="+mn-lt"/>
                <a:cs typeface="Tahoma"/>
              </a:rPr>
              <a:t>=</a:t>
            </a:r>
            <a:r>
              <a:rPr lang="en-IN" sz="3600" spc="-114" dirty="0">
                <a:solidFill>
                  <a:srgbClr val="FF0000"/>
                </a:solidFill>
                <a:latin typeface="+mn-lt"/>
                <a:cs typeface="Tahoma"/>
              </a:rPr>
              <a:t> </a:t>
            </a:r>
            <a:r>
              <a:rPr lang="en-IN" sz="3600" spc="70" dirty="0">
                <a:solidFill>
                  <a:srgbClr val="FF0000"/>
                </a:solidFill>
                <a:latin typeface="+mn-lt"/>
                <a:cs typeface="Tahoma"/>
              </a:rPr>
              <a:t>2</a:t>
            </a:r>
            <a:endParaRPr lang="en-IN" sz="3600" dirty="0">
              <a:latin typeface="+mn-lt"/>
              <a:cs typeface="Tahom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1216645366"/>
              </p:ext>
            </p:extLst>
          </p:nvPr>
        </p:nvGraphicFramePr>
        <p:xfrm>
          <a:off x="926505" y="2795590"/>
          <a:ext cx="1097280" cy="1920239"/>
        </p:xfrm>
        <a:graphic>
          <a:graphicData uri="http://schemas.openxmlformats.org/drawingml/2006/table">
            <a:tbl>
              <a:tblPr firstRow="1" bandRow="1">
                <a:tableStyleId>{2D5ABB26-0587-4C30-8999-92F81FD0307C}</a:tableStyleId>
              </a:tblPr>
              <a:tblGrid>
                <a:gridCol w="1097280">
                  <a:extLst>
                    <a:ext uri="{9D8B030D-6E8A-4147-A177-3AD203B41FA5}">
                      <a16:colId xmlns:a16="http://schemas.microsoft.com/office/drawing/2014/main" val="20000"/>
                    </a:ext>
                  </a:extLst>
                </a:gridCol>
              </a:tblGrid>
              <a:tr h="213360">
                <a:tc>
                  <a:txBody>
                    <a:bodyPr/>
                    <a:lstStyle/>
                    <a:p>
                      <a:pPr marL="91440">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1</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0"/>
                  </a:ext>
                </a:extLst>
              </a:tr>
              <a:tr h="213359">
                <a:tc>
                  <a:txBody>
                    <a:bodyPr/>
                    <a:lstStyle/>
                    <a:p>
                      <a:pPr marL="91440">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2</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1"/>
                  </a:ext>
                </a:extLst>
              </a:tr>
              <a:tr h="213360">
                <a:tc>
                  <a:txBody>
                    <a:bodyPr/>
                    <a:lstStyle/>
                    <a:p>
                      <a:pPr marL="91440">
                        <a:lnSpc>
                          <a:spcPct val="100000"/>
                        </a:lnSpc>
                        <a:spcBef>
                          <a:spcPts val="330"/>
                        </a:spcBef>
                      </a:pPr>
                      <a:r>
                        <a:rPr sz="800" spc="-5" dirty="0">
                          <a:latin typeface="Tahoma"/>
                          <a:cs typeface="Tahoma"/>
                        </a:rPr>
                        <a:t>TOK</a:t>
                      </a:r>
                      <a:r>
                        <a:rPr sz="800" dirty="0">
                          <a:latin typeface="Tahoma"/>
                          <a:cs typeface="Tahoma"/>
                        </a:rPr>
                        <a:t>EN</a:t>
                      </a:r>
                      <a:r>
                        <a:rPr sz="800" spc="-75" dirty="0">
                          <a:latin typeface="Tahoma"/>
                          <a:cs typeface="Tahoma"/>
                        </a:rPr>
                        <a:t> </a:t>
                      </a:r>
                      <a:r>
                        <a:rPr sz="800" dirty="0">
                          <a:latin typeface="Tahoma"/>
                          <a:cs typeface="Tahoma"/>
                        </a:rPr>
                        <a:t>3</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2"/>
                  </a:ext>
                </a:extLst>
              </a:tr>
              <a:tr h="1280160">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000000"/>
                      </a:solidFill>
                      <a:prstDash val="solid"/>
                    </a:lnT>
                    <a:lnB w="12700">
                      <a:solidFill>
                        <a:srgbClr val="FFFFFF"/>
                      </a:solidFill>
                      <a:prstDash val="solid"/>
                    </a:lnB>
                  </a:tcPr>
                </a:tc>
                <a:extLst>
                  <a:ext uri="{0D108BD9-81ED-4DB2-BD59-A6C34878D82A}">
                    <a16:rowId xmlns:a16="http://schemas.microsoft.com/office/drawing/2014/main" val="10003"/>
                  </a:ext>
                </a:extLst>
              </a:tr>
            </a:tbl>
          </a:graphicData>
        </a:graphic>
      </p:graphicFrame>
      <p:graphicFrame>
        <p:nvGraphicFramePr>
          <p:cNvPr id="4" name="object 4"/>
          <p:cNvGraphicFramePr>
            <a:graphicFrameLocks noGrp="1"/>
          </p:cNvGraphicFramePr>
          <p:nvPr>
            <p:extLst>
              <p:ext uri="{D42A27DB-BD31-4B8C-83A1-F6EECF244321}">
                <p14:modId xmlns:p14="http://schemas.microsoft.com/office/powerpoint/2010/main" val="2748971274"/>
              </p:ext>
            </p:extLst>
          </p:nvPr>
        </p:nvGraphicFramePr>
        <p:xfrm>
          <a:off x="2657159" y="2998535"/>
          <a:ext cx="1880867" cy="1514348"/>
        </p:xfrm>
        <a:graphic>
          <a:graphicData uri="http://schemas.openxmlformats.org/drawingml/2006/table">
            <a:tbl>
              <a:tblPr firstRow="1" bandRow="1">
                <a:tableStyleId>{2D5ABB26-0587-4C30-8999-92F81FD0307C}</a:tableStyleId>
              </a:tblPr>
              <a:tblGrid>
                <a:gridCol w="208279">
                  <a:extLst>
                    <a:ext uri="{9D8B030D-6E8A-4147-A177-3AD203B41FA5}">
                      <a16:colId xmlns:a16="http://schemas.microsoft.com/office/drawing/2014/main" val="20000"/>
                    </a:ext>
                  </a:extLst>
                </a:gridCol>
                <a:gridCol w="208279">
                  <a:extLst>
                    <a:ext uri="{9D8B030D-6E8A-4147-A177-3AD203B41FA5}">
                      <a16:colId xmlns:a16="http://schemas.microsoft.com/office/drawing/2014/main" val="20001"/>
                    </a:ext>
                  </a:extLst>
                </a:gridCol>
                <a:gridCol w="208279">
                  <a:extLst>
                    <a:ext uri="{9D8B030D-6E8A-4147-A177-3AD203B41FA5}">
                      <a16:colId xmlns:a16="http://schemas.microsoft.com/office/drawing/2014/main" val="20002"/>
                    </a:ext>
                  </a:extLst>
                </a:gridCol>
                <a:gridCol w="1256030">
                  <a:extLst>
                    <a:ext uri="{9D8B030D-6E8A-4147-A177-3AD203B41FA5}">
                      <a16:colId xmlns:a16="http://schemas.microsoft.com/office/drawing/2014/main" val="20003"/>
                    </a:ext>
                  </a:extLst>
                </a:gridCol>
              </a:tblGrid>
              <a:tr h="1514348">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1</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2</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3</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0"/>
                  </a:ext>
                </a:extLst>
              </a:tr>
            </a:tbl>
          </a:graphicData>
        </a:graphic>
      </p:graphicFrame>
      <p:sp>
        <p:nvSpPr>
          <p:cNvPr id="5" name="object 5"/>
          <p:cNvSpPr txBox="1"/>
          <p:nvPr/>
        </p:nvSpPr>
        <p:spPr>
          <a:xfrm>
            <a:off x="2257109" y="3462466"/>
            <a:ext cx="17335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𝑋</a:t>
            </a:r>
            <a:endParaRPr sz="1800">
              <a:cs typeface="Cambria Math"/>
            </a:endParaRPr>
          </a:p>
        </p:txBody>
      </p:sp>
      <p:sp>
        <p:nvSpPr>
          <p:cNvPr id="6" name="object 6"/>
          <p:cNvSpPr txBox="1"/>
          <p:nvPr/>
        </p:nvSpPr>
        <p:spPr>
          <a:xfrm>
            <a:off x="4765359" y="3462466"/>
            <a:ext cx="19621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a:t>
            </a:r>
            <a:endParaRPr sz="1800">
              <a:cs typeface="Cambria Math"/>
            </a:endParaRPr>
          </a:p>
        </p:txBody>
      </p:sp>
      <p:graphicFrame>
        <p:nvGraphicFramePr>
          <p:cNvPr id="7" name="object 7"/>
          <p:cNvGraphicFramePr>
            <a:graphicFrameLocks noGrp="1"/>
          </p:cNvGraphicFramePr>
          <p:nvPr>
            <p:extLst>
              <p:ext uri="{D42A27DB-BD31-4B8C-83A1-F6EECF244321}">
                <p14:modId xmlns:p14="http://schemas.microsoft.com/office/powerpoint/2010/main" val="1224214466"/>
              </p:ext>
            </p:extLst>
          </p:nvPr>
        </p:nvGraphicFramePr>
        <p:xfrm>
          <a:off x="5183570" y="2109790"/>
          <a:ext cx="1988817" cy="3378844"/>
        </p:xfrm>
        <a:graphic>
          <a:graphicData uri="http://schemas.openxmlformats.org/drawingml/2006/table">
            <a:tbl>
              <a:tblPr firstRow="1" bandRow="1">
                <a:tableStyleId>{2D5ABB26-0587-4C30-8999-92F81FD0307C}</a:tableStyleId>
              </a:tblPr>
              <a:tblGrid>
                <a:gridCol w="208279">
                  <a:extLst>
                    <a:ext uri="{9D8B030D-6E8A-4147-A177-3AD203B41FA5}">
                      <a16:colId xmlns:a16="http://schemas.microsoft.com/office/drawing/2014/main" val="20000"/>
                    </a:ext>
                  </a:extLst>
                </a:gridCol>
                <a:gridCol w="233679">
                  <a:extLst>
                    <a:ext uri="{9D8B030D-6E8A-4147-A177-3AD203B41FA5}">
                      <a16:colId xmlns:a16="http://schemas.microsoft.com/office/drawing/2014/main" val="20001"/>
                    </a:ext>
                  </a:extLst>
                </a:gridCol>
                <a:gridCol w="220979">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tblGrid>
              <a:tr h="396239">
                <a:tc>
                  <a:txBody>
                    <a:bodyPr/>
                    <a:lstStyle/>
                    <a:p>
                      <a:pPr marL="92075" marR="78740" indent="-635" algn="ctr">
                        <a:lnSpc>
                          <a:spcPct val="100000"/>
                        </a:lnSpc>
                        <a:spcBef>
                          <a:spcPts val="345"/>
                        </a:spcBef>
                      </a:pPr>
                      <a:r>
                        <a:rPr sz="400" dirty="0">
                          <a:latin typeface="Tahoma"/>
                          <a:cs typeface="Tahoma"/>
                        </a:rPr>
                        <a:t>T  1</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104775" indent="-635" algn="ctr">
                        <a:lnSpc>
                          <a:spcPct val="100000"/>
                        </a:lnSpc>
                        <a:spcBef>
                          <a:spcPts val="345"/>
                        </a:spcBef>
                      </a:pPr>
                      <a:r>
                        <a:rPr sz="400" dirty="0">
                          <a:latin typeface="Tahoma"/>
                          <a:cs typeface="Tahoma"/>
                        </a:rPr>
                        <a:t>T  1</a:t>
                      </a:r>
                      <a:endParaRPr sz="400">
                        <a:latin typeface="Tahoma"/>
                        <a:cs typeface="Tahoma"/>
                      </a:endParaRPr>
                    </a:p>
                    <a:p>
                      <a:pPr marL="92075" marR="104775" algn="just">
                        <a:lnSpc>
                          <a:spcPct val="100000"/>
                        </a:lnSpc>
                      </a:pPr>
                      <a:r>
                        <a:rPr sz="400" dirty="0">
                          <a:latin typeface="Tahoma"/>
                          <a:cs typeface="Tahoma"/>
                        </a:rPr>
                        <a:t>-  T  2</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3</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0"/>
                  </a:ext>
                </a:extLst>
              </a:tr>
              <a:tr h="396239">
                <a:tc>
                  <a:txBody>
                    <a:bodyPr/>
                    <a:lstStyle/>
                    <a:p>
                      <a:pPr marL="92075" marR="78740" indent="-635" algn="ctr">
                        <a:lnSpc>
                          <a:spcPct val="100000"/>
                        </a:lnSpc>
                        <a:spcBef>
                          <a:spcPts val="345"/>
                        </a:spcBef>
                      </a:pPr>
                      <a:r>
                        <a:rPr sz="400" dirty="0">
                          <a:latin typeface="Tahoma"/>
                          <a:cs typeface="Tahoma"/>
                        </a:rPr>
                        <a:t>T  2</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104775" indent="-635" algn="ctr">
                        <a:lnSpc>
                          <a:spcPct val="100000"/>
                        </a:lnSpc>
                        <a:spcBef>
                          <a:spcPts val="345"/>
                        </a:spcBef>
                      </a:pPr>
                      <a:r>
                        <a:rPr sz="400" dirty="0">
                          <a:latin typeface="Tahoma"/>
                          <a:cs typeface="Tahoma"/>
                        </a:rPr>
                        <a:t>T  2</a:t>
                      </a:r>
                      <a:endParaRPr sz="400">
                        <a:latin typeface="Tahoma"/>
                        <a:cs typeface="Tahoma"/>
                      </a:endParaRPr>
                    </a:p>
                    <a:p>
                      <a:pPr marL="92075" marR="104775" algn="just">
                        <a:lnSpc>
                          <a:spcPct val="100000"/>
                        </a:lnSpc>
                      </a:pPr>
                      <a:r>
                        <a:rPr sz="400" dirty="0">
                          <a:latin typeface="Tahoma"/>
                          <a:cs typeface="Tahoma"/>
                        </a:rPr>
                        <a:t>-  T  2</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2</a:t>
                      </a:r>
                      <a:endParaRPr sz="400">
                        <a:latin typeface="Tahoma"/>
                        <a:cs typeface="Tahoma"/>
                      </a:endParaRPr>
                    </a:p>
                    <a:p>
                      <a:pPr marL="92075" marR="91440" algn="just">
                        <a:lnSpc>
                          <a:spcPct val="100000"/>
                        </a:lnSpc>
                      </a:pPr>
                      <a:r>
                        <a:rPr sz="400" dirty="0">
                          <a:latin typeface="Tahoma"/>
                          <a:cs typeface="Tahoma"/>
                        </a:rPr>
                        <a:t>-  T  3</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1"/>
                  </a:ext>
                </a:extLst>
              </a:tr>
              <a:tr h="396239">
                <a:tc>
                  <a:txBody>
                    <a:bodyPr/>
                    <a:lstStyle/>
                    <a:p>
                      <a:pPr marL="92075" marR="78740" indent="-635" algn="ctr">
                        <a:lnSpc>
                          <a:spcPct val="100000"/>
                        </a:lnSpc>
                        <a:spcBef>
                          <a:spcPts val="345"/>
                        </a:spcBef>
                      </a:pPr>
                      <a:r>
                        <a:rPr sz="400" dirty="0">
                          <a:latin typeface="Tahoma"/>
                          <a:cs typeface="Tahoma"/>
                        </a:rPr>
                        <a:t>T  3</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104775" indent="-635" algn="ctr">
                        <a:lnSpc>
                          <a:spcPct val="100000"/>
                        </a:lnSpc>
                        <a:spcBef>
                          <a:spcPts val="345"/>
                        </a:spcBef>
                      </a:pPr>
                      <a:r>
                        <a:rPr sz="400" dirty="0">
                          <a:latin typeface="Tahoma"/>
                          <a:cs typeface="Tahoma"/>
                        </a:rPr>
                        <a:t>T  3</a:t>
                      </a:r>
                      <a:endParaRPr sz="400">
                        <a:latin typeface="Tahoma"/>
                        <a:cs typeface="Tahoma"/>
                      </a:endParaRPr>
                    </a:p>
                    <a:p>
                      <a:pPr marL="92075" marR="104775" algn="just">
                        <a:lnSpc>
                          <a:spcPct val="100000"/>
                        </a:lnSpc>
                      </a:pPr>
                      <a:r>
                        <a:rPr sz="400" dirty="0">
                          <a:latin typeface="Tahoma"/>
                          <a:cs typeface="Tahoma"/>
                        </a:rPr>
                        <a:t>-  T  2</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3</a:t>
                      </a:r>
                      <a:endParaRPr sz="400">
                        <a:latin typeface="Tahoma"/>
                        <a:cs typeface="Tahoma"/>
                      </a:endParaRPr>
                    </a:p>
                    <a:p>
                      <a:pPr marL="92075" marR="91440" algn="just">
                        <a:lnSpc>
                          <a:spcPct val="100000"/>
                        </a:lnSpc>
                      </a:pPr>
                      <a:r>
                        <a:rPr sz="400" dirty="0">
                          <a:latin typeface="Tahoma"/>
                          <a:cs typeface="Tahoma"/>
                        </a:rPr>
                        <a:t>-  T  3</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2"/>
                  </a:ext>
                </a:extLst>
              </a:tr>
              <a:tr h="2190127">
                <a:tc gridSpan="4">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cap="flat" cmpd="sng" algn="ctr">
                      <a:solidFill>
                        <a:srgbClr val="000000"/>
                      </a:solidFill>
                      <a:prstDash val="solid"/>
                      <a:round/>
                      <a:headEnd type="none" w="med" len="med"/>
                      <a:tailEnd type="none" w="med" len="med"/>
                    </a:lnT>
                    <a:lnB w="12700">
                      <a:solidFill>
                        <a:srgbClr val="FFFFFF"/>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3"/>
                  </a:ext>
                </a:extLst>
              </a:tr>
            </a:tbl>
          </a:graphicData>
        </a:graphic>
      </p:graphicFrame>
      <p:graphicFrame>
        <p:nvGraphicFramePr>
          <p:cNvPr id="8" name="object 8"/>
          <p:cNvGraphicFramePr>
            <a:graphicFrameLocks noGrp="1"/>
          </p:cNvGraphicFramePr>
          <p:nvPr>
            <p:extLst>
              <p:ext uri="{D42A27DB-BD31-4B8C-83A1-F6EECF244321}">
                <p14:modId xmlns:p14="http://schemas.microsoft.com/office/powerpoint/2010/main" val="3253218174"/>
              </p:ext>
            </p:extLst>
          </p:nvPr>
        </p:nvGraphicFramePr>
        <p:xfrm>
          <a:off x="8396668" y="2988436"/>
          <a:ext cx="1097280" cy="1920239"/>
        </p:xfrm>
        <a:graphic>
          <a:graphicData uri="http://schemas.openxmlformats.org/drawingml/2006/table">
            <a:tbl>
              <a:tblPr firstRow="1" bandRow="1">
                <a:tableStyleId>{2D5ABB26-0587-4C30-8999-92F81FD0307C}</a:tableStyleId>
              </a:tblPr>
              <a:tblGrid>
                <a:gridCol w="1097280">
                  <a:extLst>
                    <a:ext uri="{9D8B030D-6E8A-4147-A177-3AD203B41FA5}">
                      <a16:colId xmlns:a16="http://schemas.microsoft.com/office/drawing/2014/main" val="20000"/>
                    </a:ext>
                  </a:extLst>
                </a:gridCol>
              </a:tblGrid>
              <a:tr h="213360">
                <a:tc>
                  <a:txBody>
                    <a:bodyPr/>
                    <a:lstStyle/>
                    <a:p>
                      <a:pPr marL="92075">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1</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0"/>
                  </a:ext>
                </a:extLst>
              </a:tr>
              <a:tr h="213359">
                <a:tc>
                  <a:txBody>
                    <a:bodyPr/>
                    <a:lstStyle/>
                    <a:p>
                      <a:pPr marL="92075">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2</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1"/>
                  </a:ext>
                </a:extLst>
              </a:tr>
              <a:tr h="213360">
                <a:tc>
                  <a:txBody>
                    <a:bodyPr/>
                    <a:lstStyle/>
                    <a:p>
                      <a:pPr marL="92075">
                        <a:lnSpc>
                          <a:spcPct val="100000"/>
                        </a:lnSpc>
                        <a:spcBef>
                          <a:spcPts val="330"/>
                        </a:spcBef>
                      </a:pPr>
                      <a:r>
                        <a:rPr sz="800" spc="-5" dirty="0">
                          <a:latin typeface="Tahoma"/>
                          <a:cs typeface="Tahoma"/>
                        </a:rPr>
                        <a:t>TOK</a:t>
                      </a:r>
                      <a:r>
                        <a:rPr sz="800" dirty="0">
                          <a:latin typeface="Tahoma"/>
                          <a:cs typeface="Tahoma"/>
                        </a:rPr>
                        <a:t>EN</a:t>
                      </a:r>
                      <a:r>
                        <a:rPr sz="800" spc="-75" dirty="0">
                          <a:latin typeface="Tahoma"/>
                          <a:cs typeface="Tahoma"/>
                        </a:rPr>
                        <a:t> </a:t>
                      </a:r>
                      <a:r>
                        <a:rPr sz="800" dirty="0">
                          <a:latin typeface="Tahoma"/>
                          <a:cs typeface="Tahoma"/>
                        </a:rPr>
                        <a:t>3</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2"/>
                  </a:ext>
                </a:extLst>
              </a:tr>
              <a:tr h="1280160">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000000"/>
                      </a:solidFill>
                      <a:prstDash val="solid"/>
                    </a:lnT>
                    <a:lnB w="12700">
                      <a:solidFill>
                        <a:srgbClr val="FFFFFF"/>
                      </a:solidFill>
                      <a:prstDash val="solid"/>
                    </a:lnB>
                  </a:tcPr>
                </a:tc>
                <a:extLst>
                  <a:ext uri="{0D108BD9-81ED-4DB2-BD59-A6C34878D82A}">
                    <a16:rowId xmlns:a16="http://schemas.microsoft.com/office/drawing/2014/main" val="10003"/>
                  </a:ext>
                </a:extLst>
              </a:tr>
            </a:tbl>
          </a:graphicData>
        </a:graphic>
      </p:graphicFrame>
      <p:graphicFrame>
        <p:nvGraphicFramePr>
          <p:cNvPr id="9" name="object 9"/>
          <p:cNvGraphicFramePr>
            <a:graphicFrameLocks noGrp="1"/>
          </p:cNvGraphicFramePr>
          <p:nvPr>
            <p:extLst>
              <p:ext uri="{D42A27DB-BD31-4B8C-83A1-F6EECF244321}">
                <p14:modId xmlns:p14="http://schemas.microsoft.com/office/powerpoint/2010/main" val="1743509580"/>
              </p:ext>
            </p:extLst>
          </p:nvPr>
        </p:nvGraphicFramePr>
        <p:xfrm>
          <a:off x="10435907" y="2988436"/>
          <a:ext cx="1097280" cy="1920239"/>
        </p:xfrm>
        <a:graphic>
          <a:graphicData uri="http://schemas.openxmlformats.org/drawingml/2006/table">
            <a:tbl>
              <a:tblPr firstRow="1" bandRow="1">
                <a:tableStyleId>{2D5ABB26-0587-4C30-8999-92F81FD0307C}</a:tableStyleId>
              </a:tblPr>
              <a:tblGrid>
                <a:gridCol w="1097280">
                  <a:extLst>
                    <a:ext uri="{9D8B030D-6E8A-4147-A177-3AD203B41FA5}">
                      <a16:colId xmlns:a16="http://schemas.microsoft.com/office/drawing/2014/main" val="20000"/>
                    </a:ext>
                  </a:extLst>
                </a:gridCol>
              </a:tblGrid>
              <a:tr h="213360">
                <a:tc>
                  <a:txBody>
                    <a:bodyPr/>
                    <a:lstStyle/>
                    <a:p>
                      <a:pPr marL="92710">
                        <a:lnSpc>
                          <a:spcPct val="100000"/>
                        </a:lnSpc>
                        <a:spcBef>
                          <a:spcPts val="330"/>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1</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0"/>
                  </a:ext>
                </a:extLst>
              </a:tr>
              <a:tr h="213359">
                <a:tc>
                  <a:txBody>
                    <a:bodyPr/>
                    <a:lstStyle/>
                    <a:p>
                      <a:pPr marL="92710">
                        <a:lnSpc>
                          <a:spcPct val="100000"/>
                        </a:lnSpc>
                        <a:spcBef>
                          <a:spcPts val="330"/>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2</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1"/>
                  </a:ext>
                </a:extLst>
              </a:tr>
              <a:tr h="213360">
                <a:tc>
                  <a:txBody>
                    <a:bodyPr/>
                    <a:lstStyle/>
                    <a:p>
                      <a:pPr marL="92710">
                        <a:lnSpc>
                          <a:spcPct val="100000"/>
                        </a:lnSpc>
                        <a:spcBef>
                          <a:spcPts val="330"/>
                        </a:spcBef>
                      </a:pPr>
                      <a:r>
                        <a:rPr sz="800" spc="-5" dirty="0">
                          <a:latin typeface="Tahoma"/>
                          <a:cs typeface="Tahoma"/>
                        </a:rPr>
                        <a:t>OUTP</a:t>
                      </a:r>
                      <a:r>
                        <a:rPr sz="800" spc="-10" dirty="0">
                          <a:latin typeface="Tahoma"/>
                          <a:cs typeface="Tahoma"/>
                        </a:rPr>
                        <a:t>U</a:t>
                      </a:r>
                      <a:r>
                        <a:rPr sz="800" dirty="0">
                          <a:latin typeface="Tahoma"/>
                          <a:cs typeface="Tahoma"/>
                        </a:rPr>
                        <a:t>T</a:t>
                      </a:r>
                      <a:r>
                        <a:rPr sz="800" spc="-100" dirty="0">
                          <a:latin typeface="Tahoma"/>
                          <a:cs typeface="Tahoma"/>
                        </a:rPr>
                        <a:t> </a:t>
                      </a:r>
                      <a:r>
                        <a:rPr sz="800" spc="-5" dirty="0">
                          <a:latin typeface="Tahoma"/>
                          <a:cs typeface="Tahoma"/>
                        </a:rPr>
                        <a:t>TOK</a:t>
                      </a:r>
                      <a:r>
                        <a:rPr sz="800" dirty="0">
                          <a:latin typeface="Tahoma"/>
                          <a:cs typeface="Tahoma"/>
                        </a:rPr>
                        <a:t>EN</a:t>
                      </a:r>
                      <a:r>
                        <a:rPr sz="800" spc="-75" dirty="0">
                          <a:latin typeface="Tahoma"/>
                          <a:cs typeface="Tahoma"/>
                        </a:rPr>
                        <a:t> </a:t>
                      </a:r>
                      <a:r>
                        <a:rPr sz="800" dirty="0">
                          <a:latin typeface="Tahoma"/>
                          <a:cs typeface="Tahoma"/>
                        </a:rPr>
                        <a:t>3</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2"/>
                  </a:ext>
                </a:extLst>
              </a:tr>
              <a:tr h="1280160">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000000"/>
                      </a:solidFill>
                      <a:prstDash val="solid"/>
                    </a:lnT>
                    <a:lnB w="12700">
                      <a:solidFill>
                        <a:srgbClr val="FFFFFF"/>
                      </a:solidFill>
                      <a:prstDash val="solid"/>
                    </a:lnB>
                  </a:tcPr>
                </a:tc>
                <a:extLst>
                  <a:ext uri="{0D108BD9-81ED-4DB2-BD59-A6C34878D82A}">
                    <a16:rowId xmlns:a16="http://schemas.microsoft.com/office/drawing/2014/main" val="10003"/>
                  </a:ext>
                </a:extLst>
              </a:tr>
            </a:tbl>
          </a:graphicData>
        </a:graphic>
      </p:graphicFrame>
      <p:sp>
        <p:nvSpPr>
          <p:cNvPr id="10" name="object 10"/>
          <p:cNvSpPr/>
          <p:nvPr/>
        </p:nvSpPr>
        <p:spPr>
          <a:xfrm>
            <a:off x="741238" y="1787209"/>
            <a:ext cx="173990" cy="3621404"/>
          </a:xfrm>
          <a:custGeom>
            <a:avLst/>
            <a:gdLst/>
            <a:ahLst/>
            <a:cxnLst/>
            <a:rect l="l" t="t" r="r" b="b"/>
            <a:pathLst>
              <a:path w="173990" h="3621404">
                <a:moveTo>
                  <a:pt x="173736" y="3621024"/>
                </a:moveTo>
                <a:lnTo>
                  <a:pt x="106111" y="3619886"/>
                </a:lnTo>
                <a:lnTo>
                  <a:pt x="50887" y="3616785"/>
                </a:lnTo>
                <a:lnTo>
                  <a:pt x="13653" y="3612183"/>
                </a:lnTo>
                <a:lnTo>
                  <a:pt x="0" y="3606546"/>
                </a:lnTo>
                <a:lnTo>
                  <a:pt x="0" y="14478"/>
                </a:lnTo>
                <a:lnTo>
                  <a:pt x="13653" y="8840"/>
                </a:lnTo>
                <a:lnTo>
                  <a:pt x="50887" y="4238"/>
                </a:lnTo>
                <a:lnTo>
                  <a:pt x="106111" y="1137"/>
                </a:lnTo>
                <a:lnTo>
                  <a:pt x="173736" y="0"/>
                </a:lnTo>
              </a:path>
            </a:pathLst>
          </a:custGeom>
          <a:ln w="76200">
            <a:solidFill>
              <a:srgbClr val="4E91EF"/>
            </a:solidFill>
          </a:ln>
        </p:spPr>
        <p:txBody>
          <a:bodyPr wrap="square" lIns="0" tIns="0" rIns="0" bIns="0" rtlCol="0"/>
          <a:lstStyle/>
          <a:p>
            <a:endParaRPr/>
          </a:p>
        </p:txBody>
      </p:sp>
      <p:sp>
        <p:nvSpPr>
          <p:cNvPr id="11" name="object 11"/>
          <p:cNvSpPr/>
          <p:nvPr/>
        </p:nvSpPr>
        <p:spPr>
          <a:xfrm>
            <a:off x="7388925" y="1787209"/>
            <a:ext cx="173990" cy="3621404"/>
          </a:xfrm>
          <a:custGeom>
            <a:avLst/>
            <a:gdLst/>
            <a:ahLst/>
            <a:cxnLst/>
            <a:rect l="l" t="t" r="r" b="b"/>
            <a:pathLst>
              <a:path w="173990" h="3621404">
                <a:moveTo>
                  <a:pt x="0" y="0"/>
                </a:moveTo>
                <a:lnTo>
                  <a:pt x="67651" y="1137"/>
                </a:lnTo>
                <a:lnTo>
                  <a:pt x="122872" y="4238"/>
                </a:lnTo>
                <a:lnTo>
                  <a:pt x="160091" y="8840"/>
                </a:lnTo>
                <a:lnTo>
                  <a:pt x="173735" y="14478"/>
                </a:lnTo>
                <a:lnTo>
                  <a:pt x="173735" y="3606546"/>
                </a:lnTo>
                <a:lnTo>
                  <a:pt x="160091" y="3612183"/>
                </a:lnTo>
                <a:lnTo>
                  <a:pt x="122872" y="3616785"/>
                </a:lnTo>
                <a:lnTo>
                  <a:pt x="67651" y="3619886"/>
                </a:lnTo>
                <a:lnTo>
                  <a:pt x="0" y="3621024"/>
                </a:lnTo>
              </a:path>
            </a:pathLst>
          </a:custGeom>
          <a:ln w="76200">
            <a:solidFill>
              <a:srgbClr val="4E91EF"/>
            </a:solidFill>
          </a:ln>
        </p:spPr>
        <p:txBody>
          <a:bodyPr wrap="square" lIns="0" tIns="0" rIns="0" bIns="0" rtlCol="0"/>
          <a:lstStyle/>
          <a:p>
            <a:endParaRPr/>
          </a:p>
        </p:txBody>
      </p:sp>
      <p:sp>
        <p:nvSpPr>
          <p:cNvPr id="12" name="object 12"/>
          <p:cNvSpPr txBox="1"/>
          <p:nvPr/>
        </p:nvSpPr>
        <p:spPr>
          <a:xfrm>
            <a:off x="7842187" y="3655312"/>
            <a:ext cx="17335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𝑋</a:t>
            </a:r>
            <a:endParaRPr sz="1800">
              <a:cs typeface="Cambria Math"/>
            </a:endParaRPr>
          </a:p>
        </p:txBody>
      </p:sp>
      <p:sp>
        <p:nvSpPr>
          <p:cNvPr id="13" name="object 13"/>
          <p:cNvSpPr txBox="1"/>
          <p:nvPr/>
        </p:nvSpPr>
        <p:spPr>
          <a:xfrm>
            <a:off x="9873425" y="3655312"/>
            <a:ext cx="19621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a:t>
            </a:r>
            <a:endParaRPr sz="1800">
              <a:cs typeface="Cambria Math"/>
            </a:endParaRPr>
          </a:p>
        </p:txBody>
      </p:sp>
      <p:sp>
        <p:nvSpPr>
          <p:cNvPr id="14" name="object 14"/>
          <p:cNvSpPr txBox="1"/>
          <p:nvPr/>
        </p:nvSpPr>
        <p:spPr>
          <a:xfrm>
            <a:off x="1387820" y="2275270"/>
            <a:ext cx="18034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𝑄</a:t>
            </a:r>
            <a:endParaRPr sz="1800">
              <a:cs typeface="Cambria Math"/>
            </a:endParaRPr>
          </a:p>
        </p:txBody>
      </p:sp>
      <p:sp>
        <p:nvSpPr>
          <p:cNvPr id="15" name="object 15"/>
          <p:cNvSpPr txBox="1"/>
          <p:nvPr/>
        </p:nvSpPr>
        <p:spPr>
          <a:xfrm>
            <a:off x="3463102" y="2194880"/>
            <a:ext cx="351790" cy="299720"/>
          </a:xfrm>
          <a:prstGeom prst="rect">
            <a:avLst/>
          </a:prstGeom>
        </p:spPr>
        <p:txBody>
          <a:bodyPr vert="horz" wrap="square" lIns="0" tIns="12700" rIns="0" bIns="0" rtlCol="0">
            <a:spAutoFit/>
          </a:bodyPr>
          <a:lstStyle/>
          <a:p>
            <a:pPr marL="38100">
              <a:lnSpc>
                <a:spcPct val="100000"/>
              </a:lnSpc>
              <a:spcBef>
                <a:spcPts val="100"/>
              </a:spcBef>
            </a:pPr>
            <a:r>
              <a:rPr sz="2700" spc="97" baseline="-20061" dirty="0">
                <a:cs typeface="Cambria Math"/>
              </a:rPr>
              <a:t>𝐾</a:t>
            </a:r>
            <a:r>
              <a:rPr sz="1300" spc="65" dirty="0">
                <a:cs typeface="Cambria Math"/>
              </a:rPr>
              <a:t>𝑇</a:t>
            </a:r>
            <a:endParaRPr sz="1300">
              <a:cs typeface="Cambria Math"/>
            </a:endParaRPr>
          </a:p>
        </p:txBody>
      </p:sp>
      <p:sp>
        <p:nvSpPr>
          <p:cNvPr id="16" name="object 16"/>
          <p:cNvSpPr txBox="1"/>
          <p:nvPr/>
        </p:nvSpPr>
        <p:spPr>
          <a:xfrm>
            <a:off x="5921059" y="1726631"/>
            <a:ext cx="511809" cy="299720"/>
          </a:xfrm>
          <a:prstGeom prst="rect">
            <a:avLst/>
          </a:prstGeom>
        </p:spPr>
        <p:txBody>
          <a:bodyPr vert="horz" wrap="square" lIns="0" tIns="12700" rIns="0" bIns="0" rtlCol="0">
            <a:spAutoFit/>
          </a:bodyPr>
          <a:lstStyle/>
          <a:p>
            <a:pPr marL="38100">
              <a:lnSpc>
                <a:spcPct val="100000"/>
              </a:lnSpc>
              <a:spcBef>
                <a:spcPts val="100"/>
              </a:spcBef>
            </a:pPr>
            <a:r>
              <a:rPr sz="1800" spc="55" dirty="0">
                <a:cs typeface="Cambria Math"/>
              </a:rPr>
              <a:t>𝑄𝐾</a:t>
            </a:r>
            <a:r>
              <a:rPr sz="1950" spc="82" baseline="27777" dirty="0">
                <a:cs typeface="Cambria Math"/>
              </a:rPr>
              <a:t>𝑇</a:t>
            </a:r>
            <a:endParaRPr sz="1950" baseline="27777">
              <a:cs typeface="Cambria Math"/>
            </a:endParaRPr>
          </a:p>
        </p:txBody>
      </p:sp>
      <p:sp>
        <p:nvSpPr>
          <p:cNvPr id="17" name="object 17"/>
          <p:cNvSpPr txBox="1"/>
          <p:nvPr/>
        </p:nvSpPr>
        <p:spPr>
          <a:xfrm>
            <a:off x="8864155" y="2468116"/>
            <a:ext cx="16891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𝑉</a:t>
            </a:r>
            <a:endParaRPr sz="1800">
              <a:cs typeface="Cambria Math"/>
            </a:endParaRPr>
          </a:p>
        </p:txBody>
      </p:sp>
      <p:sp>
        <p:nvSpPr>
          <p:cNvPr id="18" name="object 18"/>
          <p:cNvSpPr txBox="1"/>
          <p:nvPr/>
        </p:nvSpPr>
        <p:spPr>
          <a:xfrm>
            <a:off x="10483659" y="2463926"/>
            <a:ext cx="1009650" cy="299720"/>
          </a:xfrm>
          <a:prstGeom prst="rect">
            <a:avLst/>
          </a:prstGeom>
        </p:spPr>
        <p:txBody>
          <a:bodyPr vert="horz" wrap="square" lIns="0" tIns="12700" rIns="0" bIns="0" rtlCol="0">
            <a:spAutoFit/>
          </a:bodyPr>
          <a:lstStyle/>
          <a:p>
            <a:pPr marL="12700">
              <a:lnSpc>
                <a:spcPct val="100000"/>
              </a:lnSpc>
              <a:spcBef>
                <a:spcPts val="100"/>
              </a:spcBef>
            </a:pPr>
            <a:r>
              <a:rPr sz="1800" spc="-5" dirty="0">
                <a:cs typeface="Cambria Math"/>
              </a:rPr>
              <a:t>𝐴𝑡</a:t>
            </a:r>
            <a:r>
              <a:rPr sz="1800" spc="-10" dirty="0">
                <a:cs typeface="Cambria Math"/>
              </a:rPr>
              <a:t>𝑡</a:t>
            </a:r>
            <a:r>
              <a:rPr sz="1800" spc="-5" dirty="0">
                <a:cs typeface="Cambria Math"/>
              </a:rPr>
              <a:t>𝑒</a:t>
            </a:r>
            <a:r>
              <a:rPr sz="1800" spc="-10" dirty="0">
                <a:cs typeface="Cambria Math"/>
              </a:rPr>
              <a:t>𝑛</a:t>
            </a:r>
            <a:r>
              <a:rPr sz="1800" dirty="0">
                <a:cs typeface="Cambria Math"/>
              </a:rPr>
              <a:t>𝑡𝑖𝑜𝑛</a:t>
            </a:r>
            <a:endParaRPr sz="1800">
              <a:cs typeface="Cambria Math"/>
            </a:endParaRPr>
          </a:p>
        </p:txBody>
      </p:sp>
      <p:sp>
        <p:nvSpPr>
          <p:cNvPr id="19" name="object 19"/>
          <p:cNvSpPr/>
          <p:nvPr/>
        </p:nvSpPr>
        <p:spPr>
          <a:xfrm>
            <a:off x="8702291" y="5662007"/>
            <a:ext cx="800100" cy="212090"/>
          </a:xfrm>
          <a:custGeom>
            <a:avLst/>
            <a:gdLst/>
            <a:ahLst/>
            <a:cxnLst/>
            <a:rect l="l" t="t" r="r" b="b"/>
            <a:pathLst>
              <a:path w="800100" h="212089">
                <a:moveTo>
                  <a:pt x="732408" y="0"/>
                </a:moveTo>
                <a:lnTo>
                  <a:pt x="729360" y="8597"/>
                </a:lnTo>
                <a:lnTo>
                  <a:pt x="741628" y="13915"/>
                </a:lnTo>
                <a:lnTo>
                  <a:pt x="752157" y="21277"/>
                </a:lnTo>
                <a:lnTo>
                  <a:pt x="773596" y="55406"/>
                </a:lnTo>
                <a:lnTo>
                  <a:pt x="780668" y="104813"/>
                </a:lnTo>
                <a:lnTo>
                  <a:pt x="779883" y="123484"/>
                </a:lnTo>
                <a:lnTo>
                  <a:pt x="768096" y="169214"/>
                </a:lnTo>
                <a:lnTo>
                  <a:pt x="741789" y="197805"/>
                </a:lnTo>
                <a:lnTo>
                  <a:pt x="729741" y="203149"/>
                </a:lnTo>
                <a:lnTo>
                  <a:pt x="732408" y="211747"/>
                </a:lnTo>
                <a:lnTo>
                  <a:pt x="772824" y="187703"/>
                </a:lnTo>
                <a:lnTo>
                  <a:pt x="795591" y="143335"/>
                </a:lnTo>
                <a:lnTo>
                  <a:pt x="799973" y="105930"/>
                </a:lnTo>
                <a:lnTo>
                  <a:pt x="798877" y="86513"/>
                </a:lnTo>
                <a:lnTo>
                  <a:pt x="782447" y="37109"/>
                </a:lnTo>
                <a:lnTo>
                  <a:pt x="747746" y="5541"/>
                </a:lnTo>
                <a:lnTo>
                  <a:pt x="732408" y="0"/>
                </a:lnTo>
                <a:close/>
              </a:path>
              <a:path w="800100" h="212089">
                <a:moveTo>
                  <a:pt x="67563" y="0"/>
                </a:moveTo>
                <a:lnTo>
                  <a:pt x="27112" y="24095"/>
                </a:lnTo>
                <a:lnTo>
                  <a:pt x="4365" y="68572"/>
                </a:lnTo>
                <a:lnTo>
                  <a:pt x="0" y="105930"/>
                </a:lnTo>
                <a:lnTo>
                  <a:pt x="1093" y="125383"/>
                </a:lnTo>
                <a:lnTo>
                  <a:pt x="17399" y="174739"/>
                </a:lnTo>
                <a:lnTo>
                  <a:pt x="52135" y="206205"/>
                </a:lnTo>
                <a:lnTo>
                  <a:pt x="67563" y="211747"/>
                </a:lnTo>
                <a:lnTo>
                  <a:pt x="70230" y="203149"/>
                </a:lnTo>
                <a:lnTo>
                  <a:pt x="58130" y="197805"/>
                </a:lnTo>
                <a:lnTo>
                  <a:pt x="47720" y="190368"/>
                </a:lnTo>
                <a:lnTo>
                  <a:pt x="26376" y="155687"/>
                </a:lnTo>
                <a:lnTo>
                  <a:pt x="19303" y="104813"/>
                </a:lnTo>
                <a:lnTo>
                  <a:pt x="20089" y="86744"/>
                </a:lnTo>
                <a:lnTo>
                  <a:pt x="31876" y="42138"/>
                </a:lnTo>
                <a:lnTo>
                  <a:pt x="58291" y="13915"/>
                </a:lnTo>
                <a:lnTo>
                  <a:pt x="70484" y="8597"/>
                </a:lnTo>
                <a:lnTo>
                  <a:pt x="67563" y="0"/>
                </a:lnTo>
                <a:close/>
              </a:path>
            </a:pathLst>
          </a:custGeom>
          <a:solidFill>
            <a:srgbClr val="000000"/>
          </a:solidFill>
        </p:spPr>
        <p:txBody>
          <a:bodyPr wrap="square" lIns="0" tIns="0" rIns="0" bIns="0" rtlCol="0"/>
          <a:lstStyle/>
          <a:p>
            <a:endParaRPr/>
          </a:p>
        </p:txBody>
      </p:sp>
      <p:sp>
        <p:nvSpPr>
          <p:cNvPr id="20" name="object 20"/>
          <p:cNvSpPr/>
          <p:nvPr/>
        </p:nvSpPr>
        <p:spPr>
          <a:xfrm>
            <a:off x="10655297" y="5429381"/>
            <a:ext cx="693420" cy="675640"/>
          </a:xfrm>
          <a:custGeom>
            <a:avLst/>
            <a:gdLst/>
            <a:ahLst/>
            <a:cxnLst/>
            <a:rect l="l" t="t" r="r" b="b"/>
            <a:pathLst>
              <a:path w="693420" h="675639">
                <a:moveTo>
                  <a:pt x="114173" y="7924"/>
                </a:moveTo>
                <a:lnTo>
                  <a:pt x="62166" y="58623"/>
                </a:lnTo>
                <a:lnTo>
                  <a:pt x="43865" y="94830"/>
                </a:lnTo>
                <a:lnTo>
                  <a:pt x="28321" y="135610"/>
                </a:lnTo>
                <a:lnTo>
                  <a:pt x="15963" y="180543"/>
                </a:lnTo>
                <a:lnTo>
                  <a:pt x="7112" y="229133"/>
                </a:lnTo>
                <a:lnTo>
                  <a:pt x="1778" y="281393"/>
                </a:lnTo>
                <a:lnTo>
                  <a:pt x="0" y="337312"/>
                </a:lnTo>
                <a:lnTo>
                  <a:pt x="1778" y="393636"/>
                </a:lnTo>
                <a:lnTo>
                  <a:pt x="7112" y="446176"/>
                </a:lnTo>
                <a:lnTo>
                  <a:pt x="15963" y="494931"/>
                </a:lnTo>
                <a:lnTo>
                  <a:pt x="28321" y="539902"/>
                </a:lnTo>
                <a:lnTo>
                  <a:pt x="43865" y="580707"/>
                </a:lnTo>
                <a:lnTo>
                  <a:pt x="62166" y="616902"/>
                </a:lnTo>
                <a:lnTo>
                  <a:pt x="107061" y="675525"/>
                </a:lnTo>
                <a:lnTo>
                  <a:pt x="114173" y="667600"/>
                </a:lnTo>
                <a:lnTo>
                  <a:pt x="92976" y="640156"/>
                </a:lnTo>
                <a:lnTo>
                  <a:pt x="74549" y="608368"/>
                </a:lnTo>
                <a:lnTo>
                  <a:pt x="58877" y="572236"/>
                </a:lnTo>
                <a:lnTo>
                  <a:pt x="45974" y="531761"/>
                </a:lnTo>
                <a:lnTo>
                  <a:pt x="35814" y="487641"/>
                </a:lnTo>
                <a:lnTo>
                  <a:pt x="28600" y="440575"/>
                </a:lnTo>
                <a:lnTo>
                  <a:pt x="24282" y="390537"/>
                </a:lnTo>
                <a:lnTo>
                  <a:pt x="22860" y="337312"/>
                </a:lnTo>
                <a:lnTo>
                  <a:pt x="24282" y="284797"/>
                </a:lnTo>
                <a:lnTo>
                  <a:pt x="28600" y="234924"/>
                </a:lnTo>
                <a:lnTo>
                  <a:pt x="35814" y="187934"/>
                </a:lnTo>
                <a:lnTo>
                  <a:pt x="45974" y="143814"/>
                </a:lnTo>
                <a:lnTo>
                  <a:pt x="58877" y="103327"/>
                </a:lnTo>
                <a:lnTo>
                  <a:pt x="74549" y="67183"/>
                </a:lnTo>
                <a:lnTo>
                  <a:pt x="92976" y="35382"/>
                </a:lnTo>
                <a:lnTo>
                  <a:pt x="114173" y="7924"/>
                </a:lnTo>
                <a:close/>
              </a:path>
              <a:path w="693420" h="675639">
                <a:moveTo>
                  <a:pt x="555244" y="387819"/>
                </a:moveTo>
                <a:lnTo>
                  <a:pt x="306832" y="387819"/>
                </a:lnTo>
                <a:lnTo>
                  <a:pt x="306832" y="388569"/>
                </a:lnTo>
                <a:lnTo>
                  <a:pt x="284480" y="388569"/>
                </a:lnTo>
                <a:lnTo>
                  <a:pt x="216789" y="642505"/>
                </a:lnTo>
                <a:lnTo>
                  <a:pt x="178181" y="556336"/>
                </a:lnTo>
                <a:lnTo>
                  <a:pt x="141478" y="573074"/>
                </a:lnTo>
                <a:lnTo>
                  <a:pt x="145034" y="581456"/>
                </a:lnTo>
                <a:lnTo>
                  <a:pt x="163830" y="573074"/>
                </a:lnTo>
                <a:lnTo>
                  <a:pt x="210058" y="672426"/>
                </a:lnTo>
                <a:lnTo>
                  <a:pt x="220853" y="672426"/>
                </a:lnTo>
                <a:lnTo>
                  <a:pt x="293497" y="403415"/>
                </a:lnTo>
                <a:lnTo>
                  <a:pt x="315722" y="403415"/>
                </a:lnTo>
                <a:lnTo>
                  <a:pt x="315722" y="403059"/>
                </a:lnTo>
                <a:lnTo>
                  <a:pt x="555244" y="403059"/>
                </a:lnTo>
                <a:lnTo>
                  <a:pt x="555244" y="387819"/>
                </a:lnTo>
                <a:close/>
              </a:path>
              <a:path w="693420" h="675639">
                <a:moveTo>
                  <a:pt x="572008" y="329907"/>
                </a:moveTo>
                <a:lnTo>
                  <a:pt x="120904" y="329907"/>
                </a:lnTo>
                <a:lnTo>
                  <a:pt x="120904" y="345147"/>
                </a:lnTo>
                <a:lnTo>
                  <a:pt x="572008" y="345147"/>
                </a:lnTo>
                <a:lnTo>
                  <a:pt x="572008" y="329907"/>
                </a:lnTo>
                <a:close/>
              </a:path>
              <a:path w="693420" h="675639">
                <a:moveTo>
                  <a:pt x="693420" y="337312"/>
                </a:moveTo>
                <a:lnTo>
                  <a:pt x="691654" y="281393"/>
                </a:lnTo>
                <a:lnTo>
                  <a:pt x="686346" y="229133"/>
                </a:lnTo>
                <a:lnTo>
                  <a:pt x="677506" y="180543"/>
                </a:lnTo>
                <a:lnTo>
                  <a:pt x="665099" y="135610"/>
                </a:lnTo>
                <a:lnTo>
                  <a:pt x="649592" y="94830"/>
                </a:lnTo>
                <a:lnTo>
                  <a:pt x="631291" y="58623"/>
                </a:lnTo>
                <a:lnTo>
                  <a:pt x="586359" y="0"/>
                </a:lnTo>
                <a:lnTo>
                  <a:pt x="579247" y="7924"/>
                </a:lnTo>
                <a:lnTo>
                  <a:pt x="600430" y="35382"/>
                </a:lnTo>
                <a:lnTo>
                  <a:pt x="618883" y="67183"/>
                </a:lnTo>
                <a:lnTo>
                  <a:pt x="634580" y="103327"/>
                </a:lnTo>
                <a:lnTo>
                  <a:pt x="647573" y="143814"/>
                </a:lnTo>
                <a:lnTo>
                  <a:pt x="657656" y="187934"/>
                </a:lnTo>
                <a:lnTo>
                  <a:pt x="664883" y="234924"/>
                </a:lnTo>
                <a:lnTo>
                  <a:pt x="669226" y="284797"/>
                </a:lnTo>
                <a:lnTo>
                  <a:pt x="670687" y="337540"/>
                </a:lnTo>
                <a:lnTo>
                  <a:pt x="669226" y="390537"/>
                </a:lnTo>
                <a:lnTo>
                  <a:pt x="664883" y="440575"/>
                </a:lnTo>
                <a:lnTo>
                  <a:pt x="657656" y="487641"/>
                </a:lnTo>
                <a:lnTo>
                  <a:pt x="647573" y="531761"/>
                </a:lnTo>
                <a:lnTo>
                  <a:pt x="634580" y="572236"/>
                </a:lnTo>
                <a:lnTo>
                  <a:pt x="618883" y="608368"/>
                </a:lnTo>
                <a:lnTo>
                  <a:pt x="579247" y="667600"/>
                </a:lnTo>
                <a:lnTo>
                  <a:pt x="586359" y="675525"/>
                </a:lnTo>
                <a:lnTo>
                  <a:pt x="631291" y="616902"/>
                </a:lnTo>
                <a:lnTo>
                  <a:pt x="649592" y="580707"/>
                </a:lnTo>
                <a:lnTo>
                  <a:pt x="665099" y="539902"/>
                </a:lnTo>
                <a:lnTo>
                  <a:pt x="677506" y="494931"/>
                </a:lnTo>
                <a:lnTo>
                  <a:pt x="686346" y="446176"/>
                </a:lnTo>
                <a:lnTo>
                  <a:pt x="691654" y="393636"/>
                </a:lnTo>
                <a:lnTo>
                  <a:pt x="693420" y="337312"/>
                </a:lnTo>
                <a:close/>
              </a:path>
            </a:pathLst>
          </a:custGeom>
          <a:solidFill>
            <a:srgbClr val="000000"/>
          </a:solidFill>
        </p:spPr>
        <p:txBody>
          <a:bodyPr wrap="square" lIns="0" tIns="0" rIns="0" bIns="0" rtlCol="0"/>
          <a:lstStyle/>
          <a:p>
            <a:endParaRPr/>
          </a:p>
        </p:txBody>
      </p:sp>
      <p:sp>
        <p:nvSpPr>
          <p:cNvPr id="21" name="object 21"/>
          <p:cNvSpPr txBox="1"/>
          <p:nvPr/>
        </p:nvSpPr>
        <p:spPr>
          <a:xfrm>
            <a:off x="1212255" y="4976688"/>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(3,</a:t>
            </a:r>
            <a:r>
              <a:rPr sz="1000" spc="-60" dirty="0">
                <a:cs typeface="Tahoma"/>
              </a:rPr>
              <a:t> </a:t>
            </a:r>
            <a:r>
              <a:rPr sz="1000" spc="25" dirty="0">
                <a:cs typeface="Tahoma"/>
              </a:rPr>
              <a:t>4096</a:t>
            </a:r>
            <a:r>
              <a:rPr sz="1000" spc="-85" dirty="0">
                <a:cs typeface="Tahoma"/>
              </a:rPr>
              <a:t>)</a:t>
            </a:r>
            <a:endParaRPr sz="1000">
              <a:cs typeface="Tahoma"/>
            </a:endParaRPr>
          </a:p>
        </p:txBody>
      </p:sp>
      <p:sp>
        <p:nvSpPr>
          <p:cNvPr id="25" name="object 25"/>
          <p:cNvSpPr txBox="1"/>
          <p:nvPr/>
        </p:nvSpPr>
        <p:spPr>
          <a:xfrm>
            <a:off x="10765025" y="5432743"/>
            <a:ext cx="462280" cy="661720"/>
          </a:xfrm>
          <a:prstGeom prst="rect">
            <a:avLst/>
          </a:prstGeom>
        </p:spPr>
        <p:txBody>
          <a:bodyPr vert="horz" wrap="square" lIns="0" tIns="0" rIns="0" bIns="0" rtlCol="0">
            <a:spAutoFit/>
          </a:bodyPr>
          <a:lstStyle/>
          <a:p>
            <a:pPr marR="5080" algn="r">
              <a:lnSpc>
                <a:spcPts val="2150"/>
              </a:lnSpc>
            </a:pPr>
            <a:r>
              <a:rPr sz="1800" spc="50" dirty="0">
                <a:cs typeface="Cambria Math"/>
              </a:rPr>
              <a:t>𝑄</a:t>
            </a:r>
            <a:r>
              <a:rPr sz="1800" spc="95" dirty="0">
                <a:cs typeface="Cambria Math"/>
              </a:rPr>
              <a:t>𝐾</a:t>
            </a:r>
            <a:r>
              <a:rPr sz="1950" spc="89" baseline="27777" dirty="0">
                <a:cs typeface="Cambria Math"/>
              </a:rPr>
              <a:t>𝑇</a:t>
            </a:r>
            <a:endParaRPr sz="1950" baseline="27777">
              <a:cs typeface="Cambria Math"/>
            </a:endParaRPr>
          </a:p>
          <a:p>
            <a:pPr marR="21590" algn="r">
              <a:lnSpc>
                <a:spcPct val="100000"/>
              </a:lnSpc>
              <a:spcBef>
                <a:spcPts val="765"/>
              </a:spcBef>
            </a:pPr>
            <a:r>
              <a:rPr sz="1800" spc="40" dirty="0">
                <a:cs typeface="Cambria Math"/>
              </a:rPr>
              <a:t>𝑑</a:t>
            </a:r>
            <a:r>
              <a:rPr sz="1950" spc="60" baseline="-14957" dirty="0">
                <a:cs typeface="Cambria Math"/>
              </a:rPr>
              <a:t>𝑘</a:t>
            </a:r>
            <a:endParaRPr sz="1950" baseline="-14957">
              <a:cs typeface="Cambria Math"/>
            </a:endParaRPr>
          </a:p>
        </p:txBody>
      </p:sp>
      <p:sp>
        <p:nvSpPr>
          <p:cNvPr id="26" name="object 26"/>
          <p:cNvSpPr txBox="1"/>
          <p:nvPr/>
        </p:nvSpPr>
        <p:spPr>
          <a:xfrm>
            <a:off x="7678290" y="5642823"/>
            <a:ext cx="1894713" cy="243656"/>
          </a:xfrm>
          <a:prstGeom prst="rect">
            <a:avLst/>
          </a:prstGeom>
        </p:spPr>
        <p:txBody>
          <a:bodyPr vert="horz" wrap="square" lIns="0" tIns="0" rIns="0" bIns="0" rtlCol="0">
            <a:spAutoFit/>
          </a:bodyPr>
          <a:lstStyle/>
          <a:p>
            <a:pPr marL="12700">
              <a:lnSpc>
                <a:spcPts val="1860"/>
              </a:lnSpc>
            </a:pPr>
            <a:r>
              <a:rPr sz="1800" spc="-5" dirty="0">
                <a:cs typeface="Cambria Math"/>
              </a:rPr>
              <a:t>𝐴𝑡</a:t>
            </a:r>
            <a:r>
              <a:rPr sz="1800" spc="-10" dirty="0">
                <a:cs typeface="Cambria Math"/>
              </a:rPr>
              <a:t>𝑡</a:t>
            </a:r>
            <a:r>
              <a:rPr sz="1800" spc="-5" dirty="0">
                <a:cs typeface="Cambria Math"/>
              </a:rPr>
              <a:t>𝑒</a:t>
            </a:r>
            <a:r>
              <a:rPr sz="1800" spc="-10" dirty="0">
                <a:cs typeface="Cambria Math"/>
              </a:rPr>
              <a:t>𝑛</a:t>
            </a:r>
            <a:r>
              <a:rPr sz="1800" spc="5" dirty="0">
                <a:cs typeface="Cambria Math"/>
              </a:rPr>
              <a:t>𝑡</a:t>
            </a:r>
            <a:r>
              <a:rPr sz="1800" dirty="0">
                <a:cs typeface="Cambria Math"/>
              </a:rPr>
              <a:t>𝑖𝑜𝑛 </a:t>
            </a:r>
            <a:r>
              <a:rPr sz="1800" spc="5" dirty="0">
                <a:cs typeface="Cambria Math"/>
              </a:rPr>
              <a:t> </a:t>
            </a:r>
            <a:r>
              <a:rPr sz="1800" spc="40" dirty="0">
                <a:cs typeface="Cambria Math"/>
              </a:rPr>
              <a:t>𝑄</a:t>
            </a:r>
            <a:r>
              <a:rPr sz="1800" dirty="0">
                <a:cs typeface="Cambria Math"/>
              </a:rPr>
              <a:t>,</a:t>
            </a:r>
            <a:r>
              <a:rPr sz="1800" spc="-85" dirty="0">
                <a:cs typeface="Cambria Math"/>
              </a:rPr>
              <a:t> </a:t>
            </a:r>
            <a:r>
              <a:rPr sz="1800" spc="50" dirty="0">
                <a:cs typeface="Cambria Math"/>
              </a:rPr>
              <a:t>𝐾</a:t>
            </a:r>
            <a:r>
              <a:rPr sz="1800" dirty="0">
                <a:cs typeface="Cambria Math"/>
              </a:rPr>
              <a:t>,</a:t>
            </a:r>
            <a:r>
              <a:rPr sz="1800" spc="-85" dirty="0">
                <a:cs typeface="Cambria Math"/>
              </a:rPr>
              <a:t> </a:t>
            </a:r>
            <a:r>
              <a:rPr sz="1800" dirty="0">
                <a:cs typeface="Cambria Math"/>
              </a:rPr>
              <a:t>𝑉</a:t>
            </a:r>
          </a:p>
        </p:txBody>
      </p:sp>
      <p:sp>
        <p:nvSpPr>
          <p:cNvPr id="27" name="object 27"/>
          <p:cNvSpPr txBox="1"/>
          <p:nvPr/>
        </p:nvSpPr>
        <p:spPr>
          <a:xfrm>
            <a:off x="9573003" y="5642823"/>
            <a:ext cx="1038860" cy="243656"/>
          </a:xfrm>
          <a:prstGeom prst="rect">
            <a:avLst/>
          </a:prstGeom>
        </p:spPr>
        <p:txBody>
          <a:bodyPr vert="horz" wrap="square" lIns="0" tIns="0" rIns="0" bIns="0" rtlCol="0">
            <a:spAutoFit/>
          </a:bodyPr>
          <a:lstStyle/>
          <a:p>
            <a:pPr marL="12700">
              <a:lnSpc>
                <a:spcPts val="1860"/>
              </a:lnSpc>
            </a:pPr>
            <a:r>
              <a:rPr sz="1800" dirty="0">
                <a:cs typeface="Cambria Math"/>
              </a:rPr>
              <a:t>=</a:t>
            </a:r>
            <a:r>
              <a:rPr sz="1800" spc="45" dirty="0">
                <a:cs typeface="Cambria Math"/>
              </a:rPr>
              <a:t> </a:t>
            </a:r>
            <a:r>
              <a:rPr sz="1800" spc="-5" dirty="0">
                <a:cs typeface="Cambria Math"/>
              </a:rPr>
              <a:t>softmax</a:t>
            </a:r>
            <a:endParaRPr sz="1800">
              <a:cs typeface="Cambria Math"/>
            </a:endParaRPr>
          </a:p>
        </p:txBody>
      </p:sp>
      <p:sp>
        <p:nvSpPr>
          <p:cNvPr id="28" name="object 28"/>
          <p:cNvSpPr txBox="1"/>
          <p:nvPr/>
        </p:nvSpPr>
        <p:spPr>
          <a:xfrm>
            <a:off x="11392913" y="5642823"/>
            <a:ext cx="168910" cy="243656"/>
          </a:xfrm>
          <a:prstGeom prst="rect">
            <a:avLst/>
          </a:prstGeom>
        </p:spPr>
        <p:txBody>
          <a:bodyPr vert="horz" wrap="square" lIns="0" tIns="0" rIns="0" bIns="0" rtlCol="0">
            <a:spAutoFit/>
          </a:bodyPr>
          <a:lstStyle/>
          <a:p>
            <a:pPr marL="12700">
              <a:lnSpc>
                <a:spcPts val="1860"/>
              </a:lnSpc>
            </a:pPr>
            <a:r>
              <a:rPr sz="1800" dirty="0">
                <a:cs typeface="Cambria Math"/>
              </a:rPr>
              <a:t>𝑉</a:t>
            </a:r>
            <a:endParaRPr sz="1800">
              <a:cs typeface="Cambria Math"/>
            </a:endParaRPr>
          </a:p>
        </p:txBody>
      </p:sp>
      <p:sp>
        <p:nvSpPr>
          <p:cNvPr id="30" name="object 30"/>
          <p:cNvSpPr txBox="1"/>
          <p:nvPr/>
        </p:nvSpPr>
        <p:spPr>
          <a:xfrm>
            <a:off x="6026215" y="5855294"/>
            <a:ext cx="313690" cy="161583"/>
          </a:xfrm>
          <a:prstGeom prst="rect">
            <a:avLst/>
          </a:prstGeom>
        </p:spPr>
        <p:txBody>
          <a:bodyPr vert="horz" wrap="square" lIns="0" tIns="7620" rIns="0" bIns="0" rtlCol="0">
            <a:spAutoFit/>
          </a:bodyPr>
          <a:lstStyle/>
          <a:p>
            <a:pPr marL="12700">
              <a:lnSpc>
                <a:spcPct val="100000"/>
              </a:lnSpc>
              <a:spcBef>
                <a:spcPts val="60"/>
              </a:spcBef>
            </a:pPr>
            <a:r>
              <a:rPr sz="1000" spc="-35" dirty="0">
                <a:cs typeface="Tahoma"/>
              </a:rPr>
              <a:t>(3,</a:t>
            </a:r>
            <a:r>
              <a:rPr sz="1000" spc="-60" dirty="0">
                <a:cs typeface="Tahoma"/>
              </a:rPr>
              <a:t> </a:t>
            </a:r>
            <a:r>
              <a:rPr sz="1000" spc="-35" dirty="0">
                <a:cs typeface="Tahoma"/>
              </a:rPr>
              <a:t>3)</a:t>
            </a:r>
            <a:endParaRPr sz="1000">
              <a:cs typeface="Tahoma"/>
            </a:endParaRPr>
          </a:p>
        </p:txBody>
      </p:sp>
      <p:sp>
        <p:nvSpPr>
          <p:cNvPr id="22" name="object 22"/>
          <p:cNvSpPr txBox="1"/>
          <p:nvPr/>
        </p:nvSpPr>
        <p:spPr>
          <a:xfrm>
            <a:off x="3331783" y="4976688"/>
            <a:ext cx="531495" cy="166071"/>
          </a:xfrm>
          <a:prstGeom prst="rect">
            <a:avLst/>
          </a:prstGeom>
        </p:spPr>
        <p:txBody>
          <a:bodyPr vert="horz" wrap="square" lIns="0" tIns="12065" rIns="0" bIns="0" rtlCol="0">
            <a:spAutoFit/>
          </a:bodyPr>
          <a:lstStyle/>
          <a:p>
            <a:pPr marL="12700">
              <a:lnSpc>
                <a:spcPct val="100000"/>
              </a:lnSpc>
              <a:spcBef>
                <a:spcPts val="95"/>
              </a:spcBef>
            </a:pPr>
            <a:r>
              <a:rPr sz="1000" dirty="0">
                <a:cs typeface="Tahoma"/>
              </a:rPr>
              <a:t>(40</a:t>
            </a:r>
            <a:r>
              <a:rPr sz="1000" spc="-5" dirty="0">
                <a:cs typeface="Tahoma"/>
              </a:rPr>
              <a:t>9</a:t>
            </a:r>
            <a:r>
              <a:rPr sz="1000" spc="-15" dirty="0">
                <a:cs typeface="Tahoma"/>
              </a:rPr>
              <a:t>6</a:t>
            </a:r>
            <a:r>
              <a:rPr sz="1000" spc="-5" dirty="0">
                <a:cs typeface="Tahoma"/>
              </a:rPr>
              <a:t>,</a:t>
            </a:r>
            <a:r>
              <a:rPr sz="1000" spc="-75" dirty="0">
                <a:cs typeface="Tahoma"/>
              </a:rPr>
              <a:t> </a:t>
            </a:r>
            <a:r>
              <a:rPr sz="1000" spc="-35" dirty="0">
                <a:cs typeface="Tahoma"/>
              </a:rPr>
              <a:t>3)</a:t>
            </a:r>
            <a:endParaRPr sz="1000">
              <a:cs typeface="Tahoma"/>
            </a:endParaRPr>
          </a:p>
        </p:txBody>
      </p:sp>
      <p:sp>
        <p:nvSpPr>
          <p:cNvPr id="23" name="object 23"/>
          <p:cNvSpPr txBox="1"/>
          <p:nvPr/>
        </p:nvSpPr>
        <p:spPr>
          <a:xfrm>
            <a:off x="8683434" y="5171692"/>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(3,</a:t>
            </a:r>
            <a:r>
              <a:rPr sz="1000" spc="-60" dirty="0">
                <a:cs typeface="Tahoma"/>
              </a:rPr>
              <a:t> </a:t>
            </a:r>
            <a:r>
              <a:rPr sz="1000" spc="25" dirty="0">
                <a:cs typeface="Tahoma"/>
              </a:rPr>
              <a:t>4096</a:t>
            </a:r>
            <a:r>
              <a:rPr sz="1000" spc="-85" dirty="0">
                <a:cs typeface="Tahoma"/>
              </a:rPr>
              <a:t>)</a:t>
            </a:r>
            <a:endParaRPr sz="1000">
              <a:cs typeface="Tahoma"/>
            </a:endParaRPr>
          </a:p>
        </p:txBody>
      </p:sp>
      <p:sp>
        <p:nvSpPr>
          <p:cNvPr id="24" name="object 24"/>
          <p:cNvSpPr txBox="1"/>
          <p:nvPr/>
        </p:nvSpPr>
        <p:spPr>
          <a:xfrm>
            <a:off x="10722928" y="5169534"/>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(3,</a:t>
            </a:r>
            <a:r>
              <a:rPr sz="1000" spc="-60" dirty="0">
                <a:cs typeface="Tahoma"/>
              </a:rPr>
              <a:t> </a:t>
            </a:r>
            <a:r>
              <a:rPr sz="1000" spc="25" dirty="0">
                <a:cs typeface="Tahoma"/>
              </a:rPr>
              <a:t>4096</a:t>
            </a:r>
            <a:r>
              <a:rPr sz="1000" spc="-85" dirty="0">
                <a:cs typeface="Tahoma"/>
              </a:rPr>
              <a:t>)</a:t>
            </a:r>
            <a:endParaRPr sz="1000">
              <a:cs typeface="Tahoma"/>
            </a:endParaRPr>
          </a:p>
        </p:txBody>
      </p:sp>
      <p:sp>
        <p:nvSpPr>
          <p:cNvPr id="33" name="Title 1">
            <a:extLst>
              <a:ext uri="{FF2B5EF4-FFF2-40B4-BE49-F238E27FC236}">
                <a16:creationId xmlns:a16="http://schemas.microsoft.com/office/drawing/2014/main" id="{4BF73A45-E25A-945F-0337-0287A37A3A25}"/>
              </a:ext>
            </a:extLst>
          </p:cNvPr>
          <p:cNvSpPr txBox="1">
            <a:spLocks/>
          </p:cNvSpPr>
          <p:nvPr/>
        </p:nvSpPr>
        <p:spPr>
          <a:xfrm>
            <a:off x="669552" y="594335"/>
            <a:ext cx="10863635" cy="639153"/>
          </a:xfrm>
          <a:prstGeom prst="rect">
            <a:avLst/>
          </a:prstGeom>
        </p:spPr>
        <p:txBody>
          <a:bodyPr vert="horz" lIns="0" tIns="0" rIns="0" bIns="0" rtlCol="0" anchor="ctr">
            <a:normAutofit fontScale="97500"/>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pPr marL="12700">
              <a:lnSpc>
                <a:spcPct val="100000"/>
              </a:lnSpc>
              <a:spcBef>
                <a:spcPts val="105"/>
              </a:spcBef>
            </a:pPr>
            <a:r>
              <a:rPr lang="en-IN" sz="3600" spc="10" dirty="0">
                <a:solidFill>
                  <a:srgbClr val="FF0000"/>
                </a:solidFill>
                <a:latin typeface="+mn-lt"/>
                <a:cs typeface="Tahoma"/>
              </a:rPr>
              <a:t>Inference</a:t>
            </a:r>
            <a:r>
              <a:rPr lang="en-IN" sz="3600" dirty="0">
                <a:latin typeface="+mn-lt"/>
                <a:cs typeface="Tahoma"/>
              </a:rPr>
              <a:t> </a:t>
            </a:r>
            <a:r>
              <a:rPr lang="en-IN" sz="3600" spc="-30" dirty="0">
                <a:solidFill>
                  <a:srgbClr val="FF0000"/>
                </a:solidFill>
                <a:latin typeface="+mn-lt"/>
                <a:cs typeface="Tahoma"/>
              </a:rPr>
              <a:t>T</a:t>
            </a:r>
            <a:r>
              <a:rPr lang="en-IN" sz="3600" spc="-185" dirty="0">
                <a:solidFill>
                  <a:srgbClr val="FF0000"/>
                </a:solidFill>
                <a:latin typeface="+mn-lt"/>
                <a:cs typeface="Tahoma"/>
              </a:rPr>
              <a:t> </a:t>
            </a:r>
            <a:r>
              <a:rPr lang="en-IN" sz="3600" spc="-125" dirty="0">
                <a:solidFill>
                  <a:srgbClr val="FF0000"/>
                </a:solidFill>
                <a:latin typeface="+mn-lt"/>
                <a:cs typeface="Tahoma"/>
              </a:rPr>
              <a:t>=</a:t>
            </a:r>
            <a:r>
              <a:rPr lang="en-IN" sz="3600" spc="-114" dirty="0">
                <a:solidFill>
                  <a:srgbClr val="FF0000"/>
                </a:solidFill>
                <a:latin typeface="+mn-lt"/>
                <a:cs typeface="Tahoma"/>
              </a:rPr>
              <a:t> </a:t>
            </a:r>
            <a:r>
              <a:rPr lang="en-IN" sz="3600" spc="70" dirty="0">
                <a:solidFill>
                  <a:srgbClr val="FF0000"/>
                </a:solidFill>
                <a:latin typeface="+mn-lt"/>
                <a:cs typeface="Tahoma"/>
              </a:rPr>
              <a:t>3</a:t>
            </a:r>
            <a:endParaRPr lang="en-IN" sz="3600" dirty="0">
              <a:latin typeface="+mn-lt"/>
              <a:cs typeface="Tahom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2847378878"/>
              </p:ext>
            </p:extLst>
          </p:nvPr>
        </p:nvGraphicFramePr>
        <p:xfrm>
          <a:off x="947774" y="2824657"/>
          <a:ext cx="1097280" cy="1920239"/>
        </p:xfrm>
        <a:graphic>
          <a:graphicData uri="http://schemas.openxmlformats.org/drawingml/2006/table">
            <a:tbl>
              <a:tblPr firstRow="1" bandRow="1">
                <a:tableStyleId>{2D5ABB26-0587-4C30-8999-92F81FD0307C}</a:tableStyleId>
              </a:tblPr>
              <a:tblGrid>
                <a:gridCol w="1097280">
                  <a:extLst>
                    <a:ext uri="{9D8B030D-6E8A-4147-A177-3AD203B41FA5}">
                      <a16:colId xmlns:a16="http://schemas.microsoft.com/office/drawing/2014/main" val="20000"/>
                    </a:ext>
                  </a:extLst>
                </a:gridCol>
              </a:tblGrid>
              <a:tr h="213360">
                <a:tc>
                  <a:txBody>
                    <a:bodyPr/>
                    <a:lstStyle/>
                    <a:p>
                      <a:pPr marL="91440">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1</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0"/>
                  </a:ext>
                </a:extLst>
              </a:tr>
              <a:tr h="213359">
                <a:tc>
                  <a:txBody>
                    <a:bodyPr/>
                    <a:lstStyle/>
                    <a:p>
                      <a:pPr marL="91440">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2</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1"/>
                  </a:ext>
                </a:extLst>
              </a:tr>
              <a:tr h="213360">
                <a:tc>
                  <a:txBody>
                    <a:bodyPr/>
                    <a:lstStyle/>
                    <a:p>
                      <a:pPr marL="91440">
                        <a:lnSpc>
                          <a:spcPct val="100000"/>
                        </a:lnSpc>
                        <a:spcBef>
                          <a:spcPts val="330"/>
                        </a:spcBef>
                      </a:pPr>
                      <a:r>
                        <a:rPr sz="800" spc="-5" dirty="0">
                          <a:latin typeface="Tahoma"/>
                          <a:cs typeface="Tahoma"/>
                        </a:rPr>
                        <a:t>TOK</a:t>
                      </a:r>
                      <a:r>
                        <a:rPr sz="800" dirty="0">
                          <a:latin typeface="Tahoma"/>
                          <a:cs typeface="Tahoma"/>
                        </a:rPr>
                        <a:t>EN</a:t>
                      </a:r>
                      <a:r>
                        <a:rPr sz="800" spc="-75" dirty="0">
                          <a:latin typeface="Tahoma"/>
                          <a:cs typeface="Tahoma"/>
                        </a:rPr>
                        <a:t> </a:t>
                      </a:r>
                      <a:r>
                        <a:rPr sz="800" dirty="0">
                          <a:latin typeface="Tahoma"/>
                          <a:cs typeface="Tahoma"/>
                        </a:rPr>
                        <a:t>3</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2"/>
                  </a:ext>
                </a:extLst>
              </a:tr>
              <a:tr h="213360">
                <a:tc>
                  <a:txBody>
                    <a:bodyPr/>
                    <a:lstStyle/>
                    <a:p>
                      <a:pPr marL="91440">
                        <a:lnSpc>
                          <a:spcPct val="100000"/>
                        </a:lnSpc>
                        <a:spcBef>
                          <a:spcPts val="335"/>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4</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3"/>
                  </a:ext>
                </a:extLst>
              </a:tr>
              <a:tr h="1066800">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000000"/>
                      </a:solidFill>
                      <a:prstDash val="solid"/>
                    </a:lnT>
                    <a:lnB w="12700">
                      <a:solidFill>
                        <a:srgbClr val="FFFFFF"/>
                      </a:solidFill>
                      <a:prstDash val="solid"/>
                    </a:lnB>
                  </a:tcPr>
                </a:tc>
                <a:extLst>
                  <a:ext uri="{0D108BD9-81ED-4DB2-BD59-A6C34878D82A}">
                    <a16:rowId xmlns:a16="http://schemas.microsoft.com/office/drawing/2014/main" val="10004"/>
                  </a:ext>
                </a:extLst>
              </a:tr>
            </a:tbl>
          </a:graphicData>
        </a:graphic>
      </p:graphicFrame>
      <p:graphicFrame>
        <p:nvGraphicFramePr>
          <p:cNvPr id="4" name="object 4"/>
          <p:cNvGraphicFramePr>
            <a:graphicFrameLocks noGrp="1"/>
          </p:cNvGraphicFramePr>
          <p:nvPr>
            <p:extLst>
              <p:ext uri="{D42A27DB-BD31-4B8C-83A1-F6EECF244321}">
                <p14:modId xmlns:p14="http://schemas.microsoft.com/office/powerpoint/2010/main" val="3035462216"/>
              </p:ext>
            </p:extLst>
          </p:nvPr>
        </p:nvGraphicFramePr>
        <p:xfrm>
          <a:off x="2678428" y="3027602"/>
          <a:ext cx="1880866" cy="1514348"/>
        </p:xfrm>
        <a:graphic>
          <a:graphicData uri="http://schemas.openxmlformats.org/drawingml/2006/table">
            <a:tbl>
              <a:tblPr firstRow="1" bandRow="1">
                <a:tableStyleId>{2D5ABB26-0587-4C30-8999-92F81FD0307C}</a:tableStyleId>
              </a:tblPr>
              <a:tblGrid>
                <a:gridCol w="208279">
                  <a:extLst>
                    <a:ext uri="{9D8B030D-6E8A-4147-A177-3AD203B41FA5}">
                      <a16:colId xmlns:a16="http://schemas.microsoft.com/office/drawing/2014/main" val="20000"/>
                    </a:ext>
                  </a:extLst>
                </a:gridCol>
                <a:gridCol w="208279">
                  <a:extLst>
                    <a:ext uri="{9D8B030D-6E8A-4147-A177-3AD203B41FA5}">
                      <a16:colId xmlns:a16="http://schemas.microsoft.com/office/drawing/2014/main" val="20001"/>
                    </a:ext>
                  </a:extLst>
                </a:gridCol>
                <a:gridCol w="208279">
                  <a:extLst>
                    <a:ext uri="{9D8B030D-6E8A-4147-A177-3AD203B41FA5}">
                      <a16:colId xmlns:a16="http://schemas.microsoft.com/office/drawing/2014/main" val="20002"/>
                    </a:ext>
                  </a:extLst>
                </a:gridCol>
                <a:gridCol w="208279">
                  <a:extLst>
                    <a:ext uri="{9D8B030D-6E8A-4147-A177-3AD203B41FA5}">
                      <a16:colId xmlns:a16="http://schemas.microsoft.com/office/drawing/2014/main" val="20003"/>
                    </a:ext>
                  </a:extLst>
                </a:gridCol>
                <a:gridCol w="1047750">
                  <a:extLst>
                    <a:ext uri="{9D8B030D-6E8A-4147-A177-3AD203B41FA5}">
                      <a16:colId xmlns:a16="http://schemas.microsoft.com/office/drawing/2014/main" val="20004"/>
                    </a:ext>
                  </a:extLst>
                </a:gridCol>
              </a:tblGrid>
              <a:tr h="1514348">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1</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2</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3</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4</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0"/>
                  </a:ext>
                </a:extLst>
              </a:tr>
            </a:tbl>
          </a:graphicData>
        </a:graphic>
      </p:graphicFrame>
      <p:sp>
        <p:nvSpPr>
          <p:cNvPr id="5" name="object 5"/>
          <p:cNvSpPr txBox="1"/>
          <p:nvPr/>
        </p:nvSpPr>
        <p:spPr>
          <a:xfrm>
            <a:off x="2278378" y="3491533"/>
            <a:ext cx="17335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𝑋</a:t>
            </a:r>
            <a:endParaRPr sz="1800">
              <a:cs typeface="Cambria Math"/>
            </a:endParaRPr>
          </a:p>
        </p:txBody>
      </p:sp>
      <p:sp>
        <p:nvSpPr>
          <p:cNvPr id="6" name="object 6"/>
          <p:cNvSpPr txBox="1"/>
          <p:nvPr/>
        </p:nvSpPr>
        <p:spPr>
          <a:xfrm>
            <a:off x="4786628" y="3491533"/>
            <a:ext cx="19621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a:t>
            </a:r>
            <a:endParaRPr sz="1800">
              <a:cs typeface="Cambria Math"/>
            </a:endParaRPr>
          </a:p>
        </p:txBody>
      </p:sp>
      <p:graphicFrame>
        <p:nvGraphicFramePr>
          <p:cNvPr id="7" name="object 7"/>
          <p:cNvGraphicFramePr>
            <a:graphicFrameLocks noGrp="1"/>
          </p:cNvGraphicFramePr>
          <p:nvPr>
            <p:extLst>
              <p:ext uri="{D42A27DB-BD31-4B8C-83A1-F6EECF244321}">
                <p14:modId xmlns:p14="http://schemas.microsoft.com/office/powerpoint/2010/main" val="1926512847"/>
              </p:ext>
            </p:extLst>
          </p:nvPr>
        </p:nvGraphicFramePr>
        <p:xfrm>
          <a:off x="5204839" y="2138857"/>
          <a:ext cx="1988816" cy="3410061"/>
        </p:xfrm>
        <a:graphic>
          <a:graphicData uri="http://schemas.openxmlformats.org/drawingml/2006/table">
            <a:tbl>
              <a:tblPr firstRow="1" bandRow="1">
                <a:tableStyleId>{2D5ABB26-0587-4C30-8999-92F81FD0307C}</a:tableStyleId>
              </a:tblPr>
              <a:tblGrid>
                <a:gridCol w="208279">
                  <a:extLst>
                    <a:ext uri="{9D8B030D-6E8A-4147-A177-3AD203B41FA5}">
                      <a16:colId xmlns:a16="http://schemas.microsoft.com/office/drawing/2014/main" val="20000"/>
                    </a:ext>
                  </a:extLst>
                </a:gridCol>
                <a:gridCol w="233679">
                  <a:extLst>
                    <a:ext uri="{9D8B030D-6E8A-4147-A177-3AD203B41FA5}">
                      <a16:colId xmlns:a16="http://schemas.microsoft.com/office/drawing/2014/main" val="20001"/>
                    </a:ext>
                  </a:extLst>
                </a:gridCol>
                <a:gridCol w="220979">
                  <a:extLst>
                    <a:ext uri="{9D8B030D-6E8A-4147-A177-3AD203B41FA5}">
                      <a16:colId xmlns:a16="http://schemas.microsoft.com/office/drawing/2014/main" val="20002"/>
                    </a:ext>
                  </a:extLst>
                </a:gridCol>
                <a:gridCol w="220979">
                  <a:extLst>
                    <a:ext uri="{9D8B030D-6E8A-4147-A177-3AD203B41FA5}">
                      <a16:colId xmlns:a16="http://schemas.microsoft.com/office/drawing/2014/main" val="20003"/>
                    </a:ext>
                  </a:extLst>
                </a:gridCol>
                <a:gridCol w="1104900">
                  <a:extLst>
                    <a:ext uri="{9D8B030D-6E8A-4147-A177-3AD203B41FA5}">
                      <a16:colId xmlns:a16="http://schemas.microsoft.com/office/drawing/2014/main" val="20004"/>
                    </a:ext>
                  </a:extLst>
                </a:gridCol>
              </a:tblGrid>
              <a:tr h="396239">
                <a:tc>
                  <a:txBody>
                    <a:bodyPr/>
                    <a:lstStyle/>
                    <a:p>
                      <a:pPr marL="92075" marR="78740" indent="-635" algn="ctr">
                        <a:lnSpc>
                          <a:spcPct val="100000"/>
                        </a:lnSpc>
                        <a:spcBef>
                          <a:spcPts val="345"/>
                        </a:spcBef>
                      </a:pPr>
                      <a:r>
                        <a:rPr sz="400" dirty="0">
                          <a:latin typeface="Tahoma"/>
                          <a:cs typeface="Tahoma"/>
                        </a:rPr>
                        <a:t>T  1</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104775" indent="-635" algn="ctr">
                        <a:lnSpc>
                          <a:spcPct val="100000"/>
                        </a:lnSpc>
                        <a:spcBef>
                          <a:spcPts val="345"/>
                        </a:spcBef>
                      </a:pPr>
                      <a:r>
                        <a:rPr sz="400" dirty="0">
                          <a:latin typeface="Tahoma"/>
                          <a:cs typeface="Tahoma"/>
                        </a:rPr>
                        <a:t>T  1</a:t>
                      </a:r>
                      <a:endParaRPr sz="400">
                        <a:latin typeface="Tahoma"/>
                        <a:cs typeface="Tahoma"/>
                      </a:endParaRPr>
                    </a:p>
                    <a:p>
                      <a:pPr marL="92075" marR="104775" algn="just">
                        <a:lnSpc>
                          <a:spcPct val="100000"/>
                        </a:lnSpc>
                      </a:pPr>
                      <a:r>
                        <a:rPr sz="400" dirty="0">
                          <a:latin typeface="Tahoma"/>
                          <a:cs typeface="Tahoma"/>
                        </a:rPr>
                        <a:t>-  T  2</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3</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4</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0"/>
                  </a:ext>
                </a:extLst>
              </a:tr>
              <a:tr h="396239">
                <a:tc>
                  <a:txBody>
                    <a:bodyPr/>
                    <a:lstStyle/>
                    <a:p>
                      <a:pPr marL="92075" marR="78740" indent="-635" algn="ctr">
                        <a:lnSpc>
                          <a:spcPct val="100000"/>
                        </a:lnSpc>
                        <a:spcBef>
                          <a:spcPts val="345"/>
                        </a:spcBef>
                      </a:pPr>
                      <a:r>
                        <a:rPr sz="400" dirty="0">
                          <a:latin typeface="Tahoma"/>
                          <a:cs typeface="Tahoma"/>
                        </a:rPr>
                        <a:t>T  2</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104775" indent="-635" algn="ctr">
                        <a:lnSpc>
                          <a:spcPct val="100000"/>
                        </a:lnSpc>
                        <a:spcBef>
                          <a:spcPts val="345"/>
                        </a:spcBef>
                      </a:pPr>
                      <a:r>
                        <a:rPr sz="400" dirty="0">
                          <a:latin typeface="Tahoma"/>
                          <a:cs typeface="Tahoma"/>
                        </a:rPr>
                        <a:t>T  2</a:t>
                      </a:r>
                      <a:endParaRPr sz="400">
                        <a:latin typeface="Tahoma"/>
                        <a:cs typeface="Tahoma"/>
                      </a:endParaRPr>
                    </a:p>
                    <a:p>
                      <a:pPr marL="92075" marR="104775" algn="just">
                        <a:lnSpc>
                          <a:spcPct val="100000"/>
                        </a:lnSpc>
                      </a:pPr>
                      <a:r>
                        <a:rPr sz="400" dirty="0">
                          <a:latin typeface="Tahoma"/>
                          <a:cs typeface="Tahoma"/>
                        </a:rPr>
                        <a:t>-  T  2</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2</a:t>
                      </a:r>
                      <a:endParaRPr sz="400">
                        <a:latin typeface="Tahoma"/>
                        <a:cs typeface="Tahoma"/>
                      </a:endParaRPr>
                    </a:p>
                    <a:p>
                      <a:pPr marL="92075" marR="91440" algn="just">
                        <a:lnSpc>
                          <a:spcPct val="100000"/>
                        </a:lnSpc>
                      </a:pPr>
                      <a:r>
                        <a:rPr sz="400" dirty="0">
                          <a:latin typeface="Tahoma"/>
                          <a:cs typeface="Tahoma"/>
                        </a:rPr>
                        <a:t>-  T  3</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2</a:t>
                      </a:r>
                      <a:endParaRPr sz="400">
                        <a:latin typeface="Tahoma"/>
                        <a:cs typeface="Tahoma"/>
                      </a:endParaRPr>
                    </a:p>
                    <a:p>
                      <a:pPr marL="92075" marR="91440" algn="just">
                        <a:lnSpc>
                          <a:spcPct val="100000"/>
                        </a:lnSpc>
                      </a:pPr>
                      <a:r>
                        <a:rPr sz="400" dirty="0">
                          <a:latin typeface="Tahoma"/>
                          <a:cs typeface="Tahoma"/>
                        </a:rPr>
                        <a:t>-  T  4</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1"/>
                  </a:ext>
                </a:extLst>
              </a:tr>
              <a:tr h="396239">
                <a:tc>
                  <a:txBody>
                    <a:bodyPr/>
                    <a:lstStyle/>
                    <a:p>
                      <a:pPr marL="92075" marR="78740" indent="-635" algn="ctr">
                        <a:lnSpc>
                          <a:spcPct val="100000"/>
                        </a:lnSpc>
                        <a:spcBef>
                          <a:spcPts val="345"/>
                        </a:spcBef>
                      </a:pPr>
                      <a:r>
                        <a:rPr sz="400" dirty="0">
                          <a:latin typeface="Tahoma"/>
                          <a:cs typeface="Tahoma"/>
                        </a:rPr>
                        <a:t>T  3</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104775" indent="-635" algn="ctr">
                        <a:lnSpc>
                          <a:spcPct val="100000"/>
                        </a:lnSpc>
                        <a:spcBef>
                          <a:spcPts val="345"/>
                        </a:spcBef>
                      </a:pPr>
                      <a:r>
                        <a:rPr sz="400" dirty="0">
                          <a:latin typeface="Tahoma"/>
                          <a:cs typeface="Tahoma"/>
                        </a:rPr>
                        <a:t>T  3</a:t>
                      </a:r>
                      <a:endParaRPr sz="400">
                        <a:latin typeface="Tahoma"/>
                        <a:cs typeface="Tahoma"/>
                      </a:endParaRPr>
                    </a:p>
                    <a:p>
                      <a:pPr marL="92075" marR="104775" algn="just">
                        <a:lnSpc>
                          <a:spcPct val="100000"/>
                        </a:lnSpc>
                      </a:pPr>
                      <a:r>
                        <a:rPr sz="400" dirty="0">
                          <a:latin typeface="Tahoma"/>
                          <a:cs typeface="Tahoma"/>
                        </a:rPr>
                        <a:t>-  T  2</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3</a:t>
                      </a:r>
                      <a:endParaRPr sz="400">
                        <a:latin typeface="Tahoma"/>
                        <a:cs typeface="Tahoma"/>
                      </a:endParaRPr>
                    </a:p>
                    <a:p>
                      <a:pPr marL="92075" marR="91440" algn="just">
                        <a:lnSpc>
                          <a:spcPct val="100000"/>
                        </a:lnSpc>
                      </a:pPr>
                      <a:r>
                        <a:rPr sz="400" dirty="0">
                          <a:latin typeface="Tahoma"/>
                          <a:cs typeface="Tahoma"/>
                        </a:rPr>
                        <a:t>-  T  3</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3</a:t>
                      </a:r>
                      <a:endParaRPr sz="400">
                        <a:latin typeface="Tahoma"/>
                        <a:cs typeface="Tahoma"/>
                      </a:endParaRPr>
                    </a:p>
                    <a:p>
                      <a:pPr marL="92075" marR="91440" algn="just">
                        <a:lnSpc>
                          <a:spcPct val="100000"/>
                        </a:lnSpc>
                      </a:pPr>
                      <a:r>
                        <a:rPr sz="400" dirty="0">
                          <a:latin typeface="Tahoma"/>
                          <a:cs typeface="Tahoma"/>
                        </a:rPr>
                        <a:t>-  T  4</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2"/>
                  </a:ext>
                </a:extLst>
              </a:tr>
              <a:tr h="396240">
                <a:tc>
                  <a:txBody>
                    <a:bodyPr/>
                    <a:lstStyle/>
                    <a:p>
                      <a:pPr marL="4445" algn="ctr">
                        <a:lnSpc>
                          <a:spcPct val="100000"/>
                        </a:lnSpc>
                        <a:spcBef>
                          <a:spcPts val="345"/>
                        </a:spcBef>
                      </a:pPr>
                      <a:r>
                        <a:rPr sz="400" dirty="0">
                          <a:latin typeface="Tahoma"/>
                          <a:cs typeface="Tahoma"/>
                        </a:rPr>
                        <a:t>T</a:t>
                      </a:r>
                      <a:endParaRPr sz="400">
                        <a:latin typeface="Tahoma"/>
                        <a:cs typeface="Tahoma"/>
                      </a:endParaRPr>
                    </a:p>
                    <a:p>
                      <a:pPr marL="5080" algn="ctr">
                        <a:lnSpc>
                          <a:spcPct val="100000"/>
                        </a:lnSpc>
                        <a:spcBef>
                          <a:spcPts val="5"/>
                        </a:spcBef>
                      </a:pPr>
                      <a:r>
                        <a:rPr sz="400" dirty="0">
                          <a:latin typeface="Tahoma"/>
                          <a:cs typeface="Tahoma"/>
                        </a:rPr>
                        <a:t>4</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R="12700" algn="ctr">
                        <a:lnSpc>
                          <a:spcPct val="100000"/>
                        </a:lnSpc>
                        <a:spcBef>
                          <a:spcPts val="345"/>
                        </a:spcBef>
                      </a:pPr>
                      <a:r>
                        <a:rPr sz="400" dirty="0">
                          <a:latin typeface="Tahoma"/>
                          <a:cs typeface="Tahoma"/>
                        </a:rPr>
                        <a:t>T</a:t>
                      </a:r>
                      <a:endParaRPr sz="400">
                        <a:latin typeface="Tahoma"/>
                        <a:cs typeface="Tahoma"/>
                      </a:endParaRPr>
                    </a:p>
                    <a:p>
                      <a:pPr marR="12700" algn="ctr">
                        <a:lnSpc>
                          <a:spcPct val="100000"/>
                        </a:lnSpc>
                        <a:spcBef>
                          <a:spcPts val="5"/>
                        </a:spcBef>
                      </a:pPr>
                      <a:r>
                        <a:rPr sz="400" dirty="0">
                          <a:latin typeface="Tahoma"/>
                          <a:cs typeface="Tahoma"/>
                        </a:rPr>
                        <a:t>4</a:t>
                      </a:r>
                      <a:endParaRPr sz="400">
                        <a:latin typeface="Tahoma"/>
                        <a:cs typeface="Tahoma"/>
                      </a:endParaRPr>
                    </a:p>
                    <a:p>
                      <a:pPr marL="92075" marR="104775" algn="just">
                        <a:lnSpc>
                          <a:spcPct val="100000"/>
                        </a:lnSpc>
                      </a:pPr>
                      <a:r>
                        <a:rPr sz="400" dirty="0">
                          <a:latin typeface="Tahoma"/>
                          <a:cs typeface="Tahoma"/>
                        </a:rPr>
                        <a:t>-  T  2</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45"/>
                        </a:spcBef>
                      </a:pPr>
                      <a:r>
                        <a:rPr sz="400" dirty="0">
                          <a:latin typeface="Tahoma"/>
                          <a:cs typeface="Tahoma"/>
                        </a:rPr>
                        <a:t>T</a:t>
                      </a:r>
                      <a:endParaRPr sz="400">
                        <a:latin typeface="Tahoma"/>
                        <a:cs typeface="Tahoma"/>
                      </a:endParaRPr>
                    </a:p>
                    <a:p>
                      <a:pPr algn="ctr">
                        <a:lnSpc>
                          <a:spcPct val="100000"/>
                        </a:lnSpc>
                        <a:spcBef>
                          <a:spcPts val="5"/>
                        </a:spcBef>
                      </a:pPr>
                      <a:r>
                        <a:rPr sz="400" dirty="0">
                          <a:latin typeface="Tahoma"/>
                          <a:cs typeface="Tahoma"/>
                        </a:rPr>
                        <a:t>4</a:t>
                      </a:r>
                      <a:endParaRPr sz="400">
                        <a:latin typeface="Tahoma"/>
                        <a:cs typeface="Tahoma"/>
                      </a:endParaRPr>
                    </a:p>
                    <a:p>
                      <a:pPr marL="92075" marR="91440" algn="just">
                        <a:lnSpc>
                          <a:spcPct val="100000"/>
                        </a:lnSpc>
                      </a:pPr>
                      <a:r>
                        <a:rPr sz="400" dirty="0">
                          <a:latin typeface="Tahoma"/>
                          <a:cs typeface="Tahoma"/>
                        </a:rPr>
                        <a:t>-  T  3</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45"/>
                        </a:spcBef>
                      </a:pPr>
                      <a:r>
                        <a:rPr sz="400" dirty="0">
                          <a:latin typeface="Tahoma"/>
                          <a:cs typeface="Tahoma"/>
                        </a:rPr>
                        <a:t>T</a:t>
                      </a:r>
                      <a:endParaRPr sz="400">
                        <a:latin typeface="Tahoma"/>
                        <a:cs typeface="Tahoma"/>
                      </a:endParaRPr>
                    </a:p>
                    <a:p>
                      <a:pPr algn="ctr">
                        <a:lnSpc>
                          <a:spcPct val="100000"/>
                        </a:lnSpc>
                        <a:spcBef>
                          <a:spcPts val="5"/>
                        </a:spcBef>
                      </a:pPr>
                      <a:r>
                        <a:rPr sz="400" dirty="0">
                          <a:latin typeface="Tahoma"/>
                          <a:cs typeface="Tahoma"/>
                        </a:rPr>
                        <a:t>4</a:t>
                      </a:r>
                      <a:endParaRPr sz="400">
                        <a:latin typeface="Tahoma"/>
                        <a:cs typeface="Tahoma"/>
                      </a:endParaRPr>
                    </a:p>
                    <a:p>
                      <a:pPr marL="92075" marR="91440" algn="just">
                        <a:lnSpc>
                          <a:spcPct val="100000"/>
                        </a:lnSpc>
                      </a:pPr>
                      <a:r>
                        <a:rPr sz="400" dirty="0">
                          <a:latin typeface="Tahoma"/>
                          <a:cs typeface="Tahoma"/>
                        </a:rPr>
                        <a:t>-  T  4</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3"/>
                  </a:ext>
                </a:extLst>
              </a:tr>
              <a:tr h="1825104">
                <a:tc gridSpan="5">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cap="flat" cmpd="sng" algn="ctr">
                      <a:solidFill>
                        <a:srgbClr val="000000"/>
                      </a:solidFill>
                      <a:prstDash val="solid"/>
                      <a:round/>
                      <a:headEnd type="none" w="med" len="med"/>
                      <a:tailEnd type="none" w="med" len="med"/>
                    </a:lnT>
                    <a:lnB w="12700">
                      <a:solidFill>
                        <a:srgbClr val="FFFFFF"/>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4"/>
                  </a:ext>
                </a:extLst>
              </a:tr>
            </a:tbl>
          </a:graphicData>
        </a:graphic>
      </p:graphicFrame>
      <p:graphicFrame>
        <p:nvGraphicFramePr>
          <p:cNvPr id="8" name="object 8"/>
          <p:cNvGraphicFramePr>
            <a:graphicFrameLocks noGrp="1"/>
          </p:cNvGraphicFramePr>
          <p:nvPr>
            <p:extLst>
              <p:ext uri="{D42A27DB-BD31-4B8C-83A1-F6EECF244321}">
                <p14:modId xmlns:p14="http://schemas.microsoft.com/office/powerpoint/2010/main" val="3116884736"/>
              </p:ext>
            </p:extLst>
          </p:nvPr>
        </p:nvGraphicFramePr>
        <p:xfrm>
          <a:off x="8393301" y="2960102"/>
          <a:ext cx="1097280" cy="1920239"/>
        </p:xfrm>
        <a:graphic>
          <a:graphicData uri="http://schemas.openxmlformats.org/drawingml/2006/table">
            <a:tbl>
              <a:tblPr firstRow="1" bandRow="1">
                <a:tableStyleId>{2D5ABB26-0587-4C30-8999-92F81FD0307C}</a:tableStyleId>
              </a:tblPr>
              <a:tblGrid>
                <a:gridCol w="1097280">
                  <a:extLst>
                    <a:ext uri="{9D8B030D-6E8A-4147-A177-3AD203B41FA5}">
                      <a16:colId xmlns:a16="http://schemas.microsoft.com/office/drawing/2014/main" val="20000"/>
                    </a:ext>
                  </a:extLst>
                </a:gridCol>
              </a:tblGrid>
              <a:tr h="213360">
                <a:tc>
                  <a:txBody>
                    <a:bodyPr/>
                    <a:lstStyle/>
                    <a:p>
                      <a:pPr marL="92075">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1</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0"/>
                  </a:ext>
                </a:extLst>
              </a:tr>
              <a:tr h="213359">
                <a:tc>
                  <a:txBody>
                    <a:bodyPr/>
                    <a:lstStyle/>
                    <a:p>
                      <a:pPr marL="92075">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2</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1"/>
                  </a:ext>
                </a:extLst>
              </a:tr>
              <a:tr h="213360">
                <a:tc>
                  <a:txBody>
                    <a:bodyPr/>
                    <a:lstStyle/>
                    <a:p>
                      <a:pPr marL="92075">
                        <a:lnSpc>
                          <a:spcPct val="100000"/>
                        </a:lnSpc>
                        <a:spcBef>
                          <a:spcPts val="330"/>
                        </a:spcBef>
                      </a:pPr>
                      <a:r>
                        <a:rPr sz="800" spc="-5" dirty="0">
                          <a:latin typeface="Tahoma"/>
                          <a:cs typeface="Tahoma"/>
                        </a:rPr>
                        <a:t>TOK</a:t>
                      </a:r>
                      <a:r>
                        <a:rPr sz="800" dirty="0">
                          <a:latin typeface="Tahoma"/>
                          <a:cs typeface="Tahoma"/>
                        </a:rPr>
                        <a:t>EN</a:t>
                      </a:r>
                      <a:r>
                        <a:rPr sz="800" spc="-75" dirty="0">
                          <a:latin typeface="Tahoma"/>
                          <a:cs typeface="Tahoma"/>
                        </a:rPr>
                        <a:t> </a:t>
                      </a:r>
                      <a:r>
                        <a:rPr sz="800" dirty="0">
                          <a:latin typeface="Tahoma"/>
                          <a:cs typeface="Tahoma"/>
                        </a:rPr>
                        <a:t>3</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2"/>
                  </a:ext>
                </a:extLst>
              </a:tr>
              <a:tr h="213360">
                <a:tc>
                  <a:txBody>
                    <a:bodyPr/>
                    <a:lstStyle/>
                    <a:p>
                      <a:pPr marL="92075">
                        <a:lnSpc>
                          <a:spcPct val="100000"/>
                        </a:lnSpc>
                        <a:spcBef>
                          <a:spcPts val="335"/>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4</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3"/>
                  </a:ext>
                </a:extLst>
              </a:tr>
              <a:tr h="1066800">
                <a:tc>
                  <a:txBody>
                    <a:bodyPr/>
                    <a:lstStyle/>
                    <a:p>
                      <a:pPr>
                        <a:lnSpc>
                          <a:spcPct val="100000"/>
                        </a:lnSpc>
                      </a:pPr>
                      <a:endParaRPr sz="12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000000"/>
                      </a:solidFill>
                      <a:prstDash val="solid"/>
                    </a:lnT>
                    <a:lnB w="12700">
                      <a:solidFill>
                        <a:srgbClr val="FFFFFF"/>
                      </a:solidFill>
                      <a:prstDash val="solid"/>
                    </a:lnB>
                  </a:tcPr>
                </a:tc>
                <a:extLst>
                  <a:ext uri="{0D108BD9-81ED-4DB2-BD59-A6C34878D82A}">
                    <a16:rowId xmlns:a16="http://schemas.microsoft.com/office/drawing/2014/main" val="10004"/>
                  </a:ext>
                </a:extLst>
              </a:tr>
            </a:tbl>
          </a:graphicData>
        </a:graphic>
      </p:graphicFrame>
      <p:graphicFrame>
        <p:nvGraphicFramePr>
          <p:cNvPr id="9" name="object 9"/>
          <p:cNvGraphicFramePr>
            <a:graphicFrameLocks noGrp="1"/>
          </p:cNvGraphicFramePr>
          <p:nvPr>
            <p:extLst>
              <p:ext uri="{D42A27DB-BD31-4B8C-83A1-F6EECF244321}">
                <p14:modId xmlns:p14="http://schemas.microsoft.com/office/powerpoint/2010/main" val="539637585"/>
              </p:ext>
            </p:extLst>
          </p:nvPr>
        </p:nvGraphicFramePr>
        <p:xfrm>
          <a:off x="10432540" y="2960102"/>
          <a:ext cx="1097280" cy="1920239"/>
        </p:xfrm>
        <a:graphic>
          <a:graphicData uri="http://schemas.openxmlformats.org/drawingml/2006/table">
            <a:tbl>
              <a:tblPr firstRow="1" bandRow="1">
                <a:tableStyleId>{2D5ABB26-0587-4C30-8999-92F81FD0307C}</a:tableStyleId>
              </a:tblPr>
              <a:tblGrid>
                <a:gridCol w="1097280">
                  <a:extLst>
                    <a:ext uri="{9D8B030D-6E8A-4147-A177-3AD203B41FA5}">
                      <a16:colId xmlns:a16="http://schemas.microsoft.com/office/drawing/2014/main" val="20000"/>
                    </a:ext>
                  </a:extLst>
                </a:gridCol>
              </a:tblGrid>
              <a:tr h="213360">
                <a:tc>
                  <a:txBody>
                    <a:bodyPr/>
                    <a:lstStyle/>
                    <a:p>
                      <a:pPr marL="92710">
                        <a:lnSpc>
                          <a:spcPct val="100000"/>
                        </a:lnSpc>
                        <a:spcBef>
                          <a:spcPts val="330"/>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1</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0"/>
                  </a:ext>
                </a:extLst>
              </a:tr>
              <a:tr h="213359">
                <a:tc>
                  <a:txBody>
                    <a:bodyPr/>
                    <a:lstStyle/>
                    <a:p>
                      <a:pPr marL="92710">
                        <a:lnSpc>
                          <a:spcPct val="100000"/>
                        </a:lnSpc>
                        <a:spcBef>
                          <a:spcPts val="330"/>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2</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1"/>
                  </a:ext>
                </a:extLst>
              </a:tr>
              <a:tr h="213360">
                <a:tc>
                  <a:txBody>
                    <a:bodyPr/>
                    <a:lstStyle/>
                    <a:p>
                      <a:pPr marL="92710">
                        <a:lnSpc>
                          <a:spcPct val="100000"/>
                        </a:lnSpc>
                        <a:spcBef>
                          <a:spcPts val="330"/>
                        </a:spcBef>
                      </a:pPr>
                      <a:r>
                        <a:rPr sz="800" spc="-5" dirty="0">
                          <a:latin typeface="Tahoma"/>
                          <a:cs typeface="Tahoma"/>
                        </a:rPr>
                        <a:t>OUTP</a:t>
                      </a:r>
                      <a:r>
                        <a:rPr sz="800" spc="-10" dirty="0">
                          <a:latin typeface="Tahoma"/>
                          <a:cs typeface="Tahoma"/>
                        </a:rPr>
                        <a:t>U</a:t>
                      </a:r>
                      <a:r>
                        <a:rPr sz="800" dirty="0">
                          <a:latin typeface="Tahoma"/>
                          <a:cs typeface="Tahoma"/>
                        </a:rPr>
                        <a:t>T</a:t>
                      </a:r>
                      <a:r>
                        <a:rPr sz="800" spc="-100" dirty="0">
                          <a:latin typeface="Tahoma"/>
                          <a:cs typeface="Tahoma"/>
                        </a:rPr>
                        <a:t> </a:t>
                      </a:r>
                      <a:r>
                        <a:rPr sz="800" spc="-5" dirty="0">
                          <a:latin typeface="Tahoma"/>
                          <a:cs typeface="Tahoma"/>
                        </a:rPr>
                        <a:t>TOK</a:t>
                      </a:r>
                      <a:r>
                        <a:rPr sz="800" dirty="0">
                          <a:latin typeface="Tahoma"/>
                          <a:cs typeface="Tahoma"/>
                        </a:rPr>
                        <a:t>EN</a:t>
                      </a:r>
                      <a:r>
                        <a:rPr sz="800" spc="-75" dirty="0">
                          <a:latin typeface="Tahoma"/>
                          <a:cs typeface="Tahoma"/>
                        </a:rPr>
                        <a:t> </a:t>
                      </a:r>
                      <a:r>
                        <a:rPr sz="800" dirty="0">
                          <a:latin typeface="Tahoma"/>
                          <a:cs typeface="Tahoma"/>
                        </a:rPr>
                        <a:t>3</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2"/>
                  </a:ext>
                </a:extLst>
              </a:tr>
              <a:tr h="213360">
                <a:tc>
                  <a:txBody>
                    <a:bodyPr/>
                    <a:lstStyle/>
                    <a:p>
                      <a:pPr marL="92710">
                        <a:lnSpc>
                          <a:spcPct val="100000"/>
                        </a:lnSpc>
                        <a:spcBef>
                          <a:spcPts val="335"/>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4</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3"/>
                  </a:ext>
                </a:extLst>
              </a:tr>
              <a:tr h="1066800">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000000"/>
                      </a:solidFill>
                      <a:prstDash val="solid"/>
                    </a:lnT>
                    <a:lnB w="12700">
                      <a:solidFill>
                        <a:srgbClr val="FFFFFF"/>
                      </a:solidFill>
                      <a:prstDash val="solid"/>
                    </a:lnB>
                  </a:tcPr>
                </a:tc>
                <a:extLst>
                  <a:ext uri="{0D108BD9-81ED-4DB2-BD59-A6C34878D82A}">
                    <a16:rowId xmlns:a16="http://schemas.microsoft.com/office/drawing/2014/main" val="10004"/>
                  </a:ext>
                </a:extLst>
              </a:tr>
            </a:tbl>
          </a:graphicData>
        </a:graphic>
      </p:graphicFrame>
      <p:sp>
        <p:nvSpPr>
          <p:cNvPr id="10" name="object 10"/>
          <p:cNvSpPr/>
          <p:nvPr/>
        </p:nvSpPr>
        <p:spPr>
          <a:xfrm>
            <a:off x="762507" y="1816276"/>
            <a:ext cx="173990" cy="3621404"/>
          </a:xfrm>
          <a:custGeom>
            <a:avLst/>
            <a:gdLst/>
            <a:ahLst/>
            <a:cxnLst/>
            <a:rect l="l" t="t" r="r" b="b"/>
            <a:pathLst>
              <a:path w="173990" h="3621404">
                <a:moveTo>
                  <a:pt x="173736" y="3621024"/>
                </a:moveTo>
                <a:lnTo>
                  <a:pt x="106111" y="3619886"/>
                </a:lnTo>
                <a:lnTo>
                  <a:pt x="50887" y="3616785"/>
                </a:lnTo>
                <a:lnTo>
                  <a:pt x="13653" y="3612183"/>
                </a:lnTo>
                <a:lnTo>
                  <a:pt x="0" y="3606546"/>
                </a:lnTo>
                <a:lnTo>
                  <a:pt x="0" y="14478"/>
                </a:lnTo>
                <a:lnTo>
                  <a:pt x="13653" y="8840"/>
                </a:lnTo>
                <a:lnTo>
                  <a:pt x="50887" y="4238"/>
                </a:lnTo>
                <a:lnTo>
                  <a:pt x="106111" y="1137"/>
                </a:lnTo>
                <a:lnTo>
                  <a:pt x="173736" y="0"/>
                </a:lnTo>
              </a:path>
            </a:pathLst>
          </a:custGeom>
          <a:ln w="76200">
            <a:solidFill>
              <a:srgbClr val="4E91EF"/>
            </a:solidFill>
          </a:ln>
        </p:spPr>
        <p:txBody>
          <a:bodyPr wrap="square" lIns="0" tIns="0" rIns="0" bIns="0" rtlCol="0"/>
          <a:lstStyle/>
          <a:p>
            <a:endParaRPr/>
          </a:p>
        </p:txBody>
      </p:sp>
      <p:sp>
        <p:nvSpPr>
          <p:cNvPr id="11" name="object 11"/>
          <p:cNvSpPr/>
          <p:nvPr/>
        </p:nvSpPr>
        <p:spPr>
          <a:xfrm>
            <a:off x="7410194" y="1816276"/>
            <a:ext cx="173990" cy="3621404"/>
          </a:xfrm>
          <a:custGeom>
            <a:avLst/>
            <a:gdLst/>
            <a:ahLst/>
            <a:cxnLst/>
            <a:rect l="l" t="t" r="r" b="b"/>
            <a:pathLst>
              <a:path w="173990" h="3621404">
                <a:moveTo>
                  <a:pt x="0" y="0"/>
                </a:moveTo>
                <a:lnTo>
                  <a:pt x="67651" y="1137"/>
                </a:lnTo>
                <a:lnTo>
                  <a:pt x="122872" y="4238"/>
                </a:lnTo>
                <a:lnTo>
                  <a:pt x="160091" y="8840"/>
                </a:lnTo>
                <a:lnTo>
                  <a:pt x="173735" y="14478"/>
                </a:lnTo>
                <a:lnTo>
                  <a:pt x="173735" y="3606546"/>
                </a:lnTo>
                <a:lnTo>
                  <a:pt x="160091" y="3612183"/>
                </a:lnTo>
                <a:lnTo>
                  <a:pt x="122872" y="3616785"/>
                </a:lnTo>
                <a:lnTo>
                  <a:pt x="67651" y="3619886"/>
                </a:lnTo>
                <a:lnTo>
                  <a:pt x="0" y="3621024"/>
                </a:lnTo>
              </a:path>
            </a:pathLst>
          </a:custGeom>
          <a:ln w="76200">
            <a:solidFill>
              <a:srgbClr val="4E91EF"/>
            </a:solidFill>
          </a:ln>
        </p:spPr>
        <p:txBody>
          <a:bodyPr wrap="square" lIns="0" tIns="0" rIns="0" bIns="0" rtlCol="0"/>
          <a:lstStyle/>
          <a:p>
            <a:endParaRPr/>
          </a:p>
        </p:txBody>
      </p:sp>
      <p:sp>
        <p:nvSpPr>
          <p:cNvPr id="12" name="object 12"/>
          <p:cNvSpPr txBox="1"/>
          <p:nvPr/>
        </p:nvSpPr>
        <p:spPr>
          <a:xfrm>
            <a:off x="7838820" y="3626978"/>
            <a:ext cx="17335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𝑋</a:t>
            </a:r>
            <a:endParaRPr sz="1800">
              <a:cs typeface="Cambria Math"/>
            </a:endParaRPr>
          </a:p>
        </p:txBody>
      </p:sp>
      <p:sp>
        <p:nvSpPr>
          <p:cNvPr id="13" name="object 13"/>
          <p:cNvSpPr txBox="1"/>
          <p:nvPr/>
        </p:nvSpPr>
        <p:spPr>
          <a:xfrm>
            <a:off x="9870058" y="3626978"/>
            <a:ext cx="19621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a:t>
            </a:r>
            <a:endParaRPr sz="1800">
              <a:cs typeface="Cambria Math"/>
            </a:endParaRPr>
          </a:p>
        </p:txBody>
      </p:sp>
      <p:sp>
        <p:nvSpPr>
          <p:cNvPr id="14" name="object 14"/>
          <p:cNvSpPr txBox="1"/>
          <p:nvPr/>
        </p:nvSpPr>
        <p:spPr>
          <a:xfrm>
            <a:off x="1409089" y="2304337"/>
            <a:ext cx="18034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𝑄</a:t>
            </a:r>
            <a:endParaRPr sz="1800">
              <a:cs typeface="Cambria Math"/>
            </a:endParaRPr>
          </a:p>
        </p:txBody>
      </p:sp>
      <p:sp>
        <p:nvSpPr>
          <p:cNvPr id="15" name="object 15"/>
          <p:cNvSpPr txBox="1"/>
          <p:nvPr/>
        </p:nvSpPr>
        <p:spPr>
          <a:xfrm>
            <a:off x="3484371" y="2223947"/>
            <a:ext cx="351790" cy="299720"/>
          </a:xfrm>
          <a:prstGeom prst="rect">
            <a:avLst/>
          </a:prstGeom>
        </p:spPr>
        <p:txBody>
          <a:bodyPr vert="horz" wrap="square" lIns="0" tIns="12700" rIns="0" bIns="0" rtlCol="0">
            <a:spAutoFit/>
          </a:bodyPr>
          <a:lstStyle/>
          <a:p>
            <a:pPr marL="38100">
              <a:lnSpc>
                <a:spcPct val="100000"/>
              </a:lnSpc>
              <a:spcBef>
                <a:spcPts val="100"/>
              </a:spcBef>
            </a:pPr>
            <a:r>
              <a:rPr sz="2700" spc="97" baseline="-20061" dirty="0">
                <a:cs typeface="Cambria Math"/>
              </a:rPr>
              <a:t>𝐾</a:t>
            </a:r>
            <a:r>
              <a:rPr sz="1300" spc="65" dirty="0">
                <a:cs typeface="Cambria Math"/>
              </a:rPr>
              <a:t>𝑇</a:t>
            </a:r>
            <a:endParaRPr sz="1300">
              <a:cs typeface="Cambria Math"/>
            </a:endParaRPr>
          </a:p>
        </p:txBody>
      </p:sp>
      <p:sp>
        <p:nvSpPr>
          <p:cNvPr id="16" name="object 16"/>
          <p:cNvSpPr txBox="1"/>
          <p:nvPr/>
        </p:nvSpPr>
        <p:spPr>
          <a:xfrm>
            <a:off x="5942328" y="1755698"/>
            <a:ext cx="511809" cy="299720"/>
          </a:xfrm>
          <a:prstGeom prst="rect">
            <a:avLst/>
          </a:prstGeom>
        </p:spPr>
        <p:txBody>
          <a:bodyPr vert="horz" wrap="square" lIns="0" tIns="12700" rIns="0" bIns="0" rtlCol="0">
            <a:spAutoFit/>
          </a:bodyPr>
          <a:lstStyle/>
          <a:p>
            <a:pPr marL="38100">
              <a:lnSpc>
                <a:spcPct val="100000"/>
              </a:lnSpc>
              <a:spcBef>
                <a:spcPts val="100"/>
              </a:spcBef>
            </a:pPr>
            <a:r>
              <a:rPr sz="1800" spc="55" dirty="0">
                <a:cs typeface="Cambria Math"/>
              </a:rPr>
              <a:t>𝑄𝐾</a:t>
            </a:r>
            <a:r>
              <a:rPr sz="1950" spc="82" baseline="27777" dirty="0">
                <a:cs typeface="Cambria Math"/>
              </a:rPr>
              <a:t>𝑇</a:t>
            </a:r>
            <a:endParaRPr sz="1950" baseline="27777">
              <a:cs typeface="Cambria Math"/>
            </a:endParaRPr>
          </a:p>
        </p:txBody>
      </p:sp>
      <p:sp>
        <p:nvSpPr>
          <p:cNvPr id="17" name="object 17"/>
          <p:cNvSpPr txBox="1"/>
          <p:nvPr/>
        </p:nvSpPr>
        <p:spPr>
          <a:xfrm>
            <a:off x="8860788" y="2439782"/>
            <a:ext cx="16891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𝑉</a:t>
            </a:r>
            <a:endParaRPr sz="1800">
              <a:cs typeface="Cambria Math"/>
            </a:endParaRPr>
          </a:p>
        </p:txBody>
      </p:sp>
      <p:sp>
        <p:nvSpPr>
          <p:cNvPr id="18" name="object 18"/>
          <p:cNvSpPr txBox="1"/>
          <p:nvPr/>
        </p:nvSpPr>
        <p:spPr>
          <a:xfrm>
            <a:off x="10480292" y="2435592"/>
            <a:ext cx="1009650" cy="299720"/>
          </a:xfrm>
          <a:prstGeom prst="rect">
            <a:avLst/>
          </a:prstGeom>
        </p:spPr>
        <p:txBody>
          <a:bodyPr vert="horz" wrap="square" lIns="0" tIns="12700" rIns="0" bIns="0" rtlCol="0">
            <a:spAutoFit/>
          </a:bodyPr>
          <a:lstStyle/>
          <a:p>
            <a:pPr marL="12700">
              <a:lnSpc>
                <a:spcPct val="100000"/>
              </a:lnSpc>
              <a:spcBef>
                <a:spcPts val="100"/>
              </a:spcBef>
            </a:pPr>
            <a:r>
              <a:rPr sz="1800" spc="-5" dirty="0">
                <a:cs typeface="Cambria Math"/>
              </a:rPr>
              <a:t>𝐴𝑡</a:t>
            </a:r>
            <a:r>
              <a:rPr sz="1800" spc="-10" dirty="0">
                <a:cs typeface="Cambria Math"/>
              </a:rPr>
              <a:t>𝑡</a:t>
            </a:r>
            <a:r>
              <a:rPr sz="1800" spc="-5" dirty="0">
                <a:cs typeface="Cambria Math"/>
              </a:rPr>
              <a:t>𝑒</a:t>
            </a:r>
            <a:r>
              <a:rPr sz="1800" spc="-10" dirty="0">
                <a:cs typeface="Cambria Math"/>
              </a:rPr>
              <a:t>𝑛</a:t>
            </a:r>
            <a:r>
              <a:rPr sz="1800" dirty="0">
                <a:cs typeface="Cambria Math"/>
              </a:rPr>
              <a:t>𝑡𝑖𝑜𝑛</a:t>
            </a:r>
            <a:endParaRPr sz="1800">
              <a:cs typeface="Cambria Math"/>
            </a:endParaRPr>
          </a:p>
        </p:txBody>
      </p:sp>
      <p:sp>
        <p:nvSpPr>
          <p:cNvPr id="19" name="object 19"/>
          <p:cNvSpPr/>
          <p:nvPr/>
        </p:nvSpPr>
        <p:spPr>
          <a:xfrm>
            <a:off x="8702290" y="5662007"/>
            <a:ext cx="800100" cy="212090"/>
          </a:xfrm>
          <a:custGeom>
            <a:avLst/>
            <a:gdLst/>
            <a:ahLst/>
            <a:cxnLst/>
            <a:rect l="l" t="t" r="r" b="b"/>
            <a:pathLst>
              <a:path w="800100" h="212089">
                <a:moveTo>
                  <a:pt x="732408" y="0"/>
                </a:moveTo>
                <a:lnTo>
                  <a:pt x="729360" y="8597"/>
                </a:lnTo>
                <a:lnTo>
                  <a:pt x="741628" y="13915"/>
                </a:lnTo>
                <a:lnTo>
                  <a:pt x="752157" y="21277"/>
                </a:lnTo>
                <a:lnTo>
                  <a:pt x="773596" y="55406"/>
                </a:lnTo>
                <a:lnTo>
                  <a:pt x="780668" y="104813"/>
                </a:lnTo>
                <a:lnTo>
                  <a:pt x="779883" y="123484"/>
                </a:lnTo>
                <a:lnTo>
                  <a:pt x="768096" y="169214"/>
                </a:lnTo>
                <a:lnTo>
                  <a:pt x="741789" y="197805"/>
                </a:lnTo>
                <a:lnTo>
                  <a:pt x="729741" y="203149"/>
                </a:lnTo>
                <a:lnTo>
                  <a:pt x="732408" y="211747"/>
                </a:lnTo>
                <a:lnTo>
                  <a:pt x="772824" y="187703"/>
                </a:lnTo>
                <a:lnTo>
                  <a:pt x="795591" y="143335"/>
                </a:lnTo>
                <a:lnTo>
                  <a:pt x="799973" y="105930"/>
                </a:lnTo>
                <a:lnTo>
                  <a:pt x="798877" y="86513"/>
                </a:lnTo>
                <a:lnTo>
                  <a:pt x="782447" y="37109"/>
                </a:lnTo>
                <a:lnTo>
                  <a:pt x="747746" y="5541"/>
                </a:lnTo>
                <a:lnTo>
                  <a:pt x="732408" y="0"/>
                </a:lnTo>
                <a:close/>
              </a:path>
              <a:path w="800100" h="212089">
                <a:moveTo>
                  <a:pt x="67563" y="0"/>
                </a:moveTo>
                <a:lnTo>
                  <a:pt x="27112" y="24095"/>
                </a:lnTo>
                <a:lnTo>
                  <a:pt x="4365" y="68572"/>
                </a:lnTo>
                <a:lnTo>
                  <a:pt x="0" y="105930"/>
                </a:lnTo>
                <a:lnTo>
                  <a:pt x="1093" y="125383"/>
                </a:lnTo>
                <a:lnTo>
                  <a:pt x="17399" y="174739"/>
                </a:lnTo>
                <a:lnTo>
                  <a:pt x="52135" y="206205"/>
                </a:lnTo>
                <a:lnTo>
                  <a:pt x="67563" y="211747"/>
                </a:lnTo>
                <a:lnTo>
                  <a:pt x="70230" y="203149"/>
                </a:lnTo>
                <a:lnTo>
                  <a:pt x="58130" y="197805"/>
                </a:lnTo>
                <a:lnTo>
                  <a:pt x="47720" y="190368"/>
                </a:lnTo>
                <a:lnTo>
                  <a:pt x="26376" y="155687"/>
                </a:lnTo>
                <a:lnTo>
                  <a:pt x="19303" y="104813"/>
                </a:lnTo>
                <a:lnTo>
                  <a:pt x="20089" y="86744"/>
                </a:lnTo>
                <a:lnTo>
                  <a:pt x="31876" y="42138"/>
                </a:lnTo>
                <a:lnTo>
                  <a:pt x="58291" y="13915"/>
                </a:lnTo>
                <a:lnTo>
                  <a:pt x="70484" y="8597"/>
                </a:lnTo>
                <a:lnTo>
                  <a:pt x="67563" y="0"/>
                </a:lnTo>
                <a:close/>
              </a:path>
            </a:pathLst>
          </a:custGeom>
          <a:solidFill>
            <a:srgbClr val="000000"/>
          </a:solidFill>
        </p:spPr>
        <p:txBody>
          <a:bodyPr wrap="square" lIns="0" tIns="0" rIns="0" bIns="0" rtlCol="0"/>
          <a:lstStyle/>
          <a:p>
            <a:endParaRPr/>
          </a:p>
        </p:txBody>
      </p:sp>
      <p:sp>
        <p:nvSpPr>
          <p:cNvPr id="20" name="object 20"/>
          <p:cNvSpPr/>
          <p:nvPr/>
        </p:nvSpPr>
        <p:spPr>
          <a:xfrm>
            <a:off x="10655296" y="5429381"/>
            <a:ext cx="693420" cy="675640"/>
          </a:xfrm>
          <a:custGeom>
            <a:avLst/>
            <a:gdLst/>
            <a:ahLst/>
            <a:cxnLst/>
            <a:rect l="l" t="t" r="r" b="b"/>
            <a:pathLst>
              <a:path w="693420" h="675639">
                <a:moveTo>
                  <a:pt x="114173" y="7924"/>
                </a:moveTo>
                <a:lnTo>
                  <a:pt x="62166" y="58623"/>
                </a:lnTo>
                <a:lnTo>
                  <a:pt x="43865" y="94830"/>
                </a:lnTo>
                <a:lnTo>
                  <a:pt x="28321" y="135610"/>
                </a:lnTo>
                <a:lnTo>
                  <a:pt x="15963" y="180543"/>
                </a:lnTo>
                <a:lnTo>
                  <a:pt x="7112" y="229133"/>
                </a:lnTo>
                <a:lnTo>
                  <a:pt x="1778" y="281393"/>
                </a:lnTo>
                <a:lnTo>
                  <a:pt x="0" y="337312"/>
                </a:lnTo>
                <a:lnTo>
                  <a:pt x="1778" y="393636"/>
                </a:lnTo>
                <a:lnTo>
                  <a:pt x="7112" y="446176"/>
                </a:lnTo>
                <a:lnTo>
                  <a:pt x="15963" y="494931"/>
                </a:lnTo>
                <a:lnTo>
                  <a:pt x="28321" y="539902"/>
                </a:lnTo>
                <a:lnTo>
                  <a:pt x="43865" y="580707"/>
                </a:lnTo>
                <a:lnTo>
                  <a:pt x="62166" y="616902"/>
                </a:lnTo>
                <a:lnTo>
                  <a:pt x="107061" y="675525"/>
                </a:lnTo>
                <a:lnTo>
                  <a:pt x="114173" y="667600"/>
                </a:lnTo>
                <a:lnTo>
                  <a:pt x="92976" y="640156"/>
                </a:lnTo>
                <a:lnTo>
                  <a:pt x="74549" y="608368"/>
                </a:lnTo>
                <a:lnTo>
                  <a:pt x="58877" y="572236"/>
                </a:lnTo>
                <a:lnTo>
                  <a:pt x="45974" y="531761"/>
                </a:lnTo>
                <a:lnTo>
                  <a:pt x="35814" y="487641"/>
                </a:lnTo>
                <a:lnTo>
                  <a:pt x="28600" y="440575"/>
                </a:lnTo>
                <a:lnTo>
                  <a:pt x="24282" y="390537"/>
                </a:lnTo>
                <a:lnTo>
                  <a:pt x="22860" y="337312"/>
                </a:lnTo>
                <a:lnTo>
                  <a:pt x="24282" y="284797"/>
                </a:lnTo>
                <a:lnTo>
                  <a:pt x="28600" y="234924"/>
                </a:lnTo>
                <a:lnTo>
                  <a:pt x="35814" y="187934"/>
                </a:lnTo>
                <a:lnTo>
                  <a:pt x="45974" y="143814"/>
                </a:lnTo>
                <a:lnTo>
                  <a:pt x="58877" y="103327"/>
                </a:lnTo>
                <a:lnTo>
                  <a:pt x="74549" y="67183"/>
                </a:lnTo>
                <a:lnTo>
                  <a:pt x="92976" y="35382"/>
                </a:lnTo>
                <a:lnTo>
                  <a:pt x="114173" y="7924"/>
                </a:lnTo>
                <a:close/>
              </a:path>
              <a:path w="693420" h="675639">
                <a:moveTo>
                  <a:pt x="555244" y="387819"/>
                </a:moveTo>
                <a:lnTo>
                  <a:pt x="306832" y="387819"/>
                </a:lnTo>
                <a:lnTo>
                  <a:pt x="306832" y="388569"/>
                </a:lnTo>
                <a:lnTo>
                  <a:pt x="284480" y="388569"/>
                </a:lnTo>
                <a:lnTo>
                  <a:pt x="216789" y="642505"/>
                </a:lnTo>
                <a:lnTo>
                  <a:pt x="178181" y="556336"/>
                </a:lnTo>
                <a:lnTo>
                  <a:pt x="141478" y="573074"/>
                </a:lnTo>
                <a:lnTo>
                  <a:pt x="145034" y="581456"/>
                </a:lnTo>
                <a:lnTo>
                  <a:pt x="163830" y="573074"/>
                </a:lnTo>
                <a:lnTo>
                  <a:pt x="210058" y="672426"/>
                </a:lnTo>
                <a:lnTo>
                  <a:pt x="220853" y="672426"/>
                </a:lnTo>
                <a:lnTo>
                  <a:pt x="293497" y="403415"/>
                </a:lnTo>
                <a:lnTo>
                  <a:pt x="315722" y="403415"/>
                </a:lnTo>
                <a:lnTo>
                  <a:pt x="315722" y="403059"/>
                </a:lnTo>
                <a:lnTo>
                  <a:pt x="555244" y="403059"/>
                </a:lnTo>
                <a:lnTo>
                  <a:pt x="555244" y="387819"/>
                </a:lnTo>
                <a:close/>
              </a:path>
              <a:path w="693420" h="675639">
                <a:moveTo>
                  <a:pt x="572008" y="329907"/>
                </a:moveTo>
                <a:lnTo>
                  <a:pt x="120904" y="329907"/>
                </a:lnTo>
                <a:lnTo>
                  <a:pt x="120904" y="345147"/>
                </a:lnTo>
                <a:lnTo>
                  <a:pt x="572008" y="345147"/>
                </a:lnTo>
                <a:lnTo>
                  <a:pt x="572008" y="329907"/>
                </a:lnTo>
                <a:close/>
              </a:path>
              <a:path w="693420" h="675639">
                <a:moveTo>
                  <a:pt x="693420" y="337312"/>
                </a:moveTo>
                <a:lnTo>
                  <a:pt x="691654" y="281393"/>
                </a:lnTo>
                <a:lnTo>
                  <a:pt x="686346" y="229133"/>
                </a:lnTo>
                <a:lnTo>
                  <a:pt x="677506" y="180543"/>
                </a:lnTo>
                <a:lnTo>
                  <a:pt x="665099" y="135610"/>
                </a:lnTo>
                <a:lnTo>
                  <a:pt x="649592" y="94830"/>
                </a:lnTo>
                <a:lnTo>
                  <a:pt x="631291" y="58623"/>
                </a:lnTo>
                <a:lnTo>
                  <a:pt x="586359" y="0"/>
                </a:lnTo>
                <a:lnTo>
                  <a:pt x="579247" y="7924"/>
                </a:lnTo>
                <a:lnTo>
                  <a:pt x="600430" y="35382"/>
                </a:lnTo>
                <a:lnTo>
                  <a:pt x="618883" y="67183"/>
                </a:lnTo>
                <a:lnTo>
                  <a:pt x="634580" y="103327"/>
                </a:lnTo>
                <a:lnTo>
                  <a:pt x="647573" y="143814"/>
                </a:lnTo>
                <a:lnTo>
                  <a:pt x="657656" y="187934"/>
                </a:lnTo>
                <a:lnTo>
                  <a:pt x="664883" y="234924"/>
                </a:lnTo>
                <a:lnTo>
                  <a:pt x="669226" y="284797"/>
                </a:lnTo>
                <a:lnTo>
                  <a:pt x="670687" y="337540"/>
                </a:lnTo>
                <a:lnTo>
                  <a:pt x="669226" y="390537"/>
                </a:lnTo>
                <a:lnTo>
                  <a:pt x="664883" y="440575"/>
                </a:lnTo>
                <a:lnTo>
                  <a:pt x="657656" y="487641"/>
                </a:lnTo>
                <a:lnTo>
                  <a:pt x="647573" y="531761"/>
                </a:lnTo>
                <a:lnTo>
                  <a:pt x="634580" y="572236"/>
                </a:lnTo>
                <a:lnTo>
                  <a:pt x="618883" y="608368"/>
                </a:lnTo>
                <a:lnTo>
                  <a:pt x="579247" y="667600"/>
                </a:lnTo>
                <a:lnTo>
                  <a:pt x="586359" y="675525"/>
                </a:lnTo>
                <a:lnTo>
                  <a:pt x="631291" y="616902"/>
                </a:lnTo>
                <a:lnTo>
                  <a:pt x="649592" y="580707"/>
                </a:lnTo>
                <a:lnTo>
                  <a:pt x="665099" y="539902"/>
                </a:lnTo>
                <a:lnTo>
                  <a:pt x="677506" y="494931"/>
                </a:lnTo>
                <a:lnTo>
                  <a:pt x="686346" y="446176"/>
                </a:lnTo>
                <a:lnTo>
                  <a:pt x="691654" y="393636"/>
                </a:lnTo>
                <a:lnTo>
                  <a:pt x="693420" y="337312"/>
                </a:lnTo>
                <a:close/>
              </a:path>
            </a:pathLst>
          </a:custGeom>
          <a:solidFill>
            <a:srgbClr val="000000"/>
          </a:solidFill>
        </p:spPr>
        <p:txBody>
          <a:bodyPr wrap="square" lIns="0" tIns="0" rIns="0" bIns="0" rtlCol="0"/>
          <a:lstStyle/>
          <a:p>
            <a:endParaRPr/>
          </a:p>
        </p:txBody>
      </p:sp>
      <p:sp>
        <p:nvSpPr>
          <p:cNvPr id="21" name="object 21"/>
          <p:cNvSpPr txBox="1"/>
          <p:nvPr/>
        </p:nvSpPr>
        <p:spPr>
          <a:xfrm>
            <a:off x="1233524" y="5005755"/>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(4,</a:t>
            </a:r>
            <a:r>
              <a:rPr sz="1000" spc="-60" dirty="0">
                <a:cs typeface="Tahoma"/>
              </a:rPr>
              <a:t> </a:t>
            </a:r>
            <a:r>
              <a:rPr sz="1000" spc="25" dirty="0">
                <a:cs typeface="Tahoma"/>
              </a:rPr>
              <a:t>4096</a:t>
            </a:r>
            <a:r>
              <a:rPr sz="1000" spc="-85" dirty="0">
                <a:cs typeface="Tahoma"/>
              </a:rPr>
              <a:t>)</a:t>
            </a:r>
            <a:endParaRPr sz="1000">
              <a:cs typeface="Tahoma"/>
            </a:endParaRPr>
          </a:p>
        </p:txBody>
      </p:sp>
      <p:sp>
        <p:nvSpPr>
          <p:cNvPr id="25" name="object 25"/>
          <p:cNvSpPr txBox="1"/>
          <p:nvPr/>
        </p:nvSpPr>
        <p:spPr>
          <a:xfrm>
            <a:off x="10765024" y="5432743"/>
            <a:ext cx="462280" cy="661720"/>
          </a:xfrm>
          <a:prstGeom prst="rect">
            <a:avLst/>
          </a:prstGeom>
        </p:spPr>
        <p:txBody>
          <a:bodyPr vert="horz" wrap="square" lIns="0" tIns="0" rIns="0" bIns="0" rtlCol="0">
            <a:spAutoFit/>
          </a:bodyPr>
          <a:lstStyle/>
          <a:p>
            <a:pPr marR="5080" algn="r">
              <a:lnSpc>
                <a:spcPts val="2150"/>
              </a:lnSpc>
            </a:pPr>
            <a:r>
              <a:rPr sz="1800" spc="50" dirty="0">
                <a:cs typeface="Cambria Math"/>
              </a:rPr>
              <a:t>𝑄</a:t>
            </a:r>
            <a:r>
              <a:rPr sz="1800" spc="95" dirty="0">
                <a:cs typeface="Cambria Math"/>
              </a:rPr>
              <a:t>𝐾</a:t>
            </a:r>
            <a:r>
              <a:rPr sz="1950" spc="89" baseline="27777" dirty="0">
                <a:cs typeface="Cambria Math"/>
              </a:rPr>
              <a:t>𝑇</a:t>
            </a:r>
            <a:endParaRPr sz="1950" baseline="27777">
              <a:cs typeface="Cambria Math"/>
            </a:endParaRPr>
          </a:p>
          <a:p>
            <a:pPr marR="21590" algn="r">
              <a:lnSpc>
                <a:spcPct val="100000"/>
              </a:lnSpc>
              <a:spcBef>
                <a:spcPts val="765"/>
              </a:spcBef>
            </a:pPr>
            <a:r>
              <a:rPr sz="1800" spc="40" dirty="0">
                <a:cs typeface="Cambria Math"/>
              </a:rPr>
              <a:t>𝑑</a:t>
            </a:r>
            <a:r>
              <a:rPr sz="1950" spc="60" baseline="-14957" dirty="0">
                <a:cs typeface="Cambria Math"/>
              </a:rPr>
              <a:t>𝑘</a:t>
            </a:r>
            <a:endParaRPr sz="1950" baseline="-14957">
              <a:cs typeface="Cambria Math"/>
            </a:endParaRPr>
          </a:p>
        </p:txBody>
      </p:sp>
      <p:sp>
        <p:nvSpPr>
          <p:cNvPr id="26" name="object 26"/>
          <p:cNvSpPr txBox="1"/>
          <p:nvPr/>
        </p:nvSpPr>
        <p:spPr>
          <a:xfrm>
            <a:off x="7678289" y="5642823"/>
            <a:ext cx="2072201" cy="243656"/>
          </a:xfrm>
          <a:prstGeom prst="rect">
            <a:avLst/>
          </a:prstGeom>
        </p:spPr>
        <p:txBody>
          <a:bodyPr vert="horz" wrap="square" lIns="0" tIns="0" rIns="0" bIns="0" rtlCol="0">
            <a:spAutoFit/>
          </a:bodyPr>
          <a:lstStyle/>
          <a:p>
            <a:pPr marL="12700">
              <a:lnSpc>
                <a:spcPts val="1860"/>
              </a:lnSpc>
            </a:pPr>
            <a:r>
              <a:rPr sz="1800" spc="-5" dirty="0">
                <a:cs typeface="Cambria Math"/>
              </a:rPr>
              <a:t>𝐴𝑡</a:t>
            </a:r>
            <a:r>
              <a:rPr sz="1800" spc="-10" dirty="0">
                <a:cs typeface="Cambria Math"/>
              </a:rPr>
              <a:t>𝑡</a:t>
            </a:r>
            <a:r>
              <a:rPr sz="1800" spc="-5" dirty="0">
                <a:cs typeface="Cambria Math"/>
              </a:rPr>
              <a:t>𝑒</a:t>
            </a:r>
            <a:r>
              <a:rPr sz="1800" spc="-10" dirty="0">
                <a:cs typeface="Cambria Math"/>
              </a:rPr>
              <a:t>𝑛</a:t>
            </a:r>
            <a:r>
              <a:rPr sz="1800" spc="5" dirty="0">
                <a:cs typeface="Cambria Math"/>
              </a:rPr>
              <a:t>𝑡</a:t>
            </a:r>
            <a:r>
              <a:rPr sz="1800" dirty="0">
                <a:cs typeface="Cambria Math"/>
              </a:rPr>
              <a:t>𝑖𝑜𝑛 </a:t>
            </a:r>
            <a:r>
              <a:rPr sz="1800" spc="5" dirty="0">
                <a:cs typeface="Cambria Math"/>
              </a:rPr>
              <a:t> </a:t>
            </a:r>
            <a:r>
              <a:rPr sz="1800" spc="40" dirty="0">
                <a:cs typeface="Cambria Math"/>
              </a:rPr>
              <a:t>𝑄</a:t>
            </a:r>
            <a:r>
              <a:rPr sz="1800" dirty="0">
                <a:cs typeface="Cambria Math"/>
              </a:rPr>
              <a:t>,</a:t>
            </a:r>
            <a:r>
              <a:rPr sz="1800" spc="-85" dirty="0">
                <a:cs typeface="Cambria Math"/>
              </a:rPr>
              <a:t> </a:t>
            </a:r>
            <a:r>
              <a:rPr sz="1800" spc="50" dirty="0">
                <a:cs typeface="Cambria Math"/>
              </a:rPr>
              <a:t>𝐾</a:t>
            </a:r>
            <a:r>
              <a:rPr sz="1800" dirty="0">
                <a:cs typeface="Cambria Math"/>
              </a:rPr>
              <a:t>,</a:t>
            </a:r>
            <a:r>
              <a:rPr sz="1800" spc="-85" dirty="0">
                <a:cs typeface="Cambria Math"/>
              </a:rPr>
              <a:t> </a:t>
            </a:r>
            <a:r>
              <a:rPr sz="1800" dirty="0">
                <a:cs typeface="Cambria Math"/>
              </a:rPr>
              <a:t>𝑉</a:t>
            </a:r>
          </a:p>
        </p:txBody>
      </p:sp>
      <p:sp>
        <p:nvSpPr>
          <p:cNvPr id="27" name="object 27"/>
          <p:cNvSpPr txBox="1"/>
          <p:nvPr/>
        </p:nvSpPr>
        <p:spPr>
          <a:xfrm>
            <a:off x="9573002" y="5642823"/>
            <a:ext cx="1038860" cy="243656"/>
          </a:xfrm>
          <a:prstGeom prst="rect">
            <a:avLst/>
          </a:prstGeom>
        </p:spPr>
        <p:txBody>
          <a:bodyPr vert="horz" wrap="square" lIns="0" tIns="0" rIns="0" bIns="0" rtlCol="0">
            <a:spAutoFit/>
          </a:bodyPr>
          <a:lstStyle/>
          <a:p>
            <a:pPr marL="12700">
              <a:lnSpc>
                <a:spcPts val="1860"/>
              </a:lnSpc>
            </a:pPr>
            <a:r>
              <a:rPr sz="1800" dirty="0">
                <a:cs typeface="Cambria Math"/>
              </a:rPr>
              <a:t>=</a:t>
            </a:r>
            <a:r>
              <a:rPr sz="1800" spc="45" dirty="0">
                <a:cs typeface="Cambria Math"/>
              </a:rPr>
              <a:t> </a:t>
            </a:r>
            <a:r>
              <a:rPr sz="1800" spc="-5" dirty="0">
                <a:cs typeface="Cambria Math"/>
              </a:rPr>
              <a:t>softmax</a:t>
            </a:r>
            <a:endParaRPr sz="1800">
              <a:cs typeface="Cambria Math"/>
            </a:endParaRPr>
          </a:p>
        </p:txBody>
      </p:sp>
      <p:sp>
        <p:nvSpPr>
          <p:cNvPr id="28" name="object 28"/>
          <p:cNvSpPr txBox="1"/>
          <p:nvPr/>
        </p:nvSpPr>
        <p:spPr>
          <a:xfrm>
            <a:off x="11392912" y="5642823"/>
            <a:ext cx="168910" cy="243656"/>
          </a:xfrm>
          <a:prstGeom prst="rect">
            <a:avLst/>
          </a:prstGeom>
        </p:spPr>
        <p:txBody>
          <a:bodyPr vert="horz" wrap="square" lIns="0" tIns="0" rIns="0" bIns="0" rtlCol="0">
            <a:spAutoFit/>
          </a:bodyPr>
          <a:lstStyle/>
          <a:p>
            <a:pPr marL="12700">
              <a:lnSpc>
                <a:spcPts val="1860"/>
              </a:lnSpc>
            </a:pPr>
            <a:r>
              <a:rPr sz="1800" dirty="0">
                <a:cs typeface="Cambria Math"/>
              </a:rPr>
              <a:t>𝑉</a:t>
            </a:r>
            <a:endParaRPr sz="1800">
              <a:cs typeface="Cambria Math"/>
            </a:endParaRPr>
          </a:p>
        </p:txBody>
      </p:sp>
      <p:sp>
        <p:nvSpPr>
          <p:cNvPr id="30" name="object 30"/>
          <p:cNvSpPr txBox="1"/>
          <p:nvPr/>
        </p:nvSpPr>
        <p:spPr>
          <a:xfrm>
            <a:off x="6047484" y="5884361"/>
            <a:ext cx="313690" cy="161583"/>
          </a:xfrm>
          <a:prstGeom prst="rect">
            <a:avLst/>
          </a:prstGeom>
        </p:spPr>
        <p:txBody>
          <a:bodyPr vert="horz" wrap="square" lIns="0" tIns="7620" rIns="0" bIns="0" rtlCol="0">
            <a:spAutoFit/>
          </a:bodyPr>
          <a:lstStyle/>
          <a:p>
            <a:pPr marL="12700">
              <a:lnSpc>
                <a:spcPct val="100000"/>
              </a:lnSpc>
              <a:spcBef>
                <a:spcPts val="60"/>
              </a:spcBef>
            </a:pPr>
            <a:r>
              <a:rPr sz="1000" spc="-35" dirty="0">
                <a:cs typeface="Tahoma"/>
              </a:rPr>
              <a:t>(4,</a:t>
            </a:r>
            <a:r>
              <a:rPr sz="1000" spc="-60" dirty="0">
                <a:cs typeface="Tahoma"/>
              </a:rPr>
              <a:t> </a:t>
            </a:r>
            <a:r>
              <a:rPr sz="1000" spc="-35" dirty="0">
                <a:cs typeface="Tahoma"/>
              </a:rPr>
              <a:t>4)</a:t>
            </a:r>
            <a:endParaRPr sz="1000">
              <a:cs typeface="Tahoma"/>
            </a:endParaRPr>
          </a:p>
        </p:txBody>
      </p:sp>
      <p:sp>
        <p:nvSpPr>
          <p:cNvPr id="22" name="object 22"/>
          <p:cNvSpPr txBox="1"/>
          <p:nvPr/>
        </p:nvSpPr>
        <p:spPr>
          <a:xfrm>
            <a:off x="3353052" y="5005755"/>
            <a:ext cx="531495" cy="166071"/>
          </a:xfrm>
          <a:prstGeom prst="rect">
            <a:avLst/>
          </a:prstGeom>
        </p:spPr>
        <p:txBody>
          <a:bodyPr vert="horz" wrap="square" lIns="0" tIns="12065" rIns="0" bIns="0" rtlCol="0">
            <a:spAutoFit/>
          </a:bodyPr>
          <a:lstStyle/>
          <a:p>
            <a:pPr marL="12700">
              <a:lnSpc>
                <a:spcPct val="100000"/>
              </a:lnSpc>
              <a:spcBef>
                <a:spcPts val="95"/>
              </a:spcBef>
            </a:pPr>
            <a:r>
              <a:rPr sz="1000" dirty="0">
                <a:cs typeface="Tahoma"/>
              </a:rPr>
              <a:t>(40</a:t>
            </a:r>
            <a:r>
              <a:rPr sz="1000" spc="-5" dirty="0">
                <a:cs typeface="Tahoma"/>
              </a:rPr>
              <a:t>9</a:t>
            </a:r>
            <a:r>
              <a:rPr sz="1000" spc="-15" dirty="0">
                <a:cs typeface="Tahoma"/>
              </a:rPr>
              <a:t>6</a:t>
            </a:r>
            <a:r>
              <a:rPr sz="1000" spc="-5" dirty="0">
                <a:cs typeface="Tahoma"/>
              </a:rPr>
              <a:t>,</a:t>
            </a:r>
            <a:r>
              <a:rPr sz="1000" spc="-75" dirty="0">
                <a:cs typeface="Tahoma"/>
              </a:rPr>
              <a:t> </a:t>
            </a:r>
            <a:r>
              <a:rPr sz="1000" spc="-35" dirty="0">
                <a:cs typeface="Tahoma"/>
              </a:rPr>
              <a:t>4)</a:t>
            </a:r>
            <a:endParaRPr sz="1000">
              <a:cs typeface="Tahoma"/>
            </a:endParaRPr>
          </a:p>
        </p:txBody>
      </p:sp>
      <p:sp>
        <p:nvSpPr>
          <p:cNvPr id="23" name="object 23"/>
          <p:cNvSpPr txBox="1"/>
          <p:nvPr/>
        </p:nvSpPr>
        <p:spPr>
          <a:xfrm>
            <a:off x="8680067" y="5143358"/>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(4,</a:t>
            </a:r>
            <a:r>
              <a:rPr sz="1000" spc="-60" dirty="0">
                <a:cs typeface="Tahoma"/>
              </a:rPr>
              <a:t> </a:t>
            </a:r>
            <a:r>
              <a:rPr sz="1000" spc="25" dirty="0">
                <a:cs typeface="Tahoma"/>
              </a:rPr>
              <a:t>4096</a:t>
            </a:r>
            <a:r>
              <a:rPr sz="1000" spc="-85" dirty="0">
                <a:cs typeface="Tahoma"/>
              </a:rPr>
              <a:t>)</a:t>
            </a:r>
            <a:endParaRPr sz="1000">
              <a:cs typeface="Tahoma"/>
            </a:endParaRPr>
          </a:p>
        </p:txBody>
      </p:sp>
      <p:sp>
        <p:nvSpPr>
          <p:cNvPr id="24" name="object 24"/>
          <p:cNvSpPr txBox="1"/>
          <p:nvPr/>
        </p:nvSpPr>
        <p:spPr>
          <a:xfrm>
            <a:off x="10719561" y="5141200"/>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(4,</a:t>
            </a:r>
            <a:r>
              <a:rPr sz="1000" spc="-60" dirty="0">
                <a:cs typeface="Tahoma"/>
              </a:rPr>
              <a:t> </a:t>
            </a:r>
            <a:r>
              <a:rPr sz="1000" spc="25" dirty="0">
                <a:cs typeface="Tahoma"/>
              </a:rPr>
              <a:t>4096</a:t>
            </a:r>
            <a:r>
              <a:rPr sz="1000" spc="-85" dirty="0">
                <a:cs typeface="Tahoma"/>
              </a:rPr>
              <a:t>)</a:t>
            </a:r>
            <a:endParaRPr sz="1000">
              <a:cs typeface="Tahoma"/>
            </a:endParaRPr>
          </a:p>
        </p:txBody>
      </p:sp>
      <p:sp>
        <p:nvSpPr>
          <p:cNvPr id="35" name="Title 1">
            <a:extLst>
              <a:ext uri="{FF2B5EF4-FFF2-40B4-BE49-F238E27FC236}">
                <a16:creationId xmlns:a16="http://schemas.microsoft.com/office/drawing/2014/main" id="{0C4562D3-91E1-9277-DB45-7924B311D852}"/>
              </a:ext>
            </a:extLst>
          </p:cNvPr>
          <p:cNvSpPr txBox="1">
            <a:spLocks/>
          </p:cNvSpPr>
          <p:nvPr/>
        </p:nvSpPr>
        <p:spPr>
          <a:xfrm>
            <a:off x="669552" y="594335"/>
            <a:ext cx="10863635" cy="639153"/>
          </a:xfrm>
          <a:prstGeom prst="rect">
            <a:avLst/>
          </a:prstGeom>
        </p:spPr>
        <p:txBody>
          <a:bodyPr vert="horz" lIns="0" tIns="0" rIns="0" bIns="0" rtlCol="0" anchor="ctr">
            <a:normAutofit fontScale="97500"/>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pPr marL="12700">
              <a:lnSpc>
                <a:spcPct val="100000"/>
              </a:lnSpc>
              <a:spcBef>
                <a:spcPts val="105"/>
              </a:spcBef>
            </a:pPr>
            <a:r>
              <a:rPr lang="en-IN" sz="3600" spc="10" dirty="0">
                <a:solidFill>
                  <a:srgbClr val="FF0000"/>
                </a:solidFill>
                <a:latin typeface="+mn-lt"/>
                <a:cs typeface="Tahoma"/>
              </a:rPr>
              <a:t>Inference</a:t>
            </a:r>
            <a:r>
              <a:rPr lang="en-IN" sz="3600" dirty="0">
                <a:latin typeface="+mn-lt"/>
                <a:cs typeface="Tahoma"/>
              </a:rPr>
              <a:t> </a:t>
            </a:r>
            <a:r>
              <a:rPr lang="en-IN" sz="3600" spc="-30" dirty="0">
                <a:solidFill>
                  <a:srgbClr val="FF0000"/>
                </a:solidFill>
                <a:latin typeface="+mn-lt"/>
                <a:cs typeface="Tahoma"/>
              </a:rPr>
              <a:t>T</a:t>
            </a:r>
            <a:r>
              <a:rPr lang="en-IN" sz="3600" spc="-185" dirty="0">
                <a:solidFill>
                  <a:srgbClr val="FF0000"/>
                </a:solidFill>
                <a:latin typeface="+mn-lt"/>
                <a:cs typeface="Tahoma"/>
              </a:rPr>
              <a:t> </a:t>
            </a:r>
            <a:r>
              <a:rPr lang="en-IN" sz="3600" spc="-125" dirty="0">
                <a:solidFill>
                  <a:srgbClr val="FF0000"/>
                </a:solidFill>
                <a:latin typeface="+mn-lt"/>
                <a:cs typeface="Tahoma"/>
              </a:rPr>
              <a:t>=</a:t>
            </a:r>
            <a:r>
              <a:rPr lang="en-IN" sz="3600" spc="-114" dirty="0">
                <a:solidFill>
                  <a:srgbClr val="FF0000"/>
                </a:solidFill>
                <a:latin typeface="+mn-lt"/>
                <a:cs typeface="Tahoma"/>
              </a:rPr>
              <a:t> </a:t>
            </a:r>
            <a:r>
              <a:rPr lang="en-IN" sz="3600" spc="70" dirty="0">
                <a:solidFill>
                  <a:srgbClr val="FF0000"/>
                </a:solidFill>
                <a:latin typeface="+mn-lt"/>
                <a:cs typeface="Tahoma"/>
              </a:rPr>
              <a:t>4</a:t>
            </a:r>
            <a:endParaRPr lang="en-IN" sz="3600" dirty="0">
              <a:latin typeface="+mn-lt"/>
              <a:cs typeface="Tahom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3227736053"/>
              </p:ext>
            </p:extLst>
          </p:nvPr>
        </p:nvGraphicFramePr>
        <p:xfrm>
          <a:off x="958947" y="2805753"/>
          <a:ext cx="1097280" cy="1920239"/>
        </p:xfrm>
        <a:graphic>
          <a:graphicData uri="http://schemas.openxmlformats.org/drawingml/2006/table">
            <a:tbl>
              <a:tblPr firstRow="1" bandRow="1">
                <a:tableStyleId>{2D5ABB26-0587-4C30-8999-92F81FD0307C}</a:tableStyleId>
              </a:tblPr>
              <a:tblGrid>
                <a:gridCol w="1097280">
                  <a:extLst>
                    <a:ext uri="{9D8B030D-6E8A-4147-A177-3AD203B41FA5}">
                      <a16:colId xmlns:a16="http://schemas.microsoft.com/office/drawing/2014/main" val="20000"/>
                    </a:ext>
                  </a:extLst>
                </a:gridCol>
              </a:tblGrid>
              <a:tr h="213360">
                <a:tc>
                  <a:txBody>
                    <a:bodyPr/>
                    <a:lstStyle/>
                    <a:p>
                      <a:pPr marL="91440">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1</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0"/>
                  </a:ext>
                </a:extLst>
              </a:tr>
              <a:tr h="213359">
                <a:tc>
                  <a:txBody>
                    <a:bodyPr/>
                    <a:lstStyle/>
                    <a:p>
                      <a:pPr marL="91440">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2</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1"/>
                  </a:ext>
                </a:extLst>
              </a:tr>
              <a:tr h="213360">
                <a:tc>
                  <a:txBody>
                    <a:bodyPr/>
                    <a:lstStyle/>
                    <a:p>
                      <a:pPr marL="91440">
                        <a:lnSpc>
                          <a:spcPct val="100000"/>
                        </a:lnSpc>
                        <a:spcBef>
                          <a:spcPts val="330"/>
                        </a:spcBef>
                      </a:pPr>
                      <a:r>
                        <a:rPr sz="800" spc="-5" dirty="0">
                          <a:latin typeface="Tahoma"/>
                          <a:cs typeface="Tahoma"/>
                        </a:rPr>
                        <a:t>TOK</a:t>
                      </a:r>
                      <a:r>
                        <a:rPr sz="800" dirty="0">
                          <a:latin typeface="Tahoma"/>
                          <a:cs typeface="Tahoma"/>
                        </a:rPr>
                        <a:t>EN</a:t>
                      </a:r>
                      <a:r>
                        <a:rPr sz="800" spc="-75" dirty="0">
                          <a:latin typeface="Tahoma"/>
                          <a:cs typeface="Tahoma"/>
                        </a:rPr>
                        <a:t> </a:t>
                      </a:r>
                      <a:r>
                        <a:rPr sz="800" dirty="0">
                          <a:latin typeface="Tahoma"/>
                          <a:cs typeface="Tahoma"/>
                        </a:rPr>
                        <a:t>3</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2"/>
                  </a:ext>
                </a:extLst>
              </a:tr>
              <a:tr h="213360">
                <a:tc>
                  <a:txBody>
                    <a:bodyPr/>
                    <a:lstStyle/>
                    <a:p>
                      <a:pPr marL="91440">
                        <a:lnSpc>
                          <a:spcPct val="100000"/>
                        </a:lnSpc>
                        <a:spcBef>
                          <a:spcPts val="335"/>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4</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3"/>
                  </a:ext>
                </a:extLst>
              </a:tr>
              <a:tr h="1066800">
                <a:tc>
                  <a:txBody>
                    <a:bodyPr/>
                    <a:lstStyle/>
                    <a:p>
                      <a:pPr>
                        <a:lnSpc>
                          <a:spcPct val="100000"/>
                        </a:lnSpc>
                      </a:pPr>
                      <a:endParaRPr sz="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000000"/>
                      </a:solidFill>
                      <a:prstDash val="solid"/>
                    </a:lnT>
                    <a:lnB w="12700">
                      <a:solidFill>
                        <a:srgbClr val="FFFFFF"/>
                      </a:solidFill>
                      <a:prstDash val="solid"/>
                    </a:lnB>
                  </a:tcPr>
                </a:tc>
                <a:extLst>
                  <a:ext uri="{0D108BD9-81ED-4DB2-BD59-A6C34878D82A}">
                    <a16:rowId xmlns:a16="http://schemas.microsoft.com/office/drawing/2014/main" val="10004"/>
                  </a:ext>
                </a:extLst>
              </a:tr>
            </a:tbl>
          </a:graphicData>
        </a:graphic>
      </p:graphicFrame>
      <p:graphicFrame>
        <p:nvGraphicFramePr>
          <p:cNvPr id="3" name="object 3"/>
          <p:cNvGraphicFramePr>
            <a:graphicFrameLocks noGrp="1"/>
          </p:cNvGraphicFramePr>
          <p:nvPr>
            <p:extLst>
              <p:ext uri="{D42A27DB-BD31-4B8C-83A1-F6EECF244321}">
                <p14:modId xmlns:p14="http://schemas.microsoft.com/office/powerpoint/2010/main" val="1521108210"/>
              </p:ext>
            </p:extLst>
          </p:nvPr>
        </p:nvGraphicFramePr>
        <p:xfrm>
          <a:off x="2689601" y="3008698"/>
          <a:ext cx="1880866" cy="1514348"/>
        </p:xfrm>
        <a:graphic>
          <a:graphicData uri="http://schemas.openxmlformats.org/drawingml/2006/table">
            <a:tbl>
              <a:tblPr firstRow="1" bandRow="1">
                <a:tableStyleId>{2D5ABB26-0587-4C30-8999-92F81FD0307C}</a:tableStyleId>
              </a:tblPr>
              <a:tblGrid>
                <a:gridCol w="208279">
                  <a:extLst>
                    <a:ext uri="{9D8B030D-6E8A-4147-A177-3AD203B41FA5}">
                      <a16:colId xmlns:a16="http://schemas.microsoft.com/office/drawing/2014/main" val="20000"/>
                    </a:ext>
                  </a:extLst>
                </a:gridCol>
                <a:gridCol w="208279">
                  <a:extLst>
                    <a:ext uri="{9D8B030D-6E8A-4147-A177-3AD203B41FA5}">
                      <a16:colId xmlns:a16="http://schemas.microsoft.com/office/drawing/2014/main" val="20001"/>
                    </a:ext>
                  </a:extLst>
                </a:gridCol>
                <a:gridCol w="208279">
                  <a:extLst>
                    <a:ext uri="{9D8B030D-6E8A-4147-A177-3AD203B41FA5}">
                      <a16:colId xmlns:a16="http://schemas.microsoft.com/office/drawing/2014/main" val="20002"/>
                    </a:ext>
                  </a:extLst>
                </a:gridCol>
                <a:gridCol w="208279">
                  <a:extLst>
                    <a:ext uri="{9D8B030D-6E8A-4147-A177-3AD203B41FA5}">
                      <a16:colId xmlns:a16="http://schemas.microsoft.com/office/drawing/2014/main" val="20003"/>
                    </a:ext>
                  </a:extLst>
                </a:gridCol>
                <a:gridCol w="1047750">
                  <a:extLst>
                    <a:ext uri="{9D8B030D-6E8A-4147-A177-3AD203B41FA5}">
                      <a16:colId xmlns:a16="http://schemas.microsoft.com/office/drawing/2014/main" val="20004"/>
                    </a:ext>
                  </a:extLst>
                </a:gridCol>
              </a:tblGrid>
              <a:tr h="1514348">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1</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2</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3</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4</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0"/>
                  </a:ext>
                </a:extLst>
              </a:tr>
            </a:tbl>
          </a:graphicData>
        </a:graphic>
      </p:graphicFrame>
      <p:sp>
        <p:nvSpPr>
          <p:cNvPr id="4" name="object 4"/>
          <p:cNvSpPr txBox="1"/>
          <p:nvPr/>
        </p:nvSpPr>
        <p:spPr>
          <a:xfrm>
            <a:off x="2289551" y="3472629"/>
            <a:ext cx="17335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𝑋</a:t>
            </a:r>
            <a:endParaRPr sz="1800">
              <a:cs typeface="Cambria Math"/>
            </a:endParaRPr>
          </a:p>
        </p:txBody>
      </p:sp>
      <p:sp>
        <p:nvSpPr>
          <p:cNvPr id="5" name="object 5"/>
          <p:cNvSpPr txBox="1"/>
          <p:nvPr/>
        </p:nvSpPr>
        <p:spPr>
          <a:xfrm>
            <a:off x="4797801" y="3472629"/>
            <a:ext cx="19621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a:t>
            </a:r>
            <a:endParaRPr sz="1800">
              <a:cs typeface="Cambria Math"/>
            </a:endParaRPr>
          </a:p>
        </p:txBody>
      </p:sp>
      <p:graphicFrame>
        <p:nvGraphicFramePr>
          <p:cNvPr id="6" name="object 6"/>
          <p:cNvGraphicFramePr>
            <a:graphicFrameLocks noGrp="1"/>
          </p:cNvGraphicFramePr>
          <p:nvPr>
            <p:extLst>
              <p:ext uri="{D42A27DB-BD31-4B8C-83A1-F6EECF244321}">
                <p14:modId xmlns:p14="http://schemas.microsoft.com/office/powerpoint/2010/main" val="1190509499"/>
              </p:ext>
            </p:extLst>
          </p:nvPr>
        </p:nvGraphicFramePr>
        <p:xfrm>
          <a:off x="5216012" y="2119953"/>
          <a:ext cx="1988816" cy="3410061"/>
        </p:xfrm>
        <a:graphic>
          <a:graphicData uri="http://schemas.openxmlformats.org/drawingml/2006/table">
            <a:tbl>
              <a:tblPr firstRow="1" bandRow="1">
                <a:tableStyleId>{2D5ABB26-0587-4C30-8999-92F81FD0307C}</a:tableStyleId>
              </a:tblPr>
              <a:tblGrid>
                <a:gridCol w="208279">
                  <a:extLst>
                    <a:ext uri="{9D8B030D-6E8A-4147-A177-3AD203B41FA5}">
                      <a16:colId xmlns:a16="http://schemas.microsoft.com/office/drawing/2014/main" val="20000"/>
                    </a:ext>
                  </a:extLst>
                </a:gridCol>
                <a:gridCol w="233679">
                  <a:extLst>
                    <a:ext uri="{9D8B030D-6E8A-4147-A177-3AD203B41FA5}">
                      <a16:colId xmlns:a16="http://schemas.microsoft.com/office/drawing/2014/main" val="20001"/>
                    </a:ext>
                  </a:extLst>
                </a:gridCol>
                <a:gridCol w="220979">
                  <a:extLst>
                    <a:ext uri="{9D8B030D-6E8A-4147-A177-3AD203B41FA5}">
                      <a16:colId xmlns:a16="http://schemas.microsoft.com/office/drawing/2014/main" val="20002"/>
                    </a:ext>
                  </a:extLst>
                </a:gridCol>
                <a:gridCol w="220979">
                  <a:extLst>
                    <a:ext uri="{9D8B030D-6E8A-4147-A177-3AD203B41FA5}">
                      <a16:colId xmlns:a16="http://schemas.microsoft.com/office/drawing/2014/main" val="20003"/>
                    </a:ext>
                  </a:extLst>
                </a:gridCol>
                <a:gridCol w="1104900">
                  <a:extLst>
                    <a:ext uri="{9D8B030D-6E8A-4147-A177-3AD203B41FA5}">
                      <a16:colId xmlns:a16="http://schemas.microsoft.com/office/drawing/2014/main" val="20004"/>
                    </a:ext>
                  </a:extLst>
                </a:gridCol>
              </a:tblGrid>
              <a:tr h="396239">
                <a:tc>
                  <a:txBody>
                    <a:bodyPr/>
                    <a:lstStyle/>
                    <a:p>
                      <a:pPr marL="92075" marR="78740" indent="-635" algn="ctr">
                        <a:lnSpc>
                          <a:spcPct val="100000"/>
                        </a:lnSpc>
                        <a:spcBef>
                          <a:spcPts val="345"/>
                        </a:spcBef>
                      </a:pPr>
                      <a:r>
                        <a:rPr sz="400" dirty="0">
                          <a:latin typeface="Tahoma"/>
                          <a:cs typeface="Tahoma"/>
                        </a:rPr>
                        <a:t>T  1</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9C1FA"/>
                    </a:solidFill>
                  </a:tcPr>
                </a:tc>
                <a:tc>
                  <a:txBody>
                    <a:bodyPr/>
                    <a:lstStyle/>
                    <a:p>
                      <a:pPr marL="92075" marR="104775" indent="-635" algn="ctr">
                        <a:lnSpc>
                          <a:spcPct val="100000"/>
                        </a:lnSpc>
                        <a:spcBef>
                          <a:spcPts val="345"/>
                        </a:spcBef>
                      </a:pPr>
                      <a:r>
                        <a:rPr sz="400" dirty="0">
                          <a:latin typeface="Tahoma"/>
                          <a:cs typeface="Tahoma"/>
                        </a:rPr>
                        <a:t>T  1</a:t>
                      </a:r>
                      <a:endParaRPr sz="400">
                        <a:latin typeface="Tahoma"/>
                        <a:cs typeface="Tahoma"/>
                      </a:endParaRPr>
                    </a:p>
                    <a:p>
                      <a:pPr marL="92075" marR="104775" algn="just">
                        <a:lnSpc>
                          <a:spcPct val="100000"/>
                        </a:lnSpc>
                      </a:pPr>
                      <a:r>
                        <a:rPr sz="400" dirty="0">
                          <a:latin typeface="Tahoma"/>
                          <a:cs typeface="Tahoma"/>
                        </a:rPr>
                        <a:t>-  T  2</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50DBA"/>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3</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50DBA"/>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4</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50DBA"/>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0"/>
                  </a:ext>
                </a:extLst>
              </a:tr>
              <a:tr h="396239">
                <a:tc>
                  <a:txBody>
                    <a:bodyPr/>
                    <a:lstStyle/>
                    <a:p>
                      <a:pPr marL="92075" marR="78740" indent="-635" algn="ctr">
                        <a:lnSpc>
                          <a:spcPct val="100000"/>
                        </a:lnSpc>
                        <a:spcBef>
                          <a:spcPts val="345"/>
                        </a:spcBef>
                      </a:pPr>
                      <a:r>
                        <a:rPr sz="400" dirty="0">
                          <a:latin typeface="Tahoma"/>
                          <a:cs typeface="Tahoma"/>
                        </a:rPr>
                        <a:t>T  2</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9C1FA"/>
                    </a:solidFill>
                  </a:tcPr>
                </a:tc>
                <a:tc>
                  <a:txBody>
                    <a:bodyPr/>
                    <a:lstStyle/>
                    <a:p>
                      <a:pPr marL="92075" marR="104775" indent="-635" algn="ctr">
                        <a:lnSpc>
                          <a:spcPct val="100000"/>
                        </a:lnSpc>
                        <a:spcBef>
                          <a:spcPts val="345"/>
                        </a:spcBef>
                      </a:pPr>
                      <a:r>
                        <a:rPr sz="400" dirty="0">
                          <a:latin typeface="Tahoma"/>
                          <a:cs typeface="Tahoma"/>
                        </a:rPr>
                        <a:t>T  2</a:t>
                      </a:r>
                      <a:endParaRPr sz="400">
                        <a:latin typeface="Tahoma"/>
                        <a:cs typeface="Tahoma"/>
                      </a:endParaRPr>
                    </a:p>
                    <a:p>
                      <a:pPr marL="92075" marR="104775" algn="just">
                        <a:lnSpc>
                          <a:spcPct val="100000"/>
                        </a:lnSpc>
                      </a:pPr>
                      <a:r>
                        <a:rPr sz="400" dirty="0">
                          <a:latin typeface="Tahoma"/>
                          <a:cs typeface="Tahoma"/>
                        </a:rPr>
                        <a:t>-  T  2</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9C1FA"/>
                    </a:solidFill>
                  </a:tcPr>
                </a:tc>
                <a:tc>
                  <a:txBody>
                    <a:bodyPr/>
                    <a:lstStyle/>
                    <a:p>
                      <a:pPr marL="92075" marR="91440" indent="-635" algn="ctr">
                        <a:lnSpc>
                          <a:spcPct val="100000"/>
                        </a:lnSpc>
                        <a:spcBef>
                          <a:spcPts val="345"/>
                        </a:spcBef>
                      </a:pPr>
                      <a:r>
                        <a:rPr sz="400" dirty="0">
                          <a:latin typeface="Tahoma"/>
                          <a:cs typeface="Tahoma"/>
                        </a:rPr>
                        <a:t>T  2</a:t>
                      </a:r>
                      <a:endParaRPr sz="400">
                        <a:latin typeface="Tahoma"/>
                        <a:cs typeface="Tahoma"/>
                      </a:endParaRPr>
                    </a:p>
                    <a:p>
                      <a:pPr marL="92075" marR="91440" algn="just">
                        <a:lnSpc>
                          <a:spcPct val="100000"/>
                        </a:lnSpc>
                      </a:pPr>
                      <a:r>
                        <a:rPr sz="400" dirty="0">
                          <a:latin typeface="Tahoma"/>
                          <a:cs typeface="Tahoma"/>
                        </a:rPr>
                        <a:t>-  T  3</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50DBA"/>
                    </a:solidFill>
                  </a:tcPr>
                </a:tc>
                <a:tc>
                  <a:txBody>
                    <a:bodyPr/>
                    <a:lstStyle/>
                    <a:p>
                      <a:pPr marL="92075" marR="91440" indent="-635" algn="ctr">
                        <a:lnSpc>
                          <a:spcPct val="100000"/>
                        </a:lnSpc>
                        <a:spcBef>
                          <a:spcPts val="345"/>
                        </a:spcBef>
                      </a:pPr>
                      <a:r>
                        <a:rPr sz="400" dirty="0">
                          <a:latin typeface="Tahoma"/>
                          <a:cs typeface="Tahoma"/>
                        </a:rPr>
                        <a:t>T  2</a:t>
                      </a:r>
                      <a:endParaRPr sz="400">
                        <a:latin typeface="Tahoma"/>
                        <a:cs typeface="Tahoma"/>
                      </a:endParaRPr>
                    </a:p>
                    <a:p>
                      <a:pPr marL="92075" marR="91440" algn="just">
                        <a:lnSpc>
                          <a:spcPct val="100000"/>
                        </a:lnSpc>
                      </a:pPr>
                      <a:r>
                        <a:rPr sz="400" dirty="0">
                          <a:latin typeface="Tahoma"/>
                          <a:cs typeface="Tahoma"/>
                        </a:rPr>
                        <a:t>-  T  4</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50DBA"/>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1"/>
                  </a:ext>
                </a:extLst>
              </a:tr>
              <a:tr h="396239">
                <a:tc>
                  <a:txBody>
                    <a:bodyPr/>
                    <a:lstStyle/>
                    <a:p>
                      <a:pPr marL="92075" marR="78740" indent="-635" algn="ctr">
                        <a:lnSpc>
                          <a:spcPct val="100000"/>
                        </a:lnSpc>
                        <a:spcBef>
                          <a:spcPts val="345"/>
                        </a:spcBef>
                      </a:pPr>
                      <a:r>
                        <a:rPr sz="400" dirty="0">
                          <a:latin typeface="Tahoma"/>
                          <a:cs typeface="Tahoma"/>
                        </a:rPr>
                        <a:t>T  3</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9C1FA"/>
                    </a:solidFill>
                  </a:tcPr>
                </a:tc>
                <a:tc>
                  <a:txBody>
                    <a:bodyPr/>
                    <a:lstStyle/>
                    <a:p>
                      <a:pPr marL="92075" marR="104775" indent="-635" algn="ctr">
                        <a:lnSpc>
                          <a:spcPct val="100000"/>
                        </a:lnSpc>
                        <a:spcBef>
                          <a:spcPts val="345"/>
                        </a:spcBef>
                      </a:pPr>
                      <a:r>
                        <a:rPr sz="400" dirty="0">
                          <a:latin typeface="Tahoma"/>
                          <a:cs typeface="Tahoma"/>
                        </a:rPr>
                        <a:t>T  3</a:t>
                      </a:r>
                      <a:endParaRPr sz="400">
                        <a:latin typeface="Tahoma"/>
                        <a:cs typeface="Tahoma"/>
                      </a:endParaRPr>
                    </a:p>
                    <a:p>
                      <a:pPr marL="92075" marR="104775" algn="just">
                        <a:lnSpc>
                          <a:spcPct val="100000"/>
                        </a:lnSpc>
                      </a:pPr>
                      <a:r>
                        <a:rPr sz="400" dirty="0">
                          <a:latin typeface="Tahoma"/>
                          <a:cs typeface="Tahoma"/>
                        </a:rPr>
                        <a:t>-  T  2</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9C1FA"/>
                    </a:solidFill>
                  </a:tcPr>
                </a:tc>
                <a:tc>
                  <a:txBody>
                    <a:bodyPr/>
                    <a:lstStyle/>
                    <a:p>
                      <a:pPr marL="92075" marR="91440" indent="-635" algn="ctr">
                        <a:lnSpc>
                          <a:spcPct val="100000"/>
                        </a:lnSpc>
                        <a:spcBef>
                          <a:spcPts val="345"/>
                        </a:spcBef>
                      </a:pPr>
                      <a:r>
                        <a:rPr sz="400" dirty="0">
                          <a:latin typeface="Tahoma"/>
                          <a:cs typeface="Tahoma"/>
                        </a:rPr>
                        <a:t>T  3</a:t>
                      </a:r>
                      <a:endParaRPr sz="400">
                        <a:latin typeface="Tahoma"/>
                        <a:cs typeface="Tahoma"/>
                      </a:endParaRPr>
                    </a:p>
                    <a:p>
                      <a:pPr marL="92075" marR="91440" algn="just">
                        <a:lnSpc>
                          <a:spcPct val="100000"/>
                        </a:lnSpc>
                      </a:pPr>
                      <a:r>
                        <a:rPr sz="400" dirty="0">
                          <a:latin typeface="Tahoma"/>
                          <a:cs typeface="Tahoma"/>
                        </a:rPr>
                        <a:t>-  T  3</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9C1FA"/>
                    </a:solidFill>
                  </a:tcPr>
                </a:tc>
                <a:tc>
                  <a:txBody>
                    <a:bodyPr/>
                    <a:lstStyle/>
                    <a:p>
                      <a:pPr marL="92075" marR="91440" indent="-635" algn="ctr">
                        <a:lnSpc>
                          <a:spcPct val="100000"/>
                        </a:lnSpc>
                        <a:spcBef>
                          <a:spcPts val="345"/>
                        </a:spcBef>
                      </a:pPr>
                      <a:r>
                        <a:rPr sz="400" dirty="0">
                          <a:latin typeface="Tahoma"/>
                          <a:cs typeface="Tahoma"/>
                        </a:rPr>
                        <a:t>T  3</a:t>
                      </a:r>
                      <a:endParaRPr sz="400">
                        <a:latin typeface="Tahoma"/>
                        <a:cs typeface="Tahoma"/>
                      </a:endParaRPr>
                    </a:p>
                    <a:p>
                      <a:pPr marL="92075" marR="91440" algn="just">
                        <a:lnSpc>
                          <a:spcPct val="100000"/>
                        </a:lnSpc>
                      </a:pPr>
                      <a:r>
                        <a:rPr sz="400" dirty="0">
                          <a:latin typeface="Tahoma"/>
                          <a:cs typeface="Tahoma"/>
                        </a:rPr>
                        <a:t>-  T  4</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50DBA"/>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2"/>
                  </a:ext>
                </a:extLst>
              </a:tr>
              <a:tr h="396240">
                <a:tc>
                  <a:txBody>
                    <a:bodyPr/>
                    <a:lstStyle/>
                    <a:p>
                      <a:pPr marL="4445" algn="ctr">
                        <a:lnSpc>
                          <a:spcPct val="100000"/>
                        </a:lnSpc>
                        <a:spcBef>
                          <a:spcPts val="345"/>
                        </a:spcBef>
                      </a:pPr>
                      <a:r>
                        <a:rPr sz="400" dirty="0">
                          <a:latin typeface="Tahoma"/>
                          <a:cs typeface="Tahoma"/>
                        </a:rPr>
                        <a:t>T</a:t>
                      </a:r>
                      <a:endParaRPr sz="400">
                        <a:latin typeface="Tahoma"/>
                        <a:cs typeface="Tahoma"/>
                      </a:endParaRPr>
                    </a:p>
                    <a:p>
                      <a:pPr marL="5080" algn="ctr">
                        <a:lnSpc>
                          <a:spcPct val="100000"/>
                        </a:lnSpc>
                        <a:spcBef>
                          <a:spcPts val="5"/>
                        </a:spcBef>
                      </a:pPr>
                      <a:r>
                        <a:rPr sz="400" dirty="0">
                          <a:latin typeface="Tahoma"/>
                          <a:cs typeface="Tahoma"/>
                        </a:rPr>
                        <a:t>4</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R="12700" algn="ctr">
                        <a:lnSpc>
                          <a:spcPct val="100000"/>
                        </a:lnSpc>
                        <a:spcBef>
                          <a:spcPts val="345"/>
                        </a:spcBef>
                      </a:pPr>
                      <a:r>
                        <a:rPr sz="400" dirty="0">
                          <a:latin typeface="Tahoma"/>
                          <a:cs typeface="Tahoma"/>
                        </a:rPr>
                        <a:t>T</a:t>
                      </a:r>
                      <a:endParaRPr sz="400">
                        <a:latin typeface="Tahoma"/>
                        <a:cs typeface="Tahoma"/>
                      </a:endParaRPr>
                    </a:p>
                    <a:p>
                      <a:pPr marR="12700" algn="ctr">
                        <a:lnSpc>
                          <a:spcPct val="100000"/>
                        </a:lnSpc>
                        <a:spcBef>
                          <a:spcPts val="5"/>
                        </a:spcBef>
                      </a:pPr>
                      <a:r>
                        <a:rPr sz="400" dirty="0">
                          <a:latin typeface="Tahoma"/>
                          <a:cs typeface="Tahoma"/>
                        </a:rPr>
                        <a:t>4</a:t>
                      </a:r>
                      <a:endParaRPr sz="400">
                        <a:latin typeface="Tahoma"/>
                        <a:cs typeface="Tahoma"/>
                      </a:endParaRPr>
                    </a:p>
                    <a:p>
                      <a:pPr marL="92075" marR="104775" algn="just">
                        <a:lnSpc>
                          <a:spcPct val="100000"/>
                        </a:lnSpc>
                      </a:pPr>
                      <a:r>
                        <a:rPr sz="400" dirty="0">
                          <a:latin typeface="Tahoma"/>
                          <a:cs typeface="Tahoma"/>
                        </a:rPr>
                        <a:t>-  T  2</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45"/>
                        </a:spcBef>
                      </a:pPr>
                      <a:r>
                        <a:rPr sz="400" dirty="0">
                          <a:latin typeface="Tahoma"/>
                          <a:cs typeface="Tahoma"/>
                        </a:rPr>
                        <a:t>T</a:t>
                      </a:r>
                      <a:endParaRPr sz="400">
                        <a:latin typeface="Tahoma"/>
                        <a:cs typeface="Tahoma"/>
                      </a:endParaRPr>
                    </a:p>
                    <a:p>
                      <a:pPr algn="ctr">
                        <a:lnSpc>
                          <a:spcPct val="100000"/>
                        </a:lnSpc>
                        <a:spcBef>
                          <a:spcPts val="5"/>
                        </a:spcBef>
                      </a:pPr>
                      <a:r>
                        <a:rPr sz="400" dirty="0">
                          <a:latin typeface="Tahoma"/>
                          <a:cs typeface="Tahoma"/>
                        </a:rPr>
                        <a:t>4</a:t>
                      </a:r>
                      <a:endParaRPr sz="400">
                        <a:latin typeface="Tahoma"/>
                        <a:cs typeface="Tahoma"/>
                      </a:endParaRPr>
                    </a:p>
                    <a:p>
                      <a:pPr marL="92075" marR="91440" algn="just">
                        <a:lnSpc>
                          <a:spcPct val="100000"/>
                        </a:lnSpc>
                      </a:pPr>
                      <a:r>
                        <a:rPr sz="400" dirty="0">
                          <a:latin typeface="Tahoma"/>
                          <a:cs typeface="Tahoma"/>
                        </a:rPr>
                        <a:t>-  T  3</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45"/>
                        </a:spcBef>
                      </a:pPr>
                      <a:r>
                        <a:rPr sz="400" dirty="0">
                          <a:latin typeface="Tahoma"/>
                          <a:cs typeface="Tahoma"/>
                        </a:rPr>
                        <a:t>T</a:t>
                      </a:r>
                      <a:endParaRPr sz="400">
                        <a:latin typeface="Tahoma"/>
                        <a:cs typeface="Tahoma"/>
                      </a:endParaRPr>
                    </a:p>
                    <a:p>
                      <a:pPr algn="ctr">
                        <a:lnSpc>
                          <a:spcPct val="100000"/>
                        </a:lnSpc>
                        <a:spcBef>
                          <a:spcPts val="5"/>
                        </a:spcBef>
                      </a:pPr>
                      <a:r>
                        <a:rPr sz="400" dirty="0">
                          <a:latin typeface="Tahoma"/>
                          <a:cs typeface="Tahoma"/>
                        </a:rPr>
                        <a:t>4</a:t>
                      </a:r>
                      <a:endParaRPr sz="400">
                        <a:latin typeface="Tahoma"/>
                        <a:cs typeface="Tahoma"/>
                      </a:endParaRPr>
                    </a:p>
                    <a:p>
                      <a:pPr marL="92075" marR="91440" algn="just">
                        <a:lnSpc>
                          <a:spcPct val="100000"/>
                        </a:lnSpc>
                      </a:pPr>
                      <a:r>
                        <a:rPr sz="400" dirty="0">
                          <a:latin typeface="Tahoma"/>
                          <a:cs typeface="Tahoma"/>
                        </a:rPr>
                        <a:t>-  T  4</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3"/>
                  </a:ext>
                </a:extLst>
              </a:tr>
              <a:tr h="1825104">
                <a:tc gridSpan="5">
                  <a:txBody>
                    <a:bodyPr/>
                    <a:lstStyle/>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marL="20320" marR="330200">
                        <a:lnSpc>
                          <a:spcPct val="100000"/>
                        </a:lnSpc>
                        <a:spcBef>
                          <a:spcPts val="770"/>
                        </a:spcBef>
                      </a:pPr>
                      <a:r>
                        <a:rPr sz="1050" b="1" dirty="0">
                          <a:latin typeface="Tahoma"/>
                          <a:cs typeface="Tahoma"/>
                        </a:rPr>
                        <a:t>4.</a:t>
                      </a:r>
                      <a:r>
                        <a:rPr sz="1050" b="1" spc="-60" dirty="0">
                          <a:latin typeface="Tahoma"/>
                          <a:cs typeface="Tahoma"/>
                        </a:rPr>
                        <a:t> </a:t>
                      </a:r>
                      <a:r>
                        <a:rPr sz="1050" b="1" dirty="0">
                          <a:latin typeface="Tahoma"/>
                          <a:cs typeface="Tahoma"/>
                        </a:rPr>
                        <a:t>We</a:t>
                      </a:r>
                      <a:r>
                        <a:rPr sz="1050" b="1" spc="-55" dirty="0">
                          <a:latin typeface="Tahoma"/>
                          <a:cs typeface="Tahoma"/>
                        </a:rPr>
                        <a:t> </a:t>
                      </a:r>
                      <a:r>
                        <a:rPr sz="1050" b="1" dirty="0">
                          <a:latin typeface="Tahoma"/>
                          <a:cs typeface="Tahoma"/>
                        </a:rPr>
                        <a:t>are</a:t>
                      </a:r>
                      <a:r>
                        <a:rPr sz="1050" b="1" spc="-65" dirty="0">
                          <a:latin typeface="Tahoma"/>
                          <a:cs typeface="Tahoma"/>
                        </a:rPr>
                        <a:t> </a:t>
                      </a:r>
                      <a:r>
                        <a:rPr sz="1050" b="1" dirty="0">
                          <a:latin typeface="Tahoma"/>
                          <a:cs typeface="Tahoma"/>
                        </a:rPr>
                        <a:t>o</a:t>
                      </a:r>
                      <a:r>
                        <a:rPr sz="1050" b="1" spc="-5" dirty="0">
                          <a:latin typeface="Tahoma"/>
                          <a:cs typeface="Tahoma"/>
                        </a:rPr>
                        <a:t>n</a:t>
                      </a:r>
                      <a:r>
                        <a:rPr sz="1050" b="1" spc="-10" dirty="0">
                          <a:latin typeface="Tahoma"/>
                          <a:cs typeface="Tahoma"/>
                        </a:rPr>
                        <a:t>l</a:t>
                      </a:r>
                      <a:r>
                        <a:rPr sz="1050" b="1" dirty="0">
                          <a:latin typeface="Tahoma"/>
                          <a:cs typeface="Tahoma"/>
                        </a:rPr>
                        <a:t>y</a:t>
                      </a:r>
                      <a:r>
                        <a:rPr sz="1050" b="1" spc="-55" dirty="0">
                          <a:latin typeface="Tahoma"/>
                          <a:cs typeface="Tahoma"/>
                        </a:rPr>
                        <a:t> </a:t>
                      </a:r>
                      <a:r>
                        <a:rPr sz="1050" b="1" dirty="0">
                          <a:latin typeface="Tahoma"/>
                          <a:cs typeface="Tahoma"/>
                        </a:rPr>
                        <a:t>int</a:t>
                      </a:r>
                      <a:r>
                        <a:rPr sz="1050" b="1" spc="-10" dirty="0">
                          <a:latin typeface="Tahoma"/>
                          <a:cs typeface="Tahoma"/>
                        </a:rPr>
                        <a:t>e</a:t>
                      </a:r>
                      <a:r>
                        <a:rPr sz="1050" b="1" dirty="0">
                          <a:latin typeface="Tahoma"/>
                          <a:cs typeface="Tahoma"/>
                        </a:rPr>
                        <a:t>r</a:t>
                      </a:r>
                      <a:r>
                        <a:rPr sz="1050" b="1" spc="-5" dirty="0">
                          <a:latin typeface="Tahoma"/>
                          <a:cs typeface="Tahoma"/>
                        </a:rPr>
                        <a:t>e</a:t>
                      </a:r>
                      <a:r>
                        <a:rPr sz="1050" b="1" dirty="0">
                          <a:latin typeface="Tahoma"/>
                          <a:cs typeface="Tahoma"/>
                        </a:rPr>
                        <a:t>st</a:t>
                      </a:r>
                      <a:r>
                        <a:rPr sz="1050" b="1" spc="-10" dirty="0">
                          <a:latin typeface="Tahoma"/>
                          <a:cs typeface="Tahoma"/>
                        </a:rPr>
                        <a:t>e</a:t>
                      </a:r>
                      <a:r>
                        <a:rPr sz="1050" b="1" dirty="0">
                          <a:latin typeface="Tahoma"/>
                          <a:cs typeface="Tahoma"/>
                        </a:rPr>
                        <a:t>d  In</a:t>
                      </a:r>
                      <a:r>
                        <a:rPr sz="1050" b="1" spc="-45" dirty="0">
                          <a:latin typeface="Tahoma"/>
                          <a:cs typeface="Tahoma"/>
                        </a:rPr>
                        <a:t> </a:t>
                      </a:r>
                      <a:r>
                        <a:rPr sz="1050" b="1" spc="-5" dirty="0">
                          <a:latin typeface="Tahoma"/>
                          <a:cs typeface="Tahoma"/>
                        </a:rPr>
                        <a:t>thi</a:t>
                      </a:r>
                      <a:r>
                        <a:rPr sz="1050" b="1" dirty="0">
                          <a:latin typeface="Tahoma"/>
                          <a:cs typeface="Tahoma"/>
                        </a:rPr>
                        <a:t>s</a:t>
                      </a:r>
                      <a:r>
                        <a:rPr sz="1050" b="1" spc="-55" dirty="0">
                          <a:latin typeface="Tahoma"/>
                          <a:cs typeface="Tahoma"/>
                        </a:rPr>
                        <a:t> </a:t>
                      </a:r>
                      <a:r>
                        <a:rPr sz="1050" b="1" dirty="0">
                          <a:latin typeface="Tahoma"/>
                          <a:cs typeface="Tahoma"/>
                        </a:rPr>
                        <a:t>last</a:t>
                      </a:r>
                      <a:r>
                        <a:rPr sz="1050" b="1" spc="-55" dirty="0">
                          <a:latin typeface="Tahoma"/>
                          <a:cs typeface="Tahoma"/>
                        </a:rPr>
                        <a:t> </a:t>
                      </a:r>
                      <a:r>
                        <a:rPr sz="1050" b="1" dirty="0">
                          <a:latin typeface="Tahoma"/>
                          <a:cs typeface="Tahoma"/>
                        </a:rPr>
                        <a:t>r</a:t>
                      </a:r>
                      <a:r>
                        <a:rPr sz="1050" b="1" spc="5" dirty="0">
                          <a:latin typeface="Tahoma"/>
                          <a:cs typeface="Tahoma"/>
                        </a:rPr>
                        <a:t>o</a:t>
                      </a:r>
                      <a:r>
                        <a:rPr sz="1050" b="1" dirty="0">
                          <a:latin typeface="Tahoma"/>
                          <a:cs typeface="Tahoma"/>
                        </a:rPr>
                        <a:t>w!</a:t>
                      </a:r>
                      <a:endParaRPr sz="1050">
                        <a:latin typeface="Tahoma"/>
                        <a:cs typeface="Tahoma"/>
                      </a:endParaRPr>
                    </a:p>
                  </a:txBody>
                  <a:tcPr marL="0" marR="0" marT="0" marB="0">
                    <a:lnL w="12700">
                      <a:solidFill>
                        <a:srgbClr val="FFFFFF"/>
                      </a:solidFill>
                      <a:prstDash val="solid"/>
                    </a:lnL>
                    <a:lnR w="12700">
                      <a:solidFill>
                        <a:srgbClr val="FFFFFF"/>
                      </a:solidFill>
                      <a:prstDash val="solid"/>
                    </a:lnR>
                    <a:lnT w="12700" cap="flat" cmpd="sng" algn="ctr">
                      <a:solidFill>
                        <a:srgbClr val="000000"/>
                      </a:solidFill>
                      <a:prstDash val="solid"/>
                      <a:round/>
                      <a:headEnd type="none" w="med" len="med"/>
                      <a:tailEnd type="none" w="med" len="med"/>
                    </a:lnT>
                    <a:lnB w="12700">
                      <a:solidFill>
                        <a:srgbClr val="FFFFFF"/>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4"/>
                  </a:ext>
                </a:extLst>
              </a:tr>
            </a:tbl>
          </a:graphicData>
        </a:graphic>
      </p:graphicFrame>
      <p:graphicFrame>
        <p:nvGraphicFramePr>
          <p:cNvPr id="7" name="object 7"/>
          <p:cNvGraphicFramePr>
            <a:graphicFrameLocks noGrp="1"/>
          </p:cNvGraphicFramePr>
          <p:nvPr>
            <p:extLst>
              <p:ext uri="{D42A27DB-BD31-4B8C-83A1-F6EECF244321}">
                <p14:modId xmlns:p14="http://schemas.microsoft.com/office/powerpoint/2010/main" val="2923948564"/>
              </p:ext>
            </p:extLst>
          </p:nvPr>
        </p:nvGraphicFramePr>
        <p:xfrm>
          <a:off x="8400158" y="2864740"/>
          <a:ext cx="1097280" cy="1920239"/>
        </p:xfrm>
        <a:graphic>
          <a:graphicData uri="http://schemas.openxmlformats.org/drawingml/2006/table">
            <a:tbl>
              <a:tblPr firstRow="1" bandRow="1">
                <a:tableStyleId>{2D5ABB26-0587-4C30-8999-92F81FD0307C}</a:tableStyleId>
              </a:tblPr>
              <a:tblGrid>
                <a:gridCol w="1097280">
                  <a:extLst>
                    <a:ext uri="{9D8B030D-6E8A-4147-A177-3AD203B41FA5}">
                      <a16:colId xmlns:a16="http://schemas.microsoft.com/office/drawing/2014/main" val="20000"/>
                    </a:ext>
                  </a:extLst>
                </a:gridCol>
              </a:tblGrid>
              <a:tr h="213360">
                <a:tc>
                  <a:txBody>
                    <a:bodyPr/>
                    <a:lstStyle/>
                    <a:p>
                      <a:pPr marL="92075">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1</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0"/>
                  </a:ext>
                </a:extLst>
              </a:tr>
              <a:tr h="213359">
                <a:tc>
                  <a:txBody>
                    <a:bodyPr/>
                    <a:lstStyle/>
                    <a:p>
                      <a:pPr marL="92075">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2</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1"/>
                  </a:ext>
                </a:extLst>
              </a:tr>
              <a:tr h="213360">
                <a:tc>
                  <a:txBody>
                    <a:bodyPr/>
                    <a:lstStyle/>
                    <a:p>
                      <a:pPr marL="92075">
                        <a:lnSpc>
                          <a:spcPct val="100000"/>
                        </a:lnSpc>
                        <a:spcBef>
                          <a:spcPts val="330"/>
                        </a:spcBef>
                      </a:pPr>
                      <a:r>
                        <a:rPr sz="800" spc="-5" dirty="0">
                          <a:latin typeface="Tahoma"/>
                          <a:cs typeface="Tahoma"/>
                        </a:rPr>
                        <a:t>TOK</a:t>
                      </a:r>
                      <a:r>
                        <a:rPr sz="800" dirty="0">
                          <a:latin typeface="Tahoma"/>
                          <a:cs typeface="Tahoma"/>
                        </a:rPr>
                        <a:t>EN</a:t>
                      </a:r>
                      <a:r>
                        <a:rPr sz="800" spc="-75" dirty="0">
                          <a:latin typeface="Tahoma"/>
                          <a:cs typeface="Tahoma"/>
                        </a:rPr>
                        <a:t> </a:t>
                      </a:r>
                      <a:r>
                        <a:rPr sz="800" dirty="0">
                          <a:latin typeface="Tahoma"/>
                          <a:cs typeface="Tahoma"/>
                        </a:rPr>
                        <a:t>3</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2"/>
                  </a:ext>
                </a:extLst>
              </a:tr>
              <a:tr h="213360">
                <a:tc>
                  <a:txBody>
                    <a:bodyPr/>
                    <a:lstStyle/>
                    <a:p>
                      <a:pPr marL="92075">
                        <a:lnSpc>
                          <a:spcPct val="100000"/>
                        </a:lnSpc>
                        <a:spcBef>
                          <a:spcPts val="335"/>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4</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3"/>
                  </a:ext>
                </a:extLst>
              </a:tr>
              <a:tr h="1066800">
                <a:tc>
                  <a:txBody>
                    <a:bodyPr/>
                    <a:lstStyle/>
                    <a:p>
                      <a:pPr>
                        <a:lnSpc>
                          <a:spcPct val="100000"/>
                        </a:lnSpc>
                      </a:pPr>
                      <a:endParaRPr sz="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000000"/>
                      </a:solidFill>
                      <a:prstDash val="solid"/>
                    </a:lnT>
                    <a:lnB w="12700">
                      <a:solidFill>
                        <a:srgbClr val="FFFFFF"/>
                      </a:solidFill>
                      <a:prstDash val="solid"/>
                    </a:lnB>
                  </a:tcPr>
                </a:tc>
                <a:extLst>
                  <a:ext uri="{0D108BD9-81ED-4DB2-BD59-A6C34878D82A}">
                    <a16:rowId xmlns:a16="http://schemas.microsoft.com/office/drawing/2014/main" val="10004"/>
                  </a:ext>
                </a:extLst>
              </a:tr>
            </a:tbl>
          </a:graphicData>
        </a:graphic>
      </p:graphicFrame>
      <p:grpSp>
        <p:nvGrpSpPr>
          <p:cNvPr id="8" name="object 8"/>
          <p:cNvGrpSpPr/>
          <p:nvPr/>
        </p:nvGrpSpPr>
        <p:grpSpPr>
          <a:xfrm>
            <a:off x="10439397" y="2864740"/>
            <a:ext cx="1109980" cy="652780"/>
            <a:chOff x="10087609" y="2981960"/>
            <a:chExt cx="1109980" cy="652780"/>
          </a:xfrm>
        </p:grpSpPr>
        <p:sp>
          <p:nvSpPr>
            <p:cNvPr id="9" name="object 9"/>
            <p:cNvSpPr/>
            <p:nvPr/>
          </p:nvSpPr>
          <p:spPr>
            <a:xfrm>
              <a:off x="10093960" y="2988309"/>
              <a:ext cx="1097280" cy="640080"/>
            </a:xfrm>
            <a:custGeom>
              <a:avLst/>
              <a:gdLst/>
              <a:ahLst/>
              <a:cxnLst/>
              <a:rect l="l" t="t" r="r" b="b"/>
              <a:pathLst>
                <a:path w="1097279" h="640079">
                  <a:moveTo>
                    <a:pt x="1097241" y="0"/>
                  </a:moveTo>
                  <a:lnTo>
                    <a:pt x="0" y="0"/>
                  </a:lnTo>
                  <a:lnTo>
                    <a:pt x="0" y="213360"/>
                  </a:lnTo>
                  <a:lnTo>
                    <a:pt x="0" y="426720"/>
                  </a:lnTo>
                  <a:lnTo>
                    <a:pt x="0" y="640080"/>
                  </a:lnTo>
                  <a:lnTo>
                    <a:pt x="1097241" y="640080"/>
                  </a:lnTo>
                  <a:lnTo>
                    <a:pt x="1097241" y="426720"/>
                  </a:lnTo>
                  <a:lnTo>
                    <a:pt x="1097241" y="213360"/>
                  </a:lnTo>
                  <a:lnTo>
                    <a:pt x="1097241" y="0"/>
                  </a:lnTo>
                  <a:close/>
                </a:path>
              </a:pathLst>
            </a:custGeom>
            <a:solidFill>
              <a:srgbClr val="FFAD78"/>
            </a:solidFill>
          </p:spPr>
          <p:txBody>
            <a:bodyPr wrap="square" lIns="0" tIns="0" rIns="0" bIns="0" rtlCol="0"/>
            <a:lstStyle/>
            <a:p>
              <a:endParaRPr/>
            </a:p>
          </p:txBody>
        </p:sp>
        <p:sp>
          <p:nvSpPr>
            <p:cNvPr id="10" name="object 10"/>
            <p:cNvSpPr/>
            <p:nvPr/>
          </p:nvSpPr>
          <p:spPr>
            <a:xfrm>
              <a:off x="10093959" y="2988310"/>
              <a:ext cx="1097280" cy="640080"/>
            </a:xfrm>
            <a:custGeom>
              <a:avLst/>
              <a:gdLst/>
              <a:ahLst/>
              <a:cxnLst/>
              <a:rect l="l" t="t" r="r" b="b"/>
              <a:pathLst>
                <a:path w="1097279" h="640079">
                  <a:moveTo>
                    <a:pt x="0" y="0"/>
                  </a:moveTo>
                  <a:lnTo>
                    <a:pt x="1097280" y="213360"/>
                  </a:lnTo>
                </a:path>
                <a:path w="1097279" h="640079">
                  <a:moveTo>
                    <a:pt x="0" y="213360"/>
                  </a:moveTo>
                  <a:lnTo>
                    <a:pt x="1097280" y="0"/>
                  </a:lnTo>
                </a:path>
                <a:path w="1097279" h="640079">
                  <a:moveTo>
                    <a:pt x="0" y="213360"/>
                  </a:moveTo>
                  <a:lnTo>
                    <a:pt x="1097280" y="426719"/>
                  </a:lnTo>
                </a:path>
                <a:path w="1097279" h="640079">
                  <a:moveTo>
                    <a:pt x="0" y="426719"/>
                  </a:moveTo>
                  <a:lnTo>
                    <a:pt x="1097280" y="213360"/>
                  </a:lnTo>
                </a:path>
                <a:path w="1097279" h="640079">
                  <a:moveTo>
                    <a:pt x="0" y="426719"/>
                  </a:moveTo>
                  <a:lnTo>
                    <a:pt x="1097280" y="640079"/>
                  </a:lnTo>
                </a:path>
                <a:path w="1097279" h="640079">
                  <a:moveTo>
                    <a:pt x="0" y="640079"/>
                  </a:moveTo>
                  <a:lnTo>
                    <a:pt x="1097280" y="426719"/>
                  </a:lnTo>
                </a:path>
              </a:pathLst>
            </a:custGeom>
            <a:ln w="12700">
              <a:solidFill>
                <a:srgbClr val="000000"/>
              </a:solidFill>
            </a:ln>
          </p:spPr>
          <p:txBody>
            <a:bodyPr wrap="square" lIns="0" tIns="0" rIns="0" bIns="0" rtlCol="0"/>
            <a:lstStyle/>
            <a:p>
              <a:endParaRPr/>
            </a:p>
          </p:txBody>
        </p:sp>
      </p:grpSp>
      <p:graphicFrame>
        <p:nvGraphicFramePr>
          <p:cNvPr id="11" name="object 11"/>
          <p:cNvGraphicFramePr>
            <a:graphicFrameLocks noGrp="1"/>
          </p:cNvGraphicFramePr>
          <p:nvPr>
            <p:extLst>
              <p:ext uri="{D42A27DB-BD31-4B8C-83A1-F6EECF244321}">
                <p14:modId xmlns:p14="http://schemas.microsoft.com/office/powerpoint/2010/main" val="3962651587"/>
              </p:ext>
            </p:extLst>
          </p:nvPr>
        </p:nvGraphicFramePr>
        <p:xfrm>
          <a:off x="10439397" y="2864740"/>
          <a:ext cx="1097280" cy="1920239"/>
        </p:xfrm>
        <a:graphic>
          <a:graphicData uri="http://schemas.openxmlformats.org/drawingml/2006/table">
            <a:tbl>
              <a:tblPr firstRow="1" bandRow="1">
                <a:tableStyleId>{2D5ABB26-0587-4C30-8999-92F81FD0307C}</a:tableStyleId>
              </a:tblPr>
              <a:tblGrid>
                <a:gridCol w="1097280">
                  <a:extLst>
                    <a:ext uri="{9D8B030D-6E8A-4147-A177-3AD203B41FA5}">
                      <a16:colId xmlns:a16="http://schemas.microsoft.com/office/drawing/2014/main" val="20000"/>
                    </a:ext>
                  </a:extLst>
                </a:gridCol>
              </a:tblGrid>
              <a:tr h="213360">
                <a:tc>
                  <a:txBody>
                    <a:bodyPr/>
                    <a:lstStyle/>
                    <a:p>
                      <a:pPr marL="92710">
                        <a:lnSpc>
                          <a:spcPct val="100000"/>
                        </a:lnSpc>
                        <a:spcBef>
                          <a:spcPts val="330"/>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1</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13359">
                <a:tc>
                  <a:txBody>
                    <a:bodyPr/>
                    <a:lstStyle/>
                    <a:p>
                      <a:pPr marL="92710">
                        <a:lnSpc>
                          <a:spcPct val="100000"/>
                        </a:lnSpc>
                        <a:spcBef>
                          <a:spcPts val="330"/>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2</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213360">
                <a:tc>
                  <a:txBody>
                    <a:bodyPr/>
                    <a:lstStyle/>
                    <a:p>
                      <a:pPr marL="92710">
                        <a:lnSpc>
                          <a:spcPct val="100000"/>
                        </a:lnSpc>
                        <a:spcBef>
                          <a:spcPts val="330"/>
                        </a:spcBef>
                      </a:pPr>
                      <a:r>
                        <a:rPr sz="800" spc="-5" dirty="0">
                          <a:latin typeface="Tahoma"/>
                          <a:cs typeface="Tahoma"/>
                        </a:rPr>
                        <a:t>OUTP</a:t>
                      </a:r>
                      <a:r>
                        <a:rPr sz="800" spc="-10" dirty="0">
                          <a:latin typeface="Tahoma"/>
                          <a:cs typeface="Tahoma"/>
                        </a:rPr>
                        <a:t>U</a:t>
                      </a:r>
                      <a:r>
                        <a:rPr sz="800" dirty="0">
                          <a:latin typeface="Tahoma"/>
                          <a:cs typeface="Tahoma"/>
                        </a:rPr>
                        <a:t>T</a:t>
                      </a:r>
                      <a:r>
                        <a:rPr sz="800" spc="-100" dirty="0">
                          <a:latin typeface="Tahoma"/>
                          <a:cs typeface="Tahoma"/>
                        </a:rPr>
                        <a:t> </a:t>
                      </a:r>
                      <a:r>
                        <a:rPr sz="800" spc="-5" dirty="0">
                          <a:latin typeface="Tahoma"/>
                          <a:cs typeface="Tahoma"/>
                        </a:rPr>
                        <a:t>TOK</a:t>
                      </a:r>
                      <a:r>
                        <a:rPr sz="800" dirty="0">
                          <a:latin typeface="Tahoma"/>
                          <a:cs typeface="Tahoma"/>
                        </a:rPr>
                        <a:t>EN</a:t>
                      </a:r>
                      <a:r>
                        <a:rPr sz="800" spc="-75" dirty="0">
                          <a:latin typeface="Tahoma"/>
                          <a:cs typeface="Tahoma"/>
                        </a:rPr>
                        <a:t> </a:t>
                      </a:r>
                      <a:r>
                        <a:rPr sz="800" dirty="0">
                          <a:latin typeface="Tahoma"/>
                          <a:cs typeface="Tahoma"/>
                        </a:rPr>
                        <a:t>3</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13360">
                <a:tc>
                  <a:txBody>
                    <a:bodyPr/>
                    <a:lstStyle/>
                    <a:p>
                      <a:pPr marL="92710">
                        <a:lnSpc>
                          <a:spcPct val="100000"/>
                        </a:lnSpc>
                        <a:spcBef>
                          <a:spcPts val="335"/>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4</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3"/>
                  </a:ext>
                </a:extLst>
              </a:tr>
              <a:tr h="1066800">
                <a:tc>
                  <a:txBody>
                    <a:bodyPr/>
                    <a:lstStyle/>
                    <a:p>
                      <a:pPr>
                        <a:lnSpc>
                          <a:spcPct val="100000"/>
                        </a:lnSpc>
                      </a:pPr>
                      <a:endParaRPr sz="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000000"/>
                      </a:solidFill>
                      <a:prstDash val="solid"/>
                    </a:lnT>
                    <a:lnB w="12700">
                      <a:solidFill>
                        <a:srgbClr val="FFFFFF"/>
                      </a:solidFill>
                      <a:prstDash val="solid"/>
                    </a:lnB>
                  </a:tcPr>
                </a:tc>
                <a:extLst>
                  <a:ext uri="{0D108BD9-81ED-4DB2-BD59-A6C34878D82A}">
                    <a16:rowId xmlns:a16="http://schemas.microsoft.com/office/drawing/2014/main" val="10004"/>
                  </a:ext>
                </a:extLst>
              </a:tr>
            </a:tbl>
          </a:graphicData>
        </a:graphic>
      </p:graphicFrame>
      <p:sp>
        <p:nvSpPr>
          <p:cNvPr id="12" name="object 12"/>
          <p:cNvSpPr/>
          <p:nvPr/>
        </p:nvSpPr>
        <p:spPr>
          <a:xfrm>
            <a:off x="773680" y="1797372"/>
            <a:ext cx="173990" cy="3621404"/>
          </a:xfrm>
          <a:custGeom>
            <a:avLst/>
            <a:gdLst/>
            <a:ahLst/>
            <a:cxnLst/>
            <a:rect l="l" t="t" r="r" b="b"/>
            <a:pathLst>
              <a:path w="173990" h="3621404">
                <a:moveTo>
                  <a:pt x="173736" y="3621024"/>
                </a:moveTo>
                <a:lnTo>
                  <a:pt x="106111" y="3619886"/>
                </a:lnTo>
                <a:lnTo>
                  <a:pt x="50887" y="3616785"/>
                </a:lnTo>
                <a:lnTo>
                  <a:pt x="13653" y="3612183"/>
                </a:lnTo>
                <a:lnTo>
                  <a:pt x="0" y="3606546"/>
                </a:lnTo>
                <a:lnTo>
                  <a:pt x="0" y="14478"/>
                </a:lnTo>
                <a:lnTo>
                  <a:pt x="13653" y="8840"/>
                </a:lnTo>
                <a:lnTo>
                  <a:pt x="50887" y="4238"/>
                </a:lnTo>
                <a:lnTo>
                  <a:pt x="106111" y="1137"/>
                </a:lnTo>
                <a:lnTo>
                  <a:pt x="173736" y="0"/>
                </a:lnTo>
              </a:path>
            </a:pathLst>
          </a:custGeom>
          <a:ln w="76200">
            <a:solidFill>
              <a:srgbClr val="4E91EF"/>
            </a:solidFill>
          </a:ln>
        </p:spPr>
        <p:txBody>
          <a:bodyPr wrap="square" lIns="0" tIns="0" rIns="0" bIns="0" rtlCol="0"/>
          <a:lstStyle/>
          <a:p>
            <a:endParaRPr/>
          </a:p>
        </p:txBody>
      </p:sp>
      <p:sp>
        <p:nvSpPr>
          <p:cNvPr id="13" name="object 13"/>
          <p:cNvSpPr/>
          <p:nvPr/>
        </p:nvSpPr>
        <p:spPr>
          <a:xfrm>
            <a:off x="7421367" y="1797372"/>
            <a:ext cx="173990" cy="3621404"/>
          </a:xfrm>
          <a:custGeom>
            <a:avLst/>
            <a:gdLst/>
            <a:ahLst/>
            <a:cxnLst/>
            <a:rect l="l" t="t" r="r" b="b"/>
            <a:pathLst>
              <a:path w="173990" h="3621404">
                <a:moveTo>
                  <a:pt x="0" y="0"/>
                </a:moveTo>
                <a:lnTo>
                  <a:pt x="67651" y="1137"/>
                </a:lnTo>
                <a:lnTo>
                  <a:pt x="122872" y="4238"/>
                </a:lnTo>
                <a:lnTo>
                  <a:pt x="160091" y="8840"/>
                </a:lnTo>
                <a:lnTo>
                  <a:pt x="173735" y="14478"/>
                </a:lnTo>
                <a:lnTo>
                  <a:pt x="173735" y="3606546"/>
                </a:lnTo>
                <a:lnTo>
                  <a:pt x="160091" y="3612183"/>
                </a:lnTo>
                <a:lnTo>
                  <a:pt x="122872" y="3616785"/>
                </a:lnTo>
                <a:lnTo>
                  <a:pt x="67651" y="3619886"/>
                </a:lnTo>
                <a:lnTo>
                  <a:pt x="0" y="3621024"/>
                </a:lnTo>
              </a:path>
            </a:pathLst>
          </a:custGeom>
          <a:ln w="76200">
            <a:solidFill>
              <a:srgbClr val="4E91EF"/>
            </a:solidFill>
          </a:ln>
        </p:spPr>
        <p:txBody>
          <a:bodyPr wrap="square" lIns="0" tIns="0" rIns="0" bIns="0" rtlCol="0"/>
          <a:lstStyle/>
          <a:p>
            <a:endParaRPr/>
          </a:p>
        </p:txBody>
      </p:sp>
      <p:sp>
        <p:nvSpPr>
          <p:cNvPr id="14" name="object 14"/>
          <p:cNvSpPr txBox="1"/>
          <p:nvPr/>
        </p:nvSpPr>
        <p:spPr>
          <a:xfrm>
            <a:off x="7845677" y="3531616"/>
            <a:ext cx="17335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𝑋</a:t>
            </a:r>
            <a:endParaRPr sz="1800">
              <a:cs typeface="Cambria Math"/>
            </a:endParaRPr>
          </a:p>
        </p:txBody>
      </p:sp>
      <p:sp>
        <p:nvSpPr>
          <p:cNvPr id="15" name="object 15"/>
          <p:cNvSpPr txBox="1"/>
          <p:nvPr/>
        </p:nvSpPr>
        <p:spPr>
          <a:xfrm>
            <a:off x="9876915" y="3531616"/>
            <a:ext cx="19621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a:t>
            </a:r>
            <a:endParaRPr sz="1800">
              <a:cs typeface="Cambria Math"/>
            </a:endParaRPr>
          </a:p>
        </p:txBody>
      </p:sp>
      <p:sp>
        <p:nvSpPr>
          <p:cNvPr id="16" name="object 16"/>
          <p:cNvSpPr txBox="1"/>
          <p:nvPr/>
        </p:nvSpPr>
        <p:spPr>
          <a:xfrm>
            <a:off x="1420262" y="2285433"/>
            <a:ext cx="18034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𝑄</a:t>
            </a:r>
            <a:endParaRPr sz="1800">
              <a:cs typeface="Cambria Math"/>
            </a:endParaRPr>
          </a:p>
        </p:txBody>
      </p:sp>
      <p:sp>
        <p:nvSpPr>
          <p:cNvPr id="17" name="object 17"/>
          <p:cNvSpPr txBox="1"/>
          <p:nvPr/>
        </p:nvSpPr>
        <p:spPr>
          <a:xfrm>
            <a:off x="3495544" y="2205043"/>
            <a:ext cx="351790" cy="299720"/>
          </a:xfrm>
          <a:prstGeom prst="rect">
            <a:avLst/>
          </a:prstGeom>
        </p:spPr>
        <p:txBody>
          <a:bodyPr vert="horz" wrap="square" lIns="0" tIns="12700" rIns="0" bIns="0" rtlCol="0">
            <a:spAutoFit/>
          </a:bodyPr>
          <a:lstStyle/>
          <a:p>
            <a:pPr marL="38100">
              <a:lnSpc>
                <a:spcPct val="100000"/>
              </a:lnSpc>
              <a:spcBef>
                <a:spcPts val="100"/>
              </a:spcBef>
            </a:pPr>
            <a:r>
              <a:rPr sz="2700" spc="97" baseline="-20061" dirty="0">
                <a:cs typeface="Cambria Math"/>
              </a:rPr>
              <a:t>𝐾</a:t>
            </a:r>
            <a:r>
              <a:rPr sz="1300" spc="65" dirty="0">
                <a:cs typeface="Cambria Math"/>
              </a:rPr>
              <a:t>𝑇</a:t>
            </a:r>
            <a:endParaRPr sz="1300">
              <a:cs typeface="Cambria Math"/>
            </a:endParaRPr>
          </a:p>
        </p:txBody>
      </p:sp>
      <p:sp>
        <p:nvSpPr>
          <p:cNvPr id="18" name="object 18"/>
          <p:cNvSpPr txBox="1"/>
          <p:nvPr/>
        </p:nvSpPr>
        <p:spPr>
          <a:xfrm>
            <a:off x="5953501" y="1736794"/>
            <a:ext cx="511809" cy="299720"/>
          </a:xfrm>
          <a:prstGeom prst="rect">
            <a:avLst/>
          </a:prstGeom>
        </p:spPr>
        <p:txBody>
          <a:bodyPr vert="horz" wrap="square" lIns="0" tIns="12700" rIns="0" bIns="0" rtlCol="0">
            <a:spAutoFit/>
          </a:bodyPr>
          <a:lstStyle/>
          <a:p>
            <a:pPr marL="38100">
              <a:lnSpc>
                <a:spcPct val="100000"/>
              </a:lnSpc>
              <a:spcBef>
                <a:spcPts val="100"/>
              </a:spcBef>
            </a:pPr>
            <a:r>
              <a:rPr sz="1800" spc="55" dirty="0">
                <a:cs typeface="Cambria Math"/>
              </a:rPr>
              <a:t>𝑄𝐾</a:t>
            </a:r>
            <a:r>
              <a:rPr sz="1950" spc="82" baseline="27777" dirty="0">
                <a:cs typeface="Cambria Math"/>
              </a:rPr>
              <a:t>𝑇</a:t>
            </a:r>
            <a:endParaRPr sz="1950" baseline="27777">
              <a:cs typeface="Cambria Math"/>
            </a:endParaRPr>
          </a:p>
        </p:txBody>
      </p:sp>
      <p:sp>
        <p:nvSpPr>
          <p:cNvPr id="19" name="object 19"/>
          <p:cNvSpPr txBox="1"/>
          <p:nvPr/>
        </p:nvSpPr>
        <p:spPr>
          <a:xfrm>
            <a:off x="8867645" y="2344420"/>
            <a:ext cx="16891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𝑉</a:t>
            </a:r>
            <a:endParaRPr sz="1800">
              <a:cs typeface="Cambria Math"/>
            </a:endParaRPr>
          </a:p>
        </p:txBody>
      </p:sp>
      <p:sp>
        <p:nvSpPr>
          <p:cNvPr id="20" name="object 20"/>
          <p:cNvSpPr txBox="1"/>
          <p:nvPr/>
        </p:nvSpPr>
        <p:spPr>
          <a:xfrm>
            <a:off x="10487149" y="2340230"/>
            <a:ext cx="1009650" cy="299720"/>
          </a:xfrm>
          <a:prstGeom prst="rect">
            <a:avLst/>
          </a:prstGeom>
        </p:spPr>
        <p:txBody>
          <a:bodyPr vert="horz" wrap="square" lIns="0" tIns="12700" rIns="0" bIns="0" rtlCol="0">
            <a:spAutoFit/>
          </a:bodyPr>
          <a:lstStyle/>
          <a:p>
            <a:pPr marL="12700">
              <a:lnSpc>
                <a:spcPct val="100000"/>
              </a:lnSpc>
              <a:spcBef>
                <a:spcPts val="100"/>
              </a:spcBef>
            </a:pPr>
            <a:r>
              <a:rPr sz="1800" spc="-5" dirty="0">
                <a:cs typeface="Cambria Math"/>
              </a:rPr>
              <a:t>𝐴𝑡</a:t>
            </a:r>
            <a:r>
              <a:rPr sz="1800" spc="-10" dirty="0">
                <a:cs typeface="Cambria Math"/>
              </a:rPr>
              <a:t>𝑡</a:t>
            </a:r>
            <a:r>
              <a:rPr sz="1800" spc="-5" dirty="0">
                <a:cs typeface="Cambria Math"/>
              </a:rPr>
              <a:t>𝑒</a:t>
            </a:r>
            <a:r>
              <a:rPr sz="1800" spc="-10" dirty="0">
                <a:cs typeface="Cambria Math"/>
              </a:rPr>
              <a:t>𝑛</a:t>
            </a:r>
            <a:r>
              <a:rPr sz="1800" dirty="0">
                <a:cs typeface="Cambria Math"/>
              </a:rPr>
              <a:t>𝑡𝑖𝑜𝑛</a:t>
            </a:r>
            <a:endParaRPr sz="1800">
              <a:cs typeface="Cambria Math"/>
            </a:endParaRPr>
          </a:p>
        </p:txBody>
      </p:sp>
      <p:sp>
        <p:nvSpPr>
          <p:cNvPr id="21" name="object 21"/>
          <p:cNvSpPr/>
          <p:nvPr/>
        </p:nvSpPr>
        <p:spPr>
          <a:xfrm>
            <a:off x="8702290" y="5716021"/>
            <a:ext cx="800100" cy="212090"/>
          </a:xfrm>
          <a:custGeom>
            <a:avLst/>
            <a:gdLst/>
            <a:ahLst/>
            <a:cxnLst/>
            <a:rect l="l" t="t" r="r" b="b"/>
            <a:pathLst>
              <a:path w="800100" h="212089">
                <a:moveTo>
                  <a:pt x="732408" y="0"/>
                </a:moveTo>
                <a:lnTo>
                  <a:pt x="729360" y="8597"/>
                </a:lnTo>
                <a:lnTo>
                  <a:pt x="741628" y="13915"/>
                </a:lnTo>
                <a:lnTo>
                  <a:pt x="752157" y="21277"/>
                </a:lnTo>
                <a:lnTo>
                  <a:pt x="773596" y="55406"/>
                </a:lnTo>
                <a:lnTo>
                  <a:pt x="780668" y="104813"/>
                </a:lnTo>
                <a:lnTo>
                  <a:pt x="779883" y="123484"/>
                </a:lnTo>
                <a:lnTo>
                  <a:pt x="768096" y="169214"/>
                </a:lnTo>
                <a:lnTo>
                  <a:pt x="741789" y="197805"/>
                </a:lnTo>
                <a:lnTo>
                  <a:pt x="729741" y="203149"/>
                </a:lnTo>
                <a:lnTo>
                  <a:pt x="732408" y="211747"/>
                </a:lnTo>
                <a:lnTo>
                  <a:pt x="772824" y="187703"/>
                </a:lnTo>
                <a:lnTo>
                  <a:pt x="795591" y="143335"/>
                </a:lnTo>
                <a:lnTo>
                  <a:pt x="799973" y="105930"/>
                </a:lnTo>
                <a:lnTo>
                  <a:pt x="798877" y="86513"/>
                </a:lnTo>
                <a:lnTo>
                  <a:pt x="782447" y="37109"/>
                </a:lnTo>
                <a:lnTo>
                  <a:pt x="747746" y="5541"/>
                </a:lnTo>
                <a:lnTo>
                  <a:pt x="732408" y="0"/>
                </a:lnTo>
                <a:close/>
              </a:path>
              <a:path w="800100" h="212089">
                <a:moveTo>
                  <a:pt x="67563" y="0"/>
                </a:moveTo>
                <a:lnTo>
                  <a:pt x="27112" y="24095"/>
                </a:lnTo>
                <a:lnTo>
                  <a:pt x="4365" y="68572"/>
                </a:lnTo>
                <a:lnTo>
                  <a:pt x="0" y="105930"/>
                </a:lnTo>
                <a:lnTo>
                  <a:pt x="1093" y="125383"/>
                </a:lnTo>
                <a:lnTo>
                  <a:pt x="17399" y="174739"/>
                </a:lnTo>
                <a:lnTo>
                  <a:pt x="52135" y="206205"/>
                </a:lnTo>
                <a:lnTo>
                  <a:pt x="67563" y="211747"/>
                </a:lnTo>
                <a:lnTo>
                  <a:pt x="70230" y="203149"/>
                </a:lnTo>
                <a:lnTo>
                  <a:pt x="58130" y="197805"/>
                </a:lnTo>
                <a:lnTo>
                  <a:pt x="47720" y="190368"/>
                </a:lnTo>
                <a:lnTo>
                  <a:pt x="26376" y="155687"/>
                </a:lnTo>
                <a:lnTo>
                  <a:pt x="19303" y="104813"/>
                </a:lnTo>
                <a:lnTo>
                  <a:pt x="20089" y="86744"/>
                </a:lnTo>
                <a:lnTo>
                  <a:pt x="31876" y="42138"/>
                </a:lnTo>
                <a:lnTo>
                  <a:pt x="58291" y="13915"/>
                </a:lnTo>
                <a:lnTo>
                  <a:pt x="70484" y="8597"/>
                </a:lnTo>
                <a:lnTo>
                  <a:pt x="67563" y="0"/>
                </a:lnTo>
                <a:close/>
              </a:path>
            </a:pathLst>
          </a:custGeom>
          <a:solidFill>
            <a:srgbClr val="000000"/>
          </a:solidFill>
        </p:spPr>
        <p:txBody>
          <a:bodyPr wrap="square" lIns="0" tIns="0" rIns="0" bIns="0" rtlCol="0"/>
          <a:lstStyle/>
          <a:p>
            <a:endParaRPr/>
          </a:p>
        </p:txBody>
      </p:sp>
      <p:sp>
        <p:nvSpPr>
          <p:cNvPr id="22" name="object 22"/>
          <p:cNvSpPr/>
          <p:nvPr/>
        </p:nvSpPr>
        <p:spPr>
          <a:xfrm>
            <a:off x="10655296" y="5483395"/>
            <a:ext cx="693420" cy="675640"/>
          </a:xfrm>
          <a:custGeom>
            <a:avLst/>
            <a:gdLst/>
            <a:ahLst/>
            <a:cxnLst/>
            <a:rect l="l" t="t" r="r" b="b"/>
            <a:pathLst>
              <a:path w="693420" h="675639">
                <a:moveTo>
                  <a:pt x="114173" y="7924"/>
                </a:moveTo>
                <a:lnTo>
                  <a:pt x="62166" y="58623"/>
                </a:lnTo>
                <a:lnTo>
                  <a:pt x="43865" y="94830"/>
                </a:lnTo>
                <a:lnTo>
                  <a:pt x="28321" y="135610"/>
                </a:lnTo>
                <a:lnTo>
                  <a:pt x="15963" y="180543"/>
                </a:lnTo>
                <a:lnTo>
                  <a:pt x="7112" y="229133"/>
                </a:lnTo>
                <a:lnTo>
                  <a:pt x="1778" y="281393"/>
                </a:lnTo>
                <a:lnTo>
                  <a:pt x="0" y="337312"/>
                </a:lnTo>
                <a:lnTo>
                  <a:pt x="1778" y="393636"/>
                </a:lnTo>
                <a:lnTo>
                  <a:pt x="7112" y="446176"/>
                </a:lnTo>
                <a:lnTo>
                  <a:pt x="15963" y="494931"/>
                </a:lnTo>
                <a:lnTo>
                  <a:pt x="28321" y="539902"/>
                </a:lnTo>
                <a:lnTo>
                  <a:pt x="43865" y="580707"/>
                </a:lnTo>
                <a:lnTo>
                  <a:pt x="62166" y="616902"/>
                </a:lnTo>
                <a:lnTo>
                  <a:pt x="107061" y="675525"/>
                </a:lnTo>
                <a:lnTo>
                  <a:pt x="114173" y="667600"/>
                </a:lnTo>
                <a:lnTo>
                  <a:pt x="92976" y="640156"/>
                </a:lnTo>
                <a:lnTo>
                  <a:pt x="74549" y="608368"/>
                </a:lnTo>
                <a:lnTo>
                  <a:pt x="58877" y="572236"/>
                </a:lnTo>
                <a:lnTo>
                  <a:pt x="45974" y="531761"/>
                </a:lnTo>
                <a:lnTo>
                  <a:pt x="35814" y="487641"/>
                </a:lnTo>
                <a:lnTo>
                  <a:pt x="28600" y="440575"/>
                </a:lnTo>
                <a:lnTo>
                  <a:pt x="24282" y="390537"/>
                </a:lnTo>
                <a:lnTo>
                  <a:pt x="22860" y="337312"/>
                </a:lnTo>
                <a:lnTo>
                  <a:pt x="24282" y="284797"/>
                </a:lnTo>
                <a:lnTo>
                  <a:pt x="28600" y="234924"/>
                </a:lnTo>
                <a:lnTo>
                  <a:pt x="35814" y="187934"/>
                </a:lnTo>
                <a:lnTo>
                  <a:pt x="45974" y="143814"/>
                </a:lnTo>
                <a:lnTo>
                  <a:pt x="58877" y="103327"/>
                </a:lnTo>
                <a:lnTo>
                  <a:pt x="74549" y="67183"/>
                </a:lnTo>
                <a:lnTo>
                  <a:pt x="92976" y="35382"/>
                </a:lnTo>
                <a:lnTo>
                  <a:pt x="114173" y="7924"/>
                </a:lnTo>
                <a:close/>
              </a:path>
              <a:path w="693420" h="675639">
                <a:moveTo>
                  <a:pt x="555244" y="387819"/>
                </a:moveTo>
                <a:lnTo>
                  <a:pt x="306832" y="387819"/>
                </a:lnTo>
                <a:lnTo>
                  <a:pt x="306832" y="388569"/>
                </a:lnTo>
                <a:lnTo>
                  <a:pt x="284480" y="388569"/>
                </a:lnTo>
                <a:lnTo>
                  <a:pt x="216789" y="642505"/>
                </a:lnTo>
                <a:lnTo>
                  <a:pt x="178181" y="556336"/>
                </a:lnTo>
                <a:lnTo>
                  <a:pt x="141478" y="573074"/>
                </a:lnTo>
                <a:lnTo>
                  <a:pt x="145034" y="581456"/>
                </a:lnTo>
                <a:lnTo>
                  <a:pt x="163830" y="573074"/>
                </a:lnTo>
                <a:lnTo>
                  <a:pt x="210058" y="672426"/>
                </a:lnTo>
                <a:lnTo>
                  <a:pt x="220853" y="672426"/>
                </a:lnTo>
                <a:lnTo>
                  <a:pt x="293497" y="403415"/>
                </a:lnTo>
                <a:lnTo>
                  <a:pt x="315722" y="403415"/>
                </a:lnTo>
                <a:lnTo>
                  <a:pt x="315722" y="403059"/>
                </a:lnTo>
                <a:lnTo>
                  <a:pt x="555244" y="403059"/>
                </a:lnTo>
                <a:lnTo>
                  <a:pt x="555244" y="387819"/>
                </a:lnTo>
                <a:close/>
              </a:path>
              <a:path w="693420" h="675639">
                <a:moveTo>
                  <a:pt x="572008" y="329907"/>
                </a:moveTo>
                <a:lnTo>
                  <a:pt x="120904" y="329907"/>
                </a:lnTo>
                <a:lnTo>
                  <a:pt x="120904" y="345147"/>
                </a:lnTo>
                <a:lnTo>
                  <a:pt x="572008" y="345147"/>
                </a:lnTo>
                <a:lnTo>
                  <a:pt x="572008" y="329907"/>
                </a:lnTo>
                <a:close/>
              </a:path>
              <a:path w="693420" h="675639">
                <a:moveTo>
                  <a:pt x="693420" y="337312"/>
                </a:moveTo>
                <a:lnTo>
                  <a:pt x="691654" y="281393"/>
                </a:lnTo>
                <a:lnTo>
                  <a:pt x="686346" y="229133"/>
                </a:lnTo>
                <a:lnTo>
                  <a:pt x="677506" y="180543"/>
                </a:lnTo>
                <a:lnTo>
                  <a:pt x="665099" y="135610"/>
                </a:lnTo>
                <a:lnTo>
                  <a:pt x="649592" y="94830"/>
                </a:lnTo>
                <a:lnTo>
                  <a:pt x="631291" y="58623"/>
                </a:lnTo>
                <a:lnTo>
                  <a:pt x="586359" y="0"/>
                </a:lnTo>
                <a:lnTo>
                  <a:pt x="579247" y="7924"/>
                </a:lnTo>
                <a:lnTo>
                  <a:pt x="600430" y="35382"/>
                </a:lnTo>
                <a:lnTo>
                  <a:pt x="618883" y="67183"/>
                </a:lnTo>
                <a:lnTo>
                  <a:pt x="634580" y="103327"/>
                </a:lnTo>
                <a:lnTo>
                  <a:pt x="647573" y="143814"/>
                </a:lnTo>
                <a:lnTo>
                  <a:pt x="657656" y="187934"/>
                </a:lnTo>
                <a:lnTo>
                  <a:pt x="664883" y="234924"/>
                </a:lnTo>
                <a:lnTo>
                  <a:pt x="669226" y="284797"/>
                </a:lnTo>
                <a:lnTo>
                  <a:pt x="670687" y="337540"/>
                </a:lnTo>
                <a:lnTo>
                  <a:pt x="669226" y="390537"/>
                </a:lnTo>
                <a:lnTo>
                  <a:pt x="664883" y="440575"/>
                </a:lnTo>
                <a:lnTo>
                  <a:pt x="657656" y="487641"/>
                </a:lnTo>
                <a:lnTo>
                  <a:pt x="647573" y="531761"/>
                </a:lnTo>
                <a:lnTo>
                  <a:pt x="634580" y="572236"/>
                </a:lnTo>
                <a:lnTo>
                  <a:pt x="618883" y="608368"/>
                </a:lnTo>
                <a:lnTo>
                  <a:pt x="579247" y="667600"/>
                </a:lnTo>
                <a:lnTo>
                  <a:pt x="586359" y="675525"/>
                </a:lnTo>
                <a:lnTo>
                  <a:pt x="631291" y="616902"/>
                </a:lnTo>
                <a:lnTo>
                  <a:pt x="649592" y="580707"/>
                </a:lnTo>
                <a:lnTo>
                  <a:pt x="665099" y="539902"/>
                </a:lnTo>
                <a:lnTo>
                  <a:pt x="677506" y="494931"/>
                </a:lnTo>
                <a:lnTo>
                  <a:pt x="686346" y="446176"/>
                </a:lnTo>
                <a:lnTo>
                  <a:pt x="691654" y="393636"/>
                </a:lnTo>
                <a:lnTo>
                  <a:pt x="693420" y="337312"/>
                </a:lnTo>
                <a:close/>
              </a:path>
            </a:pathLst>
          </a:custGeom>
          <a:solidFill>
            <a:srgbClr val="000000"/>
          </a:solidFill>
        </p:spPr>
        <p:txBody>
          <a:bodyPr wrap="square" lIns="0" tIns="0" rIns="0" bIns="0" rtlCol="0"/>
          <a:lstStyle/>
          <a:p>
            <a:endParaRPr/>
          </a:p>
        </p:txBody>
      </p:sp>
      <p:sp>
        <p:nvSpPr>
          <p:cNvPr id="23" name="object 23"/>
          <p:cNvSpPr txBox="1"/>
          <p:nvPr/>
        </p:nvSpPr>
        <p:spPr>
          <a:xfrm>
            <a:off x="1244697" y="4986851"/>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(4,</a:t>
            </a:r>
            <a:r>
              <a:rPr sz="1000" spc="-60" dirty="0">
                <a:cs typeface="Tahoma"/>
              </a:rPr>
              <a:t> </a:t>
            </a:r>
            <a:r>
              <a:rPr sz="1000" spc="25" dirty="0">
                <a:cs typeface="Tahoma"/>
              </a:rPr>
              <a:t>4096</a:t>
            </a:r>
            <a:r>
              <a:rPr sz="1000" spc="-85" dirty="0">
                <a:cs typeface="Tahoma"/>
              </a:rPr>
              <a:t>)</a:t>
            </a:r>
            <a:endParaRPr sz="1000">
              <a:cs typeface="Tahoma"/>
            </a:endParaRPr>
          </a:p>
        </p:txBody>
      </p:sp>
      <p:sp>
        <p:nvSpPr>
          <p:cNvPr id="24" name="object 24"/>
          <p:cNvSpPr txBox="1"/>
          <p:nvPr/>
        </p:nvSpPr>
        <p:spPr>
          <a:xfrm>
            <a:off x="3364225" y="4986851"/>
            <a:ext cx="531495" cy="166071"/>
          </a:xfrm>
          <a:prstGeom prst="rect">
            <a:avLst/>
          </a:prstGeom>
        </p:spPr>
        <p:txBody>
          <a:bodyPr vert="horz" wrap="square" lIns="0" tIns="12065" rIns="0" bIns="0" rtlCol="0">
            <a:spAutoFit/>
          </a:bodyPr>
          <a:lstStyle/>
          <a:p>
            <a:pPr marL="12700">
              <a:lnSpc>
                <a:spcPct val="100000"/>
              </a:lnSpc>
              <a:spcBef>
                <a:spcPts val="95"/>
              </a:spcBef>
            </a:pPr>
            <a:r>
              <a:rPr sz="1000" dirty="0">
                <a:cs typeface="Tahoma"/>
              </a:rPr>
              <a:t>(40</a:t>
            </a:r>
            <a:r>
              <a:rPr sz="1000" spc="-5" dirty="0">
                <a:cs typeface="Tahoma"/>
              </a:rPr>
              <a:t>9</a:t>
            </a:r>
            <a:r>
              <a:rPr sz="1000" spc="-15" dirty="0">
                <a:cs typeface="Tahoma"/>
              </a:rPr>
              <a:t>6</a:t>
            </a:r>
            <a:r>
              <a:rPr sz="1000" spc="-5" dirty="0">
                <a:cs typeface="Tahoma"/>
              </a:rPr>
              <a:t>,</a:t>
            </a:r>
            <a:r>
              <a:rPr sz="1000" spc="-75" dirty="0">
                <a:cs typeface="Tahoma"/>
              </a:rPr>
              <a:t> </a:t>
            </a:r>
            <a:r>
              <a:rPr sz="1000" spc="-35" dirty="0">
                <a:cs typeface="Tahoma"/>
              </a:rPr>
              <a:t>4)</a:t>
            </a:r>
            <a:endParaRPr sz="1000">
              <a:cs typeface="Tahoma"/>
            </a:endParaRPr>
          </a:p>
        </p:txBody>
      </p:sp>
      <p:sp>
        <p:nvSpPr>
          <p:cNvPr id="25" name="object 25"/>
          <p:cNvSpPr txBox="1"/>
          <p:nvPr/>
        </p:nvSpPr>
        <p:spPr>
          <a:xfrm>
            <a:off x="8686924" y="5047996"/>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(4,</a:t>
            </a:r>
            <a:r>
              <a:rPr sz="1000" spc="-60" dirty="0">
                <a:cs typeface="Tahoma"/>
              </a:rPr>
              <a:t> </a:t>
            </a:r>
            <a:r>
              <a:rPr sz="1000" spc="25" dirty="0">
                <a:cs typeface="Tahoma"/>
              </a:rPr>
              <a:t>4096</a:t>
            </a:r>
            <a:r>
              <a:rPr sz="1000" spc="-85" dirty="0">
                <a:cs typeface="Tahoma"/>
              </a:rPr>
              <a:t>)</a:t>
            </a:r>
            <a:endParaRPr sz="1000">
              <a:cs typeface="Tahoma"/>
            </a:endParaRPr>
          </a:p>
        </p:txBody>
      </p:sp>
      <p:sp>
        <p:nvSpPr>
          <p:cNvPr id="26" name="object 26"/>
          <p:cNvSpPr txBox="1"/>
          <p:nvPr/>
        </p:nvSpPr>
        <p:spPr>
          <a:xfrm>
            <a:off x="10726418" y="5045838"/>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(4,</a:t>
            </a:r>
            <a:r>
              <a:rPr sz="1000" spc="-60" dirty="0">
                <a:cs typeface="Tahoma"/>
              </a:rPr>
              <a:t> </a:t>
            </a:r>
            <a:r>
              <a:rPr sz="1000" spc="25" dirty="0">
                <a:cs typeface="Tahoma"/>
              </a:rPr>
              <a:t>4096</a:t>
            </a:r>
            <a:r>
              <a:rPr sz="1000" spc="-85" dirty="0">
                <a:cs typeface="Tahoma"/>
              </a:rPr>
              <a:t>)</a:t>
            </a:r>
            <a:endParaRPr sz="1000">
              <a:cs typeface="Tahoma"/>
            </a:endParaRPr>
          </a:p>
        </p:txBody>
      </p:sp>
      <p:sp>
        <p:nvSpPr>
          <p:cNvPr id="27" name="object 27"/>
          <p:cNvSpPr/>
          <p:nvPr/>
        </p:nvSpPr>
        <p:spPr>
          <a:xfrm>
            <a:off x="9968863" y="1974978"/>
            <a:ext cx="471805" cy="762000"/>
          </a:xfrm>
          <a:custGeom>
            <a:avLst/>
            <a:gdLst/>
            <a:ahLst/>
            <a:cxnLst/>
            <a:rect l="l" t="t" r="r" b="b"/>
            <a:pathLst>
              <a:path w="471804" h="762000">
                <a:moveTo>
                  <a:pt x="426120" y="700049"/>
                </a:moveTo>
                <a:lnTo>
                  <a:pt x="399033" y="716661"/>
                </a:lnTo>
                <a:lnTo>
                  <a:pt x="471424" y="761746"/>
                </a:lnTo>
                <a:lnTo>
                  <a:pt x="467019" y="710946"/>
                </a:lnTo>
                <a:lnTo>
                  <a:pt x="432816" y="710946"/>
                </a:lnTo>
                <a:lnTo>
                  <a:pt x="426120" y="700049"/>
                </a:lnTo>
                <a:close/>
              </a:path>
              <a:path w="471804" h="762000">
                <a:moveTo>
                  <a:pt x="436965" y="693398"/>
                </a:moveTo>
                <a:lnTo>
                  <a:pt x="426120" y="700049"/>
                </a:lnTo>
                <a:lnTo>
                  <a:pt x="432816" y="710946"/>
                </a:lnTo>
                <a:lnTo>
                  <a:pt x="443610" y="704214"/>
                </a:lnTo>
                <a:lnTo>
                  <a:pt x="436965" y="693398"/>
                </a:lnTo>
                <a:close/>
              </a:path>
              <a:path w="471804" h="762000">
                <a:moveTo>
                  <a:pt x="464057" y="676782"/>
                </a:moveTo>
                <a:lnTo>
                  <a:pt x="436965" y="693398"/>
                </a:lnTo>
                <a:lnTo>
                  <a:pt x="443610" y="704214"/>
                </a:lnTo>
                <a:lnTo>
                  <a:pt x="432816" y="710946"/>
                </a:lnTo>
                <a:lnTo>
                  <a:pt x="467019" y="710946"/>
                </a:lnTo>
                <a:lnTo>
                  <a:pt x="464057" y="676782"/>
                </a:lnTo>
                <a:close/>
              </a:path>
              <a:path w="471804" h="762000">
                <a:moveTo>
                  <a:pt x="10922" y="0"/>
                </a:moveTo>
                <a:lnTo>
                  <a:pt x="0" y="6603"/>
                </a:lnTo>
                <a:lnTo>
                  <a:pt x="426120" y="700049"/>
                </a:lnTo>
                <a:lnTo>
                  <a:pt x="436965" y="693398"/>
                </a:lnTo>
                <a:lnTo>
                  <a:pt x="10922" y="0"/>
                </a:lnTo>
                <a:close/>
              </a:path>
            </a:pathLst>
          </a:custGeom>
          <a:solidFill>
            <a:srgbClr val="ED7660"/>
          </a:solidFill>
        </p:spPr>
        <p:txBody>
          <a:bodyPr wrap="square" lIns="0" tIns="0" rIns="0" bIns="0" rtlCol="0"/>
          <a:lstStyle/>
          <a:p>
            <a:endParaRPr/>
          </a:p>
        </p:txBody>
      </p:sp>
      <p:sp>
        <p:nvSpPr>
          <p:cNvPr id="28" name="object 28"/>
          <p:cNvSpPr txBox="1"/>
          <p:nvPr/>
        </p:nvSpPr>
        <p:spPr>
          <a:xfrm>
            <a:off x="8190101" y="1566291"/>
            <a:ext cx="3474720" cy="346710"/>
          </a:xfrm>
          <a:prstGeom prst="rect">
            <a:avLst/>
          </a:prstGeom>
        </p:spPr>
        <p:txBody>
          <a:bodyPr vert="horz" wrap="square" lIns="0" tIns="13335" rIns="0" bIns="0" rtlCol="0">
            <a:spAutoFit/>
          </a:bodyPr>
          <a:lstStyle/>
          <a:p>
            <a:pPr marL="12700" marR="5080">
              <a:lnSpc>
                <a:spcPct val="100000"/>
              </a:lnSpc>
              <a:spcBef>
                <a:spcPts val="105"/>
              </a:spcBef>
            </a:pPr>
            <a:r>
              <a:rPr sz="1050" b="1" dirty="0">
                <a:cs typeface="Tahoma"/>
              </a:rPr>
              <a:t>3.</a:t>
            </a:r>
            <a:r>
              <a:rPr sz="1050" b="1" spc="-60" dirty="0">
                <a:cs typeface="Tahoma"/>
              </a:rPr>
              <a:t> </a:t>
            </a:r>
            <a:r>
              <a:rPr sz="1050" b="1" dirty="0">
                <a:cs typeface="Tahoma"/>
              </a:rPr>
              <a:t>We</a:t>
            </a:r>
            <a:r>
              <a:rPr sz="1050" b="1" spc="-50" dirty="0">
                <a:cs typeface="Tahoma"/>
              </a:rPr>
              <a:t> </a:t>
            </a:r>
            <a:r>
              <a:rPr sz="1050" b="1" spc="-5" dirty="0">
                <a:cs typeface="Tahoma"/>
              </a:rPr>
              <a:t>don’t</a:t>
            </a:r>
            <a:r>
              <a:rPr sz="1050" b="1" spc="-70" dirty="0">
                <a:cs typeface="Tahoma"/>
              </a:rPr>
              <a:t> </a:t>
            </a:r>
            <a:r>
              <a:rPr sz="1050" b="1" spc="-25" dirty="0">
                <a:cs typeface="Tahoma"/>
              </a:rPr>
              <a:t>care</a:t>
            </a:r>
            <a:r>
              <a:rPr sz="1050" b="1" spc="-60" dirty="0">
                <a:cs typeface="Tahoma"/>
              </a:rPr>
              <a:t> </a:t>
            </a:r>
            <a:r>
              <a:rPr sz="1050" b="1" spc="-10" dirty="0">
                <a:cs typeface="Tahoma"/>
              </a:rPr>
              <a:t>about</a:t>
            </a:r>
            <a:r>
              <a:rPr sz="1050" b="1" spc="-80" dirty="0">
                <a:cs typeface="Tahoma"/>
              </a:rPr>
              <a:t> </a:t>
            </a:r>
            <a:r>
              <a:rPr sz="1050" b="1" spc="-30" dirty="0">
                <a:cs typeface="Tahoma"/>
              </a:rPr>
              <a:t>these</a:t>
            </a:r>
            <a:r>
              <a:rPr sz="1050" spc="-30" dirty="0">
                <a:cs typeface="Tahoma"/>
              </a:rPr>
              <a:t>,</a:t>
            </a:r>
            <a:r>
              <a:rPr sz="1050" spc="-60" dirty="0">
                <a:cs typeface="Tahoma"/>
              </a:rPr>
              <a:t> </a:t>
            </a:r>
            <a:r>
              <a:rPr sz="1050" dirty="0">
                <a:cs typeface="Tahoma"/>
              </a:rPr>
              <a:t>as</a:t>
            </a:r>
            <a:r>
              <a:rPr sz="1050" spc="-75" dirty="0">
                <a:cs typeface="Tahoma"/>
              </a:rPr>
              <a:t> </a:t>
            </a:r>
            <a:r>
              <a:rPr sz="1050" spc="25" dirty="0">
                <a:cs typeface="Tahoma"/>
              </a:rPr>
              <a:t>we</a:t>
            </a:r>
            <a:r>
              <a:rPr sz="1050" spc="-80" dirty="0">
                <a:cs typeface="Tahoma"/>
              </a:rPr>
              <a:t> </a:t>
            </a:r>
            <a:r>
              <a:rPr sz="1050" spc="5" dirty="0">
                <a:cs typeface="Tahoma"/>
              </a:rPr>
              <a:t>want</a:t>
            </a:r>
            <a:r>
              <a:rPr sz="1050" spc="-60" dirty="0">
                <a:cs typeface="Tahoma"/>
              </a:rPr>
              <a:t> </a:t>
            </a:r>
            <a:r>
              <a:rPr sz="1050" spc="25" dirty="0">
                <a:cs typeface="Tahoma"/>
              </a:rPr>
              <a:t>to</a:t>
            </a:r>
            <a:r>
              <a:rPr sz="1050" spc="-70" dirty="0">
                <a:cs typeface="Tahoma"/>
              </a:rPr>
              <a:t> </a:t>
            </a:r>
            <a:r>
              <a:rPr sz="1050" spc="35" dirty="0">
                <a:cs typeface="Tahoma"/>
              </a:rPr>
              <a:t>predict</a:t>
            </a:r>
            <a:r>
              <a:rPr sz="1050" spc="-90" dirty="0">
                <a:cs typeface="Tahoma"/>
              </a:rPr>
              <a:t> </a:t>
            </a:r>
            <a:r>
              <a:rPr sz="1050" spc="20" dirty="0">
                <a:cs typeface="Tahoma"/>
              </a:rPr>
              <a:t>the </a:t>
            </a:r>
            <a:r>
              <a:rPr sz="1050" spc="-315" dirty="0">
                <a:cs typeface="Tahoma"/>
              </a:rPr>
              <a:t> </a:t>
            </a:r>
            <a:r>
              <a:rPr sz="1050" spc="5" dirty="0">
                <a:cs typeface="Tahoma"/>
              </a:rPr>
              <a:t>next</a:t>
            </a:r>
            <a:r>
              <a:rPr sz="1050" spc="-65" dirty="0">
                <a:cs typeface="Tahoma"/>
              </a:rPr>
              <a:t> </a:t>
            </a:r>
            <a:r>
              <a:rPr sz="1050" spc="30" dirty="0">
                <a:cs typeface="Tahoma"/>
              </a:rPr>
              <a:t>token</a:t>
            </a:r>
            <a:r>
              <a:rPr sz="1050" spc="-80" dirty="0">
                <a:cs typeface="Tahoma"/>
              </a:rPr>
              <a:t> </a:t>
            </a:r>
            <a:r>
              <a:rPr sz="1050" spc="40" dirty="0">
                <a:cs typeface="Tahoma"/>
              </a:rPr>
              <a:t>and</a:t>
            </a:r>
            <a:r>
              <a:rPr sz="1050" spc="-65" dirty="0">
                <a:cs typeface="Tahoma"/>
              </a:rPr>
              <a:t> </a:t>
            </a:r>
            <a:r>
              <a:rPr sz="1050" spc="25" dirty="0">
                <a:cs typeface="Tahoma"/>
              </a:rPr>
              <a:t>we</a:t>
            </a:r>
            <a:r>
              <a:rPr sz="1050" spc="-80" dirty="0">
                <a:cs typeface="Tahoma"/>
              </a:rPr>
              <a:t> </a:t>
            </a:r>
            <a:r>
              <a:rPr sz="1050" spc="20" dirty="0">
                <a:cs typeface="Tahoma"/>
              </a:rPr>
              <a:t>already</a:t>
            </a:r>
            <a:r>
              <a:rPr sz="1050" spc="-75" dirty="0">
                <a:cs typeface="Tahoma"/>
              </a:rPr>
              <a:t> </a:t>
            </a:r>
            <a:r>
              <a:rPr sz="1050" spc="40" dirty="0">
                <a:cs typeface="Tahoma"/>
              </a:rPr>
              <a:t>predicted</a:t>
            </a:r>
            <a:r>
              <a:rPr sz="1050" spc="-80" dirty="0">
                <a:cs typeface="Tahoma"/>
              </a:rPr>
              <a:t> </a:t>
            </a:r>
            <a:r>
              <a:rPr sz="1050" spc="20" dirty="0">
                <a:cs typeface="Tahoma"/>
              </a:rPr>
              <a:t>the</a:t>
            </a:r>
            <a:r>
              <a:rPr sz="1050" spc="-75" dirty="0">
                <a:cs typeface="Tahoma"/>
              </a:rPr>
              <a:t> </a:t>
            </a:r>
            <a:r>
              <a:rPr sz="1050" spc="30" dirty="0">
                <a:cs typeface="Tahoma"/>
              </a:rPr>
              <a:t>previous</a:t>
            </a:r>
            <a:r>
              <a:rPr sz="1050" spc="-114" dirty="0">
                <a:cs typeface="Tahoma"/>
              </a:rPr>
              <a:t> </a:t>
            </a:r>
            <a:r>
              <a:rPr sz="1050" spc="20" dirty="0">
                <a:cs typeface="Tahoma"/>
              </a:rPr>
              <a:t>ones.</a:t>
            </a:r>
            <a:endParaRPr sz="1050">
              <a:cs typeface="Tahoma"/>
            </a:endParaRPr>
          </a:p>
        </p:txBody>
      </p:sp>
      <p:sp>
        <p:nvSpPr>
          <p:cNvPr id="29" name="object 29"/>
          <p:cNvSpPr txBox="1"/>
          <p:nvPr/>
        </p:nvSpPr>
        <p:spPr>
          <a:xfrm>
            <a:off x="6698547" y="590297"/>
            <a:ext cx="4007485" cy="346710"/>
          </a:xfrm>
          <a:prstGeom prst="rect">
            <a:avLst/>
          </a:prstGeom>
        </p:spPr>
        <p:txBody>
          <a:bodyPr vert="horz" wrap="square" lIns="0" tIns="13335" rIns="0" bIns="0" rtlCol="0">
            <a:spAutoFit/>
          </a:bodyPr>
          <a:lstStyle/>
          <a:p>
            <a:pPr marL="12700">
              <a:lnSpc>
                <a:spcPct val="100000"/>
              </a:lnSpc>
              <a:spcBef>
                <a:spcPts val="105"/>
              </a:spcBef>
            </a:pPr>
            <a:r>
              <a:rPr sz="1050" spc="-5" dirty="0">
                <a:cs typeface="Tahoma"/>
              </a:rPr>
              <a:t>2.</a:t>
            </a:r>
            <a:r>
              <a:rPr sz="1050" spc="-65" dirty="0">
                <a:cs typeface="Tahoma"/>
              </a:rPr>
              <a:t> </a:t>
            </a:r>
            <a:r>
              <a:rPr sz="1050" spc="30" dirty="0">
                <a:cs typeface="Tahoma"/>
              </a:rPr>
              <a:t>Since</a:t>
            </a:r>
            <a:r>
              <a:rPr sz="1050" spc="-95" dirty="0">
                <a:cs typeface="Tahoma"/>
              </a:rPr>
              <a:t> </a:t>
            </a:r>
            <a:r>
              <a:rPr sz="1050" spc="20" dirty="0">
                <a:cs typeface="Tahoma"/>
              </a:rPr>
              <a:t>the</a:t>
            </a:r>
            <a:r>
              <a:rPr sz="1050" spc="-75" dirty="0">
                <a:cs typeface="Tahoma"/>
              </a:rPr>
              <a:t> </a:t>
            </a:r>
            <a:r>
              <a:rPr sz="1050" spc="55" dirty="0">
                <a:cs typeface="Tahoma"/>
              </a:rPr>
              <a:t>model</a:t>
            </a:r>
            <a:r>
              <a:rPr sz="1050" spc="-80" dirty="0">
                <a:cs typeface="Tahoma"/>
              </a:rPr>
              <a:t> </a:t>
            </a:r>
            <a:r>
              <a:rPr sz="1050" spc="10" dirty="0">
                <a:cs typeface="Tahoma"/>
              </a:rPr>
              <a:t>is</a:t>
            </a:r>
            <a:r>
              <a:rPr sz="1050" spc="-75" dirty="0">
                <a:cs typeface="Tahoma"/>
              </a:rPr>
              <a:t> </a:t>
            </a:r>
            <a:r>
              <a:rPr sz="1050" spc="10" dirty="0">
                <a:cs typeface="Tahoma"/>
              </a:rPr>
              <a:t>causal,</a:t>
            </a:r>
            <a:r>
              <a:rPr sz="1050" spc="-70" dirty="0">
                <a:cs typeface="Tahoma"/>
              </a:rPr>
              <a:t> </a:t>
            </a:r>
            <a:r>
              <a:rPr sz="1050" b="1" spc="-5" dirty="0">
                <a:cs typeface="Tahoma"/>
              </a:rPr>
              <a:t>we</a:t>
            </a:r>
            <a:r>
              <a:rPr sz="1050" b="1" spc="-65" dirty="0">
                <a:cs typeface="Tahoma"/>
              </a:rPr>
              <a:t> </a:t>
            </a:r>
            <a:r>
              <a:rPr sz="1050" b="1" spc="-5" dirty="0">
                <a:cs typeface="Tahoma"/>
              </a:rPr>
              <a:t>don’t</a:t>
            </a:r>
            <a:r>
              <a:rPr sz="1050" b="1" spc="-70" dirty="0">
                <a:cs typeface="Tahoma"/>
              </a:rPr>
              <a:t> </a:t>
            </a:r>
            <a:r>
              <a:rPr sz="1050" b="1" spc="-25" dirty="0">
                <a:cs typeface="Tahoma"/>
              </a:rPr>
              <a:t>care</a:t>
            </a:r>
            <a:r>
              <a:rPr sz="1050" b="1" spc="-65" dirty="0">
                <a:cs typeface="Tahoma"/>
              </a:rPr>
              <a:t> </a:t>
            </a:r>
            <a:r>
              <a:rPr sz="1050" b="1" spc="-10" dirty="0">
                <a:cs typeface="Tahoma"/>
              </a:rPr>
              <a:t>about</a:t>
            </a:r>
            <a:r>
              <a:rPr sz="1050" b="1" spc="-75" dirty="0">
                <a:cs typeface="Tahoma"/>
              </a:rPr>
              <a:t> </a:t>
            </a:r>
            <a:r>
              <a:rPr sz="1050" b="1" spc="-25" dirty="0">
                <a:cs typeface="Tahoma"/>
              </a:rPr>
              <a:t>the</a:t>
            </a:r>
            <a:r>
              <a:rPr sz="1050" b="1" spc="-50" dirty="0">
                <a:cs typeface="Tahoma"/>
              </a:rPr>
              <a:t> </a:t>
            </a:r>
            <a:r>
              <a:rPr sz="1050" b="1" spc="-25" dirty="0">
                <a:cs typeface="Tahoma"/>
              </a:rPr>
              <a:t>attention</a:t>
            </a:r>
            <a:endParaRPr sz="1050" dirty="0">
              <a:cs typeface="Tahoma"/>
            </a:endParaRPr>
          </a:p>
          <a:p>
            <a:pPr marL="12700">
              <a:lnSpc>
                <a:spcPct val="100000"/>
              </a:lnSpc>
            </a:pPr>
            <a:r>
              <a:rPr sz="1050" b="1" dirty="0">
                <a:cs typeface="Tahoma"/>
              </a:rPr>
              <a:t>of</a:t>
            </a:r>
            <a:r>
              <a:rPr sz="1050" b="1" spc="-55" dirty="0">
                <a:cs typeface="Tahoma"/>
              </a:rPr>
              <a:t> </a:t>
            </a:r>
            <a:r>
              <a:rPr sz="1050" b="1" spc="-35" dirty="0">
                <a:cs typeface="Tahoma"/>
              </a:rPr>
              <a:t>a</a:t>
            </a:r>
            <a:r>
              <a:rPr sz="1050" b="1" spc="-40" dirty="0">
                <a:cs typeface="Tahoma"/>
              </a:rPr>
              <a:t> </a:t>
            </a:r>
            <a:r>
              <a:rPr sz="1050" b="1" spc="-15" dirty="0">
                <a:cs typeface="Tahoma"/>
              </a:rPr>
              <a:t>token</a:t>
            </a:r>
            <a:r>
              <a:rPr sz="1050" b="1" spc="-55" dirty="0">
                <a:cs typeface="Tahoma"/>
              </a:rPr>
              <a:t> </a:t>
            </a:r>
            <a:r>
              <a:rPr sz="1050" b="1" spc="-25" dirty="0">
                <a:cs typeface="Tahoma"/>
              </a:rPr>
              <a:t>with</a:t>
            </a:r>
            <a:r>
              <a:rPr sz="1050" b="1" spc="-65" dirty="0">
                <a:cs typeface="Tahoma"/>
              </a:rPr>
              <a:t> </a:t>
            </a:r>
            <a:r>
              <a:rPr sz="1050" b="1" spc="-30" dirty="0">
                <a:cs typeface="Tahoma"/>
              </a:rPr>
              <a:t>its</a:t>
            </a:r>
            <a:r>
              <a:rPr sz="1050" b="1" spc="-45" dirty="0">
                <a:cs typeface="Tahoma"/>
              </a:rPr>
              <a:t> </a:t>
            </a:r>
            <a:r>
              <a:rPr sz="1050" b="1" spc="-30" dirty="0">
                <a:cs typeface="Tahoma"/>
              </a:rPr>
              <a:t>successors</a:t>
            </a:r>
            <a:r>
              <a:rPr sz="1050" spc="-30" dirty="0">
                <a:cs typeface="Tahoma"/>
              </a:rPr>
              <a:t>,</a:t>
            </a:r>
            <a:r>
              <a:rPr sz="1050" spc="-95" dirty="0">
                <a:cs typeface="Tahoma"/>
              </a:rPr>
              <a:t> </a:t>
            </a:r>
            <a:r>
              <a:rPr sz="1050" spc="30" dirty="0">
                <a:cs typeface="Tahoma"/>
              </a:rPr>
              <a:t>but</a:t>
            </a:r>
            <a:r>
              <a:rPr sz="1050" spc="-60" dirty="0">
                <a:cs typeface="Tahoma"/>
              </a:rPr>
              <a:t> </a:t>
            </a:r>
            <a:r>
              <a:rPr sz="1050" spc="30" dirty="0">
                <a:cs typeface="Tahoma"/>
              </a:rPr>
              <a:t>only</a:t>
            </a:r>
            <a:r>
              <a:rPr sz="1050" spc="-75" dirty="0">
                <a:cs typeface="Tahoma"/>
              </a:rPr>
              <a:t> </a:t>
            </a:r>
            <a:r>
              <a:rPr sz="1050" spc="10" dirty="0">
                <a:cs typeface="Tahoma"/>
              </a:rPr>
              <a:t>with</a:t>
            </a:r>
            <a:r>
              <a:rPr sz="1050" spc="-60" dirty="0">
                <a:cs typeface="Tahoma"/>
              </a:rPr>
              <a:t> </a:t>
            </a:r>
            <a:r>
              <a:rPr sz="1050" spc="15" dirty="0">
                <a:cs typeface="Tahoma"/>
              </a:rPr>
              <a:t>the</a:t>
            </a:r>
            <a:r>
              <a:rPr sz="1050" spc="-65" dirty="0">
                <a:cs typeface="Tahoma"/>
              </a:rPr>
              <a:t> </a:t>
            </a:r>
            <a:r>
              <a:rPr sz="1050" spc="20" dirty="0">
                <a:cs typeface="Tahoma"/>
              </a:rPr>
              <a:t>tokens</a:t>
            </a:r>
            <a:r>
              <a:rPr sz="1050" spc="-85" dirty="0">
                <a:cs typeface="Tahoma"/>
              </a:rPr>
              <a:t> </a:t>
            </a:r>
            <a:r>
              <a:rPr sz="1050" spc="35" dirty="0">
                <a:cs typeface="Tahoma"/>
              </a:rPr>
              <a:t>before</a:t>
            </a:r>
            <a:r>
              <a:rPr sz="1050" spc="-75" dirty="0">
                <a:cs typeface="Tahoma"/>
              </a:rPr>
              <a:t> </a:t>
            </a:r>
            <a:r>
              <a:rPr sz="1050" spc="-15" dirty="0">
                <a:cs typeface="Tahoma"/>
              </a:rPr>
              <a:t>it.</a:t>
            </a:r>
            <a:endParaRPr sz="1050" dirty="0">
              <a:cs typeface="Tahoma"/>
            </a:endParaRPr>
          </a:p>
        </p:txBody>
      </p:sp>
      <p:sp>
        <p:nvSpPr>
          <p:cNvPr id="30" name="object 30"/>
          <p:cNvSpPr/>
          <p:nvPr/>
        </p:nvSpPr>
        <p:spPr>
          <a:xfrm>
            <a:off x="5736586" y="914738"/>
            <a:ext cx="1014602" cy="1121141"/>
          </a:xfrm>
          <a:custGeom>
            <a:avLst/>
            <a:gdLst/>
            <a:ahLst/>
            <a:cxnLst/>
            <a:rect l="l" t="t" r="r" b="b"/>
            <a:pathLst>
              <a:path w="951864" h="1382395">
                <a:moveTo>
                  <a:pt x="17272" y="1255776"/>
                </a:moveTo>
                <a:lnTo>
                  <a:pt x="0" y="1382395"/>
                </a:lnTo>
                <a:lnTo>
                  <a:pt x="111633" y="1320164"/>
                </a:lnTo>
                <a:lnTo>
                  <a:pt x="103257" y="1314450"/>
                </a:lnTo>
                <a:lnTo>
                  <a:pt x="69469" y="1314450"/>
                </a:lnTo>
                <a:lnTo>
                  <a:pt x="37973" y="1292987"/>
                </a:lnTo>
                <a:lnTo>
                  <a:pt x="48721" y="1277236"/>
                </a:lnTo>
                <a:lnTo>
                  <a:pt x="17272" y="1255776"/>
                </a:lnTo>
                <a:close/>
              </a:path>
              <a:path w="951864" h="1382395">
                <a:moveTo>
                  <a:pt x="48721" y="1277236"/>
                </a:moveTo>
                <a:lnTo>
                  <a:pt x="37973" y="1292987"/>
                </a:lnTo>
                <a:lnTo>
                  <a:pt x="69469" y="1314450"/>
                </a:lnTo>
                <a:lnTo>
                  <a:pt x="80205" y="1298719"/>
                </a:lnTo>
                <a:lnTo>
                  <a:pt x="48721" y="1277236"/>
                </a:lnTo>
                <a:close/>
              </a:path>
              <a:path w="951864" h="1382395">
                <a:moveTo>
                  <a:pt x="80205" y="1298719"/>
                </a:moveTo>
                <a:lnTo>
                  <a:pt x="69469" y="1314450"/>
                </a:lnTo>
                <a:lnTo>
                  <a:pt x="103257" y="1314450"/>
                </a:lnTo>
                <a:lnTo>
                  <a:pt x="80205" y="1298719"/>
                </a:lnTo>
                <a:close/>
              </a:path>
              <a:path w="951864" h="1382395">
                <a:moveTo>
                  <a:pt x="920369" y="0"/>
                </a:moveTo>
                <a:lnTo>
                  <a:pt x="48721" y="1277236"/>
                </a:lnTo>
                <a:lnTo>
                  <a:pt x="80205" y="1298719"/>
                </a:lnTo>
                <a:lnTo>
                  <a:pt x="951864" y="21589"/>
                </a:lnTo>
                <a:lnTo>
                  <a:pt x="920369" y="0"/>
                </a:lnTo>
                <a:close/>
              </a:path>
            </a:pathLst>
          </a:custGeom>
          <a:solidFill>
            <a:srgbClr val="550DBA"/>
          </a:solidFill>
        </p:spPr>
        <p:txBody>
          <a:bodyPr wrap="square" lIns="0" tIns="0" rIns="0" bIns="0" rtlCol="0"/>
          <a:lstStyle/>
          <a:p>
            <a:endParaRPr/>
          </a:p>
        </p:txBody>
      </p:sp>
      <p:sp>
        <p:nvSpPr>
          <p:cNvPr id="31" name="object 31"/>
          <p:cNvSpPr txBox="1"/>
          <p:nvPr/>
        </p:nvSpPr>
        <p:spPr>
          <a:xfrm>
            <a:off x="2362323" y="560452"/>
            <a:ext cx="2721610" cy="346710"/>
          </a:xfrm>
          <a:prstGeom prst="rect">
            <a:avLst/>
          </a:prstGeom>
        </p:spPr>
        <p:txBody>
          <a:bodyPr vert="horz" wrap="square" lIns="0" tIns="13335" rIns="0" bIns="0" rtlCol="0">
            <a:spAutoFit/>
          </a:bodyPr>
          <a:lstStyle/>
          <a:p>
            <a:pPr marL="12700" marR="5080">
              <a:lnSpc>
                <a:spcPct val="100000"/>
              </a:lnSpc>
              <a:spcBef>
                <a:spcPts val="105"/>
              </a:spcBef>
            </a:pPr>
            <a:r>
              <a:rPr sz="1050" spc="-10" dirty="0">
                <a:cs typeface="Tahoma"/>
              </a:rPr>
              <a:t>1</a:t>
            </a:r>
            <a:r>
              <a:rPr sz="1050" spc="-5" dirty="0">
                <a:cs typeface="Tahoma"/>
              </a:rPr>
              <a:t>.</a:t>
            </a:r>
            <a:r>
              <a:rPr sz="1050" spc="-65" dirty="0">
                <a:cs typeface="Tahoma"/>
              </a:rPr>
              <a:t> </a:t>
            </a:r>
            <a:r>
              <a:rPr sz="1050" spc="80" dirty="0">
                <a:cs typeface="Tahoma"/>
              </a:rPr>
              <a:t>W</a:t>
            </a:r>
            <a:r>
              <a:rPr sz="1050" spc="50" dirty="0">
                <a:cs typeface="Tahoma"/>
              </a:rPr>
              <a:t>e</a:t>
            </a:r>
            <a:r>
              <a:rPr sz="1050" spc="-80" dirty="0">
                <a:cs typeface="Tahoma"/>
              </a:rPr>
              <a:t> </a:t>
            </a:r>
            <a:r>
              <a:rPr sz="1050" spc="20" dirty="0">
                <a:cs typeface="Tahoma"/>
              </a:rPr>
              <a:t>alread</a:t>
            </a:r>
            <a:r>
              <a:rPr sz="1050" spc="25" dirty="0">
                <a:cs typeface="Tahoma"/>
              </a:rPr>
              <a:t>y</a:t>
            </a:r>
            <a:r>
              <a:rPr sz="1050" spc="-75" dirty="0">
                <a:cs typeface="Tahoma"/>
              </a:rPr>
              <a:t> </a:t>
            </a:r>
            <a:r>
              <a:rPr sz="1050" spc="55" dirty="0">
                <a:cs typeface="Tahoma"/>
              </a:rPr>
              <a:t>com</a:t>
            </a:r>
            <a:r>
              <a:rPr sz="1050" spc="85" dirty="0">
                <a:cs typeface="Tahoma"/>
              </a:rPr>
              <a:t>p</a:t>
            </a:r>
            <a:r>
              <a:rPr sz="1050" spc="30" dirty="0">
                <a:cs typeface="Tahoma"/>
              </a:rPr>
              <a:t>ute</a:t>
            </a:r>
            <a:r>
              <a:rPr sz="1050" spc="40" dirty="0">
                <a:cs typeface="Tahoma"/>
              </a:rPr>
              <a:t>d</a:t>
            </a:r>
            <a:r>
              <a:rPr sz="1050" spc="-100" dirty="0">
                <a:cs typeface="Tahoma"/>
              </a:rPr>
              <a:t> </a:t>
            </a:r>
            <a:r>
              <a:rPr sz="1050" spc="20" dirty="0">
                <a:cs typeface="Tahoma"/>
              </a:rPr>
              <a:t>these</a:t>
            </a:r>
            <a:r>
              <a:rPr sz="1050" spc="-70" dirty="0">
                <a:cs typeface="Tahoma"/>
              </a:rPr>
              <a:t> </a:t>
            </a:r>
            <a:r>
              <a:rPr sz="1050" spc="75" dirty="0">
                <a:cs typeface="Tahoma"/>
              </a:rPr>
              <a:t>d</a:t>
            </a:r>
            <a:r>
              <a:rPr sz="1050" spc="85" dirty="0">
                <a:cs typeface="Tahoma"/>
              </a:rPr>
              <a:t>o</a:t>
            </a:r>
            <a:r>
              <a:rPr sz="1050" spc="-20" dirty="0">
                <a:cs typeface="Tahoma"/>
              </a:rPr>
              <a:t>t</a:t>
            </a:r>
            <a:r>
              <a:rPr sz="1050" spc="-75" dirty="0">
                <a:cs typeface="Tahoma"/>
              </a:rPr>
              <a:t> </a:t>
            </a:r>
            <a:r>
              <a:rPr sz="1050" spc="85" dirty="0">
                <a:cs typeface="Tahoma"/>
              </a:rPr>
              <a:t>p</a:t>
            </a:r>
            <a:r>
              <a:rPr sz="1050" dirty="0">
                <a:cs typeface="Tahoma"/>
              </a:rPr>
              <a:t>r</a:t>
            </a:r>
            <a:r>
              <a:rPr sz="1050" spc="70" dirty="0">
                <a:cs typeface="Tahoma"/>
              </a:rPr>
              <a:t>o</a:t>
            </a:r>
            <a:r>
              <a:rPr sz="1050" spc="35" dirty="0">
                <a:cs typeface="Tahoma"/>
              </a:rPr>
              <a:t>duc</a:t>
            </a:r>
            <a:r>
              <a:rPr sz="1050" spc="25" dirty="0">
                <a:cs typeface="Tahoma"/>
              </a:rPr>
              <a:t>t</a:t>
            </a:r>
            <a:r>
              <a:rPr sz="1050" dirty="0">
                <a:cs typeface="Tahoma"/>
              </a:rPr>
              <a:t>s  </a:t>
            </a:r>
            <a:r>
              <a:rPr sz="1050" spc="-45" dirty="0">
                <a:cs typeface="Tahoma"/>
              </a:rPr>
              <a:t>In</a:t>
            </a:r>
            <a:r>
              <a:rPr sz="1050" spc="-65" dirty="0">
                <a:cs typeface="Tahoma"/>
              </a:rPr>
              <a:t> </a:t>
            </a:r>
            <a:r>
              <a:rPr sz="1050" spc="-20" dirty="0">
                <a:cs typeface="Tahoma"/>
              </a:rPr>
              <a:t>t</a:t>
            </a:r>
            <a:r>
              <a:rPr sz="1050" spc="40" dirty="0">
                <a:cs typeface="Tahoma"/>
              </a:rPr>
              <a:t>he</a:t>
            </a:r>
            <a:r>
              <a:rPr sz="1050" spc="-65" dirty="0">
                <a:cs typeface="Tahoma"/>
              </a:rPr>
              <a:t> </a:t>
            </a:r>
            <a:r>
              <a:rPr sz="1050" spc="45" dirty="0">
                <a:cs typeface="Tahoma"/>
              </a:rPr>
              <a:t>pr</a:t>
            </a:r>
            <a:r>
              <a:rPr sz="1050" spc="35" dirty="0">
                <a:cs typeface="Tahoma"/>
              </a:rPr>
              <a:t>evio</a:t>
            </a:r>
            <a:r>
              <a:rPr sz="1050" spc="10" dirty="0">
                <a:cs typeface="Tahoma"/>
              </a:rPr>
              <a:t>us</a:t>
            </a:r>
            <a:r>
              <a:rPr sz="1050" spc="-114" dirty="0">
                <a:cs typeface="Tahoma"/>
              </a:rPr>
              <a:t> </a:t>
            </a:r>
            <a:r>
              <a:rPr sz="1050" spc="10" dirty="0">
                <a:cs typeface="Tahoma"/>
              </a:rPr>
              <a:t>steps.</a:t>
            </a:r>
            <a:r>
              <a:rPr sz="1050" spc="-90" dirty="0">
                <a:cs typeface="Tahoma"/>
              </a:rPr>
              <a:t> </a:t>
            </a:r>
            <a:r>
              <a:rPr sz="1050" b="1" spc="-10" dirty="0">
                <a:cs typeface="Tahoma"/>
              </a:rPr>
              <a:t>Can</a:t>
            </a:r>
            <a:r>
              <a:rPr sz="1050" b="1" spc="-60" dirty="0">
                <a:cs typeface="Tahoma"/>
              </a:rPr>
              <a:t> </a:t>
            </a:r>
            <a:r>
              <a:rPr sz="1050" b="1" spc="-15" dirty="0">
                <a:cs typeface="Tahoma"/>
              </a:rPr>
              <a:t>w</a:t>
            </a:r>
            <a:r>
              <a:rPr sz="1050" b="1" spc="5" dirty="0">
                <a:cs typeface="Tahoma"/>
              </a:rPr>
              <a:t>e</a:t>
            </a:r>
            <a:r>
              <a:rPr sz="1050" b="1" spc="-65" dirty="0">
                <a:cs typeface="Tahoma"/>
              </a:rPr>
              <a:t> </a:t>
            </a:r>
            <a:r>
              <a:rPr sz="1050" b="1" spc="-30" dirty="0">
                <a:cs typeface="Tahoma"/>
              </a:rPr>
              <a:t>c</a:t>
            </a:r>
            <a:r>
              <a:rPr sz="1050" b="1" spc="-25" dirty="0">
                <a:cs typeface="Tahoma"/>
              </a:rPr>
              <a:t>ac</a:t>
            </a:r>
            <a:r>
              <a:rPr sz="1050" b="1" spc="-35" dirty="0">
                <a:cs typeface="Tahoma"/>
              </a:rPr>
              <a:t>h</a:t>
            </a:r>
            <a:r>
              <a:rPr sz="1050" b="1" spc="5" dirty="0">
                <a:cs typeface="Tahoma"/>
              </a:rPr>
              <a:t>e</a:t>
            </a:r>
            <a:r>
              <a:rPr sz="1050" b="1" spc="-50" dirty="0">
                <a:cs typeface="Tahoma"/>
              </a:rPr>
              <a:t> </a:t>
            </a:r>
            <a:r>
              <a:rPr sz="1050" b="1" spc="-45" dirty="0">
                <a:cs typeface="Tahoma"/>
              </a:rPr>
              <a:t>t</a:t>
            </a:r>
            <a:r>
              <a:rPr sz="1050" b="1" spc="-30" dirty="0">
                <a:cs typeface="Tahoma"/>
              </a:rPr>
              <a:t>h</a:t>
            </a:r>
            <a:r>
              <a:rPr sz="1050" b="1" spc="-5" dirty="0">
                <a:cs typeface="Tahoma"/>
              </a:rPr>
              <a:t>e</a:t>
            </a:r>
            <a:r>
              <a:rPr sz="1050" b="1" spc="-35" dirty="0">
                <a:cs typeface="Tahoma"/>
              </a:rPr>
              <a:t>m</a:t>
            </a:r>
            <a:r>
              <a:rPr sz="1050" spc="10" dirty="0">
                <a:cs typeface="Tahoma"/>
              </a:rPr>
              <a:t>?</a:t>
            </a:r>
            <a:endParaRPr sz="1050" dirty="0">
              <a:cs typeface="Tahoma"/>
            </a:endParaRPr>
          </a:p>
        </p:txBody>
      </p:sp>
      <p:sp>
        <p:nvSpPr>
          <p:cNvPr id="32" name="object 32"/>
          <p:cNvSpPr/>
          <p:nvPr/>
        </p:nvSpPr>
        <p:spPr>
          <a:xfrm>
            <a:off x="3847334" y="907162"/>
            <a:ext cx="1337564" cy="1219395"/>
          </a:xfrm>
          <a:custGeom>
            <a:avLst/>
            <a:gdLst/>
            <a:ahLst/>
            <a:cxnLst/>
            <a:rect l="l" t="t" r="r" b="b"/>
            <a:pathLst>
              <a:path w="1461770" h="1269364">
                <a:moveTo>
                  <a:pt x="1362811" y="1209034"/>
                </a:moveTo>
                <a:lnTo>
                  <a:pt x="1337945" y="1237741"/>
                </a:lnTo>
                <a:lnTo>
                  <a:pt x="1461770" y="1269364"/>
                </a:lnTo>
                <a:lnTo>
                  <a:pt x="1441876" y="1221486"/>
                </a:lnTo>
                <a:lnTo>
                  <a:pt x="1377188" y="1221486"/>
                </a:lnTo>
                <a:lnTo>
                  <a:pt x="1362811" y="1209034"/>
                </a:lnTo>
                <a:close/>
              </a:path>
              <a:path w="1461770" h="1269364">
                <a:moveTo>
                  <a:pt x="1387801" y="1180182"/>
                </a:moveTo>
                <a:lnTo>
                  <a:pt x="1362811" y="1209034"/>
                </a:lnTo>
                <a:lnTo>
                  <a:pt x="1377188" y="1221486"/>
                </a:lnTo>
                <a:lnTo>
                  <a:pt x="1402207" y="1192656"/>
                </a:lnTo>
                <a:lnTo>
                  <a:pt x="1387801" y="1180182"/>
                </a:lnTo>
                <a:close/>
              </a:path>
              <a:path w="1461770" h="1269364">
                <a:moveTo>
                  <a:pt x="1412747" y="1151381"/>
                </a:moveTo>
                <a:lnTo>
                  <a:pt x="1387801" y="1180182"/>
                </a:lnTo>
                <a:lnTo>
                  <a:pt x="1402207" y="1192656"/>
                </a:lnTo>
                <a:lnTo>
                  <a:pt x="1377188" y="1221486"/>
                </a:lnTo>
                <a:lnTo>
                  <a:pt x="1441876" y="1221486"/>
                </a:lnTo>
                <a:lnTo>
                  <a:pt x="1412747" y="1151381"/>
                </a:lnTo>
                <a:close/>
              </a:path>
              <a:path w="1461770" h="1269364">
                <a:moveTo>
                  <a:pt x="24892" y="0"/>
                </a:moveTo>
                <a:lnTo>
                  <a:pt x="0" y="28701"/>
                </a:lnTo>
                <a:lnTo>
                  <a:pt x="1362811" y="1209034"/>
                </a:lnTo>
                <a:lnTo>
                  <a:pt x="1387801" y="1180182"/>
                </a:lnTo>
                <a:lnTo>
                  <a:pt x="24892" y="0"/>
                </a:lnTo>
                <a:close/>
              </a:path>
            </a:pathLst>
          </a:custGeom>
          <a:solidFill>
            <a:srgbClr val="D9C1FA"/>
          </a:solidFill>
        </p:spPr>
        <p:txBody>
          <a:bodyPr wrap="square" lIns="0" tIns="0" rIns="0" bIns="0" rtlCol="0"/>
          <a:lstStyle/>
          <a:p>
            <a:endParaRPr/>
          </a:p>
        </p:txBody>
      </p:sp>
      <p:sp>
        <p:nvSpPr>
          <p:cNvPr id="33" name="object 33"/>
          <p:cNvSpPr/>
          <p:nvPr/>
        </p:nvSpPr>
        <p:spPr>
          <a:xfrm>
            <a:off x="5483601" y="3748854"/>
            <a:ext cx="379095" cy="575945"/>
          </a:xfrm>
          <a:custGeom>
            <a:avLst/>
            <a:gdLst/>
            <a:ahLst/>
            <a:cxnLst/>
            <a:rect l="l" t="t" r="r" b="b"/>
            <a:pathLst>
              <a:path w="379095" h="575945">
                <a:moveTo>
                  <a:pt x="77724" y="85878"/>
                </a:moveTo>
                <a:lnTo>
                  <a:pt x="45695" y="106414"/>
                </a:lnTo>
                <a:lnTo>
                  <a:pt x="346710" y="575437"/>
                </a:lnTo>
                <a:lnTo>
                  <a:pt x="378714" y="554863"/>
                </a:lnTo>
                <a:lnTo>
                  <a:pt x="77724" y="85878"/>
                </a:lnTo>
                <a:close/>
              </a:path>
              <a:path w="379095" h="575945">
                <a:moveTo>
                  <a:pt x="0" y="0"/>
                </a:moveTo>
                <a:lnTo>
                  <a:pt x="13589" y="127000"/>
                </a:lnTo>
                <a:lnTo>
                  <a:pt x="45695" y="106414"/>
                </a:lnTo>
                <a:lnTo>
                  <a:pt x="35433" y="90424"/>
                </a:lnTo>
                <a:lnTo>
                  <a:pt x="67437" y="69850"/>
                </a:lnTo>
                <a:lnTo>
                  <a:pt x="102724" y="69850"/>
                </a:lnTo>
                <a:lnTo>
                  <a:pt x="109855" y="65277"/>
                </a:lnTo>
                <a:lnTo>
                  <a:pt x="0" y="0"/>
                </a:lnTo>
                <a:close/>
              </a:path>
              <a:path w="379095" h="575945">
                <a:moveTo>
                  <a:pt x="67437" y="69850"/>
                </a:moveTo>
                <a:lnTo>
                  <a:pt x="35433" y="90424"/>
                </a:lnTo>
                <a:lnTo>
                  <a:pt x="45695" y="106414"/>
                </a:lnTo>
                <a:lnTo>
                  <a:pt x="77724" y="85878"/>
                </a:lnTo>
                <a:lnTo>
                  <a:pt x="67437" y="69850"/>
                </a:lnTo>
                <a:close/>
              </a:path>
              <a:path w="379095" h="575945">
                <a:moveTo>
                  <a:pt x="102724" y="69850"/>
                </a:moveTo>
                <a:lnTo>
                  <a:pt x="67437" y="69850"/>
                </a:lnTo>
                <a:lnTo>
                  <a:pt x="77724" y="85878"/>
                </a:lnTo>
                <a:lnTo>
                  <a:pt x="102724" y="69850"/>
                </a:lnTo>
                <a:close/>
              </a:path>
            </a:pathLst>
          </a:custGeom>
          <a:solidFill>
            <a:srgbClr val="F1EAFD"/>
          </a:solidFill>
        </p:spPr>
        <p:txBody>
          <a:bodyPr wrap="square" lIns="0" tIns="0" rIns="0" bIns="0" rtlCol="0"/>
          <a:lstStyle/>
          <a:p>
            <a:endParaRPr/>
          </a:p>
        </p:txBody>
      </p:sp>
      <p:sp>
        <p:nvSpPr>
          <p:cNvPr id="34" name="object 34"/>
          <p:cNvSpPr txBox="1"/>
          <p:nvPr/>
        </p:nvSpPr>
        <p:spPr>
          <a:xfrm>
            <a:off x="10765024" y="5486757"/>
            <a:ext cx="462280" cy="661720"/>
          </a:xfrm>
          <a:prstGeom prst="rect">
            <a:avLst/>
          </a:prstGeom>
        </p:spPr>
        <p:txBody>
          <a:bodyPr vert="horz" wrap="square" lIns="0" tIns="0" rIns="0" bIns="0" rtlCol="0">
            <a:spAutoFit/>
          </a:bodyPr>
          <a:lstStyle/>
          <a:p>
            <a:pPr marR="5080" algn="r">
              <a:lnSpc>
                <a:spcPts val="2150"/>
              </a:lnSpc>
            </a:pPr>
            <a:r>
              <a:rPr sz="1800" spc="50" dirty="0">
                <a:cs typeface="Cambria Math"/>
              </a:rPr>
              <a:t>𝑄</a:t>
            </a:r>
            <a:r>
              <a:rPr sz="1800" spc="95" dirty="0">
                <a:cs typeface="Cambria Math"/>
              </a:rPr>
              <a:t>𝐾</a:t>
            </a:r>
            <a:r>
              <a:rPr sz="1950" spc="89" baseline="27777" dirty="0">
                <a:cs typeface="Cambria Math"/>
              </a:rPr>
              <a:t>𝑇</a:t>
            </a:r>
            <a:endParaRPr sz="1950" baseline="27777">
              <a:cs typeface="Cambria Math"/>
            </a:endParaRPr>
          </a:p>
          <a:p>
            <a:pPr marR="21590" algn="r">
              <a:lnSpc>
                <a:spcPct val="100000"/>
              </a:lnSpc>
              <a:spcBef>
                <a:spcPts val="765"/>
              </a:spcBef>
            </a:pPr>
            <a:r>
              <a:rPr sz="1800" spc="40" dirty="0">
                <a:cs typeface="Cambria Math"/>
              </a:rPr>
              <a:t>𝑑</a:t>
            </a:r>
            <a:r>
              <a:rPr sz="1950" spc="60" baseline="-14957" dirty="0">
                <a:cs typeface="Cambria Math"/>
              </a:rPr>
              <a:t>𝑘</a:t>
            </a:r>
            <a:endParaRPr sz="1950" baseline="-14957">
              <a:cs typeface="Cambria Math"/>
            </a:endParaRPr>
          </a:p>
        </p:txBody>
      </p:sp>
      <p:sp>
        <p:nvSpPr>
          <p:cNvPr id="35" name="object 35"/>
          <p:cNvSpPr txBox="1"/>
          <p:nvPr/>
        </p:nvSpPr>
        <p:spPr>
          <a:xfrm>
            <a:off x="7678289" y="5696837"/>
            <a:ext cx="1867535" cy="243656"/>
          </a:xfrm>
          <a:prstGeom prst="rect">
            <a:avLst/>
          </a:prstGeom>
        </p:spPr>
        <p:txBody>
          <a:bodyPr vert="horz" wrap="square" lIns="0" tIns="0" rIns="0" bIns="0" rtlCol="0">
            <a:spAutoFit/>
          </a:bodyPr>
          <a:lstStyle/>
          <a:p>
            <a:pPr marL="12700">
              <a:lnSpc>
                <a:spcPts val="1860"/>
              </a:lnSpc>
            </a:pPr>
            <a:r>
              <a:rPr sz="1800" spc="-5" dirty="0">
                <a:cs typeface="Cambria Math"/>
              </a:rPr>
              <a:t>𝐴𝑡</a:t>
            </a:r>
            <a:r>
              <a:rPr sz="1800" spc="-10" dirty="0">
                <a:cs typeface="Cambria Math"/>
              </a:rPr>
              <a:t>𝑡</a:t>
            </a:r>
            <a:r>
              <a:rPr sz="1800" spc="-5" dirty="0">
                <a:cs typeface="Cambria Math"/>
              </a:rPr>
              <a:t>𝑒</a:t>
            </a:r>
            <a:r>
              <a:rPr sz="1800" spc="-10" dirty="0">
                <a:cs typeface="Cambria Math"/>
              </a:rPr>
              <a:t>𝑛</a:t>
            </a:r>
            <a:r>
              <a:rPr sz="1800" spc="5" dirty="0">
                <a:cs typeface="Cambria Math"/>
              </a:rPr>
              <a:t>𝑡</a:t>
            </a:r>
            <a:r>
              <a:rPr sz="1800" dirty="0">
                <a:cs typeface="Cambria Math"/>
              </a:rPr>
              <a:t>𝑖𝑜𝑛 </a:t>
            </a:r>
            <a:r>
              <a:rPr sz="1800" spc="5" dirty="0">
                <a:cs typeface="Cambria Math"/>
              </a:rPr>
              <a:t> </a:t>
            </a:r>
            <a:r>
              <a:rPr sz="1800" spc="40" dirty="0">
                <a:cs typeface="Cambria Math"/>
              </a:rPr>
              <a:t>𝑄</a:t>
            </a:r>
            <a:r>
              <a:rPr sz="1800" dirty="0">
                <a:cs typeface="Cambria Math"/>
              </a:rPr>
              <a:t>,</a:t>
            </a:r>
            <a:r>
              <a:rPr sz="1800" spc="-85" dirty="0">
                <a:cs typeface="Cambria Math"/>
              </a:rPr>
              <a:t> </a:t>
            </a:r>
            <a:r>
              <a:rPr sz="1800" spc="50" dirty="0">
                <a:cs typeface="Cambria Math"/>
              </a:rPr>
              <a:t>𝐾</a:t>
            </a:r>
            <a:r>
              <a:rPr sz="1800" dirty="0">
                <a:cs typeface="Cambria Math"/>
              </a:rPr>
              <a:t>,</a:t>
            </a:r>
            <a:r>
              <a:rPr sz="1800" spc="-85" dirty="0">
                <a:cs typeface="Cambria Math"/>
              </a:rPr>
              <a:t> </a:t>
            </a:r>
            <a:r>
              <a:rPr sz="1800" dirty="0">
                <a:cs typeface="Cambria Math"/>
              </a:rPr>
              <a:t>𝑉</a:t>
            </a:r>
          </a:p>
        </p:txBody>
      </p:sp>
      <p:sp>
        <p:nvSpPr>
          <p:cNvPr id="36" name="object 36"/>
          <p:cNvSpPr txBox="1"/>
          <p:nvPr/>
        </p:nvSpPr>
        <p:spPr>
          <a:xfrm>
            <a:off x="9573002" y="5696837"/>
            <a:ext cx="1038860" cy="243656"/>
          </a:xfrm>
          <a:prstGeom prst="rect">
            <a:avLst/>
          </a:prstGeom>
        </p:spPr>
        <p:txBody>
          <a:bodyPr vert="horz" wrap="square" lIns="0" tIns="0" rIns="0" bIns="0" rtlCol="0">
            <a:spAutoFit/>
          </a:bodyPr>
          <a:lstStyle/>
          <a:p>
            <a:pPr marL="12700">
              <a:lnSpc>
                <a:spcPts val="1860"/>
              </a:lnSpc>
            </a:pPr>
            <a:r>
              <a:rPr sz="1800" dirty="0">
                <a:cs typeface="Cambria Math"/>
              </a:rPr>
              <a:t>=</a:t>
            </a:r>
            <a:r>
              <a:rPr sz="1800" spc="45" dirty="0">
                <a:cs typeface="Cambria Math"/>
              </a:rPr>
              <a:t> </a:t>
            </a:r>
            <a:r>
              <a:rPr sz="1800" spc="-5" dirty="0">
                <a:cs typeface="Cambria Math"/>
              </a:rPr>
              <a:t>softmax</a:t>
            </a:r>
            <a:endParaRPr sz="1800">
              <a:cs typeface="Cambria Math"/>
            </a:endParaRPr>
          </a:p>
        </p:txBody>
      </p:sp>
      <p:sp>
        <p:nvSpPr>
          <p:cNvPr id="37" name="object 37"/>
          <p:cNvSpPr txBox="1"/>
          <p:nvPr/>
        </p:nvSpPr>
        <p:spPr>
          <a:xfrm>
            <a:off x="11392912" y="5696837"/>
            <a:ext cx="168910" cy="243656"/>
          </a:xfrm>
          <a:prstGeom prst="rect">
            <a:avLst/>
          </a:prstGeom>
        </p:spPr>
        <p:txBody>
          <a:bodyPr vert="horz" wrap="square" lIns="0" tIns="0" rIns="0" bIns="0" rtlCol="0">
            <a:spAutoFit/>
          </a:bodyPr>
          <a:lstStyle/>
          <a:p>
            <a:pPr marL="12700">
              <a:lnSpc>
                <a:spcPts val="1860"/>
              </a:lnSpc>
            </a:pPr>
            <a:r>
              <a:rPr sz="1800" dirty="0">
                <a:cs typeface="Cambria Math"/>
              </a:rPr>
              <a:t>𝑉</a:t>
            </a:r>
            <a:endParaRPr sz="1800">
              <a:cs typeface="Cambria Math"/>
            </a:endParaRPr>
          </a:p>
        </p:txBody>
      </p:sp>
      <p:sp>
        <p:nvSpPr>
          <p:cNvPr id="38" name="object 38"/>
          <p:cNvSpPr txBox="1"/>
          <p:nvPr/>
        </p:nvSpPr>
        <p:spPr>
          <a:xfrm>
            <a:off x="677600" y="5820927"/>
            <a:ext cx="2512110" cy="311624"/>
          </a:xfrm>
          <a:prstGeom prst="rect">
            <a:avLst/>
          </a:prstGeom>
        </p:spPr>
        <p:txBody>
          <a:bodyPr vert="horz" wrap="square" lIns="0" tIns="3810" rIns="0" bIns="0" rtlCol="0">
            <a:spAutoFit/>
          </a:bodyPr>
          <a:lstStyle/>
          <a:p>
            <a:pPr marL="12700">
              <a:lnSpc>
                <a:spcPct val="100000"/>
              </a:lnSpc>
              <a:spcBef>
                <a:spcPts val="30"/>
              </a:spcBef>
            </a:pPr>
            <a:r>
              <a:rPr sz="2000" b="1" spc="10" dirty="0">
                <a:solidFill>
                  <a:srgbClr val="FF0000"/>
                </a:solidFill>
                <a:cs typeface="Tahoma"/>
              </a:rPr>
              <a:t>Inference</a:t>
            </a:r>
            <a:r>
              <a:rPr lang="en-US" sz="2000" b="1" dirty="0">
                <a:cs typeface="Tahoma"/>
              </a:rPr>
              <a:t> </a:t>
            </a:r>
            <a:r>
              <a:rPr sz="2000" b="1" spc="-30" dirty="0">
                <a:solidFill>
                  <a:srgbClr val="FF0000"/>
                </a:solidFill>
                <a:cs typeface="Tahoma"/>
              </a:rPr>
              <a:t>T</a:t>
            </a:r>
            <a:r>
              <a:rPr sz="2000" b="1" spc="-185" dirty="0">
                <a:solidFill>
                  <a:srgbClr val="FF0000"/>
                </a:solidFill>
                <a:cs typeface="Tahoma"/>
              </a:rPr>
              <a:t> </a:t>
            </a:r>
            <a:r>
              <a:rPr sz="2000" b="1" spc="-125" dirty="0">
                <a:solidFill>
                  <a:srgbClr val="FF0000"/>
                </a:solidFill>
                <a:cs typeface="Tahoma"/>
              </a:rPr>
              <a:t>=</a:t>
            </a:r>
            <a:r>
              <a:rPr sz="2000" b="1" spc="-114" dirty="0">
                <a:solidFill>
                  <a:srgbClr val="FF0000"/>
                </a:solidFill>
                <a:cs typeface="Tahoma"/>
              </a:rPr>
              <a:t> </a:t>
            </a:r>
            <a:r>
              <a:rPr sz="2000" b="1" spc="70" dirty="0">
                <a:solidFill>
                  <a:srgbClr val="FF0000"/>
                </a:solidFill>
                <a:cs typeface="Tahoma"/>
              </a:rPr>
              <a:t>4</a:t>
            </a:r>
            <a:endParaRPr sz="2000" b="1" dirty="0">
              <a:cs typeface="Tahoma"/>
            </a:endParaRPr>
          </a:p>
        </p:txBody>
      </p:sp>
      <p:sp>
        <p:nvSpPr>
          <p:cNvPr id="39" name="object 39"/>
          <p:cNvSpPr txBox="1"/>
          <p:nvPr/>
        </p:nvSpPr>
        <p:spPr>
          <a:xfrm>
            <a:off x="5576061" y="6041664"/>
            <a:ext cx="313690" cy="161583"/>
          </a:xfrm>
          <a:prstGeom prst="rect">
            <a:avLst/>
          </a:prstGeom>
        </p:spPr>
        <p:txBody>
          <a:bodyPr vert="horz" wrap="square" lIns="0" tIns="7620" rIns="0" bIns="0" rtlCol="0">
            <a:spAutoFit/>
          </a:bodyPr>
          <a:lstStyle/>
          <a:p>
            <a:pPr marL="12700">
              <a:lnSpc>
                <a:spcPct val="100000"/>
              </a:lnSpc>
              <a:spcBef>
                <a:spcPts val="60"/>
              </a:spcBef>
            </a:pPr>
            <a:r>
              <a:rPr sz="1000" spc="-35" dirty="0">
                <a:cs typeface="Tahoma"/>
              </a:rPr>
              <a:t>(4,</a:t>
            </a:r>
            <a:r>
              <a:rPr sz="1000" spc="-60" dirty="0">
                <a:cs typeface="Tahoma"/>
              </a:rPr>
              <a:t> </a:t>
            </a:r>
            <a:r>
              <a:rPr sz="1000" spc="-35" dirty="0">
                <a:cs typeface="Tahoma"/>
              </a:rPr>
              <a:t>4)</a:t>
            </a:r>
            <a:endParaRPr sz="1000">
              <a:cs typeface="Tahom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715511" y="829055"/>
            <a:ext cx="4762499" cy="519988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A17D8-31E4-427D-5B4A-F463F5153965}"/>
            </a:ext>
          </a:extLst>
        </p:cNvPr>
        <p:cNvGrpSpPr/>
        <p:nvPr/>
      </p:nvGrpSpPr>
      <p:grpSpPr>
        <a:xfrm>
          <a:off x="0" y="0"/>
          <a:ext cx="0" cy="0"/>
          <a:chOff x="0" y="0"/>
          <a:chExt cx="0" cy="0"/>
        </a:xfrm>
      </p:grpSpPr>
      <p:graphicFrame>
        <p:nvGraphicFramePr>
          <p:cNvPr id="3" name="object 3">
            <a:extLst>
              <a:ext uri="{FF2B5EF4-FFF2-40B4-BE49-F238E27FC236}">
                <a16:creationId xmlns:a16="http://schemas.microsoft.com/office/drawing/2014/main" id="{176063E3-EDA5-77FA-1B12-8858F0D96A85}"/>
              </a:ext>
            </a:extLst>
          </p:cNvPr>
          <p:cNvGraphicFramePr>
            <a:graphicFrameLocks noGrp="1"/>
          </p:cNvGraphicFramePr>
          <p:nvPr/>
        </p:nvGraphicFramePr>
        <p:xfrm>
          <a:off x="910855" y="2807877"/>
          <a:ext cx="1093282" cy="1907952"/>
        </p:xfrm>
        <a:graphic>
          <a:graphicData uri="http://schemas.openxmlformats.org/drawingml/2006/table">
            <a:tbl>
              <a:tblPr firstRow="1" bandRow="1">
                <a:tableStyleId>{2D5ABB26-0587-4C30-8999-92F81FD0307C}</a:tableStyleId>
              </a:tblPr>
              <a:tblGrid>
                <a:gridCol w="1093282">
                  <a:extLst>
                    <a:ext uri="{9D8B030D-6E8A-4147-A177-3AD203B41FA5}">
                      <a16:colId xmlns:a16="http://schemas.microsoft.com/office/drawing/2014/main" val="20000"/>
                    </a:ext>
                  </a:extLst>
                </a:gridCol>
              </a:tblGrid>
              <a:tr h="211995">
                <a:tc>
                  <a:txBody>
                    <a:bodyPr/>
                    <a:lstStyle/>
                    <a:p>
                      <a:pPr marL="91440">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1</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0"/>
                  </a:ext>
                </a:extLst>
              </a:tr>
              <a:tr h="211994">
                <a:tc>
                  <a:txBody>
                    <a:bodyPr/>
                    <a:lstStyle/>
                    <a:p>
                      <a:pPr marL="91440">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2</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1"/>
                  </a:ext>
                </a:extLst>
              </a:tr>
              <a:tr h="211995">
                <a:tc>
                  <a:txBody>
                    <a:bodyPr/>
                    <a:lstStyle/>
                    <a:p>
                      <a:pPr marL="91440">
                        <a:lnSpc>
                          <a:spcPct val="100000"/>
                        </a:lnSpc>
                        <a:spcBef>
                          <a:spcPts val="330"/>
                        </a:spcBef>
                      </a:pPr>
                      <a:r>
                        <a:rPr sz="800" spc="-5" dirty="0">
                          <a:latin typeface="Tahoma"/>
                          <a:cs typeface="Tahoma"/>
                        </a:rPr>
                        <a:t>TOK</a:t>
                      </a:r>
                      <a:r>
                        <a:rPr sz="800" dirty="0">
                          <a:latin typeface="Tahoma"/>
                          <a:cs typeface="Tahoma"/>
                        </a:rPr>
                        <a:t>EN</a:t>
                      </a:r>
                      <a:r>
                        <a:rPr sz="800" spc="-75" dirty="0">
                          <a:latin typeface="Tahoma"/>
                          <a:cs typeface="Tahoma"/>
                        </a:rPr>
                        <a:t> </a:t>
                      </a:r>
                      <a:r>
                        <a:rPr sz="800" dirty="0">
                          <a:latin typeface="Tahoma"/>
                          <a:cs typeface="Tahoma"/>
                        </a:rPr>
                        <a:t>3</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2"/>
                  </a:ext>
                </a:extLst>
              </a:tr>
              <a:tr h="211995">
                <a:tc>
                  <a:txBody>
                    <a:bodyPr/>
                    <a:lstStyle/>
                    <a:p>
                      <a:pPr marL="91440">
                        <a:lnSpc>
                          <a:spcPct val="100000"/>
                        </a:lnSpc>
                        <a:spcBef>
                          <a:spcPts val="335"/>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4</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3"/>
                  </a:ext>
                </a:extLst>
              </a:tr>
              <a:tr h="211995">
                <a:tc>
                  <a:txBody>
                    <a:bodyPr/>
                    <a:lstStyle/>
                    <a:p>
                      <a:pPr marL="91440">
                        <a:lnSpc>
                          <a:spcPct val="100000"/>
                        </a:lnSpc>
                        <a:spcBef>
                          <a:spcPts val="335"/>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5</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4"/>
                  </a:ext>
                </a:extLst>
              </a:tr>
              <a:tr h="211994">
                <a:tc>
                  <a:txBody>
                    <a:bodyPr/>
                    <a:lstStyle/>
                    <a:p>
                      <a:pPr marL="91440">
                        <a:lnSpc>
                          <a:spcPct val="100000"/>
                        </a:lnSpc>
                        <a:spcBef>
                          <a:spcPts val="334"/>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6</a:t>
                      </a:r>
                      <a:endParaRPr sz="800">
                        <a:latin typeface="Tahoma"/>
                        <a:cs typeface="Tahoma"/>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5"/>
                  </a:ext>
                </a:extLst>
              </a:tr>
              <a:tr h="211995">
                <a:tc>
                  <a:txBody>
                    <a:bodyPr/>
                    <a:lstStyle/>
                    <a:p>
                      <a:pPr marL="91440">
                        <a:lnSpc>
                          <a:spcPct val="100000"/>
                        </a:lnSpc>
                        <a:spcBef>
                          <a:spcPts val="334"/>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7</a:t>
                      </a:r>
                      <a:endParaRPr sz="800">
                        <a:latin typeface="Tahoma"/>
                        <a:cs typeface="Tahoma"/>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6"/>
                  </a:ext>
                </a:extLst>
              </a:tr>
              <a:tr h="211994">
                <a:tc>
                  <a:txBody>
                    <a:bodyPr/>
                    <a:lstStyle/>
                    <a:p>
                      <a:pPr marL="91440">
                        <a:lnSpc>
                          <a:spcPct val="100000"/>
                        </a:lnSpc>
                        <a:spcBef>
                          <a:spcPts val="334"/>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8</a:t>
                      </a:r>
                      <a:endParaRPr sz="800">
                        <a:latin typeface="Tahoma"/>
                        <a:cs typeface="Tahoma"/>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7"/>
                  </a:ext>
                </a:extLst>
              </a:tr>
              <a:tr h="211995">
                <a:tc>
                  <a:txBody>
                    <a:bodyPr/>
                    <a:lstStyle/>
                    <a:p>
                      <a:pPr marL="91440">
                        <a:lnSpc>
                          <a:spcPct val="100000"/>
                        </a:lnSpc>
                        <a:spcBef>
                          <a:spcPts val="335"/>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9</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EBEA"/>
                    </a:solidFill>
                  </a:tcPr>
                </a:tc>
                <a:extLst>
                  <a:ext uri="{0D108BD9-81ED-4DB2-BD59-A6C34878D82A}">
                    <a16:rowId xmlns:a16="http://schemas.microsoft.com/office/drawing/2014/main" val="10008"/>
                  </a:ext>
                </a:extLst>
              </a:tr>
            </a:tbl>
          </a:graphicData>
        </a:graphic>
      </p:graphicFrame>
      <p:graphicFrame>
        <p:nvGraphicFramePr>
          <p:cNvPr id="4" name="object 4">
            <a:extLst>
              <a:ext uri="{FF2B5EF4-FFF2-40B4-BE49-F238E27FC236}">
                <a16:creationId xmlns:a16="http://schemas.microsoft.com/office/drawing/2014/main" id="{79B2E119-A3DD-D8C6-4275-4111C2D0162C}"/>
              </a:ext>
            </a:extLst>
          </p:cNvPr>
          <p:cNvGraphicFramePr>
            <a:graphicFrameLocks noGrp="1"/>
          </p:cNvGraphicFramePr>
          <p:nvPr/>
        </p:nvGraphicFramePr>
        <p:xfrm>
          <a:off x="2644341" y="3008225"/>
          <a:ext cx="1867685" cy="1504658"/>
        </p:xfrm>
        <a:graphic>
          <a:graphicData uri="http://schemas.openxmlformats.org/drawingml/2006/table">
            <a:tbl>
              <a:tblPr firstRow="1" bandRow="1">
                <a:tableStyleId>{2D5ABB26-0587-4C30-8999-92F81FD0307C}</a:tableStyleId>
              </a:tblPr>
              <a:tblGrid>
                <a:gridCol w="207520">
                  <a:extLst>
                    <a:ext uri="{9D8B030D-6E8A-4147-A177-3AD203B41FA5}">
                      <a16:colId xmlns:a16="http://schemas.microsoft.com/office/drawing/2014/main" val="20000"/>
                    </a:ext>
                  </a:extLst>
                </a:gridCol>
                <a:gridCol w="207520">
                  <a:extLst>
                    <a:ext uri="{9D8B030D-6E8A-4147-A177-3AD203B41FA5}">
                      <a16:colId xmlns:a16="http://schemas.microsoft.com/office/drawing/2014/main" val="20001"/>
                    </a:ext>
                  </a:extLst>
                </a:gridCol>
                <a:gridCol w="207520">
                  <a:extLst>
                    <a:ext uri="{9D8B030D-6E8A-4147-A177-3AD203B41FA5}">
                      <a16:colId xmlns:a16="http://schemas.microsoft.com/office/drawing/2014/main" val="20002"/>
                    </a:ext>
                  </a:extLst>
                </a:gridCol>
                <a:gridCol w="207520">
                  <a:extLst>
                    <a:ext uri="{9D8B030D-6E8A-4147-A177-3AD203B41FA5}">
                      <a16:colId xmlns:a16="http://schemas.microsoft.com/office/drawing/2014/main" val="20003"/>
                    </a:ext>
                  </a:extLst>
                </a:gridCol>
                <a:gridCol w="207521">
                  <a:extLst>
                    <a:ext uri="{9D8B030D-6E8A-4147-A177-3AD203B41FA5}">
                      <a16:colId xmlns:a16="http://schemas.microsoft.com/office/drawing/2014/main" val="20004"/>
                    </a:ext>
                  </a:extLst>
                </a:gridCol>
                <a:gridCol w="207521">
                  <a:extLst>
                    <a:ext uri="{9D8B030D-6E8A-4147-A177-3AD203B41FA5}">
                      <a16:colId xmlns:a16="http://schemas.microsoft.com/office/drawing/2014/main" val="20005"/>
                    </a:ext>
                  </a:extLst>
                </a:gridCol>
                <a:gridCol w="207521">
                  <a:extLst>
                    <a:ext uri="{9D8B030D-6E8A-4147-A177-3AD203B41FA5}">
                      <a16:colId xmlns:a16="http://schemas.microsoft.com/office/drawing/2014/main" val="20006"/>
                    </a:ext>
                  </a:extLst>
                </a:gridCol>
                <a:gridCol w="207521">
                  <a:extLst>
                    <a:ext uri="{9D8B030D-6E8A-4147-A177-3AD203B41FA5}">
                      <a16:colId xmlns:a16="http://schemas.microsoft.com/office/drawing/2014/main" val="20007"/>
                    </a:ext>
                  </a:extLst>
                </a:gridCol>
                <a:gridCol w="207521">
                  <a:extLst>
                    <a:ext uri="{9D8B030D-6E8A-4147-A177-3AD203B41FA5}">
                      <a16:colId xmlns:a16="http://schemas.microsoft.com/office/drawing/2014/main" val="20008"/>
                    </a:ext>
                  </a:extLst>
                </a:gridCol>
              </a:tblGrid>
              <a:tr h="1504658">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1</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2</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3</a:t>
                      </a:r>
                      <a:endParaRPr sz="900" dirty="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4</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2075" marR="10795"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5</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6</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7</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2075" marR="10795"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8</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9</a:t>
                      </a:r>
                      <a:endParaRPr sz="900" dirty="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extLst>
                  <a:ext uri="{0D108BD9-81ED-4DB2-BD59-A6C34878D82A}">
                    <a16:rowId xmlns:a16="http://schemas.microsoft.com/office/drawing/2014/main" val="10000"/>
                  </a:ext>
                </a:extLst>
              </a:tr>
            </a:tbl>
          </a:graphicData>
        </a:graphic>
      </p:graphicFrame>
      <p:sp>
        <p:nvSpPr>
          <p:cNvPr id="5" name="object 5">
            <a:extLst>
              <a:ext uri="{FF2B5EF4-FFF2-40B4-BE49-F238E27FC236}">
                <a16:creationId xmlns:a16="http://schemas.microsoft.com/office/drawing/2014/main" id="{067B52F1-3E4B-D146-B67C-BED40BF6CF16}"/>
              </a:ext>
            </a:extLst>
          </p:cNvPr>
          <p:cNvSpPr txBox="1"/>
          <p:nvPr/>
        </p:nvSpPr>
        <p:spPr>
          <a:xfrm>
            <a:off x="2238093" y="3464320"/>
            <a:ext cx="172723" cy="287969"/>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𝑋</a:t>
            </a:r>
            <a:endParaRPr sz="1800">
              <a:latin typeface="Cambria Math"/>
              <a:cs typeface="Cambria Math"/>
            </a:endParaRPr>
          </a:p>
        </p:txBody>
      </p:sp>
      <p:sp>
        <p:nvSpPr>
          <p:cNvPr id="6" name="object 6">
            <a:extLst>
              <a:ext uri="{FF2B5EF4-FFF2-40B4-BE49-F238E27FC236}">
                <a16:creationId xmlns:a16="http://schemas.microsoft.com/office/drawing/2014/main" id="{7B124E2C-C552-C9F5-369C-80AD8FFB37B8}"/>
              </a:ext>
            </a:extLst>
          </p:cNvPr>
          <p:cNvSpPr txBox="1"/>
          <p:nvPr/>
        </p:nvSpPr>
        <p:spPr>
          <a:xfrm>
            <a:off x="4746426" y="3464384"/>
            <a:ext cx="195500" cy="297802"/>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a:t>
            </a:r>
            <a:endParaRPr sz="1800">
              <a:latin typeface="Cambria Math"/>
              <a:cs typeface="Cambria Math"/>
            </a:endParaRPr>
          </a:p>
        </p:txBody>
      </p:sp>
      <p:graphicFrame>
        <p:nvGraphicFramePr>
          <p:cNvPr id="7" name="object 7">
            <a:extLst>
              <a:ext uri="{FF2B5EF4-FFF2-40B4-BE49-F238E27FC236}">
                <a16:creationId xmlns:a16="http://schemas.microsoft.com/office/drawing/2014/main" id="{2F917051-5763-968B-68E7-3A6E50D0E94F}"/>
              </a:ext>
            </a:extLst>
          </p:cNvPr>
          <p:cNvGraphicFramePr>
            <a:graphicFrameLocks noGrp="1"/>
          </p:cNvGraphicFramePr>
          <p:nvPr/>
        </p:nvGraphicFramePr>
        <p:xfrm>
          <a:off x="5171168" y="2132608"/>
          <a:ext cx="1981571" cy="3543327"/>
        </p:xfrm>
        <a:graphic>
          <a:graphicData uri="http://schemas.openxmlformats.org/drawingml/2006/table">
            <a:tbl>
              <a:tblPr firstRow="1" bandRow="1">
                <a:tableStyleId>{2D5ABB26-0587-4C30-8999-92F81FD0307C}</a:tableStyleId>
              </a:tblPr>
              <a:tblGrid>
                <a:gridCol w="207520">
                  <a:extLst>
                    <a:ext uri="{9D8B030D-6E8A-4147-A177-3AD203B41FA5}">
                      <a16:colId xmlns:a16="http://schemas.microsoft.com/office/drawing/2014/main" val="20000"/>
                    </a:ext>
                  </a:extLst>
                </a:gridCol>
                <a:gridCol w="232828">
                  <a:extLst>
                    <a:ext uri="{9D8B030D-6E8A-4147-A177-3AD203B41FA5}">
                      <a16:colId xmlns:a16="http://schemas.microsoft.com/office/drawing/2014/main" val="20001"/>
                    </a:ext>
                  </a:extLst>
                </a:gridCol>
                <a:gridCol w="220174">
                  <a:extLst>
                    <a:ext uri="{9D8B030D-6E8A-4147-A177-3AD203B41FA5}">
                      <a16:colId xmlns:a16="http://schemas.microsoft.com/office/drawing/2014/main" val="20002"/>
                    </a:ext>
                  </a:extLst>
                </a:gridCol>
                <a:gridCol w="220174">
                  <a:extLst>
                    <a:ext uri="{9D8B030D-6E8A-4147-A177-3AD203B41FA5}">
                      <a16:colId xmlns:a16="http://schemas.microsoft.com/office/drawing/2014/main" val="20003"/>
                    </a:ext>
                  </a:extLst>
                </a:gridCol>
                <a:gridCol w="220175">
                  <a:extLst>
                    <a:ext uri="{9D8B030D-6E8A-4147-A177-3AD203B41FA5}">
                      <a16:colId xmlns:a16="http://schemas.microsoft.com/office/drawing/2014/main" val="20004"/>
                    </a:ext>
                  </a:extLst>
                </a:gridCol>
                <a:gridCol w="220175">
                  <a:extLst>
                    <a:ext uri="{9D8B030D-6E8A-4147-A177-3AD203B41FA5}">
                      <a16:colId xmlns:a16="http://schemas.microsoft.com/office/drawing/2014/main" val="20005"/>
                    </a:ext>
                  </a:extLst>
                </a:gridCol>
                <a:gridCol w="220175">
                  <a:extLst>
                    <a:ext uri="{9D8B030D-6E8A-4147-A177-3AD203B41FA5}">
                      <a16:colId xmlns:a16="http://schemas.microsoft.com/office/drawing/2014/main" val="20006"/>
                    </a:ext>
                  </a:extLst>
                </a:gridCol>
                <a:gridCol w="220175">
                  <a:extLst>
                    <a:ext uri="{9D8B030D-6E8A-4147-A177-3AD203B41FA5}">
                      <a16:colId xmlns:a16="http://schemas.microsoft.com/office/drawing/2014/main" val="20007"/>
                    </a:ext>
                  </a:extLst>
                </a:gridCol>
                <a:gridCol w="220175">
                  <a:extLst>
                    <a:ext uri="{9D8B030D-6E8A-4147-A177-3AD203B41FA5}">
                      <a16:colId xmlns:a16="http://schemas.microsoft.com/office/drawing/2014/main" val="20008"/>
                    </a:ext>
                  </a:extLst>
                </a:gridCol>
              </a:tblGrid>
              <a:tr h="393704">
                <a:tc>
                  <a:txBody>
                    <a:bodyPr/>
                    <a:lstStyle/>
                    <a:p>
                      <a:pPr marL="92075" marR="78740" indent="-635" algn="ctr">
                        <a:lnSpc>
                          <a:spcPct val="100000"/>
                        </a:lnSpc>
                        <a:spcBef>
                          <a:spcPts val="345"/>
                        </a:spcBef>
                      </a:pPr>
                      <a:r>
                        <a:rPr sz="400" dirty="0">
                          <a:latin typeface="Tahoma"/>
                          <a:cs typeface="Tahoma"/>
                        </a:rPr>
                        <a:t>T  1</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88900">
                        <a:lnSpc>
                          <a:spcPct val="100000"/>
                        </a:lnSpc>
                        <a:spcBef>
                          <a:spcPts val="345"/>
                        </a:spcBef>
                      </a:pPr>
                      <a:r>
                        <a:rPr sz="400" dirty="0">
                          <a:latin typeface="Tahoma"/>
                          <a:cs typeface="Tahoma"/>
                        </a:rPr>
                        <a:t>T  </a:t>
                      </a:r>
                      <a:r>
                        <a:rPr sz="400" spc="-5" dirty="0">
                          <a:latin typeface="Tahoma"/>
                          <a:cs typeface="Tahoma"/>
                        </a:rPr>
                        <a:t>1</a:t>
                      </a: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extLst>
                  <a:ext uri="{0D108BD9-81ED-4DB2-BD59-A6C34878D82A}">
                    <a16:rowId xmlns:a16="http://schemas.microsoft.com/office/drawing/2014/main" val="10000"/>
                  </a:ext>
                </a:extLst>
              </a:tr>
              <a:tr h="393704">
                <a:tc>
                  <a:txBody>
                    <a:bodyPr/>
                    <a:lstStyle/>
                    <a:p>
                      <a:pPr marL="92075" marR="78740" indent="-635" algn="ctr">
                        <a:lnSpc>
                          <a:spcPct val="100000"/>
                        </a:lnSpc>
                        <a:spcBef>
                          <a:spcPts val="345"/>
                        </a:spcBef>
                      </a:pPr>
                      <a:r>
                        <a:rPr sz="400" dirty="0">
                          <a:latin typeface="Tahoma"/>
                          <a:cs typeface="Tahoma"/>
                        </a:rPr>
                        <a:t>T  1</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88900">
                        <a:lnSpc>
                          <a:spcPct val="100000"/>
                        </a:lnSpc>
                        <a:spcBef>
                          <a:spcPts val="345"/>
                        </a:spcBef>
                      </a:pPr>
                      <a:r>
                        <a:rPr sz="400" dirty="0">
                          <a:latin typeface="Tahoma"/>
                          <a:cs typeface="Tahoma"/>
                        </a:rPr>
                        <a:t>T  </a:t>
                      </a:r>
                      <a:r>
                        <a:rPr sz="400" spc="-5" dirty="0">
                          <a:latin typeface="Tahoma"/>
                          <a:cs typeface="Tahoma"/>
                        </a:rPr>
                        <a:t>1</a:t>
                      </a: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extLst>
                  <a:ext uri="{0D108BD9-81ED-4DB2-BD59-A6C34878D82A}">
                    <a16:rowId xmlns:a16="http://schemas.microsoft.com/office/drawing/2014/main" val="10001"/>
                  </a:ext>
                </a:extLst>
              </a:tr>
              <a:tr h="393704">
                <a:tc>
                  <a:txBody>
                    <a:bodyPr/>
                    <a:lstStyle/>
                    <a:p>
                      <a:pPr marL="92075" marR="78740" indent="-635" algn="ctr">
                        <a:lnSpc>
                          <a:spcPct val="100000"/>
                        </a:lnSpc>
                        <a:spcBef>
                          <a:spcPts val="345"/>
                        </a:spcBef>
                      </a:pPr>
                      <a:r>
                        <a:rPr sz="400" dirty="0">
                          <a:latin typeface="Tahoma"/>
                          <a:cs typeface="Tahoma"/>
                        </a:rPr>
                        <a:t>T  1</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88900">
                        <a:lnSpc>
                          <a:spcPct val="100000"/>
                        </a:lnSpc>
                        <a:spcBef>
                          <a:spcPts val="345"/>
                        </a:spcBef>
                      </a:pPr>
                      <a:r>
                        <a:rPr sz="400" dirty="0">
                          <a:latin typeface="Tahoma"/>
                          <a:cs typeface="Tahoma"/>
                        </a:rPr>
                        <a:t>T  </a:t>
                      </a:r>
                      <a:r>
                        <a:rPr sz="400" spc="-5" dirty="0">
                          <a:latin typeface="Tahoma"/>
                          <a:cs typeface="Tahoma"/>
                        </a:rPr>
                        <a:t>1</a:t>
                      </a: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extLst>
                  <a:ext uri="{0D108BD9-81ED-4DB2-BD59-A6C34878D82A}">
                    <a16:rowId xmlns:a16="http://schemas.microsoft.com/office/drawing/2014/main" val="10002"/>
                  </a:ext>
                </a:extLst>
              </a:tr>
              <a:tr h="393705">
                <a:tc>
                  <a:txBody>
                    <a:bodyPr/>
                    <a:lstStyle/>
                    <a:p>
                      <a:pPr marL="4445" algn="ctr">
                        <a:lnSpc>
                          <a:spcPct val="100000"/>
                        </a:lnSpc>
                        <a:spcBef>
                          <a:spcPts val="345"/>
                        </a:spcBef>
                      </a:pPr>
                      <a:r>
                        <a:rPr sz="400" dirty="0">
                          <a:latin typeface="Tahoma"/>
                          <a:cs typeface="Tahoma"/>
                        </a:rPr>
                        <a:t>T</a:t>
                      </a:r>
                      <a:endParaRPr sz="400">
                        <a:latin typeface="Tahoma"/>
                        <a:cs typeface="Tahoma"/>
                      </a:endParaRPr>
                    </a:p>
                    <a:p>
                      <a:pPr marL="5080" algn="ctr">
                        <a:lnSpc>
                          <a:spcPct val="100000"/>
                        </a:lnSpc>
                        <a:spcBef>
                          <a:spcPts val="5"/>
                        </a:spcBef>
                      </a:pPr>
                      <a:r>
                        <a:rPr sz="400" dirty="0">
                          <a:latin typeface="Tahoma"/>
                          <a:cs typeface="Tahoma"/>
                        </a:rPr>
                        <a:t>1</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88900">
                        <a:lnSpc>
                          <a:spcPct val="100000"/>
                        </a:lnSpc>
                        <a:spcBef>
                          <a:spcPts val="345"/>
                        </a:spcBef>
                      </a:pPr>
                      <a:r>
                        <a:rPr sz="400" dirty="0">
                          <a:latin typeface="Tahoma"/>
                          <a:cs typeface="Tahoma"/>
                        </a:rPr>
                        <a:t>T  </a:t>
                      </a:r>
                      <a:r>
                        <a:rPr sz="400" spc="-5" dirty="0">
                          <a:latin typeface="Tahoma"/>
                          <a:cs typeface="Tahoma"/>
                        </a:rPr>
                        <a:t>1</a:t>
                      </a: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45"/>
                        </a:spcBef>
                      </a:pPr>
                      <a:r>
                        <a:rPr sz="400" dirty="0">
                          <a:latin typeface="Tahoma"/>
                          <a:cs typeface="Tahoma"/>
                        </a:rPr>
                        <a:t>T</a:t>
                      </a:r>
                      <a:endParaRPr sz="400">
                        <a:latin typeface="Tahoma"/>
                        <a:cs typeface="Tahoma"/>
                      </a:endParaRPr>
                    </a:p>
                    <a:p>
                      <a:pPr algn="ctr">
                        <a:lnSpc>
                          <a:spcPct val="100000"/>
                        </a:lnSpc>
                        <a:spcBef>
                          <a:spcPts val="5"/>
                        </a:spcBef>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45"/>
                        </a:spcBef>
                      </a:pPr>
                      <a:r>
                        <a:rPr sz="400" dirty="0">
                          <a:latin typeface="Tahoma"/>
                          <a:cs typeface="Tahoma"/>
                        </a:rPr>
                        <a:t>T</a:t>
                      </a:r>
                      <a:endParaRPr sz="400">
                        <a:latin typeface="Tahoma"/>
                        <a:cs typeface="Tahoma"/>
                      </a:endParaRPr>
                    </a:p>
                    <a:p>
                      <a:pPr algn="ctr">
                        <a:lnSpc>
                          <a:spcPct val="100000"/>
                        </a:lnSpc>
                        <a:spcBef>
                          <a:spcPts val="5"/>
                        </a:spcBef>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45"/>
                        </a:spcBef>
                      </a:pPr>
                      <a:r>
                        <a:rPr sz="400" dirty="0">
                          <a:latin typeface="Tahoma"/>
                          <a:cs typeface="Tahoma"/>
                        </a:rPr>
                        <a:t>T</a:t>
                      </a:r>
                      <a:endParaRPr sz="400">
                        <a:latin typeface="Tahoma"/>
                        <a:cs typeface="Tahoma"/>
                      </a:endParaRPr>
                    </a:p>
                    <a:p>
                      <a:pPr algn="ctr">
                        <a:lnSpc>
                          <a:spcPct val="100000"/>
                        </a:lnSpc>
                        <a:spcBef>
                          <a:spcPts val="5"/>
                        </a:spcBef>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R="635" algn="ctr">
                        <a:lnSpc>
                          <a:spcPct val="100000"/>
                        </a:lnSpc>
                        <a:spcBef>
                          <a:spcPts val="345"/>
                        </a:spcBef>
                      </a:pPr>
                      <a:r>
                        <a:rPr sz="400" dirty="0">
                          <a:latin typeface="Tahoma"/>
                          <a:cs typeface="Tahoma"/>
                        </a:rPr>
                        <a:t>T</a:t>
                      </a:r>
                      <a:endParaRPr sz="400">
                        <a:latin typeface="Tahoma"/>
                        <a:cs typeface="Tahoma"/>
                      </a:endParaRPr>
                    </a:p>
                    <a:p>
                      <a:pPr algn="ctr">
                        <a:lnSpc>
                          <a:spcPct val="100000"/>
                        </a:lnSpc>
                        <a:spcBef>
                          <a:spcPts val="5"/>
                        </a:spcBef>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45"/>
                        </a:spcBef>
                      </a:pPr>
                      <a:r>
                        <a:rPr sz="400" dirty="0">
                          <a:latin typeface="Tahoma"/>
                          <a:cs typeface="Tahoma"/>
                        </a:rPr>
                        <a:t>T</a:t>
                      </a:r>
                      <a:endParaRPr sz="400">
                        <a:latin typeface="Tahoma"/>
                        <a:cs typeface="Tahoma"/>
                      </a:endParaRPr>
                    </a:p>
                    <a:p>
                      <a:pPr algn="ctr">
                        <a:lnSpc>
                          <a:spcPct val="100000"/>
                        </a:lnSpc>
                        <a:spcBef>
                          <a:spcPts val="5"/>
                        </a:spcBef>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45"/>
                        </a:spcBef>
                      </a:pPr>
                      <a:r>
                        <a:rPr sz="400" dirty="0">
                          <a:latin typeface="Tahoma"/>
                          <a:cs typeface="Tahoma"/>
                        </a:rPr>
                        <a:t>T</a:t>
                      </a:r>
                      <a:endParaRPr sz="400">
                        <a:latin typeface="Tahoma"/>
                        <a:cs typeface="Tahoma"/>
                      </a:endParaRPr>
                    </a:p>
                    <a:p>
                      <a:pPr algn="ctr">
                        <a:lnSpc>
                          <a:spcPct val="100000"/>
                        </a:lnSpc>
                        <a:spcBef>
                          <a:spcPts val="5"/>
                        </a:spcBef>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45"/>
                        </a:spcBef>
                      </a:pPr>
                      <a:r>
                        <a:rPr sz="400" dirty="0">
                          <a:latin typeface="Tahoma"/>
                          <a:cs typeface="Tahoma"/>
                        </a:rPr>
                        <a:t>T</a:t>
                      </a:r>
                      <a:endParaRPr sz="400">
                        <a:latin typeface="Tahoma"/>
                        <a:cs typeface="Tahoma"/>
                      </a:endParaRPr>
                    </a:p>
                    <a:p>
                      <a:pPr algn="ctr">
                        <a:lnSpc>
                          <a:spcPct val="100000"/>
                        </a:lnSpc>
                        <a:spcBef>
                          <a:spcPts val="5"/>
                        </a:spcBef>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extLst>
                  <a:ext uri="{0D108BD9-81ED-4DB2-BD59-A6C34878D82A}">
                    <a16:rowId xmlns:a16="http://schemas.microsoft.com/office/drawing/2014/main" val="10003"/>
                  </a:ext>
                </a:extLst>
              </a:tr>
              <a:tr h="393705">
                <a:tc>
                  <a:txBody>
                    <a:bodyPr/>
                    <a:lstStyle/>
                    <a:p>
                      <a:pPr marL="92075" marR="78740" indent="-635" algn="ctr">
                        <a:lnSpc>
                          <a:spcPct val="100000"/>
                        </a:lnSpc>
                        <a:spcBef>
                          <a:spcPts val="350"/>
                        </a:spcBef>
                      </a:pPr>
                      <a:r>
                        <a:rPr sz="400" dirty="0">
                          <a:latin typeface="Tahoma"/>
                          <a:cs typeface="Tahoma"/>
                        </a:rPr>
                        <a:t>T  1</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88900">
                        <a:lnSpc>
                          <a:spcPct val="100000"/>
                        </a:lnSpc>
                        <a:spcBef>
                          <a:spcPts val="350"/>
                        </a:spcBef>
                      </a:pPr>
                      <a:r>
                        <a:rPr sz="400" dirty="0">
                          <a:latin typeface="Tahoma"/>
                          <a:cs typeface="Tahoma"/>
                        </a:rPr>
                        <a:t>T  </a:t>
                      </a:r>
                      <a:r>
                        <a:rPr sz="400" spc="-5" dirty="0">
                          <a:latin typeface="Tahoma"/>
                          <a:cs typeface="Tahoma"/>
                        </a:rPr>
                        <a:t>1</a:t>
                      </a: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extLst>
                  <a:ext uri="{0D108BD9-81ED-4DB2-BD59-A6C34878D82A}">
                    <a16:rowId xmlns:a16="http://schemas.microsoft.com/office/drawing/2014/main" val="10004"/>
                  </a:ext>
                </a:extLst>
              </a:tr>
              <a:tr h="393704">
                <a:tc>
                  <a:txBody>
                    <a:bodyPr/>
                    <a:lstStyle/>
                    <a:p>
                      <a:pPr marL="92075" marR="78740" indent="-635" algn="ctr">
                        <a:lnSpc>
                          <a:spcPct val="100000"/>
                        </a:lnSpc>
                        <a:spcBef>
                          <a:spcPts val="350"/>
                        </a:spcBef>
                      </a:pPr>
                      <a:r>
                        <a:rPr sz="400" dirty="0">
                          <a:latin typeface="Tahoma"/>
                          <a:cs typeface="Tahoma"/>
                        </a:rPr>
                        <a:t>T  1</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88900">
                        <a:lnSpc>
                          <a:spcPct val="100000"/>
                        </a:lnSpc>
                        <a:spcBef>
                          <a:spcPts val="350"/>
                        </a:spcBef>
                      </a:pPr>
                      <a:r>
                        <a:rPr sz="400" dirty="0">
                          <a:latin typeface="Tahoma"/>
                          <a:cs typeface="Tahoma"/>
                        </a:rPr>
                        <a:t>T  </a:t>
                      </a:r>
                      <a:r>
                        <a:rPr sz="400" spc="-5" dirty="0">
                          <a:latin typeface="Tahoma"/>
                          <a:cs typeface="Tahoma"/>
                        </a:rPr>
                        <a:t>1</a:t>
                      </a: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extLst>
                  <a:ext uri="{0D108BD9-81ED-4DB2-BD59-A6C34878D82A}">
                    <a16:rowId xmlns:a16="http://schemas.microsoft.com/office/drawing/2014/main" val="10005"/>
                  </a:ext>
                </a:extLst>
              </a:tr>
              <a:tr h="393704">
                <a:tc>
                  <a:txBody>
                    <a:bodyPr/>
                    <a:lstStyle/>
                    <a:p>
                      <a:pPr marL="92075" marR="78740" indent="-635" algn="ctr">
                        <a:lnSpc>
                          <a:spcPct val="100000"/>
                        </a:lnSpc>
                        <a:spcBef>
                          <a:spcPts val="350"/>
                        </a:spcBef>
                      </a:pPr>
                      <a:r>
                        <a:rPr sz="400" dirty="0">
                          <a:latin typeface="Tahoma"/>
                          <a:cs typeface="Tahoma"/>
                        </a:rPr>
                        <a:t>T  1</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88900">
                        <a:lnSpc>
                          <a:spcPct val="100000"/>
                        </a:lnSpc>
                        <a:spcBef>
                          <a:spcPts val="350"/>
                        </a:spcBef>
                      </a:pPr>
                      <a:r>
                        <a:rPr sz="400" dirty="0">
                          <a:latin typeface="Tahoma"/>
                          <a:cs typeface="Tahoma"/>
                        </a:rPr>
                        <a:t>T  </a:t>
                      </a:r>
                      <a:r>
                        <a:rPr sz="400" spc="-5" dirty="0">
                          <a:latin typeface="Tahoma"/>
                          <a:cs typeface="Tahoma"/>
                        </a:rPr>
                        <a:t>1</a:t>
                      </a: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extLst>
                  <a:ext uri="{0D108BD9-81ED-4DB2-BD59-A6C34878D82A}">
                    <a16:rowId xmlns:a16="http://schemas.microsoft.com/office/drawing/2014/main" val="10006"/>
                  </a:ext>
                </a:extLst>
              </a:tr>
              <a:tr h="393705">
                <a:tc>
                  <a:txBody>
                    <a:bodyPr/>
                    <a:lstStyle/>
                    <a:p>
                      <a:pPr marL="4445" algn="ctr">
                        <a:lnSpc>
                          <a:spcPct val="100000"/>
                        </a:lnSpc>
                        <a:spcBef>
                          <a:spcPts val="350"/>
                        </a:spcBef>
                      </a:pPr>
                      <a:r>
                        <a:rPr sz="400" dirty="0">
                          <a:latin typeface="Tahoma"/>
                          <a:cs typeface="Tahoma"/>
                        </a:rPr>
                        <a:t>T</a:t>
                      </a:r>
                      <a:endParaRPr sz="400">
                        <a:latin typeface="Tahoma"/>
                        <a:cs typeface="Tahoma"/>
                      </a:endParaRPr>
                    </a:p>
                    <a:p>
                      <a:pPr marL="5080" algn="ctr">
                        <a:lnSpc>
                          <a:spcPct val="100000"/>
                        </a:lnSpc>
                      </a:pPr>
                      <a:r>
                        <a:rPr sz="400" dirty="0">
                          <a:latin typeface="Tahoma"/>
                          <a:cs typeface="Tahoma"/>
                        </a:rPr>
                        <a:t>1</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88900">
                        <a:lnSpc>
                          <a:spcPct val="100000"/>
                        </a:lnSpc>
                        <a:spcBef>
                          <a:spcPts val="350"/>
                        </a:spcBef>
                      </a:pPr>
                      <a:r>
                        <a:rPr sz="400" dirty="0">
                          <a:latin typeface="Tahoma"/>
                          <a:cs typeface="Tahoma"/>
                        </a:rPr>
                        <a:t>T  </a:t>
                      </a:r>
                      <a:r>
                        <a:rPr sz="400" spc="-5" dirty="0">
                          <a:latin typeface="Tahoma"/>
                          <a:cs typeface="Tahoma"/>
                        </a:rPr>
                        <a:t>1</a:t>
                      </a: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50"/>
                        </a:spcBef>
                      </a:pPr>
                      <a:r>
                        <a:rPr sz="400" dirty="0">
                          <a:latin typeface="Tahoma"/>
                          <a:cs typeface="Tahoma"/>
                        </a:rPr>
                        <a:t>T</a:t>
                      </a:r>
                      <a:endParaRPr sz="400">
                        <a:latin typeface="Tahoma"/>
                        <a:cs typeface="Tahoma"/>
                      </a:endParaRPr>
                    </a:p>
                    <a:p>
                      <a:pPr algn="ctr">
                        <a:lnSpc>
                          <a:spcPct val="100000"/>
                        </a:lnSpc>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50"/>
                        </a:spcBef>
                      </a:pPr>
                      <a:r>
                        <a:rPr sz="400" dirty="0">
                          <a:latin typeface="Tahoma"/>
                          <a:cs typeface="Tahoma"/>
                        </a:rPr>
                        <a:t>T</a:t>
                      </a:r>
                      <a:endParaRPr sz="400">
                        <a:latin typeface="Tahoma"/>
                        <a:cs typeface="Tahoma"/>
                      </a:endParaRPr>
                    </a:p>
                    <a:p>
                      <a:pPr algn="ctr">
                        <a:lnSpc>
                          <a:spcPct val="100000"/>
                        </a:lnSpc>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50"/>
                        </a:spcBef>
                      </a:pPr>
                      <a:r>
                        <a:rPr sz="400" dirty="0">
                          <a:latin typeface="Tahoma"/>
                          <a:cs typeface="Tahoma"/>
                        </a:rPr>
                        <a:t>T</a:t>
                      </a:r>
                      <a:endParaRPr sz="400">
                        <a:latin typeface="Tahoma"/>
                        <a:cs typeface="Tahoma"/>
                      </a:endParaRPr>
                    </a:p>
                    <a:p>
                      <a:pPr algn="ctr">
                        <a:lnSpc>
                          <a:spcPct val="100000"/>
                        </a:lnSpc>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R="635" algn="ctr">
                        <a:lnSpc>
                          <a:spcPct val="100000"/>
                        </a:lnSpc>
                        <a:spcBef>
                          <a:spcPts val="350"/>
                        </a:spcBef>
                      </a:pPr>
                      <a:r>
                        <a:rPr sz="400" dirty="0">
                          <a:latin typeface="Tahoma"/>
                          <a:cs typeface="Tahoma"/>
                        </a:rPr>
                        <a:t>T</a:t>
                      </a:r>
                      <a:endParaRPr sz="400">
                        <a:latin typeface="Tahoma"/>
                        <a:cs typeface="Tahoma"/>
                      </a:endParaRPr>
                    </a:p>
                    <a:p>
                      <a:pPr algn="ctr">
                        <a:lnSpc>
                          <a:spcPct val="100000"/>
                        </a:lnSpc>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50"/>
                        </a:spcBef>
                      </a:pPr>
                      <a:r>
                        <a:rPr sz="400" dirty="0">
                          <a:latin typeface="Tahoma"/>
                          <a:cs typeface="Tahoma"/>
                        </a:rPr>
                        <a:t>T</a:t>
                      </a:r>
                      <a:endParaRPr sz="400">
                        <a:latin typeface="Tahoma"/>
                        <a:cs typeface="Tahoma"/>
                      </a:endParaRPr>
                    </a:p>
                    <a:p>
                      <a:pPr algn="ctr">
                        <a:lnSpc>
                          <a:spcPct val="100000"/>
                        </a:lnSpc>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50"/>
                        </a:spcBef>
                      </a:pPr>
                      <a:r>
                        <a:rPr sz="400" dirty="0">
                          <a:latin typeface="Tahoma"/>
                          <a:cs typeface="Tahoma"/>
                        </a:rPr>
                        <a:t>T</a:t>
                      </a:r>
                      <a:endParaRPr sz="400">
                        <a:latin typeface="Tahoma"/>
                        <a:cs typeface="Tahoma"/>
                      </a:endParaRPr>
                    </a:p>
                    <a:p>
                      <a:pPr algn="ctr">
                        <a:lnSpc>
                          <a:spcPct val="100000"/>
                        </a:lnSpc>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gn="ctr">
                        <a:lnSpc>
                          <a:spcPct val="100000"/>
                        </a:lnSpc>
                        <a:spcBef>
                          <a:spcPts val="350"/>
                        </a:spcBef>
                      </a:pPr>
                      <a:r>
                        <a:rPr sz="400" dirty="0">
                          <a:latin typeface="Tahoma"/>
                          <a:cs typeface="Tahoma"/>
                        </a:rPr>
                        <a:t>T</a:t>
                      </a:r>
                      <a:endParaRPr sz="400">
                        <a:latin typeface="Tahoma"/>
                        <a:cs typeface="Tahoma"/>
                      </a:endParaRPr>
                    </a:p>
                    <a:p>
                      <a:pPr algn="ctr">
                        <a:lnSpc>
                          <a:spcPct val="100000"/>
                        </a:lnSpc>
                      </a:pPr>
                      <a:r>
                        <a:rPr sz="400" dirty="0">
                          <a:latin typeface="Tahoma"/>
                          <a:cs typeface="Tahoma"/>
                        </a:rPr>
                        <a:t>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extLst>
                  <a:ext uri="{0D108BD9-81ED-4DB2-BD59-A6C34878D82A}">
                    <a16:rowId xmlns:a16="http://schemas.microsoft.com/office/drawing/2014/main" val="10007"/>
                  </a:ext>
                </a:extLst>
              </a:tr>
              <a:tr h="393692">
                <a:tc>
                  <a:txBody>
                    <a:bodyPr/>
                    <a:lstStyle/>
                    <a:p>
                      <a:pPr marL="92075" marR="78740" indent="-635" algn="ctr">
                        <a:lnSpc>
                          <a:spcPct val="100000"/>
                        </a:lnSpc>
                        <a:spcBef>
                          <a:spcPts val="350"/>
                        </a:spcBef>
                      </a:pPr>
                      <a:r>
                        <a:rPr sz="400" dirty="0">
                          <a:latin typeface="Tahoma"/>
                          <a:cs typeface="Tahoma"/>
                        </a:rPr>
                        <a:t>T  1</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88900">
                        <a:lnSpc>
                          <a:spcPct val="100000"/>
                        </a:lnSpc>
                        <a:spcBef>
                          <a:spcPts val="350"/>
                        </a:spcBef>
                      </a:pPr>
                      <a:r>
                        <a:rPr sz="400" dirty="0">
                          <a:latin typeface="Tahoma"/>
                          <a:cs typeface="Tahoma"/>
                        </a:rPr>
                        <a:t>T  </a:t>
                      </a:r>
                      <a:r>
                        <a:rPr sz="400" spc="-5" dirty="0">
                          <a:latin typeface="Tahoma"/>
                          <a:cs typeface="Tahoma"/>
                        </a:rPr>
                        <a:t>1</a:t>
                      </a: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50"/>
                        </a:spcBef>
                      </a:pPr>
                      <a:r>
                        <a:rPr sz="400" dirty="0">
                          <a:latin typeface="Tahoma"/>
                          <a:cs typeface="Tahoma"/>
                        </a:rPr>
                        <a:t>T  1</a:t>
                      </a:r>
                      <a:endParaRPr sz="400">
                        <a:latin typeface="Tahoma"/>
                        <a:cs typeface="Tahoma"/>
                      </a:endParaRPr>
                    </a:p>
                    <a:p>
                      <a:pPr marL="92075" marR="91440" algn="just">
                        <a:lnSpc>
                          <a:spcPct val="100000"/>
                        </a:lnSpc>
                      </a:pPr>
                      <a:r>
                        <a:rPr sz="400" dirty="0">
                          <a:latin typeface="Tahoma"/>
                          <a:cs typeface="Tahoma"/>
                        </a:rPr>
                        <a:t>-  T  1</a:t>
                      </a:r>
                      <a:endParaRPr sz="400">
                        <a:latin typeface="Tahoma"/>
                        <a:cs typeface="Tahoma"/>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extLst>
                  <a:ext uri="{0D108BD9-81ED-4DB2-BD59-A6C34878D82A}">
                    <a16:rowId xmlns:a16="http://schemas.microsoft.com/office/drawing/2014/main" val="10008"/>
                  </a:ext>
                </a:extLst>
              </a:tr>
            </a:tbl>
          </a:graphicData>
        </a:graphic>
      </p:graphicFrame>
      <p:graphicFrame>
        <p:nvGraphicFramePr>
          <p:cNvPr id="8" name="object 8">
            <a:extLst>
              <a:ext uri="{FF2B5EF4-FFF2-40B4-BE49-F238E27FC236}">
                <a16:creationId xmlns:a16="http://schemas.microsoft.com/office/drawing/2014/main" id="{81A1E0A9-F3A4-E224-BB94-7D9E541158D7}"/>
              </a:ext>
            </a:extLst>
          </p:cNvPr>
          <p:cNvGraphicFramePr>
            <a:graphicFrameLocks noGrp="1"/>
          </p:cNvGraphicFramePr>
          <p:nvPr/>
        </p:nvGraphicFramePr>
        <p:xfrm>
          <a:off x="8377337" y="2850470"/>
          <a:ext cx="1097280" cy="1920237"/>
        </p:xfrm>
        <a:graphic>
          <a:graphicData uri="http://schemas.openxmlformats.org/drawingml/2006/table">
            <a:tbl>
              <a:tblPr firstRow="1" bandRow="1">
                <a:tableStyleId>{2D5ABB26-0587-4C30-8999-92F81FD0307C}</a:tableStyleId>
              </a:tblPr>
              <a:tblGrid>
                <a:gridCol w="1097280">
                  <a:extLst>
                    <a:ext uri="{9D8B030D-6E8A-4147-A177-3AD203B41FA5}">
                      <a16:colId xmlns:a16="http://schemas.microsoft.com/office/drawing/2014/main" val="20000"/>
                    </a:ext>
                  </a:extLst>
                </a:gridCol>
              </a:tblGrid>
              <a:tr h="213360">
                <a:tc>
                  <a:txBody>
                    <a:bodyPr/>
                    <a:lstStyle/>
                    <a:p>
                      <a:pPr marL="92075">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1</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0"/>
                  </a:ext>
                </a:extLst>
              </a:tr>
              <a:tr h="213359">
                <a:tc>
                  <a:txBody>
                    <a:bodyPr/>
                    <a:lstStyle/>
                    <a:p>
                      <a:pPr marL="92075">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2</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1"/>
                  </a:ext>
                </a:extLst>
              </a:tr>
              <a:tr h="213360">
                <a:tc>
                  <a:txBody>
                    <a:bodyPr/>
                    <a:lstStyle/>
                    <a:p>
                      <a:pPr marL="92075">
                        <a:lnSpc>
                          <a:spcPct val="100000"/>
                        </a:lnSpc>
                        <a:spcBef>
                          <a:spcPts val="330"/>
                        </a:spcBef>
                      </a:pPr>
                      <a:r>
                        <a:rPr sz="800" spc="-5" dirty="0">
                          <a:latin typeface="Tahoma"/>
                          <a:cs typeface="Tahoma"/>
                        </a:rPr>
                        <a:t>TOK</a:t>
                      </a:r>
                      <a:r>
                        <a:rPr sz="800" dirty="0">
                          <a:latin typeface="Tahoma"/>
                          <a:cs typeface="Tahoma"/>
                        </a:rPr>
                        <a:t>EN</a:t>
                      </a:r>
                      <a:r>
                        <a:rPr sz="800" spc="-75" dirty="0">
                          <a:latin typeface="Tahoma"/>
                          <a:cs typeface="Tahoma"/>
                        </a:rPr>
                        <a:t> </a:t>
                      </a:r>
                      <a:r>
                        <a:rPr sz="800" dirty="0">
                          <a:latin typeface="Tahoma"/>
                          <a:cs typeface="Tahoma"/>
                        </a:rPr>
                        <a:t>3</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2"/>
                  </a:ext>
                </a:extLst>
              </a:tr>
              <a:tr h="213360">
                <a:tc>
                  <a:txBody>
                    <a:bodyPr/>
                    <a:lstStyle/>
                    <a:p>
                      <a:pPr marL="92075">
                        <a:lnSpc>
                          <a:spcPct val="100000"/>
                        </a:lnSpc>
                        <a:spcBef>
                          <a:spcPts val="335"/>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4</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3"/>
                  </a:ext>
                </a:extLst>
              </a:tr>
              <a:tr h="213360">
                <a:tc>
                  <a:txBody>
                    <a:bodyPr/>
                    <a:lstStyle/>
                    <a:p>
                      <a:pPr marL="92075">
                        <a:lnSpc>
                          <a:spcPct val="100000"/>
                        </a:lnSpc>
                        <a:spcBef>
                          <a:spcPts val="335"/>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5</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4"/>
                  </a:ext>
                </a:extLst>
              </a:tr>
              <a:tr h="213359">
                <a:tc>
                  <a:txBody>
                    <a:bodyPr/>
                    <a:lstStyle/>
                    <a:p>
                      <a:pPr marL="92075">
                        <a:lnSpc>
                          <a:spcPct val="100000"/>
                        </a:lnSpc>
                        <a:spcBef>
                          <a:spcPts val="334"/>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6</a:t>
                      </a:r>
                      <a:endParaRPr sz="800">
                        <a:latin typeface="Tahoma"/>
                        <a:cs typeface="Tahoma"/>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5"/>
                  </a:ext>
                </a:extLst>
              </a:tr>
              <a:tr h="213360">
                <a:tc>
                  <a:txBody>
                    <a:bodyPr/>
                    <a:lstStyle/>
                    <a:p>
                      <a:pPr marL="92075">
                        <a:lnSpc>
                          <a:spcPct val="100000"/>
                        </a:lnSpc>
                        <a:spcBef>
                          <a:spcPts val="334"/>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7</a:t>
                      </a:r>
                      <a:endParaRPr sz="800">
                        <a:latin typeface="Tahoma"/>
                        <a:cs typeface="Tahoma"/>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6"/>
                  </a:ext>
                </a:extLst>
              </a:tr>
              <a:tr h="213359">
                <a:tc>
                  <a:txBody>
                    <a:bodyPr/>
                    <a:lstStyle/>
                    <a:p>
                      <a:pPr marL="92075">
                        <a:lnSpc>
                          <a:spcPct val="100000"/>
                        </a:lnSpc>
                        <a:spcBef>
                          <a:spcPts val="334"/>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8</a:t>
                      </a:r>
                      <a:endParaRPr sz="800">
                        <a:latin typeface="Tahoma"/>
                        <a:cs typeface="Tahoma"/>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7"/>
                  </a:ext>
                </a:extLst>
              </a:tr>
              <a:tr h="213360">
                <a:tc>
                  <a:txBody>
                    <a:bodyPr/>
                    <a:lstStyle/>
                    <a:p>
                      <a:pPr marL="92075">
                        <a:lnSpc>
                          <a:spcPct val="100000"/>
                        </a:lnSpc>
                        <a:spcBef>
                          <a:spcPts val="335"/>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9</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8"/>
                  </a:ext>
                </a:extLst>
              </a:tr>
            </a:tbl>
          </a:graphicData>
        </a:graphic>
      </p:graphicFrame>
      <p:graphicFrame>
        <p:nvGraphicFramePr>
          <p:cNvPr id="9" name="object 9">
            <a:extLst>
              <a:ext uri="{FF2B5EF4-FFF2-40B4-BE49-F238E27FC236}">
                <a16:creationId xmlns:a16="http://schemas.microsoft.com/office/drawing/2014/main" id="{39C064C4-8637-C87C-C400-E9DFCAE8E272}"/>
              </a:ext>
            </a:extLst>
          </p:cNvPr>
          <p:cNvGraphicFramePr>
            <a:graphicFrameLocks noGrp="1"/>
          </p:cNvGraphicFramePr>
          <p:nvPr/>
        </p:nvGraphicFramePr>
        <p:xfrm>
          <a:off x="10416576" y="2850470"/>
          <a:ext cx="1097280" cy="1920237"/>
        </p:xfrm>
        <a:graphic>
          <a:graphicData uri="http://schemas.openxmlformats.org/drawingml/2006/table">
            <a:tbl>
              <a:tblPr firstRow="1" bandRow="1">
                <a:tableStyleId>{2D5ABB26-0587-4C30-8999-92F81FD0307C}</a:tableStyleId>
              </a:tblPr>
              <a:tblGrid>
                <a:gridCol w="1097280">
                  <a:extLst>
                    <a:ext uri="{9D8B030D-6E8A-4147-A177-3AD203B41FA5}">
                      <a16:colId xmlns:a16="http://schemas.microsoft.com/office/drawing/2014/main" val="20000"/>
                    </a:ext>
                  </a:extLst>
                </a:gridCol>
              </a:tblGrid>
              <a:tr h="213360">
                <a:tc>
                  <a:txBody>
                    <a:bodyPr/>
                    <a:lstStyle/>
                    <a:p>
                      <a:pPr marL="92710">
                        <a:lnSpc>
                          <a:spcPct val="100000"/>
                        </a:lnSpc>
                        <a:spcBef>
                          <a:spcPts val="330"/>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1</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0"/>
                  </a:ext>
                </a:extLst>
              </a:tr>
              <a:tr h="213359">
                <a:tc>
                  <a:txBody>
                    <a:bodyPr/>
                    <a:lstStyle/>
                    <a:p>
                      <a:pPr marL="92710">
                        <a:lnSpc>
                          <a:spcPct val="100000"/>
                        </a:lnSpc>
                        <a:spcBef>
                          <a:spcPts val="330"/>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2</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1"/>
                  </a:ext>
                </a:extLst>
              </a:tr>
              <a:tr h="213360">
                <a:tc>
                  <a:txBody>
                    <a:bodyPr/>
                    <a:lstStyle/>
                    <a:p>
                      <a:pPr marL="92710">
                        <a:lnSpc>
                          <a:spcPct val="100000"/>
                        </a:lnSpc>
                        <a:spcBef>
                          <a:spcPts val="330"/>
                        </a:spcBef>
                      </a:pPr>
                      <a:r>
                        <a:rPr sz="800" spc="-5" dirty="0">
                          <a:latin typeface="Tahoma"/>
                          <a:cs typeface="Tahoma"/>
                        </a:rPr>
                        <a:t>OUTP</a:t>
                      </a:r>
                      <a:r>
                        <a:rPr sz="800" spc="-10" dirty="0">
                          <a:latin typeface="Tahoma"/>
                          <a:cs typeface="Tahoma"/>
                        </a:rPr>
                        <a:t>U</a:t>
                      </a:r>
                      <a:r>
                        <a:rPr sz="800" dirty="0">
                          <a:latin typeface="Tahoma"/>
                          <a:cs typeface="Tahoma"/>
                        </a:rPr>
                        <a:t>T</a:t>
                      </a:r>
                      <a:r>
                        <a:rPr sz="800" spc="-100" dirty="0">
                          <a:latin typeface="Tahoma"/>
                          <a:cs typeface="Tahoma"/>
                        </a:rPr>
                        <a:t> </a:t>
                      </a:r>
                      <a:r>
                        <a:rPr sz="800" spc="-5" dirty="0">
                          <a:latin typeface="Tahoma"/>
                          <a:cs typeface="Tahoma"/>
                        </a:rPr>
                        <a:t>TOK</a:t>
                      </a:r>
                      <a:r>
                        <a:rPr sz="800" dirty="0">
                          <a:latin typeface="Tahoma"/>
                          <a:cs typeface="Tahoma"/>
                        </a:rPr>
                        <a:t>EN</a:t>
                      </a:r>
                      <a:r>
                        <a:rPr sz="800" spc="-75" dirty="0">
                          <a:latin typeface="Tahoma"/>
                          <a:cs typeface="Tahoma"/>
                        </a:rPr>
                        <a:t> </a:t>
                      </a:r>
                      <a:r>
                        <a:rPr sz="800" dirty="0">
                          <a:latin typeface="Tahoma"/>
                          <a:cs typeface="Tahoma"/>
                        </a:rPr>
                        <a:t>3</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2"/>
                  </a:ext>
                </a:extLst>
              </a:tr>
              <a:tr h="213360">
                <a:tc>
                  <a:txBody>
                    <a:bodyPr/>
                    <a:lstStyle/>
                    <a:p>
                      <a:pPr marL="92710">
                        <a:lnSpc>
                          <a:spcPct val="100000"/>
                        </a:lnSpc>
                        <a:spcBef>
                          <a:spcPts val="335"/>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4</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3"/>
                  </a:ext>
                </a:extLst>
              </a:tr>
              <a:tr h="213360">
                <a:tc>
                  <a:txBody>
                    <a:bodyPr/>
                    <a:lstStyle/>
                    <a:p>
                      <a:pPr marL="92710">
                        <a:lnSpc>
                          <a:spcPct val="100000"/>
                        </a:lnSpc>
                        <a:spcBef>
                          <a:spcPts val="335"/>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5</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4"/>
                  </a:ext>
                </a:extLst>
              </a:tr>
              <a:tr h="213359">
                <a:tc>
                  <a:txBody>
                    <a:bodyPr/>
                    <a:lstStyle/>
                    <a:p>
                      <a:pPr marL="92710">
                        <a:lnSpc>
                          <a:spcPct val="100000"/>
                        </a:lnSpc>
                        <a:spcBef>
                          <a:spcPts val="334"/>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6</a:t>
                      </a:r>
                      <a:endParaRPr sz="800">
                        <a:latin typeface="Tahoma"/>
                        <a:cs typeface="Tahoma"/>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5"/>
                  </a:ext>
                </a:extLst>
              </a:tr>
              <a:tr h="213360">
                <a:tc>
                  <a:txBody>
                    <a:bodyPr/>
                    <a:lstStyle/>
                    <a:p>
                      <a:pPr marL="92710">
                        <a:lnSpc>
                          <a:spcPct val="100000"/>
                        </a:lnSpc>
                        <a:spcBef>
                          <a:spcPts val="334"/>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7</a:t>
                      </a:r>
                      <a:endParaRPr sz="800">
                        <a:latin typeface="Tahoma"/>
                        <a:cs typeface="Tahoma"/>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6"/>
                  </a:ext>
                </a:extLst>
              </a:tr>
              <a:tr h="213359">
                <a:tc>
                  <a:txBody>
                    <a:bodyPr/>
                    <a:lstStyle/>
                    <a:p>
                      <a:pPr marL="92710">
                        <a:lnSpc>
                          <a:spcPct val="100000"/>
                        </a:lnSpc>
                        <a:spcBef>
                          <a:spcPts val="334"/>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8</a:t>
                      </a:r>
                      <a:endParaRPr sz="800">
                        <a:latin typeface="Tahoma"/>
                        <a:cs typeface="Tahoma"/>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7"/>
                  </a:ext>
                </a:extLst>
              </a:tr>
              <a:tr h="213360">
                <a:tc>
                  <a:txBody>
                    <a:bodyPr/>
                    <a:lstStyle/>
                    <a:p>
                      <a:pPr marL="92710">
                        <a:lnSpc>
                          <a:spcPct val="100000"/>
                        </a:lnSpc>
                        <a:spcBef>
                          <a:spcPts val="335"/>
                        </a:spcBef>
                      </a:pPr>
                      <a:r>
                        <a:rPr sz="800" spc="-5" dirty="0">
                          <a:latin typeface="Tahoma"/>
                          <a:cs typeface="Tahoma"/>
                        </a:rPr>
                        <a:t>O</a:t>
                      </a:r>
                      <a:r>
                        <a:rPr sz="800" dirty="0">
                          <a:latin typeface="Tahoma"/>
                          <a:cs typeface="Tahoma"/>
                        </a:rPr>
                        <a:t>UTP</a:t>
                      </a:r>
                      <a:r>
                        <a:rPr sz="800" spc="-10" dirty="0">
                          <a:latin typeface="Tahoma"/>
                          <a:cs typeface="Tahoma"/>
                        </a:rPr>
                        <a:t>U</a:t>
                      </a:r>
                      <a:r>
                        <a:rPr sz="800" dirty="0">
                          <a:latin typeface="Tahoma"/>
                          <a:cs typeface="Tahoma"/>
                        </a:rPr>
                        <a:t>T</a:t>
                      </a:r>
                      <a:r>
                        <a:rPr sz="800" spc="-100" dirty="0">
                          <a:latin typeface="Tahoma"/>
                          <a:cs typeface="Tahoma"/>
                        </a:rPr>
                        <a:t> </a:t>
                      </a: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9</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AD78"/>
                    </a:solidFill>
                  </a:tcPr>
                </a:tc>
                <a:extLst>
                  <a:ext uri="{0D108BD9-81ED-4DB2-BD59-A6C34878D82A}">
                    <a16:rowId xmlns:a16="http://schemas.microsoft.com/office/drawing/2014/main" val="10008"/>
                  </a:ext>
                </a:extLst>
              </a:tr>
            </a:tbl>
          </a:graphicData>
        </a:graphic>
      </p:graphicFrame>
      <p:sp>
        <p:nvSpPr>
          <p:cNvPr id="10" name="object 10">
            <a:extLst>
              <a:ext uri="{FF2B5EF4-FFF2-40B4-BE49-F238E27FC236}">
                <a16:creationId xmlns:a16="http://schemas.microsoft.com/office/drawing/2014/main" id="{935CD93B-83CE-4F6A-C49E-625CD2E81AB7}"/>
              </a:ext>
            </a:extLst>
          </p:cNvPr>
          <p:cNvSpPr/>
          <p:nvPr/>
        </p:nvSpPr>
        <p:spPr>
          <a:xfrm>
            <a:off x="722224" y="1810381"/>
            <a:ext cx="173356" cy="3598232"/>
          </a:xfrm>
          <a:custGeom>
            <a:avLst/>
            <a:gdLst/>
            <a:ahLst/>
            <a:cxnLst/>
            <a:rect l="l" t="t" r="r" b="b"/>
            <a:pathLst>
              <a:path w="173990" h="3621404">
                <a:moveTo>
                  <a:pt x="173736" y="3621024"/>
                </a:moveTo>
                <a:lnTo>
                  <a:pt x="106111" y="3619886"/>
                </a:lnTo>
                <a:lnTo>
                  <a:pt x="50887" y="3616785"/>
                </a:lnTo>
                <a:lnTo>
                  <a:pt x="13653" y="3612183"/>
                </a:lnTo>
                <a:lnTo>
                  <a:pt x="0" y="3606546"/>
                </a:lnTo>
                <a:lnTo>
                  <a:pt x="0" y="14478"/>
                </a:lnTo>
                <a:lnTo>
                  <a:pt x="13653" y="8840"/>
                </a:lnTo>
                <a:lnTo>
                  <a:pt x="50887" y="4238"/>
                </a:lnTo>
                <a:lnTo>
                  <a:pt x="106111" y="1137"/>
                </a:lnTo>
                <a:lnTo>
                  <a:pt x="173736" y="0"/>
                </a:lnTo>
              </a:path>
            </a:pathLst>
          </a:custGeom>
          <a:ln w="76200">
            <a:solidFill>
              <a:srgbClr val="4E91EF"/>
            </a:solidFill>
          </a:ln>
        </p:spPr>
        <p:txBody>
          <a:bodyPr wrap="square" lIns="0" tIns="0" rIns="0" bIns="0" rtlCol="0"/>
          <a:lstStyle/>
          <a:p>
            <a:endParaRPr/>
          </a:p>
        </p:txBody>
      </p:sp>
      <p:sp>
        <p:nvSpPr>
          <p:cNvPr id="11" name="object 11">
            <a:extLst>
              <a:ext uri="{FF2B5EF4-FFF2-40B4-BE49-F238E27FC236}">
                <a16:creationId xmlns:a16="http://schemas.microsoft.com/office/drawing/2014/main" id="{D0FC51D3-F48E-D14D-8EAD-F81A82AF90DC}"/>
              </a:ext>
            </a:extLst>
          </p:cNvPr>
          <p:cNvSpPr/>
          <p:nvPr/>
        </p:nvSpPr>
        <p:spPr>
          <a:xfrm>
            <a:off x="7369911" y="1810381"/>
            <a:ext cx="173356" cy="3598232"/>
          </a:xfrm>
          <a:custGeom>
            <a:avLst/>
            <a:gdLst/>
            <a:ahLst/>
            <a:cxnLst/>
            <a:rect l="l" t="t" r="r" b="b"/>
            <a:pathLst>
              <a:path w="173990" h="3621404">
                <a:moveTo>
                  <a:pt x="0" y="0"/>
                </a:moveTo>
                <a:lnTo>
                  <a:pt x="67651" y="1137"/>
                </a:lnTo>
                <a:lnTo>
                  <a:pt x="122872" y="4238"/>
                </a:lnTo>
                <a:lnTo>
                  <a:pt x="160091" y="8840"/>
                </a:lnTo>
                <a:lnTo>
                  <a:pt x="173735" y="14478"/>
                </a:lnTo>
                <a:lnTo>
                  <a:pt x="173735" y="3606546"/>
                </a:lnTo>
                <a:lnTo>
                  <a:pt x="160091" y="3612183"/>
                </a:lnTo>
                <a:lnTo>
                  <a:pt x="122872" y="3616785"/>
                </a:lnTo>
                <a:lnTo>
                  <a:pt x="67651" y="3619886"/>
                </a:lnTo>
                <a:lnTo>
                  <a:pt x="0" y="3621024"/>
                </a:lnTo>
              </a:path>
            </a:pathLst>
          </a:custGeom>
          <a:ln w="76200">
            <a:solidFill>
              <a:srgbClr val="4E91EF"/>
            </a:solidFill>
          </a:ln>
        </p:spPr>
        <p:txBody>
          <a:bodyPr wrap="square" lIns="0" tIns="0" rIns="0" bIns="0" rtlCol="0"/>
          <a:lstStyle/>
          <a:p>
            <a:endParaRPr/>
          </a:p>
        </p:txBody>
      </p:sp>
      <p:sp>
        <p:nvSpPr>
          <p:cNvPr id="12" name="object 12">
            <a:extLst>
              <a:ext uri="{FF2B5EF4-FFF2-40B4-BE49-F238E27FC236}">
                <a16:creationId xmlns:a16="http://schemas.microsoft.com/office/drawing/2014/main" id="{EA670108-E168-5CE0-B6E2-66277477846B}"/>
              </a:ext>
            </a:extLst>
          </p:cNvPr>
          <p:cNvSpPr txBox="1"/>
          <p:nvPr/>
        </p:nvSpPr>
        <p:spPr>
          <a:xfrm>
            <a:off x="7822856" y="3517346"/>
            <a:ext cx="173355" cy="289823"/>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𝑋</a:t>
            </a:r>
            <a:endParaRPr sz="1800">
              <a:latin typeface="Cambria Math"/>
              <a:cs typeface="Cambria Math"/>
            </a:endParaRPr>
          </a:p>
        </p:txBody>
      </p:sp>
      <p:sp>
        <p:nvSpPr>
          <p:cNvPr id="13" name="object 13">
            <a:extLst>
              <a:ext uri="{FF2B5EF4-FFF2-40B4-BE49-F238E27FC236}">
                <a16:creationId xmlns:a16="http://schemas.microsoft.com/office/drawing/2014/main" id="{1F92897C-1F54-4610-2CAE-AD20178E5A7E}"/>
              </a:ext>
            </a:extLst>
          </p:cNvPr>
          <p:cNvSpPr txBox="1"/>
          <p:nvPr/>
        </p:nvSpPr>
        <p:spPr>
          <a:xfrm>
            <a:off x="9854094" y="3517346"/>
            <a:ext cx="19621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a:t>
            </a:r>
            <a:endParaRPr sz="1800">
              <a:latin typeface="Cambria Math"/>
              <a:cs typeface="Cambria Math"/>
            </a:endParaRPr>
          </a:p>
        </p:txBody>
      </p:sp>
      <p:sp>
        <p:nvSpPr>
          <p:cNvPr id="14" name="object 14">
            <a:extLst>
              <a:ext uri="{FF2B5EF4-FFF2-40B4-BE49-F238E27FC236}">
                <a16:creationId xmlns:a16="http://schemas.microsoft.com/office/drawing/2014/main" id="{0CEEB677-E1C5-9166-1744-F546BEC0F6B9}"/>
              </a:ext>
            </a:extLst>
          </p:cNvPr>
          <p:cNvSpPr txBox="1"/>
          <p:nvPr/>
        </p:nvSpPr>
        <p:spPr>
          <a:xfrm>
            <a:off x="1368828" y="2277124"/>
            <a:ext cx="179683" cy="287969"/>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𝑄</a:t>
            </a:r>
            <a:endParaRPr sz="1800">
              <a:latin typeface="Cambria Math"/>
              <a:cs typeface="Cambria Math"/>
            </a:endParaRPr>
          </a:p>
        </p:txBody>
      </p:sp>
      <p:sp>
        <p:nvSpPr>
          <p:cNvPr id="15" name="object 15">
            <a:extLst>
              <a:ext uri="{FF2B5EF4-FFF2-40B4-BE49-F238E27FC236}">
                <a16:creationId xmlns:a16="http://schemas.microsoft.com/office/drawing/2014/main" id="{92BB1687-D718-07A9-5A46-443935A9E74F}"/>
              </a:ext>
            </a:extLst>
          </p:cNvPr>
          <p:cNvSpPr txBox="1"/>
          <p:nvPr/>
        </p:nvSpPr>
        <p:spPr>
          <a:xfrm>
            <a:off x="3444736" y="2196734"/>
            <a:ext cx="350508" cy="287969"/>
          </a:xfrm>
          <a:prstGeom prst="rect">
            <a:avLst/>
          </a:prstGeom>
        </p:spPr>
        <p:txBody>
          <a:bodyPr vert="horz" wrap="square" lIns="0" tIns="12700" rIns="0" bIns="0" rtlCol="0">
            <a:spAutoFit/>
          </a:bodyPr>
          <a:lstStyle/>
          <a:p>
            <a:pPr marL="38100">
              <a:lnSpc>
                <a:spcPct val="100000"/>
              </a:lnSpc>
              <a:spcBef>
                <a:spcPts val="100"/>
              </a:spcBef>
            </a:pPr>
            <a:r>
              <a:rPr sz="2700" spc="97" baseline="-20061" dirty="0">
                <a:latin typeface="Cambria Math"/>
                <a:cs typeface="Cambria Math"/>
              </a:rPr>
              <a:t>𝐾</a:t>
            </a:r>
            <a:r>
              <a:rPr sz="1300" spc="65" dirty="0">
                <a:latin typeface="Cambria Math"/>
                <a:cs typeface="Cambria Math"/>
              </a:rPr>
              <a:t>𝑇</a:t>
            </a:r>
            <a:endParaRPr sz="1300">
              <a:latin typeface="Cambria Math"/>
              <a:cs typeface="Cambria Math"/>
            </a:endParaRPr>
          </a:p>
        </p:txBody>
      </p:sp>
      <p:sp>
        <p:nvSpPr>
          <p:cNvPr id="16" name="object 16">
            <a:extLst>
              <a:ext uri="{FF2B5EF4-FFF2-40B4-BE49-F238E27FC236}">
                <a16:creationId xmlns:a16="http://schemas.microsoft.com/office/drawing/2014/main" id="{9AC94217-AC64-4B0A-0045-0F8A9979B941}"/>
              </a:ext>
            </a:extLst>
          </p:cNvPr>
          <p:cNvSpPr txBox="1"/>
          <p:nvPr/>
        </p:nvSpPr>
        <p:spPr>
          <a:xfrm>
            <a:off x="5903276" y="1728485"/>
            <a:ext cx="509944" cy="287969"/>
          </a:xfrm>
          <a:prstGeom prst="rect">
            <a:avLst/>
          </a:prstGeom>
        </p:spPr>
        <p:txBody>
          <a:bodyPr vert="horz" wrap="square" lIns="0" tIns="12700" rIns="0" bIns="0" rtlCol="0">
            <a:spAutoFit/>
          </a:bodyPr>
          <a:lstStyle/>
          <a:p>
            <a:pPr marL="38100">
              <a:lnSpc>
                <a:spcPct val="100000"/>
              </a:lnSpc>
              <a:spcBef>
                <a:spcPts val="100"/>
              </a:spcBef>
            </a:pPr>
            <a:r>
              <a:rPr sz="1800" spc="55" dirty="0">
                <a:latin typeface="Cambria Math"/>
                <a:cs typeface="Cambria Math"/>
              </a:rPr>
              <a:t>𝑄𝐾</a:t>
            </a:r>
            <a:r>
              <a:rPr sz="1950" spc="82" baseline="27777" dirty="0">
                <a:latin typeface="Cambria Math"/>
                <a:cs typeface="Cambria Math"/>
              </a:rPr>
              <a:t>𝑇</a:t>
            </a:r>
            <a:endParaRPr sz="1950" baseline="27777">
              <a:latin typeface="Cambria Math"/>
              <a:cs typeface="Cambria Math"/>
            </a:endParaRPr>
          </a:p>
        </p:txBody>
      </p:sp>
      <p:sp>
        <p:nvSpPr>
          <p:cNvPr id="17" name="object 17">
            <a:extLst>
              <a:ext uri="{FF2B5EF4-FFF2-40B4-BE49-F238E27FC236}">
                <a16:creationId xmlns:a16="http://schemas.microsoft.com/office/drawing/2014/main" id="{48D55897-224F-42FC-BFFB-2DA5028E117E}"/>
              </a:ext>
            </a:extLst>
          </p:cNvPr>
          <p:cNvSpPr txBox="1"/>
          <p:nvPr/>
        </p:nvSpPr>
        <p:spPr>
          <a:xfrm>
            <a:off x="8844824" y="2330150"/>
            <a:ext cx="168910" cy="289823"/>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𝑉</a:t>
            </a:r>
            <a:endParaRPr sz="1800">
              <a:latin typeface="Cambria Math"/>
              <a:cs typeface="Cambria Math"/>
            </a:endParaRPr>
          </a:p>
        </p:txBody>
      </p:sp>
      <p:sp>
        <p:nvSpPr>
          <p:cNvPr id="18" name="object 18">
            <a:extLst>
              <a:ext uri="{FF2B5EF4-FFF2-40B4-BE49-F238E27FC236}">
                <a16:creationId xmlns:a16="http://schemas.microsoft.com/office/drawing/2014/main" id="{BBFAB31E-0C63-171C-B248-E55B51F92EA0}"/>
              </a:ext>
            </a:extLst>
          </p:cNvPr>
          <p:cNvSpPr txBox="1"/>
          <p:nvPr/>
        </p:nvSpPr>
        <p:spPr>
          <a:xfrm>
            <a:off x="10464328" y="2325960"/>
            <a:ext cx="1009650" cy="289823"/>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mbria Math"/>
                <a:cs typeface="Cambria Math"/>
              </a:rPr>
              <a:t>𝐴𝑡</a:t>
            </a:r>
            <a:r>
              <a:rPr sz="1800" spc="-10" dirty="0">
                <a:latin typeface="Cambria Math"/>
                <a:cs typeface="Cambria Math"/>
              </a:rPr>
              <a:t>𝑡</a:t>
            </a:r>
            <a:r>
              <a:rPr sz="1800" spc="-5" dirty="0">
                <a:latin typeface="Cambria Math"/>
                <a:cs typeface="Cambria Math"/>
              </a:rPr>
              <a:t>𝑒</a:t>
            </a:r>
            <a:r>
              <a:rPr sz="1800" spc="-10" dirty="0">
                <a:latin typeface="Cambria Math"/>
                <a:cs typeface="Cambria Math"/>
              </a:rPr>
              <a:t>𝑛</a:t>
            </a:r>
            <a:r>
              <a:rPr sz="1800" dirty="0">
                <a:latin typeface="Cambria Math"/>
                <a:cs typeface="Cambria Math"/>
              </a:rPr>
              <a:t>𝑡𝑖𝑜𝑛</a:t>
            </a:r>
            <a:endParaRPr sz="1800">
              <a:latin typeface="Cambria Math"/>
              <a:cs typeface="Cambria Math"/>
            </a:endParaRPr>
          </a:p>
        </p:txBody>
      </p:sp>
      <p:sp>
        <p:nvSpPr>
          <p:cNvPr id="19" name="object 19">
            <a:extLst>
              <a:ext uri="{FF2B5EF4-FFF2-40B4-BE49-F238E27FC236}">
                <a16:creationId xmlns:a16="http://schemas.microsoft.com/office/drawing/2014/main" id="{723DB987-B6B5-4566-E918-07E474E64B7A}"/>
              </a:ext>
            </a:extLst>
          </p:cNvPr>
          <p:cNvSpPr/>
          <p:nvPr/>
        </p:nvSpPr>
        <p:spPr>
          <a:xfrm>
            <a:off x="8652905" y="5621071"/>
            <a:ext cx="800100" cy="212090"/>
          </a:xfrm>
          <a:custGeom>
            <a:avLst/>
            <a:gdLst/>
            <a:ahLst/>
            <a:cxnLst/>
            <a:rect l="l" t="t" r="r" b="b"/>
            <a:pathLst>
              <a:path w="800100" h="212089">
                <a:moveTo>
                  <a:pt x="732408" y="0"/>
                </a:moveTo>
                <a:lnTo>
                  <a:pt x="729360" y="8597"/>
                </a:lnTo>
                <a:lnTo>
                  <a:pt x="741628" y="13915"/>
                </a:lnTo>
                <a:lnTo>
                  <a:pt x="752157" y="21277"/>
                </a:lnTo>
                <a:lnTo>
                  <a:pt x="773596" y="55406"/>
                </a:lnTo>
                <a:lnTo>
                  <a:pt x="780668" y="104813"/>
                </a:lnTo>
                <a:lnTo>
                  <a:pt x="779883" y="123484"/>
                </a:lnTo>
                <a:lnTo>
                  <a:pt x="768096" y="169214"/>
                </a:lnTo>
                <a:lnTo>
                  <a:pt x="741789" y="197805"/>
                </a:lnTo>
                <a:lnTo>
                  <a:pt x="729741" y="203149"/>
                </a:lnTo>
                <a:lnTo>
                  <a:pt x="732408" y="211747"/>
                </a:lnTo>
                <a:lnTo>
                  <a:pt x="772824" y="187703"/>
                </a:lnTo>
                <a:lnTo>
                  <a:pt x="795591" y="143335"/>
                </a:lnTo>
                <a:lnTo>
                  <a:pt x="799973" y="105930"/>
                </a:lnTo>
                <a:lnTo>
                  <a:pt x="798877" y="86513"/>
                </a:lnTo>
                <a:lnTo>
                  <a:pt x="782447" y="37109"/>
                </a:lnTo>
                <a:lnTo>
                  <a:pt x="747746" y="5541"/>
                </a:lnTo>
                <a:lnTo>
                  <a:pt x="732408" y="0"/>
                </a:lnTo>
                <a:close/>
              </a:path>
              <a:path w="800100" h="212089">
                <a:moveTo>
                  <a:pt x="67563" y="0"/>
                </a:moveTo>
                <a:lnTo>
                  <a:pt x="27112" y="24095"/>
                </a:lnTo>
                <a:lnTo>
                  <a:pt x="4365" y="68572"/>
                </a:lnTo>
                <a:lnTo>
                  <a:pt x="0" y="105930"/>
                </a:lnTo>
                <a:lnTo>
                  <a:pt x="1093" y="125383"/>
                </a:lnTo>
                <a:lnTo>
                  <a:pt x="17399" y="174739"/>
                </a:lnTo>
                <a:lnTo>
                  <a:pt x="52135" y="206205"/>
                </a:lnTo>
                <a:lnTo>
                  <a:pt x="67563" y="211747"/>
                </a:lnTo>
                <a:lnTo>
                  <a:pt x="70230" y="203149"/>
                </a:lnTo>
                <a:lnTo>
                  <a:pt x="58130" y="197805"/>
                </a:lnTo>
                <a:lnTo>
                  <a:pt x="47720" y="190368"/>
                </a:lnTo>
                <a:lnTo>
                  <a:pt x="26376" y="155687"/>
                </a:lnTo>
                <a:lnTo>
                  <a:pt x="19303" y="104813"/>
                </a:lnTo>
                <a:lnTo>
                  <a:pt x="20089" y="86744"/>
                </a:lnTo>
                <a:lnTo>
                  <a:pt x="31876" y="42138"/>
                </a:lnTo>
                <a:lnTo>
                  <a:pt x="58291" y="13915"/>
                </a:lnTo>
                <a:lnTo>
                  <a:pt x="70484" y="8597"/>
                </a:lnTo>
                <a:lnTo>
                  <a:pt x="67563" y="0"/>
                </a:lnTo>
                <a:close/>
              </a:path>
            </a:pathLst>
          </a:custGeom>
          <a:solidFill>
            <a:srgbClr val="000000"/>
          </a:solidFill>
        </p:spPr>
        <p:txBody>
          <a:bodyPr wrap="square" lIns="0" tIns="0" rIns="0" bIns="0" rtlCol="0"/>
          <a:lstStyle/>
          <a:p>
            <a:endParaRPr/>
          </a:p>
        </p:txBody>
      </p:sp>
      <p:sp>
        <p:nvSpPr>
          <p:cNvPr id="20" name="object 20">
            <a:extLst>
              <a:ext uri="{FF2B5EF4-FFF2-40B4-BE49-F238E27FC236}">
                <a16:creationId xmlns:a16="http://schemas.microsoft.com/office/drawing/2014/main" id="{3B156E30-CDFF-4FF0-5E67-6D919EE46FE0}"/>
              </a:ext>
            </a:extLst>
          </p:cNvPr>
          <p:cNvSpPr txBox="1"/>
          <p:nvPr/>
        </p:nvSpPr>
        <p:spPr>
          <a:xfrm>
            <a:off x="7628904" y="5551322"/>
            <a:ext cx="1755775" cy="289823"/>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mbria Math"/>
                <a:cs typeface="Cambria Math"/>
              </a:rPr>
              <a:t>𝐴𝑡</a:t>
            </a:r>
            <a:r>
              <a:rPr sz="1800" spc="-10" dirty="0">
                <a:latin typeface="Cambria Math"/>
                <a:cs typeface="Cambria Math"/>
              </a:rPr>
              <a:t>𝑡</a:t>
            </a:r>
            <a:r>
              <a:rPr sz="1800" spc="-5" dirty="0">
                <a:latin typeface="Cambria Math"/>
                <a:cs typeface="Cambria Math"/>
              </a:rPr>
              <a:t>𝑒</a:t>
            </a:r>
            <a:r>
              <a:rPr sz="1800" spc="-10" dirty="0">
                <a:latin typeface="Cambria Math"/>
                <a:cs typeface="Cambria Math"/>
              </a:rPr>
              <a:t>𝑛</a:t>
            </a:r>
            <a:r>
              <a:rPr sz="1800" spc="5" dirty="0">
                <a:latin typeface="Cambria Math"/>
                <a:cs typeface="Cambria Math"/>
              </a:rPr>
              <a:t>𝑡</a:t>
            </a:r>
            <a:r>
              <a:rPr sz="1800" dirty="0">
                <a:latin typeface="Cambria Math"/>
                <a:cs typeface="Cambria Math"/>
              </a:rPr>
              <a:t>𝑖𝑜𝑛 </a:t>
            </a:r>
            <a:r>
              <a:rPr sz="1800" spc="5" dirty="0">
                <a:latin typeface="Cambria Math"/>
                <a:cs typeface="Cambria Math"/>
              </a:rPr>
              <a:t> </a:t>
            </a:r>
            <a:r>
              <a:rPr sz="1800" spc="40" dirty="0">
                <a:latin typeface="Cambria Math"/>
                <a:cs typeface="Cambria Math"/>
              </a:rPr>
              <a:t>𝑄</a:t>
            </a:r>
            <a:r>
              <a:rPr sz="1800" dirty="0">
                <a:latin typeface="Cambria Math"/>
                <a:cs typeface="Cambria Math"/>
              </a:rPr>
              <a:t>,</a:t>
            </a:r>
            <a:r>
              <a:rPr sz="1800" spc="-85" dirty="0">
                <a:latin typeface="Cambria Math"/>
                <a:cs typeface="Cambria Math"/>
              </a:rPr>
              <a:t> </a:t>
            </a:r>
            <a:r>
              <a:rPr sz="1800" spc="50" dirty="0">
                <a:latin typeface="Cambria Math"/>
                <a:cs typeface="Cambria Math"/>
              </a:rPr>
              <a:t>𝐾</a:t>
            </a:r>
            <a:r>
              <a:rPr sz="1800" dirty="0">
                <a:latin typeface="Cambria Math"/>
                <a:cs typeface="Cambria Math"/>
              </a:rPr>
              <a:t>,</a:t>
            </a:r>
            <a:r>
              <a:rPr sz="1800" spc="-85" dirty="0">
                <a:latin typeface="Cambria Math"/>
                <a:cs typeface="Cambria Math"/>
              </a:rPr>
              <a:t> </a:t>
            </a:r>
            <a:r>
              <a:rPr sz="1800" dirty="0">
                <a:latin typeface="Cambria Math"/>
                <a:cs typeface="Cambria Math"/>
              </a:rPr>
              <a:t>𝑉</a:t>
            </a:r>
            <a:endParaRPr sz="1800">
              <a:latin typeface="Cambria Math"/>
              <a:cs typeface="Cambria Math"/>
            </a:endParaRPr>
          </a:p>
        </p:txBody>
      </p:sp>
      <p:sp>
        <p:nvSpPr>
          <p:cNvPr id="21" name="object 21">
            <a:extLst>
              <a:ext uri="{FF2B5EF4-FFF2-40B4-BE49-F238E27FC236}">
                <a16:creationId xmlns:a16="http://schemas.microsoft.com/office/drawing/2014/main" id="{C295C461-2BDB-9AAC-475C-2BF1AF163C13}"/>
              </a:ext>
            </a:extLst>
          </p:cNvPr>
          <p:cNvSpPr txBox="1"/>
          <p:nvPr/>
        </p:nvSpPr>
        <p:spPr>
          <a:xfrm>
            <a:off x="9523617" y="5551322"/>
            <a:ext cx="1038860" cy="289823"/>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a:t>
            </a:r>
            <a:r>
              <a:rPr sz="1800" spc="45" dirty="0">
                <a:latin typeface="Cambria Math"/>
                <a:cs typeface="Cambria Math"/>
              </a:rPr>
              <a:t> </a:t>
            </a:r>
            <a:r>
              <a:rPr sz="1800" spc="-5" dirty="0">
                <a:latin typeface="Cambria Math"/>
                <a:cs typeface="Cambria Math"/>
              </a:rPr>
              <a:t>softmax</a:t>
            </a:r>
            <a:endParaRPr sz="1800">
              <a:latin typeface="Cambria Math"/>
              <a:cs typeface="Cambria Math"/>
            </a:endParaRPr>
          </a:p>
        </p:txBody>
      </p:sp>
      <p:sp>
        <p:nvSpPr>
          <p:cNvPr id="22" name="object 22">
            <a:extLst>
              <a:ext uri="{FF2B5EF4-FFF2-40B4-BE49-F238E27FC236}">
                <a16:creationId xmlns:a16="http://schemas.microsoft.com/office/drawing/2014/main" id="{FED06F47-57D3-F5D2-C02D-5B128841501D}"/>
              </a:ext>
            </a:extLst>
          </p:cNvPr>
          <p:cNvSpPr/>
          <p:nvPr/>
        </p:nvSpPr>
        <p:spPr>
          <a:xfrm>
            <a:off x="10605911" y="5388445"/>
            <a:ext cx="693420" cy="675640"/>
          </a:xfrm>
          <a:custGeom>
            <a:avLst/>
            <a:gdLst/>
            <a:ahLst/>
            <a:cxnLst/>
            <a:rect l="l" t="t" r="r" b="b"/>
            <a:pathLst>
              <a:path w="693420" h="675639">
                <a:moveTo>
                  <a:pt x="114173" y="7924"/>
                </a:moveTo>
                <a:lnTo>
                  <a:pt x="62166" y="58623"/>
                </a:lnTo>
                <a:lnTo>
                  <a:pt x="43865" y="94830"/>
                </a:lnTo>
                <a:lnTo>
                  <a:pt x="28321" y="135610"/>
                </a:lnTo>
                <a:lnTo>
                  <a:pt x="15963" y="180543"/>
                </a:lnTo>
                <a:lnTo>
                  <a:pt x="7112" y="229133"/>
                </a:lnTo>
                <a:lnTo>
                  <a:pt x="1778" y="281393"/>
                </a:lnTo>
                <a:lnTo>
                  <a:pt x="0" y="337312"/>
                </a:lnTo>
                <a:lnTo>
                  <a:pt x="1778" y="393636"/>
                </a:lnTo>
                <a:lnTo>
                  <a:pt x="7112" y="446176"/>
                </a:lnTo>
                <a:lnTo>
                  <a:pt x="15963" y="494931"/>
                </a:lnTo>
                <a:lnTo>
                  <a:pt x="28321" y="539902"/>
                </a:lnTo>
                <a:lnTo>
                  <a:pt x="43865" y="580707"/>
                </a:lnTo>
                <a:lnTo>
                  <a:pt x="62166" y="616902"/>
                </a:lnTo>
                <a:lnTo>
                  <a:pt x="107061" y="675525"/>
                </a:lnTo>
                <a:lnTo>
                  <a:pt x="114173" y="667600"/>
                </a:lnTo>
                <a:lnTo>
                  <a:pt x="92976" y="640156"/>
                </a:lnTo>
                <a:lnTo>
                  <a:pt x="74549" y="608368"/>
                </a:lnTo>
                <a:lnTo>
                  <a:pt x="58877" y="572236"/>
                </a:lnTo>
                <a:lnTo>
                  <a:pt x="45974" y="531761"/>
                </a:lnTo>
                <a:lnTo>
                  <a:pt x="35814" y="487641"/>
                </a:lnTo>
                <a:lnTo>
                  <a:pt x="28600" y="440575"/>
                </a:lnTo>
                <a:lnTo>
                  <a:pt x="24282" y="390537"/>
                </a:lnTo>
                <a:lnTo>
                  <a:pt x="22860" y="337312"/>
                </a:lnTo>
                <a:lnTo>
                  <a:pt x="24282" y="284797"/>
                </a:lnTo>
                <a:lnTo>
                  <a:pt x="28600" y="234924"/>
                </a:lnTo>
                <a:lnTo>
                  <a:pt x="35814" y="187934"/>
                </a:lnTo>
                <a:lnTo>
                  <a:pt x="45974" y="143814"/>
                </a:lnTo>
                <a:lnTo>
                  <a:pt x="58877" y="103327"/>
                </a:lnTo>
                <a:lnTo>
                  <a:pt x="74549" y="67183"/>
                </a:lnTo>
                <a:lnTo>
                  <a:pt x="92976" y="35382"/>
                </a:lnTo>
                <a:lnTo>
                  <a:pt x="114173" y="7924"/>
                </a:lnTo>
                <a:close/>
              </a:path>
              <a:path w="693420" h="675639">
                <a:moveTo>
                  <a:pt x="572008" y="329907"/>
                </a:moveTo>
                <a:lnTo>
                  <a:pt x="120904" y="329907"/>
                </a:lnTo>
                <a:lnTo>
                  <a:pt x="120904" y="345147"/>
                </a:lnTo>
                <a:lnTo>
                  <a:pt x="572008" y="345147"/>
                </a:lnTo>
                <a:lnTo>
                  <a:pt x="572008" y="329907"/>
                </a:lnTo>
                <a:close/>
              </a:path>
              <a:path w="693420" h="675639">
                <a:moveTo>
                  <a:pt x="693420" y="337312"/>
                </a:moveTo>
                <a:lnTo>
                  <a:pt x="691654" y="281393"/>
                </a:lnTo>
                <a:lnTo>
                  <a:pt x="686346" y="229133"/>
                </a:lnTo>
                <a:lnTo>
                  <a:pt x="677506" y="180543"/>
                </a:lnTo>
                <a:lnTo>
                  <a:pt x="665099" y="135610"/>
                </a:lnTo>
                <a:lnTo>
                  <a:pt x="649592" y="94830"/>
                </a:lnTo>
                <a:lnTo>
                  <a:pt x="631291" y="58623"/>
                </a:lnTo>
                <a:lnTo>
                  <a:pt x="586359" y="0"/>
                </a:lnTo>
                <a:lnTo>
                  <a:pt x="579247" y="7924"/>
                </a:lnTo>
                <a:lnTo>
                  <a:pt x="600430" y="35382"/>
                </a:lnTo>
                <a:lnTo>
                  <a:pt x="618883" y="67183"/>
                </a:lnTo>
                <a:lnTo>
                  <a:pt x="634580" y="103327"/>
                </a:lnTo>
                <a:lnTo>
                  <a:pt x="647573" y="143814"/>
                </a:lnTo>
                <a:lnTo>
                  <a:pt x="657656" y="187934"/>
                </a:lnTo>
                <a:lnTo>
                  <a:pt x="664883" y="234924"/>
                </a:lnTo>
                <a:lnTo>
                  <a:pt x="669226" y="284797"/>
                </a:lnTo>
                <a:lnTo>
                  <a:pt x="670687" y="337540"/>
                </a:lnTo>
                <a:lnTo>
                  <a:pt x="669226" y="390537"/>
                </a:lnTo>
                <a:lnTo>
                  <a:pt x="664883" y="440575"/>
                </a:lnTo>
                <a:lnTo>
                  <a:pt x="657656" y="487641"/>
                </a:lnTo>
                <a:lnTo>
                  <a:pt x="647573" y="531761"/>
                </a:lnTo>
                <a:lnTo>
                  <a:pt x="634580" y="572236"/>
                </a:lnTo>
                <a:lnTo>
                  <a:pt x="618883" y="608368"/>
                </a:lnTo>
                <a:lnTo>
                  <a:pt x="579247" y="667600"/>
                </a:lnTo>
                <a:lnTo>
                  <a:pt x="586359" y="675525"/>
                </a:lnTo>
                <a:lnTo>
                  <a:pt x="631291" y="616902"/>
                </a:lnTo>
                <a:lnTo>
                  <a:pt x="649592" y="580707"/>
                </a:lnTo>
                <a:lnTo>
                  <a:pt x="665099" y="539902"/>
                </a:lnTo>
                <a:lnTo>
                  <a:pt x="677506" y="494931"/>
                </a:lnTo>
                <a:lnTo>
                  <a:pt x="686346" y="446176"/>
                </a:lnTo>
                <a:lnTo>
                  <a:pt x="691654" y="393636"/>
                </a:lnTo>
                <a:lnTo>
                  <a:pt x="693420" y="337312"/>
                </a:lnTo>
                <a:close/>
              </a:path>
            </a:pathLst>
          </a:custGeom>
          <a:solidFill>
            <a:srgbClr val="000000"/>
          </a:solidFill>
        </p:spPr>
        <p:txBody>
          <a:bodyPr wrap="square" lIns="0" tIns="0" rIns="0" bIns="0" rtlCol="0"/>
          <a:lstStyle/>
          <a:p>
            <a:endParaRPr/>
          </a:p>
        </p:txBody>
      </p:sp>
      <p:sp>
        <p:nvSpPr>
          <p:cNvPr id="23" name="object 23">
            <a:extLst>
              <a:ext uri="{FF2B5EF4-FFF2-40B4-BE49-F238E27FC236}">
                <a16:creationId xmlns:a16="http://schemas.microsoft.com/office/drawing/2014/main" id="{D28C684C-754A-BAC8-D9FF-CADA7F7A314F}"/>
              </a:ext>
            </a:extLst>
          </p:cNvPr>
          <p:cNvSpPr txBox="1"/>
          <p:nvPr/>
        </p:nvSpPr>
        <p:spPr>
          <a:xfrm>
            <a:off x="10690239" y="5377586"/>
            <a:ext cx="513080" cy="289823"/>
          </a:xfrm>
          <a:prstGeom prst="rect">
            <a:avLst/>
          </a:prstGeom>
        </p:spPr>
        <p:txBody>
          <a:bodyPr vert="horz" wrap="square" lIns="0" tIns="12700" rIns="0" bIns="0" rtlCol="0">
            <a:spAutoFit/>
          </a:bodyPr>
          <a:lstStyle/>
          <a:p>
            <a:pPr marL="38100">
              <a:lnSpc>
                <a:spcPct val="100000"/>
              </a:lnSpc>
              <a:spcBef>
                <a:spcPts val="100"/>
              </a:spcBef>
            </a:pPr>
            <a:r>
              <a:rPr sz="1800" spc="60" dirty="0">
                <a:latin typeface="Cambria Math"/>
                <a:cs typeface="Cambria Math"/>
              </a:rPr>
              <a:t>𝑄𝐾</a:t>
            </a:r>
            <a:r>
              <a:rPr sz="1950" spc="89" baseline="27777" dirty="0">
                <a:latin typeface="Cambria Math"/>
                <a:cs typeface="Cambria Math"/>
              </a:rPr>
              <a:t>𝑇</a:t>
            </a:r>
            <a:endParaRPr sz="1950" baseline="27777">
              <a:latin typeface="Cambria Math"/>
              <a:cs typeface="Cambria Math"/>
            </a:endParaRPr>
          </a:p>
        </p:txBody>
      </p:sp>
      <p:sp>
        <p:nvSpPr>
          <p:cNvPr id="24" name="object 24">
            <a:extLst>
              <a:ext uri="{FF2B5EF4-FFF2-40B4-BE49-F238E27FC236}">
                <a16:creationId xmlns:a16="http://schemas.microsoft.com/office/drawing/2014/main" id="{558F42AC-803D-0E86-F5E2-D7104D622B9E}"/>
              </a:ext>
            </a:extLst>
          </p:cNvPr>
          <p:cNvSpPr/>
          <p:nvPr/>
        </p:nvSpPr>
        <p:spPr>
          <a:xfrm>
            <a:off x="10747389" y="5776265"/>
            <a:ext cx="414020" cy="285115"/>
          </a:xfrm>
          <a:custGeom>
            <a:avLst/>
            <a:gdLst/>
            <a:ahLst/>
            <a:cxnLst/>
            <a:rect l="l" t="t" r="r" b="b"/>
            <a:pathLst>
              <a:path w="414020" h="285114">
                <a:moveTo>
                  <a:pt x="413766" y="0"/>
                </a:moveTo>
                <a:lnTo>
                  <a:pt x="165353" y="0"/>
                </a:lnTo>
                <a:lnTo>
                  <a:pt x="165353" y="749"/>
                </a:lnTo>
                <a:lnTo>
                  <a:pt x="143001" y="749"/>
                </a:lnTo>
                <a:lnTo>
                  <a:pt x="75311" y="254685"/>
                </a:lnTo>
                <a:lnTo>
                  <a:pt x="36702" y="168516"/>
                </a:lnTo>
                <a:lnTo>
                  <a:pt x="0" y="185254"/>
                </a:lnTo>
                <a:lnTo>
                  <a:pt x="3555" y="193636"/>
                </a:lnTo>
                <a:lnTo>
                  <a:pt x="22351" y="185254"/>
                </a:lnTo>
                <a:lnTo>
                  <a:pt x="68579" y="284606"/>
                </a:lnTo>
                <a:lnTo>
                  <a:pt x="79375" y="284606"/>
                </a:lnTo>
                <a:lnTo>
                  <a:pt x="152019" y="15595"/>
                </a:lnTo>
                <a:lnTo>
                  <a:pt x="174244" y="15595"/>
                </a:lnTo>
                <a:lnTo>
                  <a:pt x="174244" y="15240"/>
                </a:lnTo>
                <a:lnTo>
                  <a:pt x="413766" y="15240"/>
                </a:lnTo>
                <a:lnTo>
                  <a:pt x="413766" y="0"/>
                </a:lnTo>
                <a:close/>
              </a:path>
            </a:pathLst>
          </a:custGeom>
          <a:solidFill>
            <a:srgbClr val="000000"/>
          </a:solidFill>
        </p:spPr>
        <p:txBody>
          <a:bodyPr wrap="square" lIns="0" tIns="0" rIns="0" bIns="0" rtlCol="0"/>
          <a:lstStyle/>
          <a:p>
            <a:endParaRPr/>
          </a:p>
        </p:txBody>
      </p:sp>
      <p:sp>
        <p:nvSpPr>
          <p:cNvPr id="25" name="object 25">
            <a:extLst>
              <a:ext uri="{FF2B5EF4-FFF2-40B4-BE49-F238E27FC236}">
                <a16:creationId xmlns:a16="http://schemas.microsoft.com/office/drawing/2014/main" id="{B4D9EF8D-CAC5-7073-E018-12EF8881AC51}"/>
              </a:ext>
            </a:extLst>
          </p:cNvPr>
          <p:cNvSpPr txBox="1"/>
          <p:nvPr/>
        </p:nvSpPr>
        <p:spPr>
          <a:xfrm>
            <a:off x="10876167" y="5749442"/>
            <a:ext cx="310515" cy="289823"/>
          </a:xfrm>
          <a:prstGeom prst="rect">
            <a:avLst/>
          </a:prstGeom>
        </p:spPr>
        <p:txBody>
          <a:bodyPr vert="horz" wrap="square" lIns="0" tIns="12700" rIns="0" bIns="0" rtlCol="0">
            <a:spAutoFit/>
          </a:bodyPr>
          <a:lstStyle/>
          <a:p>
            <a:pPr marL="38100">
              <a:lnSpc>
                <a:spcPct val="100000"/>
              </a:lnSpc>
              <a:spcBef>
                <a:spcPts val="100"/>
              </a:spcBef>
            </a:pPr>
            <a:r>
              <a:rPr sz="1800" spc="40" dirty="0">
                <a:latin typeface="Cambria Math"/>
                <a:cs typeface="Cambria Math"/>
              </a:rPr>
              <a:t>𝑑</a:t>
            </a:r>
            <a:r>
              <a:rPr sz="1950" spc="60" baseline="-14957" dirty="0">
                <a:latin typeface="Cambria Math"/>
                <a:cs typeface="Cambria Math"/>
              </a:rPr>
              <a:t>𝑘</a:t>
            </a:r>
            <a:endParaRPr sz="1950" baseline="-14957">
              <a:latin typeface="Cambria Math"/>
              <a:cs typeface="Cambria Math"/>
            </a:endParaRPr>
          </a:p>
        </p:txBody>
      </p:sp>
      <p:sp>
        <p:nvSpPr>
          <p:cNvPr id="26" name="object 26">
            <a:extLst>
              <a:ext uri="{FF2B5EF4-FFF2-40B4-BE49-F238E27FC236}">
                <a16:creationId xmlns:a16="http://schemas.microsoft.com/office/drawing/2014/main" id="{0C426AA3-D235-122E-AC9F-1F60181649CF}"/>
              </a:ext>
            </a:extLst>
          </p:cNvPr>
          <p:cNvSpPr txBox="1"/>
          <p:nvPr/>
        </p:nvSpPr>
        <p:spPr>
          <a:xfrm>
            <a:off x="11343527" y="5551322"/>
            <a:ext cx="168910" cy="289823"/>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𝑉</a:t>
            </a:r>
            <a:endParaRPr sz="1800">
              <a:latin typeface="Cambria Math"/>
              <a:cs typeface="Cambria Math"/>
            </a:endParaRPr>
          </a:p>
        </p:txBody>
      </p:sp>
      <p:sp>
        <p:nvSpPr>
          <p:cNvPr id="27" name="object 27">
            <a:extLst>
              <a:ext uri="{FF2B5EF4-FFF2-40B4-BE49-F238E27FC236}">
                <a16:creationId xmlns:a16="http://schemas.microsoft.com/office/drawing/2014/main" id="{0A3BAA39-899E-9D6C-C52A-767D37E16B23}"/>
              </a:ext>
            </a:extLst>
          </p:cNvPr>
          <p:cNvSpPr txBox="1"/>
          <p:nvPr/>
        </p:nvSpPr>
        <p:spPr>
          <a:xfrm>
            <a:off x="1194548" y="4977751"/>
            <a:ext cx="530824" cy="165008"/>
          </a:xfrm>
          <a:prstGeom prst="rect">
            <a:avLst/>
          </a:prstGeom>
        </p:spPr>
        <p:txBody>
          <a:bodyPr vert="horz" wrap="square" lIns="0" tIns="12065" rIns="0" bIns="0" rtlCol="0">
            <a:spAutoFit/>
          </a:bodyPr>
          <a:lstStyle/>
          <a:p>
            <a:pPr marL="12700">
              <a:lnSpc>
                <a:spcPct val="100000"/>
              </a:lnSpc>
              <a:spcBef>
                <a:spcPts val="95"/>
              </a:spcBef>
            </a:pPr>
            <a:r>
              <a:rPr sz="1000" spc="-35" dirty="0">
                <a:latin typeface="Tahoma"/>
                <a:cs typeface="Tahoma"/>
              </a:rPr>
              <a:t>(9,</a:t>
            </a:r>
            <a:r>
              <a:rPr sz="1000" spc="-60" dirty="0">
                <a:latin typeface="Tahoma"/>
                <a:cs typeface="Tahoma"/>
              </a:rPr>
              <a:t> </a:t>
            </a:r>
            <a:r>
              <a:rPr sz="1000" spc="25" dirty="0">
                <a:latin typeface="Tahoma"/>
                <a:cs typeface="Tahoma"/>
              </a:rPr>
              <a:t>4096</a:t>
            </a:r>
            <a:r>
              <a:rPr sz="1000" spc="-85" dirty="0">
                <a:latin typeface="Tahoma"/>
                <a:cs typeface="Tahoma"/>
              </a:rPr>
              <a:t>)</a:t>
            </a:r>
            <a:endParaRPr sz="1000">
              <a:latin typeface="Tahoma"/>
              <a:cs typeface="Tahoma"/>
            </a:endParaRPr>
          </a:p>
        </p:txBody>
      </p:sp>
      <p:sp>
        <p:nvSpPr>
          <p:cNvPr id="28" name="object 28">
            <a:extLst>
              <a:ext uri="{FF2B5EF4-FFF2-40B4-BE49-F238E27FC236}">
                <a16:creationId xmlns:a16="http://schemas.microsoft.com/office/drawing/2014/main" id="{7AE9278B-5A1D-0397-12D1-39E5DB4C4DE3}"/>
              </a:ext>
            </a:extLst>
          </p:cNvPr>
          <p:cNvSpPr txBox="1"/>
          <p:nvPr/>
        </p:nvSpPr>
        <p:spPr>
          <a:xfrm>
            <a:off x="3314072" y="4977751"/>
            <a:ext cx="529558" cy="165008"/>
          </a:xfrm>
          <a:prstGeom prst="rect">
            <a:avLst/>
          </a:prstGeom>
        </p:spPr>
        <p:txBody>
          <a:bodyPr vert="horz" wrap="square" lIns="0" tIns="12065" rIns="0" bIns="0" rtlCol="0">
            <a:spAutoFit/>
          </a:bodyPr>
          <a:lstStyle/>
          <a:p>
            <a:pPr marL="12700">
              <a:lnSpc>
                <a:spcPct val="100000"/>
              </a:lnSpc>
              <a:spcBef>
                <a:spcPts val="95"/>
              </a:spcBef>
            </a:pPr>
            <a:r>
              <a:rPr sz="1000" dirty="0">
                <a:latin typeface="Tahoma"/>
                <a:cs typeface="Tahoma"/>
              </a:rPr>
              <a:t>(40</a:t>
            </a:r>
            <a:r>
              <a:rPr sz="1000" spc="-5" dirty="0">
                <a:latin typeface="Tahoma"/>
                <a:cs typeface="Tahoma"/>
              </a:rPr>
              <a:t>9</a:t>
            </a:r>
            <a:r>
              <a:rPr sz="1000" spc="-15" dirty="0">
                <a:latin typeface="Tahoma"/>
                <a:cs typeface="Tahoma"/>
              </a:rPr>
              <a:t>6</a:t>
            </a:r>
            <a:r>
              <a:rPr sz="1000" spc="-5" dirty="0">
                <a:latin typeface="Tahoma"/>
                <a:cs typeface="Tahoma"/>
              </a:rPr>
              <a:t>,</a:t>
            </a:r>
            <a:r>
              <a:rPr sz="1000" spc="-75" dirty="0">
                <a:latin typeface="Tahoma"/>
                <a:cs typeface="Tahoma"/>
              </a:rPr>
              <a:t> </a:t>
            </a:r>
            <a:r>
              <a:rPr sz="1000" spc="-35" dirty="0">
                <a:latin typeface="Tahoma"/>
                <a:cs typeface="Tahoma"/>
              </a:rPr>
              <a:t>9)</a:t>
            </a:r>
            <a:endParaRPr sz="1000">
              <a:latin typeface="Tahoma"/>
              <a:cs typeface="Tahoma"/>
            </a:endParaRPr>
          </a:p>
        </p:txBody>
      </p:sp>
      <p:sp>
        <p:nvSpPr>
          <p:cNvPr id="29" name="object 29">
            <a:extLst>
              <a:ext uri="{FF2B5EF4-FFF2-40B4-BE49-F238E27FC236}">
                <a16:creationId xmlns:a16="http://schemas.microsoft.com/office/drawing/2014/main" id="{3CDA1F3B-F435-5AA6-A905-09933568A347}"/>
              </a:ext>
            </a:extLst>
          </p:cNvPr>
          <p:cNvSpPr txBox="1"/>
          <p:nvPr/>
        </p:nvSpPr>
        <p:spPr>
          <a:xfrm>
            <a:off x="6007709" y="5851663"/>
            <a:ext cx="312547" cy="165008"/>
          </a:xfrm>
          <a:prstGeom prst="rect">
            <a:avLst/>
          </a:prstGeom>
        </p:spPr>
        <p:txBody>
          <a:bodyPr vert="horz" wrap="square" lIns="0" tIns="12065" rIns="0" bIns="0" rtlCol="0">
            <a:spAutoFit/>
          </a:bodyPr>
          <a:lstStyle/>
          <a:p>
            <a:pPr marL="12700">
              <a:lnSpc>
                <a:spcPct val="100000"/>
              </a:lnSpc>
              <a:spcBef>
                <a:spcPts val="95"/>
              </a:spcBef>
            </a:pPr>
            <a:r>
              <a:rPr sz="1000" spc="-35" dirty="0">
                <a:latin typeface="Tahoma"/>
                <a:cs typeface="Tahoma"/>
              </a:rPr>
              <a:t>(9,</a:t>
            </a:r>
            <a:r>
              <a:rPr sz="1000" spc="-60" dirty="0">
                <a:latin typeface="Tahoma"/>
                <a:cs typeface="Tahoma"/>
              </a:rPr>
              <a:t> </a:t>
            </a:r>
            <a:r>
              <a:rPr sz="1000" spc="-35" dirty="0">
                <a:latin typeface="Tahoma"/>
                <a:cs typeface="Tahoma"/>
              </a:rPr>
              <a:t>9)</a:t>
            </a:r>
            <a:endParaRPr sz="1000">
              <a:latin typeface="Tahoma"/>
              <a:cs typeface="Tahoma"/>
            </a:endParaRPr>
          </a:p>
        </p:txBody>
      </p:sp>
      <p:sp>
        <p:nvSpPr>
          <p:cNvPr id="30" name="object 30">
            <a:extLst>
              <a:ext uri="{FF2B5EF4-FFF2-40B4-BE49-F238E27FC236}">
                <a16:creationId xmlns:a16="http://schemas.microsoft.com/office/drawing/2014/main" id="{61FAC069-20C1-77FC-C502-6057B41C7CEC}"/>
              </a:ext>
            </a:extLst>
          </p:cNvPr>
          <p:cNvSpPr txBox="1"/>
          <p:nvPr/>
        </p:nvSpPr>
        <p:spPr>
          <a:xfrm>
            <a:off x="8664103" y="5033726"/>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latin typeface="Tahoma"/>
                <a:cs typeface="Tahoma"/>
              </a:rPr>
              <a:t>(9,</a:t>
            </a:r>
            <a:r>
              <a:rPr sz="1000" spc="-60" dirty="0">
                <a:latin typeface="Tahoma"/>
                <a:cs typeface="Tahoma"/>
              </a:rPr>
              <a:t> </a:t>
            </a:r>
            <a:r>
              <a:rPr sz="1000" spc="25" dirty="0">
                <a:latin typeface="Tahoma"/>
                <a:cs typeface="Tahoma"/>
              </a:rPr>
              <a:t>4096</a:t>
            </a:r>
            <a:r>
              <a:rPr sz="1000" spc="-85" dirty="0">
                <a:latin typeface="Tahoma"/>
                <a:cs typeface="Tahoma"/>
              </a:rPr>
              <a:t>)</a:t>
            </a:r>
            <a:endParaRPr sz="1000">
              <a:latin typeface="Tahoma"/>
              <a:cs typeface="Tahoma"/>
            </a:endParaRPr>
          </a:p>
        </p:txBody>
      </p:sp>
      <p:sp>
        <p:nvSpPr>
          <p:cNvPr id="31" name="object 31">
            <a:extLst>
              <a:ext uri="{FF2B5EF4-FFF2-40B4-BE49-F238E27FC236}">
                <a16:creationId xmlns:a16="http://schemas.microsoft.com/office/drawing/2014/main" id="{2BCAEC4B-943E-B9C5-0F40-16F993C9640E}"/>
              </a:ext>
            </a:extLst>
          </p:cNvPr>
          <p:cNvSpPr txBox="1"/>
          <p:nvPr/>
        </p:nvSpPr>
        <p:spPr>
          <a:xfrm>
            <a:off x="10703597" y="5031568"/>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latin typeface="Tahoma"/>
                <a:cs typeface="Tahoma"/>
              </a:rPr>
              <a:t>(9,</a:t>
            </a:r>
            <a:r>
              <a:rPr sz="1000" spc="-60" dirty="0">
                <a:latin typeface="Tahoma"/>
                <a:cs typeface="Tahoma"/>
              </a:rPr>
              <a:t> </a:t>
            </a:r>
            <a:r>
              <a:rPr sz="1000" spc="25" dirty="0">
                <a:latin typeface="Tahoma"/>
                <a:cs typeface="Tahoma"/>
              </a:rPr>
              <a:t>4096</a:t>
            </a:r>
            <a:r>
              <a:rPr sz="1000" spc="-85" dirty="0">
                <a:latin typeface="Tahoma"/>
                <a:cs typeface="Tahoma"/>
              </a:rPr>
              <a:t>)</a:t>
            </a:r>
            <a:endParaRPr sz="1000">
              <a:latin typeface="Tahoma"/>
              <a:cs typeface="Tahoma"/>
            </a:endParaRPr>
          </a:p>
        </p:txBody>
      </p:sp>
      <p:sp>
        <p:nvSpPr>
          <p:cNvPr id="32" name="Title 1">
            <a:extLst>
              <a:ext uri="{FF2B5EF4-FFF2-40B4-BE49-F238E27FC236}">
                <a16:creationId xmlns:a16="http://schemas.microsoft.com/office/drawing/2014/main" id="{D1FD045C-5094-5FE6-9DF2-98A72A38F3D8}"/>
              </a:ext>
            </a:extLst>
          </p:cNvPr>
          <p:cNvSpPr txBox="1">
            <a:spLocks/>
          </p:cNvSpPr>
          <p:nvPr/>
        </p:nvSpPr>
        <p:spPr>
          <a:xfrm>
            <a:off x="669552" y="594335"/>
            <a:ext cx="10863635" cy="639153"/>
          </a:xfrm>
          <a:prstGeom prst="rect">
            <a:avLst/>
          </a:prstGeom>
        </p:spPr>
        <p:txBody>
          <a:bodyPr vert="horz" lIns="0" tIns="0" rIns="0" bIns="0" rtlCol="0" anchor="ctr">
            <a:normAutofit fontScale="97500"/>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US" dirty="0">
                <a:latin typeface="+mn-lt"/>
              </a:rPr>
              <a:t>Self-Attention during Next Token Prediction Task</a:t>
            </a:r>
            <a:endParaRPr lang="en-IN" dirty="0">
              <a:latin typeface="+mn-lt"/>
            </a:endParaRPr>
          </a:p>
        </p:txBody>
      </p:sp>
    </p:spTree>
    <p:extLst>
      <p:ext uri="{BB962C8B-B14F-4D97-AF65-F5344CB8AC3E}">
        <p14:creationId xmlns:p14="http://schemas.microsoft.com/office/powerpoint/2010/main" val="3960970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901803" y="2775269"/>
            <a:ext cx="1123315" cy="1945639"/>
            <a:chOff x="470001" y="2975610"/>
            <a:chExt cx="1123315" cy="1945639"/>
          </a:xfrm>
        </p:grpSpPr>
        <p:sp>
          <p:nvSpPr>
            <p:cNvPr id="4" name="object 4"/>
            <p:cNvSpPr/>
            <p:nvPr/>
          </p:nvSpPr>
          <p:spPr>
            <a:xfrm>
              <a:off x="482701" y="2988310"/>
              <a:ext cx="1097280" cy="213360"/>
            </a:xfrm>
            <a:custGeom>
              <a:avLst/>
              <a:gdLst/>
              <a:ahLst/>
              <a:cxnLst/>
              <a:rect l="l" t="t" r="r" b="b"/>
              <a:pathLst>
                <a:path w="1097280" h="213360">
                  <a:moveTo>
                    <a:pt x="1097241" y="0"/>
                  </a:moveTo>
                  <a:lnTo>
                    <a:pt x="0" y="0"/>
                  </a:lnTo>
                  <a:lnTo>
                    <a:pt x="0" y="213360"/>
                  </a:lnTo>
                  <a:lnTo>
                    <a:pt x="1097241" y="213360"/>
                  </a:lnTo>
                  <a:lnTo>
                    <a:pt x="1097241" y="0"/>
                  </a:lnTo>
                  <a:close/>
                </a:path>
              </a:pathLst>
            </a:custGeom>
            <a:solidFill>
              <a:srgbClr val="FBEBEA"/>
            </a:solidFill>
          </p:spPr>
          <p:txBody>
            <a:bodyPr wrap="square" lIns="0" tIns="0" rIns="0" bIns="0" rtlCol="0"/>
            <a:lstStyle/>
            <a:p>
              <a:endParaRPr/>
            </a:p>
          </p:txBody>
        </p:sp>
        <p:sp>
          <p:nvSpPr>
            <p:cNvPr id="5" name="object 5"/>
            <p:cNvSpPr/>
            <p:nvPr/>
          </p:nvSpPr>
          <p:spPr>
            <a:xfrm>
              <a:off x="476351" y="3195320"/>
              <a:ext cx="1110615" cy="12700"/>
            </a:xfrm>
            <a:custGeom>
              <a:avLst/>
              <a:gdLst/>
              <a:ahLst/>
              <a:cxnLst/>
              <a:rect l="l" t="t" r="r" b="b"/>
              <a:pathLst>
                <a:path w="1110615" h="12700">
                  <a:moveTo>
                    <a:pt x="0" y="12700"/>
                  </a:moveTo>
                  <a:lnTo>
                    <a:pt x="1110005" y="12700"/>
                  </a:lnTo>
                  <a:lnTo>
                    <a:pt x="1110005" y="0"/>
                  </a:lnTo>
                  <a:lnTo>
                    <a:pt x="0" y="0"/>
                  </a:lnTo>
                  <a:lnTo>
                    <a:pt x="0" y="12700"/>
                  </a:lnTo>
                  <a:close/>
                </a:path>
              </a:pathLst>
            </a:custGeom>
            <a:solidFill>
              <a:srgbClr val="000000"/>
            </a:solidFill>
          </p:spPr>
          <p:txBody>
            <a:bodyPr wrap="square" lIns="0" tIns="0" rIns="0" bIns="0" rtlCol="0"/>
            <a:lstStyle/>
            <a:p>
              <a:endParaRPr/>
            </a:p>
          </p:txBody>
        </p:sp>
        <p:sp>
          <p:nvSpPr>
            <p:cNvPr id="6" name="object 6"/>
            <p:cNvSpPr/>
            <p:nvPr/>
          </p:nvSpPr>
          <p:spPr>
            <a:xfrm>
              <a:off x="482701"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7" name="object 7"/>
            <p:cNvSpPr/>
            <p:nvPr/>
          </p:nvSpPr>
          <p:spPr>
            <a:xfrm>
              <a:off x="482701" y="3201670"/>
              <a:ext cx="0" cy="1713230"/>
            </a:xfrm>
            <a:custGeom>
              <a:avLst/>
              <a:gdLst/>
              <a:ahLst/>
              <a:cxnLst/>
              <a:rect l="l" t="t" r="r" b="b"/>
              <a:pathLst>
                <a:path h="1713229">
                  <a:moveTo>
                    <a:pt x="0" y="0"/>
                  </a:moveTo>
                  <a:lnTo>
                    <a:pt x="0" y="1713229"/>
                  </a:lnTo>
                </a:path>
              </a:pathLst>
            </a:custGeom>
            <a:ln w="12700">
              <a:solidFill>
                <a:srgbClr val="FFFFFF"/>
              </a:solidFill>
            </a:ln>
          </p:spPr>
          <p:txBody>
            <a:bodyPr wrap="square" lIns="0" tIns="0" rIns="0" bIns="0" rtlCol="0"/>
            <a:lstStyle/>
            <a:p>
              <a:endParaRPr/>
            </a:p>
          </p:txBody>
        </p:sp>
        <p:sp>
          <p:nvSpPr>
            <p:cNvPr id="8" name="object 8"/>
            <p:cNvSpPr/>
            <p:nvPr/>
          </p:nvSpPr>
          <p:spPr>
            <a:xfrm>
              <a:off x="1580006"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9" name="object 9"/>
            <p:cNvSpPr/>
            <p:nvPr/>
          </p:nvSpPr>
          <p:spPr>
            <a:xfrm>
              <a:off x="476351" y="3201670"/>
              <a:ext cx="1110615" cy="1713230"/>
            </a:xfrm>
            <a:custGeom>
              <a:avLst/>
              <a:gdLst/>
              <a:ahLst/>
              <a:cxnLst/>
              <a:rect l="l" t="t" r="r" b="b"/>
              <a:pathLst>
                <a:path w="1110615" h="1713229">
                  <a:moveTo>
                    <a:pt x="1103655" y="0"/>
                  </a:moveTo>
                  <a:lnTo>
                    <a:pt x="1103655" y="1713229"/>
                  </a:lnTo>
                </a:path>
                <a:path w="1110615" h="1713229">
                  <a:moveTo>
                    <a:pt x="0" y="1706879"/>
                  </a:moveTo>
                  <a:lnTo>
                    <a:pt x="1110005" y="1706879"/>
                  </a:lnTo>
                </a:path>
              </a:pathLst>
            </a:custGeom>
            <a:ln w="12700">
              <a:solidFill>
                <a:srgbClr val="FFFFFF"/>
              </a:solidFill>
            </a:ln>
          </p:spPr>
          <p:txBody>
            <a:bodyPr wrap="square" lIns="0" tIns="0" rIns="0" bIns="0" rtlCol="0"/>
            <a:lstStyle/>
            <a:p>
              <a:endParaRPr/>
            </a:p>
          </p:txBody>
        </p:sp>
      </p:grpSp>
      <p:sp>
        <p:nvSpPr>
          <p:cNvPr id="10" name="object 10"/>
          <p:cNvSpPr txBox="1"/>
          <p:nvPr/>
        </p:nvSpPr>
        <p:spPr>
          <a:xfrm>
            <a:off x="914503" y="2787969"/>
            <a:ext cx="1097915" cy="165430"/>
          </a:xfrm>
          <a:prstGeom prst="rect">
            <a:avLst/>
          </a:prstGeom>
          <a:solidFill>
            <a:srgbClr val="FBEBEA"/>
          </a:solidFill>
          <a:ln w="12700">
            <a:solidFill>
              <a:srgbClr val="000000"/>
            </a:solidFill>
          </a:ln>
        </p:spPr>
        <p:txBody>
          <a:bodyPr vert="horz" wrap="square" lIns="0" tIns="41910" rIns="0" bIns="0" rtlCol="0">
            <a:spAutoFit/>
          </a:bodyPr>
          <a:lstStyle/>
          <a:p>
            <a:pPr marL="91440">
              <a:lnSpc>
                <a:spcPct val="100000"/>
              </a:lnSpc>
              <a:spcBef>
                <a:spcPts val="330"/>
              </a:spcBef>
            </a:pPr>
            <a:r>
              <a:rPr sz="800" spc="45" dirty="0">
                <a:cs typeface="Tahoma"/>
              </a:rPr>
              <a:t>TO</a:t>
            </a:r>
            <a:r>
              <a:rPr sz="800" spc="35" dirty="0">
                <a:cs typeface="Tahoma"/>
              </a:rPr>
              <a:t>K</a:t>
            </a:r>
            <a:r>
              <a:rPr sz="800" spc="25" dirty="0">
                <a:cs typeface="Tahoma"/>
              </a:rPr>
              <a:t>E</a:t>
            </a:r>
            <a:r>
              <a:rPr sz="800" spc="80" dirty="0">
                <a:cs typeface="Tahoma"/>
              </a:rPr>
              <a:t>N</a:t>
            </a:r>
            <a:r>
              <a:rPr sz="800" spc="-75" dirty="0">
                <a:cs typeface="Tahoma"/>
              </a:rPr>
              <a:t> </a:t>
            </a:r>
            <a:r>
              <a:rPr sz="800" spc="25" dirty="0">
                <a:cs typeface="Tahoma"/>
              </a:rPr>
              <a:t>1</a:t>
            </a:r>
            <a:endParaRPr sz="800">
              <a:cs typeface="Tahoma"/>
            </a:endParaRPr>
          </a:p>
        </p:txBody>
      </p:sp>
      <p:sp>
        <p:nvSpPr>
          <p:cNvPr id="11" name="object 11"/>
          <p:cNvSpPr/>
          <p:nvPr/>
        </p:nvSpPr>
        <p:spPr>
          <a:xfrm>
            <a:off x="2853437" y="2990914"/>
            <a:ext cx="1672589" cy="0"/>
          </a:xfrm>
          <a:custGeom>
            <a:avLst/>
            <a:gdLst/>
            <a:ahLst/>
            <a:cxnLst/>
            <a:rect l="l" t="t" r="r" b="b"/>
            <a:pathLst>
              <a:path w="1672589">
                <a:moveTo>
                  <a:pt x="0" y="0"/>
                </a:moveTo>
                <a:lnTo>
                  <a:pt x="1672589" y="0"/>
                </a:lnTo>
              </a:path>
            </a:pathLst>
          </a:custGeom>
          <a:ln w="12700">
            <a:solidFill>
              <a:srgbClr val="FFFFFF"/>
            </a:solidFill>
          </a:ln>
        </p:spPr>
        <p:txBody>
          <a:bodyPr wrap="square" lIns="0" tIns="0" rIns="0" bIns="0" rtlCol="0"/>
          <a:lstStyle/>
          <a:p>
            <a:endParaRPr/>
          </a:p>
        </p:txBody>
      </p:sp>
      <p:sp>
        <p:nvSpPr>
          <p:cNvPr id="12" name="object 12"/>
          <p:cNvSpPr/>
          <p:nvPr/>
        </p:nvSpPr>
        <p:spPr>
          <a:xfrm>
            <a:off x="2853437" y="4505262"/>
            <a:ext cx="1672589" cy="0"/>
          </a:xfrm>
          <a:custGeom>
            <a:avLst/>
            <a:gdLst/>
            <a:ahLst/>
            <a:cxnLst/>
            <a:rect l="l" t="t" r="r" b="b"/>
            <a:pathLst>
              <a:path w="1672589">
                <a:moveTo>
                  <a:pt x="0" y="0"/>
                </a:moveTo>
                <a:lnTo>
                  <a:pt x="1672589" y="0"/>
                </a:lnTo>
              </a:path>
            </a:pathLst>
          </a:custGeom>
          <a:ln w="12700">
            <a:solidFill>
              <a:srgbClr val="FFFFFF"/>
            </a:solidFill>
          </a:ln>
        </p:spPr>
        <p:txBody>
          <a:bodyPr wrap="square" lIns="0" tIns="0" rIns="0" bIns="0" rtlCol="0"/>
          <a:lstStyle/>
          <a:p>
            <a:endParaRPr/>
          </a:p>
        </p:txBody>
      </p:sp>
      <p:sp>
        <p:nvSpPr>
          <p:cNvPr id="13" name="object 13"/>
          <p:cNvSpPr txBox="1"/>
          <p:nvPr/>
        </p:nvSpPr>
        <p:spPr>
          <a:xfrm>
            <a:off x="2645157" y="2990914"/>
            <a:ext cx="208279" cy="871392"/>
          </a:xfrm>
          <a:prstGeom prst="rect">
            <a:avLst/>
          </a:prstGeom>
          <a:solidFill>
            <a:srgbClr val="E8F5F1"/>
          </a:solidFill>
          <a:ln w="12700">
            <a:solidFill>
              <a:srgbClr val="000000"/>
            </a:solidFill>
          </a:ln>
        </p:spPr>
        <p:txBody>
          <a:bodyPr vert="horz" wrap="square" lIns="0" tIns="40005" rIns="0" bIns="0" rtlCol="0">
            <a:spAutoFit/>
          </a:bodyPr>
          <a:lstStyle/>
          <a:p>
            <a:pPr marL="91440" marR="11430" algn="just">
              <a:lnSpc>
                <a:spcPct val="100000"/>
              </a:lnSpc>
              <a:spcBef>
                <a:spcPts val="315"/>
              </a:spcBef>
            </a:pPr>
            <a:r>
              <a:rPr sz="900" spc="-15" dirty="0">
                <a:cs typeface="Tahoma"/>
              </a:rPr>
              <a:t>T </a:t>
            </a:r>
            <a:r>
              <a:rPr sz="900" spc="-270" dirty="0">
                <a:cs typeface="Tahoma"/>
              </a:rPr>
              <a:t> </a:t>
            </a:r>
            <a:r>
              <a:rPr sz="900" spc="80" dirty="0">
                <a:cs typeface="Tahoma"/>
              </a:rPr>
              <a:t>O  </a:t>
            </a:r>
            <a:r>
              <a:rPr sz="900" spc="35" dirty="0">
                <a:cs typeface="Tahoma"/>
              </a:rPr>
              <a:t>K </a:t>
            </a:r>
            <a:r>
              <a:rPr sz="900" spc="-270" dirty="0">
                <a:cs typeface="Tahoma"/>
              </a:rPr>
              <a:t> </a:t>
            </a:r>
            <a:r>
              <a:rPr sz="900" spc="25" dirty="0">
                <a:cs typeface="Tahoma"/>
              </a:rPr>
              <a:t>E </a:t>
            </a:r>
            <a:r>
              <a:rPr sz="900" spc="-270" dirty="0">
                <a:cs typeface="Tahoma"/>
              </a:rPr>
              <a:t> </a:t>
            </a:r>
            <a:r>
              <a:rPr sz="900" spc="55" dirty="0">
                <a:cs typeface="Tahoma"/>
              </a:rPr>
              <a:t>N  </a:t>
            </a:r>
            <a:r>
              <a:rPr sz="900" spc="30" dirty="0">
                <a:cs typeface="Tahoma"/>
              </a:rPr>
              <a:t>1</a:t>
            </a:r>
            <a:endParaRPr sz="900">
              <a:cs typeface="Tahoma"/>
            </a:endParaRPr>
          </a:p>
        </p:txBody>
      </p:sp>
      <p:sp>
        <p:nvSpPr>
          <p:cNvPr id="14" name="object 14"/>
          <p:cNvSpPr txBox="1"/>
          <p:nvPr/>
        </p:nvSpPr>
        <p:spPr>
          <a:xfrm>
            <a:off x="2238757" y="3448495"/>
            <a:ext cx="17335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𝑋</a:t>
            </a:r>
            <a:endParaRPr sz="1800">
              <a:cs typeface="Cambria Math"/>
            </a:endParaRPr>
          </a:p>
        </p:txBody>
      </p:sp>
      <p:sp>
        <p:nvSpPr>
          <p:cNvPr id="15" name="object 15"/>
          <p:cNvSpPr txBox="1"/>
          <p:nvPr/>
        </p:nvSpPr>
        <p:spPr>
          <a:xfrm>
            <a:off x="4747007" y="3448495"/>
            <a:ext cx="19621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a:t>
            </a:r>
            <a:endParaRPr sz="1800">
              <a:cs typeface="Cambria Math"/>
            </a:endParaRPr>
          </a:p>
        </p:txBody>
      </p:sp>
      <p:graphicFrame>
        <p:nvGraphicFramePr>
          <p:cNvPr id="16" name="object 16"/>
          <p:cNvGraphicFramePr>
            <a:graphicFrameLocks noGrp="1"/>
          </p:cNvGraphicFramePr>
          <p:nvPr>
            <p:extLst>
              <p:ext uri="{D42A27DB-BD31-4B8C-83A1-F6EECF244321}">
                <p14:modId xmlns:p14="http://schemas.microsoft.com/office/powerpoint/2010/main" val="167732408"/>
              </p:ext>
            </p:extLst>
          </p:nvPr>
        </p:nvGraphicFramePr>
        <p:xfrm>
          <a:off x="5165218" y="2095819"/>
          <a:ext cx="1988818" cy="3316413"/>
        </p:xfrm>
        <a:graphic>
          <a:graphicData uri="http://schemas.openxmlformats.org/drawingml/2006/table">
            <a:tbl>
              <a:tblPr firstRow="1" bandRow="1">
                <a:tableStyleId>{2D5ABB26-0587-4C30-8999-92F81FD0307C}</a:tableStyleId>
              </a:tblPr>
              <a:tblGrid>
                <a:gridCol w="208279">
                  <a:extLst>
                    <a:ext uri="{9D8B030D-6E8A-4147-A177-3AD203B41FA5}">
                      <a16:colId xmlns:a16="http://schemas.microsoft.com/office/drawing/2014/main" val="20000"/>
                    </a:ext>
                  </a:extLst>
                </a:gridCol>
                <a:gridCol w="1780539">
                  <a:extLst>
                    <a:ext uri="{9D8B030D-6E8A-4147-A177-3AD203B41FA5}">
                      <a16:colId xmlns:a16="http://schemas.microsoft.com/office/drawing/2014/main" val="20001"/>
                    </a:ext>
                  </a:extLst>
                </a:gridCol>
              </a:tblGrid>
              <a:tr h="396239">
                <a:tc>
                  <a:txBody>
                    <a:bodyPr/>
                    <a:lstStyle/>
                    <a:p>
                      <a:pPr marL="92075" marR="78740" indent="-635" algn="ctr">
                        <a:lnSpc>
                          <a:spcPct val="100000"/>
                        </a:lnSpc>
                        <a:spcBef>
                          <a:spcPts val="345"/>
                        </a:spcBef>
                      </a:pPr>
                      <a:r>
                        <a:rPr sz="400" dirty="0">
                          <a:latin typeface="Tahoma"/>
                          <a:cs typeface="Tahoma"/>
                        </a:rPr>
                        <a:t>T  1</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0"/>
                  </a:ext>
                </a:extLst>
              </a:tr>
              <a:tr h="2920174">
                <a:tc gridSpan="2">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cap="flat" cmpd="sng" algn="ctr">
                      <a:solidFill>
                        <a:srgbClr val="000000"/>
                      </a:solidFill>
                      <a:prstDash val="solid"/>
                      <a:round/>
                      <a:headEnd type="none" w="med" len="med"/>
                      <a:tailEnd type="none" w="med" len="med"/>
                    </a:lnT>
                    <a:lnB w="12700">
                      <a:solidFill>
                        <a:srgbClr val="FFFFFF"/>
                      </a:solidFill>
                      <a:prstDash val="solid"/>
                    </a:lnB>
                  </a:tcPr>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pSp>
        <p:nvGrpSpPr>
          <p:cNvPr id="17" name="object 17"/>
          <p:cNvGrpSpPr/>
          <p:nvPr/>
        </p:nvGrpSpPr>
        <p:grpSpPr>
          <a:xfrm>
            <a:off x="8381772" y="2895836"/>
            <a:ext cx="1109980" cy="1932939"/>
            <a:chOff x="8048370" y="2981960"/>
            <a:chExt cx="1109980" cy="1932939"/>
          </a:xfrm>
        </p:grpSpPr>
        <p:sp>
          <p:nvSpPr>
            <p:cNvPr id="18" name="object 18"/>
            <p:cNvSpPr/>
            <p:nvPr/>
          </p:nvSpPr>
          <p:spPr>
            <a:xfrm>
              <a:off x="8054720" y="2988310"/>
              <a:ext cx="1097280" cy="213360"/>
            </a:xfrm>
            <a:custGeom>
              <a:avLst/>
              <a:gdLst/>
              <a:ahLst/>
              <a:cxnLst/>
              <a:rect l="l" t="t" r="r" b="b"/>
              <a:pathLst>
                <a:path w="1097279" h="213360">
                  <a:moveTo>
                    <a:pt x="1097241" y="0"/>
                  </a:moveTo>
                  <a:lnTo>
                    <a:pt x="0" y="0"/>
                  </a:lnTo>
                  <a:lnTo>
                    <a:pt x="0" y="213360"/>
                  </a:lnTo>
                  <a:lnTo>
                    <a:pt x="1097241" y="213360"/>
                  </a:lnTo>
                  <a:lnTo>
                    <a:pt x="1097241" y="0"/>
                  </a:lnTo>
                  <a:close/>
                </a:path>
              </a:pathLst>
            </a:custGeom>
            <a:solidFill>
              <a:srgbClr val="DFDBDF"/>
            </a:solidFill>
          </p:spPr>
          <p:txBody>
            <a:bodyPr wrap="square" lIns="0" tIns="0" rIns="0" bIns="0" rtlCol="0"/>
            <a:lstStyle/>
            <a:p>
              <a:endParaRPr/>
            </a:p>
          </p:txBody>
        </p:sp>
        <p:sp>
          <p:nvSpPr>
            <p:cNvPr id="19" name="object 19"/>
            <p:cNvSpPr/>
            <p:nvPr/>
          </p:nvSpPr>
          <p:spPr>
            <a:xfrm>
              <a:off x="8048370" y="3195320"/>
              <a:ext cx="1109980" cy="12700"/>
            </a:xfrm>
            <a:custGeom>
              <a:avLst/>
              <a:gdLst/>
              <a:ahLst/>
              <a:cxnLst/>
              <a:rect l="l" t="t" r="r" b="b"/>
              <a:pathLst>
                <a:path w="1109979" h="12700">
                  <a:moveTo>
                    <a:pt x="0" y="12700"/>
                  </a:moveTo>
                  <a:lnTo>
                    <a:pt x="1109852" y="12700"/>
                  </a:lnTo>
                  <a:lnTo>
                    <a:pt x="1109852" y="0"/>
                  </a:lnTo>
                  <a:lnTo>
                    <a:pt x="0" y="0"/>
                  </a:lnTo>
                  <a:lnTo>
                    <a:pt x="0" y="12700"/>
                  </a:lnTo>
                  <a:close/>
                </a:path>
              </a:pathLst>
            </a:custGeom>
            <a:solidFill>
              <a:srgbClr val="000000"/>
            </a:solidFill>
          </p:spPr>
          <p:txBody>
            <a:bodyPr wrap="square" lIns="0" tIns="0" rIns="0" bIns="0" rtlCol="0"/>
            <a:lstStyle/>
            <a:p>
              <a:endParaRPr/>
            </a:p>
          </p:txBody>
        </p:sp>
        <p:sp>
          <p:nvSpPr>
            <p:cNvPr id="20" name="object 20"/>
            <p:cNvSpPr/>
            <p:nvPr/>
          </p:nvSpPr>
          <p:spPr>
            <a:xfrm>
              <a:off x="8054720"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21" name="object 21"/>
            <p:cNvSpPr/>
            <p:nvPr/>
          </p:nvSpPr>
          <p:spPr>
            <a:xfrm>
              <a:off x="8054720" y="3201670"/>
              <a:ext cx="0" cy="1713230"/>
            </a:xfrm>
            <a:custGeom>
              <a:avLst/>
              <a:gdLst/>
              <a:ahLst/>
              <a:cxnLst/>
              <a:rect l="l" t="t" r="r" b="b"/>
              <a:pathLst>
                <a:path h="1713229">
                  <a:moveTo>
                    <a:pt x="0" y="0"/>
                  </a:moveTo>
                  <a:lnTo>
                    <a:pt x="0" y="1713229"/>
                  </a:lnTo>
                </a:path>
              </a:pathLst>
            </a:custGeom>
            <a:ln w="12700">
              <a:solidFill>
                <a:srgbClr val="FFFFFF"/>
              </a:solidFill>
            </a:ln>
          </p:spPr>
          <p:txBody>
            <a:bodyPr wrap="square" lIns="0" tIns="0" rIns="0" bIns="0" rtlCol="0"/>
            <a:lstStyle/>
            <a:p>
              <a:endParaRPr/>
            </a:p>
          </p:txBody>
        </p:sp>
        <p:sp>
          <p:nvSpPr>
            <p:cNvPr id="22" name="object 22"/>
            <p:cNvSpPr/>
            <p:nvPr/>
          </p:nvSpPr>
          <p:spPr>
            <a:xfrm>
              <a:off x="9151873"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23" name="object 23"/>
            <p:cNvSpPr/>
            <p:nvPr/>
          </p:nvSpPr>
          <p:spPr>
            <a:xfrm>
              <a:off x="8048370" y="3201670"/>
              <a:ext cx="1109980" cy="1713230"/>
            </a:xfrm>
            <a:custGeom>
              <a:avLst/>
              <a:gdLst/>
              <a:ahLst/>
              <a:cxnLst/>
              <a:rect l="l" t="t" r="r" b="b"/>
              <a:pathLst>
                <a:path w="1109979" h="1713229">
                  <a:moveTo>
                    <a:pt x="1103502" y="0"/>
                  </a:moveTo>
                  <a:lnTo>
                    <a:pt x="1103502" y="1713229"/>
                  </a:lnTo>
                </a:path>
                <a:path w="1109979" h="1713229">
                  <a:moveTo>
                    <a:pt x="0" y="1706879"/>
                  </a:moveTo>
                  <a:lnTo>
                    <a:pt x="1109852" y="1706879"/>
                  </a:lnTo>
                </a:path>
              </a:pathLst>
            </a:custGeom>
            <a:ln w="12700">
              <a:solidFill>
                <a:srgbClr val="FFFFFF"/>
              </a:solidFill>
            </a:ln>
          </p:spPr>
          <p:txBody>
            <a:bodyPr wrap="square" lIns="0" tIns="0" rIns="0" bIns="0" rtlCol="0"/>
            <a:lstStyle/>
            <a:p>
              <a:endParaRPr/>
            </a:p>
          </p:txBody>
        </p:sp>
      </p:grpSp>
      <p:sp>
        <p:nvSpPr>
          <p:cNvPr id="24" name="object 24"/>
          <p:cNvSpPr txBox="1"/>
          <p:nvPr/>
        </p:nvSpPr>
        <p:spPr>
          <a:xfrm>
            <a:off x="8388122" y="2902186"/>
            <a:ext cx="1097280" cy="165430"/>
          </a:xfrm>
          <a:prstGeom prst="rect">
            <a:avLst/>
          </a:prstGeom>
          <a:solidFill>
            <a:srgbClr val="DFDBDF"/>
          </a:solidFill>
          <a:ln w="12700">
            <a:solidFill>
              <a:srgbClr val="000000"/>
            </a:solidFill>
          </a:ln>
        </p:spPr>
        <p:txBody>
          <a:bodyPr vert="horz" wrap="square" lIns="0" tIns="41910" rIns="0" bIns="0" rtlCol="0">
            <a:spAutoFit/>
          </a:bodyPr>
          <a:lstStyle/>
          <a:p>
            <a:pPr marL="92075">
              <a:lnSpc>
                <a:spcPct val="100000"/>
              </a:lnSpc>
              <a:spcBef>
                <a:spcPts val="330"/>
              </a:spcBef>
            </a:pPr>
            <a:r>
              <a:rPr sz="800" spc="45" dirty="0">
                <a:cs typeface="Tahoma"/>
              </a:rPr>
              <a:t>TO</a:t>
            </a:r>
            <a:r>
              <a:rPr sz="800" spc="35" dirty="0">
                <a:cs typeface="Tahoma"/>
              </a:rPr>
              <a:t>K</a:t>
            </a:r>
            <a:r>
              <a:rPr sz="800" spc="25" dirty="0">
                <a:cs typeface="Tahoma"/>
              </a:rPr>
              <a:t>E</a:t>
            </a:r>
            <a:r>
              <a:rPr sz="800" spc="80" dirty="0">
                <a:cs typeface="Tahoma"/>
              </a:rPr>
              <a:t>N</a:t>
            </a:r>
            <a:r>
              <a:rPr sz="800" spc="-75" dirty="0">
                <a:cs typeface="Tahoma"/>
              </a:rPr>
              <a:t> </a:t>
            </a:r>
            <a:r>
              <a:rPr sz="800" spc="25" dirty="0">
                <a:cs typeface="Tahoma"/>
              </a:rPr>
              <a:t>1</a:t>
            </a:r>
            <a:endParaRPr sz="800">
              <a:cs typeface="Tahoma"/>
            </a:endParaRPr>
          </a:p>
        </p:txBody>
      </p:sp>
      <p:grpSp>
        <p:nvGrpSpPr>
          <p:cNvPr id="25" name="object 25"/>
          <p:cNvGrpSpPr/>
          <p:nvPr/>
        </p:nvGrpSpPr>
        <p:grpSpPr>
          <a:xfrm>
            <a:off x="10421011" y="2895836"/>
            <a:ext cx="1109980" cy="1932939"/>
            <a:chOff x="10087609" y="2981960"/>
            <a:chExt cx="1109980" cy="1932939"/>
          </a:xfrm>
        </p:grpSpPr>
        <p:sp>
          <p:nvSpPr>
            <p:cNvPr id="26" name="object 26"/>
            <p:cNvSpPr/>
            <p:nvPr/>
          </p:nvSpPr>
          <p:spPr>
            <a:xfrm>
              <a:off x="10093959" y="2988310"/>
              <a:ext cx="1097280" cy="213360"/>
            </a:xfrm>
            <a:custGeom>
              <a:avLst/>
              <a:gdLst/>
              <a:ahLst/>
              <a:cxnLst/>
              <a:rect l="l" t="t" r="r" b="b"/>
              <a:pathLst>
                <a:path w="1097279" h="213360">
                  <a:moveTo>
                    <a:pt x="1097241" y="0"/>
                  </a:moveTo>
                  <a:lnTo>
                    <a:pt x="0" y="0"/>
                  </a:lnTo>
                  <a:lnTo>
                    <a:pt x="0" y="213360"/>
                  </a:lnTo>
                  <a:lnTo>
                    <a:pt x="1097241" y="213360"/>
                  </a:lnTo>
                  <a:lnTo>
                    <a:pt x="1097241" y="0"/>
                  </a:lnTo>
                  <a:close/>
                </a:path>
              </a:pathLst>
            </a:custGeom>
            <a:solidFill>
              <a:srgbClr val="FFAD78"/>
            </a:solidFill>
          </p:spPr>
          <p:txBody>
            <a:bodyPr wrap="square" lIns="0" tIns="0" rIns="0" bIns="0" rtlCol="0"/>
            <a:lstStyle/>
            <a:p>
              <a:endParaRPr/>
            </a:p>
          </p:txBody>
        </p:sp>
        <p:sp>
          <p:nvSpPr>
            <p:cNvPr id="27" name="object 27"/>
            <p:cNvSpPr/>
            <p:nvPr/>
          </p:nvSpPr>
          <p:spPr>
            <a:xfrm>
              <a:off x="10087609" y="3195320"/>
              <a:ext cx="1109980" cy="12700"/>
            </a:xfrm>
            <a:custGeom>
              <a:avLst/>
              <a:gdLst/>
              <a:ahLst/>
              <a:cxnLst/>
              <a:rect l="l" t="t" r="r" b="b"/>
              <a:pathLst>
                <a:path w="1109979" h="12700">
                  <a:moveTo>
                    <a:pt x="0" y="12700"/>
                  </a:moveTo>
                  <a:lnTo>
                    <a:pt x="1109980" y="12700"/>
                  </a:lnTo>
                  <a:lnTo>
                    <a:pt x="1109980" y="0"/>
                  </a:lnTo>
                  <a:lnTo>
                    <a:pt x="0" y="0"/>
                  </a:lnTo>
                  <a:lnTo>
                    <a:pt x="0" y="12700"/>
                  </a:lnTo>
                  <a:close/>
                </a:path>
              </a:pathLst>
            </a:custGeom>
            <a:solidFill>
              <a:srgbClr val="000000"/>
            </a:solidFill>
          </p:spPr>
          <p:txBody>
            <a:bodyPr wrap="square" lIns="0" tIns="0" rIns="0" bIns="0" rtlCol="0"/>
            <a:lstStyle/>
            <a:p>
              <a:endParaRPr/>
            </a:p>
          </p:txBody>
        </p:sp>
        <p:sp>
          <p:nvSpPr>
            <p:cNvPr id="28" name="object 28"/>
            <p:cNvSpPr/>
            <p:nvPr/>
          </p:nvSpPr>
          <p:spPr>
            <a:xfrm>
              <a:off x="10093959"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29" name="object 29"/>
            <p:cNvSpPr/>
            <p:nvPr/>
          </p:nvSpPr>
          <p:spPr>
            <a:xfrm>
              <a:off x="10093959" y="3201670"/>
              <a:ext cx="0" cy="1713230"/>
            </a:xfrm>
            <a:custGeom>
              <a:avLst/>
              <a:gdLst/>
              <a:ahLst/>
              <a:cxnLst/>
              <a:rect l="l" t="t" r="r" b="b"/>
              <a:pathLst>
                <a:path h="1713229">
                  <a:moveTo>
                    <a:pt x="0" y="0"/>
                  </a:moveTo>
                  <a:lnTo>
                    <a:pt x="0" y="1713229"/>
                  </a:lnTo>
                </a:path>
              </a:pathLst>
            </a:custGeom>
            <a:ln w="12700">
              <a:solidFill>
                <a:srgbClr val="FFFFFF"/>
              </a:solidFill>
            </a:ln>
          </p:spPr>
          <p:txBody>
            <a:bodyPr wrap="square" lIns="0" tIns="0" rIns="0" bIns="0" rtlCol="0"/>
            <a:lstStyle/>
            <a:p>
              <a:endParaRPr/>
            </a:p>
          </p:txBody>
        </p:sp>
        <p:sp>
          <p:nvSpPr>
            <p:cNvPr id="30" name="object 30"/>
            <p:cNvSpPr/>
            <p:nvPr/>
          </p:nvSpPr>
          <p:spPr>
            <a:xfrm>
              <a:off x="11191239"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31" name="object 31"/>
            <p:cNvSpPr/>
            <p:nvPr/>
          </p:nvSpPr>
          <p:spPr>
            <a:xfrm>
              <a:off x="10087609" y="3201670"/>
              <a:ext cx="1109980" cy="1713230"/>
            </a:xfrm>
            <a:custGeom>
              <a:avLst/>
              <a:gdLst/>
              <a:ahLst/>
              <a:cxnLst/>
              <a:rect l="l" t="t" r="r" b="b"/>
              <a:pathLst>
                <a:path w="1109979" h="1713229">
                  <a:moveTo>
                    <a:pt x="1103630" y="0"/>
                  </a:moveTo>
                  <a:lnTo>
                    <a:pt x="1103630" y="1713229"/>
                  </a:lnTo>
                </a:path>
                <a:path w="1109979" h="1713229">
                  <a:moveTo>
                    <a:pt x="0" y="1706879"/>
                  </a:moveTo>
                  <a:lnTo>
                    <a:pt x="1109980" y="1706879"/>
                  </a:lnTo>
                </a:path>
              </a:pathLst>
            </a:custGeom>
            <a:ln w="12700">
              <a:solidFill>
                <a:srgbClr val="FFFFFF"/>
              </a:solidFill>
            </a:ln>
          </p:spPr>
          <p:txBody>
            <a:bodyPr wrap="square" lIns="0" tIns="0" rIns="0" bIns="0" rtlCol="0"/>
            <a:lstStyle/>
            <a:p>
              <a:endParaRPr/>
            </a:p>
          </p:txBody>
        </p:sp>
      </p:grpSp>
      <p:sp>
        <p:nvSpPr>
          <p:cNvPr id="32" name="object 32"/>
          <p:cNvSpPr txBox="1"/>
          <p:nvPr/>
        </p:nvSpPr>
        <p:spPr>
          <a:xfrm>
            <a:off x="10427361" y="2902186"/>
            <a:ext cx="1097280" cy="165430"/>
          </a:xfrm>
          <a:prstGeom prst="rect">
            <a:avLst/>
          </a:prstGeom>
          <a:solidFill>
            <a:srgbClr val="FFAD78"/>
          </a:solidFill>
          <a:ln w="12700">
            <a:solidFill>
              <a:srgbClr val="000000"/>
            </a:solidFill>
          </a:ln>
        </p:spPr>
        <p:txBody>
          <a:bodyPr vert="horz" wrap="square" lIns="0" tIns="41910" rIns="0" bIns="0" rtlCol="0">
            <a:spAutoFit/>
          </a:bodyPr>
          <a:lstStyle/>
          <a:p>
            <a:pPr marL="92710">
              <a:lnSpc>
                <a:spcPct val="100000"/>
              </a:lnSpc>
              <a:spcBef>
                <a:spcPts val="330"/>
              </a:spcBef>
            </a:pPr>
            <a:r>
              <a:rPr sz="800" spc="75" dirty="0">
                <a:cs typeface="Tahoma"/>
              </a:rPr>
              <a:t>OU</a:t>
            </a:r>
            <a:r>
              <a:rPr sz="800" spc="15" dirty="0">
                <a:cs typeface="Tahoma"/>
              </a:rPr>
              <a:t>TP</a:t>
            </a:r>
            <a:r>
              <a:rPr sz="800" spc="10" dirty="0">
                <a:cs typeface="Tahoma"/>
              </a:rPr>
              <a:t>U</a:t>
            </a:r>
            <a:r>
              <a:rPr sz="800" spc="-10" dirty="0">
                <a:cs typeface="Tahoma"/>
              </a:rPr>
              <a:t>T</a:t>
            </a:r>
            <a:r>
              <a:rPr sz="800" spc="-100" dirty="0">
                <a:cs typeface="Tahoma"/>
              </a:rPr>
              <a:t> </a:t>
            </a:r>
            <a:r>
              <a:rPr sz="800" spc="45" dirty="0">
                <a:cs typeface="Tahoma"/>
              </a:rPr>
              <a:t>TO</a:t>
            </a:r>
            <a:r>
              <a:rPr sz="800" spc="35" dirty="0">
                <a:cs typeface="Tahoma"/>
              </a:rPr>
              <a:t>K</a:t>
            </a:r>
            <a:r>
              <a:rPr sz="800" spc="25" dirty="0">
                <a:cs typeface="Tahoma"/>
              </a:rPr>
              <a:t>E</a:t>
            </a:r>
            <a:r>
              <a:rPr sz="800" spc="80" dirty="0">
                <a:cs typeface="Tahoma"/>
              </a:rPr>
              <a:t>N</a:t>
            </a:r>
            <a:r>
              <a:rPr sz="800" spc="-75" dirty="0">
                <a:cs typeface="Tahoma"/>
              </a:rPr>
              <a:t> </a:t>
            </a:r>
            <a:r>
              <a:rPr sz="800" spc="25" dirty="0">
                <a:cs typeface="Tahoma"/>
              </a:rPr>
              <a:t>1</a:t>
            </a:r>
            <a:endParaRPr sz="800">
              <a:cs typeface="Tahoma"/>
            </a:endParaRPr>
          </a:p>
        </p:txBody>
      </p:sp>
      <p:sp>
        <p:nvSpPr>
          <p:cNvPr id="33" name="object 33"/>
          <p:cNvSpPr/>
          <p:nvPr/>
        </p:nvSpPr>
        <p:spPr>
          <a:xfrm>
            <a:off x="722886" y="1773238"/>
            <a:ext cx="173990" cy="3621404"/>
          </a:xfrm>
          <a:custGeom>
            <a:avLst/>
            <a:gdLst/>
            <a:ahLst/>
            <a:cxnLst/>
            <a:rect l="l" t="t" r="r" b="b"/>
            <a:pathLst>
              <a:path w="173990" h="3621404">
                <a:moveTo>
                  <a:pt x="173736" y="3621024"/>
                </a:moveTo>
                <a:lnTo>
                  <a:pt x="106111" y="3619886"/>
                </a:lnTo>
                <a:lnTo>
                  <a:pt x="50887" y="3616785"/>
                </a:lnTo>
                <a:lnTo>
                  <a:pt x="13653" y="3612183"/>
                </a:lnTo>
                <a:lnTo>
                  <a:pt x="0" y="3606546"/>
                </a:lnTo>
                <a:lnTo>
                  <a:pt x="0" y="14478"/>
                </a:lnTo>
                <a:lnTo>
                  <a:pt x="13653" y="8840"/>
                </a:lnTo>
                <a:lnTo>
                  <a:pt x="50887" y="4238"/>
                </a:lnTo>
                <a:lnTo>
                  <a:pt x="106111" y="1137"/>
                </a:lnTo>
                <a:lnTo>
                  <a:pt x="173736" y="0"/>
                </a:lnTo>
              </a:path>
            </a:pathLst>
          </a:custGeom>
          <a:ln w="76200">
            <a:solidFill>
              <a:srgbClr val="4E91EF"/>
            </a:solidFill>
          </a:ln>
        </p:spPr>
        <p:txBody>
          <a:bodyPr wrap="square" lIns="0" tIns="0" rIns="0" bIns="0" rtlCol="0"/>
          <a:lstStyle/>
          <a:p>
            <a:endParaRPr/>
          </a:p>
        </p:txBody>
      </p:sp>
      <p:sp>
        <p:nvSpPr>
          <p:cNvPr id="34" name="object 34"/>
          <p:cNvSpPr/>
          <p:nvPr/>
        </p:nvSpPr>
        <p:spPr>
          <a:xfrm>
            <a:off x="7370573" y="1773238"/>
            <a:ext cx="173990" cy="3621404"/>
          </a:xfrm>
          <a:custGeom>
            <a:avLst/>
            <a:gdLst/>
            <a:ahLst/>
            <a:cxnLst/>
            <a:rect l="l" t="t" r="r" b="b"/>
            <a:pathLst>
              <a:path w="173990" h="3621404">
                <a:moveTo>
                  <a:pt x="0" y="0"/>
                </a:moveTo>
                <a:lnTo>
                  <a:pt x="67651" y="1137"/>
                </a:lnTo>
                <a:lnTo>
                  <a:pt x="122872" y="4238"/>
                </a:lnTo>
                <a:lnTo>
                  <a:pt x="160091" y="8840"/>
                </a:lnTo>
                <a:lnTo>
                  <a:pt x="173735" y="14478"/>
                </a:lnTo>
                <a:lnTo>
                  <a:pt x="173735" y="3606546"/>
                </a:lnTo>
                <a:lnTo>
                  <a:pt x="160091" y="3612183"/>
                </a:lnTo>
                <a:lnTo>
                  <a:pt x="122872" y="3616785"/>
                </a:lnTo>
                <a:lnTo>
                  <a:pt x="67651" y="3619886"/>
                </a:lnTo>
                <a:lnTo>
                  <a:pt x="0" y="3621024"/>
                </a:lnTo>
              </a:path>
            </a:pathLst>
          </a:custGeom>
          <a:ln w="76200">
            <a:solidFill>
              <a:srgbClr val="4E91EF"/>
            </a:solidFill>
          </a:ln>
        </p:spPr>
        <p:txBody>
          <a:bodyPr wrap="square" lIns="0" tIns="0" rIns="0" bIns="0" rtlCol="0"/>
          <a:lstStyle/>
          <a:p>
            <a:endParaRPr/>
          </a:p>
        </p:txBody>
      </p:sp>
      <p:sp>
        <p:nvSpPr>
          <p:cNvPr id="35" name="object 35"/>
          <p:cNvSpPr txBox="1"/>
          <p:nvPr/>
        </p:nvSpPr>
        <p:spPr>
          <a:xfrm>
            <a:off x="7493889" y="3648836"/>
            <a:ext cx="17335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𝑋</a:t>
            </a:r>
            <a:endParaRPr sz="1800">
              <a:cs typeface="Cambria Math"/>
            </a:endParaRPr>
          </a:p>
        </p:txBody>
      </p:sp>
      <p:sp>
        <p:nvSpPr>
          <p:cNvPr id="36" name="object 36"/>
          <p:cNvSpPr txBox="1"/>
          <p:nvPr/>
        </p:nvSpPr>
        <p:spPr>
          <a:xfrm>
            <a:off x="9858529" y="3562712"/>
            <a:ext cx="19621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a:t>
            </a:r>
            <a:endParaRPr sz="1800">
              <a:cs typeface="Cambria Math"/>
            </a:endParaRPr>
          </a:p>
        </p:txBody>
      </p:sp>
      <p:sp>
        <p:nvSpPr>
          <p:cNvPr id="37" name="object 37"/>
          <p:cNvSpPr txBox="1"/>
          <p:nvPr/>
        </p:nvSpPr>
        <p:spPr>
          <a:xfrm>
            <a:off x="1369468" y="2261299"/>
            <a:ext cx="18034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𝑄</a:t>
            </a:r>
            <a:endParaRPr sz="1800">
              <a:cs typeface="Cambria Math"/>
            </a:endParaRPr>
          </a:p>
        </p:txBody>
      </p:sp>
      <p:sp>
        <p:nvSpPr>
          <p:cNvPr id="38" name="object 38"/>
          <p:cNvSpPr txBox="1"/>
          <p:nvPr/>
        </p:nvSpPr>
        <p:spPr>
          <a:xfrm>
            <a:off x="3444750" y="2180909"/>
            <a:ext cx="351790" cy="299720"/>
          </a:xfrm>
          <a:prstGeom prst="rect">
            <a:avLst/>
          </a:prstGeom>
        </p:spPr>
        <p:txBody>
          <a:bodyPr vert="horz" wrap="square" lIns="0" tIns="12700" rIns="0" bIns="0" rtlCol="0">
            <a:spAutoFit/>
          </a:bodyPr>
          <a:lstStyle/>
          <a:p>
            <a:pPr marL="38100">
              <a:lnSpc>
                <a:spcPct val="100000"/>
              </a:lnSpc>
              <a:spcBef>
                <a:spcPts val="100"/>
              </a:spcBef>
            </a:pPr>
            <a:r>
              <a:rPr sz="2700" spc="97" baseline="-20061" dirty="0">
                <a:cs typeface="Cambria Math"/>
              </a:rPr>
              <a:t>𝐾</a:t>
            </a:r>
            <a:r>
              <a:rPr sz="1300" spc="65" dirty="0">
                <a:cs typeface="Cambria Math"/>
              </a:rPr>
              <a:t>𝑇</a:t>
            </a:r>
            <a:endParaRPr sz="1300">
              <a:cs typeface="Cambria Math"/>
            </a:endParaRPr>
          </a:p>
        </p:txBody>
      </p:sp>
      <p:sp>
        <p:nvSpPr>
          <p:cNvPr id="39" name="object 39"/>
          <p:cNvSpPr txBox="1"/>
          <p:nvPr/>
        </p:nvSpPr>
        <p:spPr>
          <a:xfrm>
            <a:off x="5902707" y="1712660"/>
            <a:ext cx="511809" cy="299720"/>
          </a:xfrm>
          <a:prstGeom prst="rect">
            <a:avLst/>
          </a:prstGeom>
        </p:spPr>
        <p:txBody>
          <a:bodyPr vert="horz" wrap="square" lIns="0" tIns="12700" rIns="0" bIns="0" rtlCol="0">
            <a:spAutoFit/>
          </a:bodyPr>
          <a:lstStyle/>
          <a:p>
            <a:pPr marL="38100">
              <a:lnSpc>
                <a:spcPct val="100000"/>
              </a:lnSpc>
              <a:spcBef>
                <a:spcPts val="100"/>
              </a:spcBef>
            </a:pPr>
            <a:r>
              <a:rPr sz="1800" spc="55" dirty="0">
                <a:cs typeface="Cambria Math"/>
              </a:rPr>
              <a:t>𝑄𝐾</a:t>
            </a:r>
            <a:r>
              <a:rPr sz="1950" spc="82" baseline="27777" dirty="0">
                <a:cs typeface="Cambria Math"/>
              </a:rPr>
              <a:t>𝑇</a:t>
            </a:r>
            <a:endParaRPr sz="1950" baseline="27777">
              <a:cs typeface="Cambria Math"/>
            </a:endParaRPr>
          </a:p>
        </p:txBody>
      </p:sp>
      <p:sp>
        <p:nvSpPr>
          <p:cNvPr id="40" name="object 40"/>
          <p:cNvSpPr txBox="1"/>
          <p:nvPr/>
        </p:nvSpPr>
        <p:spPr>
          <a:xfrm>
            <a:off x="8849259" y="2375516"/>
            <a:ext cx="16891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𝑉</a:t>
            </a:r>
            <a:endParaRPr sz="1800">
              <a:cs typeface="Cambria Math"/>
            </a:endParaRPr>
          </a:p>
        </p:txBody>
      </p:sp>
      <p:sp>
        <p:nvSpPr>
          <p:cNvPr id="41" name="object 41"/>
          <p:cNvSpPr txBox="1"/>
          <p:nvPr/>
        </p:nvSpPr>
        <p:spPr>
          <a:xfrm>
            <a:off x="10468763" y="2371326"/>
            <a:ext cx="1009650" cy="299720"/>
          </a:xfrm>
          <a:prstGeom prst="rect">
            <a:avLst/>
          </a:prstGeom>
        </p:spPr>
        <p:txBody>
          <a:bodyPr vert="horz" wrap="square" lIns="0" tIns="12700" rIns="0" bIns="0" rtlCol="0">
            <a:spAutoFit/>
          </a:bodyPr>
          <a:lstStyle/>
          <a:p>
            <a:pPr marL="12700">
              <a:lnSpc>
                <a:spcPct val="100000"/>
              </a:lnSpc>
              <a:spcBef>
                <a:spcPts val="100"/>
              </a:spcBef>
            </a:pPr>
            <a:r>
              <a:rPr sz="1800" spc="-5" dirty="0">
                <a:cs typeface="Cambria Math"/>
              </a:rPr>
              <a:t>𝐴𝑡</a:t>
            </a:r>
            <a:r>
              <a:rPr sz="1800" spc="-10" dirty="0">
                <a:cs typeface="Cambria Math"/>
              </a:rPr>
              <a:t>𝑡</a:t>
            </a:r>
            <a:r>
              <a:rPr sz="1800" spc="-5" dirty="0">
                <a:cs typeface="Cambria Math"/>
              </a:rPr>
              <a:t>𝑒</a:t>
            </a:r>
            <a:r>
              <a:rPr sz="1800" spc="-10" dirty="0">
                <a:cs typeface="Cambria Math"/>
              </a:rPr>
              <a:t>𝑛</a:t>
            </a:r>
            <a:r>
              <a:rPr sz="1800" dirty="0">
                <a:cs typeface="Cambria Math"/>
              </a:rPr>
              <a:t>𝑡𝑖𝑜𝑛</a:t>
            </a:r>
            <a:endParaRPr sz="1800">
              <a:cs typeface="Cambria Math"/>
            </a:endParaRPr>
          </a:p>
        </p:txBody>
      </p:sp>
      <p:sp>
        <p:nvSpPr>
          <p:cNvPr id="42" name="object 42"/>
          <p:cNvSpPr/>
          <p:nvPr/>
        </p:nvSpPr>
        <p:spPr>
          <a:xfrm>
            <a:off x="8684806" y="5654168"/>
            <a:ext cx="800100" cy="212090"/>
          </a:xfrm>
          <a:custGeom>
            <a:avLst/>
            <a:gdLst/>
            <a:ahLst/>
            <a:cxnLst/>
            <a:rect l="l" t="t" r="r" b="b"/>
            <a:pathLst>
              <a:path w="800100" h="212089">
                <a:moveTo>
                  <a:pt x="732408" y="0"/>
                </a:moveTo>
                <a:lnTo>
                  <a:pt x="729360" y="8597"/>
                </a:lnTo>
                <a:lnTo>
                  <a:pt x="741628" y="13915"/>
                </a:lnTo>
                <a:lnTo>
                  <a:pt x="752157" y="21277"/>
                </a:lnTo>
                <a:lnTo>
                  <a:pt x="773596" y="55406"/>
                </a:lnTo>
                <a:lnTo>
                  <a:pt x="780668" y="104813"/>
                </a:lnTo>
                <a:lnTo>
                  <a:pt x="779883" y="123484"/>
                </a:lnTo>
                <a:lnTo>
                  <a:pt x="768096" y="169214"/>
                </a:lnTo>
                <a:lnTo>
                  <a:pt x="741789" y="197805"/>
                </a:lnTo>
                <a:lnTo>
                  <a:pt x="729741" y="203149"/>
                </a:lnTo>
                <a:lnTo>
                  <a:pt x="732408" y="211747"/>
                </a:lnTo>
                <a:lnTo>
                  <a:pt x="772824" y="187703"/>
                </a:lnTo>
                <a:lnTo>
                  <a:pt x="795591" y="143335"/>
                </a:lnTo>
                <a:lnTo>
                  <a:pt x="799973" y="105930"/>
                </a:lnTo>
                <a:lnTo>
                  <a:pt x="798877" y="86513"/>
                </a:lnTo>
                <a:lnTo>
                  <a:pt x="782447" y="37109"/>
                </a:lnTo>
                <a:lnTo>
                  <a:pt x="747746" y="5541"/>
                </a:lnTo>
                <a:lnTo>
                  <a:pt x="732408" y="0"/>
                </a:lnTo>
                <a:close/>
              </a:path>
              <a:path w="800100" h="212089">
                <a:moveTo>
                  <a:pt x="67563" y="0"/>
                </a:moveTo>
                <a:lnTo>
                  <a:pt x="27112" y="24095"/>
                </a:lnTo>
                <a:lnTo>
                  <a:pt x="4365" y="68572"/>
                </a:lnTo>
                <a:lnTo>
                  <a:pt x="0" y="105930"/>
                </a:lnTo>
                <a:lnTo>
                  <a:pt x="1093" y="125383"/>
                </a:lnTo>
                <a:lnTo>
                  <a:pt x="17399" y="174739"/>
                </a:lnTo>
                <a:lnTo>
                  <a:pt x="52135" y="206205"/>
                </a:lnTo>
                <a:lnTo>
                  <a:pt x="67563" y="211747"/>
                </a:lnTo>
                <a:lnTo>
                  <a:pt x="70230" y="203149"/>
                </a:lnTo>
                <a:lnTo>
                  <a:pt x="58130" y="197805"/>
                </a:lnTo>
                <a:lnTo>
                  <a:pt x="47720" y="190368"/>
                </a:lnTo>
                <a:lnTo>
                  <a:pt x="26376" y="155687"/>
                </a:lnTo>
                <a:lnTo>
                  <a:pt x="19303" y="104813"/>
                </a:lnTo>
                <a:lnTo>
                  <a:pt x="20089" y="86744"/>
                </a:lnTo>
                <a:lnTo>
                  <a:pt x="31876" y="42138"/>
                </a:lnTo>
                <a:lnTo>
                  <a:pt x="58291" y="13915"/>
                </a:lnTo>
                <a:lnTo>
                  <a:pt x="70484" y="8597"/>
                </a:lnTo>
                <a:lnTo>
                  <a:pt x="67563" y="0"/>
                </a:lnTo>
                <a:close/>
              </a:path>
            </a:pathLst>
          </a:custGeom>
          <a:solidFill>
            <a:srgbClr val="000000"/>
          </a:solidFill>
        </p:spPr>
        <p:txBody>
          <a:bodyPr wrap="square" lIns="0" tIns="0" rIns="0" bIns="0" rtlCol="0"/>
          <a:lstStyle/>
          <a:p>
            <a:endParaRPr/>
          </a:p>
        </p:txBody>
      </p:sp>
      <p:sp>
        <p:nvSpPr>
          <p:cNvPr id="43" name="object 43"/>
          <p:cNvSpPr txBox="1"/>
          <p:nvPr/>
        </p:nvSpPr>
        <p:spPr>
          <a:xfrm>
            <a:off x="7660805" y="5584419"/>
            <a:ext cx="1894713" cy="289823"/>
          </a:xfrm>
          <a:prstGeom prst="rect">
            <a:avLst/>
          </a:prstGeom>
        </p:spPr>
        <p:txBody>
          <a:bodyPr vert="horz" wrap="square" lIns="0" tIns="12700" rIns="0" bIns="0" rtlCol="0">
            <a:spAutoFit/>
          </a:bodyPr>
          <a:lstStyle/>
          <a:p>
            <a:pPr marL="12700">
              <a:lnSpc>
                <a:spcPct val="100000"/>
              </a:lnSpc>
              <a:spcBef>
                <a:spcPts val="100"/>
              </a:spcBef>
            </a:pPr>
            <a:r>
              <a:rPr sz="1800" spc="-5" dirty="0">
                <a:cs typeface="Cambria Math"/>
              </a:rPr>
              <a:t>𝐴𝑡</a:t>
            </a:r>
            <a:r>
              <a:rPr sz="1800" spc="-10" dirty="0">
                <a:cs typeface="Cambria Math"/>
              </a:rPr>
              <a:t>𝑡</a:t>
            </a:r>
            <a:r>
              <a:rPr sz="1800" spc="-5" dirty="0">
                <a:cs typeface="Cambria Math"/>
              </a:rPr>
              <a:t>𝑒</a:t>
            </a:r>
            <a:r>
              <a:rPr sz="1800" spc="-10" dirty="0">
                <a:cs typeface="Cambria Math"/>
              </a:rPr>
              <a:t>𝑛</a:t>
            </a:r>
            <a:r>
              <a:rPr sz="1800" spc="5" dirty="0">
                <a:cs typeface="Cambria Math"/>
              </a:rPr>
              <a:t>𝑡</a:t>
            </a:r>
            <a:r>
              <a:rPr sz="1800" dirty="0">
                <a:cs typeface="Cambria Math"/>
              </a:rPr>
              <a:t>𝑖𝑜𝑛 </a:t>
            </a:r>
            <a:r>
              <a:rPr sz="1800" spc="5" dirty="0">
                <a:cs typeface="Cambria Math"/>
              </a:rPr>
              <a:t> </a:t>
            </a:r>
            <a:r>
              <a:rPr sz="1800" spc="40" dirty="0">
                <a:cs typeface="Cambria Math"/>
              </a:rPr>
              <a:t>𝑄</a:t>
            </a:r>
            <a:r>
              <a:rPr sz="1800" dirty="0">
                <a:cs typeface="Cambria Math"/>
              </a:rPr>
              <a:t>,</a:t>
            </a:r>
            <a:r>
              <a:rPr sz="1800" spc="-85" dirty="0">
                <a:cs typeface="Cambria Math"/>
              </a:rPr>
              <a:t> </a:t>
            </a:r>
            <a:r>
              <a:rPr sz="1800" spc="50" dirty="0">
                <a:cs typeface="Cambria Math"/>
              </a:rPr>
              <a:t>𝐾</a:t>
            </a:r>
            <a:r>
              <a:rPr sz="1800" dirty="0">
                <a:cs typeface="Cambria Math"/>
              </a:rPr>
              <a:t>,</a:t>
            </a:r>
            <a:r>
              <a:rPr sz="1800" spc="-85" dirty="0">
                <a:cs typeface="Cambria Math"/>
              </a:rPr>
              <a:t> </a:t>
            </a:r>
            <a:r>
              <a:rPr sz="1800" dirty="0">
                <a:cs typeface="Cambria Math"/>
              </a:rPr>
              <a:t>𝑉</a:t>
            </a:r>
          </a:p>
        </p:txBody>
      </p:sp>
      <p:sp>
        <p:nvSpPr>
          <p:cNvPr id="44" name="object 44"/>
          <p:cNvSpPr txBox="1"/>
          <p:nvPr/>
        </p:nvSpPr>
        <p:spPr>
          <a:xfrm>
            <a:off x="9555518" y="5584419"/>
            <a:ext cx="103886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a:t>
            </a:r>
            <a:r>
              <a:rPr sz="1800" spc="45" dirty="0">
                <a:cs typeface="Cambria Math"/>
              </a:rPr>
              <a:t> </a:t>
            </a:r>
            <a:r>
              <a:rPr sz="1800" spc="-5" dirty="0">
                <a:cs typeface="Cambria Math"/>
              </a:rPr>
              <a:t>softmax</a:t>
            </a:r>
            <a:endParaRPr sz="1800">
              <a:cs typeface="Cambria Math"/>
            </a:endParaRPr>
          </a:p>
        </p:txBody>
      </p:sp>
      <p:sp>
        <p:nvSpPr>
          <p:cNvPr id="45" name="object 45"/>
          <p:cNvSpPr/>
          <p:nvPr/>
        </p:nvSpPr>
        <p:spPr>
          <a:xfrm>
            <a:off x="10637812" y="5421542"/>
            <a:ext cx="693420" cy="675640"/>
          </a:xfrm>
          <a:custGeom>
            <a:avLst/>
            <a:gdLst/>
            <a:ahLst/>
            <a:cxnLst/>
            <a:rect l="l" t="t" r="r" b="b"/>
            <a:pathLst>
              <a:path w="693420" h="675639">
                <a:moveTo>
                  <a:pt x="114173" y="7924"/>
                </a:moveTo>
                <a:lnTo>
                  <a:pt x="62166" y="58623"/>
                </a:lnTo>
                <a:lnTo>
                  <a:pt x="43865" y="94830"/>
                </a:lnTo>
                <a:lnTo>
                  <a:pt x="28321" y="135610"/>
                </a:lnTo>
                <a:lnTo>
                  <a:pt x="15963" y="180543"/>
                </a:lnTo>
                <a:lnTo>
                  <a:pt x="7112" y="229133"/>
                </a:lnTo>
                <a:lnTo>
                  <a:pt x="1778" y="281393"/>
                </a:lnTo>
                <a:lnTo>
                  <a:pt x="0" y="337312"/>
                </a:lnTo>
                <a:lnTo>
                  <a:pt x="1778" y="393636"/>
                </a:lnTo>
                <a:lnTo>
                  <a:pt x="7112" y="446176"/>
                </a:lnTo>
                <a:lnTo>
                  <a:pt x="15963" y="494931"/>
                </a:lnTo>
                <a:lnTo>
                  <a:pt x="28321" y="539902"/>
                </a:lnTo>
                <a:lnTo>
                  <a:pt x="43865" y="580707"/>
                </a:lnTo>
                <a:lnTo>
                  <a:pt x="62166" y="616902"/>
                </a:lnTo>
                <a:lnTo>
                  <a:pt x="107061" y="675525"/>
                </a:lnTo>
                <a:lnTo>
                  <a:pt x="114173" y="667600"/>
                </a:lnTo>
                <a:lnTo>
                  <a:pt x="92976" y="640156"/>
                </a:lnTo>
                <a:lnTo>
                  <a:pt x="74549" y="608368"/>
                </a:lnTo>
                <a:lnTo>
                  <a:pt x="58877" y="572236"/>
                </a:lnTo>
                <a:lnTo>
                  <a:pt x="45974" y="531761"/>
                </a:lnTo>
                <a:lnTo>
                  <a:pt x="35814" y="487641"/>
                </a:lnTo>
                <a:lnTo>
                  <a:pt x="28600" y="440575"/>
                </a:lnTo>
                <a:lnTo>
                  <a:pt x="24282" y="390537"/>
                </a:lnTo>
                <a:lnTo>
                  <a:pt x="22860" y="337312"/>
                </a:lnTo>
                <a:lnTo>
                  <a:pt x="24282" y="284797"/>
                </a:lnTo>
                <a:lnTo>
                  <a:pt x="28600" y="234924"/>
                </a:lnTo>
                <a:lnTo>
                  <a:pt x="35814" y="187934"/>
                </a:lnTo>
                <a:lnTo>
                  <a:pt x="45974" y="143814"/>
                </a:lnTo>
                <a:lnTo>
                  <a:pt x="58877" y="103327"/>
                </a:lnTo>
                <a:lnTo>
                  <a:pt x="74549" y="67183"/>
                </a:lnTo>
                <a:lnTo>
                  <a:pt x="92976" y="35382"/>
                </a:lnTo>
                <a:lnTo>
                  <a:pt x="114173" y="7924"/>
                </a:lnTo>
                <a:close/>
              </a:path>
              <a:path w="693420" h="675639">
                <a:moveTo>
                  <a:pt x="572008" y="329907"/>
                </a:moveTo>
                <a:lnTo>
                  <a:pt x="120904" y="329907"/>
                </a:lnTo>
                <a:lnTo>
                  <a:pt x="120904" y="345147"/>
                </a:lnTo>
                <a:lnTo>
                  <a:pt x="572008" y="345147"/>
                </a:lnTo>
                <a:lnTo>
                  <a:pt x="572008" y="329907"/>
                </a:lnTo>
                <a:close/>
              </a:path>
              <a:path w="693420" h="675639">
                <a:moveTo>
                  <a:pt x="693420" y="337312"/>
                </a:moveTo>
                <a:lnTo>
                  <a:pt x="691654" y="281393"/>
                </a:lnTo>
                <a:lnTo>
                  <a:pt x="686346" y="229133"/>
                </a:lnTo>
                <a:lnTo>
                  <a:pt x="677506" y="180543"/>
                </a:lnTo>
                <a:lnTo>
                  <a:pt x="665099" y="135610"/>
                </a:lnTo>
                <a:lnTo>
                  <a:pt x="649592" y="94830"/>
                </a:lnTo>
                <a:lnTo>
                  <a:pt x="631291" y="58623"/>
                </a:lnTo>
                <a:lnTo>
                  <a:pt x="586359" y="0"/>
                </a:lnTo>
                <a:lnTo>
                  <a:pt x="579247" y="7924"/>
                </a:lnTo>
                <a:lnTo>
                  <a:pt x="600430" y="35382"/>
                </a:lnTo>
                <a:lnTo>
                  <a:pt x="618883" y="67183"/>
                </a:lnTo>
                <a:lnTo>
                  <a:pt x="634580" y="103327"/>
                </a:lnTo>
                <a:lnTo>
                  <a:pt x="647573" y="143814"/>
                </a:lnTo>
                <a:lnTo>
                  <a:pt x="657656" y="187934"/>
                </a:lnTo>
                <a:lnTo>
                  <a:pt x="664883" y="234924"/>
                </a:lnTo>
                <a:lnTo>
                  <a:pt x="669226" y="284797"/>
                </a:lnTo>
                <a:lnTo>
                  <a:pt x="670687" y="337540"/>
                </a:lnTo>
                <a:lnTo>
                  <a:pt x="669226" y="390537"/>
                </a:lnTo>
                <a:lnTo>
                  <a:pt x="664883" y="440575"/>
                </a:lnTo>
                <a:lnTo>
                  <a:pt x="657656" y="487641"/>
                </a:lnTo>
                <a:lnTo>
                  <a:pt x="647573" y="531761"/>
                </a:lnTo>
                <a:lnTo>
                  <a:pt x="634580" y="572236"/>
                </a:lnTo>
                <a:lnTo>
                  <a:pt x="618883" y="608368"/>
                </a:lnTo>
                <a:lnTo>
                  <a:pt x="579247" y="667600"/>
                </a:lnTo>
                <a:lnTo>
                  <a:pt x="586359" y="675525"/>
                </a:lnTo>
                <a:lnTo>
                  <a:pt x="631291" y="616902"/>
                </a:lnTo>
                <a:lnTo>
                  <a:pt x="649592" y="580707"/>
                </a:lnTo>
                <a:lnTo>
                  <a:pt x="665099" y="539902"/>
                </a:lnTo>
                <a:lnTo>
                  <a:pt x="677506" y="494931"/>
                </a:lnTo>
                <a:lnTo>
                  <a:pt x="686346" y="446176"/>
                </a:lnTo>
                <a:lnTo>
                  <a:pt x="691654" y="393636"/>
                </a:lnTo>
                <a:lnTo>
                  <a:pt x="693420" y="337312"/>
                </a:lnTo>
                <a:close/>
              </a:path>
            </a:pathLst>
          </a:custGeom>
          <a:solidFill>
            <a:srgbClr val="000000"/>
          </a:solidFill>
        </p:spPr>
        <p:txBody>
          <a:bodyPr wrap="square" lIns="0" tIns="0" rIns="0" bIns="0" rtlCol="0"/>
          <a:lstStyle/>
          <a:p>
            <a:endParaRPr/>
          </a:p>
        </p:txBody>
      </p:sp>
      <p:sp>
        <p:nvSpPr>
          <p:cNvPr id="46" name="object 46"/>
          <p:cNvSpPr txBox="1"/>
          <p:nvPr/>
        </p:nvSpPr>
        <p:spPr>
          <a:xfrm>
            <a:off x="10722140" y="5410683"/>
            <a:ext cx="513080" cy="299720"/>
          </a:xfrm>
          <a:prstGeom prst="rect">
            <a:avLst/>
          </a:prstGeom>
        </p:spPr>
        <p:txBody>
          <a:bodyPr vert="horz" wrap="square" lIns="0" tIns="12700" rIns="0" bIns="0" rtlCol="0">
            <a:spAutoFit/>
          </a:bodyPr>
          <a:lstStyle/>
          <a:p>
            <a:pPr marL="38100">
              <a:lnSpc>
                <a:spcPct val="100000"/>
              </a:lnSpc>
              <a:spcBef>
                <a:spcPts val="100"/>
              </a:spcBef>
            </a:pPr>
            <a:r>
              <a:rPr sz="1800" spc="60" dirty="0">
                <a:cs typeface="Cambria Math"/>
              </a:rPr>
              <a:t>𝑄𝐾</a:t>
            </a:r>
            <a:r>
              <a:rPr sz="1950" spc="89" baseline="27777" dirty="0">
                <a:cs typeface="Cambria Math"/>
              </a:rPr>
              <a:t>𝑇</a:t>
            </a:r>
            <a:endParaRPr sz="1950" baseline="27777">
              <a:cs typeface="Cambria Math"/>
            </a:endParaRPr>
          </a:p>
        </p:txBody>
      </p:sp>
      <p:sp>
        <p:nvSpPr>
          <p:cNvPr id="47" name="object 47"/>
          <p:cNvSpPr/>
          <p:nvPr/>
        </p:nvSpPr>
        <p:spPr>
          <a:xfrm>
            <a:off x="10779290" y="5809362"/>
            <a:ext cx="414020" cy="285115"/>
          </a:xfrm>
          <a:custGeom>
            <a:avLst/>
            <a:gdLst/>
            <a:ahLst/>
            <a:cxnLst/>
            <a:rect l="l" t="t" r="r" b="b"/>
            <a:pathLst>
              <a:path w="414020" h="285114">
                <a:moveTo>
                  <a:pt x="413766" y="0"/>
                </a:moveTo>
                <a:lnTo>
                  <a:pt x="165353" y="0"/>
                </a:lnTo>
                <a:lnTo>
                  <a:pt x="165353" y="749"/>
                </a:lnTo>
                <a:lnTo>
                  <a:pt x="143001" y="749"/>
                </a:lnTo>
                <a:lnTo>
                  <a:pt x="75311" y="254685"/>
                </a:lnTo>
                <a:lnTo>
                  <a:pt x="36702" y="168516"/>
                </a:lnTo>
                <a:lnTo>
                  <a:pt x="0" y="185254"/>
                </a:lnTo>
                <a:lnTo>
                  <a:pt x="3555" y="193636"/>
                </a:lnTo>
                <a:lnTo>
                  <a:pt x="22351" y="185254"/>
                </a:lnTo>
                <a:lnTo>
                  <a:pt x="68579" y="284606"/>
                </a:lnTo>
                <a:lnTo>
                  <a:pt x="79375" y="284606"/>
                </a:lnTo>
                <a:lnTo>
                  <a:pt x="152019" y="15595"/>
                </a:lnTo>
                <a:lnTo>
                  <a:pt x="174244" y="15595"/>
                </a:lnTo>
                <a:lnTo>
                  <a:pt x="174244" y="15240"/>
                </a:lnTo>
                <a:lnTo>
                  <a:pt x="413766" y="15240"/>
                </a:lnTo>
                <a:lnTo>
                  <a:pt x="413766" y="0"/>
                </a:lnTo>
                <a:close/>
              </a:path>
            </a:pathLst>
          </a:custGeom>
          <a:solidFill>
            <a:srgbClr val="000000"/>
          </a:solidFill>
        </p:spPr>
        <p:txBody>
          <a:bodyPr wrap="square" lIns="0" tIns="0" rIns="0" bIns="0" rtlCol="0"/>
          <a:lstStyle/>
          <a:p>
            <a:endParaRPr/>
          </a:p>
        </p:txBody>
      </p:sp>
      <p:sp>
        <p:nvSpPr>
          <p:cNvPr id="48" name="object 48"/>
          <p:cNvSpPr txBox="1"/>
          <p:nvPr/>
        </p:nvSpPr>
        <p:spPr>
          <a:xfrm>
            <a:off x="10908068" y="5782539"/>
            <a:ext cx="310515" cy="299720"/>
          </a:xfrm>
          <a:prstGeom prst="rect">
            <a:avLst/>
          </a:prstGeom>
        </p:spPr>
        <p:txBody>
          <a:bodyPr vert="horz" wrap="square" lIns="0" tIns="12700" rIns="0" bIns="0" rtlCol="0">
            <a:spAutoFit/>
          </a:bodyPr>
          <a:lstStyle/>
          <a:p>
            <a:pPr marL="38100">
              <a:lnSpc>
                <a:spcPct val="100000"/>
              </a:lnSpc>
              <a:spcBef>
                <a:spcPts val="100"/>
              </a:spcBef>
            </a:pPr>
            <a:r>
              <a:rPr sz="1800" spc="40" dirty="0">
                <a:cs typeface="Cambria Math"/>
              </a:rPr>
              <a:t>𝑑</a:t>
            </a:r>
            <a:r>
              <a:rPr sz="1950" spc="60" baseline="-14957" dirty="0">
                <a:cs typeface="Cambria Math"/>
              </a:rPr>
              <a:t>𝑘</a:t>
            </a:r>
            <a:endParaRPr sz="1950" baseline="-14957">
              <a:cs typeface="Cambria Math"/>
            </a:endParaRPr>
          </a:p>
        </p:txBody>
      </p:sp>
      <p:sp>
        <p:nvSpPr>
          <p:cNvPr id="49" name="object 49"/>
          <p:cNvSpPr txBox="1"/>
          <p:nvPr/>
        </p:nvSpPr>
        <p:spPr>
          <a:xfrm>
            <a:off x="11375428" y="5584419"/>
            <a:ext cx="16891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𝑉</a:t>
            </a:r>
            <a:endParaRPr sz="1800">
              <a:cs typeface="Cambria Math"/>
            </a:endParaRPr>
          </a:p>
        </p:txBody>
      </p:sp>
      <p:sp>
        <p:nvSpPr>
          <p:cNvPr id="50" name="object 50"/>
          <p:cNvSpPr txBox="1"/>
          <p:nvPr/>
        </p:nvSpPr>
        <p:spPr>
          <a:xfrm>
            <a:off x="1193903" y="4962717"/>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(1,</a:t>
            </a:r>
            <a:r>
              <a:rPr sz="1000" spc="-60" dirty="0">
                <a:cs typeface="Tahoma"/>
              </a:rPr>
              <a:t> </a:t>
            </a:r>
            <a:r>
              <a:rPr sz="1000" spc="25" dirty="0">
                <a:cs typeface="Tahoma"/>
              </a:rPr>
              <a:t>4096</a:t>
            </a:r>
            <a:r>
              <a:rPr sz="1000" spc="-85" dirty="0">
                <a:cs typeface="Tahoma"/>
              </a:rPr>
              <a:t>)</a:t>
            </a:r>
            <a:endParaRPr sz="1000">
              <a:cs typeface="Tahoma"/>
            </a:endParaRPr>
          </a:p>
        </p:txBody>
      </p:sp>
      <p:sp>
        <p:nvSpPr>
          <p:cNvPr id="51" name="object 51"/>
          <p:cNvSpPr txBox="1"/>
          <p:nvPr/>
        </p:nvSpPr>
        <p:spPr>
          <a:xfrm>
            <a:off x="3313431" y="4962717"/>
            <a:ext cx="531495" cy="166071"/>
          </a:xfrm>
          <a:prstGeom prst="rect">
            <a:avLst/>
          </a:prstGeom>
        </p:spPr>
        <p:txBody>
          <a:bodyPr vert="horz" wrap="square" lIns="0" tIns="12065" rIns="0" bIns="0" rtlCol="0">
            <a:spAutoFit/>
          </a:bodyPr>
          <a:lstStyle/>
          <a:p>
            <a:pPr marL="12700">
              <a:lnSpc>
                <a:spcPct val="100000"/>
              </a:lnSpc>
              <a:spcBef>
                <a:spcPts val="95"/>
              </a:spcBef>
            </a:pPr>
            <a:r>
              <a:rPr sz="1000" dirty="0">
                <a:cs typeface="Tahoma"/>
              </a:rPr>
              <a:t>(40</a:t>
            </a:r>
            <a:r>
              <a:rPr sz="1000" spc="-5" dirty="0">
                <a:cs typeface="Tahoma"/>
              </a:rPr>
              <a:t>9</a:t>
            </a:r>
            <a:r>
              <a:rPr sz="1000" spc="-15" dirty="0">
                <a:cs typeface="Tahoma"/>
              </a:rPr>
              <a:t>6</a:t>
            </a:r>
            <a:r>
              <a:rPr sz="1000" spc="-5" dirty="0">
                <a:cs typeface="Tahoma"/>
              </a:rPr>
              <a:t>,</a:t>
            </a:r>
            <a:r>
              <a:rPr sz="1000" spc="-75" dirty="0">
                <a:cs typeface="Tahoma"/>
              </a:rPr>
              <a:t> </a:t>
            </a:r>
            <a:r>
              <a:rPr sz="1000" spc="-35" dirty="0">
                <a:cs typeface="Tahoma"/>
              </a:rPr>
              <a:t>1)</a:t>
            </a:r>
            <a:endParaRPr sz="1000">
              <a:cs typeface="Tahoma"/>
            </a:endParaRPr>
          </a:p>
        </p:txBody>
      </p:sp>
      <p:sp>
        <p:nvSpPr>
          <p:cNvPr id="52" name="object 52"/>
          <p:cNvSpPr txBox="1"/>
          <p:nvPr/>
        </p:nvSpPr>
        <p:spPr>
          <a:xfrm>
            <a:off x="6007863" y="5836629"/>
            <a:ext cx="313690"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(1,</a:t>
            </a:r>
            <a:r>
              <a:rPr sz="1000" spc="-60" dirty="0">
                <a:cs typeface="Tahoma"/>
              </a:rPr>
              <a:t> </a:t>
            </a:r>
            <a:r>
              <a:rPr sz="1000" spc="-35" dirty="0">
                <a:cs typeface="Tahoma"/>
              </a:rPr>
              <a:t>1)</a:t>
            </a:r>
            <a:endParaRPr sz="1000">
              <a:cs typeface="Tahoma"/>
            </a:endParaRPr>
          </a:p>
        </p:txBody>
      </p:sp>
      <p:sp>
        <p:nvSpPr>
          <p:cNvPr id="53" name="object 53"/>
          <p:cNvSpPr txBox="1"/>
          <p:nvPr/>
        </p:nvSpPr>
        <p:spPr>
          <a:xfrm>
            <a:off x="8668538" y="5079092"/>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(1,</a:t>
            </a:r>
            <a:r>
              <a:rPr sz="1000" spc="-60" dirty="0">
                <a:cs typeface="Tahoma"/>
              </a:rPr>
              <a:t> </a:t>
            </a:r>
            <a:r>
              <a:rPr sz="1000" spc="25" dirty="0">
                <a:cs typeface="Tahoma"/>
              </a:rPr>
              <a:t>4096</a:t>
            </a:r>
            <a:r>
              <a:rPr sz="1000" spc="-85" dirty="0">
                <a:cs typeface="Tahoma"/>
              </a:rPr>
              <a:t>)</a:t>
            </a:r>
            <a:endParaRPr sz="1000">
              <a:cs typeface="Tahoma"/>
            </a:endParaRPr>
          </a:p>
        </p:txBody>
      </p:sp>
      <p:sp>
        <p:nvSpPr>
          <p:cNvPr id="54" name="object 54"/>
          <p:cNvSpPr txBox="1"/>
          <p:nvPr/>
        </p:nvSpPr>
        <p:spPr>
          <a:xfrm>
            <a:off x="10708032" y="5076934"/>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(1,</a:t>
            </a:r>
            <a:r>
              <a:rPr sz="1000" spc="-60" dirty="0">
                <a:cs typeface="Tahoma"/>
              </a:rPr>
              <a:t> </a:t>
            </a:r>
            <a:r>
              <a:rPr sz="1000" spc="25" dirty="0">
                <a:cs typeface="Tahoma"/>
              </a:rPr>
              <a:t>4096</a:t>
            </a:r>
            <a:r>
              <a:rPr sz="1000" spc="-85" dirty="0">
                <a:cs typeface="Tahoma"/>
              </a:rPr>
              <a:t>)</a:t>
            </a:r>
            <a:endParaRPr sz="1000">
              <a:cs typeface="Tahoma"/>
            </a:endParaRPr>
          </a:p>
        </p:txBody>
      </p:sp>
      <p:sp>
        <p:nvSpPr>
          <p:cNvPr id="55" name="object 55"/>
          <p:cNvSpPr txBox="1"/>
          <p:nvPr/>
        </p:nvSpPr>
        <p:spPr>
          <a:xfrm>
            <a:off x="674194" y="5820875"/>
            <a:ext cx="2042593" cy="321242"/>
          </a:xfrm>
          <a:prstGeom prst="rect">
            <a:avLst/>
          </a:prstGeom>
        </p:spPr>
        <p:txBody>
          <a:bodyPr vert="horz" wrap="square" lIns="0" tIns="13335" rIns="0" bIns="0" rtlCol="0">
            <a:spAutoFit/>
          </a:bodyPr>
          <a:lstStyle/>
          <a:p>
            <a:pPr marL="12700">
              <a:lnSpc>
                <a:spcPct val="100000"/>
              </a:lnSpc>
              <a:spcBef>
                <a:spcPts val="105"/>
              </a:spcBef>
            </a:pPr>
            <a:r>
              <a:rPr sz="2000" b="1" spc="10" dirty="0">
                <a:solidFill>
                  <a:srgbClr val="FF0000"/>
                </a:solidFill>
                <a:cs typeface="Tahoma"/>
              </a:rPr>
              <a:t>Inference</a:t>
            </a:r>
            <a:r>
              <a:rPr lang="en-US" sz="2000" b="1" dirty="0">
                <a:cs typeface="Tahoma"/>
              </a:rPr>
              <a:t> </a:t>
            </a:r>
            <a:r>
              <a:rPr sz="2000" b="1" spc="-30" dirty="0">
                <a:solidFill>
                  <a:srgbClr val="FF0000"/>
                </a:solidFill>
                <a:cs typeface="Tahoma"/>
              </a:rPr>
              <a:t>T</a:t>
            </a:r>
            <a:r>
              <a:rPr sz="2000" b="1" spc="-185" dirty="0">
                <a:solidFill>
                  <a:srgbClr val="FF0000"/>
                </a:solidFill>
                <a:cs typeface="Tahoma"/>
              </a:rPr>
              <a:t> </a:t>
            </a:r>
            <a:r>
              <a:rPr sz="2000" b="1" spc="-125" dirty="0">
                <a:solidFill>
                  <a:srgbClr val="FF0000"/>
                </a:solidFill>
                <a:cs typeface="Tahoma"/>
              </a:rPr>
              <a:t>=</a:t>
            </a:r>
            <a:r>
              <a:rPr sz="2000" b="1" spc="-114" dirty="0">
                <a:solidFill>
                  <a:srgbClr val="FF0000"/>
                </a:solidFill>
                <a:cs typeface="Tahoma"/>
              </a:rPr>
              <a:t> </a:t>
            </a:r>
            <a:r>
              <a:rPr sz="2000" b="1" spc="70" dirty="0">
                <a:solidFill>
                  <a:srgbClr val="FF0000"/>
                </a:solidFill>
                <a:cs typeface="Tahoma"/>
              </a:rPr>
              <a:t>1</a:t>
            </a:r>
            <a:endParaRPr sz="2000" b="1" dirty="0">
              <a:cs typeface="Tahoma"/>
            </a:endParaRPr>
          </a:p>
        </p:txBody>
      </p:sp>
      <p:sp>
        <p:nvSpPr>
          <p:cNvPr id="58" name="Title 1">
            <a:extLst>
              <a:ext uri="{FF2B5EF4-FFF2-40B4-BE49-F238E27FC236}">
                <a16:creationId xmlns:a16="http://schemas.microsoft.com/office/drawing/2014/main" id="{62E29639-8C2C-23F1-715A-AE3E349232A9}"/>
              </a:ext>
            </a:extLst>
          </p:cNvPr>
          <p:cNvSpPr txBox="1">
            <a:spLocks/>
          </p:cNvSpPr>
          <p:nvPr/>
        </p:nvSpPr>
        <p:spPr>
          <a:xfrm>
            <a:off x="669552" y="594335"/>
            <a:ext cx="10863635" cy="639153"/>
          </a:xfrm>
          <a:prstGeom prst="rect">
            <a:avLst/>
          </a:prstGeom>
        </p:spPr>
        <p:txBody>
          <a:bodyPr vert="horz" lIns="0" tIns="0" rIns="0" bIns="0" rtlCol="0" anchor="ctr">
            <a:normAutofit fontScale="97500"/>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US" dirty="0">
                <a:latin typeface="+mn-lt"/>
              </a:rPr>
              <a:t>Self-Attention with KV-Cache</a:t>
            </a:r>
            <a:endParaRPr lang="en-IN" dirty="0">
              <a:latin typeface="+mn-l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931775" y="2795271"/>
            <a:ext cx="1123315" cy="1945639"/>
            <a:chOff x="470001" y="2975610"/>
            <a:chExt cx="1123315" cy="1945639"/>
          </a:xfrm>
        </p:grpSpPr>
        <p:sp>
          <p:nvSpPr>
            <p:cNvPr id="4" name="object 4"/>
            <p:cNvSpPr/>
            <p:nvPr/>
          </p:nvSpPr>
          <p:spPr>
            <a:xfrm>
              <a:off x="482701" y="2988310"/>
              <a:ext cx="1097280" cy="213360"/>
            </a:xfrm>
            <a:custGeom>
              <a:avLst/>
              <a:gdLst/>
              <a:ahLst/>
              <a:cxnLst/>
              <a:rect l="l" t="t" r="r" b="b"/>
              <a:pathLst>
                <a:path w="1097280" h="213360">
                  <a:moveTo>
                    <a:pt x="1097241" y="0"/>
                  </a:moveTo>
                  <a:lnTo>
                    <a:pt x="0" y="0"/>
                  </a:lnTo>
                  <a:lnTo>
                    <a:pt x="0" y="213360"/>
                  </a:lnTo>
                  <a:lnTo>
                    <a:pt x="1097241" y="213360"/>
                  </a:lnTo>
                  <a:lnTo>
                    <a:pt x="1097241" y="0"/>
                  </a:lnTo>
                  <a:close/>
                </a:path>
              </a:pathLst>
            </a:custGeom>
            <a:solidFill>
              <a:srgbClr val="FBEBEA"/>
            </a:solidFill>
          </p:spPr>
          <p:txBody>
            <a:bodyPr wrap="square" lIns="0" tIns="0" rIns="0" bIns="0" rtlCol="0"/>
            <a:lstStyle/>
            <a:p>
              <a:endParaRPr/>
            </a:p>
          </p:txBody>
        </p:sp>
        <p:sp>
          <p:nvSpPr>
            <p:cNvPr id="5" name="object 5"/>
            <p:cNvSpPr/>
            <p:nvPr/>
          </p:nvSpPr>
          <p:spPr>
            <a:xfrm>
              <a:off x="476351" y="3195320"/>
              <a:ext cx="1110615" cy="12700"/>
            </a:xfrm>
            <a:custGeom>
              <a:avLst/>
              <a:gdLst/>
              <a:ahLst/>
              <a:cxnLst/>
              <a:rect l="l" t="t" r="r" b="b"/>
              <a:pathLst>
                <a:path w="1110615" h="12700">
                  <a:moveTo>
                    <a:pt x="0" y="12700"/>
                  </a:moveTo>
                  <a:lnTo>
                    <a:pt x="1110005" y="12700"/>
                  </a:lnTo>
                  <a:lnTo>
                    <a:pt x="1110005" y="0"/>
                  </a:lnTo>
                  <a:lnTo>
                    <a:pt x="0" y="0"/>
                  </a:lnTo>
                  <a:lnTo>
                    <a:pt x="0" y="12700"/>
                  </a:lnTo>
                  <a:close/>
                </a:path>
              </a:pathLst>
            </a:custGeom>
            <a:solidFill>
              <a:srgbClr val="000000"/>
            </a:solidFill>
          </p:spPr>
          <p:txBody>
            <a:bodyPr wrap="square" lIns="0" tIns="0" rIns="0" bIns="0" rtlCol="0"/>
            <a:lstStyle/>
            <a:p>
              <a:endParaRPr/>
            </a:p>
          </p:txBody>
        </p:sp>
        <p:sp>
          <p:nvSpPr>
            <p:cNvPr id="6" name="object 6"/>
            <p:cNvSpPr/>
            <p:nvPr/>
          </p:nvSpPr>
          <p:spPr>
            <a:xfrm>
              <a:off x="482701"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7" name="object 7"/>
            <p:cNvSpPr/>
            <p:nvPr/>
          </p:nvSpPr>
          <p:spPr>
            <a:xfrm>
              <a:off x="482701" y="3201670"/>
              <a:ext cx="0" cy="1713230"/>
            </a:xfrm>
            <a:custGeom>
              <a:avLst/>
              <a:gdLst/>
              <a:ahLst/>
              <a:cxnLst/>
              <a:rect l="l" t="t" r="r" b="b"/>
              <a:pathLst>
                <a:path h="1713229">
                  <a:moveTo>
                    <a:pt x="0" y="0"/>
                  </a:moveTo>
                  <a:lnTo>
                    <a:pt x="0" y="1713229"/>
                  </a:lnTo>
                </a:path>
              </a:pathLst>
            </a:custGeom>
            <a:ln w="12700">
              <a:solidFill>
                <a:srgbClr val="FFFFFF"/>
              </a:solidFill>
            </a:ln>
          </p:spPr>
          <p:txBody>
            <a:bodyPr wrap="square" lIns="0" tIns="0" rIns="0" bIns="0" rtlCol="0"/>
            <a:lstStyle/>
            <a:p>
              <a:endParaRPr/>
            </a:p>
          </p:txBody>
        </p:sp>
        <p:sp>
          <p:nvSpPr>
            <p:cNvPr id="8" name="object 8"/>
            <p:cNvSpPr/>
            <p:nvPr/>
          </p:nvSpPr>
          <p:spPr>
            <a:xfrm>
              <a:off x="1580006"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9" name="object 9"/>
            <p:cNvSpPr/>
            <p:nvPr/>
          </p:nvSpPr>
          <p:spPr>
            <a:xfrm>
              <a:off x="476351" y="3201670"/>
              <a:ext cx="1110615" cy="1713230"/>
            </a:xfrm>
            <a:custGeom>
              <a:avLst/>
              <a:gdLst/>
              <a:ahLst/>
              <a:cxnLst/>
              <a:rect l="l" t="t" r="r" b="b"/>
              <a:pathLst>
                <a:path w="1110615" h="1713229">
                  <a:moveTo>
                    <a:pt x="1103655" y="0"/>
                  </a:moveTo>
                  <a:lnTo>
                    <a:pt x="1103655" y="1713229"/>
                  </a:lnTo>
                </a:path>
                <a:path w="1110615" h="1713229">
                  <a:moveTo>
                    <a:pt x="0" y="1706879"/>
                  </a:moveTo>
                  <a:lnTo>
                    <a:pt x="1110005" y="1706879"/>
                  </a:lnTo>
                </a:path>
              </a:pathLst>
            </a:custGeom>
            <a:ln w="12700">
              <a:solidFill>
                <a:srgbClr val="FFFFFF"/>
              </a:solidFill>
            </a:ln>
          </p:spPr>
          <p:txBody>
            <a:bodyPr wrap="square" lIns="0" tIns="0" rIns="0" bIns="0" rtlCol="0"/>
            <a:lstStyle/>
            <a:p>
              <a:endParaRPr/>
            </a:p>
          </p:txBody>
        </p:sp>
      </p:grpSp>
      <p:sp>
        <p:nvSpPr>
          <p:cNvPr id="10" name="object 10"/>
          <p:cNvSpPr txBox="1"/>
          <p:nvPr/>
        </p:nvSpPr>
        <p:spPr>
          <a:xfrm>
            <a:off x="944475" y="2807971"/>
            <a:ext cx="1097915" cy="165430"/>
          </a:xfrm>
          <a:prstGeom prst="rect">
            <a:avLst/>
          </a:prstGeom>
          <a:solidFill>
            <a:srgbClr val="FBEBEA"/>
          </a:solidFill>
          <a:ln w="12700">
            <a:solidFill>
              <a:srgbClr val="000000"/>
            </a:solidFill>
          </a:ln>
        </p:spPr>
        <p:txBody>
          <a:bodyPr vert="horz" wrap="square" lIns="0" tIns="41910" rIns="0" bIns="0" rtlCol="0">
            <a:spAutoFit/>
          </a:bodyPr>
          <a:lstStyle/>
          <a:p>
            <a:pPr marL="91440">
              <a:lnSpc>
                <a:spcPct val="100000"/>
              </a:lnSpc>
              <a:spcBef>
                <a:spcPts val="330"/>
              </a:spcBef>
            </a:pPr>
            <a:r>
              <a:rPr sz="800" spc="45" dirty="0">
                <a:cs typeface="Tahoma"/>
              </a:rPr>
              <a:t>TO</a:t>
            </a:r>
            <a:r>
              <a:rPr sz="800" spc="35" dirty="0">
                <a:cs typeface="Tahoma"/>
              </a:rPr>
              <a:t>K</a:t>
            </a:r>
            <a:r>
              <a:rPr sz="800" spc="25" dirty="0">
                <a:cs typeface="Tahoma"/>
              </a:rPr>
              <a:t>E</a:t>
            </a:r>
            <a:r>
              <a:rPr sz="800" spc="80" dirty="0">
                <a:cs typeface="Tahoma"/>
              </a:rPr>
              <a:t>N</a:t>
            </a:r>
            <a:r>
              <a:rPr sz="800" spc="-75" dirty="0">
                <a:cs typeface="Tahoma"/>
              </a:rPr>
              <a:t> </a:t>
            </a:r>
            <a:r>
              <a:rPr sz="800" spc="25" dirty="0">
                <a:cs typeface="Tahoma"/>
              </a:rPr>
              <a:t>2</a:t>
            </a:r>
            <a:endParaRPr sz="800">
              <a:cs typeface="Tahoma"/>
            </a:endParaRPr>
          </a:p>
        </p:txBody>
      </p:sp>
      <p:graphicFrame>
        <p:nvGraphicFramePr>
          <p:cNvPr id="11" name="object 11"/>
          <p:cNvGraphicFramePr>
            <a:graphicFrameLocks noGrp="1"/>
          </p:cNvGraphicFramePr>
          <p:nvPr>
            <p:extLst>
              <p:ext uri="{D42A27DB-BD31-4B8C-83A1-F6EECF244321}">
                <p14:modId xmlns:p14="http://schemas.microsoft.com/office/powerpoint/2010/main" val="2546371720"/>
              </p:ext>
            </p:extLst>
          </p:nvPr>
        </p:nvGraphicFramePr>
        <p:xfrm>
          <a:off x="2668779" y="3004566"/>
          <a:ext cx="1880868" cy="1514348"/>
        </p:xfrm>
        <a:graphic>
          <a:graphicData uri="http://schemas.openxmlformats.org/drawingml/2006/table">
            <a:tbl>
              <a:tblPr firstRow="1" bandRow="1">
                <a:tableStyleId>{2D5ABB26-0587-4C30-8999-92F81FD0307C}</a:tableStyleId>
              </a:tblPr>
              <a:tblGrid>
                <a:gridCol w="208279">
                  <a:extLst>
                    <a:ext uri="{9D8B030D-6E8A-4147-A177-3AD203B41FA5}">
                      <a16:colId xmlns:a16="http://schemas.microsoft.com/office/drawing/2014/main" val="20000"/>
                    </a:ext>
                  </a:extLst>
                </a:gridCol>
                <a:gridCol w="208279">
                  <a:extLst>
                    <a:ext uri="{9D8B030D-6E8A-4147-A177-3AD203B41FA5}">
                      <a16:colId xmlns:a16="http://schemas.microsoft.com/office/drawing/2014/main" val="20001"/>
                    </a:ext>
                  </a:extLst>
                </a:gridCol>
                <a:gridCol w="1464310">
                  <a:extLst>
                    <a:ext uri="{9D8B030D-6E8A-4147-A177-3AD203B41FA5}">
                      <a16:colId xmlns:a16="http://schemas.microsoft.com/office/drawing/2014/main" val="20002"/>
                    </a:ext>
                  </a:extLst>
                </a:gridCol>
              </a:tblGrid>
              <a:tr h="1514348">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1</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2</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0"/>
                  </a:ext>
                </a:extLst>
              </a:tr>
            </a:tbl>
          </a:graphicData>
        </a:graphic>
      </p:graphicFrame>
      <p:sp>
        <p:nvSpPr>
          <p:cNvPr id="12" name="object 12"/>
          <p:cNvSpPr txBox="1"/>
          <p:nvPr/>
        </p:nvSpPr>
        <p:spPr>
          <a:xfrm>
            <a:off x="2268729" y="3468497"/>
            <a:ext cx="17335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𝑋</a:t>
            </a:r>
            <a:endParaRPr sz="1800">
              <a:cs typeface="Cambria Math"/>
            </a:endParaRPr>
          </a:p>
        </p:txBody>
      </p:sp>
      <p:sp>
        <p:nvSpPr>
          <p:cNvPr id="13" name="object 13"/>
          <p:cNvSpPr txBox="1"/>
          <p:nvPr/>
        </p:nvSpPr>
        <p:spPr>
          <a:xfrm>
            <a:off x="4776979" y="3468497"/>
            <a:ext cx="19621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a:t>
            </a:r>
            <a:endParaRPr sz="1800">
              <a:cs typeface="Cambria Math"/>
            </a:endParaRPr>
          </a:p>
        </p:txBody>
      </p:sp>
      <p:grpSp>
        <p:nvGrpSpPr>
          <p:cNvPr id="14" name="object 14"/>
          <p:cNvGrpSpPr/>
          <p:nvPr/>
        </p:nvGrpSpPr>
        <p:grpSpPr>
          <a:xfrm>
            <a:off x="5195190" y="2115821"/>
            <a:ext cx="2001520" cy="3329304"/>
            <a:chOff x="4733416" y="2296160"/>
            <a:chExt cx="2001520" cy="3329304"/>
          </a:xfrm>
        </p:grpSpPr>
        <p:sp>
          <p:nvSpPr>
            <p:cNvPr id="15" name="object 15"/>
            <p:cNvSpPr/>
            <p:nvPr/>
          </p:nvSpPr>
          <p:spPr>
            <a:xfrm>
              <a:off x="4739767" y="2302509"/>
              <a:ext cx="441959" cy="396240"/>
            </a:xfrm>
            <a:custGeom>
              <a:avLst/>
              <a:gdLst/>
              <a:ahLst/>
              <a:cxnLst/>
              <a:rect l="l" t="t" r="r" b="b"/>
              <a:pathLst>
                <a:path w="441960" h="396239">
                  <a:moveTo>
                    <a:pt x="208267" y="0"/>
                  </a:moveTo>
                  <a:lnTo>
                    <a:pt x="0" y="0"/>
                  </a:lnTo>
                  <a:lnTo>
                    <a:pt x="0" y="396240"/>
                  </a:lnTo>
                  <a:lnTo>
                    <a:pt x="208267" y="396240"/>
                  </a:lnTo>
                  <a:lnTo>
                    <a:pt x="208267" y="0"/>
                  </a:lnTo>
                  <a:close/>
                </a:path>
                <a:path w="441960" h="396239">
                  <a:moveTo>
                    <a:pt x="441921" y="0"/>
                  </a:moveTo>
                  <a:lnTo>
                    <a:pt x="208280" y="0"/>
                  </a:lnTo>
                  <a:lnTo>
                    <a:pt x="208280" y="396240"/>
                  </a:lnTo>
                  <a:lnTo>
                    <a:pt x="441921" y="396240"/>
                  </a:lnTo>
                  <a:lnTo>
                    <a:pt x="441921" y="0"/>
                  </a:lnTo>
                  <a:close/>
                </a:path>
              </a:pathLst>
            </a:custGeom>
            <a:solidFill>
              <a:srgbClr val="F4EEFD"/>
            </a:solidFill>
          </p:spPr>
          <p:txBody>
            <a:bodyPr wrap="square" lIns="0" tIns="0" rIns="0" bIns="0" rtlCol="0"/>
            <a:lstStyle/>
            <a:p>
              <a:endParaRPr/>
            </a:p>
          </p:txBody>
        </p:sp>
        <p:sp>
          <p:nvSpPr>
            <p:cNvPr id="16" name="object 16"/>
            <p:cNvSpPr/>
            <p:nvPr/>
          </p:nvSpPr>
          <p:spPr>
            <a:xfrm>
              <a:off x="4733416" y="2296160"/>
              <a:ext cx="448309" cy="402590"/>
            </a:xfrm>
            <a:custGeom>
              <a:avLst/>
              <a:gdLst/>
              <a:ahLst/>
              <a:cxnLst/>
              <a:rect l="l" t="t" r="r" b="b"/>
              <a:pathLst>
                <a:path w="448310" h="402589">
                  <a:moveTo>
                    <a:pt x="214630" y="0"/>
                  </a:moveTo>
                  <a:lnTo>
                    <a:pt x="214630" y="402589"/>
                  </a:lnTo>
                </a:path>
                <a:path w="448310" h="402589">
                  <a:moveTo>
                    <a:pt x="448310" y="0"/>
                  </a:moveTo>
                  <a:lnTo>
                    <a:pt x="448310" y="402589"/>
                  </a:lnTo>
                </a:path>
                <a:path w="448310" h="402589">
                  <a:moveTo>
                    <a:pt x="0" y="402589"/>
                  </a:moveTo>
                  <a:lnTo>
                    <a:pt x="448310" y="402589"/>
                  </a:lnTo>
                </a:path>
              </a:pathLst>
            </a:custGeom>
            <a:ln w="12700">
              <a:solidFill>
                <a:srgbClr val="000000"/>
              </a:solidFill>
            </a:ln>
          </p:spPr>
          <p:txBody>
            <a:bodyPr wrap="square" lIns="0" tIns="0" rIns="0" bIns="0" rtlCol="0"/>
            <a:lstStyle/>
            <a:p>
              <a:endParaRPr/>
            </a:p>
          </p:txBody>
        </p:sp>
        <p:sp>
          <p:nvSpPr>
            <p:cNvPr id="17" name="object 17"/>
            <p:cNvSpPr/>
            <p:nvPr/>
          </p:nvSpPr>
          <p:spPr>
            <a:xfrm>
              <a:off x="5181726" y="2698750"/>
              <a:ext cx="1553210" cy="0"/>
            </a:xfrm>
            <a:custGeom>
              <a:avLst/>
              <a:gdLst/>
              <a:ahLst/>
              <a:cxnLst/>
              <a:rect l="l" t="t" r="r" b="b"/>
              <a:pathLst>
                <a:path w="1553209">
                  <a:moveTo>
                    <a:pt x="0" y="0"/>
                  </a:moveTo>
                  <a:lnTo>
                    <a:pt x="1553082" y="0"/>
                  </a:lnTo>
                </a:path>
              </a:pathLst>
            </a:custGeom>
            <a:ln w="12700">
              <a:solidFill>
                <a:srgbClr val="FFFFFF"/>
              </a:solidFill>
            </a:ln>
          </p:spPr>
          <p:txBody>
            <a:bodyPr wrap="square" lIns="0" tIns="0" rIns="0" bIns="0" rtlCol="0"/>
            <a:lstStyle/>
            <a:p>
              <a:endParaRPr/>
            </a:p>
          </p:txBody>
        </p:sp>
        <p:sp>
          <p:nvSpPr>
            <p:cNvPr id="18" name="object 18"/>
            <p:cNvSpPr/>
            <p:nvPr/>
          </p:nvSpPr>
          <p:spPr>
            <a:xfrm>
              <a:off x="4739766" y="2296160"/>
              <a:ext cx="0" cy="402590"/>
            </a:xfrm>
            <a:custGeom>
              <a:avLst/>
              <a:gdLst/>
              <a:ahLst/>
              <a:cxnLst/>
              <a:rect l="l" t="t" r="r" b="b"/>
              <a:pathLst>
                <a:path h="402589">
                  <a:moveTo>
                    <a:pt x="0" y="0"/>
                  </a:moveTo>
                  <a:lnTo>
                    <a:pt x="0" y="402589"/>
                  </a:lnTo>
                </a:path>
              </a:pathLst>
            </a:custGeom>
            <a:ln w="12700">
              <a:solidFill>
                <a:srgbClr val="000000"/>
              </a:solidFill>
            </a:ln>
          </p:spPr>
          <p:txBody>
            <a:bodyPr wrap="square" lIns="0" tIns="0" rIns="0" bIns="0" rtlCol="0"/>
            <a:lstStyle/>
            <a:p>
              <a:endParaRPr/>
            </a:p>
          </p:txBody>
        </p:sp>
        <p:sp>
          <p:nvSpPr>
            <p:cNvPr id="19" name="object 19"/>
            <p:cNvSpPr/>
            <p:nvPr/>
          </p:nvSpPr>
          <p:spPr>
            <a:xfrm>
              <a:off x="4739766" y="2296160"/>
              <a:ext cx="1988820" cy="3329304"/>
            </a:xfrm>
            <a:custGeom>
              <a:avLst/>
              <a:gdLst/>
              <a:ahLst/>
              <a:cxnLst/>
              <a:rect l="l" t="t" r="r" b="b"/>
              <a:pathLst>
                <a:path w="1988820" h="3329304">
                  <a:moveTo>
                    <a:pt x="0" y="402589"/>
                  </a:moveTo>
                  <a:lnTo>
                    <a:pt x="0" y="3329114"/>
                  </a:lnTo>
                </a:path>
                <a:path w="1988820" h="3329304">
                  <a:moveTo>
                    <a:pt x="1988692" y="0"/>
                  </a:moveTo>
                  <a:lnTo>
                    <a:pt x="1988692" y="3329114"/>
                  </a:lnTo>
                </a:path>
              </a:pathLst>
            </a:custGeom>
            <a:ln w="12700">
              <a:solidFill>
                <a:srgbClr val="FFFFFF"/>
              </a:solidFill>
            </a:ln>
          </p:spPr>
          <p:txBody>
            <a:bodyPr wrap="square" lIns="0" tIns="0" rIns="0" bIns="0" rtlCol="0"/>
            <a:lstStyle/>
            <a:p>
              <a:endParaRPr/>
            </a:p>
          </p:txBody>
        </p:sp>
        <p:sp>
          <p:nvSpPr>
            <p:cNvPr id="20" name="object 20"/>
            <p:cNvSpPr/>
            <p:nvPr/>
          </p:nvSpPr>
          <p:spPr>
            <a:xfrm>
              <a:off x="4733416" y="2302510"/>
              <a:ext cx="448309" cy="0"/>
            </a:xfrm>
            <a:custGeom>
              <a:avLst/>
              <a:gdLst/>
              <a:ahLst/>
              <a:cxnLst/>
              <a:rect l="l" t="t" r="r" b="b"/>
              <a:pathLst>
                <a:path w="448310">
                  <a:moveTo>
                    <a:pt x="0" y="0"/>
                  </a:moveTo>
                  <a:lnTo>
                    <a:pt x="448310" y="0"/>
                  </a:lnTo>
                </a:path>
              </a:pathLst>
            </a:custGeom>
            <a:ln w="12700">
              <a:solidFill>
                <a:srgbClr val="000000"/>
              </a:solidFill>
            </a:ln>
          </p:spPr>
          <p:txBody>
            <a:bodyPr wrap="square" lIns="0" tIns="0" rIns="0" bIns="0" rtlCol="0"/>
            <a:lstStyle/>
            <a:p>
              <a:endParaRPr/>
            </a:p>
          </p:txBody>
        </p:sp>
        <p:sp>
          <p:nvSpPr>
            <p:cNvPr id="21" name="object 21"/>
            <p:cNvSpPr/>
            <p:nvPr/>
          </p:nvSpPr>
          <p:spPr>
            <a:xfrm>
              <a:off x="4733416" y="2302510"/>
              <a:ext cx="2001520" cy="3316604"/>
            </a:xfrm>
            <a:custGeom>
              <a:avLst/>
              <a:gdLst/>
              <a:ahLst/>
              <a:cxnLst/>
              <a:rect l="l" t="t" r="r" b="b"/>
              <a:pathLst>
                <a:path w="2001520" h="3316604">
                  <a:moveTo>
                    <a:pt x="448310" y="0"/>
                  </a:moveTo>
                  <a:lnTo>
                    <a:pt x="2001392" y="0"/>
                  </a:lnTo>
                </a:path>
                <a:path w="2001520" h="3316604">
                  <a:moveTo>
                    <a:pt x="0" y="3316414"/>
                  </a:moveTo>
                  <a:lnTo>
                    <a:pt x="2001392" y="3316414"/>
                  </a:lnTo>
                </a:path>
              </a:pathLst>
            </a:custGeom>
            <a:ln w="12700">
              <a:solidFill>
                <a:srgbClr val="FFFFFF"/>
              </a:solidFill>
            </a:ln>
          </p:spPr>
          <p:txBody>
            <a:bodyPr wrap="square" lIns="0" tIns="0" rIns="0" bIns="0" rtlCol="0"/>
            <a:lstStyle/>
            <a:p>
              <a:endParaRPr/>
            </a:p>
          </p:txBody>
        </p:sp>
      </p:grpSp>
      <p:sp>
        <p:nvSpPr>
          <p:cNvPr id="22" name="object 22"/>
          <p:cNvSpPr txBox="1"/>
          <p:nvPr/>
        </p:nvSpPr>
        <p:spPr>
          <a:xfrm>
            <a:off x="5201540" y="2122171"/>
            <a:ext cx="441959" cy="352019"/>
          </a:xfrm>
          <a:prstGeom prst="rect">
            <a:avLst/>
          </a:prstGeom>
        </p:spPr>
        <p:txBody>
          <a:bodyPr vert="horz" wrap="square" lIns="0" tIns="43815" rIns="0" bIns="0" rtlCol="0">
            <a:spAutoFit/>
          </a:bodyPr>
          <a:lstStyle/>
          <a:p>
            <a:pPr marL="92075">
              <a:lnSpc>
                <a:spcPct val="100000"/>
              </a:lnSpc>
              <a:spcBef>
                <a:spcPts val="345"/>
              </a:spcBef>
              <a:tabLst>
                <a:tab pos="299720" algn="l"/>
              </a:tabLst>
            </a:pPr>
            <a:r>
              <a:rPr sz="400" spc="-10" dirty="0">
                <a:cs typeface="Tahoma"/>
              </a:rPr>
              <a:t>T	T</a:t>
            </a:r>
            <a:endParaRPr sz="400">
              <a:cs typeface="Tahoma"/>
            </a:endParaRPr>
          </a:p>
          <a:p>
            <a:pPr marL="92075">
              <a:lnSpc>
                <a:spcPct val="100000"/>
              </a:lnSpc>
              <a:tabLst>
                <a:tab pos="299720" algn="l"/>
              </a:tabLst>
            </a:pPr>
            <a:r>
              <a:rPr sz="400" spc="10" dirty="0">
                <a:cs typeface="Tahoma"/>
              </a:rPr>
              <a:t>2	2</a:t>
            </a:r>
            <a:endParaRPr sz="400">
              <a:cs typeface="Tahoma"/>
            </a:endParaRPr>
          </a:p>
          <a:p>
            <a:pPr marL="92075">
              <a:lnSpc>
                <a:spcPct val="100000"/>
              </a:lnSpc>
              <a:tabLst>
                <a:tab pos="299720" algn="l"/>
              </a:tabLst>
            </a:pPr>
            <a:r>
              <a:rPr sz="400" spc="-20" dirty="0">
                <a:cs typeface="Tahoma"/>
              </a:rPr>
              <a:t>-	-</a:t>
            </a:r>
            <a:endParaRPr sz="400">
              <a:cs typeface="Tahoma"/>
            </a:endParaRPr>
          </a:p>
          <a:p>
            <a:pPr marL="92075">
              <a:lnSpc>
                <a:spcPct val="100000"/>
              </a:lnSpc>
              <a:tabLst>
                <a:tab pos="299720" algn="l"/>
              </a:tabLst>
            </a:pPr>
            <a:r>
              <a:rPr sz="400" spc="-10" dirty="0">
                <a:cs typeface="Tahoma"/>
              </a:rPr>
              <a:t>T	T</a:t>
            </a:r>
            <a:endParaRPr sz="400">
              <a:cs typeface="Tahoma"/>
            </a:endParaRPr>
          </a:p>
          <a:p>
            <a:pPr marL="92075">
              <a:lnSpc>
                <a:spcPct val="100000"/>
              </a:lnSpc>
              <a:tabLst>
                <a:tab pos="299720" algn="l"/>
              </a:tabLst>
            </a:pPr>
            <a:r>
              <a:rPr sz="400" spc="10" dirty="0">
                <a:cs typeface="Tahoma"/>
              </a:rPr>
              <a:t>1	2</a:t>
            </a:r>
            <a:endParaRPr sz="400">
              <a:cs typeface="Tahoma"/>
            </a:endParaRPr>
          </a:p>
        </p:txBody>
      </p:sp>
      <p:graphicFrame>
        <p:nvGraphicFramePr>
          <p:cNvPr id="23" name="object 23"/>
          <p:cNvGraphicFramePr>
            <a:graphicFrameLocks noGrp="1"/>
          </p:cNvGraphicFramePr>
          <p:nvPr>
            <p:extLst>
              <p:ext uri="{D42A27DB-BD31-4B8C-83A1-F6EECF244321}">
                <p14:modId xmlns:p14="http://schemas.microsoft.com/office/powerpoint/2010/main" val="4281822145"/>
              </p:ext>
            </p:extLst>
          </p:nvPr>
        </p:nvGraphicFramePr>
        <p:xfrm>
          <a:off x="8383969" y="2973401"/>
          <a:ext cx="1097280" cy="1920239"/>
        </p:xfrm>
        <a:graphic>
          <a:graphicData uri="http://schemas.openxmlformats.org/drawingml/2006/table">
            <a:tbl>
              <a:tblPr firstRow="1" bandRow="1">
                <a:tableStyleId>{2D5ABB26-0587-4C30-8999-92F81FD0307C}</a:tableStyleId>
              </a:tblPr>
              <a:tblGrid>
                <a:gridCol w="1097280">
                  <a:extLst>
                    <a:ext uri="{9D8B030D-6E8A-4147-A177-3AD203B41FA5}">
                      <a16:colId xmlns:a16="http://schemas.microsoft.com/office/drawing/2014/main" val="20000"/>
                    </a:ext>
                  </a:extLst>
                </a:gridCol>
              </a:tblGrid>
              <a:tr h="213360">
                <a:tc>
                  <a:txBody>
                    <a:bodyPr/>
                    <a:lstStyle/>
                    <a:p>
                      <a:pPr marL="92075">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1</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0"/>
                  </a:ext>
                </a:extLst>
              </a:tr>
              <a:tr h="213359">
                <a:tc>
                  <a:txBody>
                    <a:bodyPr/>
                    <a:lstStyle/>
                    <a:p>
                      <a:pPr marL="92075">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2</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1"/>
                  </a:ext>
                </a:extLst>
              </a:tr>
              <a:tr h="1493520">
                <a:tc>
                  <a:txBody>
                    <a:bodyPr/>
                    <a:lstStyle/>
                    <a:p>
                      <a:pPr>
                        <a:lnSpc>
                          <a:spcPct val="100000"/>
                        </a:lnSpc>
                      </a:pPr>
                      <a:endParaRPr sz="14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000000"/>
                      </a:solidFill>
                      <a:prstDash val="solid"/>
                    </a:lnT>
                    <a:lnB w="12700">
                      <a:solidFill>
                        <a:srgbClr val="FFFFFF"/>
                      </a:solidFill>
                      <a:prstDash val="solid"/>
                    </a:lnB>
                  </a:tcPr>
                </a:tc>
                <a:extLst>
                  <a:ext uri="{0D108BD9-81ED-4DB2-BD59-A6C34878D82A}">
                    <a16:rowId xmlns:a16="http://schemas.microsoft.com/office/drawing/2014/main" val="10002"/>
                  </a:ext>
                </a:extLst>
              </a:tr>
            </a:tbl>
          </a:graphicData>
        </a:graphic>
      </p:graphicFrame>
      <p:grpSp>
        <p:nvGrpSpPr>
          <p:cNvPr id="24" name="object 24"/>
          <p:cNvGrpSpPr/>
          <p:nvPr/>
        </p:nvGrpSpPr>
        <p:grpSpPr>
          <a:xfrm>
            <a:off x="10423208" y="2973401"/>
            <a:ext cx="1109980" cy="1932939"/>
            <a:chOff x="10087609" y="2981960"/>
            <a:chExt cx="1109980" cy="1932939"/>
          </a:xfrm>
        </p:grpSpPr>
        <p:sp>
          <p:nvSpPr>
            <p:cNvPr id="25" name="object 25"/>
            <p:cNvSpPr/>
            <p:nvPr/>
          </p:nvSpPr>
          <p:spPr>
            <a:xfrm>
              <a:off x="10093959" y="2988310"/>
              <a:ext cx="1097280" cy="213360"/>
            </a:xfrm>
            <a:custGeom>
              <a:avLst/>
              <a:gdLst/>
              <a:ahLst/>
              <a:cxnLst/>
              <a:rect l="l" t="t" r="r" b="b"/>
              <a:pathLst>
                <a:path w="1097279" h="213360">
                  <a:moveTo>
                    <a:pt x="1097241" y="0"/>
                  </a:moveTo>
                  <a:lnTo>
                    <a:pt x="0" y="0"/>
                  </a:lnTo>
                  <a:lnTo>
                    <a:pt x="0" y="213360"/>
                  </a:lnTo>
                  <a:lnTo>
                    <a:pt x="1097241" y="213360"/>
                  </a:lnTo>
                  <a:lnTo>
                    <a:pt x="1097241" y="0"/>
                  </a:lnTo>
                  <a:close/>
                </a:path>
              </a:pathLst>
            </a:custGeom>
            <a:solidFill>
              <a:srgbClr val="FFAD78"/>
            </a:solidFill>
          </p:spPr>
          <p:txBody>
            <a:bodyPr wrap="square" lIns="0" tIns="0" rIns="0" bIns="0" rtlCol="0"/>
            <a:lstStyle/>
            <a:p>
              <a:endParaRPr/>
            </a:p>
          </p:txBody>
        </p:sp>
        <p:sp>
          <p:nvSpPr>
            <p:cNvPr id="26" name="object 26"/>
            <p:cNvSpPr/>
            <p:nvPr/>
          </p:nvSpPr>
          <p:spPr>
            <a:xfrm>
              <a:off x="10087609" y="3195320"/>
              <a:ext cx="1109980" cy="12700"/>
            </a:xfrm>
            <a:custGeom>
              <a:avLst/>
              <a:gdLst/>
              <a:ahLst/>
              <a:cxnLst/>
              <a:rect l="l" t="t" r="r" b="b"/>
              <a:pathLst>
                <a:path w="1109979" h="12700">
                  <a:moveTo>
                    <a:pt x="0" y="12700"/>
                  </a:moveTo>
                  <a:lnTo>
                    <a:pt x="1109980" y="12700"/>
                  </a:lnTo>
                  <a:lnTo>
                    <a:pt x="1109980" y="0"/>
                  </a:lnTo>
                  <a:lnTo>
                    <a:pt x="0" y="0"/>
                  </a:lnTo>
                  <a:lnTo>
                    <a:pt x="0" y="12700"/>
                  </a:lnTo>
                  <a:close/>
                </a:path>
              </a:pathLst>
            </a:custGeom>
            <a:solidFill>
              <a:srgbClr val="000000"/>
            </a:solidFill>
          </p:spPr>
          <p:txBody>
            <a:bodyPr wrap="square" lIns="0" tIns="0" rIns="0" bIns="0" rtlCol="0"/>
            <a:lstStyle/>
            <a:p>
              <a:endParaRPr/>
            </a:p>
          </p:txBody>
        </p:sp>
        <p:sp>
          <p:nvSpPr>
            <p:cNvPr id="27" name="object 27"/>
            <p:cNvSpPr/>
            <p:nvPr/>
          </p:nvSpPr>
          <p:spPr>
            <a:xfrm>
              <a:off x="10093959"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28" name="object 28"/>
            <p:cNvSpPr/>
            <p:nvPr/>
          </p:nvSpPr>
          <p:spPr>
            <a:xfrm>
              <a:off x="10093959" y="3201670"/>
              <a:ext cx="0" cy="1713230"/>
            </a:xfrm>
            <a:custGeom>
              <a:avLst/>
              <a:gdLst/>
              <a:ahLst/>
              <a:cxnLst/>
              <a:rect l="l" t="t" r="r" b="b"/>
              <a:pathLst>
                <a:path h="1713229">
                  <a:moveTo>
                    <a:pt x="0" y="0"/>
                  </a:moveTo>
                  <a:lnTo>
                    <a:pt x="0" y="1713229"/>
                  </a:lnTo>
                </a:path>
              </a:pathLst>
            </a:custGeom>
            <a:ln w="12700">
              <a:solidFill>
                <a:srgbClr val="FFFFFF"/>
              </a:solidFill>
            </a:ln>
          </p:spPr>
          <p:txBody>
            <a:bodyPr wrap="square" lIns="0" tIns="0" rIns="0" bIns="0" rtlCol="0"/>
            <a:lstStyle/>
            <a:p>
              <a:endParaRPr/>
            </a:p>
          </p:txBody>
        </p:sp>
        <p:sp>
          <p:nvSpPr>
            <p:cNvPr id="29" name="object 29"/>
            <p:cNvSpPr/>
            <p:nvPr/>
          </p:nvSpPr>
          <p:spPr>
            <a:xfrm>
              <a:off x="11191239"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30" name="object 30"/>
            <p:cNvSpPr/>
            <p:nvPr/>
          </p:nvSpPr>
          <p:spPr>
            <a:xfrm>
              <a:off x="10087609" y="3201670"/>
              <a:ext cx="1109980" cy="1713230"/>
            </a:xfrm>
            <a:custGeom>
              <a:avLst/>
              <a:gdLst/>
              <a:ahLst/>
              <a:cxnLst/>
              <a:rect l="l" t="t" r="r" b="b"/>
              <a:pathLst>
                <a:path w="1109979" h="1713229">
                  <a:moveTo>
                    <a:pt x="1103630" y="0"/>
                  </a:moveTo>
                  <a:lnTo>
                    <a:pt x="1103630" y="1713229"/>
                  </a:lnTo>
                </a:path>
                <a:path w="1109979" h="1713229">
                  <a:moveTo>
                    <a:pt x="0" y="1706879"/>
                  </a:moveTo>
                  <a:lnTo>
                    <a:pt x="1109980" y="1706879"/>
                  </a:lnTo>
                </a:path>
              </a:pathLst>
            </a:custGeom>
            <a:ln w="12700">
              <a:solidFill>
                <a:srgbClr val="FFFFFF"/>
              </a:solidFill>
            </a:ln>
          </p:spPr>
          <p:txBody>
            <a:bodyPr wrap="square" lIns="0" tIns="0" rIns="0" bIns="0" rtlCol="0"/>
            <a:lstStyle/>
            <a:p>
              <a:endParaRPr/>
            </a:p>
          </p:txBody>
        </p:sp>
      </p:grpSp>
      <p:sp>
        <p:nvSpPr>
          <p:cNvPr id="31" name="object 31"/>
          <p:cNvSpPr txBox="1"/>
          <p:nvPr/>
        </p:nvSpPr>
        <p:spPr>
          <a:xfrm>
            <a:off x="10429558" y="2979751"/>
            <a:ext cx="1097280" cy="165430"/>
          </a:xfrm>
          <a:prstGeom prst="rect">
            <a:avLst/>
          </a:prstGeom>
          <a:solidFill>
            <a:srgbClr val="FFAD78"/>
          </a:solidFill>
          <a:ln w="12700">
            <a:solidFill>
              <a:srgbClr val="000000"/>
            </a:solidFill>
          </a:ln>
        </p:spPr>
        <p:txBody>
          <a:bodyPr vert="horz" wrap="square" lIns="0" tIns="41910" rIns="0" bIns="0" rtlCol="0">
            <a:spAutoFit/>
          </a:bodyPr>
          <a:lstStyle/>
          <a:p>
            <a:pPr marL="92710">
              <a:lnSpc>
                <a:spcPct val="100000"/>
              </a:lnSpc>
              <a:spcBef>
                <a:spcPts val="330"/>
              </a:spcBef>
            </a:pPr>
            <a:r>
              <a:rPr sz="800" spc="75" dirty="0">
                <a:cs typeface="Tahoma"/>
              </a:rPr>
              <a:t>OU</a:t>
            </a:r>
            <a:r>
              <a:rPr sz="800" spc="15" dirty="0">
                <a:cs typeface="Tahoma"/>
              </a:rPr>
              <a:t>TP</a:t>
            </a:r>
            <a:r>
              <a:rPr sz="800" spc="10" dirty="0">
                <a:cs typeface="Tahoma"/>
              </a:rPr>
              <a:t>U</a:t>
            </a:r>
            <a:r>
              <a:rPr sz="800" spc="-10" dirty="0">
                <a:cs typeface="Tahoma"/>
              </a:rPr>
              <a:t>T</a:t>
            </a:r>
            <a:r>
              <a:rPr sz="800" spc="-100" dirty="0">
                <a:cs typeface="Tahoma"/>
              </a:rPr>
              <a:t> </a:t>
            </a:r>
            <a:r>
              <a:rPr sz="800" spc="45" dirty="0">
                <a:cs typeface="Tahoma"/>
              </a:rPr>
              <a:t>TO</a:t>
            </a:r>
            <a:r>
              <a:rPr sz="800" spc="35" dirty="0">
                <a:cs typeface="Tahoma"/>
              </a:rPr>
              <a:t>K</a:t>
            </a:r>
            <a:r>
              <a:rPr sz="800" spc="25" dirty="0">
                <a:cs typeface="Tahoma"/>
              </a:rPr>
              <a:t>E</a:t>
            </a:r>
            <a:r>
              <a:rPr sz="800" spc="80" dirty="0">
                <a:cs typeface="Tahoma"/>
              </a:rPr>
              <a:t>N</a:t>
            </a:r>
            <a:r>
              <a:rPr sz="800" spc="-75" dirty="0">
                <a:cs typeface="Tahoma"/>
              </a:rPr>
              <a:t> </a:t>
            </a:r>
            <a:r>
              <a:rPr sz="800" spc="25" dirty="0">
                <a:cs typeface="Tahoma"/>
              </a:rPr>
              <a:t>2</a:t>
            </a:r>
            <a:endParaRPr sz="800">
              <a:cs typeface="Tahoma"/>
            </a:endParaRPr>
          </a:p>
        </p:txBody>
      </p:sp>
      <p:sp>
        <p:nvSpPr>
          <p:cNvPr id="32" name="object 32"/>
          <p:cNvSpPr/>
          <p:nvPr/>
        </p:nvSpPr>
        <p:spPr>
          <a:xfrm>
            <a:off x="752858" y="1793240"/>
            <a:ext cx="173990" cy="3621404"/>
          </a:xfrm>
          <a:custGeom>
            <a:avLst/>
            <a:gdLst/>
            <a:ahLst/>
            <a:cxnLst/>
            <a:rect l="l" t="t" r="r" b="b"/>
            <a:pathLst>
              <a:path w="173990" h="3621404">
                <a:moveTo>
                  <a:pt x="173736" y="3621024"/>
                </a:moveTo>
                <a:lnTo>
                  <a:pt x="106111" y="3619886"/>
                </a:lnTo>
                <a:lnTo>
                  <a:pt x="50887" y="3616785"/>
                </a:lnTo>
                <a:lnTo>
                  <a:pt x="13653" y="3612183"/>
                </a:lnTo>
                <a:lnTo>
                  <a:pt x="0" y="3606546"/>
                </a:lnTo>
                <a:lnTo>
                  <a:pt x="0" y="14478"/>
                </a:lnTo>
                <a:lnTo>
                  <a:pt x="13653" y="8840"/>
                </a:lnTo>
                <a:lnTo>
                  <a:pt x="50887" y="4238"/>
                </a:lnTo>
                <a:lnTo>
                  <a:pt x="106111" y="1137"/>
                </a:lnTo>
                <a:lnTo>
                  <a:pt x="173736" y="0"/>
                </a:lnTo>
              </a:path>
            </a:pathLst>
          </a:custGeom>
          <a:ln w="76200">
            <a:solidFill>
              <a:srgbClr val="4E91EF"/>
            </a:solidFill>
          </a:ln>
        </p:spPr>
        <p:txBody>
          <a:bodyPr wrap="square" lIns="0" tIns="0" rIns="0" bIns="0" rtlCol="0"/>
          <a:lstStyle/>
          <a:p>
            <a:endParaRPr/>
          </a:p>
        </p:txBody>
      </p:sp>
      <p:sp>
        <p:nvSpPr>
          <p:cNvPr id="33" name="object 33"/>
          <p:cNvSpPr/>
          <p:nvPr/>
        </p:nvSpPr>
        <p:spPr>
          <a:xfrm>
            <a:off x="7400545" y="1793240"/>
            <a:ext cx="173990" cy="3621404"/>
          </a:xfrm>
          <a:custGeom>
            <a:avLst/>
            <a:gdLst/>
            <a:ahLst/>
            <a:cxnLst/>
            <a:rect l="l" t="t" r="r" b="b"/>
            <a:pathLst>
              <a:path w="173990" h="3621404">
                <a:moveTo>
                  <a:pt x="0" y="0"/>
                </a:moveTo>
                <a:lnTo>
                  <a:pt x="67651" y="1137"/>
                </a:lnTo>
                <a:lnTo>
                  <a:pt x="122872" y="4238"/>
                </a:lnTo>
                <a:lnTo>
                  <a:pt x="160091" y="8840"/>
                </a:lnTo>
                <a:lnTo>
                  <a:pt x="173735" y="14478"/>
                </a:lnTo>
                <a:lnTo>
                  <a:pt x="173735" y="3606546"/>
                </a:lnTo>
                <a:lnTo>
                  <a:pt x="160091" y="3612183"/>
                </a:lnTo>
                <a:lnTo>
                  <a:pt x="122872" y="3616785"/>
                </a:lnTo>
                <a:lnTo>
                  <a:pt x="67651" y="3619886"/>
                </a:lnTo>
                <a:lnTo>
                  <a:pt x="0" y="3621024"/>
                </a:lnTo>
              </a:path>
            </a:pathLst>
          </a:custGeom>
          <a:ln w="76200">
            <a:solidFill>
              <a:srgbClr val="4E91EF"/>
            </a:solidFill>
          </a:ln>
        </p:spPr>
        <p:txBody>
          <a:bodyPr wrap="square" lIns="0" tIns="0" rIns="0" bIns="0" rtlCol="0"/>
          <a:lstStyle/>
          <a:p>
            <a:endParaRPr/>
          </a:p>
        </p:txBody>
      </p:sp>
      <p:sp>
        <p:nvSpPr>
          <p:cNvPr id="34" name="object 34"/>
          <p:cNvSpPr txBox="1"/>
          <p:nvPr/>
        </p:nvSpPr>
        <p:spPr>
          <a:xfrm>
            <a:off x="7493889" y="3648836"/>
            <a:ext cx="17335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𝑋</a:t>
            </a:r>
            <a:endParaRPr sz="1800">
              <a:cs typeface="Cambria Math"/>
            </a:endParaRPr>
          </a:p>
        </p:txBody>
      </p:sp>
      <p:sp>
        <p:nvSpPr>
          <p:cNvPr id="35" name="object 35"/>
          <p:cNvSpPr txBox="1"/>
          <p:nvPr/>
        </p:nvSpPr>
        <p:spPr>
          <a:xfrm>
            <a:off x="9860726" y="3640277"/>
            <a:ext cx="19621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a:t>
            </a:r>
            <a:endParaRPr sz="1800">
              <a:cs typeface="Cambria Math"/>
            </a:endParaRPr>
          </a:p>
        </p:txBody>
      </p:sp>
      <p:sp>
        <p:nvSpPr>
          <p:cNvPr id="36" name="object 36"/>
          <p:cNvSpPr txBox="1"/>
          <p:nvPr/>
        </p:nvSpPr>
        <p:spPr>
          <a:xfrm>
            <a:off x="1399440" y="2281301"/>
            <a:ext cx="18034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𝑄</a:t>
            </a:r>
            <a:endParaRPr sz="1800">
              <a:cs typeface="Cambria Math"/>
            </a:endParaRPr>
          </a:p>
        </p:txBody>
      </p:sp>
      <p:sp>
        <p:nvSpPr>
          <p:cNvPr id="37" name="object 37"/>
          <p:cNvSpPr txBox="1"/>
          <p:nvPr/>
        </p:nvSpPr>
        <p:spPr>
          <a:xfrm>
            <a:off x="3474722" y="2200911"/>
            <a:ext cx="351790" cy="299720"/>
          </a:xfrm>
          <a:prstGeom prst="rect">
            <a:avLst/>
          </a:prstGeom>
        </p:spPr>
        <p:txBody>
          <a:bodyPr vert="horz" wrap="square" lIns="0" tIns="12700" rIns="0" bIns="0" rtlCol="0">
            <a:spAutoFit/>
          </a:bodyPr>
          <a:lstStyle/>
          <a:p>
            <a:pPr marL="38100">
              <a:lnSpc>
                <a:spcPct val="100000"/>
              </a:lnSpc>
              <a:spcBef>
                <a:spcPts val="100"/>
              </a:spcBef>
            </a:pPr>
            <a:r>
              <a:rPr sz="2700" spc="97" baseline="-20061" dirty="0">
                <a:cs typeface="Cambria Math"/>
              </a:rPr>
              <a:t>𝐾</a:t>
            </a:r>
            <a:r>
              <a:rPr sz="1300" spc="65" dirty="0">
                <a:cs typeface="Cambria Math"/>
              </a:rPr>
              <a:t>𝑇</a:t>
            </a:r>
            <a:endParaRPr sz="1300">
              <a:cs typeface="Cambria Math"/>
            </a:endParaRPr>
          </a:p>
        </p:txBody>
      </p:sp>
      <p:sp>
        <p:nvSpPr>
          <p:cNvPr id="38" name="object 38"/>
          <p:cNvSpPr txBox="1"/>
          <p:nvPr/>
        </p:nvSpPr>
        <p:spPr>
          <a:xfrm>
            <a:off x="5932679" y="1732662"/>
            <a:ext cx="511809" cy="299720"/>
          </a:xfrm>
          <a:prstGeom prst="rect">
            <a:avLst/>
          </a:prstGeom>
        </p:spPr>
        <p:txBody>
          <a:bodyPr vert="horz" wrap="square" lIns="0" tIns="12700" rIns="0" bIns="0" rtlCol="0">
            <a:spAutoFit/>
          </a:bodyPr>
          <a:lstStyle/>
          <a:p>
            <a:pPr marL="38100">
              <a:lnSpc>
                <a:spcPct val="100000"/>
              </a:lnSpc>
              <a:spcBef>
                <a:spcPts val="100"/>
              </a:spcBef>
            </a:pPr>
            <a:r>
              <a:rPr sz="1800" spc="55" dirty="0">
                <a:cs typeface="Cambria Math"/>
              </a:rPr>
              <a:t>𝑄𝐾</a:t>
            </a:r>
            <a:r>
              <a:rPr sz="1950" spc="82" baseline="27777" dirty="0">
                <a:cs typeface="Cambria Math"/>
              </a:rPr>
              <a:t>𝑇</a:t>
            </a:r>
            <a:endParaRPr sz="1950" baseline="27777">
              <a:cs typeface="Cambria Math"/>
            </a:endParaRPr>
          </a:p>
        </p:txBody>
      </p:sp>
      <p:sp>
        <p:nvSpPr>
          <p:cNvPr id="39" name="object 39"/>
          <p:cNvSpPr txBox="1"/>
          <p:nvPr/>
        </p:nvSpPr>
        <p:spPr>
          <a:xfrm>
            <a:off x="8851456" y="2453081"/>
            <a:ext cx="16891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𝑉</a:t>
            </a:r>
            <a:endParaRPr sz="1800">
              <a:cs typeface="Cambria Math"/>
            </a:endParaRPr>
          </a:p>
        </p:txBody>
      </p:sp>
      <p:sp>
        <p:nvSpPr>
          <p:cNvPr id="40" name="object 40"/>
          <p:cNvSpPr txBox="1"/>
          <p:nvPr/>
        </p:nvSpPr>
        <p:spPr>
          <a:xfrm>
            <a:off x="10470960" y="2448891"/>
            <a:ext cx="1009650" cy="299720"/>
          </a:xfrm>
          <a:prstGeom prst="rect">
            <a:avLst/>
          </a:prstGeom>
        </p:spPr>
        <p:txBody>
          <a:bodyPr vert="horz" wrap="square" lIns="0" tIns="12700" rIns="0" bIns="0" rtlCol="0">
            <a:spAutoFit/>
          </a:bodyPr>
          <a:lstStyle/>
          <a:p>
            <a:pPr marL="12700">
              <a:lnSpc>
                <a:spcPct val="100000"/>
              </a:lnSpc>
              <a:spcBef>
                <a:spcPts val="100"/>
              </a:spcBef>
            </a:pPr>
            <a:r>
              <a:rPr sz="1800" spc="-5" dirty="0">
                <a:cs typeface="Cambria Math"/>
              </a:rPr>
              <a:t>𝐴𝑡</a:t>
            </a:r>
            <a:r>
              <a:rPr sz="1800" spc="-10" dirty="0">
                <a:cs typeface="Cambria Math"/>
              </a:rPr>
              <a:t>𝑡</a:t>
            </a:r>
            <a:r>
              <a:rPr sz="1800" spc="-5" dirty="0">
                <a:cs typeface="Cambria Math"/>
              </a:rPr>
              <a:t>𝑒</a:t>
            </a:r>
            <a:r>
              <a:rPr sz="1800" spc="-10" dirty="0">
                <a:cs typeface="Cambria Math"/>
              </a:rPr>
              <a:t>𝑛</a:t>
            </a:r>
            <a:r>
              <a:rPr sz="1800" dirty="0">
                <a:cs typeface="Cambria Math"/>
              </a:rPr>
              <a:t>𝑡𝑖𝑜𝑛</a:t>
            </a:r>
            <a:endParaRPr sz="1800">
              <a:cs typeface="Cambria Math"/>
            </a:endParaRPr>
          </a:p>
        </p:txBody>
      </p:sp>
      <p:sp>
        <p:nvSpPr>
          <p:cNvPr id="41" name="object 41"/>
          <p:cNvSpPr/>
          <p:nvPr/>
        </p:nvSpPr>
        <p:spPr>
          <a:xfrm>
            <a:off x="8691245" y="5712635"/>
            <a:ext cx="800100" cy="212090"/>
          </a:xfrm>
          <a:custGeom>
            <a:avLst/>
            <a:gdLst/>
            <a:ahLst/>
            <a:cxnLst/>
            <a:rect l="l" t="t" r="r" b="b"/>
            <a:pathLst>
              <a:path w="800100" h="212089">
                <a:moveTo>
                  <a:pt x="732408" y="0"/>
                </a:moveTo>
                <a:lnTo>
                  <a:pt x="729360" y="8597"/>
                </a:lnTo>
                <a:lnTo>
                  <a:pt x="741628" y="13915"/>
                </a:lnTo>
                <a:lnTo>
                  <a:pt x="752157" y="21277"/>
                </a:lnTo>
                <a:lnTo>
                  <a:pt x="773596" y="55406"/>
                </a:lnTo>
                <a:lnTo>
                  <a:pt x="780668" y="104813"/>
                </a:lnTo>
                <a:lnTo>
                  <a:pt x="779883" y="123484"/>
                </a:lnTo>
                <a:lnTo>
                  <a:pt x="768096" y="169214"/>
                </a:lnTo>
                <a:lnTo>
                  <a:pt x="741789" y="197805"/>
                </a:lnTo>
                <a:lnTo>
                  <a:pt x="729741" y="203149"/>
                </a:lnTo>
                <a:lnTo>
                  <a:pt x="732408" y="211747"/>
                </a:lnTo>
                <a:lnTo>
                  <a:pt x="772824" y="187703"/>
                </a:lnTo>
                <a:lnTo>
                  <a:pt x="795591" y="143335"/>
                </a:lnTo>
                <a:lnTo>
                  <a:pt x="799973" y="105930"/>
                </a:lnTo>
                <a:lnTo>
                  <a:pt x="798877" y="86513"/>
                </a:lnTo>
                <a:lnTo>
                  <a:pt x="782447" y="37109"/>
                </a:lnTo>
                <a:lnTo>
                  <a:pt x="747746" y="5541"/>
                </a:lnTo>
                <a:lnTo>
                  <a:pt x="732408" y="0"/>
                </a:lnTo>
                <a:close/>
              </a:path>
              <a:path w="800100" h="212089">
                <a:moveTo>
                  <a:pt x="67563" y="0"/>
                </a:moveTo>
                <a:lnTo>
                  <a:pt x="27112" y="24095"/>
                </a:lnTo>
                <a:lnTo>
                  <a:pt x="4365" y="68572"/>
                </a:lnTo>
                <a:lnTo>
                  <a:pt x="0" y="105930"/>
                </a:lnTo>
                <a:lnTo>
                  <a:pt x="1093" y="125383"/>
                </a:lnTo>
                <a:lnTo>
                  <a:pt x="17399" y="174739"/>
                </a:lnTo>
                <a:lnTo>
                  <a:pt x="52135" y="206205"/>
                </a:lnTo>
                <a:lnTo>
                  <a:pt x="67563" y="211747"/>
                </a:lnTo>
                <a:lnTo>
                  <a:pt x="70230" y="203149"/>
                </a:lnTo>
                <a:lnTo>
                  <a:pt x="58130" y="197805"/>
                </a:lnTo>
                <a:lnTo>
                  <a:pt x="47720" y="190368"/>
                </a:lnTo>
                <a:lnTo>
                  <a:pt x="26376" y="155687"/>
                </a:lnTo>
                <a:lnTo>
                  <a:pt x="19303" y="104813"/>
                </a:lnTo>
                <a:lnTo>
                  <a:pt x="20089" y="86744"/>
                </a:lnTo>
                <a:lnTo>
                  <a:pt x="31876" y="42138"/>
                </a:lnTo>
                <a:lnTo>
                  <a:pt x="58291" y="13915"/>
                </a:lnTo>
                <a:lnTo>
                  <a:pt x="70484" y="8597"/>
                </a:lnTo>
                <a:lnTo>
                  <a:pt x="67563" y="0"/>
                </a:lnTo>
                <a:close/>
              </a:path>
            </a:pathLst>
          </a:custGeom>
          <a:solidFill>
            <a:srgbClr val="000000"/>
          </a:solidFill>
        </p:spPr>
        <p:txBody>
          <a:bodyPr wrap="square" lIns="0" tIns="0" rIns="0" bIns="0" rtlCol="0"/>
          <a:lstStyle/>
          <a:p>
            <a:endParaRPr/>
          </a:p>
        </p:txBody>
      </p:sp>
      <p:sp>
        <p:nvSpPr>
          <p:cNvPr id="42" name="object 42"/>
          <p:cNvSpPr/>
          <p:nvPr/>
        </p:nvSpPr>
        <p:spPr>
          <a:xfrm>
            <a:off x="10644251" y="5480009"/>
            <a:ext cx="693420" cy="675640"/>
          </a:xfrm>
          <a:custGeom>
            <a:avLst/>
            <a:gdLst/>
            <a:ahLst/>
            <a:cxnLst/>
            <a:rect l="l" t="t" r="r" b="b"/>
            <a:pathLst>
              <a:path w="693420" h="675639">
                <a:moveTo>
                  <a:pt x="114173" y="7924"/>
                </a:moveTo>
                <a:lnTo>
                  <a:pt x="62166" y="58623"/>
                </a:lnTo>
                <a:lnTo>
                  <a:pt x="43865" y="94830"/>
                </a:lnTo>
                <a:lnTo>
                  <a:pt x="28321" y="135610"/>
                </a:lnTo>
                <a:lnTo>
                  <a:pt x="15963" y="180543"/>
                </a:lnTo>
                <a:lnTo>
                  <a:pt x="7112" y="229133"/>
                </a:lnTo>
                <a:lnTo>
                  <a:pt x="1778" y="281393"/>
                </a:lnTo>
                <a:lnTo>
                  <a:pt x="0" y="337312"/>
                </a:lnTo>
                <a:lnTo>
                  <a:pt x="1778" y="393636"/>
                </a:lnTo>
                <a:lnTo>
                  <a:pt x="7112" y="446176"/>
                </a:lnTo>
                <a:lnTo>
                  <a:pt x="15963" y="494931"/>
                </a:lnTo>
                <a:lnTo>
                  <a:pt x="28321" y="539902"/>
                </a:lnTo>
                <a:lnTo>
                  <a:pt x="43865" y="580707"/>
                </a:lnTo>
                <a:lnTo>
                  <a:pt x="62166" y="616902"/>
                </a:lnTo>
                <a:lnTo>
                  <a:pt x="107061" y="675525"/>
                </a:lnTo>
                <a:lnTo>
                  <a:pt x="114173" y="667600"/>
                </a:lnTo>
                <a:lnTo>
                  <a:pt x="92976" y="640156"/>
                </a:lnTo>
                <a:lnTo>
                  <a:pt x="74549" y="608368"/>
                </a:lnTo>
                <a:lnTo>
                  <a:pt x="58877" y="572236"/>
                </a:lnTo>
                <a:lnTo>
                  <a:pt x="45974" y="531761"/>
                </a:lnTo>
                <a:lnTo>
                  <a:pt x="35814" y="487641"/>
                </a:lnTo>
                <a:lnTo>
                  <a:pt x="28600" y="440575"/>
                </a:lnTo>
                <a:lnTo>
                  <a:pt x="24282" y="390537"/>
                </a:lnTo>
                <a:lnTo>
                  <a:pt x="22860" y="337312"/>
                </a:lnTo>
                <a:lnTo>
                  <a:pt x="24282" y="284797"/>
                </a:lnTo>
                <a:lnTo>
                  <a:pt x="28600" y="234924"/>
                </a:lnTo>
                <a:lnTo>
                  <a:pt x="35814" y="187934"/>
                </a:lnTo>
                <a:lnTo>
                  <a:pt x="45974" y="143814"/>
                </a:lnTo>
                <a:lnTo>
                  <a:pt x="58877" y="103327"/>
                </a:lnTo>
                <a:lnTo>
                  <a:pt x="74549" y="67183"/>
                </a:lnTo>
                <a:lnTo>
                  <a:pt x="92976" y="35382"/>
                </a:lnTo>
                <a:lnTo>
                  <a:pt x="114173" y="7924"/>
                </a:lnTo>
                <a:close/>
              </a:path>
              <a:path w="693420" h="675639">
                <a:moveTo>
                  <a:pt x="555244" y="387819"/>
                </a:moveTo>
                <a:lnTo>
                  <a:pt x="306832" y="387819"/>
                </a:lnTo>
                <a:lnTo>
                  <a:pt x="306832" y="388569"/>
                </a:lnTo>
                <a:lnTo>
                  <a:pt x="284480" y="388569"/>
                </a:lnTo>
                <a:lnTo>
                  <a:pt x="216789" y="642505"/>
                </a:lnTo>
                <a:lnTo>
                  <a:pt x="178181" y="556336"/>
                </a:lnTo>
                <a:lnTo>
                  <a:pt x="141478" y="573074"/>
                </a:lnTo>
                <a:lnTo>
                  <a:pt x="145034" y="581456"/>
                </a:lnTo>
                <a:lnTo>
                  <a:pt x="163830" y="573074"/>
                </a:lnTo>
                <a:lnTo>
                  <a:pt x="210058" y="672426"/>
                </a:lnTo>
                <a:lnTo>
                  <a:pt x="220853" y="672426"/>
                </a:lnTo>
                <a:lnTo>
                  <a:pt x="293497" y="403415"/>
                </a:lnTo>
                <a:lnTo>
                  <a:pt x="315722" y="403415"/>
                </a:lnTo>
                <a:lnTo>
                  <a:pt x="315722" y="403059"/>
                </a:lnTo>
                <a:lnTo>
                  <a:pt x="555244" y="403059"/>
                </a:lnTo>
                <a:lnTo>
                  <a:pt x="555244" y="387819"/>
                </a:lnTo>
                <a:close/>
              </a:path>
              <a:path w="693420" h="675639">
                <a:moveTo>
                  <a:pt x="572008" y="329907"/>
                </a:moveTo>
                <a:lnTo>
                  <a:pt x="120904" y="329907"/>
                </a:lnTo>
                <a:lnTo>
                  <a:pt x="120904" y="345147"/>
                </a:lnTo>
                <a:lnTo>
                  <a:pt x="572008" y="345147"/>
                </a:lnTo>
                <a:lnTo>
                  <a:pt x="572008" y="329907"/>
                </a:lnTo>
                <a:close/>
              </a:path>
              <a:path w="693420" h="675639">
                <a:moveTo>
                  <a:pt x="693420" y="337312"/>
                </a:moveTo>
                <a:lnTo>
                  <a:pt x="691654" y="281393"/>
                </a:lnTo>
                <a:lnTo>
                  <a:pt x="686346" y="229133"/>
                </a:lnTo>
                <a:lnTo>
                  <a:pt x="677506" y="180543"/>
                </a:lnTo>
                <a:lnTo>
                  <a:pt x="665099" y="135610"/>
                </a:lnTo>
                <a:lnTo>
                  <a:pt x="649592" y="94830"/>
                </a:lnTo>
                <a:lnTo>
                  <a:pt x="631291" y="58623"/>
                </a:lnTo>
                <a:lnTo>
                  <a:pt x="586359" y="0"/>
                </a:lnTo>
                <a:lnTo>
                  <a:pt x="579247" y="7924"/>
                </a:lnTo>
                <a:lnTo>
                  <a:pt x="600430" y="35382"/>
                </a:lnTo>
                <a:lnTo>
                  <a:pt x="618883" y="67183"/>
                </a:lnTo>
                <a:lnTo>
                  <a:pt x="634580" y="103327"/>
                </a:lnTo>
                <a:lnTo>
                  <a:pt x="647573" y="143814"/>
                </a:lnTo>
                <a:lnTo>
                  <a:pt x="657656" y="187934"/>
                </a:lnTo>
                <a:lnTo>
                  <a:pt x="664883" y="234924"/>
                </a:lnTo>
                <a:lnTo>
                  <a:pt x="669226" y="284797"/>
                </a:lnTo>
                <a:lnTo>
                  <a:pt x="670687" y="337540"/>
                </a:lnTo>
                <a:lnTo>
                  <a:pt x="669226" y="390537"/>
                </a:lnTo>
                <a:lnTo>
                  <a:pt x="664883" y="440575"/>
                </a:lnTo>
                <a:lnTo>
                  <a:pt x="657656" y="487641"/>
                </a:lnTo>
                <a:lnTo>
                  <a:pt x="647573" y="531761"/>
                </a:lnTo>
                <a:lnTo>
                  <a:pt x="634580" y="572236"/>
                </a:lnTo>
                <a:lnTo>
                  <a:pt x="618883" y="608368"/>
                </a:lnTo>
                <a:lnTo>
                  <a:pt x="579247" y="667600"/>
                </a:lnTo>
                <a:lnTo>
                  <a:pt x="586359" y="675525"/>
                </a:lnTo>
                <a:lnTo>
                  <a:pt x="631291" y="616902"/>
                </a:lnTo>
                <a:lnTo>
                  <a:pt x="649592" y="580707"/>
                </a:lnTo>
                <a:lnTo>
                  <a:pt x="665099" y="539902"/>
                </a:lnTo>
                <a:lnTo>
                  <a:pt x="677506" y="494931"/>
                </a:lnTo>
                <a:lnTo>
                  <a:pt x="686346" y="446176"/>
                </a:lnTo>
                <a:lnTo>
                  <a:pt x="691654" y="393636"/>
                </a:lnTo>
                <a:lnTo>
                  <a:pt x="693420" y="337312"/>
                </a:lnTo>
                <a:close/>
              </a:path>
            </a:pathLst>
          </a:custGeom>
          <a:solidFill>
            <a:srgbClr val="000000"/>
          </a:solidFill>
        </p:spPr>
        <p:txBody>
          <a:bodyPr wrap="square" lIns="0" tIns="0" rIns="0" bIns="0" rtlCol="0"/>
          <a:lstStyle/>
          <a:p>
            <a:endParaRPr/>
          </a:p>
        </p:txBody>
      </p:sp>
      <p:sp>
        <p:nvSpPr>
          <p:cNvPr id="43" name="object 43"/>
          <p:cNvSpPr txBox="1"/>
          <p:nvPr/>
        </p:nvSpPr>
        <p:spPr>
          <a:xfrm>
            <a:off x="1223875" y="4982719"/>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(1,</a:t>
            </a:r>
            <a:r>
              <a:rPr sz="1000" spc="-60" dirty="0">
                <a:cs typeface="Tahoma"/>
              </a:rPr>
              <a:t> </a:t>
            </a:r>
            <a:r>
              <a:rPr sz="1000" spc="25" dirty="0">
                <a:cs typeface="Tahoma"/>
              </a:rPr>
              <a:t>4096</a:t>
            </a:r>
            <a:r>
              <a:rPr sz="1000" spc="-85" dirty="0">
                <a:cs typeface="Tahoma"/>
              </a:rPr>
              <a:t>)</a:t>
            </a:r>
            <a:endParaRPr sz="1000">
              <a:cs typeface="Tahoma"/>
            </a:endParaRPr>
          </a:p>
        </p:txBody>
      </p:sp>
      <p:sp>
        <p:nvSpPr>
          <p:cNvPr id="47" name="object 47"/>
          <p:cNvSpPr txBox="1"/>
          <p:nvPr/>
        </p:nvSpPr>
        <p:spPr>
          <a:xfrm>
            <a:off x="10753979" y="5483371"/>
            <a:ext cx="462280" cy="661720"/>
          </a:xfrm>
          <a:prstGeom prst="rect">
            <a:avLst/>
          </a:prstGeom>
        </p:spPr>
        <p:txBody>
          <a:bodyPr vert="horz" wrap="square" lIns="0" tIns="0" rIns="0" bIns="0" rtlCol="0">
            <a:spAutoFit/>
          </a:bodyPr>
          <a:lstStyle/>
          <a:p>
            <a:pPr marR="5080" algn="r">
              <a:lnSpc>
                <a:spcPts val="2150"/>
              </a:lnSpc>
            </a:pPr>
            <a:r>
              <a:rPr sz="1800" spc="50" dirty="0">
                <a:cs typeface="Cambria Math"/>
              </a:rPr>
              <a:t>𝑄</a:t>
            </a:r>
            <a:r>
              <a:rPr sz="1800" spc="95" dirty="0">
                <a:cs typeface="Cambria Math"/>
              </a:rPr>
              <a:t>𝐾</a:t>
            </a:r>
            <a:r>
              <a:rPr sz="1950" spc="89" baseline="27777" dirty="0">
                <a:cs typeface="Cambria Math"/>
              </a:rPr>
              <a:t>𝑇</a:t>
            </a:r>
            <a:endParaRPr sz="1950" baseline="27777">
              <a:cs typeface="Cambria Math"/>
            </a:endParaRPr>
          </a:p>
          <a:p>
            <a:pPr marR="21590" algn="r">
              <a:lnSpc>
                <a:spcPct val="100000"/>
              </a:lnSpc>
              <a:spcBef>
                <a:spcPts val="765"/>
              </a:spcBef>
            </a:pPr>
            <a:r>
              <a:rPr sz="1800" spc="40" dirty="0">
                <a:cs typeface="Cambria Math"/>
              </a:rPr>
              <a:t>𝑑</a:t>
            </a:r>
            <a:r>
              <a:rPr sz="1950" spc="60" baseline="-14957" dirty="0">
                <a:cs typeface="Cambria Math"/>
              </a:rPr>
              <a:t>𝑘</a:t>
            </a:r>
            <a:endParaRPr sz="1950" baseline="-14957">
              <a:cs typeface="Cambria Math"/>
            </a:endParaRPr>
          </a:p>
        </p:txBody>
      </p:sp>
      <p:sp>
        <p:nvSpPr>
          <p:cNvPr id="48" name="object 48"/>
          <p:cNvSpPr txBox="1"/>
          <p:nvPr/>
        </p:nvSpPr>
        <p:spPr>
          <a:xfrm>
            <a:off x="7667244" y="5693451"/>
            <a:ext cx="1894713" cy="243656"/>
          </a:xfrm>
          <a:prstGeom prst="rect">
            <a:avLst/>
          </a:prstGeom>
        </p:spPr>
        <p:txBody>
          <a:bodyPr vert="horz" wrap="square" lIns="0" tIns="0" rIns="0" bIns="0" rtlCol="0">
            <a:spAutoFit/>
          </a:bodyPr>
          <a:lstStyle/>
          <a:p>
            <a:pPr marL="12700">
              <a:lnSpc>
                <a:spcPts val="1860"/>
              </a:lnSpc>
            </a:pPr>
            <a:r>
              <a:rPr sz="1800" spc="-5" dirty="0">
                <a:cs typeface="Cambria Math"/>
              </a:rPr>
              <a:t>𝐴𝑡</a:t>
            </a:r>
            <a:r>
              <a:rPr sz="1800" spc="-10" dirty="0">
                <a:cs typeface="Cambria Math"/>
              </a:rPr>
              <a:t>𝑡</a:t>
            </a:r>
            <a:r>
              <a:rPr sz="1800" spc="-5" dirty="0">
                <a:cs typeface="Cambria Math"/>
              </a:rPr>
              <a:t>𝑒</a:t>
            </a:r>
            <a:r>
              <a:rPr sz="1800" spc="-10" dirty="0">
                <a:cs typeface="Cambria Math"/>
              </a:rPr>
              <a:t>𝑛</a:t>
            </a:r>
            <a:r>
              <a:rPr sz="1800" spc="5" dirty="0">
                <a:cs typeface="Cambria Math"/>
              </a:rPr>
              <a:t>𝑡</a:t>
            </a:r>
            <a:r>
              <a:rPr sz="1800" dirty="0">
                <a:cs typeface="Cambria Math"/>
              </a:rPr>
              <a:t>𝑖𝑜𝑛 </a:t>
            </a:r>
            <a:r>
              <a:rPr sz="1800" spc="5" dirty="0">
                <a:cs typeface="Cambria Math"/>
              </a:rPr>
              <a:t> </a:t>
            </a:r>
            <a:r>
              <a:rPr sz="1800" spc="40" dirty="0">
                <a:cs typeface="Cambria Math"/>
              </a:rPr>
              <a:t>𝑄</a:t>
            </a:r>
            <a:r>
              <a:rPr sz="1800" dirty="0">
                <a:cs typeface="Cambria Math"/>
              </a:rPr>
              <a:t>,</a:t>
            </a:r>
            <a:r>
              <a:rPr sz="1800" spc="-85" dirty="0">
                <a:cs typeface="Cambria Math"/>
              </a:rPr>
              <a:t> </a:t>
            </a:r>
            <a:r>
              <a:rPr sz="1800" spc="50" dirty="0">
                <a:cs typeface="Cambria Math"/>
              </a:rPr>
              <a:t>𝐾</a:t>
            </a:r>
            <a:r>
              <a:rPr sz="1800" dirty="0">
                <a:cs typeface="Cambria Math"/>
              </a:rPr>
              <a:t>,</a:t>
            </a:r>
            <a:r>
              <a:rPr sz="1800" spc="-85" dirty="0">
                <a:cs typeface="Cambria Math"/>
              </a:rPr>
              <a:t> </a:t>
            </a:r>
            <a:r>
              <a:rPr sz="1800" dirty="0">
                <a:cs typeface="Cambria Math"/>
              </a:rPr>
              <a:t>𝑉</a:t>
            </a:r>
          </a:p>
        </p:txBody>
      </p:sp>
      <p:sp>
        <p:nvSpPr>
          <p:cNvPr id="49" name="object 49"/>
          <p:cNvSpPr txBox="1"/>
          <p:nvPr/>
        </p:nvSpPr>
        <p:spPr>
          <a:xfrm>
            <a:off x="9561957" y="5693451"/>
            <a:ext cx="1038860" cy="243656"/>
          </a:xfrm>
          <a:prstGeom prst="rect">
            <a:avLst/>
          </a:prstGeom>
        </p:spPr>
        <p:txBody>
          <a:bodyPr vert="horz" wrap="square" lIns="0" tIns="0" rIns="0" bIns="0" rtlCol="0">
            <a:spAutoFit/>
          </a:bodyPr>
          <a:lstStyle/>
          <a:p>
            <a:pPr marL="12700">
              <a:lnSpc>
                <a:spcPts val="1860"/>
              </a:lnSpc>
            </a:pPr>
            <a:r>
              <a:rPr sz="1800" dirty="0">
                <a:cs typeface="Cambria Math"/>
              </a:rPr>
              <a:t>=</a:t>
            </a:r>
            <a:r>
              <a:rPr sz="1800" spc="45" dirty="0">
                <a:cs typeface="Cambria Math"/>
              </a:rPr>
              <a:t> </a:t>
            </a:r>
            <a:r>
              <a:rPr sz="1800" spc="-5" dirty="0">
                <a:cs typeface="Cambria Math"/>
              </a:rPr>
              <a:t>softmax</a:t>
            </a:r>
            <a:endParaRPr sz="1800">
              <a:cs typeface="Cambria Math"/>
            </a:endParaRPr>
          </a:p>
        </p:txBody>
      </p:sp>
      <p:sp>
        <p:nvSpPr>
          <p:cNvPr id="50" name="object 50"/>
          <p:cNvSpPr txBox="1"/>
          <p:nvPr/>
        </p:nvSpPr>
        <p:spPr>
          <a:xfrm>
            <a:off x="11381867" y="5693451"/>
            <a:ext cx="168910" cy="243656"/>
          </a:xfrm>
          <a:prstGeom prst="rect">
            <a:avLst/>
          </a:prstGeom>
        </p:spPr>
        <p:txBody>
          <a:bodyPr vert="horz" wrap="square" lIns="0" tIns="0" rIns="0" bIns="0" rtlCol="0">
            <a:spAutoFit/>
          </a:bodyPr>
          <a:lstStyle/>
          <a:p>
            <a:pPr marL="12700">
              <a:lnSpc>
                <a:spcPts val="1860"/>
              </a:lnSpc>
            </a:pPr>
            <a:r>
              <a:rPr sz="1800" dirty="0">
                <a:cs typeface="Cambria Math"/>
              </a:rPr>
              <a:t>𝑉</a:t>
            </a:r>
            <a:endParaRPr sz="1800">
              <a:cs typeface="Cambria Math"/>
            </a:endParaRPr>
          </a:p>
        </p:txBody>
      </p:sp>
      <p:sp>
        <p:nvSpPr>
          <p:cNvPr id="51" name="object 51"/>
          <p:cNvSpPr txBox="1"/>
          <p:nvPr/>
        </p:nvSpPr>
        <p:spPr>
          <a:xfrm>
            <a:off x="674531" y="5815279"/>
            <a:ext cx="1837486" cy="311624"/>
          </a:xfrm>
          <a:prstGeom prst="rect">
            <a:avLst/>
          </a:prstGeom>
        </p:spPr>
        <p:txBody>
          <a:bodyPr vert="horz" wrap="square" lIns="0" tIns="3810" rIns="0" bIns="0" rtlCol="0">
            <a:spAutoFit/>
          </a:bodyPr>
          <a:lstStyle/>
          <a:p>
            <a:pPr marL="12700">
              <a:lnSpc>
                <a:spcPct val="100000"/>
              </a:lnSpc>
              <a:spcBef>
                <a:spcPts val="30"/>
              </a:spcBef>
            </a:pPr>
            <a:r>
              <a:rPr sz="2000" b="1" spc="10" dirty="0">
                <a:solidFill>
                  <a:srgbClr val="FF0000"/>
                </a:solidFill>
                <a:cs typeface="Tahoma"/>
              </a:rPr>
              <a:t>Inference</a:t>
            </a:r>
            <a:r>
              <a:rPr lang="en-US" sz="2000" b="1" dirty="0">
                <a:cs typeface="Tahoma"/>
              </a:rPr>
              <a:t> </a:t>
            </a:r>
            <a:r>
              <a:rPr lang="en-IN" sz="2000" b="1" spc="-30" dirty="0">
                <a:solidFill>
                  <a:srgbClr val="FF0000"/>
                </a:solidFill>
                <a:cs typeface="Tahoma"/>
              </a:rPr>
              <a:t>T</a:t>
            </a:r>
            <a:r>
              <a:rPr lang="en-IN" sz="2000" b="1" spc="-185" dirty="0">
                <a:solidFill>
                  <a:srgbClr val="FF0000"/>
                </a:solidFill>
                <a:cs typeface="Tahoma"/>
              </a:rPr>
              <a:t> </a:t>
            </a:r>
            <a:r>
              <a:rPr sz="2000" b="1" spc="-125" dirty="0">
                <a:solidFill>
                  <a:srgbClr val="FF0000"/>
                </a:solidFill>
                <a:cs typeface="Tahoma"/>
              </a:rPr>
              <a:t>=</a:t>
            </a:r>
            <a:r>
              <a:rPr sz="2000" b="1" spc="-114" dirty="0">
                <a:solidFill>
                  <a:srgbClr val="FF0000"/>
                </a:solidFill>
                <a:cs typeface="Tahoma"/>
              </a:rPr>
              <a:t> </a:t>
            </a:r>
            <a:r>
              <a:rPr sz="2000" b="1" spc="70" dirty="0">
                <a:solidFill>
                  <a:srgbClr val="FF0000"/>
                </a:solidFill>
                <a:cs typeface="Tahoma"/>
              </a:rPr>
              <a:t>2</a:t>
            </a:r>
            <a:endParaRPr sz="2000" b="1" dirty="0">
              <a:cs typeface="Tahoma"/>
            </a:endParaRPr>
          </a:p>
        </p:txBody>
      </p:sp>
      <p:sp>
        <p:nvSpPr>
          <p:cNvPr id="52" name="object 52"/>
          <p:cNvSpPr txBox="1"/>
          <p:nvPr/>
        </p:nvSpPr>
        <p:spPr>
          <a:xfrm>
            <a:off x="5576061" y="6041664"/>
            <a:ext cx="313690" cy="161583"/>
          </a:xfrm>
          <a:prstGeom prst="rect">
            <a:avLst/>
          </a:prstGeom>
        </p:spPr>
        <p:txBody>
          <a:bodyPr vert="horz" wrap="square" lIns="0" tIns="7620" rIns="0" bIns="0" rtlCol="0">
            <a:spAutoFit/>
          </a:bodyPr>
          <a:lstStyle/>
          <a:p>
            <a:pPr marL="12700">
              <a:lnSpc>
                <a:spcPct val="100000"/>
              </a:lnSpc>
              <a:spcBef>
                <a:spcPts val="60"/>
              </a:spcBef>
            </a:pPr>
            <a:r>
              <a:rPr sz="1000" spc="-35" dirty="0">
                <a:cs typeface="Tahoma"/>
              </a:rPr>
              <a:t>(1,</a:t>
            </a:r>
            <a:r>
              <a:rPr sz="1000" spc="-60" dirty="0">
                <a:cs typeface="Tahoma"/>
              </a:rPr>
              <a:t> </a:t>
            </a:r>
            <a:r>
              <a:rPr sz="1000" spc="-35" dirty="0">
                <a:cs typeface="Tahoma"/>
              </a:rPr>
              <a:t>2)</a:t>
            </a:r>
            <a:endParaRPr sz="1000">
              <a:cs typeface="Tahoma"/>
            </a:endParaRPr>
          </a:p>
        </p:txBody>
      </p:sp>
      <p:sp>
        <p:nvSpPr>
          <p:cNvPr id="44" name="object 44"/>
          <p:cNvSpPr txBox="1"/>
          <p:nvPr/>
        </p:nvSpPr>
        <p:spPr>
          <a:xfrm>
            <a:off x="3343403" y="4982719"/>
            <a:ext cx="531495" cy="166071"/>
          </a:xfrm>
          <a:prstGeom prst="rect">
            <a:avLst/>
          </a:prstGeom>
        </p:spPr>
        <p:txBody>
          <a:bodyPr vert="horz" wrap="square" lIns="0" tIns="12065" rIns="0" bIns="0" rtlCol="0">
            <a:spAutoFit/>
          </a:bodyPr>
          <a:lstStyle/>
          <a:p>
            <a:pPr marL="12700">
              <a:lnSpc>
                <a:spcPct val="100000"/>
              </a:lnSpc>
              <a:spcBef>
                <a:spcPts val="95"/>
              </a:spcBef>
            </a:pPr>
            <a:r>
              <a:rPr sz="1000" dirty="0">
                <a:cs typeface="Tahoma"/>
              </a:rPr>
              <a:t>(40</a:t>
            </a:r>
            <a:r>
              <a:rPr sz="1000" spc="-5" dirty="0">
                <a:cs typeface="Tahoma"/>
              </a:rPr>
              <a:t>9</a:t>
            </a:r>
            <a:r>
              <a:rPr sz="1000" spc="-15" dirty="0">
                <a:cs typeface="Tahoma"/>
              </a:rPr>
              <a:t>6</a:t>
            </a:r>
            <a:r>
              <a:rPr sz="1000" spc="-5" dirty="0">
                <a:cs typeface="Tahoma"/>
              </a:rPr>
              <a:t>,</a:t>
            </a:r>
            <a:r>
              <a:rPr sz="1000" spc="-75" dirty="0">
                <a:cs typeface="Tahoma"/>
              </a:rPr>
              <a:t> </a:t>
            </a:r>
            <a:r>
              <a:rPr sz="1000" spc="-35" dirty="0">
                <a:cs typeface="Tahoma"/>
              </a:rPr>
              <a:t>2)</a:t>
            </a:r>
            <a:endParaRPr sz="1000">
              <a:cs typeface="Tahoma"/>
            </a:endParaRPr>
          </a:p>
        </p:txBody>
      </p:sp>
      <p:sp>
        <p:nvSpPr>
          <p:cNvPr id="45" name="object 45"/>
          <p:cNvSpPr txBox="1"/>
          <p:nvPr/>
        </p:nvSpPr>
        <p:spPr>
          <a:xfrm>
            <a:off x="8670735" y="5156657"/>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(2,</a:t>
            </a:r>
            <a:r>
              <a:rPr sz="1000" spc="-60" dirty="0">
                <a:cs typeface="Tahoma"/>
              </a:rPr>
              <a:t> </a:t>
            </a:r>
            <a:r>
              <a:rPr sz="1000" spc="25" dirty="0">
                <a:cs typeface="Tahoma"/>
              </a:rPr>
              <a:t>4096</a:t>
            </a:r>
            <a:r>
              <a:rPr sz="1000" spc="-85" dirty="0">
                <a:cs typeface="Tahoma"/>
              </a:rPr>
              <a:t>)</a:t>
            </a:r>
            <a:endParaRPr sz="1000">
              <a:cs typeface="Tahoma"/>
            </a:endParaRPr>
          </a:p>
        </p:txBody>
      </p:sp>
      <p:sp>
        <p:nvSpPr>
          <p:cNvPr id="46" name="object 46"/>
          <p:cNvSpPr txBox="1"/>
          <p:nvPr/>
        </p:nvSpPr>
        <p:spPr>
          <a:xfrm>
            <a:off x="10710229" y="5154499"/>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(1,</a:t>
            </a:r>
            <a:r>
              <a:rPr sz="1000" spc="-60" dirty="0">
                <a:cs typeface="Tahoma"/>
              </a:rPr>
              <a:t> </a:t>
            </a:r>
            <a:r>
              <a:rPr sz="1000" spc="25" dirty="0">
                <a:cs typeface="Tahoma"/>
              </a:rPr>
              <a:t>4096</a:t>
            </a:r>
            <a:r>
              <a:rPr sz="1000" spc="-85" dirty="0">
                <a:cs typeface="Tahoma"/>
              </a:rPr>
              <a:t>)</a:t>
            </a:r>
            <a:endParaRPr sz="1000">
              <a:cs typeface="Tahoma"/>
            </a:endParaRPr>
          </a:p>
        </p:txBody>
      </p:sp>
      <p:sp>
        <p:nvSpPr>
          <p:cNvPr id="56" name="Title 1">
            <a:extLst>
              <a:ext uri="{FF2B5EF4-FFF2-40B4-BE49-F238E27FC236}">
                <a16:creationId xmlns:a16="http://schemas.microsoft.com/office/drawing/2014/main" id="{6F7D8164-CAF1-4AAE-E808-FDBD778F3FC9}"/>
              </a:ext>
            </a:extLst>
          </p:cNvPr>
          <p:cNvSpPr txBox="1">
            <a:spLocks/>
          </p:cNvSpPr>
          <p:nvPr/>
        </p:nvSpPr>
        <p:spPr>
          <a:xfrm>
            <a:off x="669552" y="594335"/>
            <a:ext cx="10863635" cy="639153"/>
          </a:xfrm>
          <a:prstGeom prst="rect">
            <a:avLst/>
          </a:prstGeom>
        </p:spPr>
        <p:txBody>
          <a:bodyPr vert="horz" lIns="0" tIns="0" rIns="0" bIns="0" rtlCol="0" anchor="ctr">
            <a:normAutofit fontScale="97500"/>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US" dirty="0">
                <a:latin typeface="+mn-lt"/>
              </a:rPr>
              <a:t>Self-Attention with KV-Cache</a:t>
            </a:r>
            <a:endParaRPr lang="en-IN" dirty="0">
              <a:latin typeface="+mn-l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968605" y="2825752"/>
            <a:ext cx="1123315" cy="1945639"/>
            <a:chOff x="470001" y="2975610"/>
            <a:chExt cx="1123315" cy="1945639"/>
          </a:xfrm>
        </p:grpSpPr>
        <p:sp>
          <p:nvSpPr>
            <p:cNvPr id="4" name="object 4"/>
            <p:cNvSpPr/>
            <p:nvPr/>
          </p:nvSpPr>
          <p:spPr>
            <a:xfrm>
              <a:off x="482701" y="2988310"/>
              <a:ext cx="1097280" cy="213360"/>
            </a:xfrm>
            <a:custGeom>
              <a:avLst/>
              <a:gdLst/>
              <a:ahLst/>
              <a:cxnLst/>
              <a:rect l="l" t="t" r="r" b="b"/>
              <a:pathLst>
                <a:path w="1097280" h="213360">
                  <a:moveTo>
                    <a:pt x="1097241" y="0"/>
                  </a:moveTo>
                  <a:lnTo>
                    <a:pt x="0" y="0"/>
                  </a:lnTo>
                  <a:lnTo>
                    <a:pt x="0" y="213360"/>
                  </a:lnTo>
                  <a:lnTo>
                    <a:pt x="1097241" y="213360"/>
                  </a:lnTo>
                  <a:lnTo>
                    <a:pt x="1097241" y="0"/>
                  </a:lnTo>
                  <a:close/>
                </a:path>
              </a:pathLst>
            </a:custGeom>
            <a:solidFill>
              <a:srgbClr val="FBEBEA"/>
            </a:solidFill>
          </p:spPr>
          <p:txBody>
            <a:bodyPr wrap="square" lIns="0" tIns="0" rIns="0" bIns="0" rtlCol="0"/>
            <a:lstStyle/>
            <a:p>
              <a:endParaRPr/>
            </a:p>
          </p:txBody>
        </p:sp>
        <p:sp>
          <p:nvSpPr>
            <p:cNvPr id="5" name="object 5"/>
            <p:cNvSpPr/>
            <p:nvPr/>
          </p:nvSpPr>
          <p:spPr>
            <a:xfrm>
              <a:off x="476351" y="3195320"/>
              <a:ext cx="1110615" cy="12700"/>
            </a:xfrm>
            <a:custGeom>
              <a:avLst/>
              <a:gdLst/>
              <a:ahLst/>
              <a:cxnLst/>
              <a:rect l="l" t="t" r="r" b="b"/>
              <a:pathLst>
                <a:path w="1110615" h="12700">
                  <a:moveTo>
                    <a:pt x="0" y="12700"/>
                  </a:moveTo>
                  <a:lnTo>
                    <a:pt x="1110005" y="12700"/>
                  </a:lnTo>
                  <a:lnTo>
                    <a:pt x="1110005" y="0"/>
                  </a:lnTo>
                  <a:lnTo>
                    <a:pt x="0" y="0"/>
                  </a:lnTo>
                  <a:lnTo>
                    <a:pt x="0" y="12700"/>
                  </a:lnTo>
                  <a:close/>
                </a:path>
              </a:pathLst>
            </a:custGeom>
            <a:solidFill>
              <a:srgbClr val="000000"/>
            </a:solidFill>
          </p:spPr>
          <p:txBody>
            <a:bodyPr wrap="square" lIns="0" tIns="0" rIns="0" bIns="0" rtlCol="0"/>
            <a:lstStyle/>
            <a:p>
              <a:endParaRPr/>
            </a:p>
          </p:txBody>
        </p:sp>
        <p:sp>
          <p:nvSpPr>
            <p:cNvPr id="6" name="object 6"/>
            <p:cNvSpPr/>
            <p:nvPr/>
          </p:nvSpPr>
          <p:spPr>
            <a:xfrm>
              <a:off x="482701"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7" name="object 7"/>
            <p:cNvSpPr/>
            <p:nvPr/>
          </p:nvSpPr>
          <p:spPr>
            <a:xfrm>
              <a:off x="482701" y="3201670"/>
              <a:ext cx="0" cy="1713230"/>
            </a:xfrm>
            <a:custGeom>
              <a:avLst/>
              <a:gdLst/>
              <a:ahLst/>
              <a:cxnLst/>
              <a:rect l="l" t="t" r="r" b="b"/>
              <a:pathLst>
                <a:path h="1713229">
                  <a:moveTo>
                    <a:pt x="0" y="0"/>
                  </a:moveTo>
                  <a:lnTo>
                    <a:pt x="0" y="1713229"/>
                  </a:lnTo>
                </a:path>
              </a:pathLst>
            </a:custGeom>
            <a:ln w="12700">
              <a:solidFill>
                <a:srgbClr val="FFFFFF"/>
              </a:solidFill>
            </a:ln>
          </p:spPr>
          <p:txBody>
            <a:bodyPr wrap="square" lIns="0" tIns="0" rIns="0" bIns="0" rtlCol="0"/>
            <a:lstStyle/>
            <a:p>
              <a:endParaRPr/>
            </a:p>
          </p:txBody>
        </p:sp>
        <p:sp>
          <p:nvSpPr>
            <p:cNvPr id="8" name="object 8"/>
            <p:cNvSpPr/>
            <p:nvPr/>
          </p:nvSpPr>
          <p:spPr>
            <a:xfrm>
              <a:off x="1580006"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9" name="object 9"/>
            <p:cNvSpPr/>
            <p:nvPr/>
          </p:nvSpPr>
          <p:spPr>
            <a:xfrm>
              <a:off x="476351" y="3201670"/>
              <a:ext cx="1110615" cy="1713230"/>
            </a:xfrm>
            <a:custGeom>
              <a:avLst/>
              <a:gdLst/>
              <a:ahLst/>
              <a:cxnLst/>
              <a:rect l="l" t="t" r="r" b="b"/>
              <a:pathLst>
                <a:path w="1110615" h="1713229">
                  <a:moveTo>
                    <a:pt x="1103655" y="0"/>
                  </a:moveTo>
                  <a:lnTo>
                    <a:pt x="1103655" y="1713229"/>
                  </a:lnTo>
                </a:path>
                <a:path w="1110615" h="1713229">
                  <a:moveTo>
                    <a:pt x="0" y="1706879"/>
                  </a:moveTo>
                  <a:lnTo>
                    <a:pt x="1110005" y="1706879"/>
                  </a:lnTo>
                </a:path>
              </a:pathLst>
            </a:custGeom>
            <a:ln w="12700">
              <a:solidFill>
                <a:srgbClr val="FFFFFF"/>
              </a:solidFill>
            </a:ln>
          </p:spPr>
          <p:txBody>
            <a:bodyPr wrap="square" lIns="0" tIns="0" rIns="0" bIns="0" rtlCol="0"/>
            <a:lstStyle/>
            <a:p>
              <a:endParaRPr/>
            </a:p>
          </p:txBody>
        </p:sp>
      </p:grpSp>
      <p:sp>
        <p:nvSpPr>
          <p:cNvPr id="10" name="object 10"/>
          <p:cNvSpPr txBox="1"/>
          <p:nvPr/>
        </p:nvSpPr>
        <p:spPr>
          <a:xfrm>
            <a:off x="981305" y="2838452"/>
            <a:ext cx="1097915" cy="165430"/>
          </a:xfrm>
          <a:prstGeom prst="rect">
            <a:avLst/>
          </a:prstGeom>
          <a:solidFill>
            <a:srgbClr val="FBEBEA"/>
          </a:solidFill>
          <a:ln w="12700">
            <a:solidFill>
              <a:srgbClr val="000000"/>
            </a:solidFill>
          </a:ln>
        </p:spPr>
        <p:txBody>
          <a:bodyPr vert="horz" wrap="square" lIns="0" tIns="41910" rIns="0" bIns="0" rtlCol="0">
            <a:spAutoFit/>
          </a:bodyPr>
          <a:lstStyle/>
          <a:p>
            <a:pPr marL="91440">
              <a:lnSpc>
                <a:spcPct val="100000"/>
              </a:lnSpc>
              <a:spcBef>
                <a:spcPts val="330"/>
              </a:spcBef>
            </a:pPr>
            <a:r>
              <a:rPr sz="800" spc="45" dirty="0">
                <a:cs typeface="Tahoma"/>
              </a:rPr>
              <a:t>TO</a:t>
            </a:r>
            <a:r>
              <a:rPr sz="800" spc="35" dirty="0">
                <a:cs typeface="Tahoma"/>
              </a:rPr>
              <a:t>K</a:t>
            </a:r>
            <a:r>
              <a:rPr sz="800" spc="25" dirty="0">
                <a:cs typeface="Tahoma"/>
              </a:rPr>
              <a:t>E</a:t>
            </a:r>
            <a:r>
              <a:rPr sz="800" spc="80" dirty="0">
                <a:cs typeface="Tahoma"/>
              </a:rPr>
              <a:t>N</a:t>
            </a:r>
            <a:r>
              <a:rPr sz="800" spc="-75" dirty="0">
                <a:cs typeface="Tahoma"/>
              </a:rPr>
              <a:t> </a:t>
            </a:r>
            <a:r>
              <a:rPr sz="800" spc="25" dirty="0">
                <a:cs typeface="Tahoma"/>
              </a:rPr>
              <a:t>3</a:t>
            </a:r>
            <a:endParaRPr sz="800">
              <a:cs typeface="Tahoma"/>
            </a:endParaRPr>
          </a:p>
        </p:txBody>
      </p:sp>
      <p:graphicFrame>
        <p:nvGraphicFramePr>
          <p:cNvPr id="11" name="object 11"/>
          <p:cNvGraphicFramePr>
            <a:graphicFrameLocks noGrp="1"/>
          </p:cNvGraphicFramePr>
          <p:nvPr>
            <p:extLst>
              <p:ext uri="{D42A27DB-BD31-4B8C-83A1-F6EECF244321}">
                <p14:modId xmlns:p14="http://schemas.microsoft.com/office/powerpoint/2010/main" val="2036288174"/>
              </p:ext>
            </p:extLst>
          </p:nvPr>
        </p:nvGraphicFramePr>
        <p:xfrm>
          <a:off x="2705609" y="3035047"/>
          <a:ext cx="1880867" cy="1514348"/>
        </p:xfrm>
        <a:graphic>
          <a:graphicData uri="http://schemas.openxmlformats.org/drawingml/2006/table">
            <a:tbl>
              <a:tblPr firstRow="1" bandRow="1">
                <a:tableStyleId>{2D5ABB26-0587-4C30-8999-92F81FD0307C}</a:tableStyleId>
              </a:tblPr>
              <a:tblGrid>
                <a:gridCol w="208279">
                  <a:extLst>
                    <a:ext uri="{9D8B030D-6E8A-4147-A177-3AD203B41FA5}">
                      <a16:colId xmlns:a16="http://schemas.microsoft.com/office/drawing/2014/main" val="20000"/>
                    </a:ext>
                  </a:extLst>
                </a:gridCol>
                <a:gridCol w="208279">
                  <a:extLst>
                    <a:ext uri="{9D8B030D-6E8A-4147-A177-3AD203B41FA5}">
                      <a16:colId xmlns:a16="http://schemas.microsoft.com/office/drawing/2014/main" val="20001"/>
                    </a:ext>
                  </a:extLst>
                </a:gridCol>
                <a:gridCol w="208279">
                  <a:extLst>
                    <a:ext uri="{9D8B030D-6E8A-4147-A177-3AD203B41FA5}">
                      <a16:colId xmlns:a16="http://schemas.microsoft.com/office/drawing/2014/main" val="20002"/>
                    </a:ext>
                  </a:extLst>
                </a:gridCol>
                <a:gridCol w="1256030">
                  <a:extLst>
                    <a:ext uri="{9D8B030D-6E8A-4147-A177-3AD203B41FA5}">
                      <a16:colId xmlns:a16="http://schemas.microsoft.com/office/drawing/2014/main" val="20003"/>
                    </a:ext>
                  </a:extLst>
                </a:gridCol>
              </a:tblGrid>
              <a:tr h="1514348">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1</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2</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3</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0"/>
                  </a:ext>
                </a:extLst>
              </a:tr>
            </a:tbl>
          </a:graphicData>
        </a:graphic>
      </p:graphicFrame>
      <p:sp>
        <p:nvSpPr>
          <p:cNvPr id="12" name="object 12"/>
          <p:cNvSpPr txBox="1"/>
          <p:nvPr/>
        </p:nvSpPr>
        <p:spPr>
          <a:xfrm>
            <a:off x="2305559" y="3498978"/>
            <a:ext cx="17335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𝑋</a:t>
            </a:r>
            <a:endParaRPr sz="1800">
              <a:cs typeface="Cambria Math"/>
            </a:endParaRPr>
          </a:p>
        </p:txBody>
      </p:sp>
      <p:sp>
        <p:nvSpPr>
          <p:cNvPr id="13" name="object 13"/>
          <p:cNvSpPr txBox="1"/>
          <p:nvPr/>
        </p:nvSpPr>
        <p:spPr>
          <a:xfrm>
            <a:off x="4813809" y="3498978"/>
            <a:ext cx="19621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a:t>
            </a:r>
            <a:endParaRPr sz="1800">
              <a:cs typeface="Cambria Math"/>
            </a:endParaRPr>
          </a:p>
        </p:txBody>
      </p:sp>
      <p:graphicFrame>
        <p:nvGraphicFramePr>
          <p:cNvPr id="14" name="object 14"/>
          <p:cNvGraphicFramePr>
            <a:graphicFrameLocks noGrp="1"/>
          </p:cNvGraphicFramePr>
          <p:nvPr>
            <p:extLst>
              <p:ext uri="{D42A27DB-BD31-4B8C-83A1-F6EECF244321}">
                <p14:modId xmlns:p14="http://schemas.microsoft.com/office/powerpoint/2010/main" val="2402427011"/>
              </p:ext>
            </p:extLst>
          </p:nvPr>
        </p:nvGraphicFramePr>
        <p:xfrm>
          <a:off x="5232020" y="2146302"/>
          <a:ext cx="1988817" cy="3316413"/>
        </p:xfrm>
        <a:graphic>
          <a:graphicData uri="http://schemas.openxmlformats.org/drawingml/2006/table">
            <a:tbl>
              <a:tblPr firstRow="1" bandRow="1">
                <a:tableStyleId>{2D5ABB26-0587-4C30-8999-92F81FD0307C}</a:tableStyleId>
              </a:tblPr>
              <a:tblGrid>
                <a:gridCol w="208279">
                  <a:extLst>
                    <a:ext uri="{9D8B030D-6E8A-4147-A177-3AD203B41FA5}">
                      <a16:colId xmlns:a16="http://schemas.microsoft.com/office/drawing/2014/main" val="20000"/>
                    </a:ext>
                  </a:extLst>
                </a:gridCol>
                <a:gridCol w="233679">
                  <a:extLst>
                    <a:ext uri="{9D8B030D-6E8A-4147-A177-3AD203B41FA5}">
                      <a16:colId xmlns:a16="http://schemas.microsoft.com/office/drawing/2014/main" val="20001"/>
                    </a:ext>
                  </a:extLst>
                </a:gridCol>
                <a:gridCol w="220979">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tblGrid>
              <a:tr h="396239">
                <a:tc>
                  <a:txBody>
                    <a:bodyPr/>
                    <a:lstStyle/>
                    <a:p>
                      <a:pPr marL="92075" marR="78740" indent="-635" algn="ctr">
                        <a:lnSpc>
                          <a:spcPct val="100000"/>
                        </a:lnSpc>
                        <a:spcBef>
                          <a:spcPts val="345"/>
                        </a:spcBef>
                      </a:pPr>
                      <a:r>
                        <a:rPr sz="400" dirty="0">
                          <a:latin typeface="Tahoma"/>
                          <a:cs typeface="Tahoma"/>
                        </a:rPr>
                        <a:t>T  3</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104775" indent="-635" algn="ctr">
                        <a:lnSpc>
                          <a:spcPct val="100000"/>
                        </a:lnSpc>
                        <a:spcBef>
                          <a:spcPts val="345"/>
                        </a:spcBef>
                      </a:pPr>
                      <a:r>
                        <a:rPr sz="400" dirty="0">
                          <a:latin typeface="Tahoma"/>
                          <a:cs typeface="Tahoma"/>
                        </a:rPr>
                        <a:t>T  3</a:t>
                      </a:r>
                      <a:endParaRPr sz="400">
                        <a:latin typeface="Tahoma"/>
                        <a:cs typeface="Tahoma"/>
                      </a:endParaRPr>
                    </a:p>
                    <a:p>
                      <a:pPr marL="92075" marR="104775" algn="just">
                        <a:lnSpc>
                          <a:spcPct val="100000"/>
                        </a:lnSpc>
                      </a:pPr>
                      <a:r>
                        <a:rPr sz="400" dirty="0">
                          <a:latin typeface="Tahoma"/>
                          <a:cs typeface="Tahoma"/>
                        </a:rPr>
                        <a:t>-  T  2</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3</a:t>
                      </a:r>
                      <a:endParaRPr sz="400">
                        <a:latin typeface="Tahoma"/>
                        <a:cs typeface="Tahoma"/>
                      </a:endParaRPr>
                    </a:p>
                    <a:p>
                      <a:pPr marL="92075" marR="91440" algn="just">
                        <a:lnSpc>
                          <a:spcPct val="100000"/>
                        </a:lnSpc>
                      </a:pPr>
                      <a:r>
                        <a:rPr sz="400" dirty="0">
                          <a:latin typeface="Tahoma"/>
                          <a:cs typeface="Tahoma"/>
                        </a:rPr>
                        <a:t>-  T  3</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0"/>
                  </a:ext>
                </a:extLst>
              </a:tr>
              <a:tr h="2920174">
                <a:tc gridSpan="4">
                  <a:txBody>
                    <a:bodyPr/>
                    <a:lstStyle/>
                    <a:p>
                      <a:pPr>
                        <a:lnSpc>
                          <a:spcPct val="100000"/>
                        </a:lnSpc>
                      </a:pPr>
                      <a:endParaRPr sz="14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cap="flat" cmpd="sng" algn="ctr">
                      <a:solidFill>
                        <a:srgbClr val="000000"/>
                      </a:solidFill>
                      <a:prstDash val="solid"/>
                      <a:round/>
                      <a:headEnd type="none" w="med" len="med"/>
                      <a:tailEnd type="none" w="med" len="med"/>
                    </a:lnT>
                    <a:lnB w="12700">
                      <a:solidFill>
                        <a:srgbClr val="FFFFFF"/>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pSp>
        <p:nvGrpSpPr>
          <p:cNvPr id="15" name="object 15"/>
          <p:cNvGrpSpPr/>
          <p:nvPr/>
        </p:nvGrpSpPr>
        <p:grpSpPr>
          <a:xfrm>
            <a:off x="10405743" y="3001346"/>
            <a:ext cx="1109980" cy="1932939"/>
            <a:chOff x="10087609" y="2981960"/>
            <a:chExt cx="1109980" cy="1932939"/>
          </a:xfrm>
        </p:grpSpPr>
        <p:sp>
          <p:nvSpPr>
            <p:cNvPr id="16" name="object 16"/>
            <p:cNvSpPr/>
            <p:nvPr/>
          </p:nvSpPr>
          <p:spPr>
            <a:xfrm>
              <a:off x="10093959" y="2988310"/>
              <a:ext cx="1097280" cy="213360"/>
            </a:xfrm>
            <a:custGeom>
              <a:avLst/>
              <a:gdLst/>
              <a:ahLst/>
              <a:cxnLst/>
              <a:rect l="l" t="t" r="r" b="b"/>
              <a:pathLst>
                <a:path w="1097279" h="213360">
                  <a:moveTo>
                    <a:pt x="1097241" y="0"/>
                  </a:moveTo>
                  <a:lnTo>
                    <a:pt x="0" y="0"/>
                  </a:lnTo>
                  <a:lnTo>
                    <a:pt x="0" y="213360"/>
                  </a:lnTo>
                  <a:lnTo>
                    <a:pt x="1097241" y="213360"/>
                  </a:lnTo>
                  <a:lnTo>
                    <a:pt x="1097241" y="0"/>
                  </a:lnTo>
                  <a:close/>
                </a:path>
              </a:pathLst>
            </a:custGeom>
            <a:solidFill>
              <a:srgbClr val="FFAD78"/>
            </a:solidFill>
          </p:spPr>
          <p:txBody>
            <a:bodyPr wrap="square" lIns="0" tIns="0" rIns="0" bIns="0" rtlCol="0"/>
            <a:lstStyle/>
            <a:p>
              <a:endParaRPr/>
            </a:p>
          </p:txBody>
        </p:sp>
        <p:sp>
          <p:nvSpPr>
            <p:cNvPr id="17" name="object 17"/>
            <p:cNvSpPr/>
            <p:nvPr/>
          </p:nvSpPr>
          <p:spPr>
            <a:xfrm>
              <a:off x="10087609" y="3195320"/>
              <a:ext cx="1109980" cy="12700"/>
            </a:xfrm>
            <a:custGeom>
              <a:avLst/>
              <a:gdLst/>
              <a:ahLst/>
              <a:cxnLst/>
              <a:rect l="l" t="t" r="r" b="b"/>
              <a:pathLst>
                <a:path w="1109979" h="12700">
                  <a:moveTo>
                    <a:pt x="0" y="12700"/>
                  </a:moveTo>
                  <a:lnTo>
                    <a:pt x="1109980" y="12700"/>
                  </a:lnTo>
                  <a:lnTo>
                    <a:pt x="1109980" y="0"/>
                  </a:lnTo>
                  <a:lnTo>
                    <a:pt x="0" y="0"/>
                  </a:lnTo>
                  <a:lnTo>
                    <a:pt x="0" y="12700"/>
                  </a:lnTo>
                  <a:close/>
                </a:path>
              </a:pathLst>
            </a:custGeom>
            <a:solidFill>
              <a:srgbClr val="000000"/>
            </a:solidFill>
          </p:spPr>
          <p:txBody>
            <a:bodyPr wrap="square" lIns="0" tIns="0" rIns="0" bIns="0" rtlCol="0"/>
            <a:lstStyle/>
            <a:p>
              <a:endParaRPr/>
            </a:p>
          </p:txBody>
        </p:sp>
        <p:sp>
          <p:nvSpPr>
            <p:cNvPr id="18" name="object 18"/>
            <p:cNvSpPr/>
            <p:nvPr/>
          </p:nvSpPr>
          <p:spPr>
            <a:xfrm>
              <a:off x="10093959"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19" name="object 19"/>
            <p:cNvSpPr/>
            <p:nvPr/>
          </p:nvSpPr>
          <p:spPr>
            <a:xfrm>
              <a:off x="10093959" y="3201670"/>
              <a:ext cx="0" cy="1713230"/>
            </a:xfrm>
            <a:custGeom>
              <a:avLst/>
              <a:gdLst/>
              <a:ahLst/>
              <a:cxnLst/>
              <a:rect l="l" t="t" r="r" b="b"/>
              <a:pathLst>
                <a:path h="1713229">
                  <a:moveTo>
                    <a:pt x="0" y="0"/>
                  </a:moveTo>
                  <a:lnTo>
                    <a:pt x="0" y="1713229"/>
                  </a:lnTo>
                </a:path>
              </a:pathLst>
            </a:custGeom>
            <a:ln w="12700">
              <a:solidFill>
                <a:srgbClr val="FFFFFF"/>
              </a:solidFill>
            </a:ln>
          </p:spPr>
          <p:txBody>
            <a:bodyPr wrap="square" lIns="0" tIns="0" rIns="0" bIns="0" rtlCol="0"/>
            <a:lstStyle/>
            <a:p>
              <a:endParaRPr/>
            </a:p>
          </p:txBody>
        </p:sp>
        <p:sp>
          <p:nvSpPr>
            <p:cNvPr id="20" name="object 20"/>
            <p:cNvSpPr/>
            <p:nvPr/>
          </p:nvSpPr>
          <p:spPr>
            <a:xfrm>
              <a:off x="11191239"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21" name="object 21"/>
            <p:cNvSpPr/>
            <p:nvPr/>
          </p:nvSpPr>
          <p:spPr>
            <a:xfrm>
              <a:off x="10087609" y="3201670"/>
              <a:ext cx="1109980" cy="1713230"/>
            </a:xfrm>
            <a:custGeom>
              <a:avLst/>
              <a:gdLst/>
              <a:ahLst/>
              <a:cxnLst/>
              <a:rect l="l" t="t" r="r" b="b"/>
              <a:pathLst>
                <a:path w="1109979" h="1713229">
                  <a:moveTo>
                    <a:pt x="1103630" y="0"/>
                  </a:moveTo>
                  <a:lnTo>
                    <a:pt x="1103630" y="1713229"/>
                  </a:lnTo>
                </a:path>
                <a:path w="1109979" h="1713229">
                  <a:moveTo>
                    <a:pt x="0" y="1706879"/>
                  </a:moveTo>
                  <a:lnTo>
                    <a:pt x="1109980" y="1706879"/>
                  </a:lnTo>
                </a:path>
              </a:pathLst>
            </a:custGeom>
            <a:ln w="12700">
              <a:solidFill>
                <a:srgbClr val="FFFFFF"/>
              </a:solidFill>
            </a:ln>
          </p:spPr>
          <p:txBody>
            <a:bodyPr wrap="square" lIns="0" tIns="0" rIns="0" bIns="0" rtlCol="0"/>
            <a:lstStyle/>
            <a:p>
              <a:endParaRPr/>
            </a:p>
          </p:txBody>
        </p:sp>
      </p:grpSp>
      <p:sp>
        <p:nvSpPr>
          <p:cNvPr id="22" name="object 22"/>
          <p:cNvSpPr txBox="1"/>
          <p:nvPr/>
        </p:nvSpPr>
        <p:spPr>
          <a:xfrm>
            <a:off x="10412093" y="3007696"/>
            <a:ext cx="1097280" cy="165430"/>
          </a:xfrm>
          <a:prstGeom prst="rect">
            <a:avLst/>
          </a:prstGeom>
          <a:solidFill>
            <a:srgbClr val="FFAD78"/>
          </a:solidFill>
          <a:ln w="12700">
            <a:solidFill>
              <a:srgbClr val="000000"/>
            </a:solidFill>
          </a:ln>
        </p:spPr>
        <p:txBody>
          <a:bodyPr vert="horz" wrap="square" lIns="0" tIns="41910" rIns="0" bIns="0" rtlCol="0">
            <a:spAutoFit/>
          </a:bodyPr>
          <a:lstStyle/>
          <a:p>
            <a:pPr marL="92710">
              <a:lnSpc>
                <a:spcPct val="100000"/>
              </a:lnSpc>
              <a:spcBef>
                <a:spcPts val="330"/>
              </a:spcBef>
            </a:pPr>
            <a:r>
              <a:rPr sz="800" spc="75" dirty="0">
                <a:cs typeface="Tahoma"/>
              </a:rPr>
              <a:t>OU</a:t>
            </a:r>
            <a:r>
              <a:rPr sz="800" spc="15" dirty="0">
                <a:cs typeface="Tahoma"/>
              </a:rPr>
              <a:t>TP</a:t>
            </a:r>
            <a:r>
              <a:rPr sz="800" spc="10" dirty="0">
                <a:cs typeface="Tahoma"/>
              </a:rPr>
              <a:t>U</a:t>
            </a:r>
            <a:r>
              <a:rPr sz="800" spc="-10" dirty="0">
                <a:cs typeface="Tahoma"/>
              </a:rPr>
              <a:t>T</a:t>
            </a:r>
            <a:r>
              <a:rPr sz="800" spc="-100" dirty="0">
                <a:cs typeface="Tahoma"/>
              </a:rPr>
              <a:t> </a:t>
            </a:r>
            <a:r>
              <a:rPr sz="800" spc="45" dirty="0">
                <a:cs typeface="Tahoma"/>
              </a:rPr>
              <a:t>TO</a:t>
            </a:r>
            <a:r>
              <a:rPr sz="800" spc="35" dirty="0">
                <a:cs typeface="Tahoma"/>
              </a:rPr>
              <a:t>K</a:t>
            </a:r>
            <a:r>
              <a:rPr sz="800" spc="25" dirty="0">
                <a:cs typeface="Tahoma"/>
              </a:rPr>
              <a:t>E</a:t>
            </a:r>
            <a:r>
              <a:rPr sz="800" spc="80" dirty="0">
                <a:cs typeface="Tahoma"/>
              </a:rPr>
              <a:t>N</a:t>
            </a:r>
            <a:r>
              <a:rPr sz="800" spc="-75" dirty="0">
                <a:cs typeface="Tahoma"/>
              </a:rPr>
              <a:t> </a:t>
            </a:r>
            <a:r>
              <a:rPr sz="800" spc="25" dirty="0">
                <a:cs typeface="Tahoma"/>
              </a:rPr>
              <a:t>3</a:t>
            </a:r>
            <a:endParaRPr sz="800">
              <a:cs typeface="Tahoma"/>
            </a:endParaRPr>
          </a:p>
        </p:txBody>
      </p:sp>
      <p:sp>
        <p:nvSpPr>
          <p:cNvPr id="23" name="object 23"/>
          <p:cNvSpPr/>
          <p:nvPr/>
        </p:nvSpPr>
        <p:spPr>
          <a:xfrm>
            <a:off x="789688" y="1823721"/>
            <a:ext cx="173990" cy="3621404"/>
          </a:xfrm>
          <a:custGeom>
            <a:avLst/>
            <a:gdLst/>
            <a:ahLst/>
            <a:cxnLst/>
            <a:rect l="l" t="t" r="r" b="b"/>
            <a:pathLst>
              <a:path w="173990" h="3621404">
                <a:moveTo>
                  <a:pt x="173736" y="3621024"/>
                </a:moveTo>
                <a:lnTo>
                  <a:pt x="106111" y="3619886"/>
                </a:lnTo>
                <a:lnTo>
                  <a:pt x="50887" y="3616785"/>
                </a:lnTo>
                <a:lnTo>
                  <a:pt x="13653" y="3612183"/>
                </a:lnTo>
                <a:lnTo>
                  <a:pt x="0" y="3606546"/>
                </a:lnTo>
                <a:lnTo>
                  <a:pt x="0" y="14478"/>
                </a:lnTo>
                <a:lnTo>
                  <a:pt x="13653" y="8840"/>
                </a:lnTo>
                <a:lnTo>
                  <a:pt x="50887" y="4238"/>
                </a:lnTo>
                <a:lnTo>
                  <a:pt x="106111" y="1137"/>
                </a:lnTo>
                <a:lnTo>
                  <a:pt x="173736" y="0"/>
                </a:lnTo>
              </a:path>
            </a:pathLst>
          </a:custGeom>
          <a:ln w="76200">
            <a:solidFill>
              <a:srgbClr val="4E91EF"/>
            </a:solidFill>
          </a:ln>
        </p:spPr>
        <p:txBody>
          <a:bodyPr wrap="square" lIns="0" tIns="0" rIns="0" bIns="0" rtlCol="0"/>
          <a:lstStyle/>
          <a:p>
            <a:endParaRPr/>
          </a:p>
        </p:txBody>
      </p:sp>
      <p:sp>
        <p:nvSpPr>
          <p:cNvPr id="24" name="object 24"/>
          <p:cNvSpPr/>
          <p:nvPr/>
        </p:nvSpPr>
        <p:spPr>
          <a:xfrm>
            <a:off x="7437375" y="1823721"/>
            <a:ext cx="173990" cy="3621404"/>
          </a:xfrm>
          <a:custGeom>
            <a:avLst/>
            <a:gdLst/>
            <a:ahLst/>
            <a:cxnLst/>
            <a:rect l="l" t="t" r="r" b="b"/>
            <a:pathLst>
              <a:path w="173990" h="3621404">
                <a:moveTo>
                  <a:pt x="0" y="0"/>
                </a:moveTo>
                <a:lnTo>
                  <a:pt x="67651" y="1137"/>
                </a:lnTo>
                <a:lnTo>
                  <a:pt x="122872" y="4238"/>
                </a:lnTo>
                <a:lnTo>
                  <a:pt x="160091" y="8840"/>
                </a:lnTo>
                <a:lnTo>
                  <a:pt x="173735" y="14478"/>
                </a:lnTo>
                <a:lnTo>
                  <a:pt x="173735" y="3606546"/>
                </a:lnTo>
                <a:lnTo>
                  <a:pt x="160091" y="3612183"/>
                </a:lnTo>
                <a:lnTo>
                  <a:pt x="122872" y="3616785"/>
                </a:lnTo>
                <a:lnTo>
                  <a:pt x="67651" y="3619886"/>
                </a:lnTo>
                <a:lnTo>
                  <a:pt x="0" y="3621024"/>
                </a:lnTo>
              </a:path>
            </a:pathLst>
          </a:custGeom>
          <a:ln w="76200">
            <a:solidFill>
              <a:srgbClr val="4E91EF"/>
            </a:solidFill>
          </a:ln>
        </p:spPr>
        <p:txBody>
          <a:bodyPr wrap="square" lIns="0" tIns="0" rIns="0" bIns="0" rtlCol="0"/>
          <a:lstStyle/>
          <a:p>
            <a:endParaRPr/>
          </a:p>
        </p:txBody>
      </p:sp>
      <p:sp>
        <p:nvSpPr>
          <p:cNvPr id="25" name="object 25"/>
          <p:cNvSpPr txBox="1"/>
          <p:nvPr/>
        </p:nvSpPr>
        <p:spPr>
          <a:xfrm>
            <a:off x="7493889" y="3648836"/>
            <a:ext cx="17335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𝑋</a:t>
            </a:r>
            <a:endParaRPr sz="1800">
              <a:cs typeface="Cambria Math"/>
            </a:endParaRPr>
          </a:p>
        </p:txBody>
      </p:sp>
      <p:sp>
        <p:nvSpPr>
          <p:cNvPr id="26" name="object 26"/>
          <p:cNvSpPr txBox="1"/>
          <p:nvPr/>
        </p:nvSpPr>
        <p:spPr>
          <a:xfrm>
            <a:off x="9843261" y="3668222"/>
            <a:ext cx="19621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a:t>
            </a:r>
            <a:endParaRPr sz="1800">
              <a:cs typeface="Cambria Math"/>
            </a:endParaRPr>
          </a:p>
        </p:txBody>
      </p:sp>
      <p:sp>
        <p:nvSpPr>
          <p:cNvPr id="27" name="object 27"/>
          <p:cNvSpPr txBox="1"/>
          <p:nvPr/>
        </p:nvSpPr>
        <p:spPr>
          <a:xfrm>
            <a:off x="1436270" y="2311782"/>
            <a:ext cx="18034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𝑄</a:t>
            </a:r>
            <a:endParaRPr sz="1800">
              <a:cs typeface="Cambria Math"/>
            </a:endParaRPr>
          </a:p>
        </p:txBody>
      </p:sp>
      <p:sp>
        <p:nvSpPr>
          <p:cNvPr id="28" name="object 28"/>
          <p:cNvSpPr txBox="1"/>
          <p:nvPr/>
        </p:nvSpPr>
        <p:spPr>
          <a:xfrm>
            <a:off x="3511552" y="2231392"/>
            <a:ext cx="351790" cy="299720"/>
          </a:xfrm>
          <a:prstGeom prst="rect">
            <a:avLst/>
          </a:prstGeom>
        </p:spPr>
        <p:txBody>
          <a:bodyPr vert="horz" wrap="square" lIns="0" tIns="12700" rIns="0" bIns="0" rtlCol="0">
            <a:spAutoFit/>
          </a:bodyPr>
          <a:lstStyle/>
          <a:p>
            <a:pPr marL="38100">
              <a:lnSpc>
                <a:spcPct val="100000"/>
              </a:lnSpc>
              <a:spcBef>
                <a:spcPts val="100"/>
              </a:spcBef>
            </a:pPr>
            <a:r>
              <a:rPr sz="2700" spc="97" baseline="-20061" dirty="0">
                <a:cs typeface="Cambria Math"/>
              </a:rPr>
              <a:t>𝐾</a:t>
            </a:r>
            <a:r>
              <a:rPr sz="1300" spc="65" dirty="0">
                <a:cs typeface="Cambria Math"/>
              </a:rPr>
              <a:t>𝑇</a:t>
            </a:r>
            <a:endParaRPr sz="1300">
              <a:cs typeface="Cambria Math"/>
            </a:endParaRPr>
          </a:p>
        </p:txBody>
      </p:sp>
      <p:sp>
        <p:nvSpPr>
          <p:cNvPr id="29" name="object 29"/>
          <p:cNvSpPr txBox="1"/>
          <p:nvPr/>
        </p:nvSpPr>
        <p:spPr>
          <a:xfrm>
            <a:off x="5969509" y="1763143"/>
            <a:ext cx="511809" cy="299720"/>
          </a:xfrm>
          <a:prstGeom prst="rect">
            <a:avLst/>
          </a:prstGeom>
        </p:spPr>
        <p:txBody>
          <a:bodyPr vert="horz" wrap="square" lIns="0" tIns="12700" rIns="0" bIns="0" rtlCol="0">
            <a:spAutoFit/>
          </a:bodyPr>
          <a:lstStyle/>
          <a:p>
            <a:pPr marL="38100">
              <a:lnSpc>
                <a:spcPct val="100000"/>
              </a:lnSpc>
              <a:spcBef>
                <a:spcPts val="100"/>
              </a:spcBef>
            </a:pPr>
            <a:r>
              <a:rPr sz="1800" spc="55" dirty="0">
                <a:cs typeface="Cambria Math"/>
              </a:rPr>
              <a:t>𝑄𝐾</a:t>
            </a:r>
            <a:r>
              <a:rPr sz="1950" spc="82" baseline="27777" dirty="0">
                <a:cs typeface="Cambria Math"/>
              </a:rPr>
              <a:t>𝑇</a:t>
            </a:r>
            <a:endParaRPr sz="1950" baseline="27777">
              <a:cs typeface="Cambria Math"/>
            </a:endParaRPr>
          </a:p>
        </p:txBody>
      </p:sp>
      <p:sp>
        <p:nvSpPr>
          <p:cNvPr id="30" name="object 30"/>
          <p:cNvSpPr txBox="1"/>
          <p:nvPr/>
        </p:nvSpPr>
        <p:spPr>
          <a:xfrm>
            <a:off x="8833991" y="2481026"/>
            <a:ext cx="16891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𝑉</a:t>
            </a:r>
            <a:endParaRPr sz="1800">
              <a:cs typeface="Cambria Math"/>
            </a:endParaRPr>
          </a:p>
        </p:txBody>
      </p:sp>
      <p:sp>
        <p:nvSpPr>
          <p:cNvPr id="31" name="object 31"/>
          <p:cNvSpPr txBox="1"/>
          <p:nvPr/>
        </p:nvSpPr>
        <p:spPr>
          <a:xfrm>
            <a:off x="10453495" y="2476836"/>
            <a:ext cx="1009650" cy="299720"/>
          </a:xfrm>
          <a:prstGeom prst="rect">
            <a:avLst/>
          </a:prstGeom>
        </p:spPr>
        <p:txBody>
          <a:bodyPr vert="horz" wrap="square" lIns="0" tIns="12700" rIns="0" bIns="0" rtlCol="0">
            <a:spAutoFit/>
          </a:bodyPr>
          <a:lstStyle/>
          <a:p>
            <a:pPr marL="12700">
              <a:lnSpc>
                <a:spcPct val="100000"/>
              </a:lnSpc>
              <a:spcBef>
                <a:spcPts val="100"/>
              </a:spcBef>
            </a:pPr>
            <a:r>
              <a:rPr sz="1800" spc="-5" dirty="0">
                <a:cs typeface="Cambria Math"/>
              </a:rPr>
              <a:t>𝐴𝑡</a:t>
            </a:r>
            <a:r>
              <a:rPr sz="1800" spc="-10" dirty="0">
                <a:cs typeface="Cambria Math"/>
              </a:rPr>
              <a:t>𝑡</a:t>
            </a:r>
            <a:r>
              <a:rPr sz="1800" spc="-5" dirty="0">
                <a:cs typeface="Cambria Math"/>
              </a:rPr>
              <a:t>𝑒</a:t>
            </a:r>
            <a:r>
              <a:rPr sz="1800" spc="-10" dirty="0">
                <a:cs typeface="Cambria Math"/>
              </a:rPr>
              <a:t>𝑛</a:t>
            </a:r>
            <a:r>
              <a:rPr sz="1800" dirty="0">
                <a:cs typeface="Cambria Math"/>
              </a:rPr>
              <a:t>𝑡𝑖𝑜𝑛</a:t>
            </a:r>
            <a:endParaRPr sz="1800">
              <a:cs typeface="Cambria Math"/>
            </a:endParaRPr>
          </a:p>
        </p:txBody>
      </p:sp>
      <p:sp>
        <p:nvSpPr>
          <p:cNvPr id="32" name="object 32"/>
          <p:cNvSpPr/>
          <p:nvPr/>
        </p:nvSpPr>
        <p:spPr>
          <a:xfrm>
            <a:off x="8649903" y="5693117"/>
            <a:ext cx="800100" cy="212090"/>
          </a:xfrm>
          <a:custGeom>
            <a:avLst/>
            <a:gdLst/>
            <a:ahLst/>
            <a:cxnLst/>
            <a:rect l="l" t="t" r="r" b="b"/>
            <a:pathLst>
              <a:path w="800100" h="212089">
                <a:moveTo>
                  <a:pt x="732408" y="0"/>
                </a:moveTo>
                <a:lnTo>
                  <a:pt x="729360" y="8597"/>
                </a:lnTo>
                <a:lnTo>
                  <a:pt x="741628" y="13915"/>
                </a:lnTo>
                <a:lnTo>
                  <a:pt x="752157" y="21277"/>
                </a:lnTo>
                <a:lnTo>
                  <a:pt x="773596" y="55406"/>
                </a:lnTo>
                <a:lnTo>
                  <a:pt x="780668" y="104813"/>
                </a:lnTo>
                <a:lnTo>
                  <a:pt x="779883" y="123484"/>
                </a:lnTo>
                <a:lnTo>
                  <a:pt x="768096" y="169214"/>
                </a:lnTo>
                <a:lnTo>
                  <a:pt x="741789" y="197805"/>
                </a:lnTo>
                <a:lnTo>
                  <a:pt x="729741" y="203149"/>
                </a:lnTo>
                <a:lnTo>
                  <a:pt x="732408" y="211747"/>
                </a:lnTo>
                <a:lnTo>
                  <a:pt x="772824" y="187703"/>
                </a:lnTo>
                <a:lnTo>
                  <a:pt x="795591" y="143335"/>
                </a:lnTo>
                <a:lnTo>
                  <a:pt x="799973" y="105930"/>
                </a:lnTo>
                <a:lnTo>
                  <a:pt x="798877" y="86513"/>
                </a:lnTo>
                <a:lnTo>
                  <a:pt x="782447" y="37109"/>
                </a:lnTo>
                <a:lnTo>
                  <a:pt x="747746" y="5541"/>
                </a:lnTo>
                <a:lnTo>
                  <a:pt x="732408" y="0"/>
                </a:lnTo>
                <a:close/>
              </a:path>
              <a:path w="800100" h="212089">
                <a:moveTo>
                  <a:pt x="67563" y="0"/>
                </a:moveTo>
                <a:lnTo>
                  <a:pt x="27112" y="24095"/>
                </a:lnTo>
                <a:lnTo>
                  <a:pt x="4365" y="68572"/>
                </a:lnTo>
                <a:lnTo>
                  <a:pt x="0" y="105930"/>
                </a:lnTo>
                <a:lnTo>
                  <a:pt x="1093" y="125383"/>
                </a:lnTo>
                <a:lnTo>
                  <a:pt x="17399" y="174739"/>
                </a:lnTo>
                <a:lnTo>
                  <a:pt x="52135" y="206205"/>
                </a:lnTo>
                <a:lnTo>
                  <a:pt x="67563" y="211747"/>
                </a:lnTo>
                <a:lnTo>
                  <a:pt x="70230" y="203149"/>
                </a:lnTo>
                <a:lnTo>
                  <a:pt x="58130" y="197805"/>
                </a:lnTo>
                <a:lnTo>
                  <a:pt x="47720" y="190368"/>
                </a:lnTo>
                <a:lnTo>
                  <a:pt x="26376" y="155687"/>
                </a:lnTo>
                <a:lnTo>
                  <a:pt x="19303" y="104813"/>
                </a:lnTo>
                <a:lnTo>
                  <a:pt x="20089" y="86744"/>
                </a:lnTo>
                <a:lnTo>
                  <a:pt x="31876" y="42138"/>
                </a:lnTo>
                <a:lnTo>
                  <a:pt x="58291" y="13915"/>
                </a:lnTo>
                <a:lnTo>
                  <a:pt x="70484" y="8597"/>
                </a:lnTo>
                <a:lnTo>
                  <a:pt x="67563" y="0"/>
                </a:lnTo>
                <a:close/>
              </a:path>
            </a:pathLst>
          </a:custGeom>
          <a:solidFill>
            <a:srgbClr val="000000"/>
          </a:solidFill>
        </p:spPr>
        <p:txBody>
          <a:bodyPr wrap="square" lIns="0" tIns="0" rIns="0" bIns="0" rtlCol="0"/>
          <a:lstStyle/>
          <a:p>
            <a:endParaRPr/>
          </a:p>
        </p:txBody>
      </p:sp>
      <p:sp>
        <p:nvSpPr>
          <p:cNvPr id="33" name="object 33"/>
          <p:cNvSpPr txBox="1"/>
          <p:nvPr/>
        </p:nvSpPr>
        <p:spPr>
          <a:xfrm>
            <a:off x="7625902" y="5623368"/>
            <a:ext cx="1927225" cy="289823"/>
          </a:xfrm>
          <a:prstGeom prst="rect">
            <a:avLst/>
          </a:prstGeom>
        </p:spPr>
        <p:txBody>
          <a:bodyPr vert="horz" wrap="square" lIns="0" tIns="12700" rIns="0" bIns="0" rtlCol="0">
            <a:spAutoFit/>
          </a:bodyPr>
          <a:lstStyle/>
          <a:p>
            <a:pPr marL="12700">
              <a:lnSpc>
                <a:spcPct val="100000"/>
              </a:lnSpc>
              <a:spcBef>
                <a:spcPts val="100"/>
              </a:spcBef>
            </a:pPr>
            <a:r>
              <a:rPr sz="1800" spc="-5" dirty="0">
                <a:cs typeface="Cambria Math"/>
              </a:rPr>
              <a:t>𝐴𝑡</a:t>
            </a:r>
            <a:r>
              <a:rPr sz="1800" spc="-10" dirty="0">
                <a:cs typeface="Cambria Math"/>
              </a:rPr>
              <a:t>𝑡</a:t>
            </a:r>
            <a:r>
              <a:rPr sz="1800" spc="-5" dirty="0">
                <a:cs typeface="Cambria Math"/>
              </a:rPr>
              <a:t>𝑒</a:t>
            </a:r>
            <a:r>
              <a:rPr sz="1800" spc="-10" dirty="0">
                <a:cs typeface="Cambria Math"/>
              </a:rPr>
              <a:t>𝑛</a:t>
            </a:r>
            <a:r>
              <a:rPr sz="1800" spc="5" dirty="0">
                <a:cs typeface="Cambria Math"/>
              </a:rPr>
              <a:t>𝑡</a:t>
            </a:r>
            <a:r>
              <a:rPr sz="1800" dirty="0">
                <a:cs typeface="Cambria Math"/>
              </a:rPr>
              <a:t>𝑖𝑜𝑛 </a:t>
            </a:r>
            <a:r>
              <a:rPr sz="1800" spc="5" dirty="0">
                <a:cs typeface="Cambria Math"/>
              </a:rPr>
              <a:t> </a:t>
            </a:r>
            <a:r>
              <a:rPr sz="1800" spc="40" dirty="0">
                <a:cs typeface="Cambria Math"/>
              </a:rPr>
              <a:t>𝑄</a:t>
            </a:r>
            <a:r>
              <a:rPr sz="1800" dirty="0">
                <a:cs typeface="Cambria Math"/>
              </a:rPr>
              <a:t>,</a:t>
            </a:r>
            <a:r>
              <a:rPr sz="1800" spc="-85" dirty="0">
                <a:cs typeface="Cambria Math"/>
              </a:rPr>
              <a:t> </a:t>
            </a:r>
            <a:r>
              <a:rPr sz="1800" spc="50" dirty="0">
                <a:cs typeface="Cambria Math"/>
              </a:rPr>
              <a:t>𝐾</a:t>
            </a:r>
            <a:r>
              <a:rPr sz="1800" dirty="0">
                <a:cs typeface="Cambria Math"/>
              </a:rPr>
              <a:t>,</a:t>
            </a:r>
            <a:r>
              <a:rPr sz="1800" spc="-85" dirty="0">
                <a:cs typeface="Cambria Math"/>
              </a:rPr>
              <a:t> </a:t>
            </a:r>
            <a:r>
              <a:rPr sz="1800" dirty="0">
                <a:cs typeface="Cambria Math"/>
              </a:rPr>
              <a:t>𝑉</a:t>
            </a:r>
          </a:p>
        </p:txBody>
      </p:sp>
      <p:sp>
        <p:nvSpPr>
          <p:cNvPr id="34" name="object 34"/>
          <p:cNvSpPr txBox="1"/>
          <p:nvPr/>
        </p:nvSpPr>
        <p:spPr>
          <a:xfrm>
            <a:off x="9520615" y="5623368"/>
            <a:ext cx="103886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a:t>
            </a:r>
            <a:r>
              <a:rPr sz="1800" spc="45" dirty="0">
                <a:cs typeface="Cambria Math"/>
              </a:rPr>
              <a:t> </a:t>
            </a:r>
            <a:r>
              <a:rPr sz="1800" spc="-5" dirty="0">
                <a:cs typeface="Cambria Math"/>
              </a:rPr>
              <a:t>softmax</a:t>
            </a:r>
            <a:endParaRPr sz="1800">
              <a:cs typeface="Cambria Math"/>
            </a:endParaRPr>
          </a:p>
        </p:txBody>
      </p:sp>
      <p:sp>
        <p:nvSpPr>
          <p:cNvPr id="35" name="object 35"/>
          <p:cNvSpPr/>
          <p:nvPr/>
        </p:nvSpPr>
        <p:spPr>
          <a:xfrm>
            <a:off x="10602909" y="5460491"/>
            <a:ext cx="693420" cy="675640"/>
          </a:xfrm>
          <a:custGeom>
            <a:avLst/>
            <a:gdLst/>
            <a:ahLst/>
            <a:cxnLst/>
            <a:rect l="l" t="t" r="r" b="b"/>
            <a:pathLst>
              <a:path w="693420" h="675639">
                <a:moveTo>
                  <a:pt x="114173" y="7924"/>
                </a:moveTo>
                <a:lnTo>
                  <a:pt x="62166" y="58623"/>
                </a:lnTo>
                <a:lnTo>
                  <a:pt x="43865" y="94830"/>
                </a:lnTo>
                <a:lnTo>
                  <a:pt x="28321" y="135610"/>
                </a:lnTo>
                <a:lnTo>
                  <a:pt x="15963" y="180543"/>
                </a:lnTo>
                <a:lnTo>
                  <a:pt x="7112" y="229133"/>
                </a:lnTo>
                <a:lnTo>
                  <a:pt x="1778" y="281393"/>
                </a:lnTo>
                <a:lnTo>
                  <a:pt x="0" y="337312"/>
                </a:lnTo>
                <a:lnTo>
                  <a:pt x="1778" y="393636"/>
                </a:lnTo>
                <a:lnTo>
                  <a:pt x="7112" y="446176"/>
                </a:lnTo>
                <a:lnTo>
                  <a:pt x="15963" y="494931"/>
                </a:lnTo>
                <a:lnTo>
                  <a:pt x="28321" y="539902"/>
                </a:lnTo>
                <a:lnTo>
                  <a:pt x="43865" y="580707"/>
                </a:lnTo>
                <a:lnTo>
                  <a:pt x="62166" y="616902"/>
                </a:lnTo>
                <a:lnTo>
                  <a:pt x="107061" y="675525"/>
                </a:lnTo>
                <a:lnTo>
                  <a:pt x="114173" y="667600"/>
                </a:lnTo>
                <a:lnTo>
                  <a:pt x="92976" y="640156"/>
                </a:lnTo>
                <a:lnTo>
                  <a:pt x="74549" y="608368"/>
                </a:lnTo>
                <a:lnTo>
                  <a:pt x="58877" y="572236"/>
                </a:lnTo>
                <a:lnTo>
                  <a:pt x="45974" y="531761"/>
                </a:lnTo>
                <a:lnTo>
                  <a:pt x="35814" y="487641"/>
                </a:lnTo>
                <a:lnTo>
                  <a:pt x="28600" y="440575"/>
                </a:lnTo>
                <a:lnTo>
                  <a:pt x="24282" y="390537"/>
                </a:lnTo>
                <a:lnTo>
                  <a:pt x="22860" y="337312"/>
                </a:lnTo>
                <a:lnTo>
                  <a:pt x="24282" y="284797"/>
                </a:lnTo>
                <a:lnTo>
                  <a:pt x="28600" y="234924"/>
                </a:lnTo>
                <a:lnTo>
                  <a:pt x="35814" y="187934"/>
                </a:lnTo>
                <a:lnTo>
                  <a:pt x="45974" y="143814"/>
                </a:lnTo>
                <a:lnTo>
                  <a:pt x="58877" y="103327"/>
                </a:lnTo>
                <a:lnTo>
                  <a:pt x="74549" y="67183"/>
                </a:lnTo>
                <a:lnTo>
                  <a:pt x="92976" y="35382"/>
                </a:lnTo>
                <a:lnTo>
                  <a:pt x="114173" y="7924"/>
                </a:lnTo>
                <a:close/>
              </a:path>
              <a:path w="693420" h="675639">
                <a:moveTo>
                  <a:pt x="572008" y="329907"/>
                </a:moveTo>
                <a:lnTo>
                  <a:pt x="120904" y="329907"/>
                </a:lnTo>
                <a:lnTo>
                  <a:pt x="120904" y="345147"/>
                </a:lnTo>
                <a:lnTo>
                  <a:pt x="572008" y="345147"/>
                </a:lnTo>
                <a:lnTo>
                  <a:pt x="572008" y="329907"/>
                </a:lnTo>
                <a:close/>
              </a:path>
              <a:path w="693420" h="675639">
                <a:moveTo>
                  <a:pt x="693420" y="337312"/>
                </a:moveTo>
                <a:lnTo>
                  <a:pt x="691654" y="281393"/>
                </a:lnTo>
                <a:lnTo>
                  <a:pt x="686346" y="229133"/>
                </a:lnTo>
                <a:lnTo>
                  <a:pt x="677506" y="180543"/>
                </a:lnTo>
                <a:lnTo>
                  <a:pt x="665099" y="135610"/>
                </a:lnTo>
                <a:lnTo>
                  <a:pt x="649592" y="94830"/>
                </a:lnTo>
                <a:lnTo>
                  <a:pt x="631291" y="58623"/>
                </a:lnTo>
                <a:lnTo>
                  <a:pt x="586359" y="0"/>
                </a:lnTo>
                <a:lnTo>
                  <a:pt x="579247" y="7924"/>
                </a:lnTo>
                <a:lnTo>
                  <a:pt x="600430" y="35382"/>
                </a:lnTo>
                <a:lnTo>
                  <a:pt x="618883" y="67183"/>
                </a:lnTo>
                <a:lnTo>
                  <a:pt x="634580" y="103327"/>
                </a:lnTo>
                <a:lnTo>
                  <a:pt x="647573" y="143814"/>
                </a:lnTo>
                <a:lnTo>
                  <a:pt x="657656" y="187934"/>
                </a:lnTo>
                <a:lnTo>
                  <a:pt x="664883" y="234924"/>
                </a:lnTo>
                <a:lnTo>
                  <a:pt x="669226" y="284797"/>
                </a:lnTo>
                <a:lnTo>
                  <a:pt x="670687" y="337540"/>
                </a:lnTo>
                <a:lnTo>
                  <a:pt x="669226" y="390537"/>
                </a:lnTo>
                <a:lnTo>
                  <a:pt x="664883" y="440575"/>
                </a:lnTo>
                <a:lnTo>
                  <a:pt x="657656" y="487641"/>
                </a:lnTo>
                <a:lnTo>
                  <a:pt x="647573" y="531761"/>
                </a:lnTo>
                <a:lnTo>
                  <a:pt x="634580" y="572236"/>
                </a:lnTo>
                <a:lnTo>
                  <a:pt x="618883" y="608368"/>
                </a:lnTo>
                <a:lnTo>
                  <a:pt x="579247" y="667600"/>
                </a:lnTo>
                <a:lnTo>
                  <a:pt x="586359" y="675525"/>
                </a:lnTo>
                <a:lnTo>
                  <a:pt x="631291" y="616902"/>
                </a:lnTo>
                <a:lnTo>
                  <a:pt x="649592" y="580707"/>
                </a:lnTo>
                <a:lnTo>
                  <a:pt x="665099" y="539902"/>
                </a:lnTo>
                <a:lnTo>
                  <a:pt x="677506" y="494931"/>
                </a:lnTo>
                <a:lnTo>
                  <a:pt x="686346" y="446176"/>
                </a:lnTo>
                <a:lnTo>
                  <a:pt x="691654" y="393636"/>
                </a:lnTo>
                <a:lnTo>
                  <a:pt x="693420" y="337312"/>
                </a:lnTo>
                <a:close/>
              </a:path>
            </a:pathLst>
          </a:custGeom>
          <a:solidFill>
            <a:srgbClr val="000000"/>
          </a:solidFill>
        </p:spPr>
        <p:txBody>
          <a:bodyPr wrap="square" lIns="0" tIns="0" rIns="0" bIns="0" rtlCol="0"/>
          <a:lstStyle/>
          <a:p>
            <a:endParaRPr/>
          </a:p>
        </p:txBody>
      </p:sp>
      <p:sp>
        <p:nvSpPr>
          <p:cNvPr id="36" name="object 36"/>
          <p:cNvSpPr txBox="1"/>
          <p:nvPr/>
        </p:nvSpPr>
        <p:spPr>
          <a:xfrm>
            <a:off x="10687237" y="5449632"/>
            <a:ext cx="513080" cy="299720"/>
          </a:xfrm>
          <a:prstGeom prst="rect">
            <a:avLst/>
          </a:prstGeom>
        </p:spPr>
        <p:txBody>
          <a:bodyPr vert="horz" wrap="square" lIns="0" tIns="12700" rIns="0" bIns="0" rtlCol="0">
            <a:spAutoFit/>
          </a:bodyPr>
          <a:lstStyle/>
          <a:p>
            <a:pPr marL="38100">
              <a:lnSpc>
                <a:spcPct val="100000"/>
              </a:lnSpc>
              <a:spcBef>
                <a:spcPts val="100"/>
              </a:spcBef>
            </a:pPr>
            <a:r>
              <a:rPr sz="1800" spc="60" dirty="0">
                <a:cs typeface="Cambria Math"/>
              </a:rPr>
              <a:t>𝑄𝐾</a:t>
            </a:r>
            <a:r>
              <a:rPr sz="1950" spc="89" baseline="27777" dirty="0">
                <a:cs typeface="Cambria Math"/>
              </a:rPr>
              <a:t>𝑇</a:t>
            </a:r>
            <a:endParaRPr sz="1950" baseline="27777">
              <a:cs typeface="Cambria Math"/>
            </a:endParaRPr>
          </a:p>
        </p:txBody>
      </p:sp>
      <p:sp>
        <p:nvSpPr>
          <p:cNvPr id="37" name="object 37"/>
          <p:cNvSpPr/>
          <p:nvPr/>
        </p:nvSpPr>
        <p:spPr>
          <a:xfrm>
            <a:off x="10744387" y="5848311"/>
            <a:ext cx="414020" cy="285115"/>
          </a:xfrm>
          <a:custGeom>
            <a:avLst/>
            <a:gdLst/>
            <a:ahLst/>
            <a:cxnLst/>
            <a:rect l="l" t="t" r="r" b="b"/>
            <a:pathLst>
              <a:path w="414020" h="285114">
                <a:moveTo>
                  <a:pt x="413766" y="0"/>
                </a:moveTo>
                <a:lnTo>
                  <a:pt x="165353" y="0"/>
                </a:lnTo>
                <a:lnTo>
                  <a:pt x="165353" y="749"/>
                </a:lnTo>
                <a:lnTo>
                  <a:pt x="143001" y="749"/>
                </a:lnTo>
                <a:lnTo>
                  <a:pt x="75311" y="254685"/>
                </a:lnTo>
                <a:lnTo>
                  <a:pt x="36702" y="168516"/>
                </a:lnTo>
                <a:lnTo>
                  <a:pt x="0" y="185254"/>
                </a:lnTo>
                <a:lnTo>
                  <a:pt x="3555" y="193636"/>
                </a:lnTo>
                <a:lnTo>
                  <a:pt x="22351" y="185254"/>
                </a:lnTo>
                <a:lnTo>
                  <a:pt x="68579" y="284606"/>
                </a:lnTo>
                <a:lnTo>
                  <a:pt x="79375" y="284606"/>
                </a:lnTo>
                <a:lnTo>
                  <a:pt x="152019" y="15595"/>
                </a:lnTo>
                <a:lnTo>
                  <a:pt x="174244" y="15595"/>
                </a:lnTo>
                <a:lnTo>
                  <a:pt x="174244" y="15240"/>
                </a:lnTo>
                <a:lnTo>
                  <a:pt x="413766" y="15240"/>
                </a:lnTo>
                <a:lnTo>
                  <a:pt x="413766" y="0"/>
                </a:lnTo>
                <a:close/>
              </a:path>
            </a:pathLst>
          </a:custGeom>
          <a:solidFill>
            <a:srgbClr val="000000"/>
          </a:solidFill>
        </p:spPr>
        <p:txBody>
          <a:bodyPr wrap="square" lIns="0" tIns="0" rIns="0" bIns="0" rtlCol="0"/>
          <a:lstStyle/>
          <a:p>
            <a:endParaRPr/>
          </a:p>
        </p:txBody>
      </p:sp>
      <p:sp>
        <p:nvSpPr>
          <p:cNvPr id="38" name="object 38"/>
          <p:cNvSpPr txBox="1"/>
          <p:nvPr/>
        </p:nvSpPr>
        <p:spPr>
          <a:xfrm>
            <a:off x="10873165" y="5821488"/>
            <a:ext cx="310515" cy="299720"/>
          </a:xfrm>
          <a:prstGeom prst="rect">
            <a:avLst/>
          </a:prstGeom>
        </p:spPr>
        <p:txBody>
          <a:bodyPr vert="horz" wrap="square" lIns="0" tIns="12700" rIns="0" bIns="0" rtlCol="0">
            <a:spAutoFit/>
          </a:bodyPr>
          <a:lstStyle/>
          <a:p>
            <a:pPr marL="38100">
              <a:lnSpc>
                <a:spcPct val="100000"/>
              </a:lnSpc>
              <a:spcBef>
                <a:spcPts val="100"/>
              </a:spcBef>
            </a:pPr>
            <a:r>
              <a:rPr sz="1800" spc="40" dirty="0">
                <a:cs typeface="Cambria Math"/>
              </a:rPr>
              <a:t>𝑑</a:t>
            </a:r>
            <a:r>
              <a:rPr sz="1950" spc="60" baseline="-14957" dirty="0">
                <a:cs typeface="Cambria Math"/>
              </a:rPr>
              <a:t>𝑘</a:t>
            </a:r>
            <a:endParaRPr sz="1950" baseline="-14957">
              <a:cs typeface="Cambria Math"/>
            </a:endParaRPr>
          </a:p>
        </p:txBody>
      </p:sp>
      <p:sp>
        <p:nvSpPr>
          <p:cNvPr id="39" name="object 39"/>
          <p:cNvSpPr txBox="1"/>
          <p:nvPr/>
        </p:nvSpPr>
        <p:spPr>
          <a:xfrm>
            <a:off x="11340525" y="5623368"/>
            <a:ext cx="16891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𝑉</a:t>
            </a:r>
            <a:endParaRPr sz="1800">
              <a:cs typeface="Cambria Math"/>
            </a:endParaRPr>
          </a:p>
        </p:txBody>
      </p:sp>
      <p:sp>
        <p:nvSpPr>
          <p:cNvPr id="40" name="object 40"/>
          <p:cNvSpPr txBox="1"/>
          <p:nvPr/>
        </p:nvSpPr>
        <p:spPr>
          <a:xfrm>
            <a:off x="1260705" y="5013200"/>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(1,</a:t>
            </a:r>
            <a:r>
              <a:rPr sz="1000" spc="-60" dirty="0">
                <a:cs typeface="Tahoma"/>
              </a:rPr>
              <a:t> </a:t>
            </a:r>
            <a:r>
              <a:rPr sz="1000" spc="25" dirty="0">
                <a:cs typeface="Tahoma"/>
              </a:rPr>
              <a:t>4096</a:t>
            </a:r>
            <a:r>
              <a:rPr sz="1000" spc="-85" dirty="0">
                <a:cs typeface="Tahoma"/>
              </a:rPr>
              <a:t>)</a:t>
            </a:r>
            <a:endParaRPr sz="1000">
              <a:cs typeface="Tahoma"/>
            </a:endParaRPr>
          </a:p>
        </p:txBody>
      </p:sp>
      <p:sp>
        <p:nvSpPr>
          <p:cNvPr id="41" name="object 41"/>
          <p:cNvSpPr txBox="1"/>
          <p:nvPr/>
        </p:nvSpPr>
        <p:spPr>
          <a:xfrm>
            <a:off x="3380233" y="5013200"/>
            <a:ext cx="531495" cy="166071"/>
          </a:xfrm>
          <a:prstGeom prst="rect">
            <a:avLst/>
          </a:prstGeom>
        </p:spPr>
        <p:txBody>
          <a:bodyPr vert="horz" wrap="square" lIns="0" tIns="12065" rIns="0" bIns="0" rtlCol="0">
            <a:spAutoFit/>
          </a:bodyPr>
          <a:lstStyle/>
          <a:p>
            <a:pPr marL="12700">
              <a:lnSpc>
                <a:spcPct val="100000"/>
              </a:lnSpc>
              <a:spcBef>
                <a:spcPts val="95"/>
              </a:spcBef>
            </a:pPr>
            <a:r>
              <a:rPr sz="1000" dirty="0">
                <a:cs typeface="Tahoma"/>
              </a:rPr>
              <a:t>(40</a:t>
            </a:r>
            <a:r>
              <a:rPr sz="1000" spc="-5" dirty="0">
                <a:cs typeface="Tahoma"/>
              </a:rPr>
              <a:t>9</a:t>
            </a:r>
            <a:r>
              <a:rPr sz="1000" spc="-15" dirty="0">
                <a:cs typeface="Tahoma"/>
              </a:rPr>
              <a:t>6</a:t>
            </a:r>
            <a:r>
              <a:rPr sz="1000" spc="-5" dirty="0">
                <a:cs typeface="Tahoma"/>
              </a:rPr>
              <a:t>,</a:t>
            </a:r>
            <a:r>
              <a:rPr sz="1000" spc="-75" dirty="0">
                <a:cs typeface="Tahoma"/>
              </a:rPr>
              <a:t> </a:t>
            </a:r>
            <a:r>
              <a:rPr sz="1000" spc="-35" dirty="0">
                <a:cs typeface="Tahoma"/>
              </a:rPr>
              <a:t>3)</a:t>
            </a:r>
            <a:endParaRPr sz="1000">
              <a:cs typeface="Tahoma"/>
            </a:endParaRPr>
          </a:p>
        </p:txBody>
      </p:sp>
      <p:sp>
        <p:nvSpPr>
          <p:cNvPr id="42" name="object 42"/>
          <p:cNvSpPr txBox="1"/>
          <p:nvPr/>
        </p:nvSpPr>
        <p:spPr>
          <a:xfrm>
            <a:off x="6074665" y="5887112"/>
            <a:ext cx="313690"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(1,</a:t>
            </a:r>
            <a:r>
              <a:rPr sz="1000" spc="-60" dirty="0">
                <a:cs typeface="Tahoma"/>
              </a:rPr>
              <a:t> </a:t>
            </a:r>
            <a:r>
              <a:rPr sz="1000" spc="-35" dirty="0">
                <a:cs typeface="Tahoma"/>
              </a:rPr>
              <a:t>3)</a:t>
            </a:r>
            <a:endParaRPr sz="1000">
              <a:cs typeface="Tahoma"/>
            </a:endParaRPr>
          </a:p>
        </p:txBody>
      </p:sp>
      <p:sp>
        <p:nvSpPr>
          <p:cNvPr id="43" name="object 43"/>
          <p:cNvSpPr txBox="1"/>
          <p:nvPr/>
        </p:nvSpPr>
        <p:spPr>
          <a:xfrm>
            <a:off x="8653270" y="5184602"/>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(3,</a:t>
            </a:r>
            <a:r>
              <a:rPr sz="1000" spc="-60" dirty="0">
                <a:cs typeface="Tahoma"/>
              </a:rPr>
              <a:t> </a:t>
            </a:r>
            <a:r>
              <a:rPr sz="1000" spc="25" dirty="0">
                <a:cs typeface="Tahoma"/>
              </a:rPr>
              <a:t>4096</a:t>
            </a:r>
            <a:r>
              <a:rPr sz="1000" spc="-85" dirty="0">
                <a:cs typeface="Tahoma"/>
              </a:rPr>
              <a:t>)</a:t>
            </a:r>
            <a:endParaRPr sz="1000">
              <a:cs typeface="Tahoma"/>
            </a:endParaRPr>
          </a:p>
        </p:txBody>
      </p:sp>
      <p:sp>
        <p:nvSpPr>
          <p:cNvPr id="44" name="object 44"/>
          <p:cNvSpPr txBox="1"/>
          <p:nvPr/>
        </p:nvSpPr>
        <p:spPr>
          <a:xfrm>
            <a:off x="10692764" y="5182444"/>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(1,</a:t>
            </a:r>
            <a:r>
              <a:rPr sz="1000" spc="-60" dirty="0">
                <a:cs typeface="Tahoma"/>
              </a:rPr>
              <a:t> </a:t>
            </a:r>
            <a:r>
              <a:rPr sz="1000" spc="25" dirty="0">
                <a:cs typeface="Tahoma"/>
              </a:rPr>
              <a:t>4096</a:t>
            </a:r>
            <a:r>
              <a:rPr sz="1000" spc="-85" dirty="0">
                <a:cs typeface="Tahoma"/>
              </a:rPr>
              <a:t>)</a:t>
            </a:r>
            <a:endParaRPr sz="1000">
              <a:cs typeface="Tahoma"/>
            </a:endParaRPr>
          </a:p>
        </p:txBody>
      </p:sp>
      <p:sp>
        <p:nvSpPr>
          <p:cNvPr id="45" name="object 45"/>
          <p:cNvSpPr txBox="1"/>
          <p:nvPr/>
        </p:nvSpPr>
        <p:spPr>
          <a:xfrm>
            <a:off x="668994" y="5811897"/>
            <a:ext cx="1580579" cy="321242"/>
          </a:xfrm>
          <a:prstGeom prst="rect">
            <a:avLst/>
          </a:prstGeom>
        </p:spPr>
        <p:txBody>
          <a:bodyPr vert="horz" wrap="square" lIns="0" tIns="13335" rIns="0" bIns="0" rtlCol="0">
            <a:spAutoFit/>
          </a:bodyPr>
          <a:lstStyle/>
          <a:p>
            <a:pPr marL="12700">
              <a:lnSpc>
                <a:spcPct val="100000"/>
              </a:lnSpc>
              <a:spcBef>
                <a:spcPts val="105"/>
              </a:spcBef>
            </a:pPr>
            <a:r>
              <a:rPr sz="2000" b="1" spc="10" dirty="0">
                <a:solidFill>
                  <a:srgbClr val="FF0000"/>
                </a:solidFill>
                <a:cs typeface="Tahoma"/>
              </a:rPr>
              <a:t>Inference</a:t>
            </a:r>
            <a:r>
              <a:rPr lang="en-US" sz="2000" b="1" dirty="0">
                <a:cs typeface="Tahoma"/>
              </a:rPr>
              <a:t> </a:t>
            </a:r>
            <a:r>
              <a:rPr sz="2000" b="1" spc="-30" dirty="0">
                <a:solidFill>
                  <a:srgbClr val="FF0000"/>
                </a:solidFill>
                <a:cs typeface="Tahoma"/>
              </a:rPr>
              <a:t>T</a:t>
            </a:r>
            <a:r>
              <a:rPr sz="2000" b="1" spc="-185" dirty="0">
                <a:solidFill>
                  <a:srgbClr val="FF0000"/>
                </a:solidFill>
                <a:cs typeface="Tahoma"/>
              </a:rPr>
              <a:t> </a:t>
            </a:r>
            <a:r>
              <a:rPr sz="2000" b="1" spc="-125" dirty="0">
                <a:solidFill>
                  <a:srgbClr val="FF0000"/>
                </a:solidFill>
                <a:cs typeface="Tahoma"/>
              </a:rPr>
              <a:t>=</a:t>
            </a:r>
            <a:r>
              <a:rPr sz="2000" b="1" spc="-114" dirty="0">
                <a:solidFill>
                  <a:srgbClr val="FF0000"/>
                </a:solidFill>
                <a:cs typeface="Tahoma"/>
              </a:rPr>
              <a:t> </a:t>
            </a:r>
            <a:r>
              <a:rPr sz="2000" b="1" spc="70" dirty="0">
                <a:solidFill>
                  <a:srgbClr val="FF0000"/>
                </a:solidFill>
                <a:cs typeface="Tahoma"/>
              </a:rPr>
              <a:t>3</a:t>
            </a:r>
            <a:endParaRPr sz="2000" b="1" dirty="0">
              <a:cs typeface="Tahoma"/>
            </a:endParaRPr>
          </a:p>
        </p:txBody>
      </p:sp>
      <p:graphicFrame>
        <p:nvGraphicFramePr>
          <p:cNvPr id="46" name="object 46"/>
          <p:cNvGraphicFramePr>
            <a:graphicFrameLocks noGrp="1"/>
          </p:cNvGraphicFramePr>
          <p:nvPr>
            <p:extLst>
              <p:ext uri="{D42A27DB-BD31-4B8C-83A1-F6EECF244321}">
                <p14:modId xmlns:p14="http://schemas.microsoft.com/office/powerpoint/2010/main" val="1257320923"/>
              </p:ext>
            </p:extLst>
          </p:nvPr>
        </p:nvGraphicFramePr>
        <p:xfrm>
          <a:off x="8366504" y="3001346"/>
          <a:ext cx="1097280" cy="1920239"/>
        </p:xfrm>
        <a:graphic>
          <a:graphicData uri="http://schemas.openxmlformats.org/drawingml/2006/table">
            <a:tbl>
              <a:tblPr firstRow="1" bandRow="1">
                <a:tableStyleId>{2D5ABB26-0587-4C30-8999-92F81FD0307C}</a:tableStyleId>
              </a:tblPr>
              <a:tblGrid>
                <a:gridCol w="1097280">
                  <a:extLst>
                    <a:ext uri="{9D8B030D-6E8A-4147-A177-3AD203B41FA5}">
                      <a16:colId xmlns:a16="http://schemas.microsoft.com/office/drawing/2014/main" val="20000"/>
                    </a:ext>
                  </a:extLst>
                </a:gridCol>
              </a:tblGrid>
              <a:tr h="213360">
                <a:tc>
                  <a:txBody>
                    <a:bodyPr/>
                    <a:lstStyle/>
                    <a:p>
                      <a:pPr marL="92075">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1</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0"/>
                  </a:ext>
                </a:extLst>
              </a:tr>
              <a:tr h="213359">
                <a:tc>
                  <a:txBody>
                    <a:bodyPr/>
                    <a:lstStyle/>
                    <a:p>
                      <a:pPr marL="92075">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2</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1"/>
                  </a:ext>
                </a:extLst>
              </a:tr>
              <a:tr h="213360">
                <a:tc>
                  <a:txBody>
                    <a:bodyPr/>
                    <a:lstStyle/>
                    <a:p>
                      <a:pPr marL="92075">
                        <a:lnSpc>
                          <a:spcPct val="100000"/>
                        </a:lnSpc>
                        <a:spcBef>
                          <a:spcPts val="330"/>
                        </a:spcBef>
                      </a:pPr>
                      <a:r>
                        <a:rPr sz="800" spc="-5" dirty="0">
                          <a:latin typeface="Tahoma"/>
                          <a:cs typeface="Tahoma"/>
                        </a:rPr>
                        <a:t>TOK</a:t>
                      </a:r>
                      <a:r>
                        <a:rPr sz="800" dirty="0">
                          <a:latin typeface="Tahoma"/>
                          <a:cs typeface="Tahoma"/>
                        </a:rPr>
                        <a:t>EN</a:t>
                      </a:r>
                      <a:r>
                        <a:rPr sz="800" spc="-75" dirty="0">
                          <a:latin typeface="Tahoma"/>
                          <a:cs typeface="Tahoma"/>
                        </a:rPr>
                        <a:t> </a:t>
                      </a:r>
                      <a:r>
                        <a:rPr sz="800" dirty="0">
                          <a:latin typeface="Tahoma"/>
                          <a:cs typeface="Tahoma"/>
                        </a:rPr>
                        <a:t>3</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2"/>
                  </a:ext>
                </a:extLst>
              </a:tr>
              <a:tr h="1280160">
                <a:tc>
                  <a:txBody>
                    <a:bodyPr/>
                    <a:lstStyle/>
                    <a:p>
                      <a:pPr>
                        <a:lnSpc>
                          <a:spcPct val="100000"/>
                        </a:lnSpc>
                      </a:pPr>
                      <a:endParaRPr sz="14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000000"/>
                      </a:solidFill>
                      <a:prstDash val="solid"/>
                    </a:lnT>
                    <a:lnB w="12700">
                      <a:solidFill>
                        <a:srgbClr val="FFFFFF"/>
                      </a:solidFill>
                      <a:prstDash val="solid"/>
                    </a:lnB>
                  </a:tcPr>
                </a:tc>
                <a:extLst>
                  <a:ext uri="{0D108BD9-81ED-4DB2-BD59-A6C34878D82A}">
                    <a16:rowId xmlns:a16="http://schemas.microsoft.com/office/drawing/2014/main" val="10003"/>
                  </a:ext>
                </a:extLst>
              </a:tr>
            </a:tbl>
          </a:graphicData>
        </a:graphic>
      </p:graphicFrame>
      <p:sp>
        <p:nvSpPr>
          <p:cNvPr id="49" name="Title 1">
            <a:extLst>
              <a:ext uri="{FF2B5EF4-FFF2-40B4-BE49-F238E27FC236}">
                <a16:creationId xmlns:a16="http://schemas.microsoft.com/office/drawing/2014/main" id="{ECD6D89E-AAC0-29C0-4C8F-982B4183F4C1}"/>
              </a:ext>
            </a:extLst>
          </p:cNvPr>
          <p:cNvSpPr txBox="1">
            <a:spLocks/>
          </p:cNvSpPr>
          <p:nvPr/>
        </p:nvSpPr>
        <p:spPr>
          <a:xfrm>
            <a:off x="669552" y="594335"/>
            <a:ext cx="10863635" cy="639153"/>
          </a:xfrm>
          <a:prstGeom prst="rect">
            <a:avLst/>
          </a:prstGeom>
        </p:spPr>
        <p:txBody>
          <a:bodyPr vert="horz" lIns="0" tIns="0" rIns="0" bIns="0" rtlCol="0" anchor="ctr">
            <a:normAutofit fontScale="97500"/>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US" dirty="0">
                <a:latin typeface="+mn-lt"/>
              </a:rPr>
              <a:t>Self-Attention with KV-Cache</a:t>
            </a:r>
            <a:endParaRPr lang="en-IN" dirty="0">
              <a:latin typeface="+mn-l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955144" y="2835085"/>
            <a:ext cx="1123315" cy="1945639"/>
            <a:chOff x="470001" y="2975610"/>
            <a:chExt cx="1123315" cy="1945639"/>
          </a:xfrm>
        </p:grpSpPr>
        <p:sp>
          <p:nvSpPr>
            <p:cNvPr id="4" name="object 4"/>
            <p:cNvSpPr/>
            <p:nvPr/>
          </p:nvSpPr>
          <p:spPr>
            <a:xfrm>
              <a:off x="482701" y="2988310"/>
              <a:ext cx="1097280" cy="213360"/>
            </a:xfrm>
            <a:custGeom>
              <a:avLst/>
              <a:gdLst/>
              <a:ahLst/>
              <a:cxnLst/>
              <a:rect l="l" t="t" r="r" b="b"/>
              <a:pathLst>
                <a:path w="1097280" h="213360">
                  <a:moveTo>
                    <a:pt x="1097241" y="0"/>
                  </a:moveTo>
                  <a:lnTo>
                    <a:pt x="0" y="0"/>
                  </a:lnTo>
                  <a:lnTo>
                    <a:pt x="0" y="213360"/>
                  </a:lnTo>
                  <a:lnTo>
                    <a:pt x="1097241" y="213360"/>
                  </a:lnTo>
                  <a:lnTo>
                    <a:pt x="1097241" y="0"/>
                  </a:lnTo>
                  <a:close/>
                </a:path>
              </a:pathLst>
            </a:custGeom>
            <a:solidFill>
              <a:srgbClr val="FBEBEA"/>
            </a:solidFill>
          </p:spPr>
          <p:txBody>
            <a:bodyPr wrap="square" lIns="0" tIns="0" rIns="0" bIns="0" rtlCol="0"/>
            <a:lstStyle/>
            <a:p>
              <a:endParaRPr/>
            </a:p>
          </p:txBody>
        </p:sp>
        <p:sp>
          <p:nvSpPr>
            <p:cNvPr id="5" name="object 5"/>
            <p:cNvSpPr/>
            <p:nvPr/>
          </p:nvSpPr>
          <p:spPr>
            <a:xfrm>
              <a:off x="476351" y="3195320"/>
              <a:ext cx="1110615" cy="12700"/>
            </a:xfrm>
            <a:custGeom>
              <a:avLst/>
              <a:gdLst/>
              <a:ahLst/>
              <a:cxnLst/>
              <a:rect l="l" t="t" r="r" b="b"/>
              <a:pathLst>
                <a:path w="1110615" h="12700">
                  <a:moveTo>
                    <a:pt x="0" y="12700"/>
                  </a:moveTo>
                  <a:lnTo>
                    <a:pt x="1110005" y="12700"/>
                  </a:lnTo>
                  <a:lnTo>
                    <a:pt x="1110005" y="0"/>
                  </a:lnTo>
                  <a:lnTo>
                    <a:pt x="0" y="0"/>
                  </a:lnTo>
                  <a:lnTo>
                    <a:pt x="0" y="12700"/>
                  </a:lnTo>
                  <a:close/>
                </a:path>
              </a:pathLst>
            </a:custGeom>
            <a:solidFill>
              <a:srgbClr val="000000"/>
            </a:solidFill>
          </p:spPr>
          <p:txBody>
            <a:bodyPr wrap="square" lIns="0" tIns="0" rIns="0" bIns="0" rtlCol="0"/>
            <a:lstStyle/>
            <a:p>
              <a:endParaRPr/>
            </a:p>
          </p:txBody>
        </p:sp>
        <p:sp>
          <p:nvSpPr>
            <p:cNvPr id="6" name="object 6"/>
            <p:cNvSpPr/>
            <p:nvPr/>
          </p:nvSpPr>
          <p:spPr>
            <a:xfrm>
              <a:off x="482701"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7" name="object 7"/>
            <p:cNvSpPr/>
            <p:nvPr/>
          </p:nvSpPr>
          <p:spPr>
            <a:xfrm>
              <a:off x="482701" y="3201670"/>
              <a:ext cx="0" cy="1713230"/>
            </a:xfrm>
            <a:custGeom>
              <a:avLst/>
              <a:gdLst/>
              <a:ahLst/>
              <a:cxnLst/>
              <a:rect l="l" t="t" r="r" b="b"/>
              <a:pathLst>
                <a:path h="1713229">
                  <a:moveTo>
                    <a:pt x="0" y="0"/>
                  </a:moveTo>
                  <a:lnTo>
                    <a:pt x="0" y="1713229"/>
                  </a:lnTo>
                </a:path>
              </a:pathLst>
            </a:custGeom>
            <a:ln w="12700">
              <a:solidFill>
                <a:srgbClr val="FFFFFF"/>
              </a:solidFill>
            </a:ln>
          </p:spPr>
          <p:txBody>
            <a:bodyPr wrap="square" lIns="0" tIns="0" rIns="0" bIns="0" rtlCol="0"/>
            <a:lstStyle/>
            <a:p>
              <a:endParaRPr/>
            </a:p>
          </p:txBody>
        </p:sp>
        <p:sp>
          <p:nvSpPr>
            <p:cNvPr id="8" name="object 8"/>
            <p:cNvSpPr/>
            <p:nvPr/>
          </p:nvSpPr>
          <p:spPr>
            <a:xfrm>
              <a:off x="1580006"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9" name="object 9"/>
            <p:cNvSpPr/>
            <p:nvPr/>
          </p:nvSpPr>
          <p:spPr>
            <a:xfrm>
              <a:off x="476351" y="3201670"/>
              <a:ext cx="1110615" cy="1713230"/>
            </a:xfrm>
            <a:custGeom>
              <a:avLst/>
              <a:gdLst/>
              <a:ahLst/>
              <a:cxnLst/>
              <a:rect l="l" t="t" r="r" b="b"/>
              <a:pathLst>
                <a:path w="1110615" h="1713229">
                  <a:moveTo>
                    <a:pt x="1103655" y="0"/>
                  </a:moveTo>
                  <a:lnTo>
                    <a:pt x="1103655" y="1713229"/>
                  </a:lnTo>
                </a:path>
                <a:path w="1110615" h="1713229">
                  <a:moveTo>
                    <a:pt x="0" y="1706879"/>
                  </a:moveTo>
                  <a:lnTo>
                    <a:pt x="1110005" y="1706879"/>
                  </a:lnTo>
                </a:path>
              </a:pathLst>
            </a:custGeom>
            <a:ln w="12700">
              <a:solidFill>
                <a:srgbClr val="FFFFFF"/>
              </a:solidFill>
            </a:ln>
          </p:spPr>
          <p:txBody>
            <a:bodyPr wrap="square" lIns="0" tIns="0" rIns="0" bIns="0" rtlCol="0"/>
            <a:lstStyle/>
            <a:p>
              <a:endParaRPr/>
            </a:p>
          </p:txBody>
        </p:sp>
      </p:grpSp>
      <p:sp>
        <p:nvSpPr>
          <p:cNvPr id="10" name="object 10"/>
          <p:cNvSpPr txBox="1"/>
          <p:nvPr/>
        </p:nvSpPr>
        <p:spPr>
          <a:xfrm>
            <a:off x="967844" y="2847785"/>
            <a:ext cx="1097915" cy="165430"/>
          </a:xfrm>
          <a:prstGeom prst="rect">
            <a:avLst/>
          </a:prstGeom>
          <a:solidFill>
            <a:srgbClr val="FBEBEA"/>
          </a:solidFill>
          <a:ln w="12700">
            <a:solidFill>
              <a:srgbClr val="000000"/>
            </a:solidFill>
          </a:ln>
        </p:spPr>
        <p:txBody>
          <a:bodyPr vert="horz" wrap="square" lIns="0" tIns="41910" rIns="0" bIns="0" rtlCol="0">
            <a:spAutoFit/>
          </a:bodyPr>
          <a:lstStyle/>
          <a:p>
            <a:pPr marL="91440">
              <a:lnSpc>
                <a:spcPct val="100000"/>
              </a:lnSpc>
              <a:spcBef>
                <a:spcPts val="330"/>
              </a:spcBef>
            </a:pPr>
            <a:r>
              <a:rPr sz="800" spc="45" dirty="0">
                <a:cs typeface="Tahoma"/>
              </a:rPr>
              <a:t>TO</a:t>
            </a:r>
            <a:r>
              <a:rPr sz="800" spc="35" dirty="0">
                <a:cs typeface="Tahoma"/>
              </a:rPr>
              <a:t>K</a:t>
            </a:r>
            <a:r>
              <a:rPr sz="800" spc="25" dirty="0">
                <a:cs typeface="Tahoma"/>
              </a:rPr>
              <a:t>E</a:t>
            </a:r>
            <a:r>
              <a:rPr sz="800" spc="80" dirty="0">
                <a:cs typeface="Tahoma"/>
              </a:rPr>
              <a:t>N</a:t>
            </a:r>
            <a:r>
              <a:rPr sz="800" spc="-75" dirty="0">
                <a:cs typeface="Tahoma"/>
              </a:rPr>
              <a:t> </a:t>
            </a:r>
            <a:r>
              <a:rPr sz="800" spc="25" dirty="0">
                <a:cs typeface="Tahoma"/>
              </a:rPr>
              <a:t>4</a:t>
            </a:r>
            <a:endParaRPr sz="800">
              <a:cs typeface="Tahoma"/>
            </a:endParaRPr>
          </a:p>
        </p:txBody>
      </p:sp>
      <p:graphicFrame>
        <p:nvGraphicFramePr>
          <p:cNvPr id="11" name="object 11"/>
          <p:cNvGraphicFramePr>
            <a:graphicFrameLocks noGrp="1"/>
          </p:cNvGraphicFramePr>
          <p:nvPr>
            <p:extLst>
              <p:ext uri="{D42A27DB-BD31-4B8C-83A1-F6EECF244321}">
                <p14:modId xmlns:p14="http://schemas.microsoft.com/office/powerpoint/2010/main" val="3886812107"/>
              </p:ext>
            </p:extLst>
          </p:nvPr>
        </p:nvGraphicFramePr>
        <p:xfrm>
          <a:off x="2692148" y="3044380"/>
          <a:ext cx="1880866" cy="1514348"/>
        </p:xfrm>
        <a:graphic>
          <a:graphicData uri="http://schemas.openxmlformats.org/drawingml/2006/table">
            <a:tbl>
              <a:tblPr firstRow="1" bandRow="1">
                <a:tableStyleId>{2D5ABB26-0587-4C30-8999-92F81FD0307C}</a:tableStyleId>
              </a:tblPr>
              <a:tblGrid>
                <a:gridCol w="208279">
                  <a:extLst>
                    <a:ext uri="{9D8B030D-6E8A-4147-A177-3AD203B41FA5}">
                      <a16:colId xmlns:a16="http://schemas.microsoft.com/office/drawing/2014/main" val="20000"/>
                    </a:ext>
                  </a:extLst>
                </a:gridCol>
                <a:gridCol w="208279">
                  <a:extLst>
                    <a:ext uri="{9D8B030D-6E8A-4147-A177-3AD203B41FA5}">
                      <a16:colId xmlns:a16="http://schemas.microsoft.com/office/drawing/2014/main" val="20001"/>
                    </a:ext>
                  </a:extLst>
                </a:gridCol>
                <a:gridCol w="208279">
                  <a:extLst>
                    <a:ext uri="{9D8B030D-6E8A-4147-A177-3AD203B41FA5}">
                      <a16:colId xmlns:a16="http://schemas.microsoft.com/office/drawing/2014/main" val="20002"/>
                    </a:ext>
                  </a:extLst>
                </a:gridCol>
                <a:gridCol w="208279">
                  <a:extLst>
                    <a:ext uri="{9D8B030D-6E8A-4147-A177-3AD203B41FA5}">
                      <a16:colId xmlns:a16="http://schemas.microsoft.com/office/drawing/2014/main" val="20003"/>
                    </a:ext>
                  </a:extLst>
                </a:gridCol>
                <a:gridCol w="1047750">
                  <a:extLst>
                    <a:ext uri="{9D8B030D-6E8A-4147-A177-3AD203B41FA5}">
                      <a16:colId xmlns:a16="http://schemas.microsoft.com/office/drawing/2014/main" val="20004"/>
                    </a:ext>
                  </a:extLst>
                </a:gridCol>
              </a:tblGrid>
              <a:tr h="1514348">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1</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2</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3</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marL="91440" marR="11430" algn="just">
                        <a:lnSpc>
                          <a:spcPct val="100000"/>
                        </a:lnSpc>
                        <a:spcBef>
                          <a:spcPts val="31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4</a:t>
                      </a:r>
                      <a:endParaRPr sz="900">
                        <a:latin typeface="Tahoma"/>
                        <a:cs typeface="Tahoma"/>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a:txBody>
                    <a:bodyPr/>
                    <a:lstStyle/>
                    <a:p>
                      <a:pPr>
                        <a:lnSpc>
                          <a:spcPct val="100000"/>
                        </a:lnSpc>
                      </a:pPr>
                      <a:endParaRPr sz="1300" dirty="0">
                        <a:latin typeface="Times New Roman"/>
                        <a:cs typeface="Times New Roman"/>
                      </a:endParaRPr>
                    </a:p>
                  </a:txBody>
                  <a:tcPr marL="0" marR="0" marT="0" marB="0">
                    <a:lnL w="12700">
                      <a:solidFill>
                        <a:srgbClr val="000000"/>
                      </a:solidFill>
                      <a:prstDash val="solid"/>
                    </a:lnL>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0"/>
                  </a:ext>
                </a:extLst>
              </a:tr>
            </a:tbl>
          </a:graphicData>
        </a:graphic>
      </p:graphicFrame>
      <p:sp>
        <p:nvSpPr>
          <p:cNvPr id="12" name="object 12"/>
          <p:cNvSpPr txBox="1"/>
          <p:nvPr/>
        </p:nvSpPr>
        <p:spPr>
          <a:xfrm>
            <a:off x="2292098" y="3508311"/>
            <a:ext cx="17335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𝑋</a:t>
            </a:r>
            <a:endParaRPr sz="1800">
              <a:cs typeface="Cambria Math"/>
            </a:endParaRPr>
          </a:p>
        </p:txBody>
      </p:sp>
      <p:sp>
        <p:nvSpPr>
          <p:cNvPr id="13" name="object 13"/>
          <p:cNvSpPr txBox="1"/>
          <p:nvPr/>
        </p:nvSpPr>
        <p:spPr>
          <a:xfrm>
            <a:off x="4800348" y="3508311"/>
            <a:ext cx="19621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a:t>
            </a:r>
            <a:endParaRPr sz="1800">
              <a:cs typeface="Cambria Math"/>
            </a:endParaRPr>
          </a:p>
        </p:txBody>
      </p:sp>
      <p:graphicFrame>
        <p:nvGraphicFramePr>
          <p:cNvPr id="14" name="object 14"/>
          <p:cNvGraphicFramePr>
            <a:graphicFrameLocks noGrp="1"/>
          </p:cNvGraphicFramePr>
          <p:nvPr>
            <p:extLst>
              <p:ext uri="{D42A27DB-BD31-4B8C-83A1-F6EECF244321}">
                <p14:modId xmlns:p14="http://schemas.microsoft.com/office/powerpoint/2010/main" val="4164578342"/>
              </p:ext>
            </p:extLst>
          </p:nvPr>
        </p:nvGraphicFramePr>
        <p:xfrm>
          <a:off x="5218559" y="2155635"/>
          <a:ext cx="1988816" cy="3316413"/>
        </p:xfrm>
        <a:graphic>
          <a:graphicData uri="http://schemas.openxmlformats.org/drawingml/2006/table">
            <a:tbl>
              <a:tblPr firstRow="1" bandRow="1">
                <a:tableStyleId>{2D5ABB26-0587-4C30-8999-92F81FD0307C}</a:tableStyleId>
              </a:tblPr>
              <a:tblGrid>
                <a:gridCol w="208279">
                  <a:extLst>
                    <a:ext uri="{9D8B030D-6E8A-4147-A177-3AD203B41FA5}">
                      <a16:colId xmlns:a16="http://schemas.microsoft.com/office/drawing/2014/main" val="20000"/>
                    </a:ext>
                  </a:extLst>
                </a:gridCol>
                <a:gridCol w="233679">
                  <a:extLst>
                    <a:ext uri="{9D8B030D-6E8A-4147-A177-3AD203B41FA5}">
                      <a16:colId xmlns:a16="http://schemas.microsoft.com/office/drawing/2014/main" val="20001"/>
                    </a:ext>
                  </a:extLst>
                </a:gridCol>
                <a:gridCol w="220979">
                  <a:extLst>
                    <a:ext uri="{9D8B030D-6E8A-4147-A177-3AD203B41FA5}">
                      <a16:colId xmlns:a16="http://schemas.microsoft.com/office/drawing/2014/main" val="20002"/>
                    </a:ext>
                  </a:extLst>
                </a:gridCol>
                <a:gridCol w="220979">
                  <a:extLst>
                    <a:ext uri="{9D8B030D-6E8A-4147-A177-3AD203B41FA5}">
                      <a16:colId xmlns:a16="http://schemas.microsoft.com/office/drawing/2014/main" val="20003"/>
                    </a:ext>
                  </a:extLst>
                </a:gridCol>
                <a:gridCol w="1104900">
                  <a:extLst>
                    <a:ext uri="{9D8B030D-6E8A-4147-A177-3AD203B41FA5}">
                      <a16:colId xmlns:a16="http://schemas.microsoft.com/office/drawing/2014/main" val="20004"/>
                    </a:ext>
                  </a:extLst>
                </a:gridCol>
              </a:tblGrid>
              <a:tr h="396239">
                <a:tc>
                  <a:txBody>
                    <a:bodyPr/>
                    <a:lstStyle/>
                    <a:p>
                      <a:pPr marL="92075" marR="78740" indent="-635" algn="ctr">
                        <a:lnSpc>
                          <a:spcPct val="100000"/>
                        </a:lnSpc>
                        <a:spcBef>
                          <a:spcPts val="345"/>
                        </a:spcBef>
                      </a:pPr>
                      <a:r>
                        <a:rPr sz="400" dirty="0">
                          <a:latin typeface="Tahoma"/>
                          <a:cs typeface="Tahoma"/>
                        </a:rPr>
                        <a:t>T  4</a:t>
                      </a:r>
                      <a:endParaRPr sz="400">
                        <a:latin typeface="Tahoma"/>
                        <a:cs typeface="Tahoma"/>
                      </a:endParaRPr>
                    </a:p>
                    <a:p>
                      <a:pPr marL="92075" marR="78740" algn="just">
                        <a:lnSpc>
                          <a:spcPct val="100000"/>
                        </a:lnSpc>
                      </a:pPr>
                      <a:r>
                        <a:rPr sz="400" dirty="0">
                          <a:latin typeface="Tahoma"/>
                          <a:cs typeface="Tahoma"/>
                        </a:rPr>
                        <a:t>-  T  1</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104775" indent="-635" algn="ctr">
                        <a:lnSpc>
                          <a:spcPct val="100000"/>
                        </a:lnSpc>
                        <a:spcBef>
                          <a:spcPts val="345"/>
                        </a:spcBef>
                      </a:pPr>
                      <a:r>
                        <a:rPr sz="400" dirty="0">
                          <a:latin typeface="Tahoma"/>
                          <a:cs typeface="Tahoma"/>
                        </a:rPr>
                        <a:t>T  4</a:t>
                      </a:r>
                      <a:endParaRPr sz="400">
                        <a:latin typeface="Tahoma"/>
                        <a:cs typeface="Tahoma"/>
                      </a:endParaRPr>
                    </a:p>
                    <a:p>
                      <a:pPr marL="92075" marR="104775" algn="just">
                        <a:lnSpc>
                          <a:spcPct val="100000"/>
                        </a:lnSpc>
                      </a:pPr>
                      <a:r>
                        <a:rPr sz="400" dirty="0">
                          <a:latin typeface="Tahoma"/>
                          <a:cs typeface="Tahoma"/>
                        </a:rPr>
                        <a:t>-  T  2</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4</a:t>
                      </a:r>
                      <a:endParaRPr sz="400">
                        <a:latin typeface="Tahoma"/>
                        <a:cs typeface="Tahoma"/>
                      </a:endParaRPr>
                    </a:p>
                    <a:p>
                      <a:pPr marL="92075" marR="91440" algn="just">
                        <a:lnSpc>
                          <a:spcPct val="100000"/>
                        </a:lnSpc>
                      </a:pPr>
                      <a:r>
                        <a:rPr sz="400" dirty="0">
                          <a:latin typeface="Tahoma"/>
                          <a:cs typeface="Tahoma"/>
                        </a:rPr>
                        <a:t>-  T  3</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91440" indent="-635" algn="ctr">
                        <a:lnSpc>
                          <a:spcPct val="100000"/>
                        </a:lnSpc>
                        <a:spcBef>
                          <a:spcPts val="345"/>
                        </a:spcBef>
                      </a:pPr>
                      <a:r>
                        <a:rPr sz="400" dirty="0">
                          <a:latin typeface="Tahoma"/>
                          <a:cs typeface="Tahoma"/>
                        </a:rPr>
                        <a:t>T  4</a:t>
                      </a:r>
                    </a:p>
                    <a:p>
                      <a:pPr marL="92075" marR="91440" algn="just">
                        <a:lnSpc>
                          <a:spcPct val="100000"/>
                        </a:lnSpc>
                      </a:pPr>
                      <a:r>
                        <a:rPr sz="400" dirty="0">
                          <a:latin typeface="Tahoma"/>
                          <a:cs typeface="Tahoma"/>
                        </a:rPr>
                        <a:t>-  T  4</a:t>
                      </a: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0"/>
                  </a:ext>
                </a:extLst>
              </a:tr>
              <a:tr h="2920174">
                <a:tc gridSpan="5">
                  <a:txBody>
                    <a:bodyPr/>
                    <a:lstStyle/>
                    <a:p>
                      <a:pPr>
                        <a:lnSpc>
                          <a:spcPct val="100000"/>
                        </a:lnSpc>
                      </a:pPr>
                      <a:endParaRPr sz="13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cap="flat" cmpd="sng" algn="ctr">
                      <a:solidFill>
                        <a:srgbClr val="000000"/>
                      </a:solidFill>
                      <a:prstDash val="solid"/>
                      <a:round/>
                      <a:headEnd type="none" w="med" len="med"/>
                      <a:tailEnd type="none" w="med" len="med"/>
                    </a:lnT>
                    <a:lnB w="12700">
                      <a:solidFill>
                        <a:srgbClr val="FFFFFF"/>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aphicFrame>
        <p:nvGraphicFramePr>
          <p:cNvPr id="15" name="object 15"/>
          <p:cNvGraphicFramePr>
            <a:graphicFrameLocks noGrp="1"/>
          </p:cNvGraphicFramePr>
          <p:nvPr>
            <p:extLst>
              <p:ext uri="{D42A27DB-BD31-4B8C-83A1-F6EECF244321}">
                <p14:modId xmlns:p14="http://schemas.microsoft.com/office/powerpoint/2010/main" val="787083608"/>
              </p:ext>
            </p:extLst>
          </p:nvPr>
        </p:nvGraphicFramePr>
        <p:xfrm>
          <a:off x="8359521" y="2981960"/>
          <a:ext cx="1097280" cy="1920239"/>
        </p:xfrm>
        <a:graphic>
          <a:graphicData uri="http://schemas.openxmlformats.org/drawingml/2006/table">
            <a:tbl>
              <a:tblPr firstRow="1" bandRow="1">
                <a:tableStyleId>{2D5ABB26-0587-4C30-8999-92F81FD0307C}</a:tableStyleId>
              </a:tblPr>
              <a:tblGrid>
                <a:gridCol w="1097280">
                  <a:extLst>
                    <a:ext uri="{9D8B030D-6E8A-4147-A177-3AD203B41FA5}">
                      <a16:colId xmlns:a16="http://schemas.microsoft.com/office/drawing/2014/main" val="20000"/>
                    </a:ext>
                  </a:extLst>
                </a:gridCol>
              </a:tblGrid>
              <a:tr h="213360">
                <a:tc>
                  <a:txBody>
                    <a:bodyPr/>
                    <a:lstStyle/>
                    <a:p>
                      <a:pPr marL="92075">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1</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0"/>
                  </a:ext>
                </a:extLst>
              </a:tr>
              <a:tr h="213359">
                <a:tc>
                  <a:txBody>
                    <a:bodyPr/>
                    <a:lstStyle/>
                    <a:p>
                      <a:pPr marL="92075">
                        <a:lnSpc>
                          <a:spcPct val="100000"/>
                        </a:lnSpc>
                        <a:spcBef>
                          <a:spcPts val="330"/>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2</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1"/>
                  </a:ext>
                </a:extLst>
              </a:tr>
              <a:tr h="213360">
                <a:tc>
                  <a:txBody>
                    <a:bodyPr/>
                    <a:lstStyle/>
                    <a:p>
                      <a:pPr marL="92075">
                        <a:lnSpc>
                          <a:spcPct val="100000"/>
                        </a:lnSpc>
                        <a:spcBef>
                          <a:spcPts val="330"/>
                        </a:spcBef>
                      </a:pPr>
                      <a:r>
                        <a:rPr sz="800" spc="-5" dirty="0">
                          <a:latin typeface="Tahoma"/>
                          <a:cs typeface="Tahoma"/>
                        </a:rPr>
                        <a:t>TOK</a:t>
                      </a:r>
                      <a:r>
                        <a:rPr sz="800" dirty="0">
                          <a:latin typeface="Tahoma"/>
                          <a:cs typeface="Tahoma"/>
                        </a:rPr>
                        <a:t>EN</a:t>
                      </a:r>
                      <a:r>
                        <a:rPr sz="800" spc="-75" dirty="0">
                          <a:latin typeface="Tahoma"/>
                          <a:cs typeface="Tahoma"/>
                        </a:rPr>
                        <a:t> </a:t>
                      </a:r>
                      <a:r>
                        <a:rPr sz="800" dirty="0">
                          <a:latin typeface="Tahoma"/>
                          <a:cs typeface="Tahoma"/>
                        </a:rPr>
                        <a:t>3</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2"/>
                  </a:ext>
                </a:extLst>
              </a:tr>
              <a:tr h="213360">
                <a:tc>
                  <a:txBody>
                    <a:bodyPr/>
                    <a:lstStyle/>
                    <a:p>
                      <a:pPr marL="92075">
                        <a:lnSpc>
                          <a:spcPct val="100000"/>
                        </a:lnSpc>
                        <a:spcBef>
                          <a:spcPts val="335"/>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4</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3"/>
                  </a:ext>
                </a:extLst>
              </a:tr>
              <a:tr h="1066800">
                <a:tc>
                  <a:txBody>
                    <a:bodyPr/>
                    <a:lstStyle/>
                    <a:p>
                      <a:pPr>
                        <a:lnSpc>
                          <a:spcPct val="100000"/>
                        </a:lnSpc>
                      </a:pPr>
                      <a:endParaRPr sz="13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000000"/>
                      </a:solidFill>
                      <a:prstDash val="solid"/>
                    </a:lnT>
                    <a:lnB w="12700">
                      <a:solidFill>
                        <a:srgbClr val="FFFFFF"/>
                      </a:solidFill>
                      <a:prstDash val="solid"/>
                    </a:lnB>
                  </a:tcPr>
                </a:tc>
                <a:extLst>
                  <a:ext uri="{0D108BD9-81ED-4DB2-BD59-A6C34878D82A}">
                    <a16:rowId xmlns:a16="http://schemas.microsoft.com/office/drawing/2014/main" val="10004"/>
                  </a:ext>
                </a:extLst>
              </a:tr>
            </a:tbl>
          </a:graphicData>
        </a:graphic>
      </p:graphicFrame>
      <p:grpSp>
        <p:nvGrpSpPr>
          <p:cNvPr id="16" name="object 16"/>
          <p:cNvGrpSpPr/>
          <p:nvPr/>
        </p:nvGrpSpPr>
        <p:grpSpPr>
          <a:xfrm>
            <a:off x="10398760" y="2981960"/>
            <a:ext cx="1109980" cy="1932939"/>
            <a:chOff x="10087609" y="2981960"/>
            <a:chExt cx="1109980" cy="1932939"/>
          </a:xfrm>
        </p:grpSpPr>
        <p:sp>
          <p:nvSpPr>
            <p:cNvPr id="17" name="object 17"/>
            <p:cNvSpPr/>
            <p:nvPr/>
          </p:nvSpPr>
          <p:spPr>
            <a:xfrm>
              <a:off x="10093959" y="2988310"/>
              <a:ext cx="1097280" cy="213360"/>
            </a:xfrm>
            <a:custGeom>
              <a:avLst/>
              <a:gdLst/>
              <a:ahLst/>
              <a:cxnLst/>
              <a:rect l="l" t="t" r="r" b="b"/>
              <a:pathLst>
                <a:path w="1097279" h="213360">
                  <a:moveTo>
                    <a:pt x="1097241" y="0"/>
                  </a:moveTo>
                  <a:lnTo>
                    <a:pt x="0" y="0"/>
                  </a:lnTo>
                  <a:lnTo>
                    <a:pt x="0" y="213360"/>
                  </a:lnTo>
                  <a:lnTo>
                    <a:pt x="1097241" y="213360"/>
                  </a:lnTo>
                  <a:lnTo>
                    <a:pt x="1097241" y="0"/>
                  </a:lnTo>
                  <a:close/>
                </a:path>
              </a:pathLst>
            </a:custGeom>
            <a:solidFill>
              <a:srgbClr val="FFAD78"/>
            </a:solidFill>
          </p:spPr>
          <p:txBody>
            <a:bodyPr wrap="square" lIns="0" tIns="0" rIns="0" bIns="0" rtlCol="0"/>
            <a:lstStyle/>
            <a:p>
              <a:endParaRPr/>
            </a:p>
          </p:txBody>
        </p:sp>
        <p:sp>
          <p:nvSpPr>
            <p:cNvPr id="18" name="object 18"/>
            <p:cNvSpPr/>
            <p:nvPr/>
          </p:nvSpPr>
          <p:spPr>
            <a:xfrm>
              <a:off x="10087609" y="3195320"/>
              <a:ext cx="1109980" cy="12700"/>
            </a:xfrm>
            <a:custGeom>
              <a:avLst/>
              <a:gdLst/>
              <a:ahLst/>
              <a:cxnLst/>
              <a:rect l="l" t="t" r="r" b="b"/>
              <a:pathLst>
                <a:path w="1109979" h="12700">
                  <a:moveTo>
                    <a:pt x="0" y="12700"/>
                  </a:moveTo>
                  <a:lnTo>
                    <a:pt x="1109980" y="12700"/>
                  </a:lnTo>
                  <a:lnTo>
                    <a:pt x="1109980" y="0"/>
                  </a:lnTo>
                  <a:lnTo>
                    <a:pt x="0" y="0"/>
                  </a:lnTo>
                  <a:lnTo>
                    <a:pt x="0" y="12700"/>
                  </a:lnTo>
                  <a:close/>
                </a:path>
              </a:pathLst>
            </a:custGeom>
            <a:solidFill>
              <a:srgbClr val="000000"/>
            </a:solidFill>
          </p:spPr>
          <p:txBody>
            <a:bodyPr wrap="square" lIns="0" tIns="0" rIns="0" bIns="0" rtlCol="0"/>
            <a:lstStyle/>
            <a:p>
              <a:endParaRPr/>
            </a:p>
          </p:txBody>
        </p:sp>
        <p:sp>
          <p:nvSpPr>
            <p:cNvPr id="19" name="object 19"/>
            <p:cNvSpPr/>
            <p:nvPr/>
          </p:nvSpPr>
          <p:spPr>
            <a:xfrm>
              <a:off x="10093959"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20" name="object 20"/>
            <p:cNvSpPr/>
            <p:nvPr/>
          </p:nvSpPr>
          <p:spPr>
            <a:xfrm>
              <a:off x="10093959" y="3201670"/>
              <a:ext cx="0" cy="1713230"/>
            </a:xfrm>
            <a:custGeom>
              <a:avLst/>
              <a:gdLst/>
              <a:ahLst/>
              <a:cxnLst/>
              <a:rect l="l" t="t" r="r" b="b"/>
              <a:pathLst>
                <a:path h="1713229">
                  <a:moveTo>
                    <a:pt x="0" y="0"/>
                  </a:moveTo>
                  <a:lnTo>
                    <a:pt x="0" y="1713229"/>
                  </a:lnTo>
                </a:path>
              </a:pathLst>
            </a:custGeom>
            <a:ln w="12700">
              <a:solidFill>
                <a:srgbClr val="FFFFFF"/>
              </a:solidFill>
            </a:ln>
          </p:spPr>
          <p:txBody>
            <a:bodyPr wrap="square" lIns="0" tIns="0" rIns="0" bIns="0" rtlCol="0"/>
            <a:lstStyle/>
            <a:p>
              <a:endParaRPr/>
            </a:p>
          </p:txBody>
        </p:sp>
        <p:sp>
          <p:nvSpPr>
            <p:cNvPr id="21" name="object 21"/>
            <p:cNvSpPr/>
            <p:nvPr/>
          </p:nvSpPr>
          <p:spPr>
            <a:xfrm>
              <a:off x="11191239"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22" name="object 22"/>
            <p:cNvSpPr/>
            <p:nvPr/>
          </p:nvSpPr>
          <p:spPr>
            <a:xfrm>
              <a:off x="10087609" y="3201670"/>
              <a:ext cx="1109980" cy="1713230"/>
            </a:xfrm>
            <a:custGeom>
              <a:avLst/>
              <a:gdLst/>
              <a:ahLst/>
              <a:cxnLst/>
              <a:rect l="l" t="t" r="r" b="b"/>
              <a:pathLst>
                <a:path w="1109979" h="1713229">
                  <a:moveTo>
                    <a:pt x="1103630" y="0"/>
                  </a:moveTo>
                  <a:lnTo>
                    <a:pt x="1103630" y="1713229"/>
                  </a:lnTo>
                </a:path>
                <a:path w="1109979" h="1713229">
                  <a:moveTo>
                    <a:pt x="0" y="1706879"/>
                  </a:moveTo>
                  <a:lnTo>
                    <a:pt x="1109980" y="1706879"/>
                  </a:lnTo>
                </a:path>
              </a:pathLst>
            </a:custGeom>
            <a:ln w="12700">
              <a:solidFill>
                <a:srgbClr val="FFFFFF"/>
              </a:solidFill>
            </a:ln>
          </p:spPr>
          <p:txBody>
            <a:bodyPr wrap="square" lIns="0" tIns="0" rIns="0" bIns="0" rtlCol="0"/>
            <a:lstStyle/>
            <a:p>
              <a:endParaRPr/>
            </a:p>
          </p:txBody>
        </p:sp>
      </p:grpSp>
      <p:sp>
        <p:nvSpPr>
          <p:cNvPr id="23" name="object 23"/>
          <p:cNvSpPr txBox="1"/>
          <p:nvPr/>
        </p:nvSpPr>
        <p:spPr>
          <a:xfrm>
            <a:off x="10405110" y="2988310"/>
            <a:ext cx="1097280" cy="165430"/>
          </a:xfrm>
          <a:prstGeom prst="rect">
            <a:avLst/>
          </a:prstGeom>
          <a:solidFill>
            <a:srgbClr val="FFAD78"/>
          </a:solidFill>
          <a:ln w="12700">
            <a:solidFill>
              <a:srgbClr val="000000"/>
            </a:solidFill>
          </a:ln>
        </p:spPr>
        <p:txBody>
          <a:bodyPr vert="horz" wrap="square" lIns="0" tIns="41910" rIns="0" bIns="0" rtlCol="0">
            <a:spAutoFit/>
          </a:bodyPr>
          <a:lstStyle/>
          <a:p>
            <a:pPr marL="92710">
              <a:lnSpc>
                <a:spcPct val="100000"/>
              </a:lnSpc>
              <a:spcBef>
                <a:spcPts val="330"/>
              </a:spcBef>
            </a:pPr>
            <a:r>
              <a:rPr sz="800" spc="75" dirty="0">
                <a:cs typeface="Tahoma"/>
              </a:rPr>
              <a:t>OU</a:t>
            </a:r>
            <a:r>
              <a:rPr sz="800" spc="15" dirty="0">
                <a:cs typeface="Tahoma"/>
              </a:rPr>
              <a:t>TP</a:t>
            </a:r>
            <a:r>
              <a:rPr sz="800" spc="10" dirty="0">
                <a:cs typeface="Tahoma"/>
              </a:rPr>
              <a:t>U</a:t>
            </a:r>
            <a:r>
              <a:rPr sz="800" spc="-10" dirty="0">
                <a:cs typeface="Tahoma"/>
              </a:rPr>
              <a:t>T</a:t>
            </a:r>
            <a:r>
              <a:rPr sz="800" spc="-100" dirty="0">
                <a:cs typeface="Tahoma"/>
              </a:rPr>
              <a:t> </a:t>
            </a:r>
            <a:r>
              <a:rPr sz="800" spc="45" dirty="0">
                <a:cs typeface="Tahoma"/>
              </a:rPr>
              <a:t>TO</a:t>
            </a:r>
            <a:r>
              <a:rPr sz="800" spc="35" dirty="0">
                <a:cs typeface="Tahoma"/>
              </a:rPr>
              <a:t>K</a:t>
            </a:r>
            <a:r>
              <a:rPr sz="800" spc="25" dirty="0">
                <a:cs typeface="Tahoma"/>
              </a:rPr>
              <a:t>E</a:t>
            </a:r>
            <a:r>
              <a:rPr sz="800" spc="80" dirty="0">
                <a:cs typeface="Tahoma"/>
              </a:rPr>
              <a:t>N</a:t>
            </a:r>
            <a:r>
              <a:rPr sz="800" spc="-75" dirty="0">
                <a:cs typeface="Tahoma"/>
              </a:rPr>
              <a:t> </a:t>
            </a:r>
            <a:r>
              <a:rPr sz="800" spc="25" dirty="0">
                <a:cs typeface="Tahoma"/>
              </a:rPr>
              <a:t>4</a:t>
            </a:r>
            <a:endParaRPr sz="800">
              <a:cs typeface="Tahoma"/>
            </a:endParaRPr>
          </a:p>
        </p:txBody>
      </p:sp>
      <p:sp>
        <p:nvSpPr>
          <p:cNvPr id="24" name="object 24"/>
          <p:cNvSpPr/>
          <p:nvPr/>
        </p:nvSpPr>
        <p:spPr>
          <a:xfrm>
            <a:off x="776227" y="1833054"/>
            <a:ext cx="173990" cy="3621404"/>
          </a:xfrm>
          <a:custGeom>
            <a:avLst/>
            <a:gdLst/>
            <a:ahLst/>
            <a:cxnLst/>
            <a:rect l="l" t="t" r="r" b="b"/>
            <a:pathLst>
              <a:path w="173990" h="3621404">
                <a:moveTo>
                  <a:pt x="173736" y="3621024"/>
                </a:moveTo>
                <a:lnTo>
                  <a:pt x="106111" y="3619886"/>
                </a:lnTo>
                <a:lnTo>
                  <a:pt x="50887" y="3616785"/>
                </a:lnTo>
                <a:lnTo>
                  <a:pt x="13653" y="3612183"/>
                </a:lnTo>
                <a:lnTo>
                  <a:pt x="0" y="3606546"/>
                </a:lnTo>
                <a:lnTo>
                  <a:pt x="0" y="14478"/>
                </a:lnTo>
                <a:lnTo>
                  <a:pt x="13653" y="8840"/>
                </a:lnTo>
                <a:lnTo>
                  <a:pt x="50887" y="4238"/>
                </a:lnTo>
                <a:lnTo>
                  <a:pt x="106111" y="1137"/>
                </a:lnTo>
                <a:lnTo>
                  <a:pt x="173736" y="0"/>
                </a:lnTo>
              </a:path>
            </a:pathLst>
          </a:custGeom>
          <a:ln w="76200">
            <a:solidFill>
              <a:srgbClr val="4E91EF"/>
            </a:solidFill>
          </a:ln>
        </p:spPr>
        <p:txBody>
          <a:bodyPr wrap="square" lIns="0" tIns="0" rIns="0" bIns="0" rtlCol="0"/>
          <a:lstStyle/>
          <a:p>
            <a:endParaRPr/>
          </a:p>
        </p:txBody>
      </p:sp>
      <p:sp>
        <p:nvSpPr>
          <p:cNvPr id="25" name="object 25"/>
          <p:cNvSpPr/>
          <p:nvPr/>
        </p:nvSpPr>
        <p:spPr>
          <a:xfrm>
            <a:off x="7423914" y="1833054"/>
            <a:ext cx="173990" cy="3621404"/>
          </a:xfrm>
          <a:custGeom>
            <a:avLst/>
            <a:gdLst/>
            <a:ahLst/>
            <a:cxnLst/>
            <a:rect l="l" t="t" r="r" b="b"/>
            <a:pathLst>
              <a:path w="173990" h="3621404">
                <a:moveTo>
                  <a:pt x="0" y="0"/>
                </a:moveTo>
                <a:lnTo>
                  <a:pt x="67651" y="1137"/>
                </a:lnTo>
                <a:lnTo>
                  <a:pt x="122872" y="4238"/>
                </a:lnTo>
                <a:lnTo>
                  <a:pt x="160091" y="8840"/>
                </a:lnTo>
                <a:lnTo>
                  <a:pt x="173735" y="14478"/>
                </a:lnTo>
                <a:lnTo>
                  <a:pt x="173735" y="3606546"/>
                </a:lnTo>
                <a:lnTo>
                  <a:pt x="160091" y="3612183"/>
                </a:lnTo>
                <a:lnTo>
                  <a:pt x="122872" y="3616785"/>
                </a:lnTo>
                <a:lnTo>
                  <a:pt x="67651" y="3619886"/>
                </a:lnTo>
                <a:lnTo>
                  <a:pt x="0" y="3621024"/>
                </a:lnTo>
              </a:path>
            </a:pathLst>
          </a:custGeom>
          <a:ln w="76200">
            <a:solidFill>
              <a:srgbClr val="4E91EF"/>
            </a:solidFill>
          </a:ln>
        </p:spPr>
        <p:txBody>
          <a:bodyPr wrap="square" lIns="0" tIns="0" rIns="0" bIns="0" rtlCol="0"/>
          <a:lstStyle/>
          <a:p>
            <a:endParaRPr/>
          </a:p>
        </p:txBody>
      </p:sp>
      <p:sp>
        <p:nvSpPr>
          <p:cNvPr id="26" name="object 26"/>
          <p:cNvSpPr txBox="1"/>
          <p:nvPr/>
        </p:nvSpPr>
        <p:spPr>
          <a:xfrm>
            <a:off x="7805040" y="3648836"/>
            <a:ext cx="17335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𝑋</a:t>
            </a:r>
            <a:endParaRPr sz="1800">
              <a:cs typeface="Cambria Math"/>
            </a:endParaRPr>
          </a:p>
        </p:txBody>
      </p:sp>
      <p:sp>
        <p:nvSpPr>
          <p:cNvPr id="27" name="object 27"/>
          <p:cNvSpPr txBox="1"/>
          <p:nvPr/>
        </p:nvSpPr>
        <p:spPr>
          <a:xfrm>
            <a:off x="9836278" y="3648836"/>
            <a:ext cx="19621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a:t>
            </a:r>
            <a:endParaRPr sz="1800">
              <a:cs typeface="Cambria Math"/>
            </a:endParaRPr>
          </a:p>
        </p:txBody>
      </p:sp>
      <p:sp>
        <p:nvSpPr>
          <p:cNvPr id="28" name="object 28"/>
          <p:cNvSpPr txBox="1"/>
          <p:nvPr/>
        </p:nvSpPr>
        <p:spPr>
          <a:xfrm>
            <a:off x="1422809" y="2321115"/>
            <a:ext cx="18034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𝑄</a:t>
            </a:r>
            <a:endParaRPr sz="1800">
              <a:cs typeface="Cambria Math"/>
            </a:endParaRPr>
          </a:p>
        </p:txBody>
      </p:sp>
      <p:sp>
        <p:nvSpPr>
          <p:cNvPr id="29" name="object 29"/>
          <p:cNvSpPr txBox="1"/>
          <p:nvPr/>
        </p:nvSpPr>
        <p:spPr>
          <a:xfrm>
            <a:off x="3498091" y="2240725"/>
            <a:ext cx="351790" cy="299720"/>
          </a:xfrm>
          <a:prstGeom prst="rect">
            <a:avLst/>
          </a:prstGeom>
        </p:spPr>
        <p:txBody>
          <a:bodyPr vert="horz" wrap="square" lIns="0" tIns="12700" rIns="0" bIns="0" rtlCol="0">
            <a:spAutoFit/>
          </a:bodyPr>
          <a:lstStyle/>
          <a:p>
            <a:pPr marL="38100">
              <a:lnSpc>
                <a:spcPct val="100000"/>
              </a:lnSpc>
              <a:spcBef>
                <a:spcPts val="100"/>
              </a:spcBef>
            </a:pPr>
            <a:r>
              <a:rPr sz="2700" spc="97" baseline="-20061" dirty="0">
                <a:cs typeface="Cambria Math"/>
              </a:rPr>
              <a:t>𝐾</a:t>
            </a:r>
            <a:r>
              <a:rPr sz="1300" spc="65" dirty="0">
                <a:cs typeface="Cambria Math"/>
              </a:rPr>
              <a:t>𝑇</a:t>
            </a:r>
            <a:endParaRPr sz="1300">
              <a:cs typeface="Cambria Math"/>
            </a:endParaRPr>
          </a:p>
        </p:txBody>
      </p:sp>
      <p:sp>
        <p:nvSpPr>
          <p:cNvPr id="30" name="object 30"/>
          <p:cNvSpPr txBox="1"/>
          <p:nvPr/>
        </p:nvSpPr>
        <p:spPr>
          <a:xfrm>
            <a:off x="5956048" y="1772476"/>
            <a:ext cx="511809" cy="299720"/>
          </a:xfrm>
          <a:prstGeom prst="rect">
            <a:avLst/>
          </a:prstGeom>
        </p:spPr>
        <p:txBody>
          <a:bodyPr vert="horz" wrap="square" lIns="0" tIns="12700" rIns="0" bIns="0" rtlCol="0">
            <a:spAutoFit/>
          </a:bodyPr>
          <a:lstStyle/>
          <a:p>
            <a:pPr marL="38100">
              <a:lnSpc>
                <a:spcPct val="100000"/>
              </a:lnSpc>
              <a:spcBef>
                <a:spcPts val="100"/>
              </a:spcBef>
            </a:pPr>
            <a:r>
              <a:rPr sz="1800" spc="55" dirty="0">
                <a:cs typeface="Cambria Math"/>
              </a:rPr>
              <a:t>𝑄𝐾</a:t>
            </a:r>
            <a:r>
              <a:rPr sz="1950" spc="82" baseline="27777" dirty="0">
                <a:cs typeface="Cambria Math"/>
              </a:rPr>
              <a:t>𝑇</a:t>
            </a:r>
            <a:endParaRPr sz="1950" baseline="27777">
              <a:cs typeface="Cambria Math"/>
            </a:endParaRPr>
          </a:p>
        </p:txBody>
      </p:sp>
      <p:sp>
        <p:nvSpPr>
          <p:cNvPr id="31" name="object 31"/>
          <p:cNvSpPr txBox="1"/>
          <p:nvPr/>
        </p:nvSpPr>
        <p:spPr>
          <a:xfrm>
            <a:off x="8827008" y="2461640"/>
            <a:ext cx="16891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𝑉</a:t>
            </a:r>
            <a:endParaRPr sz="1800">
              <a:cs typeface="Cambria Math"/>
            </a:endParaRPr>
          </a:p>
        </p:txBody>
      </p:sp>
      <p:sp>
        <p:nvSpPr>
          <p:cNvPr id="32" name="object 32"/>
          <p:cNvSpPr txBox="1"/>
          <p:nvPr/>
        </p:nvSpPr>
        <p:spPr>
          <a:xfrm>
            <a:off x="10446512" y="2457450"/>
            <a:ext cx="1009650" cy="299720"/>
          </a:xfrm>
          <a:prstGeom prst="rect">
            <a:avLst/>
          </a:prstGeom>
        </p:spPr>
        <p:txBody>
          <a:bodyPr vert="horz" wrap="square" lIns="0" tIns="12700" rIns="0" bIns="0" rtlCol="0">
            <a:spAutoFit/>
          </a:bodyPr>
          <a:lstStyle/>
          <a:p>
            <a:pPr marL="12700">
              <a:lnSpc>
                <a:spcPct val="100000"/>
              </a:lnSpc>
              <a:spcBef>
                <a:spcPts val="100"/>
              </a:spcBef>
            </a:pPr>
            <a:r>
              <a:rPr sz="1800" spc="-5" dirty="0">
                <a:cs typeface="Cambria Math"/>
              </a:rPr>
              <a:t>𝐴𝑡</a:t>
            </a:r>
            <a:r>
              <a:rPr sz="1800" spc="-10" dirty="0">
                <a:cs typeface="Cambria Math"/>
              </a:rPr>
              <a:t>𝑡</a:t>
            </a:r>
            <a:r>
              <a:rPr sz="1800" spc="-5" dirty="0">
                <a:cs typeface="Cambria Math"/>
              </a:rPr>
              <a:t>𝑒</a:t>
            </a:r>
            <a:r>
              <a:rPr sz="1800" spc="-10" dirty="0">
                <a:cs typeface="Cambria Math"/>
              </a:rPr>
              <a:t>𝑛</a:t>
            </a:r>
            <a:r>
              <a:rPr sz="1800" dirty="0">
                <a:cs typeface="Cambria Math"/>
              </a:rPr>
              <a:t>𝑡𝑖𝑜𝑛</a:t>
            </a:r>
            <a:endParaRPr sz="1800">
              <a:cs typeface="Cambria Math"/>
            </a:endParaRPr>
          </a:p>
        </p:txBody>
      </p:sp>
      <p:sp>
        <p:nvSpPr>
          <p:cNvPr id="33" name="object 33"/>
          <p:cNvSpPr/>
          <p:nvPr/>
        </p:nvSpPr>
        <p:spPr>
          <a:xfrm>
            <a:off x="8702290" y="5686324"/>
            <a:ext cx="800100" cy="212090"/>
          </a:xfrm>
          <a:custGeom>
            <a:avLst/>
            <a:gdLst/>
            <a:ahLst/>
            <a:cxnLst/>
            <a:rect l="l" t="t" r="r" b="b"/>
            <a:pathLst>
              <a:path w="800100" h="212089">
                <a:moveTo>
                  <a:pt x="732408" y="0"/>
                </a:moveTo>
                <a:lnTo>
                  <a:pt x="729360" y="8597"/>
                </a:lnTo>
                <a:lnTo>
                  <a:pt x="741628" y="13915"/>
                </a:lnTo>
                <a:lnTo>
                  <a:pt x="752157" y="21277"/>
                </a:lnTo>
                <a:lnTo>
                  <a:pt x="773596" y="55406"/>
                </a:lnTo>
                <a:lnTo>
                  <a:pt x="780668" y="104813"/>
                </a:lnTo>
                <a:lnTo>
                  <a:pt x="779883" y="123484"/>
                </a:lnTo>
                <a:lnTo>
                  <a:pt x="768096" y="169214"/>
                </a:lnTo>
                <a:lnTo>
                  <a:pt x="741789" y="197805"/>
                </a:lnTo>
                <a:lnTo>
                  <a:pt x="729741" y="203149"/>
                </a:lnTo>
                <a:lnTo>
                  <a:pt x="732408" y="211747"/>
                </a:lnTo>
                <a:lnTo>
                  <a:pt x="772824" y="187703"/>
                </a:lnTo>
                <a:lnTo>
                  <a:pt x="795591" y="143335"/>
                </a:lnTo>
                <a:lnTo>
                  <a:pt x="799973" y="105930"/>
                </a:lnTo>
                <a:lnTo>
                  <a:pt x="798877" y="86513"/>
                </a:lnTo>
                <a:lnTo>
                  <a:pt x="782447" y="37109"/>
                </a:lnTo>
                <a:lnTo>
                  <a:pt x="747746" y="5541"/>
                </a:lnTo>
                <a:lnTo>
                  <a:pt x="732408" y="0"/>
                </a:lnTo>
                <a:close/>
              </a:path>
              <a:path w="800100" h="212089">
                <a:moveTo>
                  <a:pt x="67563" y="0"/>
                </a:moveTo>
                <a:lnTo>
                  <a:pt x="27112" y="24095"/>
                </a:lnTo>
                <a:lnTo>
                  <a:pt x="4365" y="68572"/>
                </a:lnTo>
                <a:lnTo>
                  <a:pt x="0" y="105930"/>
                </a:lnTo>
                <a:lnTo>
                  <a:pt x="1093" y="125383"/>
                </a:lnTo>
                <a:lnTo>
                  <a:pt x="17399" y="174739"/>
                </a:lnTo>
                <a:lnTo>
                  <a:pt x="52135" y="206205"/>
                </a:lnTo>
                <a:lnTo>
                  <a:pt x="67563" y="211747"/>
                </a:lnTo>
                <a:lnTo>
                  <a:pt x="70230" y="203149"/>
                </a:lnTo>
                <a:lnTo>
                  <a:pt x="58130" y="197805"/>
                </a:lnTo>
                <a:lnTo>
                  <a:pt x="47720" y="190368"/>
                </a:lnTo>
                <a:lnTo>
                  <a:pt x="26376" y="155687"/>
                </a:lnTo>
                <a:lnTo>
                  <a:pt x="19303" y="104813"/>
                </a:lnTo>
                <a:lnTo>
                  <a:pt x="20089" y="86744"/>
                </a:lnTo>
                <a:lnTo>
                  <a:pt x="31876" y="42138"/>
                </a:lnTo>
                <a:lnTo>
                  <a:pt x="58291" y="13915"/>
                </a:lnTo>
                <a:lnTo>
                  <a:pt x="70484" y="8597"/>
                </a:lnTo>
                <a:lnTo>
                  <a:pt x="67563" y="0"/>
                </a:lnTo>
                <a:close/>
              </a:path>
            </a:pathLst>
          </a:custGeom>
          <a:solidFill>
            <a:srgbClr val="000000"/>
          </a:solidFill>
        </p:spPr>
        <p:txBody>
          <a:bodyPr wrap="square" lIns="0" tIns="0" rIns="0" bIns="0" rtlCol="0"/>
          <a:lstStyle/>
          <a:p>
            <a:endParaRPr/>
          </a:p>
        </p:txBody>
      </p:sp>
      <p:sp>
        <p:nvSpPr>
          <p:cNvPr id="34" name="object 34"/>
          <p:cNvSpPr txBox="1"/>
          <p:nvPr/>
        </p:nvSpPr>
        <p:spPr>
          <a:xfrm>
            <a:off x="7678289" y="5616575"/>
            <a:ext cx="1869440" cy="289823"/>
          </a:xfrm>
          <a:prstGeom prst="rect">
            <a:avLst/>
          </a:prstGeom>
        </p:spPr>
        <p:txBody>
          <a:bodyPr vert="horz" wrap="square" lIns="0" tIns="12700" rIns="0" bIns="0" rtlCol="0">
            <a:spAutoFit/>
          </a:bodyPr>
          <a:lstStyle/>
          <a:p>
            <a:pPr marL="12700">
              <a:lnSpc>
                <a:spcPct val="100000"/>
              </a:lnSpc>
              <a:spcBef>
                <a:spcPts val="100"/>
              </a:spcBef>
            </a:pPr>
            <a:r>
              <a:rPr sz="1800" spc="-5" dirty="0">
                <a:cs typeface="Cambria Math"/>
              </a:rPr>
              <a:t>𝐴𝑡</a:t>
            </a:r>
            <a:r>
              <a:rPr sz="1800" spc="-10" dirty="0">
                <a:cs typeface="Cambria Math"/>
              </a:rPr>
              <a:t>𝑡</a:t>
            </a:r>
            <a:r>
              <a:rPr sz="1800" spc="-5" dirty="0">
                <a:cs typeface="Cambria Math"/>
              </a:rPr>
              <a:t>𝑒</a:t>
            </a:r>
            <a:r>
              <a:rPr sz="1800" spc="-10" dirty="0">
                <a:cs typeface="Cambria Math"/>
              </a:rPr>
              <a:t>𝑛</a:t>
            </a:r>
            <a:r>
              <a:rPr sz="1800" spc="5" dirty="0">
                <a:cs typeface="Cambria Math"/>
              </a:rPr>
              <a:t>𝑡</a:t>
            </a:r>
            <a:r>
              <a:rPr sz="1800" dirty="0">
                <a:cs typeface="Cambria Math"/>
              </a:rPr>
              <a:t>𝑖𝑜𝑛 </a:t>
            </a:r>
            <a:r>
              <a:rPr sz="1800" spc="5" dirty="0">
                <a:cs typeface="Cambria Math"/>
              </a:rPr>
              <a:t> </a:t>
            </a:r>
            <a:r>
              <a:rPr sz="1800" spc="40" dirty="0">
                <a:cs typeface="Cambria Math"/>
              </a:rPr>
              <a:t>𝑄</a:t>
            </a:r>
            <a:r>
              <a:rPr sz="1800" dirty="0">
                <a:cs typeface="Cambria Math"/>
              </a:rPr>
              <a:t>,</a:t>
            </a:r>
            <a:r>
              <a:rPr sz="1800" spc="-85" dirty="0">
                <a:cs typeface="Cambria Math"/>
              </a:rPr>
              <a:t> </a:t>
            </a:r>
            <a:r>
              <a:rPr sz="1800" spc="50" dirty="0">
                <a:cs typeface="Cambria Math"/>
              </a:rPr>
              <a:t>𝐾</a:t>
            </a:r>
            <a:r>
              <a:rPr sz="1800" dirty="0">
                <a:cs typeface="Cambria Math"/>
              </a:rPr>
              <a:t>,</a:t>
            </a:r>
            <a:r>
              <a:rPr sz="1800" spc="-85" dirty="0">
                <a:cs typeface="Cambria Math"/>
              </a:rPr>
              <a:t> </a:t>
            </a:r>
            <a:r>
              <a:rPr sz="1800" dirty="0">
                <a:cs typeface="Cambria Math"/>
              </a:rPr>
              <a:t>𝑉</a:t>
            </a:r>
          </a:p>
        </p:txBody>
      </p:sp>
      <p:sp>
        <p:nvSpPr>
          <p:cNvPr id="35" name="object 35"/>
          <p:cNvSpPr txBox="1"/>
          <p:nvPr/>
        </p:nvSpPr>
        <p:spPr>
          <a:xfrm>
            <a:off x="9573002" y="5616575"/>
            <a:ext cx="103886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a:t>
            </a:r>
            <a:r>
              <a:rPr sz="1800" spc="45" dirty="0">
                <a:cs typeface="Cambria Math"/>
              </a:rPr>
              <a:t> </a:t>
            </a:r>
            <a:r>
              <a:rPr sz="1800" spc="-5" dirty="0">
                <a:cs typeface="Cambria Math"/>
              </a:rPr>
              <a:t>softmax</a:t>
            </a:r>
            <a:endParaRPr sz="1800">
              <a:cs typeface="Cambria Math"/>
            </a:endParaRPr>
          </a:p>
        </p:txBody>
      </p:sp>
      <p:sp>
        <p:nvSpPr>
          <p:cNvPr id="36" name="object 36"/>
          <p:cNvSpPr/>
          <p:nvPr/>
        </p:nvSpPr>
        <p:spPr>
          <a:xfrm>
            <a:off x="10655296" y="5453698"/>
            <a:ext cx="693420" cy="675640"/>
          </a:xfrm>
          <a:custGeom>
            <a:avLst/>
            <a:gdLst/>
            <a:ahLst/>
            <a:cxnLst/>
            <a:rect l="l" t="t" r="r" b="b"/>
            <a:pathLst>
              <a:path w="693420" h="675639">
                <a:moveTo>
                  <a:pt x="114173" y="7924"/>
                </a:moveTo>
                <a:lnTo>
                  <a:pt x="62166" y="58623"/>
                </a:lnTo>
                <a:lnTo>
                  <a:pt x="43865" y="94830"/>
                </a:lnTo>
                <a:lnTo>
                  <a:pt x="28321" y="135610"/>
                </a:lnTo>
                <a:lnTo>
                  <a:pt x="15963" y="180543"/>
                </a:lnTo>
                <a:lnTo>
                  <a:pt x="7112" y="229133"/>
                </a:lnTo>
                <a:lnTo>
                  <a:pt x="1778" y="281393"/>
                </a:lnTo>
                <a:lnTo>
                  <a:pt x="0" y="337312"/>
                </a:lnTo>
                <a:lnTo>
                  <a:pt x="1778" y="393636"/>
                </a:lnTo>
                <a:lnTo>
                  <a:pt x="7112" y="446176"/>
                </a:lnTo>
                <a:lnTo>
                  <a:pt x="15963" y="494931"/>
                </a:lnTo>
                <a:lnTo>
                  <a:pt x="28321" y="539902"/>
                </a:lnTo>
                <a:lnTo>
                  <a:pt x="43865" y="580707"/>
                </a:lnTo>
                <a:lnTo>
                  <a:pt x="62166" y="616902"/>
                </a:lnTo>
                <a:lnTo>
                  <a:pt x="107061" y="675525"/>
                </a:lnTo>
                <a:lnTo>
                  <a:pt x="114173" y="667600"/>
                </a:lnTo>
                <a:lnTo>
                  <a:pt x="92976" y="640156"/>
                </a:lnTo>
                <a:lnTo>
                  <a:pt x="74549" y="608368"/>
                </a:lnTo>
                <a:lnTo>
                  <a:pt x="58877" y="572236"/>
                </a:lnTo>
                <a:lnTo>
                  <a:pt x="45974" y="531761"/>
                </a:lnTo>
                <a:lnTo>
                  <a:pt x="35814" y="487641"/>
                </a:lnTo>
                <a:lnTo>
                  <a:pt x="28600" y="440575"/>
                </a:lnTo>
                <a:lnTo>
                  <a:pt x="24282" y="390537"/>
                </a:lnTo>
                <a:lnTo>
                  <a:pt x="22860" y="337312"/>
                </a:lnTo>
                <a:lnTo>
                  <a:pt x="24282" y="284797"/>
                </a:lnTo>
                <a:lnTo>
                  <a:pt x="28600" y="234924"/>
                </a:lnTo>
                <a:lnTo>
                  <a:pt x="35814" y="187934"/>
                </a:lnTo>
                <a:lnTo>
                  <a:pt x="45974" y="143814"/>
                </a:lnTo>
                <a:lnTo>
                  <a:pt x="58877" y="103327"/>
                </a:lnTo>
                <a:lnTo>
                  <a:pt x="74549" y="67183"/>
                </a:lnTo>
                <a:lnTo>
                  <a:pt x="92976" y="35382"/>
                </a:lnTo>
                <a:lnTo>
                  <a:pt x="114173" y="7924"/>
                </a:lnTo>
                <a:close/>
              </a:path>
              <a:path w="693420" h="675639">
                <a:moveTo>
                  <a:pt x="572008" y="329907"/>
                </a:moveTo>
                <a:lnTo>
                  <a:pt x="120904" y="329907"/>
                </a:lnTo>
                <a:lnTo>
                  <a:pt x="120904" y="345147"/>
                </a:lnTo>
                <a:lnTo>
                  <a:pt x="572008" y="345147"/>
                </a:lnTo>
                <a:lnTo>
                  <a:pt x="572008" y="329907"/>
                </a:lnTo>
                <a:close/>
              </a:path>
              <a:path w="693420" h="675639">
                <a:moveTo>
                  <a:pt x="693420" y="337312"/>
                </a:moveTo>
                <a:lnTo>
                  <a:pt x="691654" y="281393"/>
                </a:lnTo>
                <a:lnTo>
                  <a:pt x="686346" y="229133"/>
                </a:lnTo>
                <a:lnTo>
                  <a:pt x="677506" y="180543"/>
                </a:lnTo>
                <a:lnTo>
                  <a:pt x="665099" y="135610"/>
                </a:lnTo>
                <a:lnTo>
                  <a:pt x="649592" y="94830"/>
                </a:lnTo>
                <a:lnTo>
                  <a:pt x="631291" y="58623"/>
                </a:lnTo>
                <a:lnTo>
                  <a:pt x="586359" y="0"/>
                </a:lnTo>
                <a:lnTo>
                  <a:pt x="579247" y="7924"/>
                </a:lnTo>
                <a:lnTo>
                  <a:pt x="600430" y="35382"/>
                </a:lnTo>
                <a:lnTo>
                  <a:pt x="618883" y="67183"/>
                </a:lnTo>
                <a:lnTo>
                  <a:pt x="634580" y="103327"/>
                </a:lnTo>
                <a:lnTo>
                  <a:pt x="647573" y="143814"/>
                </a:lnTo>
                <a:lnTo>
                  <a:pt x="657656" y="187934"/>
                </a:lnTo>
                <a:lnTo>
                  <a:pt x="664883" y="234924"/>
                </a:lnTo>
                <a:lnTo>
                  <a:pt x="669226" y="284797"/>
                </a:lnTo>
                <a:lnTo>
                  <a:pt x="670687" y="337540"/>
                </a:lnTo>
                <a:lnTo>
                  <a:pt x="669226" y="390537"/>
                </a:lnTo>
                <a:lnTo>
                  <a:pt x="664883" y="440575"/>
                </a:lnTo>
                <a:lnTo>
                  <a:pt x="657656" y="487641"/>
                </a:lnTo>
                <a:lnTo>
                  <a:pt x="647573" y="531761"/>
                </a:lnTo>
                <a:lnTo>
                  <a:pt x="634580" y="572236"/>
                </a:lnTo>
                <a:lnTo>
                  <a:pt x="618883" y="608368"/>
                </a:lnTo>
                <a:lnTo>
                  <a:pt x="579247" y="667600"/>
                </a:lnTo>
                <a:lnTo>
                  <a:pt x="586359" y="675525"/>
                </a:lnTo>
                <a:lnTo>
                  <a:pt x="631291" y="616902"/>
                </a:lnTo>
                <a:lnTo>
                  <a:pt x="649592" y="580707"/>
                </a:lnTo>
                <a:lnTo>
                  <a:pt x="665099" y="539902"/>
                </a:lnTo>
                <a:lnTo>
                  <a:pt x="677506" y="494931"/>
                </a:lnTo>
                <a:lnTo>
                  <a:pt x="686346" y="446176"/>
                </a:lnTo>
                <a:lnTo>
                  <a:pt x="691654" y="393636"/>
                </a:lnTo>
                <a:lnTo>
                  <a:pt x="693420" y="337312"/>
                </a:lnTo>
                <a:close/>
              </a:path>
            </a:pathLst>
          </a:custGeom>
          <a:solidFill>
            <a:srgbClr val="000000"/>
          </a:solidFill>
        </p:spPr>
        <p:txBody>
          <a:bodyPr wrap="square" lIns="0" tIns="0" rIns="0" bIns="0" rtlCol="0"/>
          <a:lstStyle/>
          <a:p>
            <a:endParaRPr/>
          </a:p>
        </p:txBody>
      </p:sp>
      <p:sp>
        <p:nvSpPr>
          <p:cNvPr id="37" name="object 37"/>
          <p:cNvSpPr txBox="1"/>
          <p:nvPr/>
        </p:nvSpPr>
        <p:spPr>
          <a:xfrm>
            <a:off x="10739624" y="5442839"/>
            <a:ext cx="513080" cy="299720"/>
          </a:xfrm>
          <a:prstGeom prst="rect">
            <a:avLst/>
          </a:prstGeom>
        </p:spPr>
        <p:txBody>
          <a:bodyPr vert="horz" wrap="square" lIns="0" tIns="12700" rIns="0" bIns="0" rtlCol="0">
            <a:spAutoFit/>
          </a:bodyPr>
          <a:lstStyle/>
          <a:p>
            <a:pPr marL="38100">
              <a:lnSpc>
                <a:spcPct val="100000"/>
              </a:lnSpc>
              <a:spcBef>
                <a:spcPts val="100"/>
              </a:spcBef>
            </a:pPr>
            <a:r>
              <a:rPr sz="1800" spc="60" dirty="0">
                <a:cs typeface="Cambria Math"/>
              </a:rPr>
              <a:t>𝑄𝐾</a:t>
            </a:r>
            <a:r>
              <a:rPr sz="1950" spc="89" baseline="27777" dirty="0">
                <a:cs typeface="Cambria Math"/>
              </a:rPr>
              <a:t>𝑇</a:t>
            </a:r>
            <a:endParaRPr sz="1950" baseline="27777">
              <a:cs typeface="Cambria Math"/>
            </a:endParaRPr>
          </a:p>
        </p:txBody>
      </p:sp>
      <p:sp>
        <p:nvSpPr>
          <p:cNvPr id="38" name="object 38"/>
          <p:cNvSpPr/>
          <p:nvPr/>
        </p:nvSpPr>
        <p:spPr>
          <a:xfrm>
            <a:off x="10796774" y="5841518"/>
            <a:ext cx="414020" cy="285115"/>
          </a:xfrm>
          <a:custGeom>
            <a:avLst/>
            <a:gdLst/>
            <a:ahLst/>
            <a:cxnLst/>
            <a:rect l="l" t="t" r="r" b="b"/>
            <a:pathLst>
              <a:path w="414020" h="285114">
                <a:moveTo>
                  <a:pt x="413766" y="0"/>
                </a:moveTo>
                <a:lnTo>
                  <a:pt x="165353" y="0"/>
                </a:lnTo>
                <a:lnTo>
                  <a:pt x="165353" y="749"/>
                </a:lnTo>
                <a:lnTo>
                  <a:pt x="143001" y="749"/>
                </a:lnTo>
                <a:lnTo>
                  <a:pt x="75311" y="254685"/>
                </a:lnTo>
                <a:lnTo>
                  <a:pt x="36702" y="168516"/>
                </a:lnTo>
                <a:lnTo>
                  <a:pt x="0" y="185254"/>
                </a:lnTo>
                <a:lnTo>
                  <a:pt x="3555" y="193636"/>
                </a:lnTo>
                <a:lnTo>
                  <a:pt x="22351" y="185254"/>
                </a:lnTo>
                <a:lnTo>
                  <a:pt x="68579" y="284606"/>
                </a:lnTo>
                <a:lnTo>
                  <a:pt x="79375" y="284606"/>
                </a:lnTo>
                <a:lnTo>
                  <a:pt x="152019" y="15595"/>
                </a:lnTo>
                <a:lnTo>
                  <a:pt x="174244" y="15595"/>
                </a:lnTo>
                <a:lnTo>
                  <a:pt x="174244" y="15240"/>
                </a:lnTo>
                <a:lnTo>
                  <a:pt x="413766" y="15240"/>
                </a:lnTo>
                <a:lnTo>
                  <a:pt x="413766" y="0"/>
                </a:lnTo>
                <a:close/>
              </a:path>
            </a:pathLst>
          </a:custGeom>
          <a:solidFill>
            <a:srgbClr val="000000"/>
          </a:solidFill>
        </p:spPr>
        <p:txBody>
          <a:bodyPr wrap="square" lIns="0" tIns="0" rIns="0" bIns="0" rtlCol="0"/>
          <a:lstStyle/>
          <a:p>
            <a:endParaRPr/>
          </a:p>
        </p:txBody>
      </p:sp>
      <p:sp>
        <p:nvSpPr>
          <p:cNvPr id="39" name="object 39"/>
          <p:cNvSpPr txBox="1"/>
          <p:nvPr/>
        </p:nvSpPr>
        <p:spPr>
          <a:xfrm>
            <a:off x="10925552" y="5814695"/>
            <a:ext cx="310515" cy="299720"/>
          </a:xfrm>
          <a:prstGeom prst="rect">
            <a:avLst/>
          </a:prstGeom>
        </p:spPr>
        <p:txBody>
          <a:bodyPr vert="horz" wrap="square" lIns="0" tIns="12700" rIns="0" bIns="0" rtlCol="0">
            <a:spAutoFit/>
          </a:bodyPr>
          <a:lstStyle/>
          <a:p>
            <a:pPr marL="38100">
              <a:lnSpc>
                <a:spcPct val="100000"/>
              </a:lnSpc>
              <a:spcBef>
                <a:spcPts val="100"/>
              </a:spcBef>
            </a:pPr>
            <a:r>
              <a:rPr sz="1800" spc="40" dirty="0">
                <a:cs typeface="Cambria Math"/>
              </a:rPr>
              <a:t>𝑑</a:t>
            </a:r>
            <a:r>
              <a:rPr sz="1950" spc="60" baseline="-14957" dirty="0">
                <a:cs typeface="Cambria Math"/>
              </a:rPr>
              <a:t>𝑘</a:t>
            </a:r>
            <a:endParaRPr sz="1950" baseline="-14957">
              <a:cs typeface="Cambria Math"/>
            </a:endParaRPr>
          </a:p>
        </p:txBody>
      </p:sp>
      <p:sp>
        <p:nvSpPr>
          <p:cNvPr id="40" name="object 40"/>
          <p:cNvSpPr txBox="1"/>
          <p:nvPr/>
        </p:nvSpPr>
        <p:spPr>
          <a:xfrm>
            <a:off x="11392912" y="5616575"/>
            <a:ext cx="16891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𝑉</a:t>
            </a:r>
            <a:endParaRPr sz="1800">
              <a:cs typeface="Cambria Math"/>
            </a:endParaRPr>
          </a:p>
        </p:txBody>
      </p:sp>
      <p:sp>
        <p:nvSpPr>
          <p:cNvPr id="41" name="object 41"/>
          <p:cNvSpPr txBox="1"/>
          <p:nvPr/>
        </p:nvSpPr>
        <p:spPr>
          <a:xfrm>
            <a:off x="1247244" y="5022533"/>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(1,</a:t>
            </a:r>
            <a:r>
              <a:rPr sz="1000" spc="-60" dirty="0">
                <a:cs typeface="Tahoma"/>
              </a:rPr>
              <a:t> </a:t>
            </a:r>
            <a:r>
              <a:rPr sz="1000" spc="25" dirty="0">
                <a:cs typeface="Tahoma"/>
              </a:rPr>
              <a:t>4096</a:t>
            </a:r>
            <a:r>
              <a:rPr sz="1000" spc="-85" dirty="0">
                <a:cs typeface="Tahoma"/>
              </a:rPr>
              <a:t>)</a:t>
            </a:r>
            <a:endParaRPr sz="1000">
              <a:cs typeface="Tahoma"/>
            </a:endParaRPr>
          </a:p>
        </p:txBody>
      </p:sp>
      <p:sp>
        <p:nvSpPr>
          <p:cNvPr id="42" name="object 42"/>
          <p:cNvSpPr txBox="1"/>
          <p:nvPr/>
        </p:nvSpPr>
        <p:spPr>
          <a:xfrm>
            <a:off x="3366772" y="5022533"/>
            <a:ext cx="531495" cy="166071"/>
          </a:xfrm>
          <a:prstGeom prst="rect">
            <a:avLst/>
          </a:prstGeom>
        </p:spPr>
        <p:txBody>
          <a:bodyPr vert="horz" wrap="square" lIns="0" tIns="12065" rIns="0" bIns="0" rtlCol="0">
            <a:spAutoFit/>
          </a:bodyPr>
          <a:lstStyle/>
          <a:p>
            <a:pPr marL="12700">
              <a:lnSpc>
                <a:spcPct val="100000"/>
              </a:lnSpc>
              <a:spcBef>
                <a:spcPts val="95"/>
              </a:spcBef>
            </a:pPr>
            <a:r>
              <a:rPr sz="1000" dirty="0">
                <a:cs typeface="Tahoma"/>
              </a:rPr>
              <a:t>(40</a:t>
            </a:r>
            <a:r>
              <a:rPr sz="1000" spc="-5" dirty="0">
                <a:cs typeface="Tahoma"/>
              </a:rPr>
              <a:t>9</a:t>
            </a:r>
            <a:r>
              <a:rPr sz="1000" spc="-15" dirty="0">
                <a:cs typeface="Tahoma"/>
              </a:rPr>
              <a:t>6</a:t>
            </a:r>
            <a:r>
              <a:rPr sz="1000" spc="-5" dirty="0">
                <a:cs typeface="Tahoma"/>
              </a:rPr>
              <a:t>,</a:t>
            </a:r>
            <a:r>
              <a:rPr sz="1000" spc="-75" dirty="0">
                <a:cs typeface="Tahoma"/>
              </a:rPr>
              <a:t> </a:t>
            </a:r>
            <a:r>
              <a:rPr sz="1000" spc="-35" dirty="0">
                <a:cs typeface="Tahoma"/>
              </a:rPr>
              <a:t>4)</a:t>
            </a:r>
            <a:endParaRPr sz="1000">
              <a:cs typeface="Tahoma"/>
            </a:endParaRPr>
          </a:p>
        </p:txBody>
      </p:sp>
      <p:sp>
        <p:nvSpPr>
          <p:cNvPr id="43" name="object 43"/>
          <p:cNvSpPr txBox="1"/>
          <p:nvPr/>
        </p:nvSpPr>
        <p:spPr>
          <a:xfrm>
            <a:off x="6061204" y="5896445"/>
            <a:ext cx="313690"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(1,</a:t>
            </a:r>
            <a:r>
              <a:rPr sz="1000" spc="-60" dirty="0">
                <a:cs typeface="Tahoma"/>
              </a:rPr>
              <a:t> </a:t>
            </a:r>
            <a:r>
              <a:rPr sz="1000" spc="-35" dirty="0">
                <a:cs typeface="Tahoma"/>
              </a:rPr>
              <a:t>4)</a:t>
            </a:r>
            <a:endParaRPr sz="1000">
              <a:cs typeface="Tahoma"/>
            </a:endParaRPr>
          </a:p>
        </p:txBody>
      </p:sp>
      <p:sp>
        <p:nvSpPr>
          <p:cNvPr id="44" name="object 44"/>
          <p:cNvSpPr txBox="1"/>
          <p:nvPr/>
        </p:nvSpPr>
        <p:spPr>
          <a:xfrm>
            <a:off x="8646287" y="5165216"/>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(4,</a:t>
            </a:r>
            <a:r>
              <a:rPr sz="1000" spc="-60" dirty="0">
                <a:cs typeface="Tahoma"/>
              </a:rPr>
              <a:t> </a:t>
            </a:r>
            <a:r>
              <a:rPr sz="1000" spc="25" dirty="0">
                <a:cs typeface="Tahoma"/>
              </a:rPr>
              <a:t>4096</a:t>
            </a:r>
            <a:r>
              <a:rPr sz="1000" spc="-85" dirty="0">
                <a:cs typeface="Tahoma"/>
              </a:rPr>
              <a:t>)</a:t>
            </a:r>
            <a:endParaRPr sz="1000">
              <a:cs typeface="Tahoma"/>
            </a:endParaRPr>
          </a:p>
        </p:txBody>
      </p:sp>
      <p:sp>
        <p:nvSpPr>
          <p:cNvPr id="45" name="object 45"/>
          <p:cNvSpPr txBox="1"/>
          <p:nvPr/>
        </p:nvSpPr>
        <p:spPr>
          <a:xfrm>
            <a:off x="10685781" y="5163058"/>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(1,</a:t>
            </a:r>
            <a:r>
              <a:rPr sz="1000" spc="-60" dirty="0">
                <a:cs typeface="Tahoma"/>
              </a:rPr>
              <a:t> </a:t>
            </a:r>
            <a:r>
              <a:rPr sz="1000" spc="25" dirty="0">
                <a:cs typeface="Tahoma"/>
              </a:rPr>
              <a:t>4096</a:t>
            </a:r>
            <a:r>
              <a:rPr sz="1000" spc="-85" dirty="0">
                <a:cs typeface="Tahoma"/>
              </a:rPr>
              <a:t>)</a:t>
            </a:r>
            <a:endParaRPr sz="1000">
              <a:cs typeface="Tahoma"/>
            </a:endParaRPr>
          </a:p>
        </p:txBody>
      </p:sp>
      <p:sp>
        <p:nvSpPr>
          <p:cNvPr id="46" name="object 46"/>
          <p:cNvSpPr txBox="1"/>
          <p:nvPr/>
        </p:nvSpPr>
        <p:spPr>
          <a:xfrm>
            <a:off x="663747" y="5804881"/>
            <a:ext cx="1650243" cy="321242"/>
          </a:xfrm>
          <a:prstGeom prst="rect">
            <a:avLst/>
          </a:prstGeom>
        </p:spPr>
        <p:txBody>
          <a:bodyPr vert="horz" wrap="square" lIns="0" tIns="13335" rIns="0" bIns="0" rtlCol="0">
            <a:spAutoFit/>
          </a:bodyPr>
          <a:lstStyle/>
          <a:p>
            <a:pPr marL="12700">
              <a:lnSpc>
                <a:spcPct val="100000"/>
              </a:lnSpc>
              <a:spcBef>
                <a:spcPts val="105"/>
              </a:spcBef>
            </a:pPr>
            <a:r>
              <a:rPr sz="2000" b="1" spc="10" dirty="0">
                <a:solidFill>
                  <a:srgbClr val="FF0000"/>
                </a:solidFill>
                <a:cs typeface="Tahoma"/>
              </a:rPr>
              <a:t>Inference</a:t>
            </a:r>
            <a:r>
              <a:rPr lang="en-US" sz="2000" b="1" dirty="0">
                <a:cs typeface="Tahoma"/>
              </a:rPr>
              <a:t> </a:t>
            </a:r>
            <a:r>
              <a:rPr sz="2000" b="1" spc="-30" dirty="0">
                <a:solidFill>
                  <a:srgbClr val="FF0000"/>
                </a:solidFill>
                <a:cs typeface="Tahoma"/>
              </a:rPr>
              <a:t>T</a:t>
            </a:r>
            <a:r>
              <a:rPr sz="2000" b="1" spc="-185" dirty="0">
                <a:solidFill>
                  <a:srgbClr val="FF0000"/>
                </a:solidFill>
                <a:cs typeface="Tahoma"/>
              </a:rPr>
              <a:t> </a:t>
            </a:r>
            <a:r>
              <a:rPr sz="2000" b="1" spc="-125" dirty="0">
                <a:solidFill>
                  <a:srgbClr val="FF0000"/>
                </a:solidFill>
                <a:cs typeface="Tahoma"/>
              </a:rPr>
              <a:t>=</a:t>
            </a:r>
            <a:r>
              <a:rPr sz="2000" b="1" spc="-114" dirty="0">
                <a:solidFill>
                  <a:srgbClr val="FF0000"/>
                </a:solidFill>
                <a:cs typeface="Tahoma"/>
              </a:rPr>
              <a:t> </a:t>
            </a:r>
            <a:r>
              <a:rPr sz="2000" b="1" spc="70" dirty="0">
                <a:solidFill>
                  <a:srgbClr val="FF0000"/>
                </a:solidFill>
                <a:cs typeface="Tahoma"/>
              </a:rPr>
              <a:t>4</a:t>
            </a:r>
            <a:endParaRPr sz="2000" b="1" dirty="0">
              <a:cs typeface="Tahoma"/>
            </a:endParaRPr>
          </a:p>
        </p:txBody>
      </p:sp>
      <p:sp>
        <p:nvSpPr>
          <p:cNvPr id="49" name="Title 1">
            <a:extLst>
              <a:ext uri="{FF2B5EF4-FFF2-40B4-BE49-F238E27FC236}">
                <a16:creationId xmlns:a16="http://schemas.microsoft.com/office/drawing/2014/main" id="{DEA5EB7A-0C00-F560-27ED-8BEF0D89C60A}"/>
              </a:ext>
            </a:extLst>
          </p:cNvPr>
          <p:cNvSpPr txBox="1">
            <a:spLocks/>
          </p:cNvSpPr>
          <p:nvPr/>
        </p:nvSpPr>
        <p:spPr>
          <a:xfrm>
            <a:off x="669552" y="594335"/>
            <a:ext cx="10863635" cy="639153"/>
          </a:xfrm>
          <a:prstGeom prst="rect">
            <a:avLst/>
          </a:prstGeom>
        </p:spPr>
        <p:txBody>
          <a:bodyPr vert="horz" lIns="0" tIns="0" rIns="0" bIns="0" rtlCol="0" anchor="ctr">
            <a:normAutofit fontScale="97500"/>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US" dirty="0">
                <a:latin typeface="+mn-lt"/>
              </a:rPr>
              <a:t>Self-Attention with KV-Cache</a:t>
            </a:r>
            <a:endParaRPr lang="en-IN" dirty="0">
              <a:latin typeface="+mn-l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EE379-EDCA-B594-9E66-09589E39BC6A}"/>
              </a:ext>
            </a:extLst>
          </p:cNvPr>
          <p:cNvSpPr>
            <a:spLocks noGrp="1"/>
          </p:cNvSpPr>
          <p:nvPr>
            <p:ph type="title"/>
          </p:nvPr>
        </p:nvSpPr>
        <p:spPr>
          <a:xfrm>
            <a:off x="669552" y="594334"/>
            <a:ext cx="10863635" cy="639153"/>
          </a:xfrm>
        </p:spPr>
        <p:txBody>
          <a:bodyPr/>
          <a:lstStyle/>
          <a:p>
            <a:r>
              <a:rPr lang="en-US" dirty="0">
                <a:latin typeface="+mn-lt"/>
              </a:rPr>
              <a:t>Rolling Buffer Cache</a:t>
            </a:r>
            <a:endParaRPr lang="en-IN" dirty="0"/>
          </a:p>
        </p:txBody>
      </p:sp>
      <p:sp>
        <p:nvSpPr>
          <p:cNvPr id="3" name="Content Placeholder 2">
            <a:extLst>
              <a:ext uri="{FF2B5EF4-FFF2-40B4-BE49-F238E27FC236}">
                <a16:creationId xmlns:a16="http://schemas.microsoft.com/office/drawing/2014/main" id="{7EC66484-AB1B-5E39-78E2-F7F1B39FF6CE}"/>
              </a:ext>
            </a:extLst>
          </p:cNvPr>
          <p:cNvSpPr>
            <a:spLocks noGrp="1"/>
          </p:cNvSpPr>
          <p:nvPr>
            <p:ph idx="1"/>
          </p:nvPr>
        </p:nvSpPr>
        <p:spPr/>
        <p:txBody>
          <a:bodyPr/>
          <a:lstStyle/>
          <a:p>
            <a:pPr marL="0" indent="0">
              <a:buNone/>
            </a:pPr>
            <a:r>
              <a:rPr lang="en-US" dirty="0"/>
              <a:t>Since we are using Sliding Window Attention (with size W), we don’t need to keep all the previous tokens in the KV-Cache, but we can limit it to the latest W tokens.</a:t>
            </a:r>
          </a:p>
        </p:txBody>
      </p:sp>
    </p:spTree>
    <p:extLst>
      <p:ext uri="{BB962C8B-B14F-4D97-AF65-F5344CB8AC3E}">
        <p14:creationId xmlns:p14="http://schemas.microsoft.com/office/powerpoint/2010/main" val="34311977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27829" y="2798224"/>
            <a:ext cx="1123315" cy="1945639"/>
            <a:chOff x="470001" y="2975610"/>
            <a:chExt cx="1123315" cy="1945639"/>
          </a:xfrm>
        </p:grpSpPr>
        <p:sp>
          <p:nvSpPr>
            <p:cNvPr id="3" name="object 3"/>
            <p:cNvSpPr/>
            <p:nvPr/>
          </p:nvSpPr>
          <p:spPr>
            <a:xfrm>
              <a:off x="482701" y="2988310"/>
              <a:ext cx="1097280" cy="213360"/>
            </a:xfrm>
            <a:custGeom>
              <a:avLst/>
              <a:gdLst/>
              <a:ahLst/>
              <a:cxnLst/>
              <a:rect l="l" t="t" r="r" b="b"/>
              <a:pathLst>
                <a:path w="1097280" h="213360">
                  <a:moveTo>
                    <a:pt x="1097241" y="0"/>
                  </a:moveTo>
                  <a:lnTo>
                    <a:pt x="0" y="0"/>
                  </a:lnTo>
                  <a:lnTo>
                    <a:pt x="0" y="213360"/>
                  </a:lnTo>
                  <a:lnTo>
                    <a:pt x="1097241" y="213360"/>
                  </a:lnTo>
                  <a:lnTo>
                    <a:pt x="1097241" y="0"/>
                  </a:lnTo>
                  <a:close/>
                </a:path>
              </a:pathLst>
            </a:custGeom>
            <a:solidFill>
              <a:srgbClr val="FBEBEA"/>
            </a:solidFill>
          </p:spPr>
          <p:txBody>
            <a:bodyPr wrap="square" lIns="0" tIns="0" rIns="0" bIns="0" rtlCol="0"/>
            <a:lstStyle/>
            <a:p>
              <a:endParaRPr/>
            </a:p>
          </p:txBody>
        </p:sp>
        <p:sp>
          <p:nvSpPr>
            <p:cNvPr id="4" name="object 4"/>
            <p:cNvSpPr/>
            <p:nvPr/>
          </p:nvSpPr>
          <p:spPr>
            <a:xfrm>
              <a:off x="476351" y="3195320"/>
              <a:ext cx="1110615" cy="12700"/>
            </a:xfrm>
            <a:custGeom>
              <a:avLst/>
              <a:gdLst/>
              <a:ahLst/>
              <a:cxnLst/>
              <a:rect l="l" t="t" r="r" b="b"/>
              <a:pathLst>
                <a:path w="1110615" h="12700">
                  <a:moveTo>
                    <a:pt x="0" y="12700"/>
                  </a:moveTo>
                  <a:lnTo>
                    <a:pt x="1110005" y="12700"/>
                  </a:lnTo>
                  <a:lnTo>
                    <a:pt x="1110005" y="0"/>
                  </a:lnTo>
                  <a:lnTo>
                    <a:pt x="0" y="0"/>
                  </a:lnTo>
                  <a:lnTo>
                    <a:pt x="0" y="12700"/>
                  </a:lnTo>
                  <a:close/>
                </a:path>
              </a:pathLst>
            </a:custGeom>
            <a:solidFill>
              <a:srgbClr val="000000"/>
            </a:solidFill>
          </p:spPr>
          <p:txBody>
            <a:bodyPr wrap="square" lIns="0" tIns="0" rIns="0" bIns="0" rtlCol="0"/>
            <a:lstStyle/>
            <a:p>
              <a:endParaRPr/>
            </a:p>
          </p:txBody>
        </p:sp>
        <p:sp>
          <p:nvSpPr>
            <p:cNvPr id="5" name="object 5"/>
            <p:cNvSpPr/>
            <p:nvPr/>
          </p:nvSpPr>
          <p:spPr>
            <a:xfrm>
              <a:off x="482701"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6" name="object 6"/>
            <p:cNvSpPr/>
            <p:nvPr/>
          </p:nvSpPr>
          <p:spPr>
            <a:xfrm>
              <a:off x="482701" y="3201670"/>
              <a:ext cx="0" cy="1713230"/>
            </a:xfrm>
            <a:custGeom>
              <a:avLst/>
              <a:gdLst/>
              <a:ahLst/>
              <a:cxnLst/>
              <a:rect l="l" t="t" r="r" b="b"/>
              <a:pathLst>
                <a:path h="1713229">
                  <a:moveTo>
                    <a:pt x="0" y="0"/>
                  </a:moveTo>
                  <a:lnTo>
                    <a:pt x="0" y="1713229"/>
                  </a:lnTo>
                </a:path>
              </a:pathLst>
            </a:custGeom>
            <a:ln w="12700">
              <a:solidFill>
                <a:srgbClr val="FFFFFF"/>
              </a:solidFill>
            </a:ln>
          </p:spPr>
          <p:txBody>
            <a:bodyPr wrap="square" lIns="0" tIns="0" rIns="0" bIns="0" rtlCol="0"/>
            <a:lstStyle/>
            <a:p>
              <a:endParaRPr/>
            </a:p>
          </p:txBody>
        </p:sp>
        <p:sp>
          <p:nvSpPr>
            <p:cNvPr id="7" name="object 7"/>
            <p:cNvSpPr/>
            <p:nvPr/>
          </p:nvSpPr>
          <p:spPr>
            <a:xfrm>
              <a:off x="1580006"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8" name="object 8"/>
            <p:cNvSpPr/>
            <p:nvPr/>
          </p:nvSpPr>
          <p:spPr>
            <a:xfrm>
              <a:off x="476351" y="3201670"/>
              <a:ext cx="1110615" cy="1713230"/>
            </a:xfrm>
            <a:custGeom>
              <a:avLst/>
              <a:gdLst/>
              <a:ahLst/>
              <a:cxnLst/>
              <a:rect l="l" t="t" r="r" b="b"/>
              <a:pathLst>
                <a:path w="1110615" h="1713229">
                  <a:moveTo>
                    <a:pt x="1103655" y="0"/>
                  </a:moveTo>
                  <a:lnTo>
                    <a:pt x="1103655" y="1713229"/>
                  </a:lnTo>
                </a:path>
                <a:path w="1110615" h="1713229">
                  <a:moveTo>
                    <a:pt x="0" y="1706879"/>
                  </a:moveTo>
                  <a:lnTo>
                    <a:pt x="1110005" y="1706879"/>
                  </a:lnTo>
                </a:path>
              </a:pathLst>
            </a:custGeom>
            <a:ln w="12700">
              <a:solidFill>
                <a:srgbClr val="FFFFFF"/>
              </a:solidFill>
            </a:ln>
          </p:spPr>
          <p:txBody>
            <a:bodyPr wrap="square" lIns="0" tIns="0" rIns="0" bIns="0" rtlCol="0"/>
            <a:lstStyle/>
            <a:p>
              <a:endParaRPr/>
            </a:p>
          </p:txBody>
        </p:sp>
      </p:grpSp>
      <p:sp>
        <p:nvSpPr>
          <p:cNvPr id="9" name="object 9"/>
          <p:cNvSpPr txBox="1"/>
          <p:nvPr/>
        </p:nvSpPr>
        <p:spPr>
          <a:xfrm>
            <a:off x="940529" y="2810924"/>
            <a:ext cx="1097915" cy="165430"/>
          </a:xfrm>
          <a:prstGeom prst="rect">
            <a:avLst/>
          </a:prstGeom>
          <a:solidFill>
            <a:srgbClr val="FBEBEA"/>
          </a:solidFill>
          <a:ln w="12700">
            <a:solidFill>
              <a:srgbClr val="000000"/>
            </a:solidFill>
          </a:ln>
        </p:spPr>
        <p:txBody>
          <a:bodyPr vert="horz" wrap="square" lIns="0" tIns="41910" rIns="0" bIns="0" rtlCol="0">
            <a:spAutoFit/>
          </a:bodyPr>
          <a:lstStyle/>
          <a:p>
            <a:pPr marL="91440">
              <a:lnSpc>
                <a:spcPct val="100000"/>
              </a:lnSpc>
              <a:spcBef>
                <a:spcPts val="330"/>
              </a:spcBef>
            </a:pPr>
            <a:r>
              <a:rPr sz="800" spc="45" dirty="0">
                <a:cs typeface="Tahoma"/>
              </a:rPr>
              <a:t>TO</a:t>
            </a:r>
            <a:r>
              <a:rPr sz="800" spc="35" dirty="0">
                <a:cs typeface="Tahoma"/>
              </a:rPr>
              <a:t>K</a:t>
            </a:r>
            <a:r>
              <a:rPr sz="800" spc="25" dirty="0">
                <a:cs typeface="Tahoma"/>
              </a:rPr>
              <a:t>E</a:t>
            </a:r>
            <a:r>
              <a:rPr sz="800" spc="80" dirty="0">
                <a:cs typeface="Tahoma"/>
              </a:rPr>
              <a:t>N</a:t>
            </a:r>
            <a:r>
              <a:rPr sz="800" spc="-75" dirty="0">
                <a:cs typeface="Tahoma"/>
              </a:rPr>
              <a:t> </a:t>
            </a:r>
            <a:r>
              <a:rPr sz="800" spc="25" dirty="0">
                <a:cs typeface="Tahoma"/>
              </a:rPr>
              <a:t>8</a:t>
            </a:r>
            <a:endParaRPr sz="800">
              <a:cs typeface="Tahoma"/>
            </a:endParaRPr>
          </a:p>
        </p:txBody>
      </p:sp>
      <p:sp>
        <p:nvSpPr>
          <p:cNvPr id="10" name="object 10"/>
          <p:cNvSpPr txBox="1"/>
          <p:nvPr/>
        </p:nvSpPr>
        <p:spPr>
          <a:xfrm>
            <a:off x="2264783" y="3471450"/>
            <a:ext cx="17335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𝑋</a:t>
            </a:r>
            <a:endParaRPr sz="1800">
              <a:cs typeface="Cambria Math"/>
            </a:endParaRPr>
          </a:p>
        </p:txBody>
      </p:sp>
      <p:sp>
        <p:nvSpPr>
          <p:cNvPr id="11" name="object 11"/>
          <p:cNvSpPr/>
          <p:nvPr/>
        </p:nvSpPr>
        <p:spPr>
          <a:xfrm>
            <a:off x="5197594" y="2978564"/>
            <a:ext cx="208279" cy="152400"/>
          </a:xfrm>
          <a:custGeom>
            <a:avLst/>
            <a:gdLst/>
            <a:ahLst/>
            <a:cxnLst/>
            <a:rect l="l" t="t" r="r" b="b"/>
            <a:pathLst>
              <a:path w="208279" h="152400">
                <a:moveTo>
                  <a:pt x="208279" y="0"/>
                </a:moveTo>
                <a:lnTo>
                  <a:pt x="0" y="0"/>
                </a:lnTo>
                <a:lnTo>
                  <a:pt x="0" y="152400"/>
                </a:lnTo>
                <a:lnTo>
                  <a:pt x="208279" y="152400"/>
                </a:lnTo>
                <a:lnTo>
                  <a:pt x="208279" y="0"/>
                </a:lnTo>
                <a:close/>
              </a:path>
            </a:pathLst>
          </a:custGeom>
          <a:solidFill>
            <a:srgbClr val="FFFFFF"/>
          </a:solidFill>
        </p:spPr>
        <p:txBody>
          <a:bodyPr wrap="square" lIns="0" tIns="0" rIns="0" bIns="0" rtlCol="0"/>
          <a:lstStyle/>
          <a:p>
            <a:endParaRPr/>
          </a:p>
        </p:txBody>
      </p:sp>
      <p:graphicFrame>
        <p:nvGraphicFramePr>
          <p:cNvPr id="12" name="object 12"/>
          <p:cNvGraphicFramePr>
            <a:graphicFrameLocks noGrp="1"/>
          </p:cNvGraphicFramePr>
          <p:nvPr>
            <p:extLst>
              <p:ext uri="{D42A27DB-BD31-4B8C-83A1-F6EECF244321}">
                <p14:modId xmlns:p14="http://schemas.microsoft.com/office/powerpoint/2010/main" val="411466971"/>
              </p:ext>
            </p:extLst>
          </p:nvPr>
        </p:nvGraphicFramePr>
        <p:xfrm>
          <a:off x="2664833" y="1810671"/>
          <a:ext cx="5234929" cy="3592064"/>
        </p:xfrm>
        <a:graphic>
          <a:graphicData uri="http://schemas.openxmlformats.org/drawingml/2006/table">
            <a:tbl>
              <a:tblPr firstRow="1" bandRow="1">
                <a:tableStyleId>{2D5ABB26-0587-4C30-8999-92F81FD0307C}</a:tableStyleId>
              </a:tblPr>
              <a:tblGrid>
                <a:gridCol w="208279">
                  <a:extLst>
                    <a:ext uri="{9D8B030D-6E8A-4147-A177-3AD203B41FA5}">
                      <a16:colId xmlns:a16="http://schemas.microsoft.com/office/drawing/2014/main" val="20000"/>
                    </a:ext>
                  </a:extLst>
                </a:gridCol>
                <a:gridCol w="208279">
                  <a:extLst>
                    <a:ext uri="{9D8B030D-6E8A-4147-A177-3AD203B41FA5}">
                      <a16:colId xmlns:a16="http://schemas.microsoft.com/office/drawing/2014/main" val="20001"/>
                    </a:ext>
                  </a:extLst>
                </a:gridCol>
                <a:gridCol w="208279">
                  <a:extLst>
                    <a:ext uri="{9D8B030D-6E8A-4147-A177-3AD203B41FA5}">
                      <a16:colId xmlns:a16="http://schemas.microsoft.com/office/drawing/2014/main" val="20002"/>
                    </a:ext>
                  </a:extLst>
                </a:gridCol>
                <a:gridCol w="208279">
                  <a:extLst>
                    <a:ext uri="{9D8B030D-6E8A-4147-A177-3AD203B41FA5}">
                      <a16:colId xmlns:a16="http://schemas.microsoft.com/office/drawing/2014/main" val="20003"/>
                    </a:ext>
                  </a:extLst>
                </a:gridCol>
                <a:gridCol w="208280">
                  <a:extLst>
                    <a:ext uri="{9D8B030D-6E8A-4147-A177-3AD203B41FA5}">
                      <a16:colId xmlns:a16="http://schemas.microsoft.com/office/drawing/2014/main" val="20004"/>
                    </a:ext>
                  </a:extLst>
                </a:gridCol>
                <a:gridCol w="208280">
                  <a:extLst>
                    <a:ext uri="{9D8B030D-6E8A-4147-A177-3AD203B41FA5}">
                      <a16:colId xmlns:a16="http://schemas.microsoft.com/office/drawing/2014/main" val="20005"/>
                    </a:ext>
                  </a:extLst>
                </a:gridCol>
                <a:gridCol w="208280">
                  <a:extLst>
                    <a:ext uri="{9D8B030D-6E8A-4147-A177-3AD203B41FA5}">
                      <a16:colId xmlns:a16="http://schemas.microsoft.com/office/drawing/2014/main" val="20006"/>
                    </a:ext>
                  </a:extLst>
                </a:gridCol>
                <a:gridCol w="208280">
                  <a:extLst>
                    <a:ext uri="{9D8B030D-6E8A-4147-A177-3AD203B41FA5}">
                      <a16:colId xmlns:a16="http://schemas.microsoft.com/office/drawing/2014/main" val="20007"/>
                    </a:ext>
                  </a:extLst>
                </a:gridCol>
                <a:gridCol w="860425">
                  <a:extLst>
                    <a:ext uri="{9D8B030D-6E8A-4147-A177-3AD203B41FA5}">
                      <a16:colId xmlns:a16="http://schemas.microsoft.com/office/drawing/2014/main" val="20008"/>
                    </a:ext>
                  </a:extLst>
                </a:gridCol>
                <a:gridCol w="208280">
                  <a:extLst>
                    <a:ext uri="{9D8B030D-6E8A-4147-A177-3AD203B41FA5}">
                      <a16:colId xmlns:a16="http://schemas.microsoft.com/office/drawing/2014/main" val="20009"/>
                    </a:ext>
                  </a:extLst>
                </a:gridCol>
                <a:gridCol w="208280">
                  <a:extLst>
                    <a:ext uri="{9D8B030D-6E8A-4147-A177-3AD203B41FA5}">
                      <a16:colId xmlns:a16="http://schemas.microsoft.com/office/drawing/2014/main" val="20010"/>
                    </a:ext>
                  </a:extLst>
                </a:gridCol>
                <a:gridCol w="208280">
                  <a:extLst>
                    <a:ext uri="{9D8B030D-6E8A-4147-A177-3AD203B41FA5}">
                      <a16:colId xmlns:a16="http://schemas.microsoft.com/office/drawing/2014/main" val="20011"/>
                    </a:ext>
                  </a:extLst>
                </a:gridCol>
                <a:gridCol w="208279">
                  <a:extLst>
                    <a:ext uri="{9D8B030D-6E8A-4147-A177-3AD203B41FA5}">
                      <a16:colId xmlns:a16="http://schemas.microsoft.com/office/drawing/2014/main" val="20012"/>
                    </a:ext>
                  </a:extLst>
                </a:gridCol>
                <a:gridCol w="208279">
                  <a:extLst>
                    <a:ext uri="{9D8B030D-6E8A-4147-A177-3AD203B41FA5}">
                      <a16:colId xmlns:a16="http://schemas.microsoft.com/office/drawing/2014/main" val="20013"/>
                    </a:ext>
                  </a:extLst>
                </a:gridCol>
                <a:gridCol w="208279">
                  <a:extLst>
                    <a:ext uri="{9D8B030D-6E8A-4147-A177-3AD203B41FA5}">
                      <a16:colId xmlns:a16="http://schemas.microsoft.com/office/drawing/2014/main" val="20014"/>
                    </a:ext>
                  </a:extLst>
                </a:gridCol>
                <a:gridCol w="208279">
                  <a:extLst>
                    <a:ext uri="{9D8B030D-6E8A-4147-A177-3AD203B41FA5}">
                      <a16:colId xmlns:a16="http://schemas.microsoft.com/office/drawing/2014/main" val="20015"/>
                    </a:ext>
                  </a:extLst>
                </a:gridCol>
                <a:gridCol w="208279">
                  <a:extLst>
                    <a:ext uri="{9D8B030D-6E8A-4147-A177-3AD203B41FA5}">
                      <a16:colId xmlns:a16="http://schemas.microsoft.com/office/drawing/2014/main" val="20016"/>
                    </a:ext>
                  </a:extLst>
                </a:gridCol>
                <a:gridCol w="706754">
                  <a:extLst>
                    <a:ext uri="{9D8B030D-6E8A-4147-A177-3AD203B41FA5}">
                      <a16:colId xmlns:a16="http://schemas.microsoft.com/office/drawing/2014/main" val="20017"/>
                    </a:ext>
                  </a:extLst>
                </a:gridCol>
                <a:gridCol w="335279">
                  <a:extLst>
                    <a:ext uri="{9D8B030D-6E8A-4147-A177-3AD203B41FA5}">
                      <a16:colId xmlns:a16="http://schemas.microsoft.com/office/drawing/2014/main" val="20018"/>
                    </a:ext>
                  </a:extLst>
                </a:gridCol>
              </a:tblGrid>
              <a:tr h="314451">
                <a:tc gridSpan="18">
                  <a:txBody>
                    <a:bodyPr/>
                    <a:lstStyle/>
                    <a:p>
                      <a:pPr marR="1160145" algn="r">
                        <a:lnSpc>
                          <a:spcPts val="1670"/>
                        </a:lnSpc>
                      </a:pPr>
                      <a:r>
                        <a:rPr sz="1800" spc="55" dirty="0">
                          <a:latin typeface="Cambria Math"/>
                          <a:cs typeface="Cambria Math"/>
                        </a:rPr>
                        <a:t>𝑄𝐾</a:t>
                      </a:r>
                      <a:r>
                        <a:rPr sz="1950" spc="82" baseline="27777" dirty="0">
                          <a:latin typeface="Cambria Math"/>
                          <a:cs typeface="Cambria Math"/>
                        </a:rPr>
                        <a:t>𝑇</a:t>
                      </a:r>
                      <a:endParaRPr sz="1950" baseline="27777">
                        <a:latin typeface="Cambria Math"/>
                        <a:cs typeface="Cambria Math"/>
                      </a:endParaRPr>
                    </a:p>
                  </a:txBody>
                  <a:tcPr marL="0" marR="0" marT="0" marB="0">
                    <a:lnR w="89844">
                      <a:solidFill>
                        <a:srgbClr val="4E91EF"/>
                      </a:solidFill>
                      <a:prstDash val="solid"/>
                    </a:lnR>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lnL w="89844">
                      <a:solidFill>
                        <a:srgbClr val="4E91EF"/>
                      </a:solidFill>
                      <a:prstDash val="solid"/>
                    </a:lnL>
                    <a:lnB w="12700">
                      <a:solidFill>
                        <a:srgbClr val="FFFFFF"/>
                      </a:solidFill>
                      <a:prstDash val="solid"/>
                    </a:lnB>
                  </a:tcPr>
                </a:tc>
                <a:extLst>
                  <a:ext uri="{0D108BD9-81ED-4DB2-BD59-A6C34878D82A}">
                    <a16:rowId xmlns:a16="http://schemas.microsoft.com/office/drawing/2014/main" val="10000"/>
                  </a:ext>
                </a:extLst>
              </a:tr>
              <a:tr h="396239">
                <a:tc rowSpan="4" gridSpan="9">
                  <a:txBody>
                    <a:bodyPr/>
                    <a:lstStyle/>
                    <a:p>
                      <a:pPr marL="837565">
                        <a:lnSpc>
                          <a:spcPct val="100000"/>
                        </a:lnSpc>
                        <a:spcBef>
                          <a:spcPts val="720"/>
                        </a:spcBef>
                      </a:pPr>
                      <a:r>
                        <a:rPr sz="2700" spc="97" baseline="-20061" dirty="0">
                          <a:latin typeface="Cambria Math"/>
                          <a:cs typeface="Cambria Math"/>
                        </a:rPr>
                        <a:t>𝐾</a:t>
                      </a:r>
                      <a:r>
                        <a:rPr sz="1300" spc="65" dirty="0">
                          <a:latin typeface="Cambria Math"/>
                          <a:cs typeface="Cambria Math"/>
                        </a:rPr>
                        <a:t>𝑇</a:t>
                      </a:r>
                      <a:endParaRPr sz="1300">
                        <a:latin typeface="Cambria Math"/>
                        <a:cs typeface="Cambria Math"/>
                      </a:endParaRPr>
                    </a:p>
                  </a:txBody>
                  <a:tcPr marL="0" marR="0" marT="91440" marB="0">
                    <a:lnR w="12700">
                      <a:solidFill>
                        <a:srgbClr val="FFFFFF"/>
                      </a:solidFill>
                      <a:prstDash val="solid"/>
                    </a:lnR>
                    <a:lnB w="12700">
                      <a:solidFill>
                        <a:srgbClr val="FFFFFF"/>
                      </a:solidFill>
                      <a:prstDash val="solid"/>
                    </a:lnB>
                  </a:tcPr>
                </a:tc>
                <a:tc rowSpan="4" hMerge="1">
                  <a:txBody>
                    <a:bodyPr/>
                    <a:lstStyle/>
                    <a:p>
                      <a:endParaRPr/>
                    </a:p>
                  </a:txBody>
                  <a:tcPr marL="0" marR="0" marT="0" marB="0"/>
                </a:tc>
                <a:tc rowSpan="4" hMerge="1">
                  <a:txBody>
                    <a:bodyPr/>
                    <a:lstStyle/>
                    <a:p>
                      <a:endParaRPr/>
                    </a:p>
                  </a:txBody>
                  <a:tcPr marL="0" marR="0" marT="0" marB="0"/>
                </a:tc>
                <a:tc rowSpan="4" hMerge="1">
                  <a:txBody>
                    <a:bodyPr/>
                    <a:lstStyle/>
                    <a:p>
                      <a:endParaRPr/>
                    </a:p>
                  </a:txBody>
                  <a:tcPr marL="0" marR="0" marT="0" marB="0"/>
                </a:tc>
                <a:tc rowSpan="4" hMerge="1">
                  <a:txBody>
                    <a:bodyPr/>
                    <a:lstStyle/>
                    <a:p>
                      <a:endParaRPr/>
                    </a:p>
                  </a:txBody>
                  <a:tcPr marL="0" marR="0" marT="0" marB="0"/>
                </a:tc>
                <a:tc rowSpan="4" hMerge="1">
                  <a:txBody>
                    <a:bodyPr/>
                    <a:lstStyle/>
                    <a:p>
                      <a:endParaRPr/>
                    </a:p>
                  </a:txBody>
                  <a:tcPr marL="0" marR="0" marT="0" marB="0"/>
                </a:tc>
                <a:tc rowSpan="4" hMerge="1">
                  <a:txBody>
                    <a:bodyPr/>
                    <a:lstStyle/>
                    <a:p>
                      <a:endParaRPr/>
                    </a:p>
                  </a:txBody>
                  <a:tcPr marL="0" marR="0" marT="0" marB="0"/>
                </a:tc>
                <a:tc rowSpan="4" hMerge="1">
                  <a:txBody>
                    <a:bodyPr/>
                    <a:lstStyle/>
                    <a:p>
                      <a:endParaRPr/>
                    </a:p>
                  </a:txBody>
                  <a:tcPr marL="0" marR="0" marT="0" marB="0"/>
                </a:tc>
                <a:tc rowSpan="4" hMerge="1">
                  <a:txBody>
                    <a:bodyPr/>
                    <a:lstStyle/>
                    <a:p>
                      <a:endParaRPr/>
                    </a:p>
                  </a:txBody>
                  <a:tcPr marL="0" marR="0" marT="0" marB="0"/>
                </a:tc>
                <a:tc>
                  <a:txBody>
                    <a:bodyPr/>
                    <a:lstStyle/>
                    <a:p>
                      <a:pPr marL="92075" marR="78740" indent="-635" algn="ctr">
                        <a:lnSpc>
                          <a:spcPct val="100000"/>
                        </a:lnSpc>
                        <a:spcBef>
                          <a:spcPts val="345"/>
                        </a:spcBef>
                      </a:pPr>
                      <a:r>
                        <a:rPr sz="400" dirty="0">
                          <a:solidFill>
                            <a:srgbClr val="FFFFFF"/>
                          </a:solidFill>
                          <a:latin typeface="Tahoma"/>
                          <a:cs typeface="Tahoma"/>
                        </a:rPr>
                        <a:t>T  8</a:t>
                      </a:r>
                      <a:endParaRPr sz="400">
                        <a:latin typeface="Tahoma"/>
                        <a:cs typeface="Tahoma"/>
                      </a:endParaRPr>
                    </a:p>
                    <a:p>
                      <a:pPr marL="92075" marR="78740" algn="just">
                        <a:lnSpc>
                          <a:spcPct val="100000"/>
                        </a:lnSpc>
                      </a:pPr>
                      <a:r>
                        <a:rPr sz="400" dirty="0">
                          <a:solidFill>
                            <a:srgbClr val="FFFFFF"/>
                          </a:solidFill>
                          <a:latin typeface="Tahoma"/>
                          <a:cs typeface="Tahoma"/>
                        </a:rPr>
                        <a:t>-  T  1</a:t>
                      </a:r>
                      <a:endParaRPr sz="400">
                        <a:latin typeface="Tahoma"/>
                        <a:cs typeface="Tahoma"/>
                      </a:endParaRPr>
                    </a:p>
                  </a:txBody>
                  <a:tcPr marL="0" marR="0" marT="43815" marB="0">
                    <a:lnL w="12700" cap="flat" cmpd="sng" algn="ctr">
                      <a:solidFill>
                        <a:srgbClr val="FFFFFF"/>
                      </a:solidFill>
                      <a:prstDash val="solid"/>
                      <a:round/>
                      <a:headEnd type="none" w="med" len="med"/>
                      <a:tailEnd type="none" w="med" len="med"/>
                    </a:lnL>
                    <a:lnR w="12700">
                      <a:solidFill>
                        <a:srgbClr val="000000"/>
                      </a:solidFill>
                      <a:prstDash val="solid"/>
                    </a:lnR>
                    <a:lnT w="12700">
                      <a:solidFill>
                        <a:srgbClr val="000000"/>
                      </a:solidFill>
                      <a:prstDash val="solid"/>
                    </a:lnT>
                    <a:lnB w="12700">
                      <a:solidFill>
                        <a:srgbClr val="000000"/>
                      </a:solidFill>
                      <a:prstDash val="solid"/>
                    </a:lnB>
                    <a:solidFill>
                      <a:srgbClr val="550DBA"/>
                    </a:solidFill>
                  </a:tcPr>
                </a:tc>
                <a:tc>
                  <a:txBody>
                    <a:bodyPr/>
                    <a:lstStyle/>
                    <a:p>
                      <a:pPr marL="92075" marR="79375" indent="-635" algn="ctr">
                        <a:lnSpc>
                          <a:spcPct val="100000"/>
                        </a:lnSpc>
                        <a:spcBef>
                          <a:spcPts val="345"/>
                        </a:spcBef>
                      </a:pPr>
                      <a:r>
                        <a:rPr sz="400" dirty="0">
                          <a:solidFill>
                            <a:srgbClr val="FFFFFF"/>
                          </a:solidFill>
                          <a:latin typeface="Tahoma"/>
                          <a:cs typeface="Tahoma"/>
                        </a:rPr>
                        <a:t>T  8</a:t>
                      </a:r>
                      <a:endParaRPr sz="400">
                        <a:latin typeface="Tahoma"/>
                        <a:cs typeface="Tahoma"/>
                      </a:endParaRPr>
                    </a:p>
                    <a:p>
                      <a:pPr marL="92075" marR="79375" algn="just">
                        <a:lnSpc>
                          <a:spcPct val="100000"/>
                        </a:lnSpc>
                      </a:pPr>
                      <a:r>
                        <a:rPr sz="400" dirty="0">
                          <a:solidFill>
                            <a:srgbClr val="FFFFFF"/>
                          </a:solidFill>
                          <a:latin typeface="Tahoma"/>
                          <a:cs typeface="Tahoma"/>
                        </a:rPr>
                        <a:t>-  T  2</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50DBA"/>
                    </a:solidFill>
                  </a:tcPr>
                </a:tc>
                <a:tc>
                  <a:txBody>
                    <a:bodyPr/>
                    <a:lstStyle/>
                    <a:p>
                      <a:pPr marL="92075" marR="79375" indent="-635" algn="ctr">
                        <a:lnSpc>
                          <a:spcPct val="100000"/>
                        </a:lnSpc>
                        <a:spcBef>
                          <a:spcPts val="345"/>
                        </a:spcBef>
                      </a:pPr>
                      <a:r>
                        <a:rPr sz="400" dirty="0">
                          <a:solidFill>
                            <a:srgbClr val="FFFFFF"/>
                          </a:solidFill>
                          <a:latin typeface="Tahoma"/>
                          <a:cs typeface="Tahoma"/>
                        </a:rPr>
                        <a:t>T  8</a:t>
                      </a:r>
                      <a:endParaRPr sz="400">
                        <a:latin typeface="Tahoma"/>
                        <a:cs typeface="Tahoma"/>
                      </a:endParaRPr>
                    </a:p>
                    <a:p>
                      <a:pPr marL="92075" marR="79375" algn="just">
                        <a:lnSpc>
                          <a:spcPct val="100000"/>
                        </a:lnSpc>
                      </a:pPr>
                      <a:r>
                        <a:rPr sz="400" dirty="0">
                          <a:solidFill>
                            <a:srgbClr val="FFFFFF"/>
                          </a:solidFill>
                          <a:latin typeface="Tahoma"/>
                          <a:cs typeface="Tahoma"/>
                        </a:rPr>
                        <a:t>-  T  3</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50DBA"/>
                    </a:solidFill>
                  </a:tcPr>
                </a:tc>
                <a:tc>
                  <a:txBody>
                    <a:bodyPr/>
                    <a:lstStyle/>
                    <a:p>
                      <a:pPr marL="92075" marR="78740" indent="-635" algn="ctr">
                        <a:lnSpc>
                          <a:spcPct val="100000"/>
                        </a:lnSpc>
                        <a:spcBef>
                          <a:spcPts val="345"/>
                        </a:spcBef>
                      </a:pPr>
                      <a:r>
                        <a:rPr sz="400" dirty="0">
                          <a:solidFill>
                            <a:srgbClr val="FFFFFF"/>
                          </a:solidFill>
                          <a:latin typeface="Tahoma"/>
                          <a:cs typeface="Tahoma"/>
                        </a:rPr>
                        <a:t>T  8</a:t>
                      </a:r>
                      <a:endParaRPr sz="400">
                        <a:latin typeface="Tahoma"/>
                        <a:cs typeface="Tahoma"/>
                      </a:endParaRPr>
                    </a:p>
                    <a:p>
                      <a:pPr marL="92075" marR="78740" algn="just">
                        <a:lnSpc>
                          <a:spcPct val="100000"/>
                        </a:lnSpc>
                      </a:pPr>
                      <a:r>
                        <a:rPr sz="400" dirty="0">
                          <a:solidFill>
                            <a:srgbClr val="FFFFFF"/>
                          </a:solidFill>
                          <a:latin typeface="Tahoma"/>
                          <a:cs typeface="Tahoma"/>
                        </a:rPr>
                        <a:t>-  T  4</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50DBA"/>
                    </a:solidFill>
                  </a:tcPr>
                </a:tc>
                <a:tc>
                  <a:txBody>
                    <a:bodyPr/>
                    <a:lstStyle/>
                    <a:p>
                      <a:pPr marL="92075" marR="79375" indent="-635" algn="ctr">
                        <a:lnSpc>
                          <a:spcPct val="100000"/>
                        </a:lnSpc>
                        <a:spcBef>
                          <a:spcPts val="345"/>
                        </a:spcBef>
                      </a:pPr>
                      <a:r>
                        <a:rPr sz="400" dirty="0">
                          <a:latin typeface="Tahoma"/>
                          <a:cs typeface="Tahoma"/>
                        </a:rPr>
                        <a:t>T  8</a:t>
                      </a:r>
                      <a:endParaRPr sz="400">
                        <a:latin typeface="Tahoma"/>
                        <a:cs typeface="Tahoma"/>
                      </a:endParaRPr>
                    </a:p>
                    <a:p>
                      <a:pPr marL="92075" marR="79375" algn="just">
                        <a:lnSpc>
                          <a:spcPct val="100000"/>
                        </a:lnSpc>
                      </a:pPr>
                      <a:r>
                        <a:rPr sz="400" dirty="0">
                          <a:latin typeface="Tahoma"/>
                          <a:cs typeface="Tahoma"/>
                        </a:rPr>
                        <a:t>-  T  5</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78740" indent="-635" algn="ctr">
                        <a:lnSpc>
                          <a:spcPct val="100000"/>
                        </a:lnSpc>
                        <a:spcBef>
                          <a:spcPts val="345"/>
                        </a:spcBef>
                      </a:pPr>
                      <a:r>
                        <a:rPr sz="400" dirty="0">
                          <a:latin typeface="Tahoma"/>
                          <a:cs typeface="Tahoma"/>
                        </a:rPr>
                        <a:t>T  8</a:t>
                      </a:r>
                      <a:endParaRPr sz="400">
                        <a:latin typeface="Tahoma"/>
                        <a:cs typeface="Tahoma"/>
                      </a:endParaRPr>
                    </a:p>
                    <a:p>
                      <a:pPr marL="92075" marR="78740" algn="just">
                        <a:lnSpc>
                          <a:spcPct val="100000"/>
                        </a:lnSpc>
                      </a:pPr>
                      <a:r>
                        <a:rPr sz="400" dirty="0">
                          <a:latin typeface="Tahoma"/>
                          <a:cs typeface="Tahoma"/>
                        </a:rPr>
                        <a:t>-  T  6</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78740" indent="-635" algn="ctr">
                        <a:lnSpc>
                          <a:spcPct val="100000"/>
                        </a:lnSpc>
                        <a:spcBef>
                          <a:spcPts val="345"/>
                        </a:spcBef>
                      </a:pPr>
                      <a:r>
                        <a:rPr sz="400" dirty="0">
                          <a:latin typeface="Tahoma"/>
                          <a:cs typeface="Tahoma"/>
                        </a:rPr>
                        <a:t>T  8</a:t>
                      </a:r>
                      <a:endParaRPr sz="400">
                        <a:latin typeface="Tahoma"/>
                        <a:cs typeface="Tahoma"/>
                      </a:endParaRPr>
                    </a:p>
                    <a:p>
                      <a:pPr marL="92075" marR="78740" algn="just">
                        <a:lnSpc>
                          <a:spcPct val="100000"/>
                        </a:lnSpc>
                      </a:pPr>
                      <a:r>
                        <a:rPr sz="400" dirty="0">
                          <a:latin typeface="Tahoma"/>
                          <a:cs typeface="Tahoma"/>
                        </a:rPr>
                        <a:t>-  T  7</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marL="92075" marR="78740" indent="-635" algn="ctr">
                        <a:lnSpc>
                          <a:spcPct val="100000"/>
                        </a:lnSpc>
                        <a:spcBef>
                          <a:spcPts val="345"/>
                        </a:spcBef>
                      </a:pPr>
                      <a:r>
                        <a:rPr sz="400" dirty="0">
                          <a:latin typeface="Tahoma"/>
                          <a:cs typeface="Tahoma"/>
                        </a:rPr>
                        <a:t>T  8</a:t>
                      </a:r>
                      <a:endParaRPr sz="400">
                        <a:latin typeface="Tahoma"/>
                        <a:cs typeface="Tahoma"/>
                      </a:endParaRPr>
                    </a:p>
                    <a:p>
                      <a:pPr marL="92075" marR="78740" algn="just">
                        <a:lnSpc>
                          <a:spcPct val="100000"/>
                        </a:lnSpc>
                      </a:pPr>
                      <a:r>
                        <a:rPr sz="400" dirty="0">
                          <a:latin typeface="Tahoma"/>
                          <a:cs typeface="Tahoma"/>
                        </a:rPr>
                        <a:t>-  T  8</a:t>
                      </a:r>
                      <a:endParaRPr sz="400">
                        <a:latin typeface="Tahoma"/>
                        <a:cs typeface="Tahoma"/>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4EEFD"/>
                    </a:solidFill>
                  </a:tcPr>
                </a:tc>
                <a:tc>
                  <a:txBody>
                    <a:bodyPr/>
                    <a:lstStyle/>
                    <a:p>
                      <a:pPr>
                        <a:lnSpc>
                          <a:spcPct val="100000"/>
                        </a:lnSpc>
                      </a:pPr>
                      <a:endParaRPr sz="1000">
                        <a:latin typeface="Times New Roman"/>
                        <a:cs typeface="Times New Roman"/>
                      </a:endParaRPr>
                    </a:p>
                  </a:txBody>
                  <a:tcPr marL="0" marR="0" marT="0" marB="0">
                    <a:lnL w="12700">
                      <a:solidFill>
                        <a:srgbClr val="000000"/>
                      </a:solidFill>
                      <a:prstDash val="solid"/>
                    </a:lnL>
                    <a:lnR w="89844">
                      <a:solidFill>
                        <a:srgbClr val="4E91EF"/>
                      </a:solidFill>
                      <a:prstDash val="solid"/>
                    </a:lnR>
                    <a:lnT w="12700">
                      <a:solidFill>
                        <a:srgbClr val="FFFFFF"/>
                      </a:solidFill>
                      <a:prstDash val="solid"/>
                    </a:lnT>
                    <a:lnB w="12700">
                      <a:solidFill>
                        <a:srgbClr val="FFFFFF"/>
                      </a:solidFill>
                      <a:prstDash val="solid"/>
                    </a:lnB>
                  </a:tcPr>
                </a:tc>
                <a:tc>
                  <a:txBody>
                    <a:bodyPr/>
                    <a:lstStyle/>
                    <a:p>
                      <a:pPr>
                        <a:lnSpc>
                          <a:spcPct val="100000"/>
                        </a:lnSpc>
                      </a:pPr>
                      <a:endParaRPr sz="1000">
                        <a:latin typeface="Times New Roman"/>
                        <a:cs typeface="Times New Roman"/>
                      </a:endParaRPr>
                    </a:p>
                  </a:txBody>
                  <a:tcPr marL="0" marR="0" marT="0" marB="0">
                    <a:lnL w="89844">
                      <a:solidFill>
                        <a:srgbClr val="4E91EF"/>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1"/>
                  </a:ext>
                </a:extLst>
              </a:tr>
              <a:tr h="152400">
                <a:tc gridSpan="9" vMerge="1">
                  <a:txBody>
                    <a:bodyPr/>
                    <a:lstStyle/>
                    <a:p>
                      <a:endParaRPr/>
                    </a:p>
                  </a:txBody>
                  <a:tcPr marL="0" marR="0" marT="91440" marB="0">
                    <a:lnR w="12700">
                      <a:solidFill>
                        <a:srgbClr val="FFFFFF"/>
                      </a:solidFill>
                      <a:prstDash val="solid"/>
                    </a:lnR>
                    <a:lnB w="12700">
                      <a:solidFill>
                        <a:srgbClr val="FFFFFF"/>
                      </a:solidFill>
                      <a:prstDash val="solid"/>
                    </a:lnB>
                  </a:tcPr>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tc>
                  <a:txBody>
                    <a:bodyPr/>
                    <a:lstStyle/>
                    <a:p>
                      <a:pPr>
                        <a:lnSpc>
                          <a:spcPct val="100000"/>
                        </a:lnSpc>
                      </a:pPr>
                      <a:endParaRPr sz="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000000"/>
                      </a:solidFill>
                      <a:prstDash val="solid"/>
                    </a:lnT>
                    <a:lnB w="12700">
                      <a:solidFill>
                        <a:srgbClr val="FFFFFF"/>
                      </a:solidFill>
                      <a:prstDash val="solid"/>
                    </a:lnB>
                  </a:tcPr>
                </a:tc>
                <a:tc gridSpan="8">
                  <a:txBody>
                    <a:bodyPr/>
                    <a:lstStyle/>
                    <a:p>
                      <a:pPr>
                        <a:lnSpc>
                          <a:spcPct val="100000"/>
                        </a:lnSpc>
                      </a:pPr>
                      <a:endParaRPr sz="800">
                        <a:latin typeface="Times New Roman"/>
                        <a:cs typeface="Times New Roman"/>
                      </a:endParaRPr>
                    </a:p>
                  </a:txBody>
                  <a:tcPr marL="0" marR="0" marT="0" marB="0">
                    <a:lnL w="12700">
                      <a:solidFill>
                        <a:srgbClr val="FFFFFF"/>
                      </a:solidFill>
                      <a:prstDash val="solid"/>
                    </a:lnL>
                    <a:lnR w="89844">
                      <a:solidFill>
                        <a:srgbClr val="4E91EF"/>
                      </a:solidFill>
                      <a:prstDash val="solid"/>
                    </a:lnR>
                    <a:lnT w="12700" cap="flat" cmpd="sng" algn="ctr">
                      <a:solidFill>
                        <a:srgbClr val="000000"/>
                      </a:solidFill>
                      <a:prstDash val="solid"/>
                      <a:round/>
                      <a:headEnd type="none" w="med" len="med"/>
                      <a:tailEnd type="none" w="med" len="med"/>
                    </a:lnT>
                    <a:lnB w="12700">
                      <a:solidFill>
                        <a:srgbClr val="FFFFFF"/>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800">
                        <a:latin typeface="Times New Roman"/>
                        <a:cs typeface="Times New Roman"/>
                      </a:endParaRPr>
                    </a:p>
                  </a:txBody>
                  <a:tcPr marL="0" marR="0" marT="0" marB="0">
                    <a:lnL w="89844">
                      <a:solidFill>
                        <a:srgbClr val="4E91EF"/>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2"/>
                  </a:ext>
                </a:extLst>
              </a:tr>
              <a:tr h="152400">
                <a:tc gridSpan="9" vMerge="1">
                  <a:txBody>
                    <a:bodyPr/>
                    <a:lstStyle/>
                    <a:p>
                      <a:endParaRPr/>
                    </a:p>
                  </a:txBody>
                  <a:tcPr marL="0" marR="0" marT="91440" marB="0">
                    <a:lnR w="12700">
                      <a:solidFill>
                        <a:srgbClr val="FFFFFF"/>
                      </a:solidFill>
                      <a:prstDash val="solid"/>
                    </a:lnR>
                    <a:lnB w="12700">
                      <a:solidFill>
                        <a:srgbClr val="FFFFFF"/>
                      </a:solidFill>
                      <a:prstDash val="solid"/>
                    </a:lnB>
                  </a:tcPr>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tc>
                  <a:txBody>
                    <a:bodyPr/>
                    <a:lstStyle/>
                    <a:p>
                      <a:pPr>
                        <a:lnSpc>
                          <a:spcPct val="100000"/>
                        </a:lnSpc>
                      </a:pPr>
                      <a:endParaRPr sz="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gridSpan="8">
                  <a:txBody>
                    <a:bodyPr/>
                    <a:lstStyle/>
                    <a:p>
                      <a:pPr>
                        <a:lnSpc>
                          <a:spcPct val="100000"/>
                        </a:lnSpc>
                      </a:pPr>
                      <a:endParaRPr sz="800">
                        <a:latin typeface="Times New Roman"/>
                        <a:cs typeface="Times New Roman"/>
                      </a:endParaRPr>
                    </a:p>
                  </a:txBody>
                  <a:tcPr marL="0" marR="0" marT="0" marB="0">
                    <a:lnL w="12700">
                      <a:solidFill>
                        <a:srgbClr val="FFFFFF"/>
                      </a:solidFill>
                      <a:prstDash val="solid"/>
                    </a:lnL>
                    <a:lnR w="89844">
                      <a:solidFill>
                        <a:srgbClr val="4E91EF"/>
                      </a:solidFill>
                      <a:prstDash val="solid"/>
                    </a:lnR>
                    <a:lnT w="12700">
                      <a:solidFill>
                        <a:srgbClr val="FFFFFF"/>
                      </a:solidFill>
                      <a:prstDash val="solid"/>
                    </a:lnT>
                    <a:lnB w="12700">
                      <a:solidFill>
                        <a:srgbClr val="FFFFFF"/>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800">
                        <a:latin typeface="Times New Roman"/>
                        <a:cs typeface="Times New Roman"/>
                      </a:endParaRPr>
                    </a:p>
                  </a:txBody>
                  <a:tcPr marL="0" marR="0" marT="0" marB="0">
                    <a:lnL w="89844">
                      <a:solidFill>
                        <a:srgbClr val="4E91EF"/>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3"/>
                  </a:ext>
                </a:extLst>
              </a:tr>
              <a:tr h="170052">
                <a:tc gridSpan="9" vMerge="1">
                  <a:txBody>
                    <a:bodyPr/>
                    <a:lstStyle/>
                    <a:p>
                      <a:endParaRPr/>
                    </a:p>
                  </a:txBody>
                  <a:tcPr marL="0" marR="0" marT="91440" marB="0">
                    <a:lnR w="12700">
                      <a:solidFill>
                        <a:srgbClr val="FFFFFF"/>
                      </a:solidFill>
                      <a:prstDash val="solid"/>
                    </a:lnR>
                    <a:lnB w="12700">
                      <a:solidFill>
                        <a:srgbClr val="FFFFFF"/>
                      </a:solidFill>
                      <a:prstDash val="solid"/>
                    </a:lnB>
                  </a:tcPr>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tc>
                  <a:txBody>
                    <a:bodyPr/>
                    <a:lstStyle/>
                    <a:p>
                      <a:pPr>
                        <a:lnSpc>
                          <a:spcPct val="100000"/>
                        </a:lnSpc>
                      </a:pPr>
                      <a:endParaRPr sz="9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gridSpan="8">
                  <a:txBody>
                    <a:bodyPr/>
                    <a:lstStyle/>
                    <a:p>
                      <a:pPr>
                        <a:lnSpc>
                          <a:spcPct val="100000"/>
                        </a:lnSpc>
                      </a:pPr>
                      <a:endParaRPr sz="900">
                        <a:latin typeface="Times New Roman"/>
                        <a:cs typeface="Times New Roman"/>
                      </a:endParaRPr>
                    </a:p>
                  </a:txBody>
                  <a:tcPr marL="0" marR="0" marT="0" marB="0">
                    <a:lnL w="12700">
                      <a:solidFill>
                        <a:srgbClr val="FFFFFF"/>
                      </a:solidFill>
                      <a:prstDash val="solid"/>
                    </a:lnL>
                    <a:lnR w="89844">
                      <a:solidFill>
                        <a:srgbClr val="4E91EF"/>
                      </a:solidFill>
                      <a:prstDash val="solid"/>
                    </a:lnR>
                    <a:lnT w="12700">
                      <a:solidFill>
                        <a:srgbClr val="FFFFFF"/>
                      </a:solidFill>
                      <a:prstDash val="solid"/>
                    </a:lnT>
                    <a:lnB w="12700">
                      <a:solidFill>
                        <a:srgbClr val="FFFFFF"/>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900">
                        <a:latin typeface="Times New Roman"/>
                        <a:cs typeface="Times New Roman"/>
                      </a:endParaRPr>
                    </a:p>
                  </a:txBody>
                  <a:tcPr marL="0" marR="0" marT="0" marB="0">
                    <a:lnL w="89844">
                      <a:solidFill>
                        <a:srgbClr val="4E91EF"/>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4"/>
                  </a:ext>
                </a:extLst>
              </a:tr>
              <a:tr h="134747">
                <a:tc rowSpan="6">
                  <a:txBody>
                    <a:bodyPr/>
                    <a:lstStyle/>
                    <a:p>
                      <a:pPr marL="91440" marR="11430" algn="just">
                        <a:lnSpc>
                          <a:spcPct val="100000"/>
                        </a:lnSpc>
                        <a:spcBef>
                          <a:spcPts val="45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1</a:t>
                      </a:r>
                      <a:endParaRPr sz="900">
                        <a:latin typeface="Tahoma"/>
                        <a:cs typeface="Tahoma"/>
                      </a:endParaRPr>
                    </a:p>
                  </a:txBody>
                  <a:tcPr marL="0" marR="0" marT="57785" marB="0">
                    <a:lnL w="12700">
                      <a:solidFill>
                        <a:srgbClr val="000000"/>
                      </a:solidFill>
                      <a:prstDash val="solid"/>
                    </a:lnL>
                    <a:lnR w="12700">
                      <a:solidFill>
                        <a:srgbClr val="000000"/>
                      </a:solidFill>
                      <a:prstDash val="solid"/>
                    </a:lnR>
                    <a:lnT w="12700" cap="flat" cmpd="sng" algn="ctr">
                      <a:solidFill>
                        <a:srgbClr val="FFFFFF"/>
                      </a:solidFill>
                      <a:prstDash val="solid"/>
                      <a:round/>
                      <a:headEnd type="none" w="med" len="med"/>
                      <a:tailEnd type="none" w="med" len="med"/>
                    </a:lnT>
                    <a:lnB w="12700">
                      <a:solidFill>
                        <a:srgbClr val="000000"/>
                      </a:solidFill>
                      <a:prstDash val="solid"/>
                    </a:lnB>
                    <a:solidFill>
                      <a:srgbClr val="E8F5F1"/>
                    </a:solidFill>
                  </a:tcPr>
                </a:tc>
                <a:tc rowSpan="6">
                  <a:txBody>
                    <a:bodyPr/>
                    <a:lstStyle/>
                    <a:p>
                      <a:pPr marL="91440" marR="11430" algn="just">
                        <a:lnSpc>
                          <a:spcPct val="100000"/>
                        </a:lnSpc>
                        <a:spcBef>
                          <a:spcPts val="45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2</a:t>
                      </a:r>
                      <a:endParaRPr sz="900">
                        <a:latin typeface="Tahoma"/>
                        <a:cs typeface="Tahoma"/>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rowSpan="6">
                  <a:txBody>
                    <a:bodyPr/>
                    <a:lstStyle/>
                    <a:p>
                      <a:pPr marL="91440" marR="11430" algn="just">
                        <a:lnSpc>
                          <a:spcPct val="100000"/>
                        </a:lnSpc>
                        <a:spcBef>
                          <a:spcPts val="45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3</a:t>
                      </a:r>
                      <a:endParaRPr sz="900">
                        <a:latin typeface="Tahoma"/>
                        <a:cs typeface="Tahoma"/>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rowSpan="6">
                  <a:txBody>
                    <a:bodyPr/>
                    <a:lstStyle/>
                    <a:p>
                      <a:pPr marL="91440" marR="11430" algn="just">
                        <a:lnSpc>
                          <a:spcPct val="100000"/>
                        </a:lnSpc>
                        <a:spcBef>
                          <a:spcPts val="45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4</a:t>
                      </a:r>
                      <a:endParaRPr sz="900">
                        <a:latin typeface="Tahoma"/>
                        <a:cs typeface="Tahoma"/>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rowSpan="6">
                  <a:txBody>
                    <a:bodyPr/>
                    <a:lstStyle/>
                    <a:p>
                      <a:pPr marL="92075" marR="10795" algn="just">
                        <a:lnSpc>
                          <a:spcPct val="100000"/>
                        </a:lnSpc>
                        <a:spcBef>
                          <a:spcPts val="45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5</a:t>
                      </a:r>
                      <a:endParaRPr sz="900">
                        <a:latin typeface="Tahoma"/>
                        <a:cs typeface="Tahoma"/>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rowSpan="6">
                  <a:txBody>
                    <a:bodyPr/>
                    <a:lstStyle/>
                    <a:p>
                      <a:pPr marL="91440" marR="11430" algn="just">
                        <a:lnSpc>
                          <a:spcPct val="100000"/>
                        </a:lnSpc>
                        <a:spcBef>
                          <a:spcPts val="45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6</a:t>
                      </a:r>
                      <a:endParaRPr sz="900">
                        <a:latin typeface="Tahoma"/>
                        <a:cs typeface="Tahoma"/>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rowSpan="6">
                  <a:txBody>
                    <a:bodyPr/>
                    <a:lstStyle/>
                    <a:p>
                      <a:pPr marL="91440" marR="11430" algn="just">
                        <a:lnSpc>
                          <a:spcPct val="100000"/>
                        </a:lnSpc>
                        <a:spcBef>
                          <a:spcPts val="45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7</a:t>
                      </a:r>
                      <a:endParaRPr sz="900">
                        <a:latin typeface="Tahoma"/>
                        <a:cs typeface="Tahoma"/>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rowSpan="6">
                  <a:txBody>
                    <a:bodyPr/>
                    <a:lstStyle/>
                    <a:p>
                      <a:pPr marL="92075" marR="10795" algn="just">
                        <a:lnSpc>
                          <a:spcPct val="100000"/>
                        </a:lnSpc>
                        <a:spcBef>
                          <a:spcPts val="455"/>
                        </a:spcBef>
                      </a:pPr>
                      <a:r>
                        <a:rPr sz="900" spc="-15" dirty="0">
                          <a:latin typeface="Tahoma"/>
                          <a:cs typeface="Tahoma"/>
                        </a:rPr>
                        <a:t>T </a:t>
                      </a:r>
                      <a:r>
                        <a:rPr sz="900" spc="-270" dirty="0">
                          <a:latin typeface="Tahoma"/>
                          <a:cs typeface="Tahoma"/>
                        </a:rPr>
                        <a:t> </a:t>
                      </a:r>
                      <a:r>
                        <a:rPr sz="900" dirty="0">
                          <a:latin typeface="Tahoma"/>
                          <a:cs typeface="Tahoma"/>
                        </a:rPr>
                        <a:t>O  </a:t>
                      </a:r>
                      <a:r>
                        <a:rPr sz="900" spc="35" dirty="0">
                          <a:latin typeface="Tahoma"/>
                          <a:cs typeface="Tahoma"/>
                        </a:rPr>
                        <a:t>K </a:t>
                      </a:r>
                      <a:r>
                        <a:rPr sz="900" spc="-270" dirty="0">
                          <a:latin typeface="Tahoma"/>
                          <a:cs typeface="Tahoma"/>
                        </a:rPr>
                        <a:t> </a:t>
                      </a:r>
                      <a:r>
                        <a:rPr sz="900" spc="25" dirty="0">
                          <a:latin typeface="Tahoma"/>
                          <a:cs typeface="Tahoma"/>
                        </a:rPr>
                        <a:t>E </a:t>
                      </a:r>
                      <a:r>
                        <a:rPr sz="900" spc="-270" dirty="0">
                          <a:latin typeface="Tahoma"/>
                          <a:cs typeface="Tahoma"/>
                        </a:rPr>
                        <a:t> </a:t>
                      </a:r>
                      <a:r>
                        <a:rPr sz="900" dirty="0">
                          <a:latin typeface="Tahoma"/>
                          <a:cs typeface="Tahoma"/>
                        </a:rPr>
                        <a:t>N  </a:t>
                      </a:r>
                      <a:r>
                        <a:rPr sz="900" spc="30" dirty="0">
                          <a:latin typeface="Tahoma"/>
                          <a:cs typeface="Tahoma"/>
                        </a:rPr>
                        <a:t>8</a:t>
                      </a:r>
                      <a:endParaRPr sz="900">
                        <a:latin typeface="Tahoma"/>
                        <a:cs typeface="Tahoma"/>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rowSpan="5">
                  <a:txBody>
                    <a:bodyPr/>
                    <a:lstStyle/>
                    <a:p>
                      <a:pPr>
                        <a:lnSpc>
                          <a:spcPct val="100000"/>
                        </a:lnSpc>
                      </a:pPr>
                      <a:endParaRPr sz="1800">
                        <a:latin typeface="Times New Roman"/>
                        <a:cs typeface="Times New Roman"/>
                      </a:endParaRPr>
                    </a:p>
                    <a:p>
                      <a:pPr>
                        <a:lnSpc>
                          <a:spcPct val="100000"/>
                        </a:lnSpc>
                        <a:spcBef>
                          <a:spcPts val="45"/>
                        </a:spcBef>
                      </a:pPr>
                      <a:endParaRPr sz="1500">
                        <a:latin typeface="Times New Roman"/>
                        <a:cs typeface="Times New Roman"/>
                      </a:endParaRPr>
                    </a:p>
                    <a:p>
                      <a:pPr marL="447675">
                        <a:lnSpc>
                          <a:spcPts val="1920"/>
                        </a:lnSpc>
                      </a:pPr>
                      <a:r>
                        <a:rPr sz="1800" dirty="0">
                          <a:latin typeface="Cambria Math"/>
                          <a:cs typeface="Cambria Math"/>
                        </a:rPr>
                        <a:t>=</a:t>
                      </a:r>
                      <a:endParaRPr sz="1800">
                        <a:latin typeface="Cambria Math"/>
                        <a:cs typeface="Cambria Math"/>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tcPr>
                </a:tc>
                <a:tc>
                  <a:txBody>
                    <a:bodyPr/>
                    <a:lstStyle/>
                    <a:p>
                      <a:pPr>
                        <a:lnSpc>
                          <a:spcPct val="100000"/>
                        </a:lnSpc>
                      </a:pPr>
                      <a:endParaRPr sz="7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gridSpan="8">
                  <a:txBody>
                    <a:bodyPr/>
                    <a:lstStyle/>
                    <a:p>
                      <a:pPr>
                        <a:lnSpc>
                          <a:spcPct val="100000"/>
                        </a:lnSpc>
                      </a:pPr>
                      <a:endParaRPr sz="700">
                        <a:latin typeface="Times New Roman"/>
                        <a:cs typeface="Times New Roman"/>
                      </a:endParaRPr>
                    </a:p>
                  </a:txBody>
                  <a:tcPr marL="0" marR="0" marT="0" marB="0">
                    <a:lnL w="12700">
                      <a:solidFill>
                        <a:srgbClr val="FFFFFF"/>
                      </a:solidFill>
                      <a:prstDash val="solid"/>
                    </a:lnL>
                    <a:lnR w="89844">
                      <a:solidFill>
                        <a:srgbClr val="4E91EF"/>
                      </a:solidFill>
                      <a:prstDash val="solid"/>
                    </a:lnR>
                    <a:lnT w="12700">
                      <a:solidFill>
                        <a:srgbClr val="FFFFFF"/>
                      </a:solidFill>
                      <a:prstDash val="solid"/>
                    </a:lnT>
                    <a:lnB w="12700">
                      <a:solidFill>
                        <a:srgbClr val="FFFFFF"/>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700">
                        <a:latin typeface="Times New Roman"/>
                        <a:cs typeface="Times New Roman"/>
                      </a:endParaRPr>
                    </a:p>
                  </a:txBody>
                  <a:tcPr marL="0" marR="0" marT="0" marB="0">
                    <a:lnL w="89844">
                      <a:solidFill>
                        <a:srgbClr val="4E91EF"/>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5"/>
                  </a:ext>
                </a:extLst>
              </a:tr>
              <a:tr h="152400">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tcPr>
                </a:tc>
                <a:tc>
                  <a:txBody>
                    <a:bodyPr/>
                    <a:lstStyle/>
                    <a:p>
                      <a:pPr>
                        <a:lnSpc>
                          <a:spcPct val="100000"/>
                        </a:lnSpc>
                      </a:pPr>
                      <a:endParaRPr sz="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gridSpan="8">
                  <a:txBody>
                    <a:bodyPr/>
                    <a:lstStyle/>
                    <a:p>
                      <a:pPr>
                        <a:lnSpc>
                          <a:spcPct val="100000"/>
                        </a:lnSpc>
                      </a:pPr>
                      <a:endParaRPr sz="800">
                        <a:latin typeface="Times New Roman"/>
                        <a:cs typeface="Times New Roman"/>
                      </a:endParaRPr>
                    </a:p>
                  </a:txBody>
                  <a:tcPr marL="0" marR="0" marT="0" marB="0">
                    <a:lnL w="12700">
                      <a:solidFill>
                        <a:srgbClr val="FFFFFF"/>
                      </a:solidFill>
                      <a:prstDash val="solid"/>
                    </a:lnL>
                    <a:lnR w="89844">
                      <a:solidFill>
                        <a:srgbClr val="4E91EF"/>
                      </a:solidFill>
                      <a:prstDash val="solid"/>
                    </a:lnR>
                    <a:lnT w="12700">
                      <a:solidFill>
                        <a:srgbClr val="FFFFFF"/>
                      </a:solidFill>
                      <a:prstDash val="solid"/>
                    </a:lnT>
                    <a:lnB w="12700">
                      <a:solidFill>
                        <a:srgbClr val="FFFFFF"/>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800">
                        <a:latin typeface="Times New Roman"/>
                        <a:cs typeface="Times New Roman"/>
                      </a:endParaRPr>
                    </a:p>
                  </a:txBody>
                  <a:tcPr marL="0" marR="0" marT="0" marB="0">
                    <a:lnL w="89844">
                      <a:solidFill>
                        <a:srgbClr val="4E91EF"/>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6"/>
                  </a:ext>
                </a:extLst>
              </a:tr>
              <a:tr h="152400">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tcPr>
                </a:tc>
                <a:tc>
                  <a:txBody>
                    <a:bodyPr/>
                    <a:lstStyle/>
                    <a:p>
                      <a:pPr>
                        <a:lnSpc>
                          <a:spcPct val="100000"/>
                        </a:lnSpc>
                      </a:pPr>
                      <a:endParaRPr sz="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gridSpan="8">
                  <a:txBody>
                    <a:bodyPr/>
                    <a:lstStyle/>
                    <a:p>
                      <a:pPr>
                        <a:lnSpc>
                          <a:spcPct val="100000"/>
                        </a:lnSpc>
                      </a:pPr>
                      <a:endParaRPr sz="800">
                        <a:latin typeface="Times New Roman"/>
                        <a:cs typeface="Times New Roman"/>
                      </a:endParaRPr>
                    </a:p>
                  </a:txBody>
                  <a:tcPr marL="0" marR="0" marT="0" marB="0">
                    <a:lnL w="12700">
                      <a:solidFill>
                        <a:srgbClr val="FFFFFF"/>
                      </a:solidFill>
                      <a:prstDash val="solid"/>
                    </a:lnL>
                    <a:lnR w="89844">
                      <a:solidFill>
                        <a:srgbClr val="4E91EF"/>
                      </a:solidFill>
                      <a:prstDash val="solid"/>
                    </a:lnR>
                    <a:lnT w="12700">
                      <a:solidFill>
                        <a:srgbClr val="FFFFFF"/>
                      </a:solidFill>
                      <a:prstDash val="solid"/>
                    </a:lnT>
                    <a:lnB w="12700">
                      <a:solidFill>
                        <a:srgbClr val="FFFFFF"/>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800">
                        <a:latin typeface="Times New Roman"/>
                        <a:cs typeface="Times New Roman"/>
                      </a:endParaRPr>
                    </a:p>
                  </a:txBody>
                  <a:tcPr marL="0" marR="0" marT="0" marB="0">
                    <a:lnL w="89844">
                      <a:solidFill>
                        <a:srgbClr val="4E91EF"/>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7"/>
                  </a:ext>
                </a:extLst>
              </a:tr>
              <a:tr h="152400">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tcPr>
                </a:tc>
                <a:tc>
                  <a:txBody>
                    <a:bodyPr/>
                    <a:lstStyle/>
                    <a:p>
                      <a:pPr>
                        <a:lnSpc>
                          <a:spcPct val="100000"/>
                        </a:lnSpc>
                      </a:pPr>
                      <a:endParaRPr sz="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gridSpan="8">
                  <a:txBody>
                    <a:bodyPr/>
                    <a:lstStyle/>
                    <a:p>
                      <a:pPr>
                        <a:lnSpc>
                          <a:spcPct val="100000"/>
                        </a:lnSpc>
                      </a:pPr>
                      <a:endParaRPr sz="800">
                        <a:latin typeface="Times New Roman"/>
                        <a:cs typeface="Times New Roman"/>
                      </a:endParaRPr>
                    </a:p>
                  </a:txBody>
                  <a:tcPr marL="0" marR="0" marT="0" marB="0">
                    <a:lnL w="12700">
                      <a:solidFill>
                        <a:srgbClr val="FFFFFF"/>
                      </a:solidFill>
                      <a:prstDash val="solid"/>
                    </a:lnL>
                    <a:lnR w="89844">
                      <a:solidFill>
                        <a:srgbClr val="4E91EF"/>
                      </a:solidFill>
                      <a:prstDash val="solid"/>
                    </a:lnR>
                    <a:lnT w="12700">
                      <a:solidFill>
                        <a:srgbClr val="FFFFFF"/>
                      </a:solidFill>
                      <a:prstDash val="solid"/>
                    </a:lnT>
                    <a:lnB w="12700">
                      <a:solidFill>
                        <a:srgbClr val="FFFFFF"/>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800">
                        <a:latin typeface="Times New Roman"/>
                        <a:cs typeface="Times New Roman"/>
                      </a:endParaRPr>
                    </a:p>
                  </a:txBody>
                  <a:tcPr marL="0" marR="0" marT="0" marB="0">
                    <a:lnL w="89844">
                      <a:solidFill>
                        <a:srgbClr val="4E91EF"/>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8"/>
                  </a:ext>
                </a:extLst>
              </a:tr>
              <a:tr h="152400">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tcPr>
                </a:tc>
                <a:tc>
                  <a:txBody>
                    <a:bodyPr/>
                    <a:lstStyle/>
                    <a:p>
                      <a:pPr>
                        <a:lnSpc>
                          <a:spcPct val="100000"/>
                        </a:lnSpc>
                      </a:pPr>
                      <a:endParaRPr sz="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gridSpan="8">
                  <a:txBody>
                    <a:bodyPr/>
                    <a:lstStyle/>
                    <a:p>
                      <a:pPr>
                        <a:lnSpc>
                          <a:spcPct val="100000"/>
                        </a:lnSpc>
                      </a:pPr>
                      <a:endParaRPr sz="800">
                        <a:latin typeface="Times New Roman"/>
                        <a:cs typeface="Times New Roman"/>
                      </a:endParaRPr>
                    </a:p>
                  </a:txBody>
                  <a:tcPr marL="0" marR="0" marT="0" marB="0">
                    <a:lnL w="12700">
                      <a:solidFill>
                        <a:srgbClr val="FFFFFF"/>
                      </a:solidFill>
                      <a:prstDash val="solid"/>
                    </a:lnL>
                    <a:lnR w="89844">
                      <a:solidFill>
                        <a:srgbClr val="4E91EF"/>
                      </a:solidFill>
                      <a:prstDash val="solid"/>
                    </a:lnR>
                    <a:lnT w="12700">
                      <a:solidFill>
                        <a:srgbClr val="FFFFFF"/>
                      </a:solidFill>
                      <a:prstDash val="solid"/>
                    </a:lnT>
                    <a:lnB w="12700">
                      <a:solidFill>
                        <a:srgbClr val="FFFFFF"/>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800">
                        <a:latin typeface="Times New Roman"/>
                        <a:cs typeface="Times New Roman"/>
                      </a:endParaRPr>
                    </a:p>
                  </a:txBody>
                  <a:tcPr marL="0" marR="0" marT="0" marB="0">
                    <a:lnL w="89844">
                      <a:solidFill>
                        <a:srgbClr val="4E91EF"/>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9"/>
                  </a:ext>
                </a:extLst>
              </a:tr>
              <a:tr h="787654">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vMerge="1">
                  <a:txBody>
                    <a:bodyPr/>
                    <a:lstStyle/>
                    <a:p>
                      <a:endParaRPr/>
                    </a:p>
                  </a:txBody>
                  <a:tcPr marL="0" marR="0" marT="577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8F5F1"/>
                    </a:solidFill>
                  </a:tcPr>
                </a:tc>
                <a:tc gridSpan="2">
                  <a:txBody>
                    <a:bodyPr/>
                    <a:lstStyle/>
                    <a:p>
                      <a:pPr>
                        <a:lnSpc>
                          <a:spcPct val="100000"/>
                        </a:lnSpc>
                      </a:pPr>
                      <a:endParaRPr sz="1000">
                        <a:latin typeface="Times New Roman"/>
                        <a:cs typeface="Times New Roman"/>
                      </a:endParaRPr>
                    </a:p>
                  </a:txBody>
                  <a:tcPr marL="0" marR="0" marT="0" marB="0">
                    <a:lnL w="12700">
                      <a:solidFill>
                        <a:srgbClr val="000000"/>
                      </a:solidFill>
                      <a:prstDash val="solid"/>
                    </a:lnL>
                    <a:lnB w="12700">
                      <a:solidFill>
                        <a:srgbClr val="FFFFFF"/>
                      </a:solidFill>
                      <a:prstDash val="solid"/>
                    </a:lnB>
                  </a:tcPr>
                </a:tc>
                <a:tc hMerge="1">
                  <a:txBody>
                    <a:bodyPr/>
                    <a:lstStyle/>
                    <a:p>
                      <a:endParaRPr/>
                    </a:p>
                  </a:txBody>
                  <a:tcPr marL="0" marR="0" marT="0" marB="0"/>
                </a:tc>
                <a:tc gridSpan="8">
                  <a:txBody>
                    <a:bodyPr/>
                    <a:lstStyle/>
                    <a:p>
                      <a:pPr>
                        <a:lnSpc>
                          <a:spcPct val="100000"/>
                        </a:lnSpc>
                      </a:pPr>
                      <a:endParaRPr sz="1000">
                        <a:latin typeface="Times New Roman"/>
                        <a:cs typeface="Times New Roman"/>
                      </a:endParaRPr>
                    </a:p>
                  </a:txBody>
                  <a:tcPr marL="0" marR="0" marT="0" marB="0">
                    <a:lnR w="89844">
                      <a:solidFill>
                        <a:srgbClr val="4E91EF"/>
                      </a:solidFill>
                      <a:prstDash val="solid"/>
                    </a:lnR>
                    <a:lnT w="12700">
                      <a:solidFill>
                        <a:srgbClr val="FFFFFF"/>
                      </a:solidFill>
                      <a:prstDash val="soli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rowSpan="2">
                  <a:txBody>
                    <a:bodyPr/>
                    <a:lstStyle/>
                    <a:p>
                      <a:pPr>
                        <a:lnSpc>
                          <a:spcPct val="100000"/>
                        </a:lnSpc>
                      </a:pPr>
                      <a:endParaRPr sz="1000">
                        <a:latin typeface="Times New Roman"/>
                        <a:cs typeface="Times New Roman"/>
                      </a:endParaRPr>
                    </a:p>
                  </a:txBody>
                  <a:tcPr marL="0" marR="0" marT="0" marB="0">
                    <a:lnL w="89844">
                      <a:solidFill>
                        <a:srgbClr val="4E91EF"/>
                      </a:solidFill>
                      <a:prstDash val="solid"/>
                    </a:lnL>
                    <a:lnT w="12700">
                      <a:solidFill>
                        <a:srgbClr val="FFFFFF"/>
                      </a:solidFill>
                      <a:prstDash val="solid"/>
                    </a:lnT>
                  </a:tcPr>
                </a:tc>
                <a:extLst>
                  <a:ext uri="{0D108BD9-81ED-4DB2-BD59-A6C34878D82A}">
                    <a16:rowId xmlns:a16="http://schemas.microsoft.com/office/drawing/2014/main" val="10010"/>
                  </a:ext>
                </a:extLst>
              </a:tr>
              <a:tr h="874521">
                <a:tc gridSpan="18">
                  <a:txBody>
                    <a:bodyPr/>
                    <a:lstStyle/>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marL="680720">
                        <a:lnSpc>
                          <a:spcPct val="100000"/>
                        </a:lnSpc>
                        <a:spcBef>
                          <a:spcPts val="935"/>
                        </a:spcBef>
                      </a:pPr>
                      <a:r>
                        <a:rPr sz="1000" dirty="0">
                          <a:latin typeface="Tahoma"/>
                          <a:cs typeface="Tahoma"/>
                        </a:rPr>
                        <a:t>(40</a:t>
                      </a:r>
                      <a:r>
                        <a:rPr sz="1000" spc="-5" dirty="0">
                          <a:latin typeface="Tahoma"/>
                          <a:cs typeface="Tahoma"/>
                        </a:rPr>
                        <a:t>96</a:t>
                      </a:r>
                      <a:r>
                        <a:rPr sz="1000" dirty="0">
                          <a:latin typeface="Tahoma"/>
                          <a:cs typeface="Tahoma"/>
                        </a:rPr>
                        <a:t>,</a:t>
                      </a:r>
                      <a:r>
                        <a:rPr sz="1000" spc="-75" dirty="0">
                          <a:latin typeface="Tahoma"/>
                          <a:cs typeface="Tahoma"/>
                        </a:rPr>
                        <a:t> </a:t>
                      </a:r>
                      <a:r>
                        <a:rPr sz="1000" spc="-5" dirty="0">
                          <a:latin typeface="Tahoma"/>
                          <a:cs typeface="Tahoma"/>
                        </a:rPr>
                        <a:t>8)</a:t>
                      </a:r>
                      <a:endParaRPr sz="1000" dirty="0">
                        <a:latin typeface="Tahoma"/>
                        <a:cs typeface="Tahoma"/>
                      </a:endParaRPr>
                    </a:p>
                  </a:txBody>
                  <a:tcPr marL="0" marR="0" marT="0" marB="0">
                    <a:lnR w="89844">
                      <a:solidFill>
                        <a:srgbClr val="4E91EF"/>
                      </a:solidFill>
                      <a:prstDash val="solid"/>
                    </a:lnR>
                    <a:lnT w="12700" cap="flat" cmpd="sng" algn="ctr">
                      <a:solidFill>
                        <a:srgbClr val="000000"/>
                      </a:solidFill>
                      <a:prstDash val="solid"/>
                      <a:round/>
                      <a:headEnd type="none" w="med" len="med"/>
                      <a:tailEnd type="none" w="med" len="me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vMerge="1">
                  <a:txBody>
                    <a:bodyPr/>
                    <a:lstStyle/>
                    <a:p>
                      <a:endParaRPr/>
                    </a:p>
                  </a:txBody>
                  <a:tcPr marL="0" marR="0" marT="0" marB="0">
                    <a:lnL w="89844">
                      <a:solidFill>
                        <a:srgbClr val="4E91EF"/>
                      </a:solidFill>
                      <a:prstDash val="solid"/>
                    </a:lnL>
                    <a:lnT w="12700">
                      <a:solidFill>
                        <a:srgbClr val="FFFFFF"/>
                      </a:solidFill>
                      <a:prstDash val="solid"/>
                    </a:lnT>
                  </a:tcPr>
                </a:tc>
                <a:extLst>
                  <a:ext uri="{0D108BD9-81ED-4DB2-BD59-A6C34878D82A}">
                    <a16:rowId xmlns:a16="http://schemas.microsoft.com/office/drawing/2014/main" val="10011"/>
                  </a:ext>
                </a:extLst>
              </a:tr>
            </a:tbl>
          </a:graphicData>
        </a:graphic>
      </p:graphicFrame>
      <p:grpSp>
        <p:nvGrpSpPr>
          <p:cNvPr id="13" name="object 13"/>
          <p:cNvGrpSpPr/>
          <p:nvPr/>
        </p:nvGrpSpPr>
        <p:grpSpPr>
          <a:xfrm>
            <a:off x="8187300" y="2963737"/>
            <a:ext cx="1109980" cy="866140"/>
            <a:chOff x="8048370" y="2981960"/>
            <a:chExt cx="1109980" cy="866140"/>
          </a:xfrm>
        </p:grpSpPr>
        <p:sp>
          <p:nvSpPr>
            <p:cNvPr id="14" name="object 14"/>
            <p:cNvSpPr/>
            <p:nvPr/>
          </p:nvSpPr>
          <p:spPr>
            <a:xfrm>
              <a:off x="8054721" y="2988309"/>
              <a:ext cx="1097280" cy="853440"/>
            </a:xfrm>
            <a:custGeom>
              <a:avLst/>
              <a:gdLst/>
              <a:ahLst/>
              <a:cxnLst/>
              <a:rect l="l" t="t" r="r" b="b"/>
              <a:pathLst>
                <a:path w="1097279" h="853439">
                  <a:moveTo>
                    <a:pt x="1097241" y="0"/>
                  </a:moveTo>
                  <a:lnTo>
                    <a:pt x="0" y="0"/>
                  </a:lnTo>
                  <a:lnTo>
                    <a:pt x="0" y="213360"/>
                  </a:lnTo>
                  <a:lnTo>
                    <a:pt x="0" y="426720"/>
                  </a:lnTo>
                  <a:lnTo>
                    <a:pt x="0" y="640080"/>
                  </a:lnTo>
                  <a:lnTo>
                    <a:pt x="0" y="853440"/>
                  </a:lnTo>
                  <a:lnTo>
                    <a:pt x="1097241" y="853440"/>
                  </a:lnTo>
                  <a:lnTo>
                    <a:pt x="1097241" y="640080"/>
                  </a:lnTo>
                  <a:lnTo>
                    <a:pt x="1097241" y="426720"/>
                  </a:lnTo>
                  <a:lnTo>
                    <a:pt x="1097241" y="213360"/>
                  </a:lnTo>
                  <a:lnTo>
                    <a:pt x="1097241" y="0"/>
                  </a:lnTo>
                  <a:close/>
                </a:path>
              </a:pathLst>
            </a:custGeom>
            <a:solidFill>
              <a:srgbClr val="550DBA"/>
            </a:solidFill>
          </p:spPr>
          <p:txBody>
            <a:bodyPr wrap="square" lIns="0" tIns="0" rIns="0" bIns="0" rtlCol="0"/>
            <a:lstStyle/>
            <a:p>
              <a:endParaRPr/>
            </a:p>
          </p:txBody>
        </p:sp>
        <p:sp>
          <p:nvSpPr>
            <p:cNvPr id="15" name="object 15"/>
            <p:cNvSpPr/>
            <p:nvPr/>
          </p:nvSpPr>
          <p:spPr>
            <a:xfrm>
              <a:off x="8054720" y="2988310"/>
              <a:ext cx="1097280" cy="853440"/>
            </a:xfrm>
            <a:custGeom>
              <a:avLst/>
              <a:gdLst/>
              <a:ahLst/>
              <a:cxnLst/>
              <a:rect l="l" t="t" r="r" b="b"/>
              <a:pathLst>
                <a:path w="1097279" h="853439">
                  <a:moveTo>
                    <a:pt x="0" y="0"/>
                  </a:moveTo>
                  <a:lnTo>
                    <a:pt x="1097279" y="213360"/>
                  </a:lnTo>
                </a:path>
                <a:path w="1097279" h="853439">
                  <a:moveTo>
                    <a:pt x="0" y="213360"/>
                  </a:moveTo>
                  <a:lnTo>
                    <a:pt x="1097279" y="0"/>
                  </a:lnTo>
                </a:path>
                <a:path w="1097279" h="853439">
                  <a:moveTo>
                    <a:pt x="0" y="213360"/>
                  </a:moveTo>
                  <a:lnTo>
                    <a:pt x="1097279" y="426719"/>
                  </a:lnTo>
                </a:path>
                <a:path w="1097279" h="853439">
                  <a:moveTo>
                    <a:pt x="0" y="426719"/>
                  </a:moveTo>
                  <a:lnTo>
                    <a:pt x="1097279" y="213360"/>
                  </a:lnTo>
                </a:path>
                <a:path w="1097279" h="853439">
                  <a:moveTo>
                    <a:pt x="0" y="426719"/>
                  </a:moveTo>
                  <a:lnTo>
                    <a:pt x="1097279" y="640079"/>
                  </a:lnTo>
                </a:path>
                <a:path w="1097279" h="853439">
                  <a:moveTo>
                    <a:pt x="0" y="640079"/>
                  </a:moveTo>
                  <a:lnTo>
                    <a:pt x="1097279" y="426719"/>
                  </a:lnTo>
                </a:path>
                <a:path w="1097279" h="853439">
                  <a:moveTo>
                    <a:pt x="0" y="640079"/>
                  </a:moveTo>
                  <a:lnTo>
                    <a:pt x="1097279" y="853439"/>
                  </a:lnTo>
                </a:path>
                <a:path w="1097279" h="853439">
                  <a:moveTo>
                    <a:pt x="0" y="853439"/>
                  </a:moveTo>
                  <a:lnTo>
                    <a:pt x="1097279" y="640079"/>
                  </a:lnTo>
                </a:path>
              </a:pathLst>
            </a:custGeom>
            <a:ln w="12700">
              <a:solidFill>
                <a:srgbClr val="000000"/>
              </a:solidFill>
            </a:ln>
          </p:spPr>
          <p:txBody>
            <a:bodyPr wrap="square" lIns="0" tIns="0" rIns="0" bIns="0" rtlCol="0"/>
            <a:lstStyle/>
            <a:p>
              <a:endParaRPr/>
            </a:p>
          </p:txBody>
        </p:sp>
      </p:grpSp>
      <p:graphicFrame>
        <p:nvGraphicFramePr>
          <p:cNvPr id="16" name="object 16"/>
          <p:cNvGraphicFramePr>
            <a:graphicFrameLocks noGrp="1"/>
          </p:cNvGraphicFramePr>
          <p:nvPr>
            <p:extLst>
              <p:ext uri="{D42A27DB-BD31-4B8C-83A1-F6EECF244321}">
                <p14:modId xmlns:p14="http://schemas.microsoft.com/office/powerpoint/2010/main" val="176354736"/>
              </p:ext>
            </p:extLst>
          </p:nvPr>
        </p:nvGraphicFramePr>
        <p:xfrm>
          <a:off x="8187300" y="2963737"/>
          <a:ext cx="1097280" cy="2773664"/>
        </p:xfrm>
        <a:graphic>
          <a:graphicData uri="http://schemas.openxmlformats.org/drawingml/2006/table">
            <a:tbl>
              <a:tblPr firstRow="1" bandRow="1">
                <a:tableStyleId>{2D5ABB26-0587-4C30-8999-92F81FD0307C}</a:tableStyleId>
              </a:tblPr>
              <a:tblGrid>
                <a:gridCol w="1097280">
                  <a:extLst>
                    <a:ext uri="{9D8B030D-6E8A-4147-A177-3AD203B41FA5}">
                      <a16:colId xmlns:a16="http://schemas.microsoft.com/office/drawing/2014/main" val="20000"/>
                    </a:ext>
                  </a:extLst>
                </a:gridCol>
              </a:tblGrid>
              <a:tr h="213360">
                <a:tc>
                  <a:txBody>
                    <a:bodyPr/>
                    <a:lstStyle/>
                    <a:p>
                      <a:pPr marL="92075">
                        <a:lnSpc>
                          <a:spcPct val="100000"/>
                        </a:lnSpc>
                        <a:spcBef>
                          <a:spcPts val="330"/>
                        </a:spcBef>
                      </a:pPr>
                      <a:r>
                        <a:rPr sz="800" dirty="0">
                          <a:solidFill>
                            <a:srgbClr val="FFFFFF"/>
                          </a:solidFill>
                          <a:latin typeface="Tahoma"/>
                          <a:cs typeface="Tahoma"/>
                        </a:rPr>
                        <a:t>TO</a:t>
                      </a:r>
                      <a:r>
                        <a:rPr sz="800" spc="-5" dirty="0">
                          <a:solidFill>
                            <a:srgbClr val="FFFFFF"/>
                          </a:solidFill>
                          <a:latin typeface="Tahoma"/>
                          <a:cs typeface="Tahoma"/>
                        </a:rPr>
                        <a:t>K</a:t>
                      </a:r>
                      <a:r>
                        <a:rPr sz="800" dirty="0">
                          <a:solidFill>
                            <a:srgbClr val="FFFFFF"/>
                          </a:solidFill>
                          <a:latin typeface="Tahoma"/>
                          <a:cs typeface="Tahoma"/>
                        </a:rPr>
                        <a:t>EN</a:t>
                      </a:r>
                      <a:r>
                        <a:rPr sz="800" spc="-75" dirty="0">
                          <a:solidFill>
                            <a:srgbClr val="FFFFFF"/>
                          </a:solidFill>
                          <a:latin typeface="Tahoma"/>
                          <a:cs typeface="Tahoma"/>
                        </a:rPr>
                        <a:t> </a:t>
                      </a:r>
                      <a:r>
                        <a:rPr sz="800" dirty="0">
                          <a:solidFill>
                            <a:srgbClr val="FFFFFF"/>
                          </a:solidFill>
                          <a:latin typeface="Tahoma"/>
                          <a:cs typeface="Tahoma"/>
                        </a:rPr>
                        <a:t>1</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13359">
                <a:tc>
                  <a:txBody>
                    <a:bodyPr/>
                    <a:lstStyle/>
                    <a:p>
                      <a:pPr marL="92075">
                        <a:lnSpc>
                          <a:spcPct val="100000"/>
                        </a:lnSpc>
                        <a:spcBef>
                          <a:spcPts val="330"/>
                        </a:spcBef>
                      </a:pPr>
                      <a:r>
                        <a:rPr sz="800" dirty="0">
                          <a:solidFill>
                            <a:srgbClr val="FFFFFF"/>
                          </a:solidFill>
                          <a:latin typeface="Tahoma"/>
                          <a:cs typeface="Tahoma"/>
                        </a:rPr>
                        <a:t>TO</a:t>
                      </a:r>
                      <a:r>
                        <a:rPr sz="800" spc="-5" dirty="0">
                          <a:solidFill>
                            <a:srgbClr val="FFFFFF"/>
                          </a:solidFill>
                          <a:latin typeface="Tahoma"/>
                          <a:cs typeface="Tahoma"/>
                        </a:rPr>
                        <a:t>K</a:t>
                      </a:r>
                      <a:r>
                        <a:rPr sz="800" dirty="0">
                          <a:solidFill>
                            <a:srgbClr val="FFFFFF"/>
                          </a:solidFill>
                          <a:latin typeface="Tahoma"/>
                          <a:cs typeface="Tahoma"/>
                        </a:rPr>
                        <a:t>EN</a:t>
                      </a:r>
                      <a:r>
                        <a:rPr sz="800" spc="-75" dirty="0">
                          <a:solidFill>
                            <a:srgbClr val="FFFFFF"/>
                          </a:solidFill>
                          <a:latin typeface="Tahoma"/>
                          <a:cs typeface="Tahoma"/>
                        </a:rPr>
                        <a:t> </a:t>
                      </a:r>
                      <a:r>
                        <a:rPr sz="800" dirty="0">
                          <a:solidFill>
                            <a:srgbClr val="FFFFFF"/>
                          </a:solidFill>
                          <a:latin typeface="Tahoma"/>
                          <a:cs typeface="Tahoma"/>
                        </a:rPr>
                        <a:t>2</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213360">
                <a:tc>
                  <a:txBody>
                    <a:bodyPr/>
                    <a:lstStyle/>
                    <a:p>
                      <a:pPr marL="92075">
                        <a:lnSpc>
                          <a:spcPct val="100000"/>
                        </a:lnSpc>
                        <a:spcBef>
                          <a:spcPts val="330"/>
                        </a:spcBef>
                      </a:pPr>
                      <a:r>
                        <a:rPr sz="800" spc="-5" dirty="0">
                          <a:solidFill>
                            <a:srgbClr val="FFFFFF"/>
                          </a:solidFill>
                          <a:latin typeface="Tahoma"/>
                          <a:cs typeface="Tahoma"/>
                        </a:rPr>
                        <a:t>TOK</a:t>
                      </a:r>
                      <a:r>
                        <a:rPr sz="800" dirty="0">
                          <a:solidFill>
                            <a:srgbClr val="FFFFFF"/>
                          </a:solidFill>
                          <a:latin typeface="Tahoma"/>
                          <a:cs typeface="Tahoma"/>
                        </a:rPr>
                        <a:t>EN</a:t>
                      </a:r>
                      <a:r>
                        <a:rPr sz="800" spc="-75" dirty="0">
                          <a:solidFill>
                            <a:srgbClr val="FFFFFF"/>
                          </a:solidFill>
                          <a:latin typeface="Tahoma"/>
                          <a:cs typeface="Tahoma"/>
                        </a:rPr>
                        <a:t> </a:t>
                      </a:r>
                      <a:r>
                        <a:rPr sz="800" dirty="0">
                          <a:solidFill>
                            <a:srgbClr val="FFFFFF"/>
                          </a:solidFill>
                          <a:latin typeface="Tahoma"/>
                          <a:cs typeface="Tahoma"/>
                        </a:rPr>
                        <a:t>3</a:t>
                      </a:r>
                      <a:endParaRPr sz="8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13360">
                <a:tc>
                  <a:txBody>
                    <a:bodyPr/>
                    <a:lstStyle/>
                    <a:p>
                      <a:pPr marL="92075">
                        <a:lnSpc>
                          <a:spcPct val="100000"/>
                        </a:lnSpc>
                        <a:spcBef>
                          <a:spcPts val="335"/>
                        </a:spcBef>
                      </a:pPr>
                      <a:r>
                        <a:rPr sz="800" dirty="0">
                          <a:solidFill>
                            <a:srgbClr val="FFFFFF"/>
                          </a:solidFill>
                          <a:latin typeface="Tahoma"/>
                          <a:cs typeface="Tahoma"/>
                        </a:rPr>
                        <a:t>TO</a:t>
                      </a:r>
                      <a:r>
                        <a:rPr sz="800" spc="-5" dirty="0">
                          <a:solidFill>
                            <a:srgbClr val="FFFFFF"/>
                          </a:solidFill>
                          <a:latin typeface="Tahoma"/>
                          <a:cs typeface="Tahoma"/>
                        </a:rPr>
                        <a:t>K</a:t>
                      </a:r>
                      <a:r>
                        <a:rPr sz="800" dirty="0">
                          <a:solidFill>
                            <a:srgbClr val="FFFFFF"/>
                          </a:solidFill>
                          <a:latin typeface="Tahoma"/>
                          <a:cs typeface="Tahoma"/>
                        </a:rPr>
                        <a:t>EN</a:t>
                      </a:r>
                      <a:r>
                        <a:rPr sz="800" spc="-75" dirty="0">
                          <a:solidFill>
                            <a:srgbClr val="FFFFFF"/>
                          </a:solidFill>
                          <a:latin typeface="Tahoma"/>
                          <a:cs typeface="Tahoma"/>
                        </a:rPr>
                        <a:t> </a:t>
                      </a:r>
                      <a:r>
                        <a:rPr sz="800" dirty="0">
                          <a:solidFill>
                            <a:srgbClr val="FFFFFF"/>
                          </a:solidFill>
                          <a:latin typeface="Tahoma"/>
                          <a:cs typeface="Tahoma"/>
                        </a:rPr>
                        <a:t>4</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213360">
                <a:tc>
                  <a:txBody>
                    <a:bodyPr/>
                    <a:lstStyle/>
                    <a:p>
                      <a:pPr marL="92075">
                        <a:lnSpc>
                          <a:spcPct val="100000"/>
                        </a:lnSpc>
                        <a:spcBef>
                          <a:spcPts val="335"/>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5</a:t>
                      </a:r>
                      <a:endParaRPr sz="800">
                        <a:latin typeface="Tahoma"/>
                        <a:cs typeface="Tahoma"/>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4"/>
                  </a:ext>
                </a:extLst>
              </a:tr>
              <a:tr h="213359">
                <a:tc>
                  <a:txBody>
                    <a:bodyPr/>
                    <a:lstStyle/>
                    <a:p>
                      <a:pPr marL="92075">
                        <a:lnSpc>
                          <a:spcPct val="100000"/>
                        </a:lnSpc>
                        <a:spcBef>
                          <a:spcPts val="334"/>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6</a:t>
                      </a:r>
                      <a:endParaRPr sz="800">
                        <a:latin typeface="Tahoma"/>
                        <a:cs typeface="Tahoma"/>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5"/>
                  </a:ext>
                </a:extLst>
              </a:tr>
              <a:tr h="213360">
                <a:tc>
                  <a:txBody>
                    <a:bodyPr/>
                    <a:lstStyle/>
                    <a:p>
                      <a:pPr marL="92075">
                        <a:lnSpc>
                          <a:spcPct val="100000"/>
                        </a:lnSpc>
                        <a:spcBef>
                          <a:spcPts val="334"/>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7</a:t>
                      </a:r>
                      <a:endParaRPr sz="800">
                        <a:latin typeface="Tahoma"/>
                        <a:cs typeface="Tahoma"/>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6"/>
                  </a:ext>
                </a:extLst>
              </a:tr>
              <a:tr h="213359">
                <a:tc>
                  <a:txBody>
                    <a:bodyPr/>
                    <a:lstStyle/>
                    <a:p>
                      <a:pPr marL="92075">
                        <a:lnSpc>
                          <a:spcPct val="100000"/>
                        </a:lnSpc>
                        <a:spcBef>
                          <a:spcPts val="334"/>
                        </a:spcBef>
                      </a:pPr>
                      <a:r>
                        <a:rPr sz="800" dirty="0">
                          <a:latin typeface="Tahoma"/>
                          <a:cs typeface="Tahoma"/>
                        </a:rPr>
                        <a:t>TO</a:t>
                      </a:r>
                      <a:r>
                        <a:rPr sz="800" spc="-5" dirty="0">
                          <a:latin typeface="Tahoma"/>
                          <a:cs typeface="Tahoma"/>
                        </a:rPr>
                        <a:t>K</a:t>
                      </a:r>
                      <a:r>
                        <a:rPr sz="800" dirty="0">
                          <a:latin typeface="Tahoma"/>
                          <a:cs typeface="Tahoma"/>
                        </a:rPr>
                        <a:t>EN</a:t>
                      </a:r>
                      <a:r>
                        <a:rPr sz="800" spc="-75" dirty="0">
                          <a:latin typeface="Tahoma"/>
                          <a:cs typeface="Tahoma"/>
                        </a:rPr>
                        <a:t> </a:t>
                      </a:r>
                      <a:r>
                        <a:rPr sz="800" dirty="0">
                          <a:latin typeface="Tahoma"/>
                          <a:cs typeface="Tahoma"/>
                        </a:rPr>
                        <a:t>8</a:t>
                      </a:r>
                      <a:endParaRPr sz="800">
                        <a:latin typeface="Tahoma"/>
                        <a:cs typeface="Tahoma"/>
                      </a:endParaRPr>
                    </a:p>
                  </a:txBody>
                  <a:tcPr marL="0" marR="0" marT="425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DBDF"/>
                    </a:solidFill>
                  </a:tcPr>
                </a:tc>
                <a:extLst>
                  <a:ext uri="{0D108BD9-81ED-4DB2-BD59-A6C34878D82A}">
                    <a16:rowId xmlns:a16="http://schemas.microsoft.com/office/drawing/2014/main" val="10007"/>
                  </a:ext>
                </a:extLst>
              </a:tr>
              <a:tr h="1066787">
                <a:tc>
                  <a:txBody>
                    <a:bodyPr/>
                    <a:lstStyle/>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marL="292735">
                        <a:lnSpc>
                          <a:spcPct val="100000"/>
                        </a:lnSpc>
                        <a:spcBef>
                          <a:spcPts val="1035"/>
                        </a:spcBef>
                      </a:pPr>
                      <a:r>
                        <a:rPr sz="1000" dirty="0">
                          <a:latin typeface="Tahoma"/>
                          <a:cs typeface="Tahoma"/>
                        </a:rPr>
                        <a:t>(8,</a:t>
                      </a:r>
                      <a:r>
                        <a:rPr sz="1000" spc="-60" dirty="0">
                          <a:latin typeface="Tahoma"/>
                          <a:cs typeface="Tahoma"/>
                        </a:rPr>
                        <a:t> </a:t>
                      </a:r>
                      <a:r>
                        <a:rPr sz="1000" spc="-5" dirty="0">
                          <a:latin typeface="Tahoma"/>
                          <a:cs typeface="Tahoma"/>
                        </a:rPr>
                        <a:t>4096</a:t>
                      </a:r>
                      <a:r>
                        <a:rPr sz="1000" dirty="0">
                          <a:latin typeface="Tahoma"/>
                          <a:cs typeface="Tahoma"/>
                        </a:rPr>
                        <a:t>)</a:t>
                      </a:r>
                    </a:p>
                  </a:txBody>
                  <a:tcPr marL="0" marR="0" marT="0" marB="0">
                    <a:lnL w="12700">
                      <a:solidFill>
                        <a:srgbClr val="FFFFFF"/>
                      </a:solidFill>
                      <a:prstDash val="solid"/>
                    </a:lnL>
                    <a:lnR w="12700">
                      <a:solidFill>
                        <a:srgbClr val="FFFFFF"/>
                      </a:solidFill>
                      <a:prstDash val="solid"/>
                    </a:lnR>
                    <a:lnT w="12700">
                      <a:solidFill>
                        <a:srgbClr val="000000"/>
                      </a:solidFill>
                      <a:prstDash val="solid"/>
                    </a:lnT>
                    <a:lnB w="12700">
                      <a:solidFill>
                        <a:srgbClr val="FFFFFF"/>
                      </a:solidFill>
                      <a:prstDash val="solid"/>
                    </a:lnB>
                  </a:tcPr>
                </a:tc>
                <a:extLst>
                  <a:ext uri="{0D108BD9-81ED-4DB2-BD59-A6C34878D82A}">
                    <a16:rowId xmlns:a16="http://schemas.microsoft.com/office/drawing/2014/main" val="10008"/>
                  </a:ext>
                </a:extLst>
              </a:tr>
            </a:tbl>
          </a:graphicData>
        </a:graphic>
      </p:graphicFrame>
      <p:grpSp>
        <p:nvGrpSpPr>
          <p:cNvPr id="17" name="object 17"/>
          <p:cNvGrpSpPr/>
          <p:nvPr/>
        </p:nvGrpSpPr>
        <p:grpSpPr>
          <a:xfrm>
            <a:off x="10226539" y="2963737"/>
            <a:ext cx="1109980" cy="1932939"/>
            <a:chOff x="10087609" y="2981960"/>
            <a:chExt cx="1109980" cy="1932939"/>
          </a:xfrm>
        </p:grpSpPr>
        <p:sp>
          <p:nvSpPr>
            <p:cNvPr id="18" name="object 18"/>
            <p:cNvSpPr/>
            <p:nvPr/>
          </p:nvSpPr>
          <p:spPr>
            <a:xfrm>
              <a:off x="10093959" y="2988310"/>
              <a:ext cx="1097280" cy="213360"/>
            </a:xfrm>
            <a:custGeom>
              <a:avLst/>
              <a:gdLst/>
              <a:ahLst/>
              <a:cxnLst/>
              <a:rect l="l" t="t" r="r" b="b"/>
              <a:pathLst>
                <a:path w="1097279" h="213360">
                  <a:moveTo>
                    <a:pt x="1097241" y="0"/>
                  </a:moveTo>
                  <a:lnTo>
                    <a:pt x="0" y="0"/>
                  </a:lnTo>
                  <a:lnTo>
                    <a:pt x="0" y="213360"/>
                  </a:lnTo>
                  <a:lnTo>
                    <a:pt x="1097241" y="213360"/>
                  </a:lnTo>
                  <a:lnTo>
                    <a:pt x="1097241" y="0"/>
                  </a:lnTo>
                  <a:close/>
                </a:path>
              </a:pathLst>
            </a:custGeom>
            <a:solidFill>
              <a:srgbClr val="FFAD78"/>
            </a:solidFill>
          </p:spPr>
          <p:txBody>
            <a:bodyPr wrap="square" lIns="0" tIns="0" rIns="0" bIns="0" rtlCol="0"/>
            <a:lstStyle/>
            <a:p>
              <a:endParaRPr/>
            </a:p>
          </p:txBody>
        </p:sp>
        <p:sp>
          <p:nvSpPr>
            <p:cNvPr id="19" name="object 19"/>
            <p:cNvSpPr/>
            <p:nvPr/>
          </p:nvSpPr>
          <p:spPr>
            <a:xfrm>
              <a:off x="10087609" y="3195320"/>
              <a:ext cx="1109980" cy="12700"/>
            </a:xfrm>
            <a:custGeom>
              <a:avLst/>
              <a:gdLst/>
              <a:ahLst/>
              <a:cxnLst/>
              <a:rect l="l" t="t" r="r" b="b"/>
              <a:pathLst>
                <a:path w="1109979" h="12700">
                  <a:moveTo>
                    <a:pt x="0" y="12700"/>
                  </a:moveTo>
                  <a:lnTo>
                    <a:pt x="1109980" y="12700"/>
                  </a:lnTo>
                  <a:lnTo>
                    <a:pt x="1109980" y="0"/>
                  </a:lnTo>
                  <a:lnTo>
                    <a:pt x="0" y="0"/>
                  </a:lnTo>
                  <a:lnTo>
                    <a:pt x="0" y="12700"/>
                  </a:lnTo>
                  <a:close/>
                </a:path>
              </a:pathLst>
            </a:custGeom>
            <a:solidFill>
              <a:srgbClr val="000000"/>
            </a:solidFill>
          </p:spPr>
          <p:txBody>
            <a:bodyPr wrap="square" lIns="0" tIns="0" rIns="0" bIns="0" rtlCol="0"/>
            <a:lstStyle/>
            <a:p>
              <a:endParaRPr/>
            </a:p>
          </p:txBody>
        </p:sp>
        <p:sp>
          <p:nvSpPr>
            <p:cNvPr id="20" name="object 20"/>
            <p:cNvSpPr/>
            <p:nvPr/>
          </p:nvSpPr>
          <p:spPr>
            <a:xfrm>
              <a:off x="10093959"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21" name="object 21"/>
            <p:cNvSpPr/>
            <p:nvPr/>
          </p:nvSpPr>
          <p:spPr>
            <a:xfrm>
              <a:off x="10093959" y="3201670"/>
              <a:ext cx="0" cy="1713230"/>
            </a:xfrm>
            <a:custGeom>
              <a:avLst/>
              <a:gdLst/>
              <a:ahLst/>
              <a:cxnLst/>
              <a:rect l="l" t="t" r="r" b="b"/>
              <a:pathLst>
                <a:path h="1713229">
                  <a:moveTo>
                    <a:pt x="0" y="0"/>
                  </a:moveTo>
                  <a:lnTo>
                    <a:pt x="0" y="1713229"/>
                  </a:lnTo>
                </a:path>
              </a:pathLst>
            </a:custGeom>
            <a:ln w="12700">
              <a:solidFill>
                <a:srgbClr val="FFFFFF"/>
              </a:solidFill>
            </a:ln>
          </p:spPr>
          <p:txBody>
            <a:bodyPr wrap="square" lIns="0" tIns="0" rIns="0" bIns="0" rtlCol="0"/>
            <a:lstStyle/>
            <a:p>
              <a:endParaRPr/>
            </a:p>
          </p:txBody>
        </p:sp>
        <p:sp>
          <p:nvSpPr>
            <p:cNvPr id="22" name="object 22"/>
            <p:cNvSpPr/>
            <p:nvPr/>
          </p:nvSpPr>
          <p:spPr>
            <a:xfrm>
              <a:off x="11191239" y="2981960"/>
              <a:ext cx="0" cy="219710"/>
            </a:xfrm>
            <a:custGeom>
              <a:avLst/>
              <a:gdLst/>
              <a:ahLst/>
              <a:cxnLst/>
              <a:rect l="l" t="t" r="r" b="b"/>
              <a:pathLst>
                <a:path h="219710">
                  <a:moveTo>
                    <a:pt x="0" y="0"/>
                  </a:moveTo>
                  <a:lnTo>
                    <a:pt x="0" y="219710"/>
                  </a:lnTo>
                </a:path>
              </a:pathLst>
            </a:custGeom>
            <a:ln w="12700">
              <a:solidFill>
                <a:srgbClr val="000000"/>
              </a:solidFill>
            </a:ln>
          </p:spPr>
          <p:txBody>
            <a:bodyPr wrap="square" lIns="0" tIns="0" rIns="0" bIns="0" rtlCol="0"/>
            <a:lstStyle/>
            <a:p>
              <a:endParaRPr/>
            </a:p>
          </p:txBody>
        </p:sp>
        <p:sp>
          <p:nvSpPr>
            <p:cNvPr id="23" name="object 23"/>
            <p:cNvSpPr/>
            <p:nvPr/>
          </p:nvSpPr>
          <p:spPr>
            <a:xfrm>
              <a:off x="10087609" y="3201670"/>
              <a:ext cx="1109980" cy="1713230"/>
            </a:xfrm>
            <a:custGeom>
              <a:avLst/>
              <a:gdLst/>
              <a:ahLst/>
              <a:cxnLst/>
              <a:rect l="l" t="t" r="r" b="b"/>
              <a:pathLst>
                <a:path w="1109979" h="1713229">
                  <a:moveTo>
                    <a:pt x="1103630" y="0"/>
                  </a:moveTo>
                  <a:lnTo>
                    <a:pt x="1103630" y="1713229"/>
                  </a:lnTo>
                </a:path>
                <a:path w="1109979" h="1713229">
                  <a:moveTo>
                    <a:pt x="0" y="1706879"/>
                  </a:moveTo>
                  <a:lnTo>
                    <a:pt x="1109980" y="1706879"/>
                  </a:lnTo>
                </a:path>
              </a:pathLst>
            </a:custGeom>
            <a:ln w="12700">
              <a:solidFill>
                <a:srgbClr val="FFFFFF"/>
              </a:solidFill>
            </a:ln>
          </p:spPr>
          <p:txBody>
            <a:bodyPr wrap="square" lIns="0" tIns="0" rIns="0" bIns="0" rtlCol="0"/>
            <a:lstStyle/>
            <a:p>
              <a:endParaRPr/>
            </a:p>
          </p:txBody>
        </p:sp>
      </p:grpSp>
      <p:sp>
        <p:nvSpPr>
          <p:cNvPr id="24" name="object 24"/>
          <p:cNvSpPr txBox="1"/>
          <p:nvPr/>
        </p:nvSpPr>
        <p:spPr>
          <a:xfrm>
            <a:off x="10232889" y="2970087"/>
            <a:ext cx="1097280" cy="165430"/>
          </a:xfrm>
          <a:prstGeom prst="rect">
            <a:avLst/>
          </a:prstGeom>
          <a:solidFill>
            <a:srgbClr val="FFAD78"/>
          </a:solidFill>
          <a:ln w="12700">
            <a:solidFill>
              <a:srgbClr val="000000"/>
            </a:solidFill>
          </a:ln>
        </p:spPr>
        <p:txBody>
          <a:bodyPr vert="horz" wrap="square" lIns="0" tIns="41910" rIns="0" bIns="0" rtlCol="0">
            <a:spAutoFit/>
          </a:bodyPr>
          <a:lstStyle/>
          <a:p>
            <a:pPr marL="92710">
              <a:lnSpc>
                <a:spcPct val="100000"/>
              </a:lnSpc>
              <a:spcBef>
                <a:spcPts val="330"/>
              </a:spcBef>
            </a:pPr>
            <a:r>
              <a:rPr sz="800" spc="75" dirty="0">
                <a:cs typeface="Tahoma"/>
              </a:rPr>
              <a:t>OU</a:t>
            </a:r>
            <a:r>
              <a:rPr sz="800" spc="15" dirty="0">
                <a:cs typeface="Tahoma"/>
              </a:rPr>
              <a:t>TP</a:t>
            </a:r>
            <a:r>
              <a:rPr sz="800" spc="10" dirty="0">
                <a:cs typeface="Tahoma"/>
              </a:rPr>
              <a:t>U</a:t>
            </a:r>
            <a:r>
              <a:rPr sz="800" spc="-10" dirty="0">
                <a:cs typeface="Tahoma"/>
              </a:rPr>
              <a:t>T</a:t>
            </a:r>
            <a:r>
              <a:rPr sz="800" spc="-100" dirty="0">
                <a:cs typeface="Tahoma"/>
              </a:rPr>
              <a:t> </a:t>
            </a:r>
            <a:r>
              <a:rPr sz="800" spc="45" dirty="0">
                <a:cs typeface="Tahoma"/>
              </a:rPr>
              <a:t>TO</a:t>
            </a:r>
            <a:r>
              <a:rPr sz="800" spc="35" dirty="0">
                <a:cs typeface="Tahoma"/>
              </a:rPr>
              <a:t>K</a:t>
            </a:r>
            <a:r>
              <a:rPr sz="800" spc="25" dirty="0">
                <a:cs typeface="Tahoma"/>
              </a:rPr>
              <a:t>E</a:t>
            </a:r>
            <a:r>
              <a:rPr sz="800" spc="80" dirty="0">
                <a:cs typeface="Tahoma"/>
              </a:rPr>
              <a:t>N</a:t>
            </a:r>
            <a:r>
              <a:rPr sz="800" spc="-75" dirty="0">
                <a:cs typeface="Tahoma"/>
              </a:rPr>
              <a:t> </a:t>
            </a:r>
            <a:r>
              <a:rPr sz="800" spc="25" dirty="0">
                <a:cs typeface="Tahoma"/>
              </a:rPr>
              <a:t>8</a:t>
            </a:r>
            <a:endParaRPr sz="800">
              <a:cs typeface="Tahoma"/>
            </a:endParaRPr>
          </a:p>
        </p:txBody>
      </p:sp>
      <p:sp>
        <p:nvSpPr>
          <p:cNvPr id="25" name="object 25"/>
          <p:cNvSpPr/>
          <p:nvPr/>
        </p:nvSpPr>
        <p:spPr>
          <a:xfrm>
            <a:off x="748912" y="1796193"/>
            <a:ext cx="173990" cy="3621404"/>
          </a:xfrm>
          <a:custGeom>
            <a:avLst/>
            <a:gdLst/>
            <a:ahLst/>
            <a:cxnLst/>
            <a:rect l="l" t="t" r="r" b="b"/>
            <a:pathLst>
              <a:path w="173990" h="3621404">
                <a:moveTo>
                  <a:pt x="173736" y="3621024"/>
                </a:moveTo>
                <a:lnTo>
                  <a:pt x="106111" y="3619886"/>
                </a:lnTo>
                <a:lnTo>
                  <a:pt x="50887" y="3616785"/>
                </a:lnTo>
                <a:lnTo>
                  <a:pt x="13653" y="3612183"/>
                </a:lnTo>
                <a:lnTo>
                  <a:pt x="0" y="3606546"/>
                </a:lnTo>
                <a:lnTo>
                  <a:pt x="0" y="14478"/>
                </a:lnTo>
                <a:lnTo>
                  <a:pt x="13653" y="8840"/>
                </a:lnTo>
                <a:lnTo>
                  <a:pt x="50887" y="4238"/>
                </a:lnTo>
                <a:lnTo>
                  <a:pt x="106111" y="1137"/>
                </a:lnTo>
                <a:lnTo>
                  <a:pt x="173736" y="0"/>
                </a:lnTo>
              </a:path>
            </a:pathLst>
          </a:custGeom>
          <a:ln w="76200">
            <a:solidFill>
              <a:srgbClr val="4E91EF"/>
            </a:solidFill>
          </a:ln>
        </p:spPr>
        <p:txBody>
          <a:bodyPr wrap="square" lIns="0" tIns="0" rIns="0" bIns="0" rtlCol="0"/>
          <a:lstStyle/>
          <a:p>
            <a:endParaRPr/>
          </a:p>
        </p:txBody>
      </p:sp>
      <p:sp>
        <p:nvSpPr>
          <p:cNvPr id="26" name="object 26"/>
          <p:cNvSpPr txBox="1"/>
          <p:nvPr/>
        </p:nvSpPr>
        <p:spPr>
          <a:xfrm>
            <a:off x="7632819" y="3630613"/>
            <a:ext cx="17335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𝑋</a:t>
            </a:r>
            <a:endParaRPr sz="1800">
              <a:cs typeface="Cambria Math"/>
            </a:endParaRPr>
          </a:p>
        </p:txBody>
      </p:sp>
      <p:sp>
        <p:nvSpPr>
          <p:cNvPr id="27" name="object 27"/>
          <p:cNvSpPr txBox="1"/>
          <p:nvPr/>
        </p:nvSpPr>
        <p:spPr>
          <a:xfrm>
            <a:off x="9664057" y="3630613"/>
            <a:ext cx="196215"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a:t>
            </a:r>
            <a:endParaRPr sz="1800">
              <a:cs typeface="Cambria Math"/>
            </a:endParaRPr>
          </a:p>
        </p:txBody>
      </p:sp>
      <p:sp>
        <p:nvSpPr>
          <p:cNvPr id="28" name="object 28"/>
          <p:cNvSpPr txBox="1"/>
          <p:nvPr/>
        </p:nvSpPr>
        <p:spPr>
          <a:xfrm>
            <a:off x="1395494" y="2284254"/>
            <a:ext cx="18034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𝑄</a:t>
            </a:r>
            <a:endParaRPr sz="1800">
              <a:cs typeface="Cambria Math"/>
            </a:endParaRPr>
          </a:p>
        </p:txBody>
      </p:sp>
      <p:sp>
        <p:nvSpPr>
          <p:cNvPr id="29" name="object 29"/>
          <p:cNvSpPr txBox="1"/>
          <p:nvPr/>
        </p:nvSpPr>
        <p:spPr>
          <a:xfrm>
            <a:off x="8654787" y="2443417"/>
            <a:ext cx="16891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𝑉</a:t>
            </a:r>
            <a:endParaRPr sz="1800">
              <a:cs typeface="Cambria Math"/>
            </a:endParaRPr>
          </a:p>
        </p:txBody>
      </p:sp>
      <p:sp>
        <p:nvSpPr>
          <p:cNvPr id="30" name="object 30"/>
          <p:cNvSpPr txBox="1"/>
          <p:nvPr/>
        </p:nvSpPr>
        <p:spPr>
          <a:xfrm>
            <a:off x="10274291" y="2439227"/>
            <a:ext cx="1009650" cy="299720"/>
          </a:xfrm>
          <a:prstGeom prst="rect">
            <a:avLst/>
          </a:prstGeom>
        </p:spPr>
        <p:txBody>
          <a:bodyPr vert="horz" wrap="square" lIns="0" tIns="12700" rIns="0" bIns="0" rtlCol="0">
            <a:spAutoFit/>
          </a:bodyPr>
          <a:lstStyle/>
          <a:p>
            <a:pPr marL="12700">
              <a:lnSpc>
                <a:spcPct val="100000"/>
              </a:lnSpc>
              <a:spcBef>
                <a:spcPts val="100"/>
              </a:spcBef>
            </a:pPr>
            <a:r>
              <a:rPr sz="1800" spc="-5" dirty="0">
                <a:cs typeface="Cambria Math"/>
              </a:rPr>
              <a:t>𝐴𝑡</a:t>
            </a:r>
            <a:r>
              <a:rPr sz="1800" spc="-10" dirty="0">
                <a:cs typeface="Cambria Math"/>
              </a:rPr>
              <a:t>𝑡</a:t>
            </a:r>
            <a:r>
              <a:rPr sz="1800" spc="-5" dirty="0">
                <a:cs typeface="Cambria Math"/>
              </a:rPr>
              <a:t>𝑒</a:t>
            </a:r>
            <a:r>
              <a:rPr sz="1800" spc="-10" dirty="0">
                <a:cs typeface="Cambria Math"/>
              </a:rPr>
              <a:t>𝑛</a:t>
            </a:r>
            <a:r>
              <a:rPr sz="1800" dirty="0">
                <a:cs typeface="Cambria Math"/>
              </a:rPr>
              <a:t>𝑡𝑖𝑜𝑛</a:t>
            </a:r>
            <a:endParaRPr sz="1800">
              <a:cs typeface="Cambria Math"/>
            </a:endParaRPr>
          </a:p>
        </p:txBody>
      </p:sp>
      <p:sp>
        <p:nvSpPr>
          <p:cNvPr id="31" name="object 31"/>
          <p:cNvSpPr/>
          <p:nvPr/>
        </p:nvSpPr>
        <p:spPr>
          <a:xfrm>
            <a:off x="8703817" y="5664732"/>
            <a:ext cx="800100" cy="212090"/>
          </a:xfrm>
          <a:custGeom>
            <a:avLst/>
            <a:gdLst/>
            <a:ahLst/>
            <a:cxnLst/>
            <a:rect l="l" t="t" r="r" b="b"/>
            <a:pathLst>
              <a:path w="800100" h="212089">
                <a:moveTo>
                  <a:pt x="732408" y="0"/>
                </a:moveTo>
                <a:lnTo>
                  <a:pt x="729360" y="8597"/>
                </a:lnTo>
                <a:lnTo>
                  <a:pt x="741628" y="13915"/>
                </a:lnTo>
                <a:lnTo>
                  <a:pt x="752157" y="21277"/>
                </a:lnTo>
                <a:lnTo>
                  <a:pt x="773596" y="55406"/>
                </a:lnTo>
                <a:lnTo>
                  <a:pt x="780668" y="104813"/>
                </a:lnTo>
                <a:lnTo>
                  <a:pt x="779883" y="123484"/>
                </a:lnTo>
                <a:lnTo>
                  <a:pt x="768096" y="169214"/>
                </a:lnTo>
                <a:lnTo>
                  <a:pt x="741789" y="197805"/>
                </a:lnTo>
                <a:lnTo>
                  <a:pt x="729741" y="203149"/>
                </a:lnTo>
                <a:lnTo>
                  <a:pt x="732408" y="211747"/>
                </a:lnTo>
                <a:lnTo>
                  <a:pt x="772824" y="187703"/>
                </a:lnTo>
                <a:lnTo>
                  <a:pt x="795591" y="143335"/>
                </a:lnTo>
                <a:lnTo>
                  <a:pt x="799973" y="105930"/>
                </a:lnTo>
                <a:lnTo>
                  <a:pt x="798877" y="86513"/>
                </a:lnTo>
                <a:lnTo>
                  <a:pt x="782447" y="37109"/>
                </a:lnTo>
                <a:lnTo>
                  <a:pt x="747746" y="5541"/>
                </a:lnTo>
                <a:lnTo>
                  <a:pt x="732408" y="0"/>
                </a:lnTo>
                <a:close/>
              </a:path>
              <a:path w="800100" h="212089">
                <a:moveTo>
                  <a:pt x="67563" y="0"/>
                </a:moveTo>
                <a:lnTo>
                  <a:pt x="27112" y="24095"/>
                </a:lnTo>
                <a:lnTo>
                  <a:pt x="4365" y="68572"/>
                </a:lnTo>
                <a:lnTo>
                  <a:pt x="0" y="105930"/>
                </a:lnTo>
                <a:lnTo>
                  <a:pt x="1093" y="125383"/>
                </a:lnTo>
                <a:lnTo>
                  <a:pt x="17399" y="174739"/>
                </a:lnTo>
                <a:lnTo>
                  <a:pt x="52135" y="206205"/>
                </a:lnTo>
                <a:lnTo>
                  <a:pt x="67563" y="211747"/>
                </a:lnTo>
                <a:lnTo>
                  <a:pt x="70230" y="203149"/>
                </a:lnTo>
                <a:lnTo>
                  <a:pt x="58130" y="197805"/>
                </a:lnTo>
                <a:lnTo>
                  <a:pt x="47720" y="190368"/>
                </a:lnTo>
                <a:lnTo>
                  <a:pt x="26376" y="155687"/>
                </a:lnTo>
                <a:lnTo>
                  <a:pt x="19303" y="104813"/>
                </a:lnTo>
                <a:lnTo>
                  <a:pt x="20089" y="86744"/>
                </a:lnTo>
                <a:lnTo>
                  <a:pt x="31876" y="42138"/>
                </a:lnTo>
                <a:lnTo>
                  <a:pt x="58291" y="13915"/>
                </a:lnTo>
                <a:lnTo>
                  <a:pt x="70484" y="8597"/>
                </a:lnTo>
                <a:lnTo>
                  <a:pt x="67563" y="0"/>
                </a:lnTo>
                <a:close/>
              </a:path>
            </a:pathLst>
          </a:custGeom>
          <a:solidFill>
            <a:srgbClr val="000000"/>
          </a:solidFill>
        </p:spPr>
        <p:txBody>
          <a:bodyPr wrap="square" lIns="0" tIns="0" rIns="0" bIns="0" rtlCol="0"/>
          <a:lstStyle/>
          <a:p>
            <a:endParaRPr/>
          </a:p>
        </p:txBody>
      </p:sp>
      <p:sp>
        <p:nvSpPr>
          <p:cNvPr id="32" name="object 32"/>
          <p:cNvSpPr txBox="1"/>
          <p:nvPr/>
        </p:nvSpPr>
        <p:spPr>
          <a:xfrm>
            <a:off x="7679816" y="5594983"/>
            <a:ext cx="1927225" cy="289823"/>
          </a:xfrm>
          <a:prstGeom prst="rect">
            <a:avLst/>
          </a:prstGeom>
        </p:spPr>
        <p:txBody>
          <a:bodyPr vert="horz" wrap="square" lIns="0" tIns="12700" rIns="0" bIns="0" rtlCol="0">
            <a:spAutoFit/>
          </a:bodyPr>
          <a:lstStyle/>
          <a:p>
            <a:pPr marL="12700">
              <a:lnSpc>
                <a:spcPct val="100000"/>
              </a:lnSpc>
              <a:spcBef>
                <a:spcPts val="100"/>
              </a:spcBef>
            </a:pPr>
            <a:r>
              <a:rPr sz="1800" spc="-5" dirty="0">
                <a:cs typeface="Cambria Math"/>
              </a:rPr>
              <a:t>𝐴𝑡</a:t>
            </a:r>
            <a:r>
              <a:rPr sz="1800" spc="-10" dirty="0">
                <a:cs typeface="Cambria Math"/>
              </a:rPr>
              <a:t>𝑡</a:t>
            </a:r>
            <a:r>
              <a:rPr sz="1800" spc="-5" dirty="0">
                <a:cs typeface="Cambria Math"/>
              </a:rPr>
              <a:t>𝑒</a:t>
            </a:r>
            <a:r>
              <a:rPr sz="1800" spc="-10" dirty="0">
                <a:cs typeface="Cambria Math"/>
              </a:rPr>
              <a:t>𝑛</a:t>
            </a:r>
            <a:r>
              <a:rPr sz="1800" spc="5" dirty="0">
                <a:cs typeface="Cambria Math"/>
              </a:rPr>
              <a:t>𝑡</a:t>
            </a:r>
            <a:r>
              <a:rPr sz="1800" dirty="0">
                <a:cs typeface="Cambria Math"/>
              </a:rPr>
              <a:t>𝑖𝑜𝑛 </a:t>
            </a:r>
            <a:r>
              <a:rPr sz="1800" spc="5" dirty="0">
                <a:cs typeface="Cambria Math"/>
              </a:rPr>
              <a:t> </a:t>
            </a:r>
            <a:r>
              <a:rPr sz="1800" spc="40" dirty="0">
                <a:cs typeface="Cambria Math"/>
              </a:rPr>
              <a:t>𝑄</a:t>
            </a:r>
            <a:r>
              <a:rPr sz="1800" dirty="0">
                <a:cs typeface="Cambria Math"/>
              </a:rPr>
              <a:t>,</a:t>
            </a:r>
            <a:r>
              <a:rPr sz="1800" spc="-85" dirty="0">
                <a:cs typeface="Cambria Math"/>
              </a:rPr>
              <a:t> </a:t>
            </a:r>
            <a:r>
              <a:rPr sz="1800" spc="50" dirty="0">
                <a:cs typeface="Cambria Math"/>
              </a:rPr>
              <a:t>𝐾</a:t>
            </a:r>
            <a:r>
              <a:rPr sz="1800" dirty="0">
                <a:cs typeface="Cambria Math"/>
              </a:rPr>
              <a:t>,</a:t>
            </a:r>
            <a:r>
              <a:rPr sz="1800" spc="-85" dirty="0">
                <a:cs typeface="Cambria Math"/>
              </a:rPr>
              <a:t> </a:t>
            </a:r>
            <a:r>
              <a:rPr sz="1800" dirty="0">
                <a:cs typeface="Cambria Math"/>
              </a:rPr>
              <a:t>𝑉</a:t>
            </a:r>
          </a:p>
        </p:txBody>
      </p:sp>
      <p:sp>
        <p:nvSpPr>
          <p:cNvPr id="33" name="object 33"/>
          <p:cNvSpPr txBox="1"/>
          <p:nvPr/>
        </p:nvSpPr>
        <p:spPr>
          <a:xfrm>
            <a:off x="9574529" y="5594983"/>
            <a:ext cx="103886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a:t>
            </a:r>
            <a:r>
              <a:rPr sz="1800" spc="45" dirty="0">
                <a:cs typeface="Cambria Math"/>
              </a:rPr>
              <a:t> </a:t>
            </a:r>
            <a:r>
              <a:rPr sz="1800" spc="-5" dirty="0">
                <a:cs typeface="Cambria Math"/>
              </a:rPr>
              <a:t>softmax</a:t>
            </a:r>
            <a:endParaRPr sz="1800">
              <a:cs typeface="Cambria Math"/>
            </a:endParaRPr>
          </a:p>
        </p:txBody>
      </p:sp>
      <p:sp>
        <p:nvSpPr>
          <p:cNvPr id="34" name="object 34"/>
          <p:cNvSpPr/>
          <p:nvPr/>
        </p:nvSpPr>
        <p:spPr>
          <a:xfrm>
            <a:off x="10656823" y="5432106"/>
            <a:ext cx="693420" cy="675640"/>
          </a:xfrm>
          <a:custGeom>
            <a:avLst/>
            <a:gdLst/>
            <a:ahLst/>
            <a:cxnLst/>
            <a:rect l="l" t="t" r="r" b="b"/>
            <a:pathLst>
              <a:path w="693420" h="675639">
                <a:moveTo>
                  <a:pt x="114173" y="7924"/>
                </a:moveTo>
                <a:lnTo>
                  <a:pt x="62166" y="58623"/>
                </a:lnTo>
                <a:lnTo>
                  <a:pt x="43865" y="94830"/>
                </a:lnTo>
                <a:lnTo>
                  <a:pt x="28321" y="135610"/>
                </a:lnTo>
                <a:lnTo>
                  <a:pt x="15963" y="180543"/>
                </a:lnTo>
                <a:lnTo>
                  <a:pt x="7112" y="229133"/>
                </a:lnTo>
                <a:lnTo>
                  <a:pt x="1778" y="281393"/>
                </a:lnTo>
                <a:lnTo>
                  <a:pt x="0" y="337312"/>
                </a:lnTo>
                <a:lnTo>
                  <a:pt x="1778" y="393636"/>
                </a:lnTo>
                <a:lnTo>
                  <a:pt x="7112" y="446176"/>
                </a:lnTo>
                <a:lnTo>
                  <a:pt x="15963" y="494931"/>
                </a:lnTo>
                <a:lnTo>
                  <a:pt x="28321" y="539902"/>
                </a:lnTo>
                <a:lnTo>
                  <a:pt x="43865" y="580707"/>
                </a:lnTo>
                <a:lnTo>
                  <a:pt x="62166" y="616902"/>
                </a:lnTo>
                <a:lnTo>
                  <a:pt x="107061" y="675525"/>
                </a:lnTo>
                <a:lnTo>
                  <a:pt x="114173" y="667600"/>
                </a:lnTo>
                <a:lnTo>
                  <a:pt x="92976" y="640156"/>
                </a:lnTo>
                <a:lnTo>
                  <a:pt x="74549" y="608368"/>
                </a:lnTo>
                <a:lnTo>
                  <a:pt x="58877" y="572236"/>
                </a:lnTo>
                <a:lnTo>
                  <a:pt x="45974" y="531761"/>
                </a:lnTo>
                <a:lnTo>
                  <a:pt x="35814" y="487641"/>
                </a:lnTo>
                <a:lnTo>
                  <a:pt x="28600" y="440575"/>
                </a:lnTo>
                <a:lnTo>
                  <a:pt x="24282" y="390537"/>
                </a:lnTo>
                <a:lnTo>
                  <a:pt x="22860" y="337312"/>
                </a:lnTo>
                <a:lnTo>
                  <a:pt x="24282" y="284797"/>
                </a:lnTo>
                <a:lnTo>
                  <a:pt x="28600" y="234924"/>
                </a:lnTo>
                <a:lnTo>
                  <a:pt x="35814" y="187934"/>
                </a:lnTo>
                <a:lnTo>
                  <a:pt x="45974" y="143814"/>
                </a:lnTo>
                <a:lnTo>
                  <a:pt x="58877" y="103327"/>
                </a:lnTo>
                <a:lnTo>
                  <a:pt x="74549" y="67183"/>
                </a:lnTo>
                <a:lnTo>
                  <a:pt x="92976" y="35382"/>
                </a:lnTo>
                <a:lnTo>
                  <a:pt x="114173" y="7924"/>
                </a:lnTo>
                <a:close/>
              </a:path>
              <a:path w="693420" h="675639">
                <a:moveTo>
                  <a:pt x="572008" y="329907"/>
                </a:moveTo>
                <a:lnTo>
                  <a:pt x="120904" y="329907"/>
                </a:lnTo>
                <a:lnTo>
                  <a:pt x="120904" y="345147"/>
                </a:lnTo>
                <a:lnTo>
                  <a:pt x="572008" y="345147"/>
                </a:lnTo>
                <a:lnTo>
                  <a:pt x="572008" y="329907"/>
                </a:lnTo>
                <a:close/>
              </a:path>
              <a:path w="693420" h="675639">
                <a:moveTo>
                  <a:pt x="693420" y="337312"/>
                </a:moveTo>
                <a:lnTo>
                  <a:pt x="691654" y="281393"/>
                </a:lnTo>
                <a:lnTo>
                  <a:pt x="686346" y="229133"/>
                </a:lnTo>
                <a:lnTo>
                  <a:pt x="677506" y="180543"/>
                </a:lnTo>
                <a:lnTo>
                  <a:pt x="665099" y="135610"/>
                </a:lnTo>
                <a:lnTo>
                  <a:pt x="649592" y="94830"/>
                </a:lnTo>
                <a:lnTo>
                  <a:pt x="631291" y="58623"/>
                </a:lnTo>
                <a:lnTo>
                  <a:pt x="586359" y="0"/>
                </a:lnTo>
                <a:lnTo>
                  <a:pt x="579247" y="7924"/>
                </a:lnTo>
                <a:lnTo>
                  <a:pt x="600430" y="35382"/>
                </a:lnTo>
                <a:lnTo>
                  <a:pt x="618883" y="67183"/>
                </a:lnTo>
                <a:lnTo>
                  <a:pt x="634580" y="103327"/>
                </a:lnTo>
                <a:lnTo>
                  <a:pt x="647573" y="143814"/>
                </a:lnTo>
                <a:lnTo>
                  <a:pt x="657656" y="187934"/>
                </a:lnTo>
                <a:lnTo>
                  <a:pt x="664883" y="234924"/>
                </a:lnTo>
                <a:lnTo>
                  <a:pt x="669226" y="284797"/>
                </a:lnTo>
                <a:lnTo>
                  <a:pt x="670687" y="337540"/>
                </a:lnTo>
                <a:lnTo>
                  <a:pt x="669226" y="390537"/>
                </a:lnTo>
                <a:lnTo>
                  <a:pt x="664883" y="440575"/>
                </a:lnTo>
                <a:lnTo>
                  <a:pt x="657656" y="487641"/>
                </a:lnTo>
                <a:lnTo>
                  <a:pt x="647573" y="531761"/>
                </a:lnTo>
                <a:lnTo>
                  <a:pt x="634580" y="572236"/>
                </a:lnTo>
                <a:lnTo>
                  <a:pt x="618883" y="608368"/>
                </a:lnTo>
                <a:lnTo>
                  <a:pt x="579247" y="667600"/>
                </a:lnTo>
                <a:lnTo>
                  <a:pt x="586359" y="675525"/>
                </a:lnTo>
                <a:lnTo>
                  <a:pt x="631291" y="616902"/>
                </a:lnTo>
                <a:lnTo>
                  <a:pt x="649592" y="580707"/>
                </a:lnTo>
                <a:lnTo>
                  <a:pt x="665099" y="539902"/>
                </a:lnTo>
                <a:lnTo>
                  <a:pt x="677506" y="494931"/>
                </a:lnTo>
                <a:lnTo>
                  <a:pt x="686346" y="446176"/>
                </a:lnTo>
                <a:lnTo>
                  <a:pt x="691654" y="393636"/>
                </a:lnTo>
                <a:lnTo>
                  <a:pt x="693420" y="337312"/>
                </a:lnTo>
                <a:close/>
              </a:path>
            </a:pathLst>
          </a:custGeom>
          <a:solidFill>
            <a:srgbClr val="000000"/>
          </a:solidFill>
        </p:spPr>
        <p:txBody>
          <a:bodyPr wrap="square" lIns="0" tIns="0" rIns="0" bIns="0" rtlCol="0"/>
          <a:lstStyle/>
          <a:p>
            <a:endParaRPr/>
          </a:p>
        </p:txBody>
      </p:sp>
      <p:sp>
        <p:nvSpPr>
          <p:cNvPr id="35" name="object 35"/>
          <p:cNvSpPr txBox="1"/>
          <p:nvPr/>
        </p:nvSpPr>
        <p:spPr>
          <a:xfrm>
            <a:off x="10741151" y="5421247"/>
            <a:ext cx="513080" cy="299720"/>
          </a:xfrm>
          <a:prstGeom prst="rect">
            <a:avLst/>
          </a:prstGeom>
        </p:spPr>
        <p:txBody>
          <a:bodyPr vert="horz" wrap="square" lIns="0" tIns="12700" rIns="0" bIns="0" rtlCol="0">
            <a:spAutoFit/>
          </a:bodyPr>
          <a:lstStyle/>
          <a:p>
            <a:pPr marL="38100">
              <a:lnSpc>
                <a:spcPct val="100000"/>
              </a:lnSpc>
              <a:spcBef>
                <a:spcPts val="100"/>
              </a:spcBef>
            </a:pPr>
            <a:r>
              <a:rPr sz="1800" spc="60" dirty="0">
                <a:cs typeface="Cambria Math"/>
              </a:rPr>
              <a:t>𝑄𝐾</a:t>
            </a:r>
            <a:r>
              <a:rPr sz="1950" spc="89" baseline="27777" dirty="0">
                <a:cs typeface="Cambria Math"/>
              </a:rPr>
              <a:t>𝑇</a:t>
            </a:r>
            <a:endParaRPr sz="1950" baseline="27777">
              <a:cs typeface="Cambria Math"/>
            </a:endParaRPr>
          </a:p>
        </p:txBody>
      </p:sp>
      <p:sp>
        <p:nvSpPr>
          <p:cNvPr id="36" name="object 36"/>
          <p:cNvSpPr/>
          <p:nvPr/>
        </p:nvSpPr>
        <p:spPr>
          <a:xfrm>
            <a:off x="10798301" y="5819926"/>
            <a:ext cx="414020" cy="285115"/>
          </a:xfrm>
          <a:custGeom>
            <a:avLst/>
            <a:gdLst/>
            <a:ahLst/>
            <a:cxnLst/>
            <a:rect l="l" t="t" r="r" b="b"/>
            <a:pathLst>
              <a:path w="414020" h="285114">
                <a:moveTo>
                  <a:pt x="413766" y="0"/>
                </a:moveTo>
                <a:lnTo>
                  <a:pt x="165353" y="0"/>
                </a:lnTo>
                <a:lnTo>
                  <a:pt x="165353" y="749"/>
                </a:lnTo>
                <a:lnTo>
                  <a:pt x="143001" y="749"/>
                </a:lnTo>
                <a:lnTo>
                  <a:pt x="75311" y="254685"/>
                </a:lnTo>
                <a:lnTo>
                  <a:pt x="36702" y="168516"/>
                </a:lnTo>
                <a:lnTo>
                  <a:pt x="0" y="185254"/>
                </a:lnTo>
                <a:lnTo>
                  <a:pt x="3555" y="193636"/>
                </a:lnTo>
                <a:lnTo>
                  <a:pt x="22351" y="185254"/>
                </a:lnTo>
                <a:lnTo>
                  <a:pt x="68579" y="284606"/>
                </a:lnTo>
                <a:lnTo>
                  <a:pt x="79375" y="284606"/>
                </a:lnTo>
                <a:lnTo>
                  <a:pt x="152019" y="15595"/>
                </a:lnTo>
                <a:lnTo>
                  <a:pt x="174244" y="15595"/>
                </a:lnTo>
                <a:lnTo>
                  <a:pt x="174244" y="15240"/>
                </a:lnTo>
                <a:lnTo>
                  <a:pt x="413766" y="15240"/>
                </a:lnTo>
                <a:lnTo>
                  <a:pt x="413766" y="0"/>
                </a:lnTo>
                <a:close/>
              </a:path>
            </a:pathLst>
          </a:custGeom>
          <a:solidFill>
            <a:srgbClr val="000000"/>
          </a:solidFill>
        </p:spPr>
        <p:txBody>
          <a:bodyPr wrap="square" lIns="0" tIns="0" rIns="0" bIns="0" rtlCol="0"/>
          <a:lstStyle/>
          <a:p>
            <a:endParaRPr/>
          </a:p>
        </p:txBody>
      </p:sp>
      <p:sp>
        <p:nvSpPr>
          <p:cNvPr id="37" name="object 37"/>
          <p:cNvSpPr txBox="1"/>
          <p:nvPr/>
        </p:nvSpPr>
        <p:spPr>
          <a:xfrm>
            <a:off x="10927079" y="5793103"/>
            <a:ext cx="310515" cy="299720"/>
          </a:xfrm>
          <a:prstGeom prst="rect">
            <a:avLst/>
          </a:prstGeom>
        </p:spPr>
        <p:txBody>
          <a:bodyPr vert="horz" wrap="square" lIns="0" tIns="12700" rIns="0" bIns="0" rtlCol="0">
            <a:spAutoFit/>
          </a:bodyPr>
          <a:lstStyle/>
          <a:p>
            <a:pPr marL="38100">
              <a:lnSpc>
                <a:spcPct val="100000"/>
              </a:lnSpc>
              <a:spcBef>
                <a:spcPts val="100"/>
              </a:spcBef>
            </a:pPr>
            <a:r>
              <a:rPr sz="1800" spc="40" dirty="0">
                <a:cs typeface="Cambria Math"/>
              </a:rPr>
              <a:t>𝑑</a:t>
            </a:r>
            <a:r>
              <a:rPr sz="1950" spc="60" baseline="-14957" dirty="0">
                <a:cs typeface="Cambria Math"/>
              </a:rPr>
              <a:t>𝑘</a:t>
            </a:r>
            <a:endParaRPr sz="1950" baseline="-14957">
              <a:cs typeface="Cambria Math"/>
            </a:endParaRPr>
          </a:p>
        </p:txBody>
      </p:sp>
      <p:sp>
        <p:nvSpPr>
          <p:cNvPr id="38" name="object 38"/>
          <p:cNvSpPr txBox="1"/>
          <p:nvPr/>
        </p:nvSpPr>
        <p:spPr>
          <a:xfrm>
            <a:off x="11394439" y="5594983"/>
            <a:ext cx="168910" cy="299720"/>
          </a:xfrm>
          <a:prstGeom prst="rect">
            <a:avLst/>
          </a:prstGeom>
        </p:spPr>
        <p:txBody>
          <a:bodyPr vert="horz" wrap="square" lIns="0" tIns="12700" rIns="0" bIns="0" rtlCol="0">
            <a:spAutoFit/>
          </a:bodyPr>
          <a:lstStyle/>
          <a:p>
            <a:pPr marL="12700">
              <a:lnSpc>
                <a:spcPct val="100000"/>
              </a:lnSpc>
              <a:spcBef>
                <a:spcPts val="100"/>
              </a:spcBef>
            </a:pPr>
            <a:r>
              <a:rPr sz="1800" dirty="0">
                <a:cs typeface="Cambria Math"/>
              </a:rPr>
              <a:t>𝑉</a:t>
            </a:r>
            <a:endParaRPr sz="1800">
              <a:cs typeface="Cambria Math"/>
            </a:endParaRPr>
          </a:p>
        </p:txBody>
      </p:sp>
      <p:sp>
        <p:nvSpPr>
          <p:cNvPr id="39" name="object 39"/>
          <p:cNvSpPr txBox="1"/>
          <p:nvPr/>
        </p:nvSpPr>
        <p:spPr>
          <a:xfrm>
            <a:off x="1219929" y="4985672"/>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(1,</a:t>
            </a:r>
            <a:r>
              <a:rPr sz="1000" spc="-60" dirty="0">
                <a:cs typeface="Tahoma"/>
              </a:rPr>
              <a:t> </a:t>
            </a:r>
            <a:r>
              <a:rPr sz="1000" spc="25" dirty="0">
                <a:cs typeface="Tahoma"/>
              </a:rPr>
              <a:t>4096</a:t>
            </a:r>
            <a:r>
              <a:rPr sz="1000" spc="-85" dirty="0">
                <a:cs typeface="Tahoma"/>
              </a:rPr>
              <a:t>)</a:t>
            </a:r>
            <a:endParaRPr sz="1000">
              <a:cs typeface="Tahoma"/>
            </a:endParaRPr>
          </a:p>
        </p:txBody>
      </p:sp>
      <p:sp>
        <p:nvSpPr>
          <p:cNvPr id="40" name="object 40"/>
          <p:cNvSpPr txBox="1"/>
          <p:nvPr/>
        </p:nvSpPr>
        <p:spPr>
          <a:xfrm>
            <a:off x="5576061" y="6036970"/>
            <a:ext cx="313690"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(1,</a:t>
            </a:r>
            <a:r>
              <a:rPr sz="1000" spc="-60" dirty="0">
                <a:cs typeface="Tahoma"/>
              </a:rPr>
              <a:t> </a:t>
            </a:r>
            <a:r>
              <a:rPr sz="1000" spc="-35" dirty="0">
                <a:cs typeface="Tahoma"/>
              </a:rPr>
              <a:t>8)</a:t>
            </a:r>
            <a:endParaRPr sz="1000">
              <a:cs typeface="Tahoma"/>
            </a:endParaRPr>
          </a:p>
        </p:txBody>
      </p:sp>
      <p:sp>
        <p:nvSpPr>
          <p:cNvPr id="41" name="object 41"/>
          <p:cNvSpPr txBox="1"/>
          <p:nvPr/>
        </p:nvSpPr>
        <p:spPr>
          <a:xfrm>
            <a:off x="10513560" y="5144835"/>
            <a:ext cx="532765" cy="166071"/>
          </a:xfrm>
          <a:prstGeom prst="rect">
            <a:avLst/>
          </a:prstGeom>
        </p:spPr>
        <p:txBody>
          <a:bodyPr vert="horz" wrap="square" lIns="0" tIns="12065" rIns="0" bIns="0" rtlCol="0">
            <a:spAutoFit/>
          </a:bodyPr>
          <a:lstStyle/>
          <a:p>
            <a:pPr marL="12700">
              <a:lnSpc>
                <a:spcPct val="100000"/>
              </a:lnSpc>
              <a:spcBef>
                <a:spcPts val="95"/>
              </a:spcBef>
            </a:pPr>
            <a:r>
              <a:rPr sz="1000" spc="-35" dirty="0">
                <a:cs typeface="Tahoma"/>
              </a:rPr>
              <a:t>(1,</a:t>
            </a:r>
            <a:r>
              <a:rPr sz="1000" spc="-60" dirty="0">
                <a:cs typeface="Tahoma"/>
              </a:rPr>
              <a:t> </a:t>
            </a:r>
            <a:r>
              <a:rPr sz="1000" spc="25" dirty="0">
                <a:cs typeface="Tahoma"/>
              </a:rPr>
              <a:t>4096</a:t>
            </a:r>
            <a:r>
              <a:rPr sz="1000" spc="-85" dirty="0">
                <a:cs typeface="Tahoma"/>
              </a:rPr>
              <a:t>)</a:t>
            </a:r>
            <a:endParaRPr sz="1000">
              <a:cs typeface="Tahoma"/>
            </a:endParaRPr>
          </a:p>
        </p:txBody>
      </p:sp>
      <p:sp>
        <p:nvSpPr>
          <p:cNvPr id="42" name="object 42"/>
          <p:cNvSpPr txBox="1"/>
          <p:nvPr/>
        </p:nvSpPr>
        <p:spPr>
          <a:xfrm>
            <a:off x="369519" y="5922670"/>
            <a:ext cx="1111250" cy="636270"/>
          </a:xfrm>
          <a:prstGeom prst="rect">
            <a:avLst/>
          </a:prstGeom>
        </p:spPr>
        <p:txBody>
          <a:bodyPr vert="horz" wrap="square" lIns="0" tIns="13335" rIns="0" bIns="0" rtlCol="0">
            <a:spAutoFit/>
          </a:bodyPr>
          <a:lstStyle/>
          <a:p>
            <a:pPr marL="12700">
              <a:lnSpc>
                <a:spcPct val="100000"/>
              </a:lnSpc>
              <a:spcBef>
                <a:spcPts val="105"/>
              </a:spcBef>
            </a:pPr>
            <a:r>
              <a:rPr sz="2000" spc="10" dirty="0">
                <a:solidFill>
                  <a:srgbClr val="FF0000"/>
                </a:solidFill>
                <a:cs typeface="Tahoma"/>
              </a:rPr>
              <a:t>Inference</a:t>
            </a:r>
            <a:endParaRPr sz="2000">
              <a:cs typeface="Tahoma"/>
            </a:endParaRPr>
          </a:p>
          <a:p>
            <a:pPr marL="12700">
              <a:lnSpc>
                <a:spcPct val="100000"/>
              </a:lnSpc>
            </a:pPr>
            <a:r>
              <a:rPr sz="2000" spc="-30" dirty="0">
                <a:solidFill>
                  <a:srgbClr val="FF0000"/>
                </a:solidFill>
                <a:cs typeface="Tahoma"/>
              </a:rPr>
              <a:t>T</a:t>
            </a:r>
            <a:r>
              <a:rPr sz="2000" spc="-185" dirty="0">
                <a:solidFill>
                  <a:srgbClr val="FF0000"/>
                </a:solidFill>
                <a:cs typeface="Tahoma"/>
              </a:rPr>
              <a:t> </a:t>
            </a:r>
            <a:r>
              <a:rPr sz="2000" spc="-125" dirty="0">
                <a:solidFill>
                  <a:srgbClr val="FF0000"/>
                </a:solidFill>
                <a:cs typeface="Tahoma"/>
              </a:rPr>
              <a:t>=</a:t>
            </a:r>
            <a:r>
              <a:rPr sz="2000" spc="-114" dirty="0">
                <a:solidFill>
                  <a:srgbClr val="FF0000"/>
                </a:solidFill>
                <a:cs typeface="Tahoma"/>
              </a:rPr>
              <a:t> </a:t>
            </a:r>
            <a:r>
              <a:rPr sz="2000" spc="70" dirty="0">
                <a:solidFill>
                  <a:srgbClr val="FF0000"/>
                </a:solidFill>
                <a:cs typeface="Tahoma"/>
              </a:rPr>
              <a:t>4</a:t>
            </a:r>
            <a:endParaRPr sz="2000">
              <a:cs typeface="Tahoma"/>
            </a:endParaRPr>
          </a:p>
        </p:txBody>
      </p:sp>
      <p:sp>
        <p:nvSpPr>
          <p:cNvPr id="43" name="object 43"/>
          <p:cNvSpPr/>
          <p:nvPr/>
        </p:nvSpPr>
        <p:spPr>
          <a:xfrm>
            <a:off x="9370560" y="2069529"/>
            <a:ext cx="408940" cy="786765"/>
          </a:xfrm>
          <a:custGeom>
            <a:avLst/>
            <a:gdLst/>
            <a:ahLst/>
            <a:cxnLst/>
            <a:rect l="l" t="t" r="r" b="b"/>
            <a:pathLst>
              <a:path w="408940" h="786764">
                <a:moveTo>
                  <a:pt x="253" y="659002"/>
                </a:moveTo>
                <a:lnTo>
                  <a:pt x="0" y="786764"/>
                </a:lnTo>
                <a:lnTo>
                  <a:pt x="102362" y="710311"/>
                </a:lnTo>
                <a:lnTo>
                  <a:pt x="102109" y="710184"/>
                </a:lnTo>
                <a:lnTo>
                  <a:pt x="59817" y="710184"/>
                </a:lnTo>
                <a:lnTo>
                  <a:pt x="25780" y="693038"/>
                </a:lnTo>
                <a:lnTo>
                  <a:pt x="34297" y="676109"/>
                </a:lnTo>
                <a:lnTo>
                  <a:pt x="253" y="659002"/>
                </a:lnTo>
                <a:close/>
              </a:path>
              <a:path w="408940" h="786764">
                <a:moveTo>
                  <a:pt x="34297" y="676109"/>
                </a:moveTo>
                <a:lnTo>
                  <a:pt x="25780" y="693038"/>
                </a:lnTo>
                <a:lnTo>
                  <a:pt x="59817" y="710184"/>
                </a:lnTo>
                <a:lnTo>
                  <a:pt x="68348" y="693219"/>
                </a:lnTo>
                <a:lnTo>
                  <a:pt x="34297" y="676109"/>
                </a:lnTo>
                <a:close/>
              </a:path>
              <a:path w="408940" h="786764">
                <a:moveTo>
                  <a:pt x="68348" y="693219"/>
                </a:moveTo>
                <a:lnTo>
                  <a:pt x="59817" y="710184"/>
                </a:lnTo>
                <a:lnTo>
                  <a:pt x="102109" y="710184"/>
                </a:lnTo>
                <a:lnTo>
                  <a:pt x="68348" y="693219"/>
                </a:lnTo>
                <a:close/>
              </a:path>
              <a:path w="408940" h="786764">
                <a:moveTo>
                  <a:pt x="374396" y="0"/>
                </a:moveTo>
                <a:lnTo>
                  <a:pt x="34297" y="676109"/>
                </a:lnTo>
                <a:lnTo>
                  <a:pt x="68348" y="693219"/>
                </a:lnTo>
                <a:lnTo>
                  <a:pt x="408431" y="17018"/>
                </a:lnTo>
                <a:lnTo>
                  <a:pt x="374396" y="0"/>
                </a:lnTo>
                <a:close/>
              </a:path>
            </a:pathLst>
          </a:custGeom>
          <a:solidFill>
            <a:srgbClr val="550DBA"/>
          </a:solidFill>
        </p:spPr>
        <p:txBody>
          <a:bodyPr wrap="square" lIns="0" tIns="0" rIns="0" bIns="0" rtlCol="0"/>
          <a:lstStyle/>
          <a:p>
            <a:endParaRPr/>
          </a:p>
        </p:txBody>
      </p:sp>
      <p:sp>
        <p:nvSpPr>
          <p:cNvPr id="44" name="object 44"/>
          <p:cNvSpPr txBox="1"/>
          <p:nvPr/>
        </p:nvSpPr>
        <p:spPr>
          <a:xfrm>
            <a:off x="7977243" y="1665288"/>
            <a:ext cx="3547745" cy="346710"/>
          </a:xfrm>
          <a:prstGeom prst="rect">
            <a:avLst/>
          </a:prstGeom>
        </p:spPr>
        <p:txBody>
          <a:bodyPr vert="horz" wrap="square" lIns="0" tIns="13335" rIns="0" bIns="0" rtlCol="0">
            <a:spAutoFit/>
          </a:bodyPr>
          <a:lstStyle/>
          <a:p>
            <a:pPr marL="12700" marR="5080">
              <a:lnSpc>
                <a:spcPct val="100000"/>
              </a:lnSpc>
              <a:spcBef>
                <a:spcPts val="105"/>
              </a:spcBef>
            </a:pPr>
            <a:r>
              <a:rPr sz="1050" b="1" dirty="0">
                <a:cs typeface="Tahoma"/>
              </a:rPr>
              <a:t>We</a:t>
            </a:r>
            <a:r>
              <a:rPr sz="1050" b="1" spc="-55" dirty="0">
                <a:cs typeface="Tahoma"/>
              </a:rPr>
              <a:t> </a:t>
            </a:r>
            <a:r>
              <a:rPr sz="1050" b="1" spc="-5" dirty="0">
                <a:cs typeface="Tahoma"/>
              </a:rPr>
              <a:t>don’t</a:t>
            </a:r>
            <a:r>
              <a:rPr sz="1050" b="1" spc="-75" dirty="0">
                <a:cs typeface="Tahoma"/>
              </a:rPr>
              <a:t> </a:t>
            </a:r>
            <a:r>
              <a:rPr sz="1050" b="1" spc="-25" dirty="0">
                <a:cs typeface="Tahoma"/>
              </a:rPr>
              <a:t>care</a:t>
            </a:r>
            <a:r>
              <a:rPr sz="1050" b="1" spc="-60" dirty="0">
                <a:cs typeface="Tahoma"/>
              </a:rPr>
              <a:t> </a:t>
            </a:r>
            <a:r>
              <a:rPr sz="1050" b="1" spc="-10" dirty="0">
                <a:cs typeface="Tahoma"/>
              </a:rPr>
              <a:t>about</a:t>
            </a:r>
            <a:r>
              <a:rPr sz="1050" b="1" spc="-60" dirty="0">
                <a:cs typeface="Tahoma"/>
              </a:rPr>
              <a:t> </a:t>
            </a:r>
            <a:r>
              <a:rPr sz="1050" b="1" spc="-25" dirty="0">
                <a:cs typeface="Tahoma"/>
              </a:rPr>
              <a:t>these</a:t>
            </a:r>
            <a:r>
              <a:rPr sz="1050" b="1" spc="-45" dirty="0">
                <a:cs typeface="Tahoma"/>
              </a:rPr>
              <a:t> </a:t>
            </a:r>
            <a:r>
              <a:rPr sz="1050" b="1" spc="-25" dirty="0">
                <a:cs typeface="Tahoma"/>
              </a:rPr>
              <a:t>either</a:t>
            </a:r>
            <a:r>
              <a:rPr sz="1050" spc="-25" dirty="0">
                <a:cs typeface="Tahoma"/>
              </a:rPr>
              <a:t>,</a:t>
            </a:r>
            <a:r>
              <a:rPr sz="1050" spc="-90" dirty="0">
                <a:cs typeface="Tahoma"/>
              </a:rPr>
              <a:t> </a:t>
            </a:r>
            <a:r>
              <a:rPr sz="1050" dirty="0">
                <a:cs typeface="Tahoma"/>
              </a:rPr>
              <a:t>as</a:t>
            </a:r>
            <a:r>
              <a:rPr sz="1050" spc="-60" dirty="0">
                <a:cs typeface="Tahoma"/>
              </a:rPr>
              <a:t> </a:t>
            </a:r>
            <a:r>
              <a:rPr sz="1050" spc="25" dirty="0">
                <a:cs typeface="Tahoma"/>
              </a:rPr>
              <a:t>we</a:t>
            </a:r>
            <a:r>
              <a:rPr sz="1050" spc="-75" dirty="0">
                <a:cs typeface="Tahoma"/>
              </a:rPr>
              <a:t> </a:t>
            </a:r>
            <a:r>
              <a:rPr sz="1050" spc="5" dirty="0">
                <a:cs typeface="Tahoma"/>
              </a:rPr>
              <a:t>want</a:t>
            </a:r>
            <a:r>
              <a:rPr sz="1050" spc="-60" dirty="0">
                <a:cs typeface="Tahoma"/>
              </a:rPr>
              <a:t> </a:t>
            </a:r>
            <a:r>
              <a:rPr sz="1050" spc="20" dirty="0">
                <a:cs typeface="Tahoma"/>
              </a:rPr>
              <a:t>the</a:t>
            </a:r>
            <a:r>
              <a:rPr sz="1050" spc="-70" dirty="0">
                <a:cs typeface="Tahoma"/>
              </a:rPr>
              <a:t> </a:t>
            </a:r>
            <a:r>
              <a:rPr sz="1050" spc="25" dirty="0">
                <a:cs typeface="Tahoma"/>
              </a:rPr>
              <a:t>output </a:t>
            </a:r>
            <a:r>
              <a:rPr sz="1050" spc="-315" dirty="0">
                <a:cs typeface="Tahoma"/>
              </a:rPr>
              <a:t> </a:t>
            </a:r>
            <a:r>
              <a:rPr sz="1050" spc="25" dirty="0">
                <a:cs typeface="Tahoma"/>
              </a:rPr>
              <a:t>to</a:t>
            </a:r>
            <a:r>
              <a:rPr sz="1050" spc="30" dirty="0">
                <a:cs typeface="Tahoma"/>
              </a:rPr>
              <a:t>ken</a:t>
            </a:r>
            <a:r>
              <a:rPr sz="1050" spc="-80" dirty="0">
                <a:cs typeface="Tahoma"/>
              </a:rPr>
              <a:t> </a:t>
            </a:r>
            <a:r>
              <a:rPr sz="1050" spc="25" dirty="0">
                <a:cs typeface="Tahoma"/>
              </a:rPr>
              <a:t>to</a:t>
            </a:r>
            <a:r>
              <a:rPr sz="1050" spc="-75" dirty="0">
                <a:cs typeface="Tahoma"/>
              </a:rPr>
              <a:t> </a:t>
            </a:r>
            <a:r>
              <a:rPr sz="1050" spc="30" dirty="0">
                <a:cs typeface="Tahoma"/>
              </a:rPr>
              <a:t>only</a:t>
            </a:r>
            <a:r>
              <a:rPr sz="1050" spc="-80" dirty="0">
                <a:cs typeface="Tahoma"/>
              </a:rPr>
              <a:t> </a:t>
            </a:r>
            <a:r>
              <a:rPr sz="1050" spc="65" dirty="0">
                <a:cs typeface="Tahoma"/>
              </a:rPr>
              <a:t>de</a:t>
            </a:r>
            <a:r>
              <a:rPr sz="1050" spc="55" dirty="0">
                <a:cs typeface="Tahoma"/>
              </a:rPr>
              <a:t>pe</a:t>
            </a:r>
            <a:r>
              <a:rPr sz="1050" spc="50" dirty="0">
                <a:cs typeface="Tahoma"/>
              </a:rPr>
              <a:t>n</a:t>
            </a:r>
            <a:r>
              <a:rPr sz="1050" spc="90" dirty="0">
                <a:cs typeface="Tahoma"/>
              </a:rPr>
              <a:t>d</a:t>
            </a:r>
            <a:r>
              <a:rPr sz="1050" spc="-80" dirty="0">
                <a:cs typeface="Tahoma"/>
              </a:rPr>
              <a:t> </a:t>
            </a:r>
            <a:r>
              <a:rPr sz="1050" spc="50" dirty="0">
                <a:cs typeface="Tahoma"/>
              </a:rPr>
              <a:t>on</a:t>
            </a:r>
            <a:r>
              <a:rPr sz="1050" spc="-75" dirty="0">
                <a:cs typeface="Tahoma"/>
              </a:rPr>
              <a:t> </a:t>
            </a:r>
            <a:r>
              <a:rPr sz="1050" spc="20" dirty="0">
                <a:cs typeface="Tahoma"/>
              </a:rPr>
              <a:t>the</a:t>
            </a:r>
            <a:r>
              <a:rPr sz="1050" spc="-75" dirty="0">
                <a:cs typeface="Tahoma"/>
              </a:rPr>
              <a:t> </a:t>
            </a:r>
            <a:r>
              <a:rPr sz="1050" spc="45" dirty="0">
                <a:cs typeface="Tahoma"/>
              </a:rPr>
              <a:t>pre</a:t>
            </a:r>
            <a:r>
              <a:rPr sz="1050" spc="30" dirty="0">
                <a:cs typeface="Tahoma"/>
              </a:rPr>
              <a:t>vio</a:t>
            </a:r>
            <a:r>
              <a:rPr sz="1050" spc="10" dirty="0">
                <a:cs typeface="Tahoma"/>
              </a:rPr>
              <a:t>us</a:t>
            </a:r>
            <a:r>
              <a:rPr sz="1050" spc="-105" dirty="0">
                <a:cs typeface="Tahoma"/>
              </a:rPr>
              <a:t> </a:t>
            </a:r>
            <a:r>
              <a:rPr sz="1050" spc="35" dirty="0">
                <a:cs typeface="Tahoma"/>
              </a:rPr>
              <a:t>4</a:t>
            </a:r>
            <a:r>
              <a:rPr sz="1050" spc="-65" dirty="0">
                <a:cs typeface="Tahoma"/>
              </a:rPr>
              <a:t> </a:t>
            </a:r>
            <a:r>
              <a:rPr sz="1050" spc="25" dirty="0">
                <a:cs typeface="Tahoma"/>
              </a:rPr>
              <a:t>to</a:t>
            </a:r>
            <a:r>
              <a:rPr sz="1050" spc="30" dirty="0">
                <a:cs typeface="Tahoma"/>
              </a:rPr>
              <a:t>ke</a:t>
            </a:r>
            <a:r>
              <a:rPr sz="1050" spc="25" dirty="0">
                <a:cs typeface="Tahoma"/>
              </a:rPr>
              <a:t>n</a:t>
            </a:r>
            <a:r>
              <a:rPr sz="1050" spc="-5" dirty="0">
                <a:cs typeface="Tahoma"/>
              </a:rPr>
              <a:t>s!</a:t>
            </a:r>
            <a:endParaRPr sz="1050">
              <a:cs typeface="Tahoma"/>
            </a:endParaRPr>
          </a:p>
        </p:txBody>
      </p:sp>
      <p:sp>
        <p:nvSpPr>
          <p:cNvPr id="45" name="object 45"/>
          <p:cNvSpPr txBox="1"/>
          <p:nvPr/>
        </p:nvSpPr>
        <p:spPr>
          <a:xfrm>
            <a:off x="6717083" y="591822"/>
            <a:ext cx="4603750" cy="346710"/>
          </a:xfrm>
          <a:prstGeom prst="rect">
            <a:avLst/>
          </a:prstGeom>
        </p:spPr>
        <p:txBody>
          <a:bodyPr vert="horz" wrap="square" lIns="0" tIns="13335" rIns="0" bIns="0" rtlCol="0">
            <a:spAutoFit/>
          </a:bodyPr>
          <a:lstStyle/>
          <a:p>
            <a:pPr marL="12700" marR="5080">
              <a:lnSpc>
                <a:spcPct val="100000"/>
              </a:lnSpc>
              <a:spcBef>
                <a:spcPts val="105"/>
              </a:spcBef>
            </a:pPr>
            <a:r>
              <a:rPr sz="1050" b="1" spc="-20" dirty="0">
                <a:cs typeface="Tahoma"/>
              </a:rPr>
              <a:t>Since</a:t>
            </a:r>
            <a:r>
              <a:rPr sz="1050" b="1" spc="-50" dirty="0">
                <a:cs typeface="Tahoma"/>
              </a:rPr>
              <a:t> </a:t>
            </a:r>
            <a:r>
              <a:rPr sz="1050" b="1" spc="-15" dirty="0">
                <a:cs typeface="Tahoma"/>
              </a:rPr>
              <a:t>our</a:t>
            </a:r>
            <a:r>
              <a:rPr sz="1050" b="1" spc="-50" dirty="0">
                <a:cs typeface="Tahoma"/>
              </a:rPr>
              <a:t> </a:t>
            </a:r>
            <a:r>
              <a:rPr sz="1050" b="1" spc="-5" dirty="0">
                <a:cs typeface="Tahoma"/>
              </a:rPr>
              <a:t>sliding</a:t>
            </a:r>
            <a:r>
              <a:rPr sz="1050" b="1" spc="-65" dirty="0">
                <a:cs typeface="Tahoma"/>
              </a:rPr>
              <a:t> </a:t>
            </a:r>
            <a:r>
              <a:rPr sz="1050" b="1" spc="-5" dirty="0">
                <a:cs typeface="Tahoma"/>
              </a:rPr>
              <a:t>window</a:t>
            </a:r>
            <a:r>
              <a:rPr sz="1050" b="1" spc="-70" dirty="0">
                <a:cs typeface="Tahoma"/>
              </a:rPr>
              <a:t> </a:t>
            </a:r>
            <a:r>
              <a:rPr sz="1050" b="1" spc="-15" dirty="0">
                <a:cs typeface="Tahoma"/>
              </a:rPr>
              <a:t>size</a:t>
            </a:r>
            <a:r>
              <a:rPr sz="1050" b="1" spc="-60" dirty="0">
                <a:cs typeface="Tahoma"/>
              </a:rPr>
              <a:t> </a:t>
            </a:r>
            <a:r>
              <a:rPr sz="1050" b="1" spc="-25" dirty="0">
                <a:cs typeface="Tahoma"/>
              </a:rPr>
              <a:t>is</a:t>
            </a:r>
            <a:r>
              <a:rPr sz="1050" b="1" spc="-35" dirty="0">
                <a:cs typeface="Tahoma"/>
              </a:rPr>
              <a:t> </a:t>
            </a:r>
            <a:r>
              <a:rPr sz="1050" b="1" dirty="0">
                <a:cs typeface="Tahoma"/>
              </a:rPr>
              <a:t>4,</a:t>
            </a:r>
            <a:r>
              <a:rPr sz="1050" b="1" spc="-60" dirty="0">
                <a:cs typeface="Tahoma"/>
              </a:rPr>
              <a:t> </a:t>
            </a:r>
            <a:r>
              <a:rPr sz="1050" b="1" spc="-5" dirty="0">
                <a:cs typeface="Tahoma"/>
              </a:rPr>
              <a:t>we</a:t>
            </a:r>
            <a:r>
              <a:rPr sz="1050" b="1" spc="-60" dirty="0">
                <a:cs typeface="Tahoma"/>
              </a:rPr>
              <a:t> </a:t>
            </a:r>
            <a:r>
              <a:rPr sz="1050" b="1" spc="-10" dirty="0">
                <a:cs typeface="Tahoma"/>
              </a:rPr>
              <a:t>only</a:t>
            </a:r>
            <a:r>
              <a:rPr sz="1050" b="1" spc="-50" dirty="0">
                <a:cs typeface="Tahoma"/>
              </a:rPr>
              <a:t> </a:t>
            </a:r>
            <a:r>
              <a:rPr sz="1050" b="1" spc="-30" dirty="0">
                <a:cs typeface="Tahoma"/>
              </a:rPr>
              <a:t>want</a:t>
            </a:r>
            <a:r>
              <a:rPr sz="1050" b="1" spc="-50" dirty="0">
                <a:cs typeface="Tahoma"/>
              </a:rPr>
              <a:t> </a:t>
            </a:r>
            <a:r>
              <a:rPr sz="1050" b="1" spc="-25" dirty="0">
                <a:cs typeface="Tahoma"/>
              </a:rPr>
              <a:t>the</a:t>
            </a:r>
            <a:r>
              <a:rPr sz="1050" b="1" spc="-60" dirty="0">
                <a:cs typeface="Tahoma"/>
              </a:rPr>
              <a:t> </a:t>
            </a:r>
            <a:r>
              <a:rPr sz="1050" b="1" spc="-20" dirty="0">
                <a:cs typeface="Tahoma"/>
              </a:rPr>
              <a:t>dot-product</a:t>
            </a:r>
            <a:r>
              <a:rPr sz="1050" b="1" spc="-90" dirty="0">
                <a:cs typeface="Tahoma"/>
              </a:rPr>
              <a:t> </a:t>
            </a:r>
            <a:r>
              <a:rPr sz="1050" b="1" dirty="0">
                <a:cs typeface="Tahoma"/>
              </a:rPr>
              <a:t>of</a:t>
            </a:r>
            <a:r>
              <a:rPr sz="1050" b="1" spc="-40" dirty="0">
                <a:cs typeface="Tahoma"/>
              </a:rPr>
              <a:t> </a:t>
            </a:r>
            <a:r>
              <a:rPr sz="1050" b="1" spc="-25" dirty="0">
                <a:cs typeface="Tahoma"/>
              </a:rPr>
              <a:t>the </a:t>
            </a:r>
            <a:r>
              <a:rPr sz="1050" b="1" spc="-290" dirty="0">
                <a:cs typeface="Tahoma"/>
              </a:rPr>
              <a:t> </a:t>
            </a:r>
            <a:r>
              <a:rPr sz="1050" b="1" spc="-30" dirty="0">
                <a:cs typeface="Tahoma"/>
              </a:rPr>
              <a:t>current</a:t>
            </a:r>
            <a:r>
              <a:rPr sz="1050" b="1" spc="-70" dirty="0">
                <a:cs typeface="Tahoma"/>
              </a:rPr>
              <a:t> </a:t>
            </a:r>
            <a:r>
              <a:rPr sz="1050" b="1" spc="-15" dirty="0">
                <a:cs typeface="Tahoma"/>
              </a:rPr>
              <a:t>token</a:t>
            </a:r>
            <a:r>
              <a:rPr sz="1050" b="1" spc="-60" dirty="0">
                <a:cs typeface="Tahoma"/>
              </a:rPr>
              <a:t> </a:t>
            </a:r>
            <a:r>
              <a:rPr sz="1050" b="1" spc="-25" dirty="0">
                <a:cs typeface="Tahoma"/>
              </a:rPr>
              <a:t>with</a:t>
            </a:r>
            <a:r>
              <a:rPr sz="1050" b="1" spc="-70" dirty="0">
                <a:cs typeface="Tahoma"/>
              </a:rPr>
              <a:t> </a:t>
            </a:r>
            <a:r>
              <a:rPr sz="1050" b="1" spc="-25" dirty="0">
                <a:cs typeface="Tahoma"/>
              </a:rPr>
              <a:t>the</a:t>
            </a:r>
            <a:r>
              <a:rPr sz="1050" b="1" spc="-45" dirty="0">
                <a:cs typeface="Tahoma"/>
              </a:rPr>
              <a:t> </a:t>
            </a:r>
            <a:r>
              <a:rPr sz="1050" b="1" spc="-10" dirty="0">
                <a:cs typeface="Tahoma"/>
              </a:rPr>
              <a:t>previous</a:t>
            </a:r>
            <a:r>
              <a:rPr sz="1050" b="1" spc="-80" dirty="0">
                <a:cs typeface="Tahoma"/>
              </a:rPr>
              <a:t> </a:t>
            </a:r>
            <a:r>
              <a:rPr sz="1050" b="1" spc="10" dirty="0">
                <a:cs typeface="Tahoma"/>
              </a:rPr>
              <a:t>4</a:t>
            </a:r>
            <a:r>
              <a:rPr sz="1050" b="1" spc="-55" dirty="0">
                <a:cs typeface="Tahoma"/>
              </a:rPr>
              <a:t> </a:t>
            </a:r>
            <a:r>
              <a:rPr sz="1050" b="1" spc="-20" dirty="0">
                <a:cs typeface="Tahoma"/>
              </a:rPr>
              <a:t>(including</a:t>
            </a:r>
            <a:r>
              <a:rPr sz="1050" b="1" spc="-40" dirty="0">
                <a:cs typeface="Tahoma"/>
              </a:rPr>
              <a:t> </a:t>
            </a:r>
            <a:r>
              <a:rPr sz="1050" b="1" spc="-25" dirty="0">
                <a:cs typeface="Tahoma"/>
              </a:rPr>
              <a:t>the</a:t>
            </a:r>
            <a:r>
              <a:rPr sz="1050" b="1" spc="-65" dirty="0">
                <a:cs typeface="Tahoma"/>
              </a:rPr>
              <a:t> </a:t>
            </a:r>
            <a:r>
              <a:rPr sz="1050" b="1" spc="-15" dirty="0">
                <a:cs typeface="Tahoma"/>
              </a:rPr>
              <a:t>token</a:t>
            </a:r>
            <a:r>
              <a:rPr sz="1050" b="1" spc="-60" dirty="0">
                <a:cs typeface="Tahoma"/>
              </a:rPr>
              <a:t> </a:t>
            </a:r>
            <a:r>
              <a:rPr sz="1050" b="1" spc="-35" dirty="0">
                <a:cs typeface="Tahoma"/>
              </a:rPr>
              <a:t>itself)</a:t>
            </a:r>
            <a:endParaRPr sz="1050" dirty="0">
              <a:cs typeface="Tahoma"/>
            </a:endParaRPr>
          </a:p>
        </p:txBody>
      </p:sp>
      <p:sp>
        <p:nvSpPr>
          <p:cNvPr id="46" name="object 46"/>
          <p:cNvSpPr/>
          <p:nvPr/>
        </p:nvSpPr>
        <p:spPr>
          <a:xfrm>
            <a:off x="5711818" y="938532"/>
            <a:ext cx="1005265" cy="1096168"/>
          </a:xfrm>
          <a:custGeom>
            <a:avLst/>
            <a:gdLst/>
            <a:ahLst/>
            <a:cxnLst/>
            <a:rect l="l" t="t" r="r" b="b"/>
            <a:pathLst>
              <a:path w="951864" h="1382395">
                <a:moveTo>
                  <a:pt x="17272" y="1255776"/>
                </a:moveTo>
                <a:lnTo>
                  <a:pt x="0" y="1382395"/>
                </a:lnTo>
                <a:lnTo>
                  <a:pt x="111633" y="1320164"/>
                </a:lnTo>
                <a:lnTo>
                  <a:pt x="103257" y="1314450"/>
                </a:lnTo>
                <a:lnTo>
                  <a:pt x="69469" y="1314450"/>
                </a:lnTo>
                <a:lnTo>
                  <a:pt x="37973" y="1292987"/>
                </a:lnTo>
                <a:lnTo>
                  <a:pt x="48721" y="1277236"/>
                </a:lnTo>
                <a:lnTo>
                  <a:pt x="17272" y="1255776"/>
                </a:lnTo>
                <a:close/>
              </a:path>
              <a:path w="951864" h="1382395">
                <a:moveTo>
                  <a:pt x="48721" y="1277236"/>
                </a:moveTo>
                <a:lnTo>
                  <a:pt x="37973" y="1292987"/>
                </a:lnTo>
                <a:lnTo>
                  <a:pt x="69469" y="1314450"/>
                </a:lnTo>
                <a:lnTo>
                  <a:pt x="80205" y="1298719"/>
                </a:lnTo>
                <a:lnTo>
                  <a:pt x="48721" y="1277236"/>
                </a:lnTo>
                <a:close/>
              </a:path>
              <a:path w="951864" h="1382395">
                <a:moveTo>
                  <a:pt x="80205" y="1298719"/>
                </a:moveTo>
                <a:lnTo>
                  <a:pt x="69469" y="1314450"/>
                </a:lnTo>
                <a:lnTo>
                  <a:pt x="103257" y="1314450"/>
                </a:lnTo>
                <a:lnTo>
                  <a:pt x="80205" y="1298719"/>
                </a:lnTo>
                <a:close/>
              </a:path>
              <a:path w="951864" h="1382395">
                <a:moveTo>
                  <a:pt x="920369" y="0"/>
                </a:moveTo>
                <a:lnTo>
                  <a:pt x="48721" y="1277236"/>
                </a:lnTo>
                <a:lnTo>
                  <a:pt x="80205" y="1298719"/>
                </a:lnTo>
                <a:lnTo>
                  <a:pt x="951864" y="21589"/>
                </a:lnTo>
                <a:lnTo>
                  <a:pt x="920369" y="0"/>
                </a:lnTo>
                <a:close/>
              </a:path>
            </a:pathLst>
          </a:custGeom>
          <a:solidFill>
            <a:srgbClr val="550DBA"/>
          </a:solidFill>
        </p:spPr>
        <p:txBody>
          <a:bodyPr wrap="square" lIns="0" tIns="0" rIns="0" bIns="0" rtlCol="0"/>
          <a:lstStyle/>
          <a:p>
            <a:endParaRPr/>
          </a:p>
        </p:txBody>
      </p:sp>
      <p:sp>
        <p:nvSpPr>
          <p:cNvPr id="50" name="Title 1">
            <a:extLst>
              <a:ext uri="{FF2B5EF4-FFF2-40B4-BE49-F238E27FC236}">
                <a16:creationId xmlns:a16="http://schemas.microsoft.com/office/drawing/2014/main" id="{5A90C9C2-229D-188D-C877-FB3329757AE2}"/>
              </a:ext>
            </a:extLst>
          </p:cNvPr>
          <p:cNvSpPr txBox="1">
            <a:spLocks/>
          </p:cNvSpPr>
          <p:nvPr/>
        </p:nvSpPr>
        <p:spPr>
          <a:xfrm>
            <a:off x="669552" y="594335"/>
            <a:ext cx="10863635" cy="639153"/>
          </a:xfrm>
          <a:prstGeom prst="rect">
            <a:avLst/>
          </a:prstGeom>
        </p:spPr>
        <p:txBody>
          <a:bodyPr vert="horz" lIns="0" tIns="0" rIns="0" bIns="0" rtlCol="0" anchor="ctr">
            <a:normAutofit fontScale="97500"/>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US" dirty="0">
                <a:latin typeface="+mn-lt"/>
              </a:rPr>
              <a:t>The Motivation</a:t>
            </a:r>
            <a:endParaRPr lang="en-IN" dirty="0">
              <a:latin typeface="+mn-l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nvGraphicFramePr>
        <p:xfrm>
          <a:off x="2025650" y="3051810"/>
          <a:ext cx="8128000" cy="370839"/>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39">
                <a:tc>
                  <a:txBody>
                    <a:bodyPr/>
                    <a:lstStyle/>
                    <a:p>
                      <a:pPr>
                        <a:lnSpc>
                          <a:spcPct val="100000"/>
                        </a:lnSpc>
                      </a:pPr>
                      <a:endParaRPr sz="14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nSpc>
                          <a:spcPct val="100000"/>
                        </a:lnSpc>
                      </a:pPr>
                      <a:endParaRPr sz="14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nSpc>
                          <a:spcPct val="100000"/>
                        </a:lnSpc>
                      </a:pPr>
                      <a:endParaRPr sz="14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nSpc>
                          <a:spcPct val="100000"/>
                        </a:lnSpc>
                      </a:pPr>
                      <a:endParaRPr sz="14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extLst>
                  <a:ext uri="{0D108BD9-81ED-4DB2-BD59-A6C34878D82A}">
                    <a16:rowId xmlns:a16="http://schemas.microsoft.com/office/drawing/2014/main" val="10000"/>
                  </a:ext>
                </a:extLst>
              </a:tr>
            </a:tbl>
          </a:graphicData>
        </a:graphic>
      </p:graphicFrame>
      <p:sp>
        <p:nvSpPr>
          <p:cNvPr id="7" name="Title 1">
            <a:extLst>
              <a:ext uri="{FF2B5EF4-FFF2-40B4-BE49-F238E27FC236}">
                <a16:creationId xmlns:a16="http://schemas.microsoft.com/office/drawing/2014/main" id="{88230B30-69D3-9998-D8B7-5DE3823615A3}"/>
              </a:ext>
            </a:extLst>
          </p:cNvPr>
          <p:cNvSpPr txBox="1">
            <a:spLocks/>
          </p:cNvSpPr>
          <p:nvPr/>
        </p:nvSpPr>
        <p:spPr>
          <a:xfrm>
            <a:off x="669552" y="594335"/>
            <a:ext cx="10863635" cy="639153"/>
          </a:xfrm>
          <a:prstGeom prst="rect">
            <a:avLst/>
          </a:prstGeom>
        </p:spPr>
        <p:txBody>
          <a:bodyPr vert="horz" lIns="0" tIns="0" rIns="0" bIns="0" rtlCol="0" anchor="ctr">
            <a:normAutofit fontScale="97500"/>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US" dirty="0">
                <a:solidFill>
                  <a:srgbClr val="161A3E"/>
                </a:solidFill>
                <a:latin typeface="+mn-lt"/>
              </a:rPr>
              <a:t>Rolling Buffer Cache: How It Works</a:t>
            </a:r>
            <a:endParaRPr lang="en-IN" dirty="0">
              <a:solidFill>
                <a:srgbClr val="161A3E"/>
              </a:solidFill>
              <a:latin typeface="+mn-lt"/>
            </a:endParaRPr>
          </a:p>
        </p:txBody>
      </p:sp>
      <p:sp>
        <p:nvSpPr>
          <p:cNvPr id="9" name="Content Placeholder 2">
            <a:extLst>
              <a:ext uri="{FF2B5EF4-FFF2-40B4-BE49-F238E27FC236}">
                <a16:creationId xmlns:a16="http://schemas.microsoft.com/office/drawing/2014/main" id="{68517DD4-346A-7B06-A0DA-EBB191DEF38C}"/>
              </a:ext>
            </a:extLst>
          </p:cNvPr>
          <p:cNvSpPr>
            <a:spLocks noGrp="1"/>
          </p:cNvSpPr>
          <p:nvPr>
            <p:ph idx="1"/>
          </p:nvPr>
        </p:nvSpPr>
        <p:spPr>
          <a:xfrm>
            <a:off x="678884" y="1675075"/>
            <a:ext cx="10834234" cy="4398066"/>
          </a:xfrm>
        </p:spPr>
        <p:txBody>
          <a:bodyPr>
            <a:normAutofit/>
          </a:bodyPr>
          <a:lstStyle/>
          <a:p>
            <a:pPr marL="0" indent="0">
              <a:buNone/>
            </a:pPr>
            <a:r>
              <a:rPr lang="en-US" sz="2400" dirty="0">
                <a:solidFill>
                  <a:srgbClr val="161A3E"/>
                </a:solidFill>
              </a:rPr>
              <a:t>We keep track of write pointer that tells us where we added the last token in the rolling buffer cache.</a:t>
            </a:r>
          </a:p>
          <a:p>
            <a:pPr marL="0" indent="0">
              <a:buNone/>
            </a:pPr>
            <a:r>
              <a:rPr lang="en-US" sz="2400" dirty="0">
                <a:solidFill>
                  <a:srgbClr val="161A3E"/>
                </a:solidFill>
              </a:rPr>
              <a:t>Let’s add the sentence “The cat is on a chair”</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B75E4-D585-64F3-5D44-68224A05199D}"/>
            </a:ext>
          </a:extLst>
        </p:cNvPr>
        <p:cNvGrpSpPr/>
        <p:nvPr/>
      </p:nvGrpSpPr>
      <p:grpSpPr>
        <a:xfrm>
          <a:off x="0" y="0"/>
          <a:ext cx="0" cy="0"/>
          <a:chOff x="0" y="0"/>
          <a:chExt cx="0" cy="0"/>
        </a:xfrm>
      </p:grpSpPr>
      <p:graphicFrame>
        <p:nvGraphicFramePr>
          <p:cNvPr id="3" name="object 3">
            <a:extLst>
              <a:ext uri="{FF2B5EF4-FFF2-40B4-BE49-F238E27FC236}">
                <a16:creationId xmlns:a16="http://schemas.microsoft.com/office/drawing/2014/main" id="{0E56443F-48B6-0D18-646A-0494BF7357BE}"/>
              </a:ext>
            </a:extLst>
          </p:cNvPr>
          <p:cNvGraphicFramePr>
            <a:graphicFrameLocks noGrp="1"/>
          </p:cNvGraphicFramePr>
          <p:nvPr/>
        </p:nvGraphicFramePr>
        <p:xfrm>
          <a:off x="2025650" y="3051810"/>
          <a:ext cx="8128000" cy="370839"/>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39">
                <a:tc>
                  <a:txBody>
                    <a:bodyPr/>
                    <a:lstStyle/>
                    <a:p>
                      <a:pPr>
                        <a:lnSpc>
                          <a:spcPct val="100000"/>
                        </a:lnSpc>
                      </a:pPr>
                      <a:endParaRPr sz="14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nSpc>
                          <a:spcPct val="100000"/>
                        </a:lnSpc>
                      </a:pPr>
                      <a:endParaRPr sz="14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nSpc>
                          <a:spcPct val="100000"/>
                        </a:lnSpc>
                      </a:pPr>
                      <a:endParaRPr sz="14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nSpc>
                          <a:spcPct val="100000"/>
                        </a:lnSpc>
                      </a:pPr>
                      <a:endParaRPr sz="14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extLst>
                  <a:ext uri="{0D108BD9-81ED-4DB2-BD59-A6C34878D82A}">
                    <a16:rowId xmlns:a16="http://schemas.microsoft.com/office/drawing/2014/main" val="10000"/>
                  </a:ext>
                </a:extLst>
              </a:tr>
            </a:tbl>
          </a:graphicData>
        </a:graphic>
      </p:graphicFrame>
      <p:sp>
        <p:nvSpPr>
          <p:cNvPr id="7" name="Title 1">
            <a:extLst>
              <a:ext uri="{FF2B5EF4-FFF2-40B4-BE49-F238E27FC236}">
                <a16:creationId xmlns:a16="http://schemas.microsoft.com/office/drawing/2014/main" id="{8C97387D-8284-22D4-5B5B-53D0D4749A12}"/>
              </a:ext>
            </a:extLst>
          </p:cNvPr>
          <p:cNvSpPr txBox="1">
            <a:spLocks/>
          </p:cNvSpPr>
          <p:nvPr/>
        </p:nvSpPr>
        <p:spPr>
          <a:xfrm>
            <a:off x="669552" y="594335"/>
            <a:ext cx="10863635" cy="639153"/>
          </a:xfrm>
          <a:prstGeom prst="rect">
            <a:avLst/>
          </a:prstGeom>
        </p:spPr>
        <p:txBody>
          <a:bodyPr vert="horz" lIns="0" tIns="0" rIns="0" bIns="0" rtlCol="0" anchor="ctr">
            <a:normAutofit fontScale="97500"/>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US" dirty="0">
                <a:latin typeface="+mn-lt"/>
              </a:rPr>
              <a:t>Rolling Buffer Cache: How It Works</a:t>
            </a:r>
            <a:endParaRPr lang="en-IN" dirty="0">
              <a:latin typeface="+mn-lt"/>
            </a:endParaRPr>
          </a:p>
        </p:txBody>
      </p:sp>
      <p:sp>
        <p:nvSpPr>
          <p:cNvPr id="9" name="Content Placeholder 2">
            <a:extLst>
              <a:ext uri="{FF2B5EF4-FFF2-40B4-BE49-F238E27FC236}">
                <a16:creationId xmlns:a16="http://schemas.microsoft.com/office/drawing/2014/main" id="{0C822D9F-07B2-98D3-7920-B57B064C8FCC}"/>
              </a:ext>
            </a:extLst>
          </p:cNvPr>
          <p:cNvSpPr>
            <a:spLocks noGrp="1"/>
          </p:cNvSpPr>
          <p:nvPr>
            <p:ph idx="1"/>
          </p:nvPr>
        </p:nvSpPr>
        <p:spPr>
          <a:xfrm>
            <a:off x="678884" y="1675075"/>
            <a:ext cx="10834234" cy="4398066"/>
          </a:xfrm>
        </p:spPr>
        <p:txBody>
          <a:bodyPr>
            <a:normAutofit/>
          </a:bodyPr>
          <a:lstStyle/>
          <a:p>
            <a:pPr marL="0" indent="0">
              <a:buNone/>
            </a:pPr>
            <a:r>
              <a:rPr lang="en-US" sz="2400" dirty="0">
                <a:solidFill>
                  <a:srgbClr val="161A3E"/>
                </a:solidFill>
              </a:rPr>
              <a:t>We add a new token and move the pointer forward</a:t>
            </a:r>
          </a:p>
          <a:p>
            <a:pPr marL="0" indent="0">
              <a:buNone/>
            </a:pPr>
            <a:r>
              <a:rPr lang="en-US" sz="2400" dirty="0">
                <a:solidFill>
                  <a:srgbClr val="161A3E"/>
                </a:solidFill>
              </a:rPr>
              <a:t>Let’s add the sentence </a:t>
            </a:r>
            <a:r>
              <a:rPr lang="en-US" sz="2400" b="1" dirty="0">
                <a:solidFill>
                  <a:srgbClr val="161A3E"/>
                </a:solidFill>
              </a:rPr>
              <a:t>“The cat is on a chair”</a:t>
            </a:r>
          </a:p>
        </p:txBody>
      </p:sp>
    </p:spTree>
    <p:extLst>
      <p:ext uri="{BB962C8B-B14F-4D97-AF65-F5344CB8AC3E}">
        <p14:creationId xmlns:p14="http://schemas.microsoft.com/office/powerpoint/2010/main" val="31510519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nvGraphicFramePr>
        <p:xfrm>
          <a:off x="2025650" y="3051810"/>
          <a:ext cx="8128000" cy="370839"/>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39">
                <a:tc>
                  <a:txBody>
                    <a:bodyPr/>
                    <a:lstStyle/>
                    <a:p>
                      <a:pPr marL="91440">
                        <a:lnSpc>
                          <a:spcPct val="100000"/>
                        </a:lnSpc>
                        <a:spcBef>
                          <a:spcPts val="280"/>
                        </a:spcBef>
                      </a:pPr>
                      <a:r>
                        <a:rPr sz="1800" b="1" spc="-30" dirty="0">
                          <a:solidFill>
                            <a:srgbClr val="FFFFFF"/>
                          </a:solidFill>
                          <a:latin typeface="Tahoma"/>
                          <a:cs typeface="Tahoma"/>
                        </a:rPr>
                        <a:t>THE</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nSpc>
                          <a:spcPct val="100000"/>
                        </a:lnSpc>
                      </a:pPr>
                      <a:endParaRPr sz="16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nSpc>
                          <a:spcPct val="100000"/>
                        </a:lnSpc>
                      </a:pPr>
                      <a:endParaRPr sz="16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nSpc>
                          <a:spcPct val="100000"/>
                        </a:lnSpc>
                      </a:pPr>
                      <a:endParaRPr sz="16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extLst>
                  <a:ext uri="{0D108BD9-81ED-4DB2-BD59-A6C34878D82A}">
                    <a16:rowId xmlns:a16="http://schemas.microsoft.com/office/drawing/2014/main" val="10000"/>
                  </a:ext>
                </a:extLst>
              </a:tr>
            </a:tbl>
          </a:graphicData>
        </a:graphic>
      </p:graphicFrame>
      <p:sp>
        <p:nvSpPr>
          <p:cNvPr id="5" name="object 5"/>
          <p:cNvSpPr/>
          <p:nvPr/>
        </p:nvSpPr>
        <p:spPr>
          <a:xfrm>
            <a:off x="2895600" y="3526535"/>
            <a:ext cx="228600" cy="631190"/>
          </a:xfrm>
          <a:custGeom>
            <a:avLst/>
            <a:gdLst/>
            <a:ahLst/>
            <a:cxnLst/>
            <a:rect l="l" t="t" r="r" b="b"/>
            <a:pathLst>
              <a:path w="228600" h="631189">
                <a:moveTo>
                  <a:pt x="152400" y="190500"/>
                </a:moveTo>
                <a:lnTo>
                  <a:pt x="76200" y="190500"/>
                </a:lnTo>
                <a:lnTo>
                  <a:pt x="76200" y="630808"/>
                </a:lnTo>
                <a:lnTo>
                  <a:pt x="152400" y="630808"/>
                </a:lnTo>
                <a:lnTo>
                  <a:pt x="152400" y="190500"/>
                </a:lnTo>
                <a:close/>
              </a:path>
              <a:path w="228600" h="631189">
                <a:moveTo>
                  <a:pt x="114300" y="0"/>
                </a:moveTo>
                <a:lnTo>
                  <a:pt x="0" y="228600"/>
                </a:lnTo>
                <a:lnTo>
                  <a:pt x="76200" y="228600"/>
                </a:lnTo>
                <a:lnTo>
                  <a:pt x="76200" y="190500"/>
                </a:lnTo>
                <a:lnTo>
                  <a:pt x="209550" y="190500"/>
                </a:lnTo>
                <a:lnTo>
                  <a:pt x="114300" y="0"/>
                </a:lnTo>
                <a:close/>
              </a:path>
              <a:path w="228600" h="631189">
                <a:moveTo>
                  <a:pt x="209550" y="190500"/>
                </a:moveTo>
                <a:lnTo>
                  <a:pt x="152400" y="190500"/>
                </a:lnTo>
                <a:lnTo>
                  <a:pt x="152400" y="228600"/>
                </a:lnTo>
                <a:lnTo>
                  <a:pt x="228600" y="228600"/>
                </a:lnTo>
                <a:lnTo>
                  <a:pt x="209550" y="190500"/>
                </a:lnTo>
                <a:close/>
              </a:path>
            </a:pathLst>
          </a:custGeom>
          <a:solidFill>
            <a:srgbClr val="ED7660"/>
          </a:solidFill>
        </p:spPr>
        <p:txBody>
          <a:bodyPr wrap="square" lIns="0" tIns="0" rIns="0" bIns="0" rtlCol="0"/>
          <a:lstStyle/>
          <a:p>
            <a:endParaRPr/>
          </a:p>
        </p:txBody>
      </p:sp>
      <p:sp>
        <p:nvSpPr>
          <p:cNvPr id="6" name="object 6"/>
          <p:cNvSpPr txBox="1"/>
          <p:nvPr/>
        </p:nvSpPr>
        <p:spPr>
          <a:xfrm>
            <a:off x="2300732" y="4288917"/>
            <a:ext cx="1506220" cy="299720"/>
          </a:xfrm>
          <a:prstGeom prst="rect">
            <a:avLst/>
          </a:prstGeom>
        </p:spPr>
        <p:txBody>
          <a:bodyPr vert="horz" wrap="square" lIns="0" tIns="12700" rIns="0" bIns="0" rtlCol="0">
            <a:spAutoFit/>
          </a:bodyPr>
          <a:lstStyle/>
          <a:p>
            <a:pPr marL="12700">
              <a:lnSpc>
                <a:spcPct val="100000"/>
              </a:lnSpc>
              <a:spcBef>
                <a:spcPts val="100"/>
              </a:spcBef>
            </a:pPr>
            <a:r>
              <a:rPr sz="1800" b="1" spc="-55" dirty="0">
                <a:cs typeface="Tahoma"/>
              </a:rPr>
              <a:t>W</a:t>
            </a:r>
            <a:r>
              <a:rPr sz="1800" b="1" spc="-50" dirty="0">
                <a:cs typeface="Tahoma"/>
              </a:rPr>
              <a:t>r</a:t>
            </a:r>
            <a:r>
              <a:rPr sz="1800" b="1" spc="-45" dirty="0">
                <a:cs typeface="Tahoma"/>
              </a:rPr>
              <a:t>i</a:t>
            </a:r>
            <a:r>
              <a:rPr sz="1800" b="1" spc="-40" dirty="0">
                <a:cs typeface="Tahoma"/>
              </a:rPr>
              <a:t>t</a:t>
            </a:r>
            <a:r>
              <a:rPr sz="1800" b="1" spc="-45" dirty="0">
                <a:cs typeface="Tahoma"/>
              </a:rPr>
              <a:t>e</a:t>
            </a:r>
            <a:r>
              <a:rPr sz="1800" b="1" spc="-55" dirty="0">
                <a:cs typeface="Tahoma"/>
              </a:rPr>
              <a:t> </a:t>
            </a:r>
            <a:r>
              <a:rPr sz="1800" b="1" spc="50" dirty="0">
                <a:cs typeface="Tahoma"/>
              </a:rPr>
              <a:t>p</a:t>
            </a:r>
            <a:r>
              <a:rPr sz="1800" b="1" spc="-10" dirty="0">
                <a:cs typeface="Tahoma"/>
              </a:rPr>
              <a:t>oi</a:t>
            </a:r>
            <a:r>
              <a:rPr sz="1800" b="1" spc="-35" dirty="0">
                <a:cs typeface="Tahoma"/>
              </a:rPr>
              <a:t>n</a:t>
            </a:r>
            <a:r>
              <a:rPr sz="1800" b="1" spc="-55" dirty="0">
                <a:cs typeface="Tahoma"/>
              </a:rPr>
              <a:t>ter</a:t>
            </a:r>
            <a:endParaRPr sz="1800">
              <a:cs typeface="Tahoma"/>
            </a:endParaRPr>
          </a:p>
        </p:txBody>
      </p:sp>
      <p:sp>
        <p:nvSpPr>
          <p:cNvPr id="9" name="Title 1">
            <a:extLst>
              <a:ext uri="{FF2B5EF4-FFF2-40B4-BE49-F238E27FC236}">
                <a16:creationId xmlns:a16="http://schemas.microsoft.com/office/drawing/2014/main" id="{5E3B4840-3D2E-F7F1-1622-2EEC7A6320CF}"/>
              </a:ext>
            </a:extLst>
          </p:cNvPr>
          <p:cNvSpPr txBox="1">
            <a:spLocks/>
          </p:cNvSpPr>
          <p:nvPr/>
        </p:nvSpPr>
        <p:spPr>
          <a:xfrm>
            <a:off x="669552" y="594335"/>
            <a:ext cx="10863635" cy="639153"/>
          </a:xfrm>
          <a:prstGeom prst="rect">
            <a:avLst/>
          </a:prstGeom>
        </p:spPr>
        <p:txBody>
          <a:bodyPr vert="horz" lIns="0" tIns="0" rIns="0" bIns="0" rtlCol="0" anchor="ctr">
            <a:normAutofit fontScale="97500"/>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US" dirty="0">
                <a:latin typeface="+mn-lt"/>
              </a:rPr>
              <a:t>Rolling Buffer Cache: How It Works</a:t>
            </a:r>
            <a:endParaRPr lang="en-IN" dirty="0">
              <a:latin typeface="+mn-lt"/>
            </a:endParaRPr>
          </a:p>
        </p:txBody>
      </p:sp>
      <p:sp>
        <p:nvSpPr>
          <p:cNvPr id="10" name="Content Placeholder 2">
            <a:extLst>
              <a:ext uri="{FF2B5EF4-FFF2-40B4-BE49-F238E27FC236}">
                <a16:creationId xmlns:a16="http://schemas.microsoft.com/office/drawing/2014/main" id="{EAA5E643-17CB-7C28-BAD8-0DE60251279E}"/>
              </a:ext>
            </a:extLst>
          </p:cNvPr>
          <p:cNvSpPr>
            <a:spLocks noGrp="1"/>
          </p:cNvSpPr>
          <p:nvPr>
            <p:ph idx="1"/>
          </p:nvPr>
        </p:nvSpPr>
        <p:spPr>
          <a:xfrm>
            <a:off x="678884" y="1675075"/>
            <a:ext cx="10834234" cy="4398066"/>
          </a:xfrm>
        </p:spPr>
        <p:txBody>
          <a:bodyPr>
            <a:normAutofit/>
          </a:bodyPr>
          <a:lstStyle/>
          <a:p>
            <a:pPr marL="0" indent="0">
              <a:buNone/>
            </a:pPr>
            <a:r>
              <a:rPr lang="en-US" sz="2400" dirty="0">
                <a:solidFill>
                  <a:srgbClr val="161A3E"/>
                </a:solidFill>
                <a:latin typeface="+mn-lt"/>
              </a:rPr>
              <a:t>We add a new token and move the pointer forward</a:t>
            </a:r>
          </a:p>
          <a:p>
            <a:pPr marL="0" indent="0">
              <a:buNone/>
            </a:pPr>
            <a:r>
              <a:rPr lang="en-US" sz="2400" dirty="0">
                <a:solidFill>
                  <a:srgbClr val="161A3E"/>
                </a:solidFill>
                <a:latin typeface="+mn-lt"/>
              </a:rPr>
              <a:t>Let’s add the sentence </a:t>
            </a:r>
            <a:r>
              <a:rPr lang="en-US" sz="2400" b="1" dirty="0">
                <a:solidFill>
                  <a:srgbClr val="161A3E"/>
                </a:solidFill>
                <a:latin typeface="+mn-lt"/>
              </a:rPr>
              <a:t>“The cat is on a chair”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nvGraphicFramePr>
        <p:xfrm>
          <a:off x="2025650" y="3051810"/>
          <a:ext cx="8128000" cy="370839"/>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39">
                <a:tc>
                  <a:txBody>
                    <a:bodyPr/>
                    <a:lstStyle/>
                    <a:p>
                      <a:pPr marL="91440">
                        <a:lnSpc>
                          <a:spcPct val="100000"/>
                        </a:lnSpc>
                        <a:spcBef>
                          <a:spcPts val="280"/>
                        </a:spcBef>
                      </a:pPr>
                      <a:r>
                        <a:rPr sz="1800" b="1" spc="-30" dirty="0">
                          <a:solidFill>
                            <a:srgbClr val="FFFFFF"/>
                          </a:solidFill>
                          <a:latin typeface="Tahoma"/>
                          <a:cs typeface="Tahoma"/>
                        </a:rPr>
                        <a:t>THE</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marL="91440">
                        <a:lnSpc>
                          <a:spcPct val="100000"/>
                        </a:lnSpc>
                        <a:spcBef>
                          <a:spcPts val="280"/>
                        </a:spcBef>
                      </a:pPr>
                      <a:r>
                        <a:rPr sz="1800" b="1" spc="-25" dirty="0">
                          <a:solidFill>
                            <a:srgbClr val="FFFFFF"/>
                          </a:solidFill>
                          <a:latin typeface="Tahoma"/>
                          <a:cs typeface="Tahoma"/>
                        </a:rPr>
                        <a:t>CAT</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nSpc>
                          <a:spcPct val="100000"/>
                        </a:lnSpc>
                      </a:pPr>
                      <a:endParaRPr sz="16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nSpc>
                          <a:spcPct val="100000"/>
                        </a:lnSpc>
                      </a:pPr>
                      <a:endParaRPr sz="16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extLst>
                  <a:ext uri="{0D108BD9-81ED-4DB2-BD59-A6C34878D82A}">
                    <a16:rowId xmlns:a16="http://schemas.microsoft.com/office/drawing/2014/main" val="10000"/>
                  </a:ext>
                </a:extLst>
              </a:tr>
            </a:tbl>
          </a:graphicData>
        </a:graphic>
      </p:graphicFrame>
      <p:sp>
        <p:nvSpPr>
          <p:cNvPr id="5" name="object 5"/>
          <p:cNvSpPr/>
          <p:nvPr/>
        </p:nvSpPr>
        <p:spPr>
          <a:xfrm>
            <a:off x="5001767" y="3526535"/>
            <a:ext cx="228600" cy="631190"/>
          </a:xfrm>
          <a:custGeom>
            <a:avLst/>
            <a:gdLst/>
            <a:ahLst/>
            <a:cxnLst/>
            <a:rect l="l" t="t" r="r" b="b"/>
            <a:pathLst>
              <a:path w="228600" h="631189">
                <a:moveTo>
                  <a:pt x="152400" y="190500"/>
                </a:moveTo>
                <a:lnTo>
                  <a:pt x="76200" y="190500"/>
                </a:lnTo>
                <a:lnTo>
                  <a:pt x="76200" y="630808"/>
                </a:lnTo>
                <a:lnTo>
                  <a:pt x="152400" y="630808"/>
                </a:lnTo>
                <a:lnTo>
                  <a:pt x="152400" y="190500"/>
                </a:lnTo>
                <a:close/>
              </a:path>
              <a:path w="228600" h="631189">
                <a:moveTo>
                  <a:pt x="114300" y="0"/>
                </a:moveTo>
                <a:lnTo>
                  <a:pt x="0" y="228600"/>
                </a:lnTo>
                <a:lnTo>
                  <a:pt x="76200" y="228600"/>
                </a:lnTo>
                <a:lnTo>
                  <a:pt x="76200" y="190500"/>
                </a:lnTo>
                <a:lnTo>
                  <a:pt x="209550" y="190500"/>
                </a:lnTo>
                <a:lnTo>
                  <a:pt x="114300" y="0"/>
                </a:lnTo>
                <a:close/>
              </a:path>
              <a:path w="228600" h="631189">
                <a:moveTo>
                  <a:pt x="209550" y="190500"/>
                </a:moveTo>
                <a:lnTo>
                  <a:pt x="152400" y="190500"/>
                </a:lnTo>
                <a:lnTo>
                  <a:pt x="152400" y="228600"/>
                </a:lnTo>
                <a:lnTo>
                  <a:pt x="228600" y="228600"/>
                </a:lnTo>
                <a:lnTo>
                  <a:pt x="209550" y="190500"/>
                </a:lnTo>
                <a:close/>
              </a:path>
            </a:pathLst>
          </a:custGeom>
          <a:solidFill>
            <a:srgbClr val="ED7660"/>
          </a:solidFill>
        </p:spPr>
        <p:txBody>
          <a:bodyPr wrap="square" lIns="0" tIns="0" rIns="0" bIns="0" rtlCol="0"/>
          <a:lstStyle/>
          <a:p>
            <a:endParaRPr/>
          </a:p>
        </p:txBody>
      </p:sp>
      <p:sp>
        <p:nvSpPr>
          <p:cNvPr id="6" name="object 6"/>
          <p:cNvSpPr txBox="1"/>
          <p:nvPr/>
        </p:nvSpPr>
        <p:spPr>
          <a:xfrm>
            <a:off x="4407534" y="4288917"/>
            <a:ext cx="1508125" cy="299720"/>
          </a:xfrm>
          <a:prstGeom prst="rect">
            <a:avLst/>
          </a:prstGeom>
        </p:spPr>
        <p:txBody>
          <a:bodyPr vert="horz" wrap="square" lIns="0" tIns="12700" rIns="0" bIns="0" rtlCol="0">
            <a:spAutoFit/>
          </a:bodyPr>
          <a:lstStyle/>
          <a:p>
            <a:pPr marL="12700">
              <a:lnSpc>
                <a:spcPct val="100000"/>
              </a:lnSpc>
              <a:spcBef>
                <a:spcPts val="100"/>
              </a:spcBef>
            </a:pPr>
            <a:r>
              <a:rPr sz="1800" b="1" spc="-55" dirty="0">
                <a:cs typeface="Tahoma"/>
              </a:rPr>
              <a:t>W</a:t>
            </a:r>
            <a:r>
              <a:rPr sz="1800" b="1" spc="-50" dirty="0">
                <a:cs typeface="Tahoma"/>
              </a:rPr>
              <a:t>r</a:t>
            </a:r>
            <a:r>
              <a:rPr sz="1800" b="1" spc="-45" dirty="0">
                <a:cs typeface="Tahoma"/>
              </a:rPr>
              <a:t>i</a:t>
            </a:r>
            <a:r>
              <a:rPr sz="1800" b="1" spc="-40" dirty="0">
                <a:cs typeface="Tahoma"/>
              </a:rPr>
              <a:t>t</a:t>
            </a:r>
            <a:r>
              <a:rPr sz="1800" b="1" spc="-45" dirty="0">
                <a:cs typeface="Tahoma"/>
              </a:rPr>
              <a:t>e</a:t>
            </a:r>
            <a:r>
              <a:rPr sz="1800" b="1" spc="-50" dirty="0">
                <a:cs typeface="Tahoma"/>
              </a:rPr>
              <a:t> </a:t>
            </a:r>
            <a:r>
              <a:rPr sz="1800" b="1" spc="55" dirty="0">
                <a:cs typeface="Tahoma"/>
              </a:rPr>
              <a:t>p</a:t>
            </a:r>
            <a:r>
              <a:rPr sz="1800" b="1" spc="-10" dirty="0">
                <a:cs typeface="Tahoma"/>
              </a:rPr>
              <a:t>oi</a:t>
            </a:r>
            <a:r>
              <a:rPr sz="1800" b="1" spc="-30" dirty="0">
                <a:cs typeface="Tahoma"/>
              </a:rPr>
              <a:t>n</a:t>
            </a:r>
            <a:r>
              <a:rPr sz="1800" b="1" spc="-55" dirty="0">
                <a:cs typeface="Tahoma"/>
              </a:rPr>
              <a:t>ter</a:t>
            </a:r>
            <a:endParaRPr sz="1800">
              <a:cs typeface="Tahoma"/>
            </a:endParaRPr>
          </a:p>
        </p:txBody>
      </p:sp>
      <p:sp>
        <p:nvSpPr>
          <p:cNvPr id="9" name="Title 1">
            <a:extLst>
              <a:ext uri="{FF2B5EF4-FFF2-40B4-BE49-F238E27FC236}">
                <a16:creationId xmlns:a16="http://schemas.microsoft.com/office/drawing/2014/main" id="{93919ABC-21C4-7FD7-85AC-E94790D4DAB5}"/>
              </a:ext>
            </a:extLst>
          </p:cNvPr>
          <p:cNvSpPr txBox="1">
            <a:spLocks/>
          </p:cNvSpPr>
          <p:nvPr/>
        </p:nvSpPr>
        <p:spPr>
          <a:xfrm>
            <a:off x="669552" y="594335"/>
            <a:ext cx="10863635" cy="639153"/>
          </a:xfrm>
          <a:prstGeom prst="rect">
            <a:avLst/>
          </a:prstGeom>
        </p:spPr>
        <p:txBody>
          <a:bodyPr vert="horz" lIns="0" tIns="0" rIns="0" bIns="0" rtlCol="0" anchor="ctr">
            <a:normAutofit fontScale="97500"/>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US" dirty="0">
                <a:latin typeface="+mn-lt"/>
              </a:rPr>
              <a:t>Rolling Buffer Cache: How It Works</a:t>
            </a:r>
            <a:endParaRPr lang="en-IN" dirty="0">
              <a:latin typeface="+mn-lt"/>
            </a:endParaRPr>
          </a:p>
        </p:txBody>
      </p:sp>
      <p:sp>
        <p:nvSpPr>
          <p:cNvPr id="10" name="Content Placeholder 2">
            <a:extLst>
              <a:ext uri="{FF2B5EF4-FFF2-40B4-BE49-F238E27FC236}">
                <a16:creationId xmlns:a16="http://schemas.microsoft.com/office/drawing/2014/main" id="{CBBFF605-CE46-ABAC-D32A-732F35B89B70}"/>
              </a:ext>
            </a:extLst>
          </p:cNvPr>
          <p:cNvSpPr>
            <a:spLocks noGrp="1"/>
          </p:cNvSpPr>
          <p:nvPr>
            <p:ph idx="1"/>
          </p:nvPr>
        </p:nvSpPr>
        <p:spPr>
          <a:xfrm>
            <a:off x="678884" y="1675075"/>
            <a:ext cx="10834234" cy="4398066"/>
          </a:xfrm>
        </p:spPr>
        <p:txBody>
          <a:bodyPr>
            <a:normAutofit/>
          </a:bodyPr>
          <a:lstStyle/>
          <a:p>
            <a:pPr marL="0" indent="0">
              <a:buNone/>
            </a:pPr>
            <a:r>
              <a:rPr lang="en-US" sz="2400" dirty="0">
                <a:solidFill>
                  <a:srgbClr val="161A3E"/>
                </a:solidFill>
                <a:latin typeface="+mn-lt"/>
              </a:rPr>
              <a:t>We add a new token and move the pointer forward</a:t>
            </a:r>
          </a:p>
          <a:p>
            <a:pPr marL="0" indent="0">
              <a:buNone/>
            </a:pPr>
            <a:r>
              <a:rPr lang="en-US" sz="2400" dirty="0">
                <a:solidFill>
                  <a:srgbClr val="161A3E"/>
                </a:solidFill>
                <a:latin typeface="+mn-lt"/>
              </a:rPr>
              <a:t>Let’s add the sentence </a:t>
            </a:r>
            <a:r>
              <a:rPr lang="en-US" sz="2400" b="1" dirty="0">
                <a:solidFill>
                  <a:srgbClr val="161A3E"/>
                </a:solidFill>
                <a:latin typeface="+mn-lt"/>
              </a:rPr>
              <a:t>“The cat is on a chair”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nvGraphicFramePr>
        <p:xfrm>
          <a:off x="2025650" y="3051810"/>
          <a:ext cx="8128000" cy="370839"/>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39">
                <a:tc>
                  <a:txBody>
                    <a:bodyPr/>
                    <a:lstStyle/>
                    <a:p>
                      <a:pPr marL="91440">
                        <a:lnSpc>
                          <a:spcPct val="100000"/>
                        </a:lnSpc>
                        <a:spcBef>
                          <a:spcPts val="280"/>
                        </a:spcBef>
                      </a:pPr>
                      <a:r>
                        <a:rPr sz="1800" b="1" spc="-30" dirty="0">
                          <a:solidFill>
                            <a:srgbClr val="FFFFFF"/>
                          </a:solidFill>
                          <a:latin typeface="Tahoma"/>
                          <a:cs typeface="Tahoma"/>
                        </a:rPr>
                        <a:t>THE</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marL="91440">
                        <a:lnSpc>
                          <a:spcPct val="100000"/>
                        </a:lnSpc>
                        <a:spcBef>
                          <a:spcPts val="280"/>
                        </a:spcBef>
                      </a:pPr>
                      <a:r>
                        <a:rPr sz="1800" b="1" spc="-25" dirty="0">
                          <a:solidFill>
                            <a:srgbClr val="FFFFFF"/>
                          </a:solidFill>
                          <a:latin typeface="Tahoma"/>
                          <a:cs typeface="Tahoma"/>
                        </a:rPr>
                        <a:t>CAT</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marL="92075">
                        <a:lnSpc>
                          <a:spcPct val="100000"/>
                        </a:lnSpc>
                        <a:spcBef>
                          <a:spcPts val="280"/>
                        </a:spcBef>
                      </a:pPr>
                      <a:r>
                        <a:rPr sz="1800" b="1" spc="-190" dirty="0">
                          <a:solidFill>
                            <a:srgbClr val="FFFFFF"/>
                          </a:solidFill>
                          <a:latin typeface="Tahoma"/>
                          <a:cs typeface="Tahoma"/>
                        </a:rPr>
                        <a:t>IS</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nSpc>
                          <a:spcPct val="100000"/>
                        </a:lnSpc>
                      </a:pPr>
                      <a:endParaRPr sz="16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extLst>
                  <a:ext uri="{0D108BD9-81ED-4DB2-BD59-A6C34878D82A}">
                    <a16:rowId xmlns:a16="http://schemas.microsoft.com/office/drawing/2014/main" val="10000"/>
                  </a:ext>
                </a:extLst>
              </a:tr>
            </a:tbl>
          </a:graphicData>
        </a:graphic>
      </p:graphicFrame>
      <p:sp>
        <p:nvSpPr>
          <p:cNvPr id="5" name="object 5"/>
          <p:cNvSpPr/>
          <p:nvPr/>
        </p:nvSpPr>
        <p:spPr>
          <a:xfrm>
            <a:off x="7050023" y="3526535"/>
            <a:ext cx="228600" cy="631190"/>
          </a:xfrm>
          <a:custGeom>
            <a:avLst/>
            <a:gdLst/>
            <a:ahLst/>
            <a:cxnLst/>
            <a:rect l="l" t="t" r="r" b="b"/>
            <a:pathLst>
              <a:path w="228600" h="631189">
                <a:moveTo>
                  <a:pt x="152400" y="190500"/>
                </a:moveTo>
                <a:lnTo>
                  <a:pt x="76200" y="190500"/>
                </a:lnTo>
                <a:lnTo>
                  <a:pt x="76200" y="630808"/>
                </a:lnTo>
                <a:lnTo>
                  <a:pt x="152400" y="630808"/>
                </a:lnTo>
                <a:lnTo>
                  <a:pt x="152400" y="190500"/>
                </a:lnTo>
                <a:close/>
              </a:path>
              <a:path w="228600" h="631189">
                <a:moveTo>
                  <a:pt x="114300" y="0"/>
                </a:moveTo>
                <a:lnTo>
                  <a:pt x="0" y="228600"/>
                </a:lnTo>
                <a:lnTo>
                  <a:pt x="76200" y="228600"/>
                </a:lnTo>
                <a:lnTo>
                  <a:pt x="76200" y="190500"/>
                </a:lnTo>
                <a:lnTo>
                  <a:pt x="209550" y="190500"/>
                </a:lnTo>
                <a:lnTo>
                  <a:pt x="114300" y="0"/>
                </a:lnTo>
                <a:close/>
              </a:path>
              <a:path w="228600" h="631189">
                <a:moveTo>
                  <a:pt x="209550" y="190500"/>
                </a:moveTo>
                <a:lnTo>
                  <a:pt x="152400" y="190500"/>
                </a:lnTo>
                <a:lnTo>
                  <a:pt x="152400" y="228600"/>
                </a:lnTo>
                <a:lnTo>
                  <a:pt x="228600" y="228600"/>
                </a:lnTo>
                <a:lnTo>
                  <a:pt x="209550" y="190500"/>
                </a:lnTo>
                <a:close/>
              </a:path>
            </a:pathLst>
          </a:custGeom>
          <a:solidFill>
            <a:srgbClr val="ED7660"/>
          </a:solidFill>
        </p:spPr>
        <p:txBody>
          <a:bodyPr wrap="square" lIns="0" tIns="0" rIns="0" bIns="0" rtlCol="0"/>
          <a:lstStyle/>
          <a:p>
            <a:endParaRPr/>
          </a:p>
        </p:txBody>
      </p:sp>
      <p:sp>
        <p:nvSpPr>
          <p:cNvPr id="6" name="object 6"/>
          <p:cNvSpPr txBox="1"/>
          <p:nvPr/>
        </p:nvSpPr>
        <p:spPr>
          <a:xfrm>
            <a:off x="6456679" y="4288917"/>
            <a:ext cx="1506220" cy="299720"/>
          </a:xfrm>
          <a:prstGeom prst="rect">
            <a:avLst/>
          </a:prstGeom>
        </p:spPr>
        <p:txBody>
          <a:bodyPr vert="horz" wrap="square" lIns="0" tIns="12700" rIns="0" bIns="0" rtlCol="0">
            <a:spAutoFit/>
          </a:bodyPr>
          <a:lstStyle/>
          <a:p>
            <a:pPr marL="12700">
              <a:lnSpc>
                <a:spcPct val="100000"/>
              </a:lnSpc>
              <a:spcBef>
                <a:spcPts val="100"/>
              </a:spcBef>
            </a:pPr>
            <a:r>
              <a:rPr sz="1800" b="1" spc="-55" dirty="0">
                <a:cs typeface="Tahoma"/>
              </a:rPr>
              <a:t>W</a:t>
            </a:r>
            <a:r>
              <a:rPr sz="1800" b="1" spc="-50" dirty="0">
                <a:cs typeface="Tahoma"/>
              </a:rPr>
              <a:t>r</a:t>
            </a:r>
            <a:r>
              <a:rPr sz="1800" b="1" spc="-45" dirty="0">
                <a:cs typeface="Tahoma"/>
              </a:rPr>
              <a:t>i</a:t>
            </a:r>
            <a:r>
              <a:rPr sz="1800" b="1" spc="-40" dirty="0">
                <a:cs typeface="Tahoma"/>
              </a:rPr>
              <a:t>t</a:t>
            </a:r>
            <a:r>
              <a:rPr sz="1800" b="1" spc="-45" dirty="0">
                <a:cs typeface="Tahoma"/>
              </a:rPr>
              <a:t>e</a:t>
            </a:r>
            <a:r>
              <a:rPr sz="1800" b="1" spc="-55" dirty="0">
                <a:cs typeface="Tahoma"/>
              </a:rPr>
              <a:t> </a:t>
            </a:r>
            <a:r>
              <a:rPr sz="1800" b="1" spc="50" dirty="0">
                <a:cs typeface="Tahoma"/>
              </a:rPr>
              <a:t>p</a:t>
            </a:r>
            <a:r>
              <a:rPr sz="1800" b="1" spc="-10" dirty="0">
                <a:cs typeface="Tahoma"/>
              </a:rPr>
              <a:t>oi</a:t>
            </a:r>
            <a:r>
              <a:rPr sz="1800" b="1" spc="-35" dirty="0">
                <a:cs typeface="Tahoma"/>
              </a:rPr>
              <a:t>n</a:t>
            </a:r>
            <a:r>
              <a:rPr sz="1800" b="1" spc="-55" dirty="0">
                <a:cs typeface="Tahoma"/>
              </a:rPr>
              <a:t>ter</a:t>
            </a:r>
            <a:endParaRPr sz="1800">
              <a:cs typeface="Tahoma"/>
            </a:endParaRPr>
          </a:p>
        </p:txBody>
      </p:sp>
      <p:sp>
        <p:nvSpPr>
          <p:cNvPr id="9" name="Title 1">
            <a:extLst>
              <a:ext uri="{FF2B5EF4-FFF2-40B4-BE49-F238E27FC236}">
                <a16:creationId xmlns:a16="http://schemas.microsoft.com/office/drawing/2014/main" id="{C753CDE7-8C87-0764-D314-A0C1C7BCFFBA}"/>
              </a:ext>
            </a:extLst>
          </p:cNvPr>
          <p:cNvSpPr txBox="1">
            <a:spLocks/>
          </p:cNvSpPr>
          <p:nvPr/>
        </p:nvSpPr>
        <p:spPr>
          <a:xfrm>
            <a:off x="669552" y="594335"/>
            <a:ext cx="10863635" cy="639153"/>
          </a:xfrm>
          <a:prstGeom prst="rect">
            <a:avLst/>
          </a:prstGeom>
        </p:spPr>
        <p:txBody>
          <a:bodyPr vert="horz" lIns="0" tIns="0" rIns="0" bIns="0" rtlCol="0" anchor="ctr">
            <a:normAutofit fontScale="97500"/>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US" dirty="0">
                <a:latin typeface="+mn-lt"/>
              </a:rPr>
              <a:t>Rolling Buffer Cache: How It Works</a:t>
            </a:r>
            <a:endParaRPr lang="en-IN" dirty="0">
              <a:latin typeface="+mn-lt"/>
            </a:endParaRPr>
          </a:p>
        </p:txBody>
      </p:sp>
      <p:sp>
        <p:nvSpPr>
          <p:cNvPr id="10" name="Content Placeholder 2">
            <a:extLst>
              <a:ext uri="{FF2B5EF4-FFF2-40B4-BE49-F238E27FC236}">
                <a16:creationId xmlns:a16="http://schemas.microsoft.com/office/drawing/2014/main" id="{AED43DFC-15C5-89D1-201D-35459106DE8B}"/>
              </a:ext>
            </a:extLst>
          </p:cNvPr>
          <p:cNvSpPr>
            <a:spLocks noGrp="1"/>
          </p:cNvSpPr>
          <p:nvPr>
            <p:ph idx="1"/>
          </p:nvPr>
        </p:nvSpPr>
        <p:spPr>
          <a:xfrm>
            <a:off x="678884" y="1675075"/>
            <a:ext cx="10834234" cy="4398066"/>
          </a:xfrm>
        </p:spPr>
        <p:txBody>
          <a:bodyPr>
            <a:normAutofit/>
          </a:bodyPr>
          <a:lstStyle/>
          <a:p>
            <a:pPr marL="0" indent="0">
              <a:buNone/>
            </a:pPr>
            <a:r>
              <a:rPr lang="en-US" sz="2400" dirty="0">
                <a:solidFill>
                  <a:srgbClr val="161A3E"/>
                </a:solidFill>
                <a:latin typeface="+mn-lt"/>
              </a:rPr>
              <a:t>We add a new token and move the pointer forward</a:t>
            </a:r>
          </a:p>
          <a:p>
            <a:pPr marL="0" indent="0">
              <a:buNone/>
            </a:pPr>
            <a:r>
              <a:rPr lang="en-US" sz="2400" dirty="0">
                <a:solidFill>
                  <a:srgbClr val="161A3E"/>
                </a:solidFill>
                <a:latin typeface="+mn-lt"/>
              </a:rPr>
              <a:t>Let’s add the sentence </a:t>
            </a:r>
            <a:r>
              <a:rPr lang="en-US" sz="2400" b="1" dirty="0">
                <a:solidFill>
                  <a:srgbClr val="161A3E"/>
                </a:solidFill>
                <a:latin typeface="+mn-lt"/>
              </a:rPr>
              <a:t>“The cat is on a chair”</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nvGraphicFramePr>
        <p:xfrm>
          <a:off x="2025650" y="3051810"/>
          <a:ext cx="8128000" cy="370839"/>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39">
                <a:tc>
                  <a:txBody>
                    <a:bodyPr/>
                    <a:lstStyle/>
                    <a:p>
                      <a:pPr marL="91440">
                        <a:lnSpc>
                          <a:spcPct val="100000"/>
                        </a:lnSpc>
                        <a:spcBef>
                          <a:spcPts val="280"/>
                        </a:spcBef>
                      </a:pPr>
                      <a:r>
                        <a:rPr sz="1800" b="1" spc="-30" dirty="0">
                          <a:solidFill>
                            <a:srgbClr val="FFFFFF"/>
                          </a:solidFill>
                          <a:latin typeface="Tahoma"/>
                          <a:cs typeface="Tahoma"/>
                        </a:rPr>
                        <a:t>THE</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marL="91440">
                        <a:lnSpc>
                          <a:spcPct val="100000"/>
                        </a:lnSpc>
                        <a:spcBef>
                          <a:spcPts val="280"/>
                        </a:spcBef>
                      </a:pPr>
                      <a:r>
                        <a:rPr sz="1800" b="1" spc="-25" dirty="0">
                          <a:solidFill>
                            <a:srgbClr val="FFFFFF"/>
                          </a:solidFill>
                          <a:latin typeface="Tahoma"/>
                          <a:cs typeface="Tahoma"/>
                        </a:rPr>
                        <a:t>CAT</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marL="92075">
                        <a:lnSpc>
                          <a:spcPct val="100000"/>
                        </a:lnSpc>
                        <a:spcBef>
                          <a:spcPts val="280"/>
                        </a:spcBef>
                      </a:pPr>
                      <a:r>
                        <a:rPr sz="1800" b="1" spc="-190" dirty="0">
                          <a:solidFill>
                            <a:srgbClr val="FFFFFF"/>
                          </a:solidFill>
                          <a:latin typeface="Tahoma"/>
                          <a:cs typeface="Tahoma"/>
                        </a:rPr>
                        <a:t>IS</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marL="92075">
                        <a:lnSpc>
                          <a:spcPct val="100000"/>
                        </a:lnSpc>
                        <a:spcBef>
                          <a:spcPts val="280"/>
                        </a:spcBef>
                      </a:pPr>
                      <a:r>
                        <a:rPr sz="1800" b="1" spc="90" dirty="0">
                          <a:solidFill>
                            <a:srgbClr val="FFFFFF"/>
                          </a:solidFill>
                          <a:latin typeface="Tahoma"/>
                          <a:cs typeface="Tahoma"/>
                        </a:rPr>
                        <a:t>ON</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extLst>
                  <a:ext uri="{0D108BD9-81ED-4DB2-BD59-A6C34878D82A}">
                    <a16:rowId xmlns:a16="http://schemas.microsoft.com/office/drawing/2014/main" val="10000"/>
                  </a:ext>
                </a:extLst>
              </a:tr>
            </a:tbl>
          </a:graphicData>
        </a:graphic>
      </p:graphicFrame>
      <p:sp>
        <p:nvSpPr>
          <p:cNvPr id="5" name="object 5"/>
          <p:cNvSpPr/>
          <p:nvPr/>
        </p:nvSpPr>
        <p:spPr>
          <a:xfrm>
            <a:off x="9151619" y="3526535"/>
            <a:ext cx="228600" cy="631190"/>
          </a:xfrm>
          <a:custGeom>
            <a:avLst/>
            <a:gdLst/>
            <a:ahLst/>
            <a:cxnLst/>
            <a:rect l="l" t="t" r="r" b="b"/>
            <a:pathLst>
              <a:path w="228600" h="631189">
                <a:moveTo>
                  <a:pt x="152400" y="190500"/>
                </a:moveTo>
                <a:lnTo>
                  <a:pt x="76200" y="190500"/>
                </a:lnTo>
                <a:lnTo>
                  <a:pt x="76200" y="630808"/>
                </a:lnTo>
                <a:lnTo>
                  <a:pt x="152400" y="630808"/>
                </a:lnTo>
                <a:lnTo>
                  <a:pt x="152400" y="190500"/>
                </a:lnTo>
                <a:close/>
              </a:path>
              <a:path w="228600" h="631189">
                <a:moveTo>
                  <a:pt x="114300" y="0"/>
                </a:moveTo>
                <a:lnTo>
                  <a:pt x="0" y="228600"/>
                </a:lnTo>
                <a:lnTo>
                  <a:pt x="76200" y="228600"/>
                </a:lnTo>
                <a:lnTo>
                  <a:pt x="76200" y="190500"/>
                </a:lnTo>
                <a:lnTo>
                  <a:pt x="209550" y="190500"/>
                </a:lnTo>
                <a:lnTo>
                  <a:pt x="114300" y="0"/>
                </a:lnTo>
                <a:close/>
              </a:path>
              <a:path w="228600" h="631189">
                <a:moveTo>
                  <a:pt x="209550" y="190500"/>
                </a:moveTo>
                <a:lnTo>
                  <a:pt x="152400" y="190500"/>
                </a:lnTo>
                <a:lnTo>
                  <a:pt x="152400" y="228600"/>
                </a:lnTo>
                <a:lnTo>
                  <a:pt x="228600" y="228600"/>
                </a:lnTo>
                <a:lnTo>
                  <a:pt x="209550" y="190500"/>
                </a:lnTo>
                <a:close/>
              </a:path>
            </a:pathLst>
          </a:custGeom>
          <a:solidFill>
            <a:srgbClr val="ED7660"/>
          </a:solidFill>
        </p:spPr>
        <p:txBody>
          <a:bodyPr wrap="square" lIns="0" tIns="0" rIns="0" bIns="0" rtlCol="0"/>
          <a:lstStyle/>
          <a:p>
            <a:endParaRPr/>
          </a:p>
        </p:txBody>
      </p:sp>
      <p:sp>
        <p:nvSpPr>
          <p:cNvPr id="6" name="object 6"/>
          <p:cNvSpPr txBox="1"/>
          <p:nvPr/>
        </p:nvSpPr>
        <p:spPr>
          <a:xfrm>
            <a:off x="8557641" y="4288917"/>
            <a:ext cx="1506220" cy="299720"/>
          </a:xfrm>
          <a:prstGeom prst="rect">
            <a:avLst/>
          </a:prstGeom>
        </p:spPr>
        <p:txBody>
          <a:bodyPr vert="horz" wrap="square" lIns="0" tIns="12700" rIns="0" bIns="0" rtlCol="0">
            <a:spAutoFit/>
          </a:bodyPr>
          <a:lstStyle/>
          <a:p>
            <a:pPr marL="12700">
              <a:lnSpc>
                <a:spcPct val="100000"/>
              </a:lnSpc>
              <a:spcBef>
                <a:spcPts val="100"/>
              </a:spcBef>
            </a:pPr>
            <a:r>
              <a:rPr sz="1800" b="1" spc="-55" dirty="0">
                <a:cs typeface="Tahoma"/>
              </a:rPr>
              <a:t>W</a:t>
            </a:r>
            <a:r>
              <a:rPr sz="1800" b="1" spc="-50" dirty="0">
                <a:cs typeface="Tahoma"/>
              </a:rPr>
              <a:t>r</a:t>
            </a:r>
            <a:r>
              <a:rPr sz="1800" b="1" spc="-45" dirty="0">
                <a:cs typeface="Tahoma"/>
              </a:rPr>
              <a:t>i</a:t>
            </a:r>
            <a:r>
              <a:rPr sz="1800" b="1" spc="-40" dirty="0">
                <a:cs typeface="Tahoma"/>
              </a:rPr>
              <a:t>t</a:t>
            </a:r>
            <a:r>
              <a:rPr sz="1800" b="1" spc="-45" dirty="0">
                <a:cs typeface="Tahoma"/>
              </a:rPr>
              <a:t>e</a:t>
            </a:r>
            <a:r>
              <a:rPr sz="1800" b="1" spc="-55" dirty="0">
                <a:cs typeface="Tahoma"/>
              </a:rPr>
              <a:t> </a:t>
            </a:r>
            <a:r>
              <a:rPr sz="1800" b="1" spc="50" dirty="0">
                <a:cs typeface="Tahoma"/>
              </a:rPr>
              <a:t>p</a:t>
            </a:r>
            <a:r>
              <a:rPr sz="1800" b="1" spc="-10" dirty="0">
                <a:cs typeface="Tahoma"/>
              </a:rPr>
              <a:t>oi</a:t>
            </a:r>
            <a:r>
              <a:rPr sz="1800" b="1" spc="-35" dirty="0">
                <a:cs typeface="Tahoma"/>
              </a:rPr>
              <a:t>n</a:t>
            </a:r>
            <a:r>
              <a:rPr sz="1800" b="1" spc="-55" dirty="0">
                <a:cs typeface="Tahoma"/>
              </a:rPr>
              <a:t>ter</a:t>
            </a:r>
            <a:endParaRPr sz="1800">
              <a:cs typeface="Tahoma"/>
            </a:endParaRPr>
          </a:p>
        </p:txBody>
      </p:sp>
      <p:sp>
        <p:nvSpPr>
          <p:cNvPr id="9" name="Title 1">
            <a:extLst>
              <a:ext uri="{FF2B5EF4-FFF2-40B4-BE49-F238E27FC236}">
                <a16:creationId xmlns:a16="http://schemas.microsoft.com/office/drawing/2014/main" id="{45756DB1-4321-AB4F-D04A-FB0CBBD6FBFD}"/>
              </a:ext>
            </a:extLst>
          </p:cNvPr>
          <p:cNvSpPr txBox="1">
            <a:spLocks/>
          </p:cNvSpPr>
          <p:nvPr/>
        </p:nvSpPr>
        <p:spPr>
          <a:xfrm>
            <a:off x="669552" y="594335"/>
            <a:ext cx="10863635" cy="639153"/>
          </a:xfrm>
          <a:prstGeom prst="rect">
            <a:avLst/>
          </a:prstGeom>
        </p:spPr>
        <p:txBody>
          <a:bodyPr vert="horz" lIns="0" tIns="0" rIns="0" bIns="0" rtlCol="0" anchor="ctr">
            <a:normAutofit fontScale="97500"/>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US" dirty="0">
                <a:latin typeface="+mn-lt"/>
              </a:rPr>
              <a:t>Rolling Buffer Cache: How It Works</a:t>
            </a:r>
            <a:endParaRPr lang="en-IN" dirty="0">
              <a:latin typeface="+mn-lt"/>
            </a:endParaRPr>
          </a:p>
        </p:txBody>
      </p:sp>
      <p:sp>
        <p:nvSpPr>
          <p:cNvPr id="10" name="Content Placeholder 2">
            <a:extLst>
              <a:ext uri="{FF2B5EF4-FFF2-40B4-BE49-F238E27FC236}">
                <a16:creationId xmlns:a16="http://schemas.microsoft.com/office/drawing/2014/main" id="{8E5319E1-5EBB-1034-4B0B-4E802F29450B}"/>
              </a:ext>
            </a:extLst>
          </p:cNvPr>
          <p:cNvSpPr>
            <a:spLocks noGrp="1"/>
          </p:cNvSpPr>
          <p:nvPr>
            <p:ph idx="1"/>
          </p:nvPr>
        </p:nvSpPr>
        <p:spPr>
          <a:xfrm>
            <a:off x="678884" y="1675075"/>
            <a:ext cx="10834234" cy="4398066"/>
          </a:xfrm>
        </p:spPr>
        <p:txBody>
          <a:bodyPr>
            <a:normAutofit/>
          </a:bodyPr>
          <a:lstStyle/>
          <a:p>
            <a:pPr marL="0" indent="0">
              <a:buNone/>
            </a:pPr>
            <a:r>
              <a:rPr lang="en-US" sz="2400" dirty="0">
                <a:solidFill>
                  <a:srgbClr val="161A3E"/>
                </a:solidFill>
                <a:latin typeface="+mn-lt"/>
              </a:rPr>
              <a:t>We add a new token and move the pointer forward</a:t>
            </a:r>
          </a:p>
          <a:p>
            <a:pPr marL="0" indent="0">
              <a:buNone/>
            </a:pPr>
            <a:r>
              <a:rPr lang="en-US" sz="2400" dirty="0">
                <a:solidFill>
                  <a:srgbClr val="161A3E"/>
                </a:solidFill>
                <a:latin typeface="+mn-lt"/>
              </a:rPr>
              <a:t>Let’s add the sentence </a:t>
            </a:r>
            <a:r>
              <a:rPr lang="en-US" sz="2400" b="1" dirty="0">
                <a:solidFill>
                  <a:srgbClr val="161A3E"/>
                </a:solidFill>
                <a:latin typeface="+mn-lt"/>
              </a:rPr>
              <a:t>“The cat is on a chair”</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nvGraphicFramePr>
        <p:xfrm>
          <a:off x="2025650" y="3051810"/>
          <a:ext cx="8128000" cy="370839"/>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39">
                <a:tc>
                  <a:txBody>
                    <a:bodyPr/>
                    <a:lstStyle/>
                    <a:p>
                      <a:pPr marL="91440">
                        <a:lnSpc>
                          <a:spcPct val="100000"/>
                        </a:lnSpc>
                        <a:spcBef>
                          <a:spcPts val="280"/>
                        </a:spcBef>
                      </a:pPr>
                      <a:r>
                        <a:rPr sz="1800" b="1" dirty="0">
                          <a:solidFill>
                            <a:srgbClr val="FFFFFF"/>
                          </a:solidFill>
                          <a:latin typeface="Tahoma"/>
                          <a:cs typeface="Tahoma"/>
                        </a:rPr>
                        <a:t>A</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266DC"/>
                    </a:solidFill>
                  </a:tcPr>
                </a:tc>
                <a:tc>
                  <a:txBody>
                    <a:bodyPr/>
                    <a:lstStyle/>
                    <a:p>
                      <a:pPr marL="91440">
                        <a:lnSpc>
                          <a:spcPct val="100000"/>
                        </a:lnSpc>
                        <a:spcBef>
                          <a:spcPts val="280"/>
                        </a:spcBef>
                      </a:pPr>
                      <a:r>
                        <a:rPr sz="1800" b="1" spc="-25" dirty="0">
                          <a:solidFill>
                            <a:srgbClr val="FFFFFF"/>
                          </a:solidFill>
                          <a:latin typeface="Tahoma"/>
                          <a:cs typeface="Tahoma"/>
                        </a:rPr>
                        <a:t>CAT</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marL="92075">
                        <a:lnSpc>
                          <a:spcPct val="100000"/>
                        </a:lnSpc>
                        <a:spcBef>
                          <a:spcPts val="280"/>
                        </a:spcBef>
                      </a:pPr>
                      <a:r>
                        <a:rPr sz="1800" b="1" spc="-190" dirty="0">
                          <a:solidFill>
                            <a:srgbClr val="FFFFFF"/>
                          </a:solidFill>
                          <a:latin typeface="Tahoma"/>
                          <a:cs typeface="Tahoma"/>
                        </a:rPr>
                        <a:t>IS</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marL="92075">
                        <a:lnSpc>
                          <a:spcPct val="100000"/>
                        </a:lnSpc>
                        <a:spcBef>
                          <a:spcPts val="280"/>
                        </a:spcBef>
                      </a:pPr>
                      <a:r>
                        <a:rPr sz="1800" b="1" spc="90" dirty="0">
                          <a:solidFill>
                            <a:srgbClr val="FFFFFF"/>
                          </a:solidFill>
                          <a:latin typeface="Tahoma"/>
                          <a:cs typeface="Tahoma"/>
                        </a:rPr>
                        <a:t>ON</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extLst>
                  <a:ext uri="{0D108BD9-81ED-4DB2-BD59-A6C34878D82A}">
                    <a16:rowId xmlns:a16="http://schemas.microsoft.com/office/drawing/2014/main" val="10000"/>
                  </a:ext>
                </a:extLst>
              </a:tr>
            </a:tbl>
          </a:graphicData>
        </a:graphic>
      </p:graphicFrame>
      <p:sp>
        <p:nvSpPr>
          <p:cNvPr id="5" name="object 5"/>
          <p:cNvSpPr/>
          <p:nvPr/>
        </p:nvSpPr>
        <p:spPr>
          <a:xfrm>
            <a:off x="2895600" y="3526535"/>
            <a:ext cx="228600" cy="631190"/>
          </a:xfrm>
          <a:custGeom>
            <a:avLst/>
            <a:gdLst/>
            <a:ahLst/>
            <a:cxnLst/>
            <a:rect l="l" t="t" r="r" b="b"/>
            <a:pathLst>
              <a:path w="228600" h="631189">
                <a:moveTo>
                  <a:pt x="152400" y="190500"/>
                </a:moveTo>
                <a:lnTo>
                  <a:pt x="76200" y="190500"/>
                </a:lnTo>
                <a:lnTo>
                  <a:pt x="76200" y="630808"/>
                </a:lnTo>
                <a:lnTo>
                  <a:pt x="152400" y="630808"/>
                </a:lnTo>
                <a:lnTo>
                  <a:pt x="152400" y="190500"/>
                </a:lnTo>
                <a:close/>
              </a:path>
              <a:path w="228600" h="631189">
                <a:moveTo>
                  <a:pt x="114300" y="0"/>
                </a:moveTo>
                <a:lnTo>
                  <a:pt x="0" y="228600"/>
                </a:lnTo>
                <a:lnTo>
                  <a:pt x="76200" y="228600"/>
                </a:lnTo>
                <a:lnTo>
                  <a:pt x="76200" y="190500"/>
                </a:lnTo>
                <a:lnTo>
                  <a:pt x="209550" y="190500"/>
                </a:lnTo>
                <a:lnTo>
                  <a:pt x="114300" y="0"/>
                </a:lnTo>
                <a:close/>
              </a:path>
              <a:path w="228600" h="631189">
                <a:moveTo>
                  <a:pt x="209550" y="190500"/>
                </a:moveTo>
                <a:lnTo>
                  <a:pt x="152400" y="190500"/>
                </a:lnTo>
                <a:lnTo>
                  <a:pt x="152400" y="228600"/>
                </a:lnTo>
                <a:lnTo>
                  <a:pt x="228600" y="228600"/>
                </a:lnTo>
                <a:lnTo>
                  <a:pt x="209550" y="190500"/>
                </a:lnTo>
                <a:close/>
              </a:path>
            </a:pathLst>
          </a:custGeom>
          <a:solidFill>
            <a:srgbClr val="ED7660"/>
          </a:solidFill>
        </p:spPr>
        <p:txBody>
          <a:bodyPr wrap="square" lIns="0" tIns="0" rIns="0" bIns="0" rtlCol="0"/>
          <a:lstStyle/>
          <a:p>
            <a:endParaRPr/>
          </a:p>
        </p:txBody>
      </p:sp>
      <p:sp>
        <p:nvSpPr>
          <p:cNvPr id="6" name="object 6"/>
          <p:cNvSpPr txBox="1"/>
          <p:nvPr/>
        </p:nvSpPr>
        <p:spPr>
          <a:xfrm>
            <a:off x="2300732" y="4288917"/>
            <a:ext cx="1506220" cy="299720"/>
          </a:xfrm>
          <a:prstGeom prst="rect">
            <a:avLst/>
          </a:prstGeom>
        </p:spPr>
        <p:txBody>
          <a:bodyPr vert="horz" wrap="square" lIns="0" tIns="12700" rIns="0" bIns="0" rtlCol="0">
            <a:spAutoFit/>
          </a:bodyPr>
          <a:lstStyle/>
          <a:p>
            <a:pPr marL="12700">
              <a:lnSpc>
                <a:spcPct val="100000"/>
              </a:lnSpc>
              <a:spcBef>
                <a:spcPts val="100"/>
              </a:spcBef>
            </a:pPr>
            <a:r>
              <a:rPr sz="1800" b="1" spc="-55" dirty="0">
                <a:cs typeface="Tahoma"/>
              </a:rPr>
              <a:t>W</a:t>
            </a:r>
            <a:r>
              <a:rPr sz="1800" b="1" spc="-50" dirty="0">
                <a:cs typeface="Tahoma"/>
              </a:rPr>
              <a:t>r</a:t>
            </a:r>
            <a:r>
              <a:rPr sz="1800" b="1" spc="-45" dirty="0">
                <a:cs typeface="Tahoma"/>
              </a:rPr>
              <a:t>i</a:t>
            </a:r>
            <a:r>
              <a:rPr sz="1800" b="1" spc="-40" dirty="0">
                <a:cs typeface="Tahoma"/>
              </a:rPr>
              <a:t>t</a:t>
            </a:r>
            <a:r>
              <a:rPr sz="1800" b="1" spc="-45" dirty="0">
                <a:cs typeface="Tahoma"/>
              </a:rPr>
              <a:t>e</a:t>
            </a:r>
            <a:r>
              <a:rPr sz="1800" b="1" spc="-55" dirty="0">
                <a:cs typeface="Tahoma"/>
              </a:rPr>
              <a:t> </a:t>
            </a:r>
            <a:r>
              <a:rPr sz="1800" b="1" spc="50" dirty="0">
                <a:cs typeface="Tahoma"/>
              </a:rPr>
              <a:t>p</a:t>
            </a:r>
            <a:r>
              <a:rPr sz="1800" b="1" spc="-10" dirty="0">
                <a:cs typeface="Tahoma"/>
              </a:rPr>
              <a:t>oi</a:t>
            </a:r>
            <a:r>
              <a:rPr sz="1800" b="1" spc="-35" dirty="0">
                <a:cs typeface="Tahoma"/>
              </a:rPr>
              <a:t>n</a:t>
            </a:r>
            <a:r>
              <a:rPr sz="1800" b="1" spc="-55" dirty="0">
                <a:cs typeface="Tahoma"/>
              </a:rPr>
              <a:t>ter</a:t>
            </a:r>
            <a:endParaRPr sz="1800">
              <a:cs typeface="Tahoma"/>
            </a:endParaRPr>
          </a:p>
        </p:txBody>
      </p:sp>
      <p:sp>
        <p:nvSpPr>
          <p:cNvPr id="9" name="Title 1">
            <a:extLst>
              <a:ext uri="{FF2B5EF4-FFF2-40B4-BE49-F238E27FC236}">
                <a16:creationId xmlns:a16="http://schemas.microsoft.com/office/drawing/2014/main" id="{C7DFDED9-6F8C-B51F-5B15-8B17487FA1AB}"/>
              </a:ext>
            </a:extLst>
          </p:cNvPr>
          <p:cNvSpPr txBox="1">
            <a:spLocks/>
          </p:cNvSpPr>
          <p:nvPr/>
        </p:nvSpPr>
        <p:spPr>
          <a:xfrm>
            <a:off x="669552" y="594335"/>
            <a:ext cx="10863635" cy="639153"/>
          </a:xfrm>
          <a:prstGeom prst="rect">
            <a:avLst/>
          </a:prstGeom>
        </p:spPr>
        <p:txBody>
          <a:bodyPr vert="horz" lIns="0" tIns="0" rIns="0" bIns="0" rtlCol="0" anchor="ctr">
            <a:normAutofit fontScale="97500"/>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US" dirty="0">
                <a:latin typeface="+mn-lt"/>
              </a:rPr>
              <a:t>Rolling Buffer Cache: How It Works</a:t>
            </a:r>
            <a:endParaRPr lang="en-IN" dirty="0">
              <a:latin typeface="+mn-lt"/>
            </a:endParaRPr>
          </a:p>
        </p:txBody>
      </p:sp>
      <p:sp>
        <p:nvSpPr>
          <p:cNvPr id="10" name="Content Placeholder 2">
            <a:extLst>
              <a:ext uri="{FF2B5EF4-FFF2-40B4-BE49-F238E27FC236}">
                <a16:creationId xmlns:a16="http://schemas.microsoft.com/office/drawing/2014/main" id="{21319259-9EF3-5F53-4DC2-2759BBE75C20}"/>
              </a:ext>
            </a:extLst>
          </p:cNvPr>
          <p:cNvSpPr>
            <a:spLocks noGrp="1"/>
          </p:cNvSpPr>
          <p:nvPr>
            <p:ph idx="1"/>
          </p:nvPr>
        </p:nvSpPr>
        <p:spPr>
          <a:xfrm>
            <a:off x="678884" y="1675075"/>
            <a:ext cx="10834234" cy="4398066"/>
          </a:xfrm>
        </p:spPr>
        <p:txBody>
          <a:bodyPr>
            <a:normAutofit/>
          </a:bodyPr>
          <a:lstStyle/>
          <a:p>
            <a:pPr marL="0" indent="0">
              <a:buNone/>
            </a:pPr>
            <a:r>
              <a:rPr lang="en-US" sz="2400" dirty="0">
                <a:solidFill>
                  <a:srgbClr val="161A3E"/>
                </a:solidFill>
                <a:latin typeface="+mn-lt"/>
              </a:rPr>
              <a:t>We add a new token and move the pointer forward</a:t>
            </a:r>
          </a:p>
          <a:p>
            <a:pPr marL="0" indent="0">
              <a:buNone/>
            </a:pPr>
            <a:r>
              <a:rPr lang="en-US" sz="2400" dirty="0">
                <a:solidFill>
                  <a:srgbClr val="161A3E"/>
                </a:solidFill>
                <a:latin typeface="+mn-lt"/>
              </a:rPr>
              <a:t>Let’s add the sentence </a:t>
            </a:r>
            <a:r>
              <a:rPr lang="en-US" sz="2400" b="1" dirty="0">
                <a:solidFill>
                  <a:srgbClr val="161A3E"/>
                </a:solidFill>
                <a:latin typeface="+mn-lt"/>
              </a:rPr>
              <a:t>“The cat is on a chair”</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70588" y="1781809"/>
            <a:ext cx="10862600" cy="772006"/>
          </a:xfrm>
          <a:prstGeom prst="rect">
            <a:avLst/>
          </a:prstGeom>
        </p:spPr>
        <p:txBody>
          <a:bodyPr vert="horz" wrap="square" lIns="0" tIns="33020" rIns="0" bIns="0" rtlCol="0">
            <a:spAutoFit/>
          </a:bodyPr>
          <a:lstStyle/>
          <a:p>
            <a:pPr marL="38100" marR="30480">
              <a:spcBef>
                <a:spcPts val="260"/>
              </a:spcBef>
            </a:pPr>
            <a:r>
              <a:rPr sz="1600" spc="15" dirty="0">
                <a:solidFill>
                  <a:srgbClr val="161A3E"/>
                </a:solidFill>
                <a:cs typeface="Tahoma"/>
              </a:rPr>
              <a:t>Imagine</a:t>
            </a:r>
            <a:r>
              <a:rPr sz="1600" spc="-60" dirty="0">
                <a:solidFill>
                  <a:srgbClr val="161A3E"/>
                </a:solidFill>
                <a:cs typeface="Tahoma"/>
              </a:rPr>
              <a:t> </a:t>
            </a:r>
            <a:r>
              <a:rPr sz="1600" spc="25" dirty="0">
                <a:solidFill>
                  <a:srgbClr val="161A3E"/>
                </a:solidFill>
                <a:cs typeface="Tahoma"/>
              </a:rPr>
              <a:t>we</a:t>
            </a:r>
            <a:r>
              <a:rPr sz="1600" spc="-70" dirty="0">
                <a:solidFill>
                  <a:srgbClr val="161A3E"/>
                </a:solidFill>
                <a:cs typeface="Tahoma"/>
              </a:rPr>
              <a:t> </a:t>
            </a:r>
            <a:r>
              <a:rPr sz="1600" dirty="0">
                <a:solidFill>
                  <a:srgbClr val="161A3E"/>
                </a:solidFill>
                <a:cs typeface="Tahoma"/>
              </a:rPr>
              <a:t>want</a:t>
            </a:r>
            <a:r>
              <a:rPr sz="1600" spc="-70" dirty="0">
                <a:solidFill>
                  <a:srgbClr val="161A3E"/>
                </a:solidFill>
                <a:cs typeface="Tahoma"/>
              </a:rPr>
              <a:t> </a:t>
            </a:r>
            <a:r>
              <a:rPr sz="1600" spc="30" dirty="0">
                <a:solidFill>
                  <a:srgbClr val="161A3E"/>
                </a:solidFill>
                <a:cs typeface="Tahoma"/>
              </a:rPr>
              <a:t>to</a:t>
            </a:r>
            <a:r>
              <a:rPr sz="1600" spc="-70" dirty="0">
                <a:solidFill>
                  <a:srgbClr val="161A3E"/>
                </a:solidFill>
                <a:cs typeface="Tahoma"/>
              </a:rPr>
              <a:t> </a:t>
            </a:r>
            <a:r>
              <a:rPr sz="1600" spc="10" dirty="0">
                <a:solidFill>
                  <a:srgbClr val="161A3E"/>
                </a:solidFill>
                <a:cs typeface="Tahoma"/>
              </a:rPr>
              <a:t>“unroll”</a:t>
            </a:r>
            <a:r>
              <a:rPr sz="1600" spc="-70" dirty="0">
                <a:solidFill>
                  <a:srgbClr val="161A3E"/>
                </a:solidFill>
                <a:cs typeface="Tahoma"/>
              </a:rPr>
              <a:t> </a:t>
            </a:r>
            <a:r>
              <a:rPr sz="1600" spc="20" dirty="0">
                <a:solidFill>
                  <a:srgbClr val="161A3E"/>
                </a:solidFill>
                <a:cs typeface="Tahoma"/>
              </a:rPr>
              <a:t>the</a:t>
            </a:r>
            <a:r>
              <a:rPr sz="1600" spc="-80" dirty="0">
                <a:solidFill>
                  <a:srgbClr val="161A3E"/>
                </a:solidFill>
                <a:cs typeface="Tahoma"/>
              </a:rPr>
              <a:t> </a:t>
            </a:r>
            <a:r>
              <a:rPr sz="1600" spc="35" dirty="0">
                <a:solidFill>
                  <a:srgbClr val="161A3E"/>
                </a:solidFill>
                <a:cs typeface="Tahoma"/>
              </a:rPr>
              <a:t>cache</a:t>
            </a:r>
            <a:r>
              <a:rPr sz="1600" spc="-65" dirty="0">
                <a:solidFill>
                  <a:srgbClr val="161A3E"/>
                </a:solidFill>
                <a:cs typeface="Tahoma"/>
              </a:rPr>
              <a:t> </a:t>
            </a:r>
            <a:r>
              <a:rPr sz="1600" spc="35" dirty="0">
                <a:solidFill>
                  <a:srgbClr val="161A3E"/>
                </a:solidFill>
                <a:cs typeface="Tahoma"/>
              </a:rPr>
              <a:t>because</a:t>
            </a:r>
            <a:r>
              <a:rPr sz="1600" spc="-65" dirty="0">
                <a:solidFill>
                  <a:srgbClr val="161A3E"/>
                </a:solidFill>
                <a:cs typeface="Tahoma"/>
              </a:rPr>
              <a:t> </a:t>
            </a:r>
            <a:r>
              <a:rPr sz="1600" spc="25" dirty="0">
                <a:solidFill>
                  <a:srgbClr val="161A3E"/>
                </a:solidFill>
                <a:cs typeface="Tahoma"/>
              </a:rPr>
              <a:t>we</a:t>
            </a:r>
            <a:r>
              <a:rPr sz="1600" spc="-60" dirty="0">
                <a:solidFill>
                  <a:srgbClr val="161A3E"/>
                </a:solidFill>
                <a:cs typeface="Tahoma"/>
              </a:rPr>
              <a:t> </a:t>
            </a:r>
            <a:r>
              <a:rPr sz="1600" dirty="0">
                <a:solidFill>
                  <a:srgbClr val="161A3E"/>
                </a:solidFill>
                <a:cs typeface="Tahoma"/>
              </a:rPr>
              <a:t>want</a:t>
            </a:r>
            <a:r>
              <a:rPr sz="1600" spc="-80" dirty="0">
                <a:solidFill>
                  <a:srgbClr val="161A3E"/>
                </a:solidFill>
                <a:cs typeface="Tahoma"/>
              </a:rPr>
              <a:t> </a:t>
            </a:r>
            <a:r>
              <a:rPr sz="1600" spc="30" dirty="0">
                <a:solidFill>
                  <a:srgbClr val="161A3E"/>
                </a:solidFill>
                <a:cs typeface="Tahoma"/>
              </a:rPr>
              <a:t>to</a:t>
            </a:r>
            <a:r>
              <a:rPr sz="1600" spc="-75" dirty="0">
                <a:solidFill>
                  <a:srgbClr val="161A3E"/>
                </a:solidFill>
                <a:cs typeface="Tahoma"/>
              </a:rPr>
              <a:t> </a:t>
            </a:r>
            <a:r>
              <a:rPr sz="1600" spc="20" dirty="0">
                <a:solidFill>
                  <a:srgbClr val="161A3E"/>
                </a:solidFill>
                <a:cs typeface="Tahoma"/>
              </a:rPr>
              <a:t>calculate</a:t>
            </a:r>
            <a:r>
              <a:rPr sz="1600" spc="-70" dirty="0">
                <a:solidFill>
                  <a:srgbClr val="161A3E"/>
                </a:solidFill>
                <a:cs typeface="Tahoma"/>
              </a:rPr>
              <a:t> </a:t>
            </a:r>
            <a:r>
              <a:rPr sz="1600" spc="20" dirty="0">
                <a:solidFill>
                  <a:srgbClr val="161A3E"/>
                </a:solidFill>
                <a:cs typeface="Tahoma"/>
              </a:rPr>
              <a:t>the</a:t>
            </a:r>
            <a:r>
              <a:rPr sz="1600" spc="-75" dirty="0">
                <a:solidFill>
                  <a:srgbClr val="161A3E"/>
                </a:solidFill>
                <a:cs typeface="Tahoma"/>
              </a:rPr>
              <a:t> </a:t>
            </a:r>
            <a:r>
              <a:rPr sz="1600" spc="15" dirty="0">
                <a:solidFill>
                  <a:srgbClr val="161A3E"/>
                </a:solidFill>
                <a:cs typeface="Tahoma"/>
              </a:rPr>
              <a:t>attention</a:t>
            </a:r>
            <a:r>
              <a:rPr sz="1600" spc="-90" dirty="0">
                <a:solidFill>
                  <a:srgbClr val="161A3E"/>
                </a:solidFill>
                <a:cs typeface="Tahoma"/>
              </a:rPr>
              <a:t> </a:t>
            </a:r>
            <a:r>
              <a:rPr sz="1600" spc="25" dirty="0">
                <a:solidFill>
                  <a:srgbClr val="161A3E"/>
                </a:solidFill>
                <a:cs typeface="Tahoma"/>
              </a:rPr>
              <a:t>of</a:t>
            </a:r>
            <a:r>
              <a:rPr sz="1600" spc="-50" dirty="0">
                <a:solidFill>
                  <a:srgbClr val="161A3E"/>
                </a:solidFill>
                <a:cs typeface="Tahoma"/>
              </a:rPr>
              <a:t> </a:t>
            </a:r>
            <a:r>
              <a:rPr sz="1600" spc="20" dirty="0">
                <a:solidFill>
                  <a:srgbClr val="161A3E"/>
                </a:solidFill>
                <a:cs typeface="Tahoma"/>
              </a:rPr>
              <a:t>the</a:t>
            </a:r>
            <a:r>
              <a:rPr sz="1600" spc="-80" dirty="0">
                <a:solidFill>
                  <a:srgbClr val="161A3E"/>
                </a:solidFill>
                <a:cs typeface="Tahoma"/>
              </a:rPr>
              <a:t> </a:t>
            </a:r>
            <a:r>
              <a:rPr sz="1600" spc="45" dirty="0">
                <a:solidFill>
                  <a:srgbClr val="161A3E"/>
                </a:solidFill>
                <a:cs typeface="Tahoma"/>
              </a:rPr>
              <a:t>incoming</a:t>
            </a:r>
            <a:r>
              <a:rPr sz="1600" spc="-55" dirty="0">
                <a:solidFill>
                  <a:srgbClr val="161A3E"/>
                </a:solidFill>
                <a:cs typeface="Tahoma"/>
              </a:rPr>
              <a:t> </a:t>
            </a:r>
            <a:r>
              <a:rPr sz="1600" spc="10" dirty="0">
                <a:solidFill>
                  <a:srgbClr val="161A3E"/>
                </a:solidFill>
                <a:cs typeface="Tahoma"/>
              </a:rPr>
              <a:t>token.</a:t>
            </a:r>
            <a:r>
              <a:rPr sz="1600" spc="-100" dirty="0">
                <a:solidFill>
                  <a:srgbClr val="161A3E"/>
                </a:solidFill>
                <a:cs typeface="Tahoma"/>
              </a:rPr>
              <a:t> </a:t>
            </a:r>
            <a:r>
              <a:rPr sz="1600" spc="-50" dirty="0">
                <a:solidFill>
                  <a:srgbClr val="161A3E"/>
                </a:solidFill>
                <a:cs typeface="Tahoma"/>
              </a:rPr>
              <a:t>It’s</a:t>
            </a:r>
            <a:r>
              <a:rPr sz="1600" spc="-70" dirty="0">
                <a:solidFill>
                  <a:srgbClr val="161A3E"/>
                </a:solidFill>
                <a:cs typeface="Tahoma"/>
              </a:rPr>
              <a:t> </a:t>
            </a:r>
            <a:r>
              <a:rPr sz="1600" spc="5" dirty="0">
                <a:solidFill>
                  <a:srgbClr val="161A3E"/>
                </a:solidFill>
                <a:cs typeface="Tahoma"/>
              </a:rPr>
              <a:t>very</a:t>
            </a:r>
            <a:r>
              <a:rPr sz="1600" spc="-75" dirty="0">
                <a:solidFill>
                  <a:srgbClr val="161A3E"/>
                </a:solidFill>
                <a:cs typeface="Tahoma"/>
              </a:rPr>
              <a:t> </a:t>
            </a:r>
            <a:r>
              <a:rPr sz="1600" dirty="0">
                <a:solidFill>
                  <a:srgbClr val="161A3E"/>
                </a:solidFill>
                <a:cs typeface="Tahoma"/>
              </a:rPr>
              <a:t>easy!</a:t>
            </a:r>
            <a:r>
              <a:rPr sz="1600" spc="-60" dirty="0">
                <a:solidFill>
                  <a:srgbClr val="161A3E"/>
                </a:solidFill>
                <a:cs typeface="Tahoma"/>
              </a:rPr>
              <a:t> </a:t>
            </a:r>
            <a:r>
              <a:rPr sz="1600" spc="40" dirty="0">
                <a:solidFill>
                  <a:srgbClr val="161A3E"/>
                </a:solidFill>
                <a:cs typeface="Tahoma"/>
              </a:rPr>
              <a:t>We</a:t>
            </a:r>
            <a:r>
              <a:rPr sz="1600" spc="-65" dirty="0">
                <a:solidFill>
                  <a:srgbClr val="161A3E"/>
                </a:solidFill>
                <a:cs typeface="Tahoma"/>
              </a:rPr>
              <a:t> </a:t>
            </a:r>
            <a:r>
              <a:rPr sz="1600" spc="-5" dirty="0">
                <a:solidFill>
                  <a:srgbClr val="161A3E"/>
                </a:solidFill>
                <a:cs typeface="Tahoma"/>
              </a:rPr>
              <a:t>just</a:t>
            </a:r>
            <a:r>
              <a:rPr sz="1600" spc="-70" dirty="0">
                <a:solidFill>
                  <a:srgbClr val="161A3E"/>
                </a:solidFill>
                <a:cs typeface="Tahoma"/>
              </a:rPr>
              <a:t> </a:t>
            </a:r>
            <a:r>
              <a:rPr sz="1600" spc="55" dirty="0">
                <a:solidFill>
                  <a:srgbClr val="161A3E"/>
                </a:solidFill>
                <a:cs typeface="Tahoma"/>
              </a:rPr>
              <a:t>need</a:t>
            </a:r>
            <a:r>
              <a:rPr sz="1600" spc="-70" dirty="0">
                <a:solidFill>
                  <a:srgbClr val="161A3E"/>
                </a:solidFill>
                <a:cs typeface="Tahoma"/>
              </a:rPr>
              <a:t> </a:t>
            </a:r>
            <a:r>
              <a:rPr sz="1600" spc="30" dirty="0">
                <a:solidFill>
                  <a:srgbClr val="161A3E"/>
                </a:solidFill>
                <a:cs typeface="Tahoma"/>
              </a:rPr>
              <a:t>to</a:t>
            </a:r>
            <a:r>
              <a:rPr sz="1600" spc="-70" dirty="0">
                <a:solidFill>
                  <a:srgbClr val="161A3E"/>
                </a:solidFill>
                <a:cs typeface="Tahoma"/>
              </a:rPr>
              <a:t> </a:t>
            </a:r>
            <a:r>
              <a:rPr sz="1600" spc="20" dirty="0">
                <a:solidFill>
                  <a:srgbClr val="161A3E"/>
                </a:solidFill>
                <a:cs typeface="Tahoma"/>
              </a:rPr>
              <a:t>use </a:t>
            </a:r>
            <a:r>
              <a:rPr sz="1600" spc="25" dirty="0">
                <a:solidFill>
                  <a:srgbClr val="161A3E"/>
                </a:solidFill>
                <a:cs typeface="Tahoma"/>
              </a:rPr>
              <a:t> </a:t>
            </a:r>
            <a:r>
              <a:rPr sz="1600" spc="20" dirty="0">
                <a:solidFill>
                  <a:srgbClr val="161A3E"/>
                </a:solidFill>
                <a:cs typeface="Tahoma"/>
              </a:rPr>
              <a:t>the</a:t>
            </a:r>
            <a:r>
              <a:rPr sz="1600" spc="-85" dirty="0">
                <a:solidFill>
                  <a:srgbClr val="161A3E"/>
                </a:solidFill>
                <a:cs typeface="Tahoma"/>
              </a:rPr>
              <a:t> </a:t>
            </a:r>
            <a:r>
              <a:rPr sz="1600" spc="10" dirty="0">
                <a:solidFill>
                  <a:srgbClr val="161A3E"/>
                </a:solidFill>
                <a:cs typeface="Tahoma"/>
              </a:rPr>
              <a:t>write</a:t>
            </a:r>
            <a:r>
              <a:rPr sz="1600" spc="-75" dirty="0">
                <a:solidFill>
                  <a:srgbClr val="161A3E"/>
                </a:solidFill>
                <a:cs typeface="Tahoma"/>
              </a:rPr>
              <a:t> </a:t>
            </a:r>
            <a:r>
              <a:rPr sz="1600" spc="35" dirty="0">
                <a:solidFill>
                  <a:srgbClr val="161A3E"/>
                </a:solidFill>
                <a:cs typeface="Tahoma"/>
              </a:rPr>
              <a:t>pointer</a:t>
            </a:r>
            <a:r>
              <a:rPr sz="1600" spc="-65" dirty="0">
                <a:solidFill>
                  <a:srgbClr val="161A3E"/>
                </a:solidFill>
                <a:cs typeface="Tahoma"/>
              </a:rPr>
              <a:t> </a:t>
            </a:r>
            <a:r>
              <a:rPr sz="1600" spc="30" dirty="0">
                <a:solidFill>
                  <a:srgbClr val="161A3E"/>
                </a:solidFill>
                <a:cs typeface="Tahoma"/>
              </a:rPr>
              <a:t>to</a:t>
            </a:r>
            <a:r>
              <a:rPr sz="1600" spc="-70" dirty="0">
                <a:solidFill>
                  <a:srgbClr val="161A3E"/>
                </a:solidFill>
                <a:cs typeface="Tahoma"/>
              </a:rPr>
              <a:t> </a:t>
            </a:r>
            <a:r>
              <a:rPr sz="1600" spc="25" dirty="0">
                <a:solidFill>
                  <a:srgbClr val="161A3E"/>
                </a:solidFill>
                <a:cs typeface="Tahoma"/>
              </a:rPr>
              <a:t>understand</a:t>
            </a:r>
            <a:r>
              <a:rPr sz="1600" spc="-60" dirty="0">
                <a:solidFill>
                  <a:srgbClr val="161A3E"/>
                </a:solidFill>
                <a:cs typeface="Tahoma"/>
              </a:rPr>
              <a:t> </a:t>
            </a:r>
            <a:r>
              <a:rPr sz="1600" spc="35" dirty="0">
                <a:solidFill>
                  <a:srgbClr val="161A3E"/>
                </a:solidFill>
                <a:cs typeface="Tahoma"/>
              </a:rPr>
              <a:t>how</a:t>
            </a:r>
            <a:r>
              <a:rPr sz="1600" spc="-60" dirty="0">
                <a:solidFill>
                  <a:srgbClr val="161A3E"/>
                </a:solidFill>
                <a:cs typeface="Tahoma"/>
              </a:rPr>
              <a:t> </a:t>
            </a:r>
            <a:r>
              <a:rPr sz="1600" spc="30" dirty="0">
                <a:solidFill>
                  <a:srgbClr val="161A3E"/>
                </a:solidFill>
                <a:cs typeface="Tahoma"/>
              </a:rPr>
              <a:t>to</a:t>
            </a:r>
            <a:r>
              <a:rPr sz="1600" spc="-85" dirty="0">
                <a:solidFill>
                  <a:srgbClr val="161A3E"/>
                </a:solidFill>
                <a:cs typeface="Tahoma"/>
              </a:rPr>
              <a:t> </a:t>
            </a:r>
            <a:r>
              <a:rPr sz="1600" spc="40" dirty="0">
                <a:solidFill>
                  <a:srgbClr val="161A3E"/>
                </a:solidFill>
                <a:cs typeface="Tahoma"/>
              </a:rPr>
              <a:t>order</a:t>
            </a:r>
            <a:r>
              <a:rPr sz="1600" spc="-55" dirty="0">
                <a:solidFill>
                  <a:srgbClr val="161A3E"/>
                </a:solidFill>
                <a:cs typeface="Tahoma"/>
              </a:rPr>
              <a:t> </a:t>
            </a:r>
            <a:r>
              <a:rPr sz="1600" spc="20" dirty="0">
                <a:solidFill>
                  <a:srgbClr val="161A3E"/>
                </a:solidFill>
                <a:cs typeface="Tahoma"/>
              </a:rPr>
              <a:t>the</a:t>
            </a:r>
            <a:r>
              <a:rPr sz="1600" spc="-80" dirty="0">
                <a:solidFill>
                  <a:srgbClr val="161A3E"/>
                </a:solidFill>
                <a:cs typeface="Tahoma"/>
              </a:rPr>
              <a:t> </a:t>
            </a:r>
            <a:r>
              <a:rPr sz="1600" spc="5" dirty="0">
                <a:solidFill>
                  <a:srgbClr val="161A3E"/>
                </a:solidFill>
                <a:cs typeface="Tahoma"/>
              </a:rPr>
              <a:t>items:</a:t>
            </a:r>
            <a:r>
              <a:rPr sz="1600" spc="-60" dirty="0">
                <a:solidFill>
                  <a:srgbClr val="161A3E"/>
                </a:solidFill>
                <a:cs typeface="Tahoma"/>
              </a:rPr>
              <a:t> </a:t>
            </a:r>
            <a:r>
              <a:rPr sz="1600" spc="25" dirty="0">
                <a:solidFill>
                  <a:srgbClr val="161A3E"/>
                </a:solidFill>
                <a:cs typeface="Tahoma"/>
              </a:rPr>
              <a:t>we</a:t>
            </a:r>
            <a:r>
              <a:rPr sz="1600" spc="-70" dirty="0">
                <a:solidFill>
                  <a:srgbClr val="161A3E"/>
                </a:solidFill>
                <a:cs typeface="Tahoma"/>
              </a:rPr>
              <a:t> </a:t>
            </a:r>
            <a:r>
              <a:rPr sz="1600" spc="-10" dirty="0">
                <a:solidFill>
                  <a:srgbClr val="161A3E"/>
                </a:solidFill>
                <a:cs typeface="Tahoma"/>
              </a:rPr>
              <a:t>first</a:t>
            </a:r>
            <a:r>
              <a:rPr sz="1600" spc="-60" dirty="0">
                <a:solidFill>
                  <a:srgbClr val="161A3E"/>
                </a:solidFill>
                <a:cs typeface="Tahoma"/>
              </a:rPr>
              <a:t> </a:t>
            </a:r>
            <a:r>
              <a:rPr sz="1600" spc="5" dirty="0">
                <a:solidFill>
                  <a:srgbClr val="161A3E"/>
                </a:solidFill>
                <a:cs typeface="Tahoma"/>
              </a:rPr>
              <a:t>take</a:t>
            </a:r>
            <a:r>
              <a:rPr sz="1600" spc="-75" dirty="0">
                <a:solidFill>
                  <a:srgbClr val="161A3E"/>
                </a:solidFill>
                <a:cs typeface="Tahoma"/>
              </a:rPr>
              <a:t> </a:t>
            </a:r>
            <a:r>
              <a:rPr sz="1600" spc="20" dirty="0">
                <a:solidFill>
                  <a:srgbClr val="161A3E"/>
                </a:solidFill>
                <a:cs typeface="Tahoma"/>
              </a:rPr>
              <a:t>all</a:t>
            </a:r>
            <a:r>
              <a:rPr sz="1600" spc="-80" dirty="0">
                <a:solidFill>
                  <a:srgbClr val="161A3E"/>
                </a:solidFill>
                <a:cs typeface="Tahoma"/>
              </a:rPr>
              <a:t> </a:t>
            </a:r>
            <a:r>
              <a:rPr sz="1600" spc="20" dirty="0">
                <a:solidFill>
                  <a:srgbClr val="161A3E"/>
                </a:solidFill>
                <a:cs typeface="Tahoma"/>
              </a:rPr>
              <a:t>the</a:t>
            </a:r>
            <a:r>
              <a:rPr sz="1600" spc="-80" dirty="0">
                <a:solidFill>
                  <a:srgbClr val="161A3E"/>
                </a:solidFill>
                <a:cs typeface="Tahoma"/>
              </a:rPr>
              <a:t> </a:t>
            </a:r>
            <a:r>
              <a:rPr sz="1600" spc="20" dirty="0">
                <a:solidFill>
                  <a:srgbClr val="161A3E"/>
                </a:solidFill>
                <a:cs typeface="Tahoma"/>
              </a:rPr>
              <a:t>items</a:t>
            </a:r>
            <a:r>
              <a:rPr sz="1600" spc="-90" dirty="0">
                <a:solidFill>
                  <a:srgbClr val="161A3E"/>
                </a:solidFill>
                <a:cs typeface="Tahoma"/>
              </a:rPr>
              <a:t> </a:t>
            </a:r>
            <a:r>
              <a:rPr sz="1600" spc="30" dirty="0">
                <a:solidFill>
                  <a:srgbClr val="161A3E"/>
                </a:solidFill>
                <a:cs typeface="Tahoma"/>
              </a:rPr>
              <a:t>AFTER</a:t>
            </a:r>
            <a:r>
              <a:rPr sz="1600" spc="-70" dirty="0">
                <a:solidFill>
                  <a:srgbClr val="161A3E"/>
                </a:solidFill>
                <a:cs typeface="Tahoma"/>
              </a:rPr>
              <a:t> </a:t>
            </a:r>
            <a:r>
              <a:rPr sz="1600" spc="20" dirty="0">
                <a:solidFill>
                  <a:srgbClr val="161A3E"/>
                </a:solidFill>
                <a:cs typeface="Tahoma"/>
              </a:rPr>
              <a:t>the</a:t>
            </a:r>
            <a:r>
              <a:rPr sz="1600" spc="-80" dirty="0">
                <a:solidFill>
                  <a:srgbClr val="161A3E"/>
                </a:solidFill>
                <a:cs typeface="Tahoma"/>
              </a:rPr>
              <a:t> </a:t>
            </a:r>
            <a:r>
              <a:rPr sz="1600" spc="10" dirty="0">
                <a:solidFill>
                  <a:srgbClr val="161A3E"/>
                </a:solidFill>
                <a:cs typeface="Tahoma"/>
              </a:rPr>
              <a:t>write</a:t>
            </a:r>
            <a:r>
              <a:rPr sz="1600" spc="-75" dirty="0">
                <a:solidFill>
                  <a:srgbClr val="161A3E"/>
                </a:solidFill>
                <a:cs typeface="Tahoma"/>
              </a:rPr>
              <a:t> </a:t>
            </a:r>
            <a:r>
              <a:rPr sz="1600" spc="15" dirty="0">
                <a:solidFill>
                  <a:srgbClr val="161A3E"/>
                </a:solidFill>
                <a:cs typeface="Tahoma"/>
              </a:rPr>
              <a:t>pointer,</a:t>
            </a:r>
            <a:r>
              <a:rPr sz="1600" spc="-100" dirty="0">
                <a:solidFill>
                  <a:srgbClr val="161A3E"/>
                </a:solidFill>
                <a:cs typeface="Tahoma"/>
              </a:rPr>
              <a:t> </a:t>
            </a:r>
            <a:r>
              <a:rPr sz="1600" spc="40" dirty="0">
                <a:solidFill>
                  <a:srgbClr val="161A3E"/>
                </a:solidFill>
                <a:cs typeface="Tahoma"/>
              </a:rPr>
              <a:t>and</a:t>
            </a:r>
            <a:r>
              <a:rPr sz="1600" spc="-70" dirty="0">
                <a:solidFill>
                  <a:srgbClr val="161A3E"/>
                </a:solidFill>
                <a:cs typeface="Tahoma"/>
              </a:rPr>
              <a:t> </a:t>
            </a:r>
            <a:r>
              <a:rPr sz="1600" spc="20" dirty="0">
                <a:solidFill>
                  <a:srgbClr val="161A3E"/>
                </a:solidFill>
                <a:cs typeface="Tahoma"/>
              </a:rPr>
              <a:t>then</a:t>
            </a:r>
            <a:r>
              <a:rPr sz="1600" spc="-65" dirty="0">
                <a:solidFill>
                  <a:srgbClr val="161A3E"/>
                </a:solidFill>
                <a:cs typeface="Tahoma"/>
              </a:rPr>
              <a:t> </a:t>
            </a:r>
            <a:r>
              <a:rPr sz="1600" spc="20" dirty="0">
                <a:solidFill>
                  <a:srgbClr val="161A3E"/>
                </a:solidFill>
                <a:cs typeface="Tahoma"/>
              </a:rPr>
              <a:t>all</a:t>
            </a:r>
            <a:r>
              <a:rPr sz="1600" spc="-80" dirty="0">
                <a:solidFill>
                  <a:srgbClr val="161A3E"/>
                </a:solidFill>
                <a:cs typeface="Tahoma"/>
              </a:rPr>
              <a:t> </a:t>
            </a:r>
            <a:r>
              <a:rPr sz="1600" spc="20" dirty="0">
                <a:solidFill>
                  <a:srgbClr val="161A3E"/>
                </a:solidFill>
                <a:cs typeface="Tahoma"/>
              </a:rPr>
              <a:t>the</a:t>
            </a:r>
            <a:r>
              <a:rPr sz="1600" spc="-50" dirty="0">
                <a:solidFill>
                  <a:srgbClr val="161A3E"/>
                </a:solidFill>
                <a:cs typeface="Tahoma"/>
              </a:rPr>
              <a:t> </a:t>
            </a:r>
            <a:r>
              <a:rPr sz="1600" spc="15" dirty="0">
                <a:solidFill>
                  <a:srgbClr val="161A3E"/>
                </a:solidFill>
                <a:cs typeface="Tahoma"/>
              </a:rPr>
              <a:t>items</a:t>
            </a:r>
            <a:r>
              <a:rPr sz="1600" spc="-80" dirty="0">
                <a:solidFill>
                  <a:srgbClr val="161A3E"/>
                </a:solidFill>
                <a:cs typeface="Tahoma"/>
              </a:rPr>
              <a:t> </a:t>
            </a:r>
            <a:r>
              <a:rPr sz="1600" spc="15" dirty="0">
                <a:solidFill>
                  <a:srgbClr val="161A3E"/>
                </a:solidFill>
                <a:cs typeface="Tahoma"/>
              </a:rPr>
              <a:t>from</a:t>
            </a:r>
            <a:r>
              <a:rPr sz="1600" spc="-60" dirty="0">
                <a:solidFill>
                  <a:srgbClr val="161A3E"/>
                </a:solidFill>
                <a:cs typeface="Tahoma"/>
              </a:rPr>
              <a:t> </a:t>
            </a:r>
            <a:r>
              <a:rPr sz="1600" spc="20" dirty="0">
                <a:solidFill>
                  <a:srgbClr val="161A3E"/>
                </a:solidFill>
                <a:cs typeface="Tahoma"/>
              </a:rPr>
              <a:t>the</a:t>
            </a:r>
            <a:r>
              <a:rPr sz="1600" spc="-80" dirty="0">
                <a:solidFill>
                  <a:srgbClr val="161A3E"/>
                </a:solidFill>
                <a:cs typeface="Tahoma"/>
              </a:rPr>
              <a:t> </a:t>
            </a:r>
            <a:r>
              <a:rPr sz="1600" spc="10" dirty="0">
                <a:solidFill>
                  <a:srgbClr val="161A3E"/>
                </a:solidFill>
                <a:cs typeface="Tahoma"/>
              </a:rPr>
              <a:t>0</a:t>
            </a:r>
            <a:r>
              <a:rPr sz="1600" spc="15" baseline="24305" dirty="0">
                <a:solidFill>
                  <a:srgbClr val="161A3E"/>
                </a:solidFill>
                <a:cs typeface="Tahoma"/>
              </a:rPr>
              <a:t>th </a:t>
            </a:r>
            <a:r>
              <a:rPr sz="1600" spc="22" baseline="24305" dirty="0">
                <a:solidFill>
                  <a:srgbClr val="161A3E"/>
                </a:solidFill>
                <a:cs typeface="Tahoma"/>
              </a:rPr>
              <a:t> </a:t>
            </a:r>
            <a:r>
              <a:rPr sz="1600" spc="35" dirty="0">
                <a:solidFill>
                  <a:srgbClr val="161A3E"/>
                </a:solidFill>
                <a:cs typeface="Tahoma"/>
              </a:rPr>
              <a:t>index</a:t>
            </a:r>
            <a:r>
              <a:rPr sz="1600" spc="-85" dirty="0">
                <a:solidFill>
                  <a:srgbClr val="161A3E"/>
                </a:solidFill>
                <a:cs typeface="Tahoma"/>
              </a:rPr>
              <a:t> </a:t>
            </a:r>
            <a:r>
              <a:rPr sz="1600" spc="30" dirty="0">
                <a:solidFill>
                  <a:srgbClr val="161A3E"/>
                </a:solidFill>
                <a:cs typeface="Tahoma"/>
              </a:rPr>
              <a:t>to</a:t>
            </a:r>
            <a:r>
              <a:rPr sz="1600" spc="-75" dirty="0">
                <a:solidFill>
                  <a:srgbClr val="161A3E"/>
                </a:solidFill>
                <a:cs typeface="Tahoma"/>
              </a:rPr>
              <a:t> </a:t>
            </a:r>
            <a:r>
              <a:rPr sz="1600" spc="20" dirty="0">
                <a:solidFill>
                  <a:srgbClr val="161A3E"/>
                </a:solidFill>
                <a:cs typeface="Tahoma"/>
              </a:rPr>
              <a:t>the</a:t>
            </a:r>
            <a:r>
              <a:rPr sz="1600" spc="-80" dirty="0">
                <a:solidFill>
                  <a:srgbClr val="161A3E"/>
                </a:solidFill>
                <a:cs typeface="Tahoma"/>
              </a:rPr>
              <a:t> </a:t>
            </a:r>
            <a:r>
              <a:rPr sz="1600" spc="35" dirty="0">
                <a:solidFill>
                  <a:srgbClr val="161A3E"/>
                </a:solidFill>
                <a:cs typeface="Tahoma"/>
              </a:rPr>
              <a:t>position</a:t>
            </a:r>
            <a:r>
              <a:rPr sz="1600" spc="-55" dirty="0">
                <a:solidFill>
                  <a:srgbClr val="161A3E"/>
                </a:solidFill>
                <a:cs typeface="Tahoma"/>
              </a:rPr>
              <a:t> </a:t>
            </a:r>
            <a:r>
              <a:rPr sz="1600" spc="25" dirty="0">
                <a:solidFill>
                  <a:srgbClr val="161A3E"/>
                </a:solidFill>
                <a:cs typeface="Tahoma"/>
              </a:rPr>
              <a:t>of</a:t>
            </a:r>
            <a:r>
              <a:rPr sz="1600" spc="-50" dirty="0">
                <a:solidFill>
                  <a:srgbClr val="161A3E"/>
                </a:solidFill>
                <a:cs typeface="Tahoma"/>
              </a:rPr>
              <a:t> </a:t>
            </a:r>
            <a:r>
              <a:rPr sz="1600" spc="15" dirty="0">
                <a:solidFill>
                  <a:srgbClr val="161A3E"/>
                </a:solidFill>
                <a:cs typeface="Tahoma"/>
              </a:rPr>
              <a:t>the</a:t>
            </a:r>
            <a:r>
              <a:rPr sz="1600" spc="-75" dirty="0">
                <a:solidFill>
                  <a:srgbClr val="161A3E"/>
                </a:solidFill>
                <a:cs typeface="Tahoma"/>
              </a:rPr>
              <a:t> </a:t>
            </a:r>
            <a:r>
              <a:rPr sz="1600" spc="5" dirty="0">
                <a:solidFill>
                  <a:srgbClr val="161A3E"/>
                </a:solidFill>
                <a:cs typeface="Tahoma"/>
              </a:rPr>
              <a:t>write</a:t>
            </a:r>
            <a:r>
              <a:rPr sz="1600" spc="-75" dirty="0">
                <a:solidFill>
                  <a:srgbClr val="161A3E"/>
                </a:solidFill>
                <a:cs typeface="Tahoma"/>
              </a:rPr>
              <a:t> </a:t>
            </a:r>
            <a:r>
              <a:rPr sz="1600" spc="15" dirty="0">
                <a:solidFill>
                  <a:srgbClr val="161A3E"/>
                </a:solidFill>
                <a:cs typeface="Tahoma"/>
              </a:rPr>
              <a:t>pointer.</a:t>
            </a:r>
            <a:endParaRPr sz="1600" dirty="0">
              <a:solidFill>
                <a:srgbClr val="161A3E"/>
              </a:solidFill>
              <a:cs typeface="Tahoma"/>
            </a:endParaRPr>
          </a:p>
        </p:txBody>
      </p:sp>
      <p:graphicFrame>
        <p:nvGraphicFramePr>
          <p:cNvPr id="4" name="object 4"/>
          <p:cNvGraphicFramePr>
            <a:graphicFrameLocks noGrp="1"/>
          </p:cNvGraphicFramePr>
          <p:nvPr>
            <p:extLst>
              <p:ext uri="{D42A27DB-BD31-4B8C-83A1-F6EECF244321}">
                <p14:modId xmlns:p14="http://schemas.microsoft.com/office/powerpoint/2010/main" val="2462538593"/>
              </p:ext>
            </p:extLst>
          </p:nvPr>
        </p:nvGraphicFramePr>
        <p:xfrm>
          <a:off x="2032019" y="2706176"/>
          <a:ext cx="8128000" cy="370840"/>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40">
                <a:tc>
                  <a:txBody>
                    <a:bodyPr/>
                    <a:lstStyle/>
                    <a:p>
                      <a:pPr marL="91440">
                        <a:lnSpc>
                          <a:spcPct val="100000"/>
                        </a:lnSpc>
                        <a:spcBef>
                          <a:spcPts val="280"/>
                        </a:spcBef>
                      </a:pPr>
                      <a:r>
                        <a:rPr sz="1800" b="1" dirty="0">
                          <a:solidFill>
                            <a:srgbClr val="FFFFFF"/>
                          </a:solidFill>
                          <a:latin typeface="Tahoma"/>
                          <a:cs typeface="Tahoma"/>
                        </a:rPr>
                        <a:t>A</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266DC"/>
                    </a:solidFill>
                  </a:tcPr>
                </a:tc>
                <a:tc>
                  <a:txBody>
                    <a:bodyPr/>
                    <a:lstStyle/>
                    <a:p>
                      <a:pPr marL="91440">
                        <a:lnSpc>
                          <a:spcPct val="100000"/>
                        </a:lnSpc>
                        <a:spcBef>
                          <a:spcPts val="280"/>
                        </a:spcBef>
                      </a:pPr>
                      <a:r>
                        <a:rPr sz="1800" b="1" spc="-25" dirty="0">
                          <a:solidFill>
                            <a:srgbClr val="FFFFFF"/>
                          </a:solidFill>
                          <a:latin typeface="Tahoma"/>
                          <a:cs typeface="Tahoma"/>
                        </a:rPr>
                        <a:t>CAT</a:t>
                      </a:r>
                      <a:endParaRPr sz="1800" dirty="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marL="92075">
                        <a:lnSpc>
                          <a:spcPct val="100000"/>
                        </a:lnSpc>
                        <a:spcBef>
                          <a:spcPts val="280"/>
                        </a:spcBef>
                      </a:pPr>
                      <a:r>
                        <a:rPr sz="1800" b="1" spc="-190" dirty="0">
                          <a:solidFill>
                            <a:srgbClr val="FFFFFF"/>
                          </a:solidFill>
                          <a:latin typeface="Tahoma"/>
                          <a:cs typeface="Tahoma"/>
                        </a:rPr>
                        <a:t>IS</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marL="92075">
                        <a:lnSpc>
                          <a:spcPct val="100000"/>
                        </a:lnSpc>
                        <a:spcBef>
                          <a:spcPts val="280"/>
                        </a:spcBef>
                      </a:pPr>
                      <a:r>
                        <a:rPr sz="1800" b="1" spc="90" dirty="0">
                          <a:solidFill>
                            <a:srgbClr val="FFFFFF"/>
                          </a:solidFill>
                          <a:latin typeface="Tahoma"/>
                          <a:cs typeface="Tahoma"/>
                        </a:rPr>
                        <a:t>ON</a:t>
                      </a:r>
                      <a:endParaRPr sz="1800" dirty="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extLst>
                  <a:ext uri="{0D108BD9-81ED-4DB2-BD59-A6C34878D82A}">
                    <a16:rowId xmlns:a16="http://schemas.microsoft.com/office/drawing/2014/main" val="10000"/>
                  </a:ext>
                </a:extLst>
              </a:tr>
            </a:tbl>
          </a:graphicData>
        </a:graphic>
      </p:graphicFrame>
      <p:sp>
        <p:nvSpPr>
          <p:cNvPr id="5" name="object 5"/>
          <p:cNvSpPr/>
          <p:nvPr/>
        </p:nvSpPr>
        <p:spPr>
          <a:xfrm>
            <a:off x="2895600" y="3104388"/>
            <a:ext cx="228600" cy="631190"/>
          </a:xfrm>
          <a:custGeom>
            <a:avLst/>
            <a:gdLst/>
            <a:ahLst/>
            <a:cxnLst/>
            <a:rect l="l" t="t" r="r" b="b"/>
            <a:pathLst>
              <a:path w="228600" h="631189">
                <a:moveTo>
                  <a:pt x="152400" y="190500"/>
                </a:moveTo>
                <a:lnTo>
                  <a:pt x="76200" y="190500"/>
                </a:lnTo>
                <a:lnTo>
                  <a:pt x="76200" y="630809"/>
                </a:lnTo>
                <a:lnTo>
                  <a:pt x="152400" y="630809"/>
                </a:lnTo>
                <a:lnTo>
                  <a:pt x="152400" y="190500"/>
                </a:lnTo>
                <a:close/>
              </a:path>
              <a:path w="228600" h="631189">
                <a:moveTo>
                  <a:pt x="114300" y="0"/>
                </a:moveTo>
                <a:lnTo>
                  <a:pt x="0" y="228600"/>
                </a:lnTo>
                <a:lnTo>
                  <a:pt x="76200" y="228600"/>
                </a:lnTo>
                <a:lnTo>
                  <a:pt x="76200" y="190500"/>
                </a:lnTo>
                <a:lnTo>
                  <a:pt x="209550" y="190500"/>
                </a:lnTo>
                <a:lnTo>
                  <a:pt x="114300" y="0"/>
                </a:lnTo>
                <a:close/>
              </a:path>
              <a:path w="228600" h="631189">
                <a:moveTo>
                  <a:pt x="209550" y="190500"/>
                </a:moveTo>
                <a:lnTo>
                  <a:pt x="152400" y="190500"/>
                </a:lnTo>
                <a:lnTo>
                  <a:pt x="152400" y="228600"/>
                </a:lnTo>
                <a:lnTo>
                  <a:pt x="228600" y="228600"/>
                </a:lnTo>
                <a:lnTo>
                  <a:pt x="209550" y="190500"/>
                </a:lnTo>
                <a:close/>
              </a:path>
            </a:pathLst>
          </a:custGeom>
          <a:solidFill>
            <a:srgbClr val="ED7660"/>
          </a:solidFill>
        </p:spPr>
        <p:txBody>
          <a:bodyPr wrap="square" lIns="0" tIns="0" rIns="0" bIns="0" rtlCol="0"/>
          <a:lstStyle/>
          <a:p>
            <a:endParaRPr>
              <a:solidFill>
                <a:srgbClr val="161A3E"/>
              </a:solidFill>
            </a:endParaRPr>
          </a:p>
        </p:txBody>
      </p:sp>
      <p:sp>
        <p:nvSpPr>
          <p:cNvPr id="6" name="object 6"/>
          <p:cNvSpPr txBox="1"/>
          <p:nvPr/>
        </p:nvSpPr>
        <p:spPr>
          <a:xfrm>
            <a:off x="2371090" y="3728961"/>
            <a:ext cx="1506220" cy="299720"/>
          </a:xfrm>
          <a:prstGeom prst="rect">
            <a:avLst/>
          </a:prstGeom>
        </p:spPr>
        <p:txBody>
          <a:bodyPr vert="horz" wrap="square" lIns="0" tIns="12700" rIns="0" bIns="0" rtlCol="0">
            <a:spAutoFit/>
          </a:bodyPr>
          <a:lstStyle/>
          <a:p>
            <a:pPr marL="12700">
              <a:lnSpc>
                <a:spcPct val="100000"/>
              </a:lnSpc>
              <a:spcBef>
                <a:spcPts val="100"/>
              </a:spcBef>
            </a:pPr>
            <a:r>
              <a:rPr sz="1800" b="1" spc="-55" dirty="0">
                <a:solidFill>
                  <a:srgbClr val="161A3E"/>
                </a:solidFill>
                <a:cs typeface="Tahoma"/>
              </a:rPr>
              <a:t>W</a:t>
            </a:r>
            <a:r>
              <a:rPr sz="1800" b="1" spc="-50" dirty="0">
                <a:solidFill>
                  <a:srgbClr val="161A3E"/>
                </a:solidFill>
                <a:cs typeface="Tahoma"/>
              </a:rPr>
              <a:t>r</a:t>
            </a:r>
            <a:r>
              <a:rPr sz="1800" b="1" spc="-45" dirty="0">
                <a:solidFill>
                  <a:srgbClr val="161A3E"/>
                </a:solidFill>
                <a:cs typeface="Tahoma"/>
              </a:rPr>
              <a:t>i</a:t>
            </a:r>
            <a:r>
              <a:rPr sz="1800" b="1" spc="-40" dirty="0">
                <a:solidFill>
                  <a:srgbClr val="161A3E"/>
                </a:solidFill>
                <a:cs typeface="Tahoma"/>
              </a:rPr>
              <a:t>t</a:t>
            </a:r>
            <a:r>
              <a:rPr sz="1800" b="1" spc="-45" dirty="0">
                <a:solidFill>
                  <a:srgbClr val="161A3E"/>
                </a:solidFill>
                <a:cs typeface="Tahoma"/>
              </a:rPr>
              <a:t>e</a:t>
            </a:r>
            <a:r>
              <a:rPr sz="1800" b="1" spc="-55" dirty="0">
                <a:solidFill>
                  <a:srgbClr val="161A3E"/>
                </a:solidFill>
                <a:cs typeface="Tahoma"/>
              </a:rPr>
              <a:t> </a:t>
            </a:r>
            <a:r>
              <a:rPr sz="1800" b="1" spc="50" dirty="0">
                <a:solidFill>
                  <a:srgbClr val="161A3E"/>
                </a:solidFill>
                <a:cs typeface="Tahoma"/>
              </a:rPr>
              <a:t>p</a:t>
            </a:r>
            <a:r>
              <a:rPr sz="1800" b="1" spc="-10" dirty="0">
                <a:solidFill>
                  <a:srgbClr val="161A3E"/>
                </a:solidFill>
                <a:cs typeface="Tahoma"/>
              </a:rPr>
              <a:t>oi</a:t>
            </a:r>
            <a:r>
              <a:rPr sz="1800" b="1" spc="-35" dirty="0">
                <a:solidFill>
                  <a:srgbClr val="161A3E"/>
                </a:solidFill>
                <a:cs typeface="Tahoma"/>
              </a:rPr>
              <a:t>n</a:t>
            </a:r>
            <a:r>
              <a:rPr sz="1800" b="1" spc="-55" dirty="0">
                <a:solidFill>
                  <a:srgbClr val="161A3E"/>
                </a:solidFill>
                <a:cs typeface="Tahoma"/>
              </a:rPr>
              <a:t>ter</a:t>
            </a:r>
            <a:endParaRPr sz="1800" dirty="0">
              <a:solidFill>
                <a:srgbClr val="161A3E"/>
              </a:solidFill>
              <a:cs typeface="Tahoma"/>
            </a:endParaRPr>
          </a:p>
        </p:txBody>
      </p:sp>
      <p:graphicFrame>
        <p:nvGraphicFramePr>
          <p:cNvPr id="7" name="object 7"/>
          <p:cNvGraphicFramePr>
            <a:graphicFrameLocks noGrp="1"/>
          </p:cNvGraphicFramePr>
          <p:nvPr>
            <p:extLst>
              <p:ext uri="{D42A27DB-BD31-4B8C-83A1-F6EECF244321}">
                <p14:modId xmlns:p14="http://schemas.microsoft.com/office/powerpoint/2010/main" val="2544803770"/>
              </p:ext>
            </p:extLst>
          </p:nvPr>
        </p:nvGraphicFramePr>
        <p:xfrm>
          <a:off x="2032019" y="4028681"/>
          <a:ext cx="8128000" cy="370839"/>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39">
                <a:tc>
                  <a:txBody>
                    <a:bodyPr/>
                    <a:lstStyle/>
                    <a:p>
                      <a:pPr marL="91440">
                        <a:lnSpc>
                          <a:spcPct val="100000"/>
                        </a:lnSpc>
                        <a:spcBef>
                          <a:spcPts val="280"/>
                        </a:spcBef>
                      </a:pPr>
                      <a:r>
                        <a:rPr sz="1800" b="1" spc="-25" dirty="0">
                          <a:solidFill>
                            <a:srgbClr val="FFFFFF"/>
                          </a:solidFill>
                          <a:latin typeface="Tahoma"/>
                          <a:cs typeface="Tahoma"/>
                        </a:rPr>
                        <a:t>CAT</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marL="91440">
                        <a:lnSpc>
                          <a:spcPct val="100000"/>
                        </a:lnSpc>
                        <a:spcBef>
                          <a:spcPts val="280"/>
                        </a:spcBef>
                      </a:pPr>
                      <a:r>
                        <a:rPr sz="1800" b="1" spc="-190" dirty="0">
                          <a:solidFill>
                            <a:srgbClr val="FFFFFF"/>
                          </a:solidFill>
                          <a:latin typeface="Tahoma"/>
                          <a:cs typeface="Tahoma"/>
                        </a:rPr>
                        <a:t>IS</a:t>
                      </a:r>
                      <a:endParaRPr sz="1800" dirty="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marL="92075">
                        <a:lnSpc>
                          <a:spcPct val="100000"/>
                        </a:lnSpc>
                        <a:spcBef>
                          <a:spcPts val="280"/>
                        </a:spcBef>
                      </a:pPr>
                      <a:r>
                        <a:rPr sz="1800" b="1" spc="90" dirty="0">
                          <a:solidFill>
                            <a:srgbClr val="FFFFFF"/>
                          </a:solidFill>
                          <a:latin typeface="Tahoma"/>
                          <a:cs typeface="Tahoma"/>
                        </a:rPr>
                        <a:t>ON</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marL="92075">
                        <a:lnSpc>
                          <a:spcPct val="100000"/>
                        </a:lnSpc>
                        <a:spcBef>
                          <a:spcPts val="280"/>
                        </a:spcBef>
                      </a:pPr>
                      <a:r>
                        <a:rPr sz="1800" b="1" dirty="0">
                          <a:solidFill>
                            <a:srgbClr val="FFFFFF"/>
                          </a:solidFill>
                          <a:latin typeface="Tahoma"/>
                          <a:cs typeface="Tahoma"/>
                        </a:rPr>
                        <a:t>A</a:t>
                      </a:r>
                      <a:endParaRPr sz="1800" dirty="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extLst>
                  <a:ext uri="{0D108BD9-81ED-4DB2-BD59-A6C34878D82A}">
                    <a16:rowId xmlns:a16="http://schemas.microsoft.com/office/drawing/2014/main" val="10000"/>
                  </a:ext>
                </a:extLst>
              </a:tr>
            </a:tbl>
          </a:graphicData>
        </a:graphic>
      </p:graphicFrame>
      <p:grpSp>
        <p:nvGrpSpPr>
          <p:cNvPr id="8" name="object 8"/>
          <p:cNvGrpSpPr/>
          <p:nvPr/>
        </p:nvGrpSpPr>
        <p:grpSpPr>
          <a:xfrm>
            <a:off x="748274" y="4490091"/>
            <a:ext cx="4246491" cy="1531042"/>
            <a:chOff x="736423" y="5088194"/>
            <a:chExt cx="4036060" cy="1291590"/>
          </a:xfrm>
        </p:grpSpPr>
        <p:pic>
          <p:nvPicPr>
            <p:cNvPr id="9" name="object 9"/>
            <p:cNvPicPr/>
            <p:nvPr/>
          </p:nvPicPr>
          <p:blipFill>
            <a:blip r:embed="rId2" cstate="print"/>
            <a:stretch>
              <a:fillRect/>
            </a:stretch>
          </p:blipFill>
          <p:spPr>
            <a:xfrm>
              <a:off x="736423" y="5088194"/>
              <a:ext cx="3369275" cy="1271501"/>
            </a:xfrm>
            <a:prstGeom prst="rect">
              <a:avLst/>
            </a:prstGeom>
          </p:spPr>
        </p:pic>
        <p:sp>
          <p:nvSpPr>
            <p:cNvPr id="10" name="object 10"/>
            <p:cNvSpPr/>
            <p:nvPr/>
          </p:nvSpPr>
          <p:spPr>
            <a:xfrm>
              <a:off x="1777746" y="5516879"/>
              <a:ext cx="2994660" cy="862965"/>
            </a:xfrm>
            <a:custGeom>
              <a:avLst/>
              <a:gdLst/>
              <a:ahLst/>
              <a:cxnLst/>
              <a:rect l="l" t="t" r="r" b="b"/>
              <a:pathLst>
                <a:path w="2994660" h="862964">
                  <a:moveTo>
                    <a:pt x="2993771" y="446532"/>
                  </a:moveTo>
                  <a:lnTo>
                    <a:pt x="114300" y="446532"/>
                  </a:lnTo>
                  <a:lnTo>
                    <a:pt x="114300" y="408432"/>
                  </a:lnTo>
                  <a:lnTo>
                    <a:pt x="0" y="465582"/>
                  </a:lnTo>
                  <a:lnTo>
                    <a:pt x="114300" y="522732"/>
                  </a:lnTo>
                  <a:lnTo>
                    <a:pt x="114300" y="484632"/>
                  </a:lnTo>
                  <a:lnTo>
                    <a:pt x="2993771" y="484632"/>
                  </a:lnTo>
                  <a:lnTo>
                    <a:pt x="2993771" y="446532"/>
                  </a:lnTo>
                  <a:close/>
                </a:path>
                <a:path w="2994660" h="862964">
                  <a:moveTo>
                    <a:pt x="2993898" y="786384"/>
                  </a:moveTo>
                  <a:lnTo>
                    <a:pt x="2545080" y="786384"/>
                  </a:lnTo>
                  <a:lnTo>
                    <a:pt x="2545080" y="748284"/>
                  </a:lnTo>
                  <a:lnTo>
                    <a:pt x="2430780" y="805434"/>
                  </a:lnTo>
                  <a:lnTo>
                    <a:pt x="2545080" y="862584"/>
                  </a:lnTo>
                  <a:lnTo>
                    <a:pt x="2545080" y="824484"/>
                  </a:lnTo>
                  <a:lnTo>
                    <a:pt x="2993898" y="824484"/>
                  </a:lnTo>
                  <a:lnTo>
                    <a:pt x="2993898" y="786384"/>
                  </a:lnTo>
                  <a:close/>
                </a:path>
                <a:path w="2994660" h="862964">
                  <a:moveTo>
                    <a:pt x="2994152" y="38100"/>
                  </a:moveTo>
                  <a:lnTo>
                    <a:pt x="693420" y="38100"/>
                  </a:lnTo>
                  <a:lnTo>
                    <a:pt x="693420" y="0"/>
                  </a:lnTo>
                  <a:lnTo>
                    <a:pt x="579120" y="57150"/>
                  </a:lnTo>
                  <a:lnTo>
                    <a:pt x="693420" y="114300"/>
                  </a:lnTo>
                  <a:lnTo>
                    <a:pt x="693420" y="76200"/>
                  </a:lnTo>
                  <a:lnTo>
                    <a:pt x="2994152" y="76200"/>
                  </a:lnTo>
                  <a:lnTo>
                    <a:pt x="2994152" y="38100"/>
                  </a:lnTo>
                  <a:close/>
                </a:path>
              </a:pathLst>
            </a:custGeom>
            <a:solidFill>
              <a:srgbClr val="ED7660"/>
            </a:solidFill>
          </p:spPr>
          <p:txBody>
            <a:bodyPr wrap="square" lIns="0" tIns="0" rIns="0" bIns="0" rtlCol="0"/>
            <a:lstStyle/>
            <a:p>
              <a:endParaRPr>
                <a:solidFill>
                  <a:srgbClr val="161A3E"/>
                </a:solidFill>
              </a:endParaRPr>
            </a:p>
          </p:txBody>
        </p:sp>
      </p:grpSp>
      <p:sp>
        <p:nvSpPr>
          <p:cNvPr id="11" name="object 11"/>
          <p:cNvSpPr txBox="1"/>
          <p:nvPr/>
        </p:nvSpPr>
        <p:spPr>
          <a:xfrm>
            <a:off x="5106735" y="4973379"/>
            <a:ext cx="4139900" cy="1105174"/>
          </a:xfrm>
          <a:prstGeom prst="rect">
            <a:avLst/>
          </a:prstGeom>
        </p:spPr>
        <p:txBody>
          <a:bodyPr vert="horz" wrap="square" lIns="0" tIns="12700" rIns="0" bIns="0" rtlCol="0">
            <a:spAutoFit/>
          </a:bodyPr>
          <a:lstStyle/>
          <a:p>
            <a:pPr marL="12700">
              <a:lnSpc>
                <a:spcPct val="100000"/>
              </a:lnSpc>
              <a:spcBef>
                <a:spcPts val="100"/>
              </a:spcBef>
            </a:pPr>
            <a:r>
              <a:rPr sz="1400" spc="30" dirty="0">
                <a:solidFill>
                  <a:srgbClr val="161A3E"/>
                </a:solidFill>
                <a:cs typeface="Tahoma"/>
              </a:rPr>
              <a:t>Since</a:t>
            </a:r>
            <a:r>
              <a:rPr sz="1400" spc="-80" dirty="0">
                <a:solidFill>
                  <a:srgbClr val="161A3E"/>
                </a:solidFill>
                <a:cs typeface="Tahoma"/>
              </a:rPr>
              <a:t> </a:t>
            </a:r>
            <a:r>
              <a:rPr sz="1400" spc="20" dirty="0">
                <a:solidFill>
                  <a:srgbClr val="161A3E"/>
                </a:solidFill>
                <a:cs typeface="Tahoma"/>
              </a:rPr>
              <a:t>the</a:t>
            </a:r>
            <a:r>
              <a:rPr sz="1400" spc="-90" dirty="0">
                <a:solidFill>
                  <a:srgbClr val="161A3E"/>
                </a:solidFill>
                <a:cs typeface="Tahoma"/>
              </a:rPr>
              <a:t> </a:t>
            </a:r>
            <a:r>
              <a:rPr sz="1400" spc="35" dirty="0">
                <a:solidFill>
                  <a:srgbClr val="161A3E"/>
                </a:solidFill>
                <a:cs typeface="Tahoma"/>
              </a:rPr>
              <a:t>cache</a:t>
            </a:r>
            <a:r>
              <a:rPr sz="1400" spc="-90" dirty="0">
                <a:solidFill>
                  <a:srgbClr val="161A3E"/>
                </a:solidFill>
                <a:cs typeface="Tahoma"/>
              </a:rPr>
              <a:t> </a:t>
            </a:r>
            <a:r>
              <a:rPr sz="1400" spc="10" dirty="0">
                <a:solidFill>
                  <a:srgbClr val="161A3E"/>
                </a:solidFill>
                <a:cs typeface="Tahoma"/>
              </a:rPr>
              <a:t>is</a:t>
            </a:r>
            <a:r>
              <a:rPr sz="1400" spc="-80" dirty="0">
                <a:solidFill>
                  <a:srgbClr val="161A3E"/>
                </a:solidFill>
                <a:cs typeface="Tahoma"/>
              </a:rPr>
              <a:t> </a:t>
            </a:r>
            <a:r>
              <a:rPr sz="1400" spc="25" dirty="0">
                <a:solidFill>
                  <a:srgbClr val="161A3E"/>
                </a:solidFill>
                <a:cs typeface="Tahoma"/>
              </a:rPr>
              <a:t>not</a:t>
            </a:r>
            <a:r>
              <a:rPr sz="1400" spc="-65" dirty="0">
                <a:solidFill>
                  <a:srgbClr val="161A3E"/>
                </a:solidFill>
                <a:cs typeface="Tahoma"/>
              </a:rPr>
              <a:t> </a:t>
            </a:r>
            <a:r>
              <a:rPr sz="1400" spc="10" dirty="0">
                <a:solidFill>
                  <a:srgbClr val="161A3E"/>
                </a:solidFill>
                <a:cs typeface="Tahoma"/>
              </a:rPr>
              <a:t>full</a:t>
            </a:r>
            <a:r>
              <a:rPr sz="1400" spc="-75" dirty="0">
                <a:solidFill>
                  <a:srgbClr val="161A3E"/>
                </a:solidFill>
                <a:cs typeface="Tahoma"/>
              </a:rPr>
              <a:t> </a:t>
            </a:r>
            <a:r>
              <a:rPr sz="1400" spc="-10" dirty="0">
                <a:solidFill>
                  <a:srgbClr val="161A3E"/>
                </a:solidFill>
                <a:cs typeface="Tahoma"/>
              </a:rPr>
              <a:t>yet,</a:t>
            </a:r>
            <a:r>
              <a:rPr sz="1400" spc="-85" dirty="0">
                <a:solidFill>
                  <a:srgbClr val="161A3E"/>
                </a:solidFill>
                <a:cs typeface="Tahoma"/>
              </a:rPr>
              <a:t> </a:t>
            </a:r>
            <a:r>
              <a:rPr sz="1400" spc="40" dirty="0">
                <a:solidFill>
                  <a:srgbClr val="161A3E"/>
                </a:solidFill>
                <a:cs typeface="Tahoma"/>
              </a:rPr>
              <a:t>ignore</a:t>
            </a:r>
            <a:r>
              <a:rPr sz="1400" spc="-65" dirty="0">
                <a:solidFill>
                  <a:srgbClr val="161A3E"/>
                </a:solidFill>
                <a:cs typeface="Tahoma"/>
              </a:rPr>
              <a:t> </a:t>
            </a:r>
            <a:r>
              <a:rPr sz="1400" spc="25" dirty="0">
                <a:solidFill>
                  <a:srgbClr val="161A3E"/>
                </a:solidFill>
                <a:cs typeface="Tahoma"/>
              </a:rPr>
              <a:t>unfilled</a:t>
            </a:r>
            <a:r>
              <a:rPr sz="1400" spc="-90" dirty="0">
                <a:solidFill>
                  <a:srgbClr val="161A3E"/>
                </a:solidFill>
                <a:cs typeface="Tahoma"/>
              </a:rPr>
              <a:t> </a:t>
            </a:r>
            <a:r>
              <a:rPr sz="1400" spc="10" dirty="0">
                <a:solidFill>
                  <a:srgbClr val="161A3E"/>
                </a:solidFill>
                <a:cs typeface="Tahoma"/>
              </a:rPr>
              <a:t>items.</a:t>
            </a:r>
            <a:endParaRPr sz="1400" dirty="0">
              <a:solidFill>
                <a:srgbClr val="161A3E"/>
              </a:solidFill>
              <a:cs typeface="Tahoma"/>
            </a:endParaRPr>
          </a:p>
          <a:p>
            <a:pPr marL="12700" marR="5080">
              <a:lnSpc>
                <a:spcPct val="202900"/>
              </a:lnSpc>
              <a:spcBef>
                <a:spcPts val="540"/>
              </a:spcBef>
            </a:pPr>
            <a:r>
              <a:rPr sz="1400" spc="30" dirty="0">
                <a:solidFill>
                  <a:srgbClr val="161A3E"/>
                </a:solidFill>
                <a:cs typeface="Tahoma"/>
              </a:rPr>
              <a:t>Since</a:t>
            </a:r>
            <a:r>
              <a:rPr sz="1400" spc="-80" dirty="0">
                <a:solidFill>
                  <a:srgbClr val="161A3E"/>
                </a:solidFill>
                <a:cs typeface="Tahoma"/>
              </a:rPr>
              <a:t> </a:t>
            </a:r>
            <a:r>
              <a:rPr sz="1400" spc="20" dirty="0">
                <a:solidFill>
                  <a:srgbClr val="161A3E"/>
                </a:solidFill>
                <a:cs typeface="Tahoma"/>
              </a:rPr>
              <a:t>the</a:t>
            </a:r>
            <a:r>
              <a:rPr sz="1400" spc="-90" dirty="0">
                <a:solidFill>
                  <a:srgbClr val="161A3E"/>
                </a:solidFill>
                <a:cs typeface="Tahoma"/>
              </a:rPr>
              <a:t> </a:t>
            </a:r>
            <a:r>
              <a:rPr sz="1400" spc="35" dirty="0">
                <a:solidFill>
                  <a:srgbClr val="161A3E"/>
                </a:solidFill>
                <a:cs typeface="Tahoma"/>
              </a:rPr>
              <a:t>cache</a:t>
            </a:r>
            <a:r>
              <a:rPr sz="1400" spc="-90" dirty="0">
                <a:solidFill>
                  <a:srgbClr val="161A3E"/>
                </a:solidFill>
                <a:cs typeface="Tahoma"/>
              </a:rPr>
              <a:t> </a:t>
            </a:r>
            <a:r>
              <a:rPr sz="1400" spc="10" dirty="0">
                <a:solidFill>
                  <a:srgbClr val="161A3E"/>
                </a:solidFill>
                <a:cs typeface="Tahoma"/>
              </a:rPr>
              <a:t>is</a:t>
            </a:r>
            <a:r>
              <a:rPr sz="1400" spc="-80" dirty="0">
                <a:solidFill>
                  <a:srgbClr val="161A3E"/>
                </a:solidFill>
                <a:cs typeface="Tahoma"/>
              </a:rPr>
              <a:t> </a:t>
            </a:r>
            <a:r>
              <a:rPr sz="1400" spc="25" dirty="0">
                <a:solidFill>
                  <a:srgbClr val="161A3E"/>
                </a:solidFill>
                <a:cs typeface="Tahoma"/>
              </a:rPr>
              <a:t>not</a:t>
            </a:r>
            <a:r>
              <a:rPr sz="1400" spc="-65" dirty="0">
                <a:solidFill>
                  <a:srgbClr val="161A3E"/>
                </a:solidFill>
                <a:cs typeface="Tahoma"/>
              </a:rPr>
              <a:t> </a:t>
            </a:r>
            <a:r>
              <a:rPr sz="1400" spc="10" dirty="0">
                <a:solidFill>
                  <a:srgbClr val="161A3E"/>
                </a:solidFill>
                <a:cs typeface="Tahoma"/>
              </a:rPr>
              <a:t>full</a:t>
            </a:r>
            <a:r>
              <a:rPr sz="1400" spc="-75" dirty="0">
                <a:solidFill>
                  <a:srgbClr val="161A3E"/>
                </a:solidFill>
                <a:cs typeface="Tahoma"/>
              </a:rPr>
              <a:t> </a:t>
            </a:r>
            <a:r>
              <a:rPr sz="1400" spc="-10" dirty="0">
                <a:solidFill>
                  <a:srgbClr val="161A3E"/>
                </a:solidFill>
                <a:cs typeface="Tahoma"/>
              </a:rPr>
              <a:t>yet,</a:t>
            </a:r>
            <a:r>
              <a:rPr sz="1400" spc="-85" dirty="0">
                <a:solidFill>
                  <a:srgbClr val="161A3E"/>
                </a:solidFill>
                <a:cs typeface="Tahoma"/>
              </a:rPr>
              <a:t> </a:t>
            </a:r>
            <a:r>
              <a:rPr sz="1400" spc="40" dirty="0">
                <a:solidFill>
                  <a:srgbClr val="161A3E"/>
                </a:solidFill>
                <a:cs typeface="Tahoma"/>
              </a:rPr>
              <a:t>ignore</a:t>
            </a:r>
            <a:r>
              <a:rPr sz="1400" spc="-65" dirty="0">
                <a:solidFill>
                  <a:srgbClr val="161A3E"/>
                </a:solidFill>
                <a:cs typeface="Tahoma"/>
              </a:rPr>
              <a:t> </a:t>
            </a:r>
            <a:r>
              <a:rPr sz="1400" spc="25" dirty="0">
                <a:solidFill>
                  <a:srgbClr val="161A3E"/>
                </a:solidFill>
                <a:cs typeface="Tahoma"/>
              </a:rPr>
              <a:t>unfilled</a:t>
            </a:r>
            <a:r>
              <a:rPr sz="1400" spc="-90" dirty="0">
                <a:solidFill>
                  <a:srgbClr val="161A3E"/>
                </a:solidFill>
                <a:cs typeface="Tahoma"/>
              </a:rPr>
              <a:t> </a:t>
            </a:r>
            <a:r>
              <a:rPr sz="1400" spc="10" dirty="0">
                <a:solidFill>
                  <a:srgbClr val="161A3E"/>
                </a:solidFill>
                <a:cs typeface="Tahoma"/>
              </a:rPr>
              <a:t>items. </a:t>
            </a:r>
            <a:r>
              <a:rPr sz="1400" spc="-330" dirty="0">
                <a:solidFill>
                  <a:srgbClr val="161A3E"/>
                </a:solidFill>
                <a:cs typeface="Tahoma"/>
              </a:rPr>
              <a:t> </a:t>
            </a:r>
            <a:r>
              <a:rPr sz="1400" spc="20" dirty="0">
                <a:solidFill>
                  <a:srgbClr val="161A3E"/>
                </a:solidFill>
                <a:cs typeface="Tahoma"/>
              </a:rPr>
              <a:t>Ro</a:t>
            </a:r>
            <a:r>
              <a:rPr sz="1400" spc="-5" dirty="0">
                <a:solidFill>
                  <a:srgbClr val="161A3E"/>
                </a:solidFill>
                <a:cs typeface="Tahoma"/>
              </a:rPr>
              <a:t>t</a:t>
            </a:r>
            <a:r>
              <a:rPr sz="1400" spc="-10" dirty="0">
                <a:solidFill>
                  <a:srgbClr val="161A3E"/>
                </a:solidFill>
                <a:cs typeface="Tahoma"/>
              </a:rPr>
              <a:t>a</a:t>
            </a:r>
            <a:r>
              <a:rPr sz="1400" spc="15" dirty="0">
                <a:solidFill>
                  <a:srgbClr val="161A3E"/>
                </a:solidFill>
                <a:cs typeface="Tahoma"/>
              </a:rPr>
              <a:t>te</a:t>
            </a:r>
            <a:r>
              <a:rPr sz="1400" spc="-70" dirty="0">
                <a:solidFill>
                  <a:srgbClr val="161A3E"/>
                </a:solidFill>
                <a:cs typeface="Tahoma"/>
              </a:rPr>
              <a:t> </a:t>
            </a:r>
            <a:r>
              <a:rPr sz="1400" spc="5" dirty="0">
                <a:solidFill>
                  <a:srgbClr val="161A3E"/>
                </a:solidFill>
                <a:cs typeface="Tahoma"/>
              </a:rPr>
              <a:t>th</a:t>
            </a:r>
            <a:r>
              <a:rPr sz="1400" spc="50" dirty="0">
                <a:solidFill>
                  <a:srgbClr val="161A3E"/>
                </a:solidFill>
                <a:cs typeface="Tahoma"/>
              </a:rPr>
              <a:t>e</a:t>
            </a:r>
            <a:r>
              <a:rPr sz="1400" spc="-90" dirty="0">
                <a:solidFill>
                  <a:srgbClr val="161A3E"/>
                </a:solidFill>
                <a:cs typeface="Tahoma"/>
              </a:rPr>
              <a:t> </a:t>
            </a:r>
            <a:r>
              <a:rPr sz="1400" spc="35" dirty="0">
                <a:solidFill>
                  <a:srgbClr val="161A3E"/>
                </a:solidFill>
                <a:cs typeface="Tahoma"/>
              </a:rPr>
              <a:t>cache</a:t>
            </a:r>
            <a:r>
              <a:rPr sz="1400" spc="-90" dirty="0">
                <a:solidFill>
                  <a:srgbClr val="161A3E"/>
                </a:solidFill>
                <a:cs typeface="Tahoma"/>
              </a:rPr>
              <a:t> </a:t>
            </a:r>
            <a:r>
              <a:rPr sz="1400" spc="20" dirty="0">
                <a:solidFill>
                  <a:srgbClr val="161A3E"/>
                </a:solidFill>
                <a:cs typeface="Tahoma"/>
              </a:rPr>
              <a:t>aro</a:t>
            </a:r>
            <a:r>
              <a:rPr sz="1400" spc="15" dirty="0">
                <a:solidFill>
                  <a:srgbClr val="161A3E"/>
                </a:solidFill>
                <a:cs typeface="Tahoma"/>
              </a:rPr>
              <a:t>un</a:t>
            </a:r>
            <a:r>
              <a:rPr sz="1400" spc="95" dirty="0">
                <a:solidFill>
                  <a:srgbClr val="161A3E"/>
                </a:solidFill>
                <a:cs typeface="Tahoma"/>
              </a:rPr>
              <a:t>d</a:t>
            </a:r>
            <a:r>
              <a:rPr sz="1400" spc="-65" dirty="0">
                <a:solidFill>
                  <a:srgbClr val="161A3E"/>
                </a:solidFill>
                <a:cs typeface="Tahoma"/>
              </a:rPr>
              <a:t> </a:t>
            </a:r>
            <a:r>
              <a:rPr sz="1400" spc="20" dirty="0">
                <a:solidFill>
                  <a:srgbClr val="161A3E"/>
                </a:solidFill>
                <a:cs typeface="Tahoma"/>
              </a:rPr>
              <a:t>the</a:t>
            </a:r>
            <a:r>
              <a:rPr sz="1400" spc="-90" dirty="0">
                <a:solidFill>
                  <a:srgbClr val="161A3E"/>
                </a:solidFill>
                <a:cs typeface="Tahoma"/>
              </a:rPr>
              <a:t> </a:t>
            </a:r>
            <a:r>
              <a:rPr sz="1400" spc="5" dirty="0">
                <a:solidFill>
                  <a:srgbClr val="161A3E"/>
                </a:solidFill>
                <a:cs typeface="Tahoma"/>
              </a:rPr>
              <a:t>w</a:t>
            </a:r>
            <a:r>
              <a:rPr sz="1400" dirty="0">
                <a:solidFill>
                  <a:srgbClr val="161A3E"/>
                </a:solidFill>
                <a:cs typeface="Tahoma"/>
              </a:rPr>
              <a:t>ri</a:t>
            </a:r>
            <a:r>
              <a:rPr sz="1400" spc="-5" dirty="0">
                <a:solidFill>
                  <a:srgbClr val="161A3E"/>
                </a:solidFill>
                <a:cs typeface="Tahoma"/>
              </a:rPr>
              <a:t>t</a:t>
            </a:r>
            <a:r>
              <a:rPr sz="1400" spc="50" dirty="0">
                <a:solidFill>
                  <a:srgbClr val="161A3E"/>
                </a:solidFill>
                <a:cs typeface="Tahoma"/>
              </a:rPr>
              <a:t>e</a:t>
            </a:r>
            <a:r>
              <a:rPr sz="1400" spc="-80" dirty="0">
                <a:solidFill>
                  <a:srgbClr val="161A3E"/>
                </a:solidFill>
                <a:cs typeface="Tahoma"/>
              </a:rPr>
              <a:t> </a:t>
            </a:r>
            <a:r>
              <a:rPr sz="1400" spc="80" dirty="0">
                <a:solidFill>
                  <a:srgbClr val="161A3E"/>
                </a:solidFill>
                <a:cs typeface="Tahoma"/>
              </a:rPr>
              <a:t>p</a:t>
            </a:r>
            <a:r>
              <a:rPr sz="1400" spc="35" dirty="0">
                <a:solidFill>
                  <a:srgbClr val="161A3E"/>
                </a:solidFill>
                <a:cs typeface="Tahoma"/>
              </a:rPr>
              <a:t>oi</a:t>
            </a:r>
            <a:r>
              <a:rPr sz="1400" spc="40" dirty="0">
                <a:solidFill>
                  <a:srgbClr val="161A3E"/>
                </a:solidFill>
                <a:cs typeface="Tahoma"/>
              </a:rPr>
              <a:t>n</a:t>
            </a:r>
            <a:r>
              <a:rPr sz="1400" spc="10" dirty="0">
                <a:solidFill>
                  <a:srgbClr val="161A3E"/>
                </a:solidFill>
                <a:cs typeface="Tahoma"/>
              </a:rPr>
              <a:t>ter</a:t>
            </a:r>
            <a:endParaRPr sz="1400" dirty="0">
              <a:solidFill>
                <a:srgbClr val="161A3E"/>
              </a:solidFill>
              <a:cs typeface="Tahoma"/>
            </a:endParaRPr>
          </a:p>
        </p:txBody>
      </p:sp>
      <p:sp>
        <p:nvSpPr>
          <p:cNvPr id="14" name="Title 1">
            <a:extLst>
              <a:ext uri="{FF2B5EF4-FFF2-40B4-BE49-F238E27FC236}">
                <a16:creationId xmlns:a16="http://schemas.microsoft.com/office/drawing/2014/main" id="{B592D4C6-AFAE-7288-8DA5-3E91F968C9E8}"/>
              </a:ext>
            </a:extLst>
          </p:cNvPr>
          <p:cNvSpPr txBox="1">
            <a:spLocks/>
          </p:cNvSpPr>
          <p:nvPr/>
        </p:nvSpPr>
        <p:spPr>
          <a:xfrm>
            <a:off x="669552" y="594335"/>
            <a:ext cx="10863635" cy="639153"/>
          </a:xfrm>
          <a:prstGeom prst="rect">
            <a:avLst/>
          </a:prstGeom>
        </p:spPr>
        <p:txBody>
          <a:bodyPr vert="horz" lIns="0" tIns="0" rIns="0" bIns="0" rtlCol="0" anchor="ctr">
            <a:normAutofit fontScale="97500"/>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US" dirty="0">
                <a:solidFill>
                  <a:srgbClr val="161A3E"/>
                </a:solidFill>
                <a:latin typeface="+mn-lt"/>
              </a:rPr>
              <a:t>Rolling Buffer Cache: How It Works</a:t>
            </a:r>
            <a:endParaRPr lang="en-IN" dirty="0">
              <a:solidFill>
                <a:srgbClr val="161A3E"/>
              </a:solidFill>
              <a:latin typeface="+mn-lt"/>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E9879-11A5-7788-242A-B163447DD774}"/>
              </a:ext>
            </a:extLst>
          </p:cNvPr>
          <p:cNvSpPr>
            <a:spLocks noGrp="1"/>
          </p:cNvSpPr>
          <p:nvPr>
            <p:ph type="title"/>
          </p:nvPr>
        </p:nvSpPr>
        <p:spPr>
          <a:xfrm>
            <a:off x="669552" y="594335"/>
            <a:ext cx="10863635" cy="639153"/>
          </a:xfrm>
        </p:spPr>
        <p:txBody>
          <a:bodyPr vert="horz" lIns="0" tIns="0" rIns="0" bIns="0" rtlCol="0" anchor="ctr">
            <a:normAutofit/>
          </a:bodyPr>
          <a:lstStyle/>
          <a:p>
            <a:r>
              <a:rPr lang="en-IN" dirty="0"/>
              <a:t>Pre-fill and chunking</a:t>
            </a:r>
          </a:p>
        </p:txBody>
      </p:sp>
      <p:sp>
        <p:nvSpPr>
          <p:cNvPr id="3" name="Content Placeholder 2">
            <a:extLst>
              <a:ext uri="{FF2B5EF4-FFF2-40B4-BE49-F238E27FC236}">
                <a16:creationId xmlns:a16="http://schemas.microsoft.com/office/drawing/2014/main" id="{EE5FF085-C78C-D511-1642-D878BFD0A929}"/>
              </a:ext>
            </a:extLst>
          </p:cNvPr>
          <p:cNvSpPr>
            <a:spLocks noGrp="1"/>
          </p:cNvSpPr>
          <p:nvPr>
            <p:ph idx="1"/>
          </p:nvPr>
        </p:nvSpPr>
        <p:spPr>
          <a:xfrm>
            <a:off x="669552" y="1665743"/>
            <a:ext cx="10863635" cy="4427081"/>
          </a:xfrm>
        </p:spPr>
        <p:txBody>
          <a:bodyPr>
            <a:normAutofit lnSpcReduction="10000"/>
          </a:bodyPr>
          <a:lstStyle/>
          <a:p>
            <a:pPr>
              <a:lnSpc>
                <a:spcPct val="100000"/>
              </a:lnSpc>
              <a:spcBef>
                <a:spcPts val="600"/>
              </a:spcBef>
              <a:spcAft>
                <a:spcPts val="600"/>
              </a:spcAft>
              <a:buNone/>
            </a:pPr>
            <a:r>
              <a:rPr lang="en-US" sz="2400" dirty="0">
                <a:solidFill>
                  <a:srgbClr val="161A3E"/>
                </a:solidFill>
              </a:rPr>
              <a:t>When we generate text, we first feed the </a:t>
            </a:r>
            <a:r>
              <a:rPr lang="en-US" sz="2400" b="1" dirty="0">
                <a:solidFill>
                  <a:srgbClr val="161A3E"/>
                </a:solidFill>
              </a:rPr>
              <a:t>prompt</a:t>
            </a:r>
            <a:r>
              <a:rPr lang="en-US" sz="2400" dirty="0">
                <a:solidFill>
                  <a:srgbClr val="161A3E"/>
                </a:solidFill>
              </a:rPr>
              <a:t> and then predict new tokens one-by-one.</a:t>
            </a:r>
            <a:br>
              <a:rPr lang="en-US" sz="2400" dirty="0">
                <a:solidFill>
                  <a:srgbClr val="161A3E"/>
                </a:solidFill>
              </a:rPr>
            </a:br>
            <a:r>
              <a:rPr lang="en-US" sz="2400" dirty="0">
                <a:solidFill>
                  <a:srgbClr val="161A3E"/>
                </a:solidFill>
              </a:rPr>
              <a:t>With a </a:t>
            </a:r>
            <a:r>
              <a:rPr lang="en-US" sz="2400" b="1" dirty="0">
                <a:solidFill>
                  <a:srgbClr val="161A3E"/>
                </a:solidFill>
              </a:rPr>
              <a:t>KV-cache</a:t>
            </a:r>
            <a:r>
              <a:rPr lang="en-US" sz="2400" dirty="0">
                <a:solidFill>
                  <a:srgbClr val="161A3E"/>
                </a:solidFill>
              </a:rPr>
              <a:t> we must load all prompt tokens into the cache before generation.</a:t>
            </a:r>
          </a:p>
          <a:p>
            <a:pPr>
              <a:lnSpc>
                <a:spcPct val="100000"/>
              </a:lnSpc>
              <a:spcBef>
                <a:spcPts val="600"/>
              </a:spcBef>
              <a:spcAft>
                <a:spcPts val="600"/>
              </a:spcAft>
              <a:buFont typeface="Arial" panose="020B0604020202020204" pitchFamily="34" charset="0"/>
              <a:buChar char="•"/>
            </a:pPr>
            <a:r>
              <a:rPr lang="en-US" sz="2400" b="1" dirty="0">
                <a:solidFill>
                  <a:srgbClr val="161A3E"/>
                </a:solidFill>
              </a:rPr>
              <a:t>Pre-fill</a:t>
            </a:r>
            <a:r>
              <a:rPr lang="en-US" sz="2400" dirty="0">
                <a:solidFill>
                  <a:srgbClr val="161A3E"/>
                </a:solidFill>
              </a:rPr>
              <a:t> – because the prompt is known in advance, we insert its tokens directly into the cache.</a:t>
            </a:r>
          </a:p>
          <a:p>
            <a:pPr>
              <a:lnSpc>
                <a:spcPct val="100000"/>
              </a:lnSpc>
              <a:spcBef>
                <a:spcPts val="600"/>
              </a:spcBef>
              <a:spcAft>
                <a:spcPts val="600"/>
              </a:spcAft>
              <a:buFont typeface="Arial" panose="020B0604020202020204" pitchFamily="34" charset="0"/>
              <a:buChar char="•"/>
            </a:pPr>
            <a:r>
              <a:rPr lang="en-US" sz="2400" b="1" dirty="0">
                <a:solidFill>
                  <a:srgbClr val="161A3E"/>
                </a:solidFill>
              </a:rPr>
              <a:t>Problem</a:t>
            </a:r>
            <a:r>
              <a:rPr lang="en-US" sz="2400" dirty="0">
                <a:solidFill>
                  <a:srgbClr val="161A3E"/>
                </a:solidFill>
              </a:rPr>
              <a:t> – loading a very long prompt in one shot creates an </a:t>
            </a:r>
            <a:r>
              <a:rPr lang="en-US" sz="2400" i="1" dirty="0">
                <a:solidFill>
                  <a:srgbClr val="161A3E"/>
                </a:solidFill>
              </a:rPr>
              <a:t>N × N</a:t>
            </a:r>
            <a:r>
              <a:rPr lang="en-US" sz="2400" dirty="0">
                <a:solidFill>
                  <a:srgbClr val="161A3E"/>
                </a:solidFill>
              </a:rPr>
              <a:t> attention matrix that may not fit in GPU memory.</a:t>
            </a:r>
          </a:p>
          <a:p>
            <a:pPr>
              <a:lnSpc>
                <a:spcPct val="100000"/>
              </a:lnSpc>
              <a:spcBef>
                <a:spcPts val="600"/>
              </a:spcBef>
              <a:spcAft>
                <a:spcPts val="600"/>
              </a:spcAft>
              <a:buFont typeface="Arial" panose="020B0604020202020204" pitchFamily="34" charset="0"/>
              <a:buChar char="•"/>
            </a:pPr>
            <a:r>
              <a:rPr lang="en-US" sz="2400" b="1" dirty="0">
                <a:solidFill>
                  <a:srgbClr val="161A3E"/>
                </a:solidFill>
              </a:rPr>
              <a:t>Chunking</a:t>
            </a:r>
            <a:r>
              <a:rPr lang="en-US" sz="2400" dirty="0">
                <a:solidFill>
                  <a:srgbClr val="161A3E"/>
                </a:solidFill>
              </a:rPr>
              <a:t> – split the prompt into chunks of size </a:t>
            </a:r>
            <a:r>
              <a:rPr lang="en-US" sz="2400" b="1" dirty="0">
                <a:solidFill>
                  <a:srgbClr val="161A3E"/>
                </a:solidFill>
              </a:rPr>
              <a:t>W</a:t>
            </a:r>
            <a:r>
              <a:rPr lang="en-US" sz="2400" dirty="0">
                <a:solidFill>
                  <a:srgbClr val="161A3E"/>
                </a:solidFill>
              </a:rPr>
              <a:t> (the sliding-window length) and load them sequentially; only the current W × W slice is ever </a:t>
            </a:r>
            <a:r>
              <a:rPr lang="en-US" sz="2400" dirty="0" err="1">
                <a:solidFill>
                  <a:srgbClr val="161A3E"/>
                </a:solidFill>
              </a:rPr>
              <a:t>materialised</a:t>
            </a:r>
            <a:r>
              <a:rPr lang="en-US" sz="2400" dirty="0">
                <a:solidFill>
                  <a:srgbClr val="161A3E"/>
                </a:solidFill>
              </a:rPr>
              <a:t>.</a:t>
            </a:r>
          </a:p>
          <a:p>
            <a:pPr marL="0" indent="0">
              <a:lnSpc>
                <a:spcPct val="100000"/>
              </a:lnSpc>
              <a:spcBef>
                <a:spcPts val="600"/>
              </a:spcBef>
              <a:spcAft>
                <a:spcPts val="600"/>
              </a:spcAft>
              <a:buNone/>
            </a:pPr>
            <a:r>
              <a:rPr lang="en-US" sz="2400" b="1" dirty="0">
                <a:solidFill>
                  <a:srgbClr val="161A3E"/>
                </a:solidFill>
              </a:rPr>
              <a:t>Example</a:t>
            </a:r>
            <a:r>
              <a:rPr lang="en-US" sz="2400" dirty="0">
                <a:solidFill>
                  <a:srgbClr val="161A3E"/>
                </a:solidFill>
              </a:rPr>
              <a:t> (W = 4, each word = one token)</a:t>
            </a:r>
            <a:br>
              <a:rPr lang="en-US" sz="2400" dirty="0">
                <a:solidFill>
                  <a:srgbClr val="161A3E"/>
                </a:solidFill>
              </a:rPr>
            </a:br>
            <a:r>
              <a:rPr lang="en-US" sz="2400" dirty="0">
                <a:solidFill>
                  <a:srgbClr val="161A3E"/>
                </a:solidFill>
              </a:rPr>
              <a:t>Prompt: </a:t>
            </a:r>
            <a:r>
              <a:rPr lang="en-US" sz="2400" i="1" dirty="0">
                <a:solidFill>
                  <a:srgbClr val="161A3E"/>
                </a:solidFill>
              </a:rPr>
              <a:t>“Can you tell me who is the richest man in history”</a:t>
            </a:r>
            <a:endParaRPr lang="en-US" sz="2400" dirty="0">
              <a:solidFill>
                <a:srgbClr val="161A3E"/>
              </a:solidFill>
            </a:endParaRPr>
          </a:p>
        </p:txBody>
      </p:sp>
    </p:spTree>
    <p:extLst>
      <p:ext uri="{BB962C8B-B14F-4D97-AF65-F5344CB8AC3E}">
        <p14:creationId xmlns:p14="http://schemas.microsoft.com/office/powerpoint/2010/main" val="24274192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8813" y="584200"/>
            <a:ext cx="10976460" cy="649287"/>
          </a:xfrm>
          <a:prstGeom prst="rect">
            <a:avLst/>
          </a:prstGeom>
        </p:spPr>
        <p:txBody>
          <a:bodyPr vert="horz" lIns="0" tIns="0" rIns="0" bIns="0" rtlCol="0" anchor="ctr">
            <a:normAutofit/>
          </a:bodyPr>
          <a:lstStyle/>
          <a:p>
            <a:r>
              <a:rPr dirty="0"/>
              <a:t>Pre-fill and chunking: first chunk</a:t>
            </a:r>
          </a:p>
        </p:txBody>
      </p:sp>
      <p:sp>
        <p:nvSpPr>
          <p:cNvPr id="3" name="object 3"/>
          <p:cNvSpPr txBox="1"/>
          <p:nvPr/>
        </p:nvSpPr>
        <p:spPr>
          <a:xfrm>
            <a:off x="668144" y="1674619"/>
            <a:ext cx="4104004" cy="197490"/>
          </a:xfrm>
          <a:prstGeom prst="rect">
            <a:avLst/>
          </a:prstGeom>
        </p:spPr>
        <p:txBody>
          <a:bodyPr vert="horz" wrap="square" lIns="0" tIns="12700" rIns="0" bIns="0" rtlCol="0">
            <a:spAutoFit/>
          </a:bodyPr>
          <a:lstStyle/>
          <a:p>
            <a:pPr marL="12700">
              <a:lnSpc>
                <a:spcPct val="100000"/>
              </a:lnSpc>
              <a:spcBef>
                <a:spcPts val="100"/>
              </a:spcBef>
            </a:pPr>
            <a:r>
              <a:rPr sz="1200" b="1" spc="-40" dirty="0">
                <a:cs typeface="Tahoma"/>
              </a:rPr>
              <a:t>Prompt</a:t>
            </a:r>
            <a:r>
              <a:rPr sz="1200" spc="-40" dirty="0">
                <a:cs typeface="Tahoma"/>
              </a:rPr>
              <a:t>:</a:t>
            </a:r>
            <a:r>
              <a:rPr sz="1200" spc="-65" dirty="0">
                <a:cs typeface="Tahoma"/>
              </a:rPr>
              <a:t> </a:t>
            </a:r>
            <a:r>
              <a:rPr sz="1200" spc="30" dirty="0">
                <a:cs typeface="Tahoma"/>
              </a:rPr>
              <a:t>“</a:t>
            </a:r>
            <a:r>
              <a:rPr sz="1200" spc="30" dirty="0">
                <a:solidFill>
                  <a:srgbClr val="FF0000"/>
                </a:solidFill>
                <a:cs typeface="Tahoma"/>
              </a:rPr>
              <a:t>Can</a:t>
            </a:r>
            <a:r>
              <a:rPr sz="1200" spc="-75" dirty="0">
                <a:solidFill>
                  <a:srgbClr val="FF0000"/>
                </a:solidFill>
                <a:cs typeface="Tahoma"/>
              </a:rPr>
              <a:t> </a:t>
            </a:r>
            <a:r>
              <a:rPr sz="1200" spc="30" dirty="0">
                <a:solidFill>
                  <a:srgbClr val="FF0000"/>
                </a:solidFill>
                <a:cs typeface="Tahoma"/>
              </a:rPr>
              <a:t>you</a:t>
            </a:r>
            <a:r>
              <a:rPr sz="1200" spc="-70" dirty="0">
                <a:solidFill>
                  <a:srgbClr val="FF0000"/>
                </a:solidFill>
                <a:cs typeface="Tahoma"/>
              </a:rPr>
              <a:t> </a:t>
            </a:r>
            <a:r>
              <a:rPr sz="1200" spc="20" dirty="0">
                <a:solidFill>
                  <a:srgbClr val="FF0000"/>
                </a:solidFill>
                <a:cs typeface="Tahoma"/>
              </a:rPr>
              <a:t>tell</a:t>
            </a:r>
            <a:r>
              <a:rPr sz="1200" spc="-80" dirty="0">
                <a:solidFill>
                  <a:srgbClr val="FF0000"/>
                </a:solidFill>
                <a:cs typeface="Tahoma"/>
              </a:rPr>
              <a:t> </a:t>
            </a:r>
            <a:r>
              <a:rPr sz="1200" spc="50" dirty="0">
                <a:solidFill>
                  <a:srgbClr val="FF0000"/>
                </a:solidFill>
                <a:cs typeface="Tahoma"/>
              </a:rPr>
              <a:t>me</a:t>
            </a:r>
            <a:r>
              <a:rPr sz="1200" spc="-65" dirty="0">
                <a:solidFill>
                  <a:srgbClr val="FF0000"/>
                </a:solidFill>
                <a:cs typeface="Tahoma"/>
              </a:rPr>
              <a:t> </a:t>
            </a:r>
            <a:r>
              <a:rPr sz="1200" spc="35" dirty="0">
                <a:cs typeface="Tahoma"/>
              </a:rPr>
              <a:t>who</a:t>
            </a:r>
            <a:r>
              <a:rPr sz="1200" spc="-60" dirty="0">
                <a:cs typeface="Tahoma"/>
              </a:rPr>
              <a:t> </a:t>
            </a:r>
            <a:r>
              <a:rPr sz="1200" spc="10" dirty="0">
                <a:cs typeface="Tahoma"/>
              </a:rPr>
              <a:t>is</a:t>
            </a:r>
            <a:r>
              <a:rPr sz="1200" spc="-80" dirty="0">
                <a:cs typeface="Tahoma"/>
              </a:rPr>
              <a:t> </a:t>
            </a:r>
            <a:r>
              <a:rPr sz="1200" spc="15" dirty="0">
                <a:cs typeface="Tahoma"/>
              </a:rPr>
              <a:t>the</a:t>
            </a:r>
            <a:r>
              <a:rPr sz="1200" spc="-70" dirty="0">
                <a:cs typeface="Tahoma"/>
              </a:rPr>
              <a:t> </a:t>
            </a:r>
            <a:r>
              <a:rPr sz="1200" spc="15" dirty="0">
                <a:cs typeface="Tahoma"/>
              </a:rPr>
              <a:t>richest</a:t>
            </a:r>
            <a:r>
              <a:rPr sz="1200" spc="-60" dirty="0">
                <a:cs typeface="Tahoma"/>
              </a:rPr>
              <a:t> </a:t>
            </a:r>
            <a:r>
              <a:rPr sz="1200" spc="25" dirty="0">
                <a:cs typeface="Tahoma"/>
              </a:rPr>
              <a:t>man</a:t>
            </a:r>
            <a:r>
              <a:rPr sz="1200" spc="-65" dirty="0">
                <a:cs typeface="Tahoma"/>
              </a:rPr>
              <a:t> </a:t>
            </a:r>
            <a:r>
              <a:rPr sz="1200" spc="25" dirty="0">
                <a:cs typeface="Tahoma"/>
              </a:rPr>
              <a:t>in</a:t>
            </a:r>
            <a:r>
              <a:rPr sz="1200" spc="-70" dirty="0">
                <a:cs typeface="Tahoma"/>
              </a:rPr>
              <a:t> </a:t>
            </a:r>
            <a:r>
              <a:rPr sz="1200" spc="5" dirty="0">
                <a:cs typeface="Tahoma"/>
              </a:rPr>
              <a:t>history”</a:t>
            </a:r>
            <a:endParaRPr sz="1200">
              <a:cs typeface="Tahoma"/>
            </a:endParaRPr>
          </a:p>
        </p:txBody>
      </p:sp>
      <p:graphicFrame>
        <p:nvGraphicFramePr>
          <p:cNvPr id="4" name="object 4"/>
          <p:cNvGraphicFramePr>
            <a:graphicFrameLocks noGrp="1"/>
          </p:cNvGraphicFramePr>
          <p:nvPr>
            <p:extLst>
              <p:ext uri="{D42A27DB-BD31-4B8C-83A1-F6EECF244321}">
                <p14:modId xmlns:p14="http://schemas.microsoft.com/office/powerpoint/2010/main" val="4164003739"/>
              </p:ext>
            </p:extLst>
          </p:nvPr>
        </p:nvGraphicFramePr>
        <p:xfrm>
          <a:off x="2075558" y="2345559"/>
          <a:ext cx="8128000" cy="370839"/>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39">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extLst>
                  <a:ext uri="{0D108BD9-81ED-4DB2-BD59-A6C34878D82A}">
                    <a16:rowId xmlns:a16="http://schemas.microsoft.com/office/drawing/2014/main" val="10000"/>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1628914138"/>
              </p:ext>
            </p:extLst>
          </p:nvPr>
        </p:nvGraphicFramePr>
        <p:xfrm>
          <a:off x="2075558" y="3309616"/>
          <a:ext cx="2585720" cy="2612593"/>
        </p:xfrm>
        <a:graphic>
          <a:graphicData uri="http://schemas.openxmlformats.org/drawingml/2006/table">
            <a:tbl>
              <a:tblPr firstRow="1" bandRow="1">
                <a:tableStyleId>{2D5ABB26-0587-4C30-8999-92F81FD0307C}</a:tableStyleId>
              </a:tblPr>
              <a:tblGrid>
                <a:gridCol w="495300">
                  <a:extLst>
                    <a:ext uri="{9D8B030D-6E8A-4147-A177-3AD203B41FA5}">
                      <a16:colId xmlns:a16="http://schemas.microsoft.com/office/drawing/2014/main" val="20000"/>
                    </a:ext>
                  </a:extLst>
                </a:gridCol>
                <a:gridCol w="522605">
                  <a:extLst>
                    <a:ext uri="{9D8B030D-6E8A-4147-A177-3AD203B41FA5}">
                      <a16:colId xmlns:a16="http://schemas.microsoft.com/office/drawing/2014/main" val="20001"/>
                    </a:ext>
                  </a:extLst>
                </a:gridCol>
                <a:gridCol w="522605">
                  <a:extLst>
                    <a:ext uri="{9D8B030D-6E8A-4147-A177-3AD203B41FA5}">
                      <a16:colId xmlns:a16="http://schemas.microsoft.com/office/drawing/2014/main" val="20002"/>
                    </a:ext>
                  </a:extLst>
                </a:gridCol>
                <a:gridCol w="522605">
                  <a:extLst>
                    <a:ext uri="{9D8B030D-6E8A-4147-A177-3AD203B41FA5}">
                      <a16:colId xmlns:a16="http://schemas.microsoft.com/office/drawing/2014/main" val="20003"/>
                    </a:ext>
                  </a:extLst>
                </a:gridCol>
                <a:gridCol w="522605">
                  <a:extLst>
                    <a:ext uri="{9D8B030D-6E8A-4147-A177-3AD203B41FA5}">
                      <a16:colId xmlns:a16="http://schemas.microsoft.com/office/drawing/2014/main" val="20004"/>
                    </a:ext>
                  </a:extLst>
                </a:gridCol>
              </a:tblGrid>
              <a:tr h="522478">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spc="15" dirty="0">
                          <a:latin typeface="Tahoma"/>
                          <a:cs typeface="Tahoma"/>
                        </a:rPr>
                        <a:t>CAN</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spc="10" dirty="0">
                          <a:latin typeface="Tahoma"/>
                          <a:cs typeface="Tahoma"/>
                        </a:rPr>
                        <a:t>YOU</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spc="-25" dirty="0">
                          <a:latin typeface="Tahoma"/>
                          <a:cs typeface="Tahoma"/>
                        </a:rPr>
                        <a:t>TELL</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1905" algn="ctr">
                        <a:lnSpc>
                          <a:spcPct val="100000"/>
                        </a:lnSpc>
                      </a:pPr>
                      <a:r>
                        <a:rPr sz="600" b="1" spc="15" dirty="0">
                          <a:latin typeface="Tahoma"/>
                          <a:cs typeface="Tahoma"/>
                        </a:rPr>
                        <a:t>ME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extLst>
                  <a:ext uri="{0D108BD9-81ED-4DB2-BD59-A6C34878D82A}">
                    <a16:rowId xmlns:a16="http://schemas.microsoft.com/office/drawing/2014/main" val="10000"/>
                  </a:ext>
                </a:extLst>
              </a:tr>
              <a:tr h="522605">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162560">
                        <a:lnSpc>
                          <a:spcPct val="100000"/>
                        </a:lnSpc>
                        <a:spcBef>
                          <a:spcPts val="5"/>
                        </a:spcBef>
                      </a:pPr>
                      <a:r>
                        <a:rPr sz="600" b="1" spc="15" dirty="0">
                          <a:latin typeface="Tahoma"/>
                          <a:cs typeface="Tahoma"/>
                        </a:rPr>
                        <a:t>CAN</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0.268</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2225" algn="ctr">
                        <a:lnSpc>
                          <a:spcPct val="100000"/>
                        </a:lnSpc>
                        <a:spcBef>
                          <a:spcPts val="5"/>
                        </a:spcBef>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2225" algn="ctr">
                        <a:lnSpc>
                          <a:spcPct val="100000"/>
                        </a:lnSpc>
                        <a:spcBef>
                          <a:spcPts val="5"/>
                        </a:spcBef>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2225" algn="ctr">
                        <a:lnSpc>
                          <a:spcPct val="100000"/>
                        </a:lnSpc>
                        <a:spcBef>
                          <a:spcPts val="5"/>
                        </a:spcBef>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1"/>
                  </a:ext>
                </a:extLst>
              </a:tr>
              <a:tr h="522478">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160655">
                        <a:lnSpc>
                          <a:spcPct val="100000"/>
                        </a:lnSpc>
                      </a:pPr>
                      <a:r>
                        <a:rPr sz="600" b="1" spc="10" dirty="0">
                          <a:latin typeface="Tahoma"/>
                          <a:cs typeface="Tahoma"/>
                        </a:rPr>
                        <a:t>YOU</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0.124</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0.278</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2225"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2225" algn="ctr">
                        <a:lnSpc>
                          <a:spcPct val="100000"/>
                        </a:lnSpc>
                      </a:pPr>
                      <a:r>
                        <a:rPr sz="1000" spc="-10" dirty="0">
                          <a:solidFill>
                            <a:srgbClr val="E23717"/>
                          </a:solidFill>
                          <a:latin typeface="Cambria Math"/>
                          <a:cs typeface="Cambria Math"/>
                        </a:rPr>
                        <a:t>−∞</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2"/>
                  </a:ext>
                </a:extLst>
              </a:tr>
              <a:tr h="522516">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162560">
                        <a:lnSpc>
                          <a:spcPct val="100000"/>
                        </a:lnSpc>
                        <a:spcBef>
                          <a:spcPts val="5"/>
                        </a:spcBef>
                      </a:pPr>
                      <a:r>
                        <a:rPr sz="600" b="1" spc="-25" dirty="0">
                          <a:latin typeface="Tahoma"/>
                          <a:cs typeface="Tahoma"/>
                        </a:rPr>
                        <a:t>TELL</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0.147</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0.132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0.262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2225" algn="ctr">
                        <a:lnSpc>
                          <a:spcPct val="100000"/>
                        </a:lnSpc>
                        <a:spcBef>
                          <a:spcPts val="5"/>
                        </a:spcBef>
                      </a:pPr>
                      <a:r>
                        <a:rPr sz="1000" spc="-1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3"/>
                  </a:ext>
                </a:extLst>
              </a:tr>
              <a:tr h="522516">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187960">
                        <a:lnSpc>
                          <a:spcPct val="100000"/>
                        </a:lnSpc>
                        <a:spcBef>
                          <a:spcPts val="5"/>
                        </a:spcBef>
                      </a:pPr>
                      <a:r>
                        <a:rPr sz="600" b="1" spc="15" dirty="0">
                          <a:latin typeface="Tahoma"/>
                          <a:cs typeface="Tahoma"/>
                        </a:rPr>
                        <a:t>ME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20"/>
                        </a:spcBef>
                      </a:pPr>
                      <a:endParaRPr sz="1150">
                        <a:latin typeface="Times New Roman"/>
                        <a:cs typeface="Times New Roman"/>
                      </a:endParaRPr>
                    </a:p>
                    <a:p>
                      <a:pPr marR="23495" algn="ctr">
                        <a:lnSpc>
                          <a:spcPct val="100000"/>
                        </a:lnSpc>
                      </a:pPr>
                      <a:r>
                        <a:rPr sz="1000" spc="10" dirty="0">
                          <a:latin typeface="Tahoma"/>
                          <a:cs typeface="Tahoma"/>
                        </a:rPr>
                        <a:t>0.132</a:t>
                      </a:r>
                      <a:endParaRPr sz="1000">
                        <a:latin typeface="Tahoma"/>
                        <a:cs typeface="Tahoma"/>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spcBef>
                          <a:spcPts val="5"/>
                        </a:spcBef>
                      </a:pPr>
                      <a:r>
                        <a:rPr sz="1000" spc="10" dirty="0">
                          <a:latin typeface="Tahoma"/>
                          <a:cs typeface="Tahoma"/>
                        </a:rPr>
                        <a:t>0.128</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spcBef>
                          <a:spcPts val="5"/>
                        </a:spcBef>
                      </a:pPr>
                      <a:r>
                        <a:rPr sz="1000" spc="10" dirty="0">
                          <a:latin typeface="Tahoma"/>
                          <a:cs typeface="Tahoma"/>
                        </a:rPr>
                        <a:t>0.206</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635" algn="ctr">
                        <a:lnSpc>
                          <a:spcPct val="100000"/>
                        </a:lnSpc>
                        <a:spcBef>
                          <a:spcPts val="5"/>
                        </a:spcBef>
                      </a:pPr>
                      <a:r>
                        <a:rPr sz="1000" spc="10" dirty="0">
                          <a:latin typeface="Tahoma"/>
                          <a:cs typeface="Tahoma"/>
                        </a:rPr>
                        <a:t>0.212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4"/>
                  </a:ext>
                </a:extLst>
              </a:tr>
            </a:tbl>
          </a:graphicData>
        </a:graphic>
      </p:graphicFrame>
      <p:sp>
        <p:nvSpPr>
          <p:cNvPr id="6" name="object 6"/>
          <p:cNvSpPr txBox="1"/>
          <p:nvPr/>
        </p:nvSpPr>
        <p:spPr>
          <a:xfrm>
            <a:off x="668144" y="2376294"/>
            <a:ext cx="1214755" cy="228909"/>
          </a:xfrm>
          <a:prstGeom prst="rect">
            <a:avLst/>
          </a:prstGeom>
        </p:spPr>
        <p:txBody>
          <a:bodyPr vert="horz" wrap="square" lIns="0" tIns="13335" rIns="0" bIns="0" rtlCol="0">
            <a:spAutoFit/>
          </a:bodyPr>
          <a:lstStyle/>
          <a:p>
            <a:pPr marL="12700">
              <a:lnSpc>
                <a:spcPct val="100000"/>
              </a:lnSpc>
              <a:spcBef>
                <a:spcPts val="105"/>
              </a:spcBef>
            </a:pPr>
            <a:r>
              <a:rPr sz="1400" b="1" spc="-70" dirty="0">
                <a:cs typeface="Tahoma"/>
              </a:rPr>
              <a:t>T</a:t>
            </a:r>
            <a:r>
              <a:rPr sz="1400" b="1" spc="-20" dirty="0">
                <a:cs typeface="Tahoma"/>
              </a:rPr>
              <a:t>h</a:t>
            </a:r>
            <a:r>
              <a:rPr sz="1400" b="1" spc="-15" dirty="0">
                <a:cs typeface="Tahoma"/>
              </a:rPr>
              <a:t>e</a:t>
            </a:r>
            <a:r>
              <a:rPr sz="1400" b="1" spc="-75" dirty="0">
                <a:cs typeface="Tahoma"/>
              </a:rPr>
              <a:t> </a:t>
            </a:r>
            <a:r>
              <a:rPr sz="1400" b="1" spc="15" dirty="0">
                <a:cs typeface="Tahoma"/>
              </a:rPr>
              <a:t>K</a:t>
            </a:r>
            <a:r>
              <a:rPr sz="1400" b="1" spc="-20" dirty="0">
                <a:cs typeface="Tahoma"/>
              </a:rPr>
              <a:t>V</a:t>
            </a:r>
            <a:r>
              <a:rPr sz="1400" b="1" spc="-155" dirty="0">
                <a:cs typeface="Tahoma"/>
              </a:rPr>
              <a:t>-</a:t>
            </a:r>
            <a:r>
              <a:rPr sz="1400" b="1" spc="10" dirty="0">
                <a:cs typeface="Tahoma"/>
              </a:rPr>
              <a:t>C</a:t>
            </a:r>
            <a:r>
              <a:rPr sz="1400" b="1" spc="-25" dirty="0">
                <a:cs typeface="Tahoma"/>
              </a:rPr>
              <a:t>ache</a:t>
            </a:r>
            <a:endParaRPr sz="1400" dirty="0">
              <a:cs typeface="Tahoma"/>
            </a:endParaRPr>
          </a:p>
        </p:txBody>
      </p:sp>
      <p:sp>
        <p:nvSpPr>
          <p:cNvPr id="7" name="object 7"/>
          <p:cNvSpPr txBox="1"/>
          <p:nvPr/>
        </p:nvSpPr>
        <p:spPr>
          <a:xfrm>
            <a:off x="668144" y="4493129"/>
            <a:ext cx="1170940" cy="453390"/>
          </a:xfrm>
          <a:prstGeom prst="rect">
            <a:avLst/>
          </a:prstGeom>
        </p:spPr>
        <p:txBody>
          <a:bodyPr vert="horz" wrap="square" lIns="0" tIns="12700" rIns="0" bIns="0" rtlCol="0">
            <a:spAutoFit/>
          </a:bodyPr>
          <a:lstStyle/>
          <a:p>
            <a:pPr marL="12700">
              <a:lnSpc>
                <a:spcPct val="100000"/>
              </a:lnSpc>
              <a:spcBef>
                <a:spcPts val="100"/>
              </a:spcBef>
            </a:pPr>
            <a:r>
              <a:rPr sz="1400" b="1" spc="-70" dirty="0">
                <a:cs typeface="Tahoma"/>
              </a:rPr>
              <a:t>T</a:t>
            </a:r>
            <a:r>
              <a:rPr sz="1400" b="1" spc="-20" dirty="0">
                <a:cs typeface="Tahoma"/>
              </a:rPr>
              <a:t>h</a:t>
            </a:r>
            <a:r>
              <a:rPr sz="1400" b="1" spc="-15" dirty="0">
                <a:cs typeface="Tahoma"/>
              </a:rPr>
              <a:t>e</a:t>
            </a:r>
            <a:r>
              <a:rPr sz="1400" b="1" spc="-75" dirty="0">
                <a:cs typeface="Tahoma"/>
              </a:rPr>
              <a:t> </a:t>
            </a:r>
            <a:r>
              <a:rPr sz="1400" b="1" spc="-60" dirty="0">
                <a:cs typeface="Tahoma"/>
              </a:rPr>
              <a:t>a</a:t>
            </a:r>
            <a:r>
              <a:rPr sz="1400" b="1" spc="-95" dirty="0">
                <a:cs typeface="Tahoma"/>
              </a:rPr>
              <a:t>t</a:t>
            </a:r>
            <a:r>
              <a:rPr sz="1400" b="1" spc="-60" dirty="0">
                <a:cs typeface="Tahoma"/>
              </a:rPr>
              <a:t>t</a:t>
            </a:r>
            <a:r>
              <a:rPr sz="1400" b="1" spc="-20" dirty="0">
                <a:cs typeface="Tahoma"/>
              </a:rPr>
              <a:t>e</a:t>
            </a:r>
            <a:r>
              <a:rPr sz="1400" b="1" spc="-30" dirty="0">
                <a:cs typeface="Tahoma"/>
              </a:rPr>
              <a:t>n</a:t>
            </a:r>
            <a:r>
              <a:rPr sz="1400" b="1" spc="-60" dirty="0">
                <a:cs typeface="Tahoma"/>
              </a:rPr>
              <a:t>t</a:t>
            </a:r>
            <a:r>
              <a:rPr sz="1400" b="1" spc="-10" dirty="0">
                <a:cs typeface="Tahoma"/>
              </a:rPr>
              <a:t>i</a:t>
            </a:r>
            <a:r>
              <a:rPr sz="1400" b="1" spc="-5" dirty="0">
                <a:cs typeface="Tahoma"/>
              </a:rPr>
              <a:t>on</a:t>
            </a:r>
            <a:endParaRPr sz="1400" dirty="0">
              <a:cs typeface="Tahoma"/>
            </a:endParaRPr>
          </a:p>
          <a:p>
            <a:pPr marL="12700">
              <a:lnSpc>
                <a:spcPct val="100000"/>
              </a:lnSpc>
            </a:pPr>
            <a:r>
              <a:rPr sz="1400" b="1" spc="-45" dirty="0">
                <a:cs typeface="Tahoma"/>
              </a:rPr>
              <a:t>mask</a:t>
            </a:r>
            <a:endParaRPr sz="1400" dirty="0">
              <a:cs typeface="Tahoma"/>
            </a:endParaRPr>
          </a:p>
        </p:txBody>
      </p:sp>
      <p:sp>
        <p:nvSpPr>
          <p:cNvPr id="8" name="object 8"/>
          <p:cNvSpPr txBox="1"/>
          <p:nvPr/>
        </p:nvSpPr>
        <p:spPr>
          <a:xfrm>
            <a:off x="5477634" y="3342256"/>
            <a:ext cx="4483735" cy="756920"/>
          </a:xfrm>
          <a:prstGeom prst="rect">
            <a:avLst/>
          </a:prstGeom>
        </p:spPr>
        <p:txBody>
          <a:bodyPr vert="horz" wrap="square" lIns="0" tIns="12700" rIns="0" bIns="0" rtlCol="0">
            <a:spAutoFit/>
          </a:bodyPr>
          <a:lstStyle/>
          <a:p>
            <a:pPr marL="12700" marR="5080">
              <a:lnSpc>
                <a:spcPct val="100000"/>
              </a:lnSpc>
              <a:spcBef>
                <a:spcPts val="100"/>
              </a:spcBef>
            </a:pPr>
            <a:r>
              <a:rPr sz="1200" spc="45" dirty="0">
                <a:cs typeface="Tahoma"/>
              </a:rPr>
              <a:t>At</a:t>
            </a:r>
            <a:r>
              <a:rPr sz="1200" spc="-85" dirty="0">
                <a:cs typeface="Tahoma"/>
              </a:rPr>
              <a:t> </a:t>
            </a:r>
            <a:r>
              <a:rPr sz="1200" spc="15" dirty="0">
                <a:cs typeface="Tahoma"/>
              </a:rPr>
              <a:t>every</a:t>
            </a:r>
            <a:r>
              <a:rPr sz="1200" spc="-60" dirty="0">
                <a:cs typeface="Tahoma"/>
              </a:rPr>
              <a:t> </a:t>
            </a:r>
            <a:r>
              <a:rPr sz="1200" spc="5" dirty="0">
                <a:cs typeface="Tahoma"/>
              </a:rPr>
              <a:t>step,</a:t>
            </a:r>
            <a:r>
              <a:rPr sz="1200" spc="-95" dirty="0">
                <a:cs typeface="Tahoma"/>
              </a:rPr>
              <a:t> </a:t>
            </a:r>
            <a:r>
              <a:rPr sz="1200" spc="25" dirty="0">
                <a:cs typeface="Tahoma"/>
              </a:rPr>
              <a:t>we</a:t>
            </a:r>
            <a:r>
              <a:rPr sz="1200" spc="-75" dirty="0">
                <a:cs typeface="Tahoma"/>
              </a:rPr>
              <a:t> </a:t>
            </a:r>
            <a:r>
              <a:rPr sz="1200" spc="20" dirty="0">
                <a:cs typeface="Tahoma"/>
              </a:rPr>
              <a:t>calculate</a:t>
            </a:r>
            <a:r>
              <a:rPr sz="1200" spc="-70" dirty="0">
                <a:cs typeface="Tahoma"/>
              </a:rPr>
              <a:t> </a:t>
            </a:r>
            <a:r>
              <a:rPr sz="1200" spc="20" dirty="0">
                <a:cs typeface="Tahoma"/>
              </a:rPr>
              <a:t>the</a:t>
            </a:r>
            <a:r>
              <a:rPr sz="1200" spc="-75" dirty="0">
                <a:cs typeface="Tahoma"/>
              </a:rPr>
              <a:t> </a:t>
            </a:r>
            <a:r>
              <a:rPr sz="1200" spc="10" dirty="0">
                <a:cs typeface="Tahoma"/>
              </a:rPr>
              <a:t>attention</a:t>
            </a:r>
            <a:r>
              <a:rPr sz="1200" spc="-85" dirty="0">
                <a:cs typeface="Tahoma"/>
              </a:rPr>
              <a:t> </a:t>
            </a:r>
            <a:r>
              <a:rPr sz="1200" spc="30" dirty="0">
                <a:cs typeface="Tahoma"/>
              </a:rPr>
              <a:t>using</a:t>
            </a:r>
            <a:r>
              <a:rPr sz="1200" spc="-60" dirty="0">
                <a:cs typeface="Tahoma"/>
              </a:rPr>
              <a:t> </a:t>
            </a:r>
            <a:r>
              <a:rPr sz="1200" spc="15" dirty="0">
                <a:cs typeface="Tahoma"/>
              </a:rPr>
              <a:t>the</a:t>
            </a:r>
            <a:r>
              <a:rPr sz="1200" spc="-70" dirty="0">
                <a:cs typeface="Tahoma"/>
              </a:rPr>
              <a:t> </a:t>
            </a:r>
            <a:r>
              <a:rPr sz="1200" spc="20" dirty="0">
                <a:cs typeface="Tahoma"/>
              </a:rPr>
              <a:t>tokens</a:t>
            </a:r>
            <a:r>
              <a:rPr sz="1200" spc="-65" dirty="0">
                <a:cs typeface="Tahoma"/>
              </a:rPr>
              <a:t> </a:t>
            </a:r>
            <a:r>
              <a:rPr sz="1200" spc="25" dirty="0">
                <a:cs typeface="Tahoma"/>
              </a:rPr>
              <a:t>of</a:t>
            </a:r>
            <a:r>
              <a:rPr sz="1200" spc="-45" dirty="0">
                <a:cs typeface="Tahoma"/>
              </a:rPr>
              <a:t> </a:t>
            </a:r>
            <a:r>
              <a:rPr sz="1200" spc="15" dirty="0">
                <a:cs typeface="Tahoma"/>
              </a:rPr>
              <a:t>the </a:t>
            </a:r>
            <a:r>
              <a:rPr sz="1200" spc="20" dirty="0">
                <a:cs typeface="Tahoma"/>
              </a:rPr>
              <a:t> </a:t>
            </a:r>
            <a:r>
              <a:rPr sz="1200" spc="30" dirty="0">
                <a:cs typeface="Tahoma"/>
              </a:rPr>
              <a:t>KV-Cache</a:t>
            </a:r>
            <a:r>
              <a:rPr sz="1200" spc="-70" dirty="0">
                <a:cs typeface="Tahoma"/>
              </a:rPr>
              <a:t> </a:t>
            </a:r>
            <a:r>
              <a:rPr sz="1200" spc="-75" dirty="0">
                <a:cs typeface="Tahoma"/>
              </a:rPr>
              <a:t>+</a:t>
            </a:r>
            <a:r>
              <a:rPr sz="1200" spc="-80" dirty="0">
                <a:cs typeface="Tahoma"/>
              </a:rPr>
              <a:t> </a:t>
            </a:r>
            <a:r>
              <a:rPr sz="1200" spc="15" dirty="0">
                <a:cs typeface="Tahoma"/>
              </a:rPr>
              <a:t>the</a:t>
            </a:r>
            <a:r>
              <a:rPr sz="1200" spc="-75" dirty="0">
                <a:cs typeface="Tahoma"/>
              </a:rPr>
              <a:t> </a:t>
            </a:r>
            <a:r>
              <a:rPr sz="1200" spc="20" dirty="0">
                <a:cs typeface="Tahoma"/>
              </a:rPr>
              <a:t>tokens</a:t>
            </a:r>
            <a:r>
              <a:rPr sz="1200" spc="-55" dirty="0">
                <a:cs typeface="Tahoma"/>
              </a:rPr>
              <a:t> </a:t>
            </a:r>
            <a:r>
              <a:rPr sz="1200" spc="25" dirty="0">
                <a:cs typeface="Tahoma"/>
              </a:rPr>
              <a:t>of</a:t>
            </a:r>
            <a:r>
              <a:rPr sz="1200" spc="-45" dirty="0">
                <a:cs typeface="Tahoma"/>
              </a:rPr>
              <a:t> </a:t>
            </a:r>
            <a:r>
              <a:rPr sz="1200" spc="15" dirty="0">
                <a:cs typeface="Tahoma"/>
              </a:rPr>
              <a:t>the</a:t>
            </a:r>
            <a:r>
              <a:rPr sz="1200" spc="-70" dirty="0">
                <a:cs typeface="Tahoma"/>
              </a:rPr>
              <a:t> </a:t>
            </a:r>
            <a:r>
              <a:rPr sz="1200" spc="10" dirty="0">
                <a:cs typeface="Tahoma"/>
              </a:rPr>
              <a:t>current</a:t>
            </a:r>
            <a:r>
              <a:rPr sz="1200" spc="-65" dirty="0">
                <a:cs typeface="Tahoma"/>
              </a:rPr>
              <a:t> </a:t>
            </a:r>
            <a:r>
              <a:rPr sz="1200" spc="25" dirty="0">
                <a:cs typeface="Tahoma"/>
              </a:rPr>
              <a:t>chunk</a:t>
            </a:r>
            <a:r>
              <a:rPr sz="1200" spc="-65" dirty="0">
                <a:cs typeface="Tahoma"/>
              </a:rPr>
              <a:t> </a:t>
            </a:r>
            <a:r>
              <a:rPr sz="1200" dirty="0">
                <a:cs typeface="Tahoma"/>
              </a:rPr>
              <a:t>as</a:t>
            </a:r>
            <a:r>
              <a:rPr sz="1200" spc="-50" dirty="0">
                <a:cs typeface="Tahoma"/>
              </a:rPr>
              <a:t> </a:t>
            </a:r>
            <a:r>
              <a:rPr sz="1200" b="1" spc="-25" dirty="0">
                <a:cs typeface="Tahoma"/>
              </a:rPr>
              <a:t>Keys</a:t>
            </a:r>
            <a:r>
              <a:rPr sz="1200" b="1" spc="-80" dirty="0">
                <a:cs typeface="Tahoma"/>
              </a:rPr>
              <a:t> </a:t>
            </a:r>
            <a:r>
              <a:rPr sz="1200" spc="40" dirty="0">
                <a:cs typeface="Tahoma"/>
              </a:rPr>
              <a:t>and</a:t>
            </a:r>
            <a:r>
              <a:rPr sz="1200" spc="-70" dirty="0">
                <a:cs typeface="Tahoma"/>
              </a:rPr>
              <a:t> </a:t>
            </a:r>
            <a:r>
              <a:rPr sz="1200" b="1" spc="-35" dirty="0">
                <a:cs typeface="Tahoma"/>
              </a:rPr>
              <a:t>Values</a:t>
            </a:r>
            <a:r>
              <a:rPr sz="1200" spc="-35" dirty="0">
                <a:cs typeface="Tahoma"/>
              </a:rPr>
              <a:t>, </a:t>
            </a:r>
            <a:r>
              <a:rPr sz="1200" spc="-360" dirty="0">
                <a:cs typeface="Tahoma"/>
              </a:rPr>
              <a:t> </a:t>
            </a:r>
            <a:r>
              <a:rPr sz="1200" spc="25" dirty="0">
                <a:cs typeface="Tahoma"/>
              </a:rPr>
              <a:t>while</a:t>
            </a:r>
            <a:r>
              <a:rPr sz="1200" spc="-75" dirty="0">
                <a:cs typeface="Tahoma"/>
              </a:rPr>
              <a:t> </a:t>
            </a:r>
            <a:r>
              <a:rPr sz="1200" spc="30" dirty="0">
                <a:cs typeface="Tahoma"/>
              </a:rPr>
              <a:t>only</a:t>
            </a:r>
            <a:r>
              <a:rPr sz="1200" spc="-75" dirty="0">
                <a:cs typeface="Tahoma"/>
              </a:rPr>
              <a:t> </a:t>
            </a:r>
            <a:r>
              <a:rPr sz="1200" spc="15" dirty="0">
                <a:cs typeface="Tahoma"/>
              </a:rPr>
              <a:t>the</a:t>
            </a:r>
            <a:r>
              <a:rPr sz="1200" spc="-75" dirty="0">
                <a:cs typeface="Tahoma"/>
              </a:rPr>
              <a:t> </a:t>
            </a:r>
            <a:r>
              <a:rPr sz="1200" spc="20" dirty="0">
                <a:cs typeface="Tahoma"/>
              </a:rPr>
              <a:t>tokens</a:t>
            </a:r>
            <a:r>
              <a:rPr sz="1200" spc="-60" dirty="0">
                <a:cs typeface="Tahoma"/>
              </a:rPr>
              <a:t> </a:t>
            </a:r>
            <a:r>
              <a:rPr sz="1200" spc="25" dirty="0">
                <a:cs typeface="Tahoma"/>
              </a:rPr>
              <a:t>of</a:t>
            </a:r>
            <a:r>
              <a:rPr sz="1200" spc="-50" dirty="0">
                <a:cs typeface="Tahoma"/>
              </a:rPr>
              <a:t> </a:t>
            </a:r>
            <a:r>
              <a:rPr sz="1200" spc="15" dirty="0">
                <a:cs typeface="Tahoma"/>
              </a:rPr>
              <a:t>the</a:t>
            </a:r>
            <a:r>
              <a:rPr sz="1200" spc="-80" dirty="0">
                <a:cs typeface="Tahoma"/>
              </a:rPr>
              <a:t> </a:t>
            </a:r>
            <a:r>
              <a:rPr sz="1200" spc="45" dirty="0">
                <a:cs typeface="Tahoma"/>
              </a:rPr>
              <a:t>incoming</a:t>
            </a:r>
            <a:r>
              <a:rPr sz="1200" spc="-60" dirty="0">
                <a:cs typeface="Tahoma"/>
              </a:rPr>
              <a:t> </a:t>
            </a:r>
            <a:r>
              <a:rPr sz="1200" spc="25" dirty="0">
                <a:cs typeface="Tahoma"/>
              </a:rPr>
              <a:t>chunk</a:t>
            </a:r>
            <a:r>
              <a:rPr sz="1200" spc="-70" dirty="0">
                <a:cs typeface="Tahoma"/>
              </a:rPr>
              <a:t> </a:t>
            </a:r>
            <a:r>
              <a:rPr sz="1200" dirty="0">
                <a:cs typeface="Tahoma"/>
              </a:rPr>
              <a:t>as</a:t>
            </a:r>
            <a:r>
              <a:rPr sz="1200" spc="-55" dirty="0">
                <a:cs typeface="Tahoma"/>
              </a:rPr>
              <a:t> </a:t>
            </a:r>
            <a:r>
              <a:rPr sz="1200" b="1" spc="-5" dirty="0">
                <a:cs typeface="Tahoma"/>
              </a:rPr>
              <a:t>Query</a:t>
            </a:r>
            <a:r>
              <a:rPr sz="1200" spc="-5" dirty="0">
                <a:cs typeface="Tahoma"/>
              </a:rPr>
              <a:t>.</a:t>
            </a:r>
            <a:endParaRPr sz="1200">
              <a:cs typeface="Tahoma"/>
            </a:endParaRPr>
          </a:p>
          <a:p>
            <a:pPr marL="12700">
              <a:lnSpc>
                <a:spcPct val="100000"/>
              </a:lnSpc>
            </a:pPr>
            <a:r>
              <a:rPr sz="1200" spc="45" dirty="0">
                <a:cs typeface="Tahoma"/>
              </a:rPr>
              <a:t>During</a:t>
            </a:r>
            <a:r>
              <a:rPr sz="1200" spc="-55" dirty="0">
                <a:cs typeface="Tahoma"/>
              </a:rPr>
              <a:t> </a:t>
            </a:r>
            <a:r>
              <a:rPr sz="1200" spc="15" dirty="0">
                <a:cs typeface="Tahoma"/>
              </a:rPr>
              <a:t>the</a:t>
            </a:r>
            <a:r>
              <a:rPr sz="1200" spc="-75" dirty="0">
                <a:cs typeface="Tahoma"/>
              </a:rPr>
              <a:t> </a:t>
            </a:r>
            <a:r>
              <a:rPr sz="1200" spc="-10" dirty="0">
                <a:cs typeface="Tahoma"/>
              </a:rPr>
              <a:t>first</a:t>
            </a:r>
            <a:r>
              <a:rPr sz="1200" spc="-75" dirty="0">
                <a:cs typeface="Tahoma"/>
              </a:rPr>
              <a:t> </a:t>
            </a:r>
            <a:r>
              <a:rPr sz="1200" spc="30" dirty="0">
                <a:cs typeface="Tahoma"/>
              </a:rPr>
              <a:t>step</a:t>
            </a:r>
            <a:r>
              <a:rPr sz="1200" spc="-70" dirty="0">
                <a:cs typeface="Tahoma"/>
              </a:rPr>
              <a:t> </a:t>
            </a:r>
            <a:r>
              <a:rPr sz="1200" spc="25" dirty="0">
                <a:cs typeface="Tahoma"/>
              </a:rPr>
              <a:t>of</a:t>
            </a:r>
            <a:r>
              <a:rPr sz="1200" spc="-50" dirty="0">
                <a:cs typeface="Tahoma"/>
              </a:rPr>
              <a:t> </a:t>
            </a:r>
            <a:r>
              <a:rPr sz="1200" spc="5" dirty="0">
                <a:cs typeface="Tahoma"/>
              </a:rPr>
              <a:t>pre-fill,</a:t>
            </a:r>
            <a:r>
              <a:rPr sz="1200" spc="-90" dirty="0">
                <a:cs typeface="Tahoma"/>
              </a:rPr>
              <a:t> </a:t>
            </a:r>
            <a:r>
              <a:rPr sz="1200" spc="20" dirty="0">
                <a:cs typeface="Tahoma"/>
              </a:rPr>
              <a:t>the</a:t>
            </a:r>
            <a:r>
              <a:rPr sz="1200" spc="-70" dirty="0">
                <a:cs typeface="Tahoma"/>
              </a:rPr>
              <a:t> </a:t>
            </a:r>
            <a:r>
              <a:rPr sz="1200" spc="30" dirty="0">
                <a:cs typeface="Tahoma"/>
              </a:rPr>
              <a:t>KV-Cache</a:t>
            </a:r>
            <a:r>
              <a:rPr sz="1200" spc="-70" dirty="0">
                <a:cs typeface="Tahoma"/>
              </a:rPr>
              <a:t> </a:t>
            </a:r>
            <a:r>
              <a:rPr sz="1200" spc="10" dirty="0">
                <a:cs typeface="Tahoma"/>
              </a:rPr>
              <a:t>is</a:t>
            </a:r>
            <a:r>
              <a:rPr sz="1200" spc="-70" dirty="0">
                <a:cs typeface="Tahoma"/>
              </a:rPr>
              <a:t> </a:t>
            </a:r>
            <a:r>
              <a:rPr sz="1200" spc="10" dirty="0">
                <a:cs typeface="Tahoma"/>
              </a:rPr>
              <a:t>initially</a:t>
            </a:r>
            <a:r>
              <a:rPr sz="1200" spc="-90" dirty="0">
                <a:cs typeface="Tahoma"/>
              </a:rPr>
              <a:t> </a:t>
            </a:r>
            <a:r>
              <a:rPr sz="1200" spc="5" dirty="0">
                <a:cs typeface="Tahoma"/>
              </a:rPr>
              <a:t>empty.</a:t>
            </a:r>
            <a:endParaRPr sz="1200">
              <a:cs typeface="Tahoma"/>
            </a:endParaRPr>
          </a:p>
        </p:txBody>
      </p:sp>
      <p:sp>
        <p:nvSpPr>
          <p:cNvPr id="9" name="object 9"/>
          <p:cNvSpPr txBox="1"/>
          <p:nvPr/>
        </p:nvSpPr>
        <p:spPr>
          <a:xfrm>
            <a:off x="5477634" y="4256656"/>
            <a:ext cx="4651375" cy="757555"/>
          </a:xfrm>
          <a:prstGeom prst="rect">
            <a:avLst/>
          </a:prstGeom>
        </p:spPr>
        <p:txBody>
          <a:bodyPr vert="horz" wrap="square" lIns="0" tIns="12700" rIns="0" bIns="0" rtlCol="0">
            <a:spAutoFit/>
          </a:bodyPr>
          <a:lstStyle/>
          <a:p>
            <a:pPr marL="12700" marR="5080">
              <a:lnSpc>
                <a:spcPct val="100000"/>
              </a:lnSpc>
              <a:spcBef>
                <a:spcPts val="100"/>
              </a:spcBef>
            </a:pPr>
            <a:r>
              <a:rPr sz="1200" b="1" spc="-25" dirty="0">
                <a:cs typeface="Tahoma"/>
              </a:rPr>
              <a:t>After </a:t>
            </a:r>
            <a:r>
              <a:rPr sz="1200" spc="25" dirty="0">
                <a:cs typeface="Tahoma"/>
              </a:rPr>
              <a:t>calculating </a:t>
            </a:r>
            <a:r>
              <a:rPr sz="1200" spc="15" dirty="0">
                <a:cs typeface="Tahoma"/>
              </a:rPr>
              <a:t>the </a:t>
            </a:r>
            <a:r>
              <a:rPr sz="1200" spc="5" dirty="0">
                <a:cs typeface="Tahoma"/>
              </a:rPr>
              <a:t>attention, </a:t>
            </a:r>
            <a:r>
              <a:rPr sz="1200" spc="25" dirty="0">
                <a:cs typeface="Tahoma"/>
              </a:rPr>
              <a:t>we </a:t>
            </a:r>
            <a:r>
              <a:rPr sz="1200" spc="65" dirty="0">
                <a:cs typeface="Tahoma"/>
              </a:rPr>
              <a:t>add </a:t>
            </a:r>
            <a:r>
              <a:rPr sz="1200" spc="15" dirty="0">
                <a:cs typeface="Tahoma"/>
              </a:rPr>
              <a:t>the </a:t>
            </a:r>
            <a:r>
              <a:rPr sz="1200" spc="20" dirty="0">
                <a:cs typeface="Tahoma"/>
              </a:rPr>
              <a:t>tokens </a:t>
            </a:r>
            <a:r>
              <a:rPr sz="1200" spc="25" dirty="0">
                <a:cs typeface="Tahoma"/>
              </a:rPr>
              <a:t>of </a:t>
            </a:r>
            <a:r>
              <a:rPr sz="1200" spc="15" dirty="0">
                <a:cs typeface="Tahoma"/>
              </a:rPr>
              <a:t>the </a:t>
            </a:r>
            <a:r>
              <a:rPr sz="1200" spc="10" dirty="0">
                <a:cs typeface="Tahoma"/>
              </a:rPr>
              <a:t>current </a:t>
            </a:r>
            <a:r>
              <a:rPr sz="1200" spc="15" dirty="0">
                <a:cs typeface="Tahoma"/>
              </a:rPr>
              <a:t> </a:t>
            </a:r>
            <a:r>
              <a:rPr sz="1200" spc="35" dirty="0">
                <a:cs typeface="Tahoma"/>
              </a:rPr>
              <a:t>c</a:t>
            </a:r>
            <a:r>
              <a:rPr sz="1200" spc="30" dirty="0">
                <a:cs typeface="Tahoma"/>
              </a:rPr>
              <a:t>h</a:t>
            </a:r>
            <a:r>
              <a:rPr sz="1200" spc="20" dirty="0">
                <a:cs typeface="Tahoma"/>
              </a:rPr>
              <a:t>un</a:t>
            </a:r>
            <a:r>
              <a:rPr sz="1200" spc="15" dirty="0">
                <a:cs typeface="Tahoma"/>
              </a:rPr>
              <a:t>k</a:t>
            </a:r>
            <a:r>
              <a:rPr sz="1200" spc="-70" dirty="0">
                <a:cs typeface="Tahoma"/>
              </a:rPr>
              <a:t> </a:t>
            </a:r>
            <a:r>
              <a:rPr sz="1200" spc="30" dirty="0">
                <a:cs typeface="Tahoma"/>
              </a:rPr>
              <a:t>to</a:t>
            </a:r>
            <a:r>
              <a:rPr sz="1200" spc="-75" dirty="0">
                <a:cs typeface="Tahoma"/>
              </a:rPr>
              <a:t> </a:t>
            </a:r>
            <a:r>
              <a:rPr sz="1200" spc="20" dirty="0">
                <a:cs typeface="Tahoma"/>
              </a:rPr>
              <a:t>the</a:t>
            </a:r>
            <a:r>
              <a:rPr sz="1200" spc="-85" dirty="0">
                <a:cs typeface="Tahoma"/>
              </a:rPr>
              <a:t> </a:t>
            </a:r>
            <a:r>
              <a:rPr sz="1200" spc="40" dirty="0">
                <a:cs typeface="Tahoma"/>
              </a:rPr>
              <a:t>K</a:t>
            </a:r>
            <a:r>
              <a:rPr sz="1200" spc="10" dirty="0">
                <a:cs typeface="Tahoma"/>
              </a:rPr>
              <a:t>V</a:t>
            </a:r>
            <a:r>
              <a:rPr sz="1200" spc="-60" dirty="0">
                <a:cs typeface="Tahoma"/>
              </a:rPr>
              <a:t>-</a:t>
            </a:r>
            <a:r>
              <a:rPr sz="1200" spc="114" dirty="0">
                <a:cs typeface="Tahoma"/>
              </a:rPr>
              <a:t>C</a:t>
            </a:r>
            <a:r>
              <a:rPr sz="1200" dirty="0">
                <a:cs typeface="Tahoma"/>
              </a:rPr>
              <a:t>a</a:t>
            </a:r>
            <a:r>
              <a:rPr sz="1200" spc="35" dirty="0">
                <a:cs typeface="Tahoma"/>
              </a:rPr>
              <a:t>c</a:t>
            </a:r>
            <a:r>
              <a:rPr sz="1200" spc="30" dirty="0">
                <a:cs typeface="Tahoma"/>
              </a:rPr>
              <a:t>h</a:t>
            </a:r>
            <a:r>
              <a:rPr sz="1200" spc="50" dirty="0">
                <a:cs typeface="Tahoma"/>
              </a:rPr>
              <a:t>e</a:t>
            </a:r>
            <a:r>
              <a:rPr sz="1200" spc="-55" dirty="0">
                <a:cs typeface="Tahoma"/>
              </a:rPr>
              <a:t>.</a:t>
            </a:r>
            <a:r>
              <a:rPr sz="1200" spc="-135" dirty="0">
                <a:cs typeface="Tahoma"/>
              </a:rPr>
              <a:t> </a:t>
            </a:r>
            <a:r>
              <a:rPr sz="1200" spc="-45" dirty="0">
                <a:cs typeface="Tahoma"/>
              </a:rPr>
              <a:t>T</a:t>
            </a:r>
            <a:r>
              <a:rPr sz="1200" spc="25" dirty="0">
                <a:cs typeface="Tahoma"/>
              </a:rPr>
              <a:t>h</a:t>
            </a:r>
            <a:r>
              <a:rPr sz="1200" spc="10" dirty="0">
                <a:cs typeface="Tahoma"/>
              </a:rPr>
              <a:t>is</a:t>
            </a:r>
            <a:r>
              <a:rPr sz="1200" spc="-60" dirty="0">
                <a:cs typeface="Tahoma"/>
              </a:rPr>
              <a:t> </a:t>
            </a:r>
            <a:r>
              <a:rPr sz="1200" spc="10" dirty="0">
                <a:cs typeface="Tahoma"/>
              </a:rPr>
              <a:t>is</a:t>
            </a:r>
            <a:r>
              <a:rPr sz="1200" spc="-75" dirty="0">
                <a:cs typeface="Tahoma"/>
              </a:rPr>
              <a:t> </a:t>
            </a:r>
            <a:r>
              <a:rPr sz="1200" spc="30" dirty="0">
                <a:cs typeface="Tahoma"/>
              </a:rPr>
              <a:t>di</a:t>
            </a:r>
            <a:r>
              <a:rPr sz="1200" spc="-5" dirty="0">
                <a:cs typeface="Tahoma"/>
              </a:rPr>
              <a:t>f</a:t>
            </a:r>
            <a:r>
              <a:rPr sz="1200" spc="-40" dirty="0">
                <a:cs typeface="Tahoma"/>
              </a:rPr>
              <a:t>f</a:t>
            </a:r>
            <a:r>
              <a:rPr sz="1200" spc="50" dirty="0">
                <a:cs typeface="Tahoma"/>
              </a:rPr>
              <a:t>e</a:t>
            </a:r>
            <a:r>
              <a:rPr sz="1200" spc="-30" dirty="0">
                <a:cs typeface="Tahoma"/>
              </a:rPr>
              <a:t>r</a:t>
            </a:r>
            <a:r>
              <a:rPr sz="1200" spc="50" dirty="0">
                <a:cs typeface="Tahoma"/>
              </a:rPr>
              <a:t>e</a:t>
            </a:r>
            <a:r>
              <a:rPr sz="1200" dirty="0">
                <a:cs typeface="Tahoma"/>
              </a:rPr>
              <a:t>nt</a:t>
            </a:r>
            <a:r>
              <a:rPr sz="1200" spc="-75" dirty="0">
                <a:cs typeface="Tahoma"/>
              </a:rPr>
              <a:t> </a:t>
            </a:r>
            <a:r>
              <a:rPr sz="1200" spc="-40" dirty="0">
                <a:cs typeface="Tahoma"/>
              </a:rPr>
              <a:t>f</a:t>
            </a:r>
            <a:r>
              <a:rPr sz="1200" spc="-30" dirty="0">
                <a:cs typeface="Tahoma"/>
              </a:rPr>
              <a:t>r</a:t>
            </a:r>
            <a:r>
              <a:rPr sz="1200" spc="65" dirty="0">
                <a:cs typeface="Tahoma"/>
              </a:rPr>
              <a:t>om</a:t>
            </a:r>
            <a:r>
              <a:rPr sz="1200" spc="-65" dirty="0">
                <a:cs typeface="Tahoma"/>
              </a:rPr>
              <a:t> </a:t>
            </a:r>
            <a:r>
              <a:rPr sz="1200" spc="20" dirty="0">
                <a:cs typeface="Tahoma"/>
              </a:rPr>
              <a:t>to</a:t>
            </a:r>
            <a:r>
              <a:rPr sz="1200" spc="-5" dirty="0">
                <a:cs typeface="Tahoma"/>
              </a:rPr>
              <a:t>k</a:t>
            </a:r>
            <a:r>
              <a:rPr sz="1200" spc="50" dirty="0">
                <a:cs typeface="Tahoma"/>
              </a:rPr>
              <a:t>e</a:t>
            </a:r>
            <a:r>
              <a:rPr sz="1200" spc="25" dirty="0">
                <a:cs typeface="Tahoma"/>
              </a:rPr>
              <a:t>n</a:t>
            </a:r>
            <a:r>
              <a:rPr sz="1200" spc="-70" dirty="0">
                <a:cs typeface="Tahoma"/>
              </a:rPr>
              <a:t> </a:t>
            </a:r>
            <a:r>
              <a:rPr sz="1200" spc="90" dirty="0">
                <a:cs typeface="Tahoma"/>
              </a:rPr>
              <a:t>g</a:t>
            </a:r>
            <a:r>
              <a:rPr sz="1200" spc="50" dirty="0">
                <a:cs typeface="Tahoma"/>
              </a:rPr>
              <a:t>e</a:t>
            </a:r>
            <a:r>
              <a:rPr sz="1200" spc="35" dirty="0">
                <a:cs typeface="Tahoma"/>
              </a:rPr>
              <a:t>n</a:t>
            </a:r>
            <a:r>
              <a:rPr sz="1200" spc="30" dirty="0">
                <a:cs typeface="Tahoma"/>
              </a:rPr>
              <a:t>e</a:t>
            </a:r>
            <a:r>
              <a:rPr sz="1200" spc="-15" dirty="0">
                <a:cs typeface="Tahoma"/>
              </a:rPr>
              <a:t>r</a:t>
            </a:r>
            <a:r>
              <a:rPr sz="1200" spc="-10" dirty="0">
                <a:cs typeface="Tahoma"/>
              </a:rPr>
              <a:t>a</a:t>
            </a:r>
            <a:r>
              <a:rPr sz="1200" spc="25" dirty="0">
                <a:cs typeface="Tahoma"/>
              </a:rPr>
              <a:t>tion</a:t>
            </a:r>
            <a:r>
              <a:rPr sz="1200" spc="-55" dirty="0">
                <a:cs typeface="Tahoma"/>
              </a:rPr>
              <a:t> </a:t>
            </a:r>
            <a:r>
              <a:rPr sz="1200" spc="25" dirty="0">
                <a:cs typeface="Tahoma"/>
              </a:rPr>
              <a:t>in  which</a:t>
            </a:r>
            <a:r>
              <a:rPr sz="1200" spc="-70" dirty="0">
                <a:cs typeface="Tahoma"/>
              </a:rPr>
              <a:t> </a:t>
            </a:r>
            <a:r>
              <a:rPr sz="1200" spc="25" dirty="0">
                <a:cs typeface="Tahoma"/>
              </a:rPr>
              <a:t>we</a:t>
            </a:r>
            <a:r>
              <a:rPr sz="1200" spc="-75" dirty="0">
                <a:cs typeface="Tahoma"/>
              </a:rPr>
              <a:t> </a:t>
            </a:r>
            <a:r>
              <a:rPr sz="1200" spc="-10" dirty="0">
                <a:cs typeface="Tahoma"/>
              </a:rPr>
              <a:t>first</a:t>
            </a:r>
            <a:r>
              <a:rPr sz="1200" spc="-65" dirty="0">
                <a:cs typeface="Tahoma"/>
              </a:rPr>
              <a:t> </a:t>
            </a:r>
            <a:r>
              <a:rPr sz="1200" spc="65" dirty="0">
                <a:cs typeface="Tahoma"/>
              </a:rPr>
              <a:t>add</a:t>
            </a:r>
            <a:r>
              <a:rPr sz="1200" spc="-85" dirty="0">
                <a:cs typeface="Tahoma"/>
              </a:rPr>
              <a:t> </a:t>
            </a:r>
            <a:r>
              <a:rPr sz="1200" spc="15" dirty="0">
                <a:cs typeface="Tahoma"/>
              </a:rPr>
              <a:t>the</a:t>
            </a:r>
            <a:r>
              <a:rPr sz="1200" spc="-75" dirty="0">
                <a:cs typeface="Tahoma"/>
              </a:rPr>
              <a:t> </a:t>
            </a:r>
            <a:r>
              <a:rPr sz="1200" spc="25" dirty="0">
                <a:cs typeface="Tahoma"/>
              </a:rPr>
              <a:t>previously-generated</a:t>
            </a:r>
            <a:r>
              <a:rPr sz="1200" spc="-30" dirty="0">
                <a:cs typeface="Tahoma"/>
              </a:rPr>
              <a:t> </a:t>
            </a:r>
            <a:r>
              <a:rPr sz="1200" spc="25" dirty="0">
                <a:cs typeface="Tahoma"/>
              </a:rPr>
              <a:t>token</a:t>
            </a:r>
            <a:r>
              <a:rPr sz="1200" spc="-70" dirty="0">
                <a:cs typeface="Tahoma"/>
              </a:rPr>
              <a:t> </a:t>
            </a:r>
            <a:r>
              <a:rPr sz="1200" spc="30" dirty="0">
                <a:cs typeface="Tahoma"/>
              </a:rPr>
              <a:t>to</a:t>
            </a:r>
            <a:r>
              <a:rPr sz="1200" spc="-85" dirty="0">
                <a:cs typeface="Tahoma"/>
              </a:rPr>
              <a:t> </a:t>
            </a:r>
            <a:r>
              <a:rPr sz="1200" spc="15" dirty="0">
                <a:cs typeface="Tahoma"/>
              </a:rPr>
              <a:t>the</a:t>
            </a:r>
            <a:r>
              <a:rPr sz="1200" spc="-75" dirty="0">
                <a:cs typeface="Tahoma"/>
              </a:rPr>
              <a:t> </a:t>
            </a:r>
            <a:r>
              <a:rPr sz="1200" spc="30" dirty="0">
                <a:cs typeface="Tahoma"/>
              </a:rPr>
              <a:t>KV-Cache </a:t>
            </a:r>
            <a:r>
              <a:rPr sz="1200" spc="-360" dirty="0">
                <a:cs typeface="Tahoma"/>
              </a:rPr>
              <a:t> </a:t>
            </a:r>
            <a:r>
              <a:rPr sz="1200" spc="40" dirty="0">
                <a:cs typeface="Tahoma"/>
              </a:rPr>
              <a:t>and</a:t>
            </a:r>
            <a:r>
              <a:rPr sz="1200" spc="-80" dirty="0">
                <a:cs typeface="Tahoma"/>
              </a:rPr>
              <a:t> </a:t>
            </a:r>
            <a:r>
              <a:rPr sz="1200" spc="20" dirty="0">
                <a:cs typeface="Tahoma"/>
              </a:rPr>
              <a:t>then</a:t>
            </a:r>
            <a:r>
              <a:rPr sz="1200" spc="-80" dirty="0">
                <a:cs typeface="Tahoma"/>
              </a:rPr>
              <a:t> </a:t>
            </a:r>
            <a:r>
              <a:rPr sz="1200" spc="20" dirty="0">
                <a:cs typeface="Tahoma"/>
              </a:rPr>
              <a:t>calculate</a:t>
            </a:r>
            <a:r>
              <a:rPr sz="1200" spc="-75" dirty="0">
                <a:cs typeface="Tahoma"/>
              </a:rPr>
              <a:t> </a:t>
            </a:r>
            <a:r>
              <a:rPr sz="1200" spc="20" dirty="0">
                <a:cs typeface="Tahoma"/>
              </a:rPr>
              <a:t>the</a:t>
            </a:r>
            <a:r>
              <a:rPr sz="1200" spc="-80" dirty="0">
                <a:cs typeface="Tahoma"/>
              </a:rPr>
              <a:t> </a:t>
            </a:r>
            <a:r>
              <a:rPr sz="1200" spc="10" dirty="0">
                <a:cs typeface="Tahoma"/>
              </a:rPr>
              <a:t>attention</a:t>
            </a:r>
            <a:r>
              <a:rPr sz="1200" b="1" spc="10" dirty="0">
                <a:cs typeface="Tahoma"/>
              </a:rPr>
              <a:t>.</a:t>
            </a:r>
            <a:r>
              <a:rPr sz="1200" b="1" spc="-114" dirty="0">
                <a:cs typeface="Tahoma"/>
              </a:rPr>
              <a:t> </a:t>
            </a:r>
            <a:r>
              <a:rPr sz="1200" b="1" spc="-30" dirty="0">
                <a:cs typeface="Tahoma"/>
              </a:rPr>
              <a:t>We</a:t>
            </a:r>
            <a:r>
              <a:rPr sz="1200" b="1" spc="-50" dirty="0">
                <a:cs typeface="Tahoma"/>
              </a:rPr>
              <a:t> </a:t>
            </a:r>
            <a:r>
              <a:rPr sz="1200" b="1" spc="-15" dirty="0">
                <a:cs typeface="Tahoma"/>
              </a:rPr>
              <a:t>will</a:t>
            </a:r>
            <a:r>
              <a:rPr sz="1200" b="1" spc="-55" dirty="0">
                <a:cs typeface="Tahoma"/>
              </a:rPr>
              <a:t> </a:t>
            </a:r>
            <a:r>
              <a:rPr sz="1200" b="1" spc="-20" dirty="0">
                <a:cs typeface="Tahoma"/>
              </a:rPr>
              <a:t>see</a:t>
            </a:r>
            <a:r>
              <a:rPr sz="1200" b="1" spc="-65" dirty="0">
                <a:cs typeface="Tahoma"/>
              </a:rPr>
              <a:t> </a:t>
            </a:r>
            <a:r>
              <a:rPr sz="1200" b="1" spc="-20" dirty="0">
                <a:cs typeface="Tahoma"/>
              </a:rPr>
              <a:t>layer</a:t>
            </a:r>
            <a:r>
              <a:rPr sz="1200" b="1" spc="-75" dirty="0">
                <a:cs typeface="Tahoma"/>
              </a:rPr>
              <a:t> </a:t>
            </a:r>
            <a:r>
              <a:rPr sz="1200" b="1" spc="-35" dirty="0">
                <a:cs typeface="Tahoma"/>
              </a:rPr>
              <a:t>why.</a:t>
            </a:r>
            <a:endParaRPr sz="1200">
              <a:cs typeface="Tahom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668143" y="593532"/>
            <a:ext cx="10865045" cy="639956"/>
          </a:xfrm>
          <a:prstGeom prst="rect">
            <a:avLst/>
          </a:prstGeom>
        </p:spPr>
        <p:txBody>
          <a:bodyPr vert="horz" lIns="0" tIns="0" rIns="0" bIns="0" rtlCol="0" anchor="ctr">
            <a:normAutofit/>
          </a:bodyPr>
          <a:lstStyle/>
          <a:p>
            <a:r>
              <a:rPr dirty="0">
                <a:latin typeface="+mn-lt"/>
              </a:rPr>
              <a:t>Pre-fill and chunking: second chunk</a:t>
            </a:r>
          </a:p>
        </p:txBody>
      </p:sp>
      <p:sp>
        <p:nvSpPr>
          <p:cNvPr id="3" name="object 3"/>
          <p:cNvSpPr txBox="1"/>
          <p:nvPr/>
        </p:nvSpPr>
        <p:spPr>
          <a:xfrm>
            <a:off x="674215" y="1667956"/>
            <a:ext cx="4105275" cy="197490"/>
          </a:xfrm>
          <a:prstGeom prst="rect">
            <a:avLst/>
          </a:prstGeom>
        </p:spPr>
        <p:txBody>
          <a:bodyPr vert="horz" wrap="square" lIns="0" tIns="12700" rIns="0" bIns="0" rtlCol="0">
            <a:spAutoFit/>
          </a:bodyPr>
          <a:lstStyle/>
          <a:p>
            <a:pPr marL="12700">
              <a:lnSpc>
                <a:spcPct val="100000"/>
              </a:lnSpc>
              <a:spcBef>
                <a:spcPts val="100"/>
              </a:spcBef>
            </a:pPr>
            <a:r>
              <a:rPr sz="1200" b="1" spc="-40" dirty="0">
                <a:cs typeface="Tahoma"/>
              </a:rPr>
              <a:t>Prompt</a:t>
            </a:r>
            <a:r>
              <a:rPr sz="1200" spc="-40" dirty="0">
                <a:cs typeface="Tahoma"/>
              </a:rPr>
              <a:t>:</a:t>
            </a:r>
            <a:r>
              <a:rPr sz="1200" spc="-65" dirty="0">
                <a:cs typeface="Tahoma"/>
              </a:rPr>
              <a:t> </a:t>
            </a:r>
            <a:r>
              <a:rPr sz="1200" spc="30" dirty="0">
                <a:cs typeface="Tahoma"/>
              </a:rPr>
              <a:t>“Can</a:t>
            </a:r>
            <a:r>
              <a:rPr sz="1200" spc="-75" dirty="0">
                <a:cs typeface="Tahoma"/>
              </a:rPr>
              <a:t> </a:t>
            </a:r>
            <a:r>
              <a:rPr sz="1200" spc="30" dirty="0">
                <a:cs typeface="Tahoma"/>
              </a:rPr>
              <a:t>you</a:t>
            </a:r>
            <a:r>
              <a:rPr sz="1200" spc="-75" dirty="0">
                <a:cs typeface="Tahoma"/>
              </a:rPr>
              <a:t> </a:t>
            </a:r>
            <a:r>
              <a:rPr sz="1200" spc="20" dirty="0">
                <a:cs typeface="Tahoma"/>
              </a:rPr>
              <a:t>tell</a:t>
            </a:r>
            <a:r>
              <a:rPr sz="1200" spc="-75" dirty="0">
                <a:cs typeface="Tahoma"/>
              </a:rPr>
              <a:t> </a:t>
            </a:r>
            <a:r>
              <a:rPr sz="1200" spc="50" dirty="0">
                <a:cs typeface="Tahoma"/>
              </a:rPr>
              <a:t>me</a:t>
            </a:r>
            <a:r>
              <a:rPr sz="1200" spc="-65" dirty="0">
                <a:cs typeface="Tahoma"/>
              </a:rPr>
              <a:t> </a:t>
            </a:r>
            <a:r>
              <a:rPr sz="1200" spc="35" dirty="0">
                <a:solidFill>
                  <a:srgbClr val="E23717"/>
                </a:solidFill>
                <a:cs typeface="Tahoma"/>
              </a:rPr>
              <a:t>who</a:t>
            </a:r>
            <a:r>
              <a:rPr sz="1200" spc="-65" dirty="0">
                <a:solidFill>
                  <a:srgbClr val="E23717"/>
                </a:solidFill>
                <a:cs typeface="Tahoma"/>
              </a:rPr>
              <a:t> </a:t>
            </a:r>
            <a:r>
              <a:rPr sz="1200" spc="10" dirty="0">
                <a:solidFill>
                  <a:srgbClr val="E23717"/>
                </a:solidFill>
                <a:cs typeface="Tahoma"/>
              </a:rPr>
              <a:t>is</a:t>
            </a:r>
            <a:r>
              <a:rPr sz="1200" spc="-75" dirty="0">
                <a:solidFill>
                  <a:srgbClr val="E23717"/>
                </a:solidFill>
                <a:cs typeface="Tahoma"/>
              </a:rPr>
              <a:t> </a:t>
            </a:r>
            <a:r>
              <a:rPr sz="1200" spc="15" dirty="0">
                <a:solidFill>
                  <a:srgbClr val="E23717"/>
                </a:solidFill>
                <a:cs typeface="Tahoma"/>
              </a:rPr>
              <a:t>the</a:t>
            </a:r>
            <a:r>
              <a:rPr sz="1200" spc="-75" dirty="0">
                <a:solidFill>
                  <a:srgbClr val="E23717"/>
                </a:solidFill>
                <a:cs typeface="Tahoma"/>
              </a:rPr>
              <a:t> </a:t>
            </a:r>
            <a:r>
              <a:rPr sz="1200" spc="15" dirty="0">
                <a:solidFill>
                  <a:srgbClr val="E23717"/>
                </a:solidFill>
                <a:cs typeface="Tahoma"/>
              </a:rPr>
              <a:t>richest</a:t>
            </a:r>
            <a:r>
              <a:rPr sz="1200" spc="-50" dirty="0">
                <a:solidFill>
                  <a:srgbClr val="E23717"/>
                </a:solidFill>
                <a:cs typeface="Tahoma"/>
              </a:rPr>
              <a:t> </a:t>
            </a:r>
            <a:r>
              <a:rPr sz="1200" spc="25" dirty="0">
                <a:cs typeface="Tahoma"/>
              </a:rPr>
              <a:t>man</a:t>
            </a:r>
            <a:r>
              <a:rPr sz="1200" spc="-65" dirty="0">
                <a:cs typeface="Tahoma"/>
              </a:rPr>
              <a:t> </a:t>
            </a:r>
            <a:r>
              <a:rPr sz="1200" spc="25" dirty="0">
                <a:cs typeface="Tahoma"/>
              </a:rPr>
              <a:t>in</a:t>
            </a:r>
            <a:r>
              <a:rPr sz="1200" spc="-70" dirty="0">
                <a:cs typeface="Tahoma"/>
              </a:rPr>
              <a:t> </a:t>
            </a:r>
            <a:r>
              <a:rPr sz="1200" spc="5" dirty="0">
                <a:cs typeface="Tahoma"/>
              </a:rPr>
              <a:t>history”</a:t>
            </a:r>
            <a:endParaRPr sz="1200">
              <a:cs typeface="Tahoma"/>
            </a:endParaRPr>
          </a:p>
        </p:txBody>
      </p:sp>
      <p:graphicFrame>
        <p:nvGraphicFramePr>
          <p:cNvPr id="4" name="object 4"/>
          <p:cNvGraphicFramePr>
            <a:graphicFrameLocks noGrp="1"/>
          </p:cNvGraphicFramePr>
          <p:nvPr>
            <p:extLst>
              <p:ext uri="{D42A27DB-BD31-4B8C-83A1-F6EECF244321}">
                <p14:modId xmlns:p14="http://schemas.microsoft.com/office/powerpoint/2010/main" val="1842285324"/>
              </p:ext>
            </p:extLst>
          </p:nvPr>
        </p:nvGraphicFramePr>
        <p:xfrm>
          <a:off x="2081629" y="2338896"/>
          <a:ext cx="8128000" cy="370839"/>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39">
                <a:tc>
                  <a:txBody>
                    <a:bodyPr/>
                    <a:lstStyle/>
                    <a:p>
                      <a:pPr marL="91440">
                        <a:lnSpc>
                          <a:spcPct val="100000"/>
                        </a:lnSpc>
                        <a:spcBef>
                          <a:spcPts val="280"/>
                        </a:spcBef>
                      </a:pPr>
                      <a:r>
                        <a:rPr sz="1800" b="1" spc="45" dirty="0">
                          <a:solidFill>
                            <a:srgbClr val="FFFFFF"/>
                          </a:solidFill>
                          <a:latin typeface="Tahoma"/>
                          <a:cs typeface="Tahoma"/>
                        </a:rPr>
                        <a:t>CAN</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marL="91440">
                        <a:lnSpc>
                          <a:spcPct val="100000"/>
                        </a:lnSpc>
                        <a:spcBef>
                          <a:spcPts val="280"/>
                        </a:spcBef>
                      </a:pPr>
                      <a:r>
                        <a:rPr sz="1800" b="1" spc="20" dirty="0">
                          <a:solidFill>
                            <a:srgbClr val="FFFFFF"/>
                          </a:solidFill>
                          <a:latin typeface="Tahoma"/>
                          <a:cs typeface="Tahoma"/>
                        </a:rPr>
                        <a:t>YOU</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marL="92075">
                        <a:lnSpc>
                          <a:spcPct val="100000"/>
                        </a:lnSpc>
                        <a:spcBef>
                          <a:spcPts val="280"/>
                        </a:spcBef>
                      </a:pPr>
                      <a:r>
                        <a:rPr sz="1800" b="1" spc="-65" dirty="0">
                          <a:solidFill>
                            <a:srgbClr val="FFFFFF"/>
                          </a:solidFill>
                          <a:latin typeface="Tahoma"/>
                          <a:cs typeface="Tahoma"/>
                        </a:rPr>
                        <a:t>TELL</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marL="92075">
                        <a:lnSpc>
                          <a:spcPct val="100000"/>
                        </a:lnSpc>
                        <a:spcBef>
                          <a:spcPts val="280"/>
                        </a:spcBef>
                      </a:pPr>
                      <a:r>
                        <a:rPr sz="1800" b="1" spc="40" dirty="0">
                          <a:solidFill>
                            <a:srgbClr val="FFFFFF"/>
                          </a:solidFill>
                          <a:latin typeface="Tahoma"/>
                          <a:cs typeface="Tahoma"/>
                        </a:rPr>
                        <a:t>ME</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extLst>
                  <a:ext uri="{0D108BD9-81ED-4DB2-BD59-A6C34878D82A}">
                    <a16:rowId xmlns:a16="http://schemas.microsoft.com/office/drawing/2014/main" val="10000"/>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2869757027"/>
              </p:ext>
            </p:extLst>
          </p:nvPr>
        </p:nvGraphicFramePr>
        <p:xfrm>
          <a:off x="2081629" y="3302953"/>
          <a:ext cx="4653911" cy="2612593"/>
        </p:xfrm>
        <a:graphic>
          <a:graphicData uri="http://schemas.openxmlformats.org/drawingml/2006/table">
            <a:tbl>
              <a:tblPr firstRow="1" bandRow="1">
                <a:tableStyleId>{2D5ABB26-0587-4C30-8999-92F81FD0307C}</a:tableStyleId>
              </a:tblPr>
              <a:tblGrid>
                <a:gridCol w="493395">
                  <a:extLst>
                    <a:ext uri="{9D8B030D-6E8A-4147-A177-3AD203B41FA5}">
                      <a16:colId xmlns:a16="http://schemas.microsoft.com/office/drawing/2014/main" val="20000"/>
                    </a:ext>
                  </a:extLst>
                </a:gridCol>
                <a:gridCol w="520065">
                  <a:extLst>
                    <a:ext uri="{9D8B030D-6E8A-4147-A177-3AD203B41FA5}">
                      <a16:colId xmlns:a16="http://schemas.microsoft.com/office/drawing/2014/main" val="20001"/>
                    </a:ext>
                  </a:extLst>
                </a:gridCol>
                <a:gridCol w="520065">
                  <a:extLst>
                    <a:ext uri="{9D8B030D-6E8A-4147-A177-3AD203B41FA5}">
                      <a16:colId xmlns:a16="http://schemas.microsoft.com/office/drawing/2014/main" val="20002"/>
                    </a:ext>
                  </a:extLst>
                </a:gridCol>
                <a:gridCol w="520065">
                  <a:extLst>
                    <a:ext uri="{9D8B030D-6E8A-4147-A177-3AD203B41FA5}">
                      <a16:colId xmlns:a16="http://schemas.microsoft.com/office/drawing/2014/main" val="20003"/>
                    </a:ext>
                  </a:extLst>
                </a:gridCol>
                <a:gridCol w="520065">
                  <a:extLst>
                    <a:ext uri="{9D8B030D-6E8A-4147-A177-3AD203B41FA5}">
                      <a16:colId xmlns:a16="http://schemas.microsoft.com/office/drawing/2014/main" val="20004"/>
                    </a:ext>
                  </a:extLst>
                </a:gridCol>
                <a:gridCol w="520064">
                  <a:extLst>
                    <a:ext uri="{9D8B030D-6E8A-4147-A177-3AD203B41FA5}">
                      <a16:colId xmlns:a16="http://schemas.microsoft.com/office/drawing/2014/main" val="20005"/>
                    </a:ext>
                  </a:extLst>
                </a:gridCol>
                <a:gridCol w="520064">
                  <a:extLst>
                    <a:ext uri="{9D8B030D-6E8A-4147-A177-3AD203B41FA5}">
                      <a16:colId xmlns:a16="http://schemas.microsoft.com/office/drawing/2014/main" val="20006"/>
                    </a:ext>
                  </a:extLst>
                </a:gridCol>
                <a:gridCol w="520064">
                  <a:extLst>
                    <a:ext uri="{9D8B030D-6E8A-4147-A177-3AD203B41FA5}">
                      <a16:colId xmlns:a16="http://schemas.microsoft.com/office/drawing/2014/main" val="20007"/>
                    </a:ext>
                  </a:extLst>
                </a:gridCol>
                <a:gridCol w="520064">
                  <a:extLst>
                    <a:ext uri="{9D8B030D-6E8A-4147-A177-3AD203B41FA5}">
                      <a16:colId xmlns:a16="http://schemas.microsoft.com/office/drawing/2014/main" val="20008"/>
                    </a:ext>
                  </a:extLst>
                </a:gridCol>
              </a:tblGrid>
              <a:tr h="522478">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175895">
                        <a:lnSpc>
                          <a:spcPct val="100000"/>
                        </a:lnSpc>
                      </a:pPr>
                      <a:r>
                        <a:rPr sz="600" b="1" spc="15" dirty="0">
                          <a:latin typeface="Tahoma"/>
                          <a:cs typeface="Tahoma"/>
                        </a:rPr>
                        <a:t>CAN</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635" algn="ctr">
                        <a:lnSpc>
                          <a:spcPct val="100000"/>
                        </a:lnSpc>
                      </a:pPr>
                      <a:r>
                        <a:rPr sz="600" b="1" spc="10" dirty="0">
                          <a:latin typeface="Tahoma"/>
                          <a:cs typeface="Tahoma"/>
                        </a:rPr>
                        <a:t>YOU</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1270" algn="ctr">
                        <a:lnSpc>
                          <a:spcPct val="100000"/>
                        </a:lnSpc>
                      </a:pPr>
                      <a:r>
                        <a:rPr sz="600" b="1" spc="-25" dirty="0">
                          <a:latin typeface="Tahoma"/>
                          <a:cs typeface="Tahoma"/>
                        </a:rPr>
                        <a:t>TELL</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635" algn="ctr">
                        <a:lnSpc>
                          <a:spcPct val="100000"/>
                        </a:lnSpc>
                      </a:pPr>
                      <a:r>
                        <a:rPr sz="600" b="1" spc="15" dirty="0">
                          <a:latin typeface="Tahoma"/>
                          <a:cs typeface="Tahoma"/>
                        </a:rPr>
                        <a:t>ME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spc="10" dirty="0">
                          <a:latin typeface="Tahoma"/>
                          <a:cs typeface="Tahoma"/>
                        </a:rPr>
                        <a:t>WHO</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spc="-65" dirty="0">
                          <a:latin typeface="Tahoma"/>
                          <a:cs typeface="Tahoma"/>
                        </a:rPr>
                        <a:t>IS</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1905" algn="ctr">
                        <a:lnSpc>
                          <a:spcPct val="100000"/>
                        </a:lnSpc>
                      </a:pPr>
                      <a:r>
                        <a:rPr sz="600" b="1" spc="-10" dirty="0">
                          <a:latin typeface="Tahoma"/>
                          <a:cs typeface="Tahoma"/>
                        </a:rPr>
                        <a:t>THE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1270" algn="ctr">
                        <a:lnSpc>
                          <a:spcPct val="100000"/>
                        </a:lnSpc>
                      </a:pPr>
                      <a:r>
                        <a:rPr sz="600" b="1" spc="-30" dirty="0">
                          <a:latin typeface="Tahoma"/>
                          <a:cs typeface="Tahoma"/>
                        </a:rPr>
                        <a:t>RICHEST</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extLst>
                  <a:ext uri="{0D108BD9-81ED-4DB2-BD59-A6C34878D82A}">
                    <a16:rowId xmlns:a16="http://schemas.microsoft.com/office/drawing/2014/main" val="10000"/>
                  </a:ext>
                </a:extLst>
              </a:tr>
              <a:tr h="522605">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R="139700" algn="r">
                        <a:lnSpc>
                          <a:spcPct val="100000"/>
                        </a:lnSpc>
                        <a:spcBef>
                          <a:spcPts val="5"/>
                        </a:spcBef>
                      </a:pPr>
                      <a:r>
                        <a:rPr sz="600" b="1" spc="10" dirty="0">
                          <a:latin typeface="Tahoma"/>
                          <a:cs typeface="Tahoma"/>
                        </a:rPr>
                        <a:t>WHO</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20"/>
                        </a:spcBef>
                      </a:pPr>
                      <a:endParaRPr sz="1250">
                        <a:latin typeface="Times New Roman"/>
                        <a:cs typeface="Times New Roman"/>
                      </a:endParaRPr>
                    </a:p>
                    <a:p>
                      <a:pPr marL="142240">
                        <a:lnSpc>
                          <a:spcPct val="100000"/>
                        </a:lnSpc>
                        <a:spcBef>
                          <a:spcPts val="5"/>
                        </a:spcBef>
                      </a:pPr>
                      <a:r>
                        <a:rPr sz="100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635" algn="ctr">
                        <a:lnSpc>
                          <a:spcPct val="100000"/>
                        </a:lnSpc>
                      </a:pPr>
                      <a:r>
                        <a:rPr sz="1000" spc="10" dirty="0">
                          <a:latin typeface="Tahoma"/>
                          <a:cs typeface="Tahoma"/>
                        </a:rPr>
                        <a:t>0.132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97155">
                        <a:lnSpc>
                          <a:spcPct val="100000"/>
                        </a:lnSpc>
                      </a:pPr>
                      <a:r>
                        <a:rPr sz="1000" spc="10" dirty="0">
                          <a:latin typeface="Tahoma"/>
                          <a:cs typeface="Tahoma"/>
                        </a:rPr>
                        <a:t>0.262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635" algn="ctr">
                        <a:lnSpc>
                          <a:spcPct val="100000"/>
                        </a:lnSpc>
                      </a:pPr>
                      <a:r>
                        <a:rPr sz="1000" spc="10" dirty="0">
                          <a:latin typeface="Tahoma"/>
                          <a:cs typeface="Tahoma"/>
                        </a:rPr>
                        <a:t>0.132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0.951</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spcBef>
                          <a:spcPts val="5"/>
                        </a:spcBef>
                      </a:pPr>
                      <a:r>
                        <a:rPr sz="100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2860" algn="ctr">
                        <a:lnSpc>
                          <a:spcPct val="100000"/>
                        </a:lnSpc>
                        <a:spcBef>
                          <a:spcPts val="5"/>
                        </a:spcBef>
                      </a:pPr>
                      <a:r>
                        <a:rPr sz="100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spcBef>
                          <a:spcPts val="5"/>
                        </a:spcBef>
                      </a:pPr>
                      <a:r>
                        <a:rPr sz="100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1"/>
                  </a:ext>
                </a:extLst>
              </a:tr>
              <a:tr h="522478">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R="205104" algn="r">
                        <a:lnSpc>
                          <a:spcPct val="100000"/>
                        </a:lnSpc>
                      </a:pPr>
                      <a:r>
                        <a:rPr sz="600" b="1" spc="-65" dirty="0">
                          <a:latin typeface="Tahoma"/>
                          <a:cs typeface="Tahoma"/>
                        </a:rPr>
                        <a:t>IS</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25"/>
                        </a:spcBef>
                      </a:pPr>
                      <a:endParaRPr sz="1250">
                        <a:latin typeface="Times New Roman"/>
                        <a:cs typeface="Times New Roman"/>
                      </a:endParaRPr>
                    </a:p>
                    <a:p>
                      <a:pPr marL="142240">
                        <a:lnSpc>
                          <a:spcPct val="100000"/>
                        </a:lnSpc>
                      </a:pPr>
                      <a:r>
                        <a:rPr sz="1000" dirty="0">
                          <a:solidFill>
                            <a:srgbClr val="E23717"/>
                          </a:solidFill>
                          <a:latin typeface="Cambria Math"/>
                          <a:cs typeface="Cambria Math"/>
                        </a:rPr>
                        <a:t>−∞</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97155">
                        <a:lnSpc>
                          <a:spcPct val="100000"/>
                        </a:lnSpc>
                      </a:pPr>
                      <a:r>
                        <a:rPr sz="1000" spc="10" dirty="0">
                          <a:latin typeface="Tahoma"/>
                          <a:cs typeface="Tahoma"/>
                        </a:rPr>
                        <a:t>0.956</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635" algn="ctr">
                        <a:lnSpc>
                          <a:spcPct val="100000"/>
                        </a:lnSpc>
                      </a:pPr>
                      <a:r>
                        <a:rPr sz="1000" spc="10" dirty="0">
                          <a:latin typeface="Tahoma"/>
                          <a:cs typeface="Tahoma"/>
                        </a:rPr>
                        <a:t>0.874</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0.148</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635" algn="ctr">
                        <a:lnSpc>
                          <a:spcPct val="100000"/>
                        </a:lnSpc>
                      </a:pPr>
                      <a:r>
                        <a:rPr sz="1000" spc="10" dirty="0">
                          <a:latin typeface="Tahoma"/>
                          <a:cs typeface="Tahoma"/>
                        </a:rPr>
                        <a:t>0.253</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2860" algn="ctr">
                        <a:lnSpc>
                          <a:spcPct val="100000"/>
                        </a:lnSpc>
                      </a:pPr>
                      <a:r>
                        <a:rPr sz="1000" dirty="0">
                          <a:solidFill>
                            <a:srgbClr val="E23717"/>
                          </a:solidFill>
                          <a:latin typeface="Cambria Math"/>
                          <a:cs typeface="Cambria Math"/>
                        </a:rPr>
                        <a:t>−∞</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2"/>
                  </a:ext>
                </a:extLst>
              </a:tr>
              <a:tr h="522516">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R="163830" algn="r">
                        <a:lnSpc>
                          <a:spcPct val="100000"/>
                        </a:lnSpc>
                        <a:spcBef>
                          <a:spcPts val="5"/>
                        </a:spcBef>
                      </a:pPr>
                      <a:r>
                        <a:rPr sz="600" b="1" spc="-10" dirty="0">
                          <a:latin typeface="Tahoma"/>
                          <a:cs typeface="Tahoma"/>
                        </a:rPr>
                        <a:t>THE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20"/>
                        </a:spcBef>
                      </a:pPr>
                      <a:endParaRPr sz="1250">
                        <a:latin typeface="Times New Roman"/>
                        <a:cs typeface="Times New Roman"/>
                      </a:endParaRPr>
                    </a:p>
                    <a:p>
                      <a:pPr marL="142240">
                        <a:lnSpc>
                          <a:spcPct val="100000"/>
                        </a:lnSpc>
                        <a:spcBef>
                          <a:spcPts val="5"/>
                        </a:spcBef>
                      </a:pPr>
                      <a:r>
                        <a:rPr sz="100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spcBef>
                          <a:spcPts val="5"/>
                        </a:spcBef>
                      </a:pPr>
                      <a:r>
                        <a:rPr sz="100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L="142240">
                        <a:lnSpc>
                          <a:spcPct val="100000"/>
                        </a:lnSpc>
                        <a:spcBef>
                          <a:spcPts val="5"/>
                        </a:spcBef>
                      </a:pPr>
                      <a:r>
                        <a:rPr sz="100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635" algn="ctr">
                        <a:lnSpc>
                          <a:spcPct val="100000"/>
                        </a:lnSpc>
                      </a:pPr>
                      <a:r>
                        <a:rPr sz="1000" spc="10" dirty="0">
                          <a:latin typeface="Tahoma"/>
                          <a:cs typeface="Tahoma"/>
                        </a:rPr>
                        <a:t>0.132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0.262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635" algn="ctr">
                        <a:lnSpc>
                          <a:spcPct val="100000"/>
                        </a:lnSpc>
                      </a:pPr>
                      <a:r>
                        <a:rPr sz="1000" spc="10" dirty="0">
                          <a:latin typeface="Tahoma"/>
                          <a:cs typeface="Tahoma"/>
                        </a:rPr>
                        <a:t>0.259</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0.456</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spcBef>
                          <a:spcPts val="5"/>
                        </a:spcBef>
                      </a:pPr>
                      <a:r>
                        <a:rPr sz="100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3"/>
                  </a:ext>
                </a:extLst>
              </a:tr>
              <a:tr h="522516">
                <a:tc>
                  <a:txBody>
                    <a:bodyPr/>
                    <a:lstStyle/>
                    <a:p>
                      <a:pPr>
                        <a:lnSpc>
                          <a:spcPct val="100000"/>
                        </a:lnSpc>
                      </a:pPr>
                      <a:endParaRPr sz="700">
                        <a:latin typeface="Times New Roman"/>
                        <a:cs typeface="Times New Roman"/>
                      </a:endParaRPr>
                    </a:p>
                    <a:p>
                      <a:pPr marL="224154" marR="101600" indent="-117475">
                        <a:lnSpc>
                          <a:spcPct val="100000"/>
                        </a:lnSpc>
                        <a:spcBef>
                          <a:spcPts val="515"/>
                        </a:spcBef>
                      </a:pPr>
                      <a:r>
                        <a:rPr sz="600" b="1" spc="-5" dirty="0">
                          <a:latin typeface="Tahoma"/>
                          <a:cs typeface="Tahoma"/>
                        </a:rPr>
                        <a:t>RI</a:t>
                      </a:r>
                      <a:r>
                        <a:rPr sz="600" b="1" dirty="0">
                          <a:latin typeface="Tahoma"/>
                          <a:cs typeface="Tahoma"/>
                        </a:rPr>
                        <a:t>C</a:t>
                      </a:r>
                      <a:r>
                        <a:rPr sz="600" b="1" spc="-5" dirty="0">
                          <a:latin typeface="Tahoma"/>
                          <a:cs typeface="Tahoma"/>
                        </a:rPr>
                        <a:t>HE</a:t>
                      </a:r>
                      <a:r>
                        <a:rPr sz="600" b="1" dirty="0">
                          <a:latin typeface="Tahoma"/>
                          <a:cs typeface="Tahoma"/>
                        </a:rPr>
                        <a:t>S  </a:t>
                      </a:r>
                      <a:r>
                        <a:rPr sz="600" b="1" spc="-20" dirty="0">
                          <a:latin typeface="Tahoma"/>
                          <a:cs typeface="Tahoma"/>
                        </a:rPr>
                        <a:t>T</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25"/>
                        </a:spcBef>
                      </a:pPr>
                      <a:endParaRPr sz="1250">
                        <a:latin typeface="Times New Roman"/>
                        <a:cs typeface="Times New Roman"/>
                      </a:endParaRPr>
                    </a:p>
                    <a:p>
                      <a:pPr marL="142240">
                        <a:lnSpc>
                          <a:spcPct val="100000"/>
                        </a:lnSpc>
                      </a:pPr>
                      <a:r>
                        <a:rPr sz="1000" dirty="0">
                          <a:solidFill>
                            <a:srgbClr val="E23717"/>
                          </a:solidFill>
                          <a:latin typeface="Cambria Math"/>
                          <a:cs typeface="Cambria Math"/>
                        </a:rPr>
                        <a:t>−∞</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L="142240">
                        <a:lnSpc>
                          <a:spcPct val="100000"/>
                        </a:lnSpc>
                      </a:pPr>
                      <a:r>
                        <a:rPr sz="1000" dirty="0">
                          <a:solidFill>
                            <a:srgbClr val="E23717"/>
                          </a:solidFill>
                          <a:latin typeface="Cambria Math"/>
                          <a:cs typeface="Cambria Math"/>
                        </a:rPr>
                        <a:t>−∞</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150">
                        <a:latin typeface="Times New Roman"/>
                        <a:cs typeface="Times New Roman"/>
                      </a:endParaRPr>
                    </a:p>
                    <a:p>
                      <a:pPr marR="23495" algn="ctr">
                        <a:lnSpc>
                          <a:spcPct val="100000"/>
                        </a:lnSpc>
                      </a:pPr>
                      <a:r>
                        <a:rPr sz="1000" spc="10" dirty="0">
                          <a:latin typeface="Tahoma"/>
                          <a:cs typeface="Tahoma"/>
                        </a:rPr>
                        <a:t>0.132</a:t>
                      </a:r>
                      <a:endParaRPr sz="1000">
                        <a:latin typeface="Tahoma"/>
                        <a:cs typeface="Tahoma"/>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635" algn="ctr">
                        <a:lnSpc>
                          <a:spcPct val="100000"/>
                        </a:lnSpc>
                        <a:spcBef>
                          <a:spcPts val="5"/>
                        </a:spcBef>
                      </a:pPr>
                      <a:r>
                        <a:rPr sz="1000" spc="10" dirty="0">
                          <a:latin typeface="Tahoma"/>
                          <a:cs typeface="Tahoma"/>
                        </a:rPr>
                        <a:t>0.687</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spcBef>
                          <a:spcPts val="5"/>
                        </a:spcBef>
                      </a:pPr>
                      <a:r>
                        <a:rPr sz="1000" spc="10" dirty="0">
                          <a:latin typeface="Tahoma"/>
                          <a:cs typeface="Tahoma"/>
                        </a:rPr>
                        <a:t>0.159</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dirty="0">
                        <a:latin typeface="Times New Roman"/>
                        <a:cs typeface="Times New Roman"/>
                      </a:endParaRPr>
                    </a:p>
                    <a:p>
                      <a:pPr marL="635" algn="ctr">
                        <a:lnSpc>
                          <a:spcPct val="100000"/>
                        </a:lnSpc>
                        <a:spcBef>
                          <a:spcPts val="5"/>
                        </a:spcBef>
                      </a:pPr>
                      <a:r>
                        <a:rPr sz="1000" spc="10" dirty="0">
                          <a:latin typeface="Tahoma"/>
                          <a:cs typeface="Tahoma"/>
                        </a:rPr>
                        <a:t>0.357</a:t>
                      </a:r>
                      <a:endParaRPr sz="1000" dirty="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4"/>
                  </a:ext>
                </a:extLst>
              </a:tr>
            </a:tbl>
          </a:graphicData>
        </a:graphic>
      </p:graphicFrame>
      <p:sp>
        <p:nvSpPr>
          <p:cNvPr id="6" name="object 6"/>
          <p:cNvSpPr txBox="1"/>
          <p:nvPr/>
        </p:nvSpPr>
        <p:spPr>
          <a:xfrm>
            <a:off x="674215" y="2369631"/>
            <a:ext cx="1214755" cy="228909"/>
          </a:xfrm>
          <a:prstGeom prst="rect">
            <a:avLst/>
          </a:prstGeom>
        </p:spPr>
        <p:txBody>
          <a:bodyPr vert="horz" wrap="square" lIns="0" tIns="13335" rIns="0" bIns="0" rtlCol="0">
            <a:spAutoFit/>
          </a:bodyPr>
          <a:lstStyle/>
          <a:p>
            <a:pPr marL="12700">
              <a:lnSpc>
                <a:spcPct val="100000"/>
              </a:lnSpc>
              <a:spcBef>
                <a:spcPts val="105"/>
              </a:spcBef>
            </a:pPr>
            <a:r>
              <a:rPr sz="1400" b="1" spc="-70" dirty="0">
                <a:cs typeface="Tahoma"/>
              </a:rPr>
              <a:t>T</a:t>
            </a:r>
            <a:r>
              <a:rPr sz="1400" b="1" spc="-20" dirty="0">
                <a:cs typeface="Tahoma"/>
              </a:rPr>
              <a:t>h</a:t>
            </a:r>
            <a:r>
              <a:rPr sz="1400" b="1" spc="-15" dirty="0">
                <a:cs typeface="Tahoma"/>
              </a:rPr>
              <a:t>e</a:t>
            </a:r>
            <a:r>
              <a:rPr sz="1400" b="1" spc="-75" dirty="0">
                <a:cs typeface="Tahoma"/>
              </a:rPr>
              <a:t> </a:t>
            </a:r>
            <a:r>
              <a:rPr sz="1400" b="1" spc="15" dirty="0">
                <a:cs typeface="Tahoma"/>
              </a:rPr>
              <a:t>K</a:t>
            </a:r>
            <a:r>
              <a:rPr sz="1400" b="1" spc="-20" dirty="0">
                <a:cs typeface="Tahoma"/>
              </a:rPr>
              <a:t>V</a:t>
            </a:r>
            <a:r>
              <a:rPr sz="1400" b="1" spc="-155" dirty="0">
                <a:cs typeface="Tahoma"/>
              </a:rPr>
              <a:t>-</a:t>
            </a:r>
            <a:r>
              <a:rPr sz="1400" b="1" spc="10" dirty="0">
                <a:cs typeface="Tahoma"/>
              </a:rPr>
              <a:t>C</a:t>
            </a:r>
            <a:r>
              <a:rPr sz="1400" b="1" spc="-25" dirty="0">
                <a:cs typeface="Tahoma"/>
              </a:rPr>
              <a:t>ache</a:t>
            </a:r>
            <a:endParaRPr sz="1400" dirty="0">
              <a:cs typeface="Tahoma"/>
            </a:endParaRPr>
          </a:p>
        </p:txBody>
      </p:sp>
      <p:sp>
        <p:nvSpPr>
          <p:cNvPr id="7" name="object 7"/>
          <p:cNvSpPr txBox="1"/>
          <p:nvPr/>
        </p:nvSpPr>
        <p:spPr>
          <a:xfrm>
            <a:off x="674215" y="4486466"/>
            <a:ext cx="1170940" cy="453390"/>
          </a:xfrm>
          <a:prstGeom prst="rect">
            <a:avLst/>
          </a:prstGeom>
        </p:spPr>
        <p:txBody>
          <a:bodyPr vert="horz" wrap="square" lIns="0" tIns="12700" rIns="0" bIns="0" rtlCol="0">
            <a:spAutoFit/>
          </a:bodyPr>
          <a:lstStyle/>
          <a:p>
            <a:pPr marL="12700">
              <a:lnSpc>
                <a:spcPct val="100000"/>
              </a:lnSpc>
              <a:spcBef>
                <a:spcPts val="100"/>
              </a:spcBef>
            </a:pPr>
            <a:r>
              <a:rPr sz="1400" b="1" spc="-70" dirty="0">
                <a:cs typeface="Tahoma"/>
              </a:rPr>
              <a:t>T</a:t>
            </a:r>
            <a:r>
              <a:rPr sz="1400" b="1" spc="-20" dirty="0">
                <a:cs typeface="Tahoma"/>
              </a:rPr>
              <a:t>h</a:t>
            </a:r>
            <a:r>
              <a:rPr sz="1400" b="1" spc="-15" dirty="0">
                <a:cs typeface="Tahoma"/>
              </a:rPr>
              <a:t>e</a:t>
            </a:r>
            <a:r>
              <a:rPr sz="1400" b="1" spc="-75" dirty="0">
                <a:cs typeface="Tahoma"/>
              </a:rPr>
              <a:t> </a:t>
            </a:r>
            <a:r>
              <a:rPr sz="1400" b="1" spc="-60" dirty="0">
                <a:cs typeface="Tahoma"/>
              </a:rPr>
              <a:t>a</a:t>
            </a:r>
            <a:r>
              <a:rPr sz="1400" b="1" spc="-95" dirty="0">
                <a:cs typeface="Tahoma"/>
              </a:rPr>
              <a:t>t</a:t>
            </a:r>
            <a:r>
              <a:rPr sz="1400" b="1" spc="-60" dirty="0">
                <a:cs typeface="Tahoma"/>
              </a:rPr>
              <a:t>t</a:t>
            </a:r>
            <a:r>
              <a:rPr sz="1400" b="1" spc="-20" dirty="0">
                <a:cs typeface="Tahoma"/>
              </a:rPr>
              <a:t>e</a:t>
            </a:r>
            <a:r>
              <a:rPr sz="1400" b="1" spc="-30" dirty="0">
                <a:cs typeface="Tahoma"/>
              </a:rPr>
              <a:t>n</a:t>
            </a:r>
            <a:r>
              <a:rPr sz="1400" b="1" spc="-60" dirty="0">
                <a:cs typeface="Tahoma"/>
              </a:rPr>
              <a:t>t</a:t>
            </a:r>
            <a:r>
              <a:rPr sz="1400" b="1" spc="-10" dirty="0">
                <a:cs typeface="Tahoma"/>
              </a:rPr>
              <a:t>i</a:t>
            </a:r>
            <a:r>
              <a:rPr sz="1400" b="1" spc="-5" dirty="0">
                <a:cs typeface="Tahoma"/>
              </a:rPr>
              <a:t>on</a:t>
            </a:r>
            <a:endParaRPr sz="1400">
              <a:cs typeface="Tahoma"/>
            </a:endParaRPr>
          </a:p>
          <a:p>
            <a:pPr marL="12700">
              <a:lnSpc>
                <a:spcPct val="100000"/>
              </a:lnSpc>
            </a:pPr>
            <a:r>
              <a:rPr sz="1400" b="1" spc="-45" dirty="0">
                <a:cs typeface="Tahoma"/>
              </a:rPr>
              <a:t>mask</a:t>
            </a:r>
            <a:endParaRPr sz="1400">
              <a:cs typeface="Tahoma"/>
            </a:endParaRPr>
          </a:p>
        </p:txBody>
      </p:sp>
      <p:sp>
        <p:nvSpPr>
          <p:cNvPr id="8" name="object 8"/>
          <p:cNvSpPr txBox="1"/>
          <p:nvPr/>
        </p:nvSpPr>
        <p:spPr>
          <a:xfrm>
            <a:off x="6961349" y="3335593"/>
            <a:ext cx="4195445" cy="1634422"/>
          </a:xfrm>
          <a:prstGeom prst="rect">
            <a:avLst/>
          </a:prstGeom>
        </p:spPr>
        <p:txBody>
          <a:bodyPr vert="horz" wrap="square" lIns="0" tIns="18415" rIns="0" bIns="0" rtlCol="0">
            <a:spAutoFit/>
          </a:bodyPr>
          <a:lstStyle/>
          <a:p>
            <a:pPr marL="12700" marR="5080">
              <a:lnSpc>
                <a:spcPts val="1440"/>
              </a:lnSpc>
              <a:spcBef>
                <a:spcPts val="145"/>
              </a:spcBef>
            </a:pPr>
            <a:r>
              <a:rPr sz="1200" spc="5" dirty="0">
                <a:cs typeface="Tahoma"/>
              </a:rPr>
              <a:t>You </a:t>
            </a:r>
            <a:r>
              <a:rPr sz="1200" spc="10" dirty="0">
                <a:cs typeface="Tahoma"/>
              </a:rPr>
              <a:t>may </a:t>
            </a:r>
            <a:r>
              <a:rPr sz="1200" spc="15" dirty="0">
                <a:cs typeface="Tahoma"/>
              </a:rPr>
              <a:t>have </a:t>
            </a:r>
            <a:r>
              <a:rPr sz="1200" spc="40" dirty="0">
                <a:cs typeface="Tahoma"/>
              </a:rPr>
              <a:t>noticed </a:t>
            </a:r>
            <a:r>
              <a:rPr sz="1200" spc="-10" dirty="0">
                <a:cs typeface="Tahoma"/>
              </a:rPr>
              <a:t>that </a:t>
            </a:r>
            <a:r>
              <a:rPr sz="1200" spc="15" dirty="0">
                <a:cs typeface="Tahoma"/>
              </a:rPr>
              <a:t>the size </a:t>
            </a:r>
            <a:r>
              <a:rPr sz="1200" spc="25" dirty="0">
                <a:cs typeface="Tahoma"/>
              </a:rPr>
              <a:t>of </a:t>
            </a:r>
            <a:r>
              <a:rPr sz="1200" spc="15" dirty="0">
                <a:cs typeface="Tahoma"/>
              </a:rPr>
              <a:t>the </a:t>
            </a:r>
            <a:r>
              <a:rPr sz="1200" spc="10" dirty="0">
                <a:cs typeface="Tahoma"/>
              </a:rPr>
              <a:t>attention mask is </a:t>
            </a:r>
            <a:r>
              <a:rPr sz="1200" spc="-360" dirty="0">
                <a:cs typeface="Tahoma"/>
              </a:rPr>
              <a:t> </a:t>
            </a:r>
            <a:r>
              <a:rPr sz="1200" spc="60" dirty="0">
                <a:cs typeface="Tahoma"/>
              </a:rPr>
              <a:t>bigger </a:t>
            </a:r>
            <a:r>
              <a:rPr sz="1200" spc="5" dirty="0">
                <a:cs typeface="Tahoma"/>
              </a:rPr>
              <a:t>than </a:t>
            </a:r>
            <a:r>
              <a:rPr sz="1200" spc="20" dirty="0">
                <a:cs typeface="Tahoma"/>
              </a:rPr>
              <a:t>the </a:t>
            </a:r>
            <a:r>
              <a:rPr sz="1200" spc="15" dirty="0">
                <a:cs typeface="Tahoma"/>
              </a:rPr>
              <a:t>size </a:t>
            </a:r>
            <a:r>
              <a:rPr sz="1200" spc="25" dirty="0">
                <a:cs typeface="Tahoma"/>
              </a:rPr>
              <a:t>of </a:t>
            </a:r>
            <a:r>
              <a:rPr sz="1200" spc="15" dirty="0">
                <a:cs typeface="Tahoma"/>
              </a:rPr>
              <a:t>the </a:t>
            </a:r>
            <a:r>
              <a:rPr sz="1200" spc="20" dirty="0">
                <a:cs typeface="Tahoma"/>
              </a:rPr>
              <a:t>KV-Cache. </a:t>
            </a:r>
            <a:r>
              <a:rPr sz="1200" dirty="0">
                <a:cs typeface="Tahoma"/>
              </a:rPr>
              <a:t>This </a:t>
            </a:r>
            <a:r>
              <a:rPr sz="1200" spc="10" dirty="0">
                <a:cs typeface="Tahoma"/>
              </a:rPr>
              <a:t>is </a:t>
            </a:r>
            <a:r>
              <a:rPr sz="1200" spc="65" dirty="0">
                <a:cs typeface="Tahoma"/>
              </a:rPr>
              <a:t>done </a:t>
            </a:r>
            <a:r>
              <a:rPr sz="1200" spc="50" dirty="0">
                <a:cs typeface="Tahoma"/>
              </a:rPr>
              <a:t>on </a:t>
            </a:r>
            <a:r>
              <a:rPr sz="1200" spc="55" dirty="0">
                <a:cs typeface="Tahoma"/>
              </a:rPr>
              <a:t> </a:t>
            </a:r>
            <a:r>
              <a:rPr sz="1200" spc="30" dirty="0">
                <a:cs typeface="Tahoma"/>
              </a:rPr>
              <a:t>purpose, </a:t>
            </a:r>
            <a:r>
              <a:rPr sz="1200" spc="20" dirty="0">
                <a:cs typeface="Tahoma"/>
              </a:rPr>
              <a:t>otherwise </a:t>
            </a:r>
            <a:r>
              <a:rPr sz="1200" spc="15" dirty="0">
                <a:cs typeface="Tahoma"/>
              </a:rPr>
              <a:t>the newly </a:t>
            </a:r>
            <a:r>
              <a:rPr sz="1200" spc="70" dirty="0">
                <a:cs typeface="Tahoma"/>
              </a:rPr>
              <a:t>added </a:t>
            </a:r>
            <a:r>
              <a:rPr sz="1200" spc="20" dirty="0">
                <a:cs typeface="Tahoma"/>
              </a:rPr>
              <a:t>tokens will </a:t>
            </a:r>
            <a:r>
              <a:rPr sz="1200" spc="25" dirty="0">
                <a:cs typeface="Tahoma"/>
              </a:rPr>
              <a:t>not </a:t>
            </a:r>
            <a:r>
              <a:rPr sz="1200" spc="15" dirty="0">
                <a:cs typeface="Tahoma"/>
              </a:rPr>
              <a:t>have </a:t>
            </a:r>
            <a:r>
              <a:rPr sz="1200" spc="20" dirty="0">
                <a:cs typeface="Tahoma"/>
              </a:rPr>
              <a:t> </a:t>
            </a:r>
            <a:r>
              <a:rPr sz="1200" spc="15" dirty="0">
                <a:cs typeface="Tahoma"/>
              </a:rPr>
              <a:t>their</a:t>
            </a:r>
            <a:r>
              <a:rPr sz="1200" spc="-75" dirty="0">
                <a:cs typeface="Tahoma"/>
              </a:rPr>
              <a:t> </a:t>
            </a:r>
            <a:r>
              <a:rPr sz="1200" spc="50" dirty="0">
                <a:cs typeface="Tahoma"/>
              </a:rPr>
              <a:t>dot</a:t>
            </a:r>
            <a:r>
              <a:rPr sz="1200" spc="-80" dirty="0">
                <a:cs typeface="Tahoma"/>
              </a:rPr>
              <a:t> </a:t>
            </a:r>
            <a:r>
              <a:rPr sz="1200" spc="35" dirty="0">
                <a:cs typeface="Tahoma"/>
              </a:rPr>
              <a:t>products</a:t>
            </a:r>
            <a:r>
              <a:rPr sz="1200" spc="-65" dirty="0">
                <a:cs typeface="Tahoma"/>
              </a:rPr>
              <a:t> </a:t>
            </a:r>
            <a:r>
              <a:rPr sz="1200" spc="30" dirty="0">
                <a:cs typeface="Tahoma"/>
              </a:rPr>
              <a:t>calculated</a:t>
            </a:r>
            <a:r>
              <a:rPr sz="1200" spc="-75" dirty="0">
                <a:cs typeface="Tahoma"/>
              </a:rPr>
              <a:t> </a:t>
            </a:r>
            <a:r>
              <a:rPr sz="1200" spc="10" dirty="0">
                <a:cs typeface="Tahoma"/>
              </a:rPr>
              <a:t>with</a:t>
            </a:r>
            <a:r>
              <a:rPr sz="1200" spc="-90" dirty="0">
                <a:cs typeface="Tahoma"/>
              </a:rPr>
              <a:t> </a:t>
            </a:r>
            <a:r>
              <a:rPr sz="1200" spc="15" dirty="0">
                <a:cs typeface="Tahoma"/>
              </a:rPr>
              <a:t>items</a:t>
            </a:r>
            <a:r>
              <a:rPr sz="1200" spc="-70" dirty="0">
                <a:cs typeface="Tahoma"/>
              </a:rPr>
              <a:t> </a:t>
            </a:r>
            <a:r>
              <a:rPr sz="1200" spc="-10" dirty="0">
                <a:cs typeface="Tahoma"/>
              </a:rPr>
              <a:t>that</a:t>
            </a:r>
            <a:r>
              <a:rPr sz="1200" spc="-80" dirty="0">
                <a:cs typeface="Tahoma"/>
              </a:rPr>
              <a:t> </a:t>
            </a:r>
            <a:r>
              <a:rPr sz="1200" spc="20" dirty="0">
                <a:cs typeface="Tahoma"/>
              </a:rPr>
              <a:t>were</a:t>
            </a:r>
            <a:r>
              <a:rPr sz="1200" spc="-55" dirty="0">
                <a:cs typeface="Tahoma"/>
              </a:rPr>
              <a:t> </a:t>
            </a:r>
            <a:r>
              <a:rPr sz="1200" spc="20" dirty="0">
                <a:cs typeface="Tahoma"/>
              </a:rPr>
              <a:t>previously </a:t>
            </a:r>
            <a:r>
              <a:rPr sz="1200" spc="-360" dirty="0">
                <a:cs typeface="Tahoma"/>
              </a:rPr>
              <a:t> </a:t>
            </a:r>
            <a:r>
              <a:rPr sz="1200" spc="25" dirty="0">
                <a:cs typeface="Tahoma"/>
              </a:rPr>
              <a:t>in</a:t>
            </a:r>
            <a:r>
              <a:rPr sz="1200" spc="-75" dirty="0">
                <a:cs typeface="Tahoma"/>
              </a:rPr>
              <a:t> </a:t>
            </a:r>
            <a:r>
              <a:rPr sz="1200" spc="20" dirty="0">
                <a:cs typeface="Tahoma"/>
              </a:rPr>
              <a:t>the</a:t>
            </a:r>
            <a:r>
              <a:rPr sz="1200" spc="-80" dirty="0">
                <a:cs typeface="Tahoma"/>
              </a:rPr>
              <a:t> </a:t>
            </a:r>
            <a:r>
              <a:rPr sz="1200" spc="25" dirty="0">
                <a:cs typeface="Tahoma"/>
              </a:rPr>
              <a:t>ca</a:t>
            </a:r>
            <a:r>
              <a:rPr sz="1200" spc="30" dirty="0">
                <a:cs typeface="Tahoma"/>
              </a:rPr>
              <a:t>c</a:t>
            </a:r>
            <a:r>
              <a:rPr sz="1200" spc="35" dirty="0">
                <a:cs typeface="Tahoma"/>
              </a:rPr>
              <a:t>h</a:t>
            </a:r>
            <a:r>
              <a:rPr sz="1200" spc="50" dirty="0">
                <a:cs typeface="Tahoma"/>
              </a:rPr>
              <a:t>e</a:t>
            </a:r>
            <a:r>
              <a:rPr sz="1200" spc="-70" dirty="0">
                <a:cs typeface="Tahoma"/>
              </a:rPr>
              <a:t> (f</a:t>
            </a:r>
            <a:r>
              <a:rPr sz="1200" spc="40" dirty="0">
                <a:cs typeface="Tahoma"/>
              </a:rPr>
              <a:t>or</a:t>
            </a:r>
            <a:r>
              <a:rPr sz="1200" spc="-65" dirty="0">
                <a:cs typeface="Tahoma"/>
              </a:rPr>
              <a:t> </a:t>
            </a:r>
            <a:r>
              <a:rPr sz="1200" spc="35" dirty="0">
                <a:cs typeface="Tahoma"/>
              </a:rPr>
              <a:t>e</a:t>
            </a:r>
            <a:r>
              <a:rPr sz="1200" spc="-20" dirty="0">
                <a:cs typeface="Tahoma"/>
              </a:rPr>
              <a:t>x</a:t>
            </a:r>
            <a:r>
              <a:rPr sz="1200" spc="5" dirty="0">
                <a:cs typeface="Tahoma"/>
              </a:rPr>
              <a:t>a</a:t>
            </a:r>
            <a:r>
              <a:rPr sz="1200" spc="45" dirty="0">
                <a:cs typeface="Tahoma"/>
              </a:rPr>
              <a:t>m</a:t>
            </a:r>
            <a:r>
              <a:rPr sz="1200" spc="85" dirty="0">
                <a:cs typeface="Tahoma"/>
              </a:rPr>
              <a:t>p</a:t>
            </a:r>
            <a:r>
              <a:rPr sz="1200" spc="40" dirty="0">
                <a:cs typeface="Tahoma"/>
              </a:rPr>
              <a:t>le</a:t>
            </a:r>
            <a:r>
              <a:rPr sz="1200" spc="-60" dirty="0">
                <a:cs typeface="Tahoma"/>
              </a:rPr>
              <a:t> </a:t>
            </a:r>
            <a:r>
              <a:rPr sz="1200" spc="-25" dirty="0">
                <a:cs typeface="Tahoma"/>
              </a:rPr>
              <a:t>t</a:t>
            </a:r>
            <a:r>
              <a:rPr sz="1200" spc="25" dirty="0">
                <a:cs typeface="Tahoma"/>
              </a:rPr>
              <a:t>h</a:t>
            </a:r>
            <a:r>
              <a:rPr sz="1200" spc="50" dirty="0">
                <a:cs typeface="Tahoma"/>
              </a:rPr>
              <a:t>e</a:t>
            </a:r>
            <a:r>
              <a:rPr sz="1200" spc="-75" dirty="0">
                <a:cs typeface="Tahoma"/>
              </a:rPr>
              <a:t> </a:t>
            </a:r>
            <a:r>
              <a:rPr sz="1200" spc="25" dirty="0">
                <a:cs typeface="Tahoma"/>
              </a:rPr>
              <a:t>wo</a:t>
            </a:r>
            <a:r>
              <a:rPr sz="1200" spc="-10" dirty="0">
                <a:cs typeface="Tahoma"/>
              </a:rPr>
              <a:t>r</a:t>
            </a:r>
            <a:r>
              <a:rPr sz="1200" spc="100" dirty="0">
                <a:cs typeface="Tahoma"/>
              </a:rPr>
              <a:t>d</a:t>
            </a:r>
            <a:r>
              <a:rPr sz="1200" spc="-65" dirty="0">
                <a:cs typeface="Tahoma"/>
              </a:rPr>
              <a:t> </a:t>
            </a:r>
            <a:r>
              <a:rPr sz="1200" spc="-10" dirty="0">
                <a:cs typeface="Tahoma"/>
              </a:rPr>
              <a:t>“</a:t>
            </a:r>
            <a:r>
              <a:rPr sz="1250" i="1" spc="-90" dirty="0">
                <a:cs typeface="Verdana"/>
              </a:rPr>
              <a:t>W</a:t>
            </a:r>
            <a:r>
              <a:rPr sz="1250" i="1" spc="-60" dirty="0">
                <a:cs typeface="Verdana"/>
              </a:rPr>
              <a:t>h</a:t>
            </a:r>
            <a:r>
              <a:rPr sz="1250" i="1" spc="-80" dirty="0">
                <a:cs typeface="Verdana"/>
              </a:rPr>
              <a:t>o</a:t>
            </a:r>
            <a:r>
              <a:rPr sz="1200" spc="-20" dirty="0">
                <a:cs typeface="Tahoma"/>
              </a:rPr>
              <a:t>”</a:t>
            </a:r>
            <a:r>
              <a:rPr sz="1200" spc="-100" dirty="0">
                <a:cs typeface="Tahoma"/>
              </a:rPr>
              <a:t> </a:t>
            </a:r>
            <a:r>
              <a:rPr sz="1200" dirty="0">
                <a:cs typeface="Tahoma"/>
              </a:rPr>
              <a:t>w</a:t>
            </a:r>
            <a:r>
              <a:rPr sz="1200" spc="25" dirty="0">
                <a:cs typeface="Tahoma"/>
              </a:rPr>
              <a:t>ill</a:t>
            </a:r>
            <a:r>
              <a:rPr sz="1200" spc="-80" dirty="0">
                <a:cs typeface="Tahoma"/>
              </a:rPr>
              <a:t> </a:t>
            </a:r>
            <a:r>
              <a:rPr sz="1200" spc="25" dirty="0">
                <a:cs typeface="Tahoma"/>
              </a:rPr>
              <a:t>no</a:t>
            </a:r>
            <a:r>
              <a:rPr sz="1200" spc="20" dirty="0">
                <a:cs typeface="Tahoma"/>
              </a:rPr>
              <a:t>t</a:t>
            </a:r>
            <a:r>
              <a:rPr sz="1200" spc="-80" dirty="0">
                <a:cs typeface="Tahoma"/>
              </a:rPr>
              <a:t> </a:t>
            </a:r>
            <a:r>
              <a:rPr sz="1200" spc="20" dirty="0">
                <a:cs typeface="Tahoma"/>
              </a:rPr>
              <a:t>h</a:t>
            </a:r>
            <a:r>
              <a:rPr sz="1200" spc="10" dirty="0">
                <a:cs typeface="Tahoma"/>
              </a:rPr>
              <a:t>a</a:t>
            </a:r>
            <a:r>
              <a:rPr sz="1200" spc="20" dirty="0">
                <a:cs typeface="Tahoma"/>
              </a:rPr>
              <a:t>ve</a:t>
            </a:r>
            <a:r>
              <a:rPr sz="1200" spc="-75" dirty="0">
                <a:cs typeface="Tahoma"/>
              </a:rPr>
              <a:t> </a:t>
            </a:r>
            <a:r>
              <a:rPr sz="1200" dirty="0">
                <a:cs typeface="Tahoma"/>
              </a:rPr>
              <a:t>its  </a:t>
            </a:r>
            <a:r>
              <a:rPr sz="1200" spc="10" dirty="0">
                <a:cs typeface="Tahoma"/>
              </a:rPr>
              <a:t>attention </a:t>
            </a:r>
            <a:r>
              <a:rPr sz="1200" spc="30" dirty="0">
                <a:cs typeface="Tahoma"/>
              </a:rPr>
              <a:t>calculated </a:t>
            </a:r>
            <a:r>
              <a:rPr sz="1200" spc="10" dirty="0">
                <a:cs typeface="Tahoma"/>
              </a:rPr>
              <a:t>with </a:t>
            </a:r>
            <a:r>
              <a:rPr sz="1200" spc="15" dirty="0">
                <a:cs typeface="Tahoma"/>
              </a:rPr>
              <a:t>the </a:t>
            </a:r>
            <a:r>
              <a:rPr sz="1200" spc="25" dirty="0">
                <a:cs typeface="Tahoma"/>
              </a:rPr>
              <a:t>previous </a:t>
            </a:r>
            <a:r>
              <a:rPr sz="1200" spc="-5" dirty="0">
                <a:cs typeface="Tahoma"/>
              </a:rPr>
              <a:t>tokens). </a:t>
            </a:r>
            <a:r>
              <a:rPr sz="1200" b="1" spc="-40" dirty="0">
                <a:cs typeface="Tahoma"/>
              </a:rPr>
              <a:t>This </a:t>
            </a:r>
            <a:r>
              <a:rPr sz="1200" b="1" spc="-35" dirty="0">
                <a:cs typeface="Tahoma"/>
              </a:rPr>
              <a:t> </a:t>
            </a:r>
            <a:r>
              <a:rPr sz="1200" b="1" spc="-45" dirty="0">
                <a:cs typeface="Tahoma"/>
              </a:rPr>
              <a:t>m</a:t>
            </a:r>
            <a:r>
              <a:rPr sz="1200" b="1" spc="-30" dirty="0">
                <a:cs typeface="Tahoma"/>
              </a:rPr>
              <a:t>ech</a:t>
            </a:r>
            <a:r>
              <a:rPr sz="1200" b="1" spc="-25" dirty="0">
                <a:cs typeface="Tahoma"/>
              </a:rPr>
              <a:t>a</a:t>
            </a:r>
            <a:r>
              <a:rPr sz="1200" b="1" spc="-30" dirty="0">
                <a:cs typeface="Tahoma"/>
              </a:rPr>
              <a:t>n</a:t>
            </a:r>
            <a:r>
              <a:rPr sz="1200" b="1" spc="-10" dirty="0">
                <a:cs typeface="Tahoma"/>
              </a:rPr>
              <a:t>i</a:t>
            </a:r>
            <a:r>
              <a:rPr sz="1200" b="1" spc="-35" dirty="0">
                <a:cs typeface="Tahoma"/>
              </a:rPr>
              <a:t>s</a:t>
            </a:r>
            <a:r>
              <a:rPr sz="1200" b="1" spc="-55" dirty="0">
                <a:cs typeface="Tahoma"/>
              </a:rPr>
              <a:t>m</a:t>
            </a:r>
            <a:r>
              <a:rPr sz="1200" b="1" spc="-90" dirty="0">
                <a:cs typeface="Tahoma"/>
              </a:rPr>
              <a:t> </a:t>
            </a:r>
            <a:r>
              <a:rPr sz="1200" b="1" spc="-10" dirty="0">
                <a:cs typeface="Tahoma"/>
              </a:rPr>
              <a:t>i</a:t>
            </a:r>
            <a:r>
              <a:rPr sz="1200" b="1" spc="-50" dirty="0">
                <a:cs typeface="Tahoma"/>
              </a:rPr>
              <a:t>s</a:t>
            </a:r>
            <a:r>
              <a:rPr sz="1200" b="1" spc="-70" dirty="0">
                <a:cs typeface="Tahoma"/>
              </a:rPr>
              <a:t> </a:t>
            </a:r>
            <a:r>
              <a:rPr sz="1200" b="1" spc="10" dirty="0">
                <a:cs typeface="Tahoma"/>
              </a:rPr>
              <a:t>o</a:t>
            </a:r>
            <a:r>
              <a:rPr sz="1200" b="1" spc="-30" dirty="0">
                <a:cs typeface="Tahoma"/>
              </a:rPr>
              <a:t>n</a:t>
            </a:r>
            <a:r>
              <a:rPr sz="1200" b="1" spc="-10" dirty="0">
                <a:cs typeface="Tahoma"/>
              </a:rPr>
              <a:t>ly</a:t>
            </a:r>
            <a:r>
              <a:rPr sz="1200" b="1" spc="-65" dirty="0">
                <a:cs typeface="Tahoma"/>
              </a:rPr>
              <a:t> </a:t>
            </a:r>
            <a:r>
              <a:rPr sz="1200" b="1" spc="-45" dirty="0">
                <a:cs typeface="Tahoma"/>
              </a:rPr>
              <a:t>u</a:t>
            </a:r>
            <a:r>
              <a:rPr sz="1200" b="1" spc="-10" dirty="0">
                <a:cs typeface="Tahoma"/>
              </a:rPr>
              <a:t>se</a:t>
            </a:r>
            <a:r>
              <a:rPr sz="1200" b="1" spc="-5" dirty="0">
                <a:cs typeface="Tahoma"/>
              </a:rPr>
              <a:t>d</a:t>
            </a:r>
            <a:r>
              <a:rPr sz="1200" b="1" spc="-55" dirty="0">
                <a:cs typeface="Tahoma"/>
              </a:rPr>
              <a:t> </a:t>
            </a:r>
            <a:r>
              <a:rPr sz="1200" b="1" spc="-5" dirty="0">
                <a:cs typeface="Tahoma"/>
              </a:rPr>
              <a:t>d</a:t>
            </a:r>
            <a:r>
              <a:rPr sz="1200" b="1" spc="-10" dirty="0">
                <a:cs typeface="Tahoma"/>
              </a:rPr>
              <a:t>u</a:t>
            </a:r>
            <a:r>
              <a:rPr sz="1200" b="1" spc="-45" dirty="0">
                <a:cs typeface="Tahoma"/>
              </a:rPr>
              <a:t>r</a:t>
            </a:r>
            <a:r>
              <a:rPr sz="1200" b="1" spc="-10" dirty="0">
                <a:cs typeface="Tahoma"/>
              </a:rPr>
              <a:t>i</a:t>
            </a:r>
            <a:r>
              <a:rPr sz="1200" b="1" spc="-5" dirty="0">
                <a:cs typeface="Tahoma"/>
              </a:rPr>
              <a:t>n</a:t>
            </a:r>
            <a:r>
              <a:rPr sz="1200" b="1" dirty="0">
                <a:cs typeface="Tahoma"/>
              </a:rPr>
              <a:t>g</a:t>
            </a:r>
            <a:r>
              <a:rPr sz="1200" b="1" spc="-75" dirty="0">
                <a:cs typeface="Tahoma"/>
              </a:rPr>
              <a:t> </a:t>
            </a:r>
            <a:r>
              <a:rPr sz="1200" b="1" spc="-15" dirty="0">
                <a:cs typeface="Tahoma"/>
              </a:rPr>
              <a:t>p</a:t>
            </a:r>
            <a:r>
              <a:rPr sz="1200" b="1" spc="-25" dirty="0">
                <a:cs typeface="Tahoma"/>
              </a:rPr>
              <a:t>r</a:t>
            </a:r>
            <a:r>
              <a:rPr sz="1200" b="1" spc="20" dirty="0">
                <a:cs typeface="Tahoma"/>
              </a:rPr>
              <a:t>e</a:t>
            </a:r>
            <a:r>
              <a:rPr sz="1200" b="1" spc="-130" dirty="0">
                <a:cs typeface="Tahoma"/>
              </a:rPr>
              <a:t>-</a:t>
            </a:r>
            <a:r>
              <a:rPr sz="1200" b="1" spc="-35" dirty="0">
                <a:cs typeface="Tahoma"/>
              </a:rPr>
              <a:t>f</a:t>
            </a:r>
            <a:r>
              <a:rPr sz="1200" b="1" spc="-10" dirty="0">
                <a:cs typeface="Tahoma"/>
              </a:rPr>
              <a:t>i</a:t>
            </a:r>
            <a:r>
              <a:rPr sz="1200" b="1" spc="-5" dirty="0">
                <a:cs typeface="Tahoma"/>
              </a:rPr>
              <a:t>ll</a:t>
            </a:r>
            <a:r>
              <a:rPr sz="1200" b="1" spc="-75" dirty="0">
                <a:cs typeface="Tahoma"/>
              </a:rPr>
              <a:t> </a:t>
            </a:r>
            <a:r>
              <a:rPr sz="1200" b="1" spc="10" dirty="0">
                <a:cs typeface="Tahoma"/>
              </a:rPr>
              <a:t>o</a:t>
            </a:r>
            <a:r>
              <a:rPr sz="1200" b="1" spc="-25" dirty="0">
                <a:cs typeface="Tahoma"/>
              </a:rPr>
              <a:t>f </a:t>
            </a:r>
            <a:r>
              <a:rPr sz="1200" b="1" spc="-30" dirty="0">
                <a:cs typeface="Tahoma"/>
              </a:rPr>
              <a:t>the</a:t>
            </a:r>
            <a:r>
              <a:rPr sz="1200" b="1" spc="-55" dirty="0">
                <a:cs typeface="Tahoma"/>
              </a:rPr>
              <a:t> </a:t>
            </a:r>
            <a:r>
              <a:rPr sz="1200" b="1" spc="35" dirty="0">
                <a:cs typeface="Tahoma"/>
              </a:rPr>
              <a:t>p</a:t>
            </a:r>
            <a:r>
              <a:rPr sz="1200" b="1" spc="-70" dirty="0">
                <a:cs typeface="Tahoma"/>
              </a:rPr>
              <a:t>r</a:t>
            </a:r>
            <a:r>
              <a:rPr sz="1200" b="1" spc="10" dirty="0">
                <a:cs typeface="Tahoma"/>
              </a:rPr>
              <a:t>o</a:t>
            </a:r>
            <a:r>
              <a:rPr sz="1200" b="1" spc="-45" dirty="0">
                <a:cs typeface="Tahoma"/>
              </a:rPr>
              <a:t>m</a:t>
            </a:r>
            <a:r>
              <a:rPr sz="1200" b="1" spc="-20" dirty="0">
                <a:cs typeface="Tahoma"/>
              </a:rPr>
              <a:t>pt.</a:t>
            </a:r>
            <a:endParaRPr sz="1200">
              <a:cs typeface="Tahoma"/>
            </a:endParaRPr>
          </a:p>
          <a:p>
            <a:pPr marL="12700" marR="41275">
              <a:lnSpc>
                <a:spcPts val="1440"/>
              </a:lnSpc>
              <a:spcBef>
                <a:spcPts val="5"/>
              </a:spcBef>
            </a:pPr>
            <a:r>
              <a:rPr sz="1200" b="1" spc="-20" dirty="0">
                <a:cs typeface="Tahoma"/>
              </a:rPr>
              <a:t>Why</a:t>
            </a:r>
            <a:r>
              <a:rPr sz="1200" b="1" spc="-65" dirty="0">
                <a:cs typeface="Tahoma"/>
              </a:rPr>
              <a:t> </a:t>
            </a:r>
            <a:r>
              <a:rPr sz="1200" b="1" spc="20" dirty="0">
                <a:cs typeface="Tahoma"/>
              </a:rPr>
              <a:t>do</a:t>
            </a:r>
            <a:r>
              <a:rPr sz="1200" b="1" spc="-55" dirty="0">
                <a:cs typeface="Tahoma"/>
              </a:rPr>
              <a:t> </a:t>
            </a:r>
            <a:r>
              <a:rPr sz="1200" b="1" spc="-15" dirty="0">
                <a:cs typeface="Tahoma"/>
              </a:rPr>
              <a:t>we</a:t>
            </a:r>
            <a:r>
              <a:rPr sz="1200" b="1" spc="-55" dirty="0">
                <a:cs typeface="Tahoma"/>
              </a:rPr>
              <a:t> </a:t>
            </a:r>
            <a:r>
              <a:rPr sz="1200" b="1" spc="25" dirty="0">
                <a:cs typeface="Tahoma"/>
              </a:rPr>
              <a:t>do</a:t>
            </a:r>
            <a:r>
              <a:rPr sz="1200" b="1" spc="-55" dirty="0">
                <a:cs typeface="Tahoma"/>
              </a:rPr>
              <a:t> </a:t>
            </a:r>
            <a:r>
              <a:rPr sz="1200" b="1" spc="-10" dirty="0">
                <a:cs typeface="Tahoma"/>
              </a:rPr>
              <a:t>like</a:t>
            </a:r>
            <a:r>
              <a:rPr sz="1200" b="1" spc="-70" dirty="0">
                <a:cs typeface="Tahoma"/>
              </a:rPr>
              <a:t> </a:t>
            </a:r>
            <a:r>
              <a:rPr sz="1200" b="1" spc="-40" dirty="0">
                <a:cs typeface="Tahoma"/>
              </a:rPr>
              <a:t>this?</a:t>
            </a:r>
            <a:r>
              <a:rPr sz="1200" b="1" spc="-55" dirty="0">
                <a:cs typeface="Tahoma"/>
              </a:rPr>
              <a:t> </a:t>
            </a:r>
            <a:r>
              <a:rPr sz="1200" spc="30" dirty="0">
                <a:cs typeface="Tahoma"/>
              </a:rPr>
              <a:t>Because</a:t>
            </a:r>
            <a:r>
              <a:rPr sz="1200" spc="-70" dirty="0">
                <a:cs typeface="Tahoma"/>
              </a:rPr>
              <a:t> </a:t>
            </a:r>
            <a:r>
              <a:rPr sz="1200" spc="15" dirty="0">
                <a:cs typeface="Tahoma"/>
              </a:rPr>
              <a:t>the</a:t>
            </a:r>
            <a:r>
              <a:rPr sz="1200" spc="-75" dirty="0">
                <a:cs typeface="Tahoma"/>
              </a:rPr>
              <a:t> </a:t>
            </a:r>
            <a:r>
              <a:rPr sz="1200" spc="30" dirty="0">
                <a:cs typeface="Tahoma"/>
              </a:rPr>
              <a:t>KV-Cache</a:t>
            </a:r>
            <a:r>
              <a:rPr sz="1200" spc="-65" dirty="0">
                <a:cs typeface="Tahoma"/>
              </a:rPr>
              <a:t> </a:t>
            </a:r>
            <a:r>
              <a:rPr sz="1200" spc="5" dirty="0">
                <a:cs typeface="Tahoma"/>
              </a:rPr>
              <a:t>has</a:t>
            </a:r>
            <a:r>
              <a:rPr sz="1200" spc="-70" dirty="0">
                <a:cs typeface="Tahoma"/>
              </a:rPr>
              <a:t> </a:t>
            </a:r>
            <a:r>
              <a:rPr sz="1200" spc="10" dirty="0">
                <a:cs typeface="Tahoma"/>
              </a:rPr>
              <a:t>a</a:t>
            </a:r>
            <a:r>
              <a:rPr sz="1200" spc="-80" dirty="0">
                <a:cs typeface="Tahoma"/>
              </a:rPr>
              <a:t> </a:t>
            </a:r>
            <a:r>
              <a:rPr sz="1200" spc="20" dirty="0">
                <a:cs typeface="Tahoma"/>
              </a:rPr>
              <a:t>fixed </a:t>
            </a:r>
            <a:r>
              <a:rPr sz="1200" spc="-360" dirty="0">
                <a:cs typeface="Tahoma"/>
              </a:rPr>
              <a:t> </a:t>
            </a:r>
            <a:r>
              <a:rPr sz="1200" dirty="0">
                <a:cs typeface="Tahoma"/>
              </a:rPr>
              <a:t>size, </a:t>
            </a:r>
            <a:r>
              <a:rPr sz="1200" spc="30" dirty="0">
                <a:cs typeface="Tahoma"/>
              </a:rPr>
              <a:t>but </a:t>
            </a:r>
            <a:r>
              <a:rPr sz="1200" spc="-15" dirty="0">
                <a:cs typeface="Tahoma"/>
              </a:rPr>
              <a:t>at </a:t>
            </a:r>
            <a:r>
              <a:rPr sz="1200" spc="15" dirty="0">
                <a:cs typeface="Tahoma"/>
              </a:rPr>
              <a:t>the </a:t>
            </a:r>
            <a:r>
              <a:rPr sz="1200" spc="20" dirty="0">
                <a:cs typeface="Tahoma"/>
              </a:rPr>
              <a:t>same </a:t>
            </a:r>
            <a:r>
              <a:rPr sz="1200" spc="25" dirty="0">
                <a:cs typeface="Tahoma"/>
              </a:rPr>
              <a:t>time we </a:t>
            </a:r>
            <a:r>
              <a:rPr sz="1200" spc="55" dirty="0">
                <a:cs typeface="Tahoma"/>
              </a:rPr>
              <a:t>need </a:t>
            </a:r>
            <a:r>
              <a:rPr sz="1200" spc="20" dirty="0">
                <a:cs typeface="Tahoma"/>
              </a:rPr>
              <a:t>all these </a:t>
            </a:r>
            <a:r>
              <a:rPr sz="1200" spc="10" dirty="0">
                <a:cs typeface="Tahoma"/>
              </a:rPr>
              <a:t>attentions </a:t>
            </a:r>
            <a:r>
              <a:rPr sz="1200" spc="15" dirty="0">
                <a:cs typeface="Tahoma"/>
              </a:rPr>
              <a:t> </a:t>
            </a:r>
            <a:r>
              <a:rPr sz="1200" spc="35" dirty="0">
                <a:cs typeface="Tahoma"/>
              </a:rPr>
              <a:t>computed.</a:t>
            </a:r>
            <a:endParaRPr sz="1200">
              <a:cs typeface="Tahoma"/>
            </a:endParaRPr>
          </a:p>
        </p:txBody>
      </p:sp>
      <p:sp>
        <p:nvSpPr>
          <p:cNvPr id="9" name="object 9"/>
          <p:cNvSpPr txBox="1"/>
          <p:nvPr/>
        </p:nvSpPr>
        <p:spPr>
          <a:xfrm>
            <a:off x="6961349" y="5347552"/>
            <a:ext cx="3332479" cy="197490"/>
          </a:xfrm>
          <a:prstGeom prst="rect">
            <a:avLst/>
          </a:prstGeom>
        </p:spPr>
        <p:txBody>
          <a:bodyPr vert="horz" wrap="square" lIns="0" tIns="12700" rIns="0" bIns="0" rtlCol="0">
            <a:spAutoFit/>
          </a:bodyPr>
          <a:lstStyle/>
          <a:p>
            <a:pPr marL="12700">
              <a:lnSpc>
                <a:spcPct val="100000"/>
              </a:lnSpc>
              <a:spcBef>
                <a:spcPts val="100"/>
              </a:spcBef>
            </a:pPr>
            <a:r>
              <a:rPr sz="1200" b="1" spc="-40" dirty="0">
                <a:cs typeface="Tahoma"/>
              </a:rPr>
              <a:t>Let’s</a:t>
            </a:r>
            <a:r>
              <a:rPr sz="1200" b="1" spc="-55" dirty="0">
                <a:cs typeface="Tahoma"/>
              </a:rPr>
              <a:t> </a:t>
            </a:r>
            <a:r>
              <a:rPr sz="1200" b="1" spc="-20" dirty="0">
                <a:cs typeface="Tahoma"/>
              </a:rPr>
              <a:t>review</a:t>
            </a:r>
            <a:r>
              <a:rPr sz="1200" b="1" spc="-90" dirty="0">
                <a:cs typeface="Tahoma"/>
              </a:rPr>
              <a:t> </a:t>
            </a:r>
            <a:r>
              <a:rPr sz="1200" b="1" spc="-15" dirty="0">
                <a:cs typeface="Tahoma"/>
              </a:rPr>
              <a:t>how</a:t>
            </a:r>
            <a:r>
              <a:rPr sz="1200" b="1" spc="-45" dirty="0">
                <a:cs typeface="Tahoma"/>
              </a:rPr>
              <a:t> </a:t>
            </a:r>
            <a:r>
              <a:rPr sz="1200" b="1" spc="-40" dirty="0">
                <a:cs typeface="Tahoma"/>
              </a:rPr>
              <a:t>this</a:t>
            </a:r>
            <a:r>
              <a:rPr sz="1200" b="1" spc="-65" dirty="0">
                <a:cs typeface="Tahoma"/>
              </a:rPr>
              <a:t> </a:t>
            </a:r>
            <a:r>
              <a:rPr sz="1200" b="1" spc="-30" dirty="0">
                <a:cs typeface="Tahoma"/>
              </a:rPr>
              <a:t>is</a:t>
            </a:r>
            <a:r>
              <a:rPr sz="1200" b="1" spc="-70" dirty="0">
                <a:cs typeface="Tahoma"/>
              </a:rPr>
              <a:t> </a:t>
            </a:r>
            <a:r>
              <a:rPr sz="1200" b="1" spc="-15" dirty="0">
                <a:cs typeface="Tahoma"/>
              </a:rPr>
              <a:t>implemented</a:t>
            </a:r>
            <a:r>
              <a:rPr sz="1200" b="1" spc="-75" dirty="0">
                <a:cs typeface="Tahoma"/>
              </a:rPr>
              <a:t> </a:t>
            </a:r>
            <a:r>
              <a:rPr sz="1200" b="1" spc="-20" dirty="0">
                <a:cs typeface="Tahoma"/>
              </a:rPr>
              <a:t>in</a:t>
            </a:r>
            <a:r>
              <a:rPr sz="1200" b="1" spc="-65" dirty="0">
                <a:cs typeface="Tahoma"/>
              </a:rPr>
              <a:t> </a:t>
            </a:r>
            <a:r>
              <a:rPr sz="1200" b="1" spc="5" dirty="0">
                <a:cs typeface="Tahoma"/>
              </a:rPr>
              <a:t>code</a:t>
            </a:r>
            <a:endParaRPr sz="1200">
              <a:cs typeface="Tahoma"/>
            </a:endParaRPr>
          </a:p>
        </p:txBody>
      </p:sp>
    </p:spTree>
  </p:cSld>
  <p:clrMapOvr>
    <a:overrideClrMapping bg1="lt1" tx1="dk1" bg2="lt2" tx2="dk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8143" y="593532"/>
            <a:ext cx="10874375" cy="639956"/>
          </a:xfrm>
          <a:prstGeom prst="rect">
            <a:avLst/>
          </a:prstGeom>
        </p:spPr>
        <p:txBody>
          <a:bodyPr vert="horz" lIns="0" tIns="0" rIns="0" bIns="0" rtlCol="0" anchor="ctr">
            <a:normAutofit/>
          </a:bodyPr>
          <a:lstStyle/>
          <a:p>
            <a:r>
              <a:rPr dirty="0">
                <a:latin typeface="+mn-lt"/>
              </a:rPr>
              <a:t>Pre-fill and chunking: code reference</a:t>
            </a:r>
          </a:p>
        </p:txBody>
      </p:sp>
      <p:pic>
        <p:nvPicPr>
          <p:cNvPr id="3" name="object 3"/>
          <p:cNvPicPr/>
          <p:nvPr/>
        </p:nvPicPr>
        <p:blipFill>
          <a:blip r:embed="rId2" cstate="print"/>
          <a:stretch>
            <a:fillRect/>
          </a:stretch>
        </p:blipFill>
        <p:spPr>
          <a:xfrm>
            <a:off x="2545684" y="3508375"/>
            <a:ext cx="7587251" cy="2584450"/>
          </a:xfrm>
          <a:prstGeom prst="rect">
            <a:avLst/>
          </a:prstGeom>
        </p:spPr>
      </p:pic>
      <p:sp>
        <p:nvSpPr>
          <p:cNvPr id="4" name="object 4"/>
          <p:cNvSpPr/>
          <p:nvPr/>
        </p:nvSpPr>
        <p:spPr>
          <a:xfrm>
            <a:off x="1850241" y="3652272"/>
            <a:ext cx="441325" cy="114300"/>
          </a:xfrm>
          <a:custGeom>
            <a:avLst/>
            <a:gdLst/>
            <a:ahLst/>
            <a:cxnLst/>
            <a:rect l="l" t="t" r="r" b="b"/>
            <a:pathLst>
              <a:path w="441325" h="114300">
                <a:moveTo>
                  <a:pt x="404189" y="37972"/>
                </a:moveTo>
                <a:lnTo>
                  <a:pt x="345694" y="37972"/>
                </a:lnTo>
                <a:lnTo>
                  <a:pt x="346075" y="76072"/>
                </a:lnTo>
                <a:lnTo>
                  <a:pt x="327110" y="76268"/>
                </a:lnTo>
                <a:lnTo>
                  <a:pt x="327532" y="114300"/>
                </a:lnTo>
                <a:lnTo>
                  <a:pt x="441198" y="56006"/>
                </a:lnTo>
                <a:lnTo>
                  <a:pt x="404189" y="37972"/>
                </a:lnTo>
                <a:close/>
              </a:path>
              <a:path w="441325" h="114300">
                <a:moveTo>
                  <a:pt x="326687" y="38168"/>
                </a:moveTo>
                <a:lnTo>
                  <a:pt x="0" y="41528"/>
                </a:lnTo>
                <a:lnTo>
                  <a:pt x="507" y="79628"/>
                </a:lnTo>
                <a:lnTo>
                  <a:pt x="327110" y="76268"/>
                </a:lnTo>
                <a:lnTo>
                  <a:pt x="326687" y="38168"/>
                </a:lnTo>
                <a:close/>
              </a:path>
              <a:path w="441325" h="114300">
                <a:moveTo>
                  <a:pt x="345694" y="37972"/>
                </a:moveTo>
                <a:lnTo>
                  <a:pt x="326687" y="38168"/>
                </a:lnTo>
                <a:lnTo>
                  <a:pt x="327110" y="76268"/>
                </a:lnTo>
                <a:lnTo>
                  <a:pt x="346075" y="76072"/>
                </a:lnTo>
                <a:lnTo>
                  <a:pt x="345694" y="37972"/>
                </a:lnTo>
                <a:close/>
              </a:path>
              <a:path w="441325" h="114300">
                <a:moveTo>
                  <a:pt x="326263" y="0"/>
                </a:moveTo>
                <a:lnTo>
                  <a:pt x="326687" y="38168"/>
                </a:lnTo>
                <a:lnTo>
                  <a:pt x="345694" y="37972"/>
                </a:lnTo>
                <a:lnTo>
                  <a:pt x="404189" y="37972"/>
                </a:lnTo>
                <a:lnTo>
                  <a:pt x="326263" y="0"/>
                </a:lnTo>
                <a:close/>
              </a:path>
            </a:pathLst>
          </a:custGeom>
          <a:solidFill>
            <a:srgbClr val="ED7660"/>
          </a:solidFill>
        </p:spPr>
        <p:txBody>
          <a:bodyPr wrap="square" lIns="0" tIns="0" rIns="0" bIns="0" rtlCol="0"/>
          <a:lstStyle/>
          <a:p>
            <a:endParaRPr/>
          </a:p>
        </p:txBody>
      </p:sp>
      <p:sp>
        <p:nvSpPr>
          <p:cNvPr id="5" name="object 5"/>
          <p:cNvSpPr txBox="1"/>
          <p:nvPr/>
        </p:nvSpPr>
        <p:spPr>
          <a:xfrm>
            <a:off x="674222" y="1679454"/>
            <a:ext cx="9712960" cy="2861310"/>
          </a:xfrm>
          <a:prstGeom prst="rect">
            <a:avLst/>
          </a:prstGeom>
        </p:spPr>
        <p:txBody>
          <a:bodyPr vert="horz" wrap="square" lIns="0" tIns="12700" rIns="0" bIns="0" rtlCol="0">
            <a:spAutoFit/>
          </a:bodyPr>
          <a:lstStyle/>
          <a:p>
            <a:pPr marL="12700">
              <a:lnSpc>
                <a:spcPct val="100000"/>
              </a:lnSpc>
              <a:spcBef>
                <a:spcPts val="100"/>
              </a:spcBef>
            </a:pPr>
            <a:r>
              <a:rPr sz="1200" b="1" spc="10" dirty="0">
                <a:cs typeface="Tahoma"/>
              </a:rPr>
              <a:t>Only</a:t>
            </a:r>
            <a:r>
              <a:rPr sz="1200" b="1" spc="-60" dirty="0">
                <a:cs typeface="Tahoma"/>
              </a:rPr>
              <a:t> </a:t>
            </a:r>
            <a:r>
              <a:rPr sz="1200" b="1" spc="-10" dirty="0">
                <a:cs typeface="Tahoma"/>
              </a:rPr>
              <a:t>during</a:t>
            </a:r>
            <a:r>
              <a:rPr sz="1200" b="1" spc="-70" dirty="0">
                <a:cs typeface="Tahoma"/>
              </a:rPr>
              <a:t> </a:t>
            </a:r>
            <a:r>
              <a:rPr sz="1200" b="1" spc="-15" dirty="0">
                <a:cs typeface="Tahoma"/>
              </a:rPr>
              <a:t>prefill</a:t>
            </a:r>
            <a:r>
              <a:rPr sz="1200" b="1" spc="-55" dirty="0">
                <a:cs typeface="Tahoma"/>
              </a:rPr>
              <a:t> </a:t>
            </a:r>
            <a:r>
              <a:rPr sz="1200" b="1" spc="-30" dirty="0">
                <a:cs typeface="Tahoma"/>
              </a:rPr>
              <a:t>the</a:t>
            </a:r>
            <a:r>
              <a:rPr sz="1200" b="1" spc="-55" dirty="0">
                <a:cs typeface="Tahoma"/>
              </a:rPr>
              <a:t> </a:t>
            </a:r>
            <a:r>
              <a:rPr sz="1200" b="1" spc="-35" dirty="0">
                <a:cs typeface="Tahoma"/>
              </a:rPr>
              <a:t>attention</a:t>
            </a:r>
            <a:r>
              <a:rPr sz="1200" b="1" spc="-55" dirty="0">
                <a:cs typeface="Tahoma"/>
              </a:rPr>
              <a:t> </a:t>
            </a:r>
            <a:r>
              <a:rPr sz="1200" b="1" spc="-30" dirty="0">
                <a:cs typeface="Tahoma"/>
              </a:rPr>
              <a:t>is</a:t>
            </a:r>
            <a:r>
              <a:rPr sz="1200" b="1" spc="-70" dirty="0">
                <a:cs typeface="Tahoma"/>
              </a:rPr>
              <a:t> </a:t>
            </a:r>
            <a:r>
              <a:rPr sz="1200" b="1" spc="-25" dirty="0">
                <a:cs typeface="Tahoma"/>
              </a:rPr>
              <a:t>calculated</a:t>
            </a:r>
            <a:r>
              <a:rPr sz="1200" b="1" spc="-55" dirty="0">
                <a:cs typeface="Tahoma"/>
              </a:rPr>
              <a:t> </a:t>
            </a:r>
            <a:r>
              <a:rPr sz="1200" b="1" spc="-20" dirty="0">
                <a:cs typeface="Tahoma"/>
              </a:rPr>
              <a:t>using</a:t>
            </a:r>
            <a:r>
              <a:rPr sz="1200" b="1" spc="-70" dirty="0">
                <a:cs typeface="Tahoma"/>
              </a:rPr>
              <a:t> </a:t>
            </a:r>
            <a:r>
              <a:rPr sz="1200" b="1" spc="-35" dirty="0">
                <a:cs typeface="Tahoma"/>
              </a:rPr>
              <a:t>an</a:t>
            </a:r>
            <a:r>
              <a:rPr sz="1200" b="1" spc="-60" dirty="0">
                <a:cs typeface="Tahoma"/>
              </a:rPr>
              <a:t> </a:t>
            </a:r>
            <a:r>
              <a:rPr sz="1200" b="1" spc="-35" dirty="0">
                <a:cs typeface="Tahoma"/>
              </a:rPr>
              <a:t>attention</a:t>
            </a:r>
            <a:r>
              <a:rPr sz="1200" b="1" spc="-60" dirty="0">
                <a:cs typeface="Tahoma"/>
              </a:rPr>
              <a:t> </a:t>
            </a:r>
            <a:r>
              <a:rPr sz="1200" b="1" spc="-40" dirty="0">
                <a:cs typeface="Tahoma"/>
              </a:rPr>
              <a:t>mask</a:t>
            </a:r>
            <a:r>
              <a:rPr sz="1200" b="1" spc="-60" dirty="0">
                <a:cs typeface="Tahoma"/>
              </a:rPr>
              <a:t> </a:t>
            </a:r>
            <a:r>
              <a:rPr sz="1200" b="1" spc="-50" dirty="0">
                <a:cs typeface="Tahoma"/>
              </a:rPr>
              <a:t>that </a:t>
            </a:r>
            <a:r>
              <a:rPr sz="1200" b="1" spc="-30" dirty="0">
                <a:cs typeface="Tahoma"/>
              </a:rPr>
              <a:t>is</a:t>
            </a:r>
            <a:r>
              <a:rPr sz="1200" b="1" spc="-60" dirty="0">
                <a:cs typeface="Tahoma"/>
              </a:rPr>
              <a:t> </a:t>
            </a:r>
            <a:r>
              <a:rPr sz="1200" b="1" spc="5" dirty="0">
                <a:cs typeface="Tahoma"/>
              </a:rPr>
              <a:t>bigger</a:t>
            </a:r>
            <a:r>
              <a:rPr sz="1200" b="1" spc="-80" dirty="0">
                <a:cs typeface="Tahoma"/>
              </a:rPr>
              <a:t> </a:t>
            </a:r>
            <a:r>
              <a:rPr sz="1200" b="1" spc="-40" dirty="0">
                <a:cs typeface="Tahoma"/>
              </a:rPr>
              <a:t>than</a:t>
            </a:r>
            <a:r>
              <a:rPr sz="1200" b="1" spc="-75" dirty="0">
                <a:cs typeface="Tahoma"/>
              </a:rPr>
              <a:t> </a:t>
            </a:r>
            <a:r>
              <a:rPr sz="1200" b="1" spc="-30" dirty="0">
                <a:cs typeface="Tahoma"/>
              </a:rPr>
              <a:t>the</a:t>
            </a:r>
            <a:r>
              <a:rPr sz="1200" b="1" spc="-45" dirty="0">
                <a:cs typeface="Tahoma"/>
              </a:rPr>
              <a:t> </a:t>
            </a:r>
            <a:r>
              <a:rPr sz="1200" b="1" spc="-25" dirty="0">
                <a:cs typeface="Tahoma"/>
              </a:rPr>
              <a:t>KV-Cache.</a:t>
            </a:r>
            <a:endParaRPr sz="1200" dirty="0">
              <a:cs typeface="Tahoma"/>
            </a:endParaRPr>
          </a:p>
          <a:p>
            <a:pPr marL="12700">
              <a:lnSpc>
                <a:spcPts val="1370"/>
              </a:lnSpc>
              <a:spcBef>
                <a:spcPts val="865"/>
              </a:spcBef>
            </a:pPr>
            <a:r>
              <a:rPr sz="1200" spc="55" dirty="0">
                <a:cs typeface="Tahoma"/>
              </a:rPr>
              <a:t>As</a:t>
            </a:r>
            <a:r>
              <a:rPr sz="1200" spc="-65" dirty="0">
                <a:cs typeface="Tahoma"/>
              </a:rPr>
              <a:t> </a:t>
            </a:r>
            <a:r>
              <a:rPr sz="1200" spc="30" dirty="0">
                <a:cs typeface="Tahoma"/>
              </a:rPr>
              <a:t>you</a:t>
            </a:r>
            <a:r>
              <a:rPr sz="1200" spc="-70" dirty="0">
                <a:cs typeface="Tahoma"/>
              </a:rPr>
              <a:t> </a:t>
            </a:r>
            <a:r>
              <a:rPr sz="1200" spc="25" dirty="0">
                <a:cs typeface="Tahoma"/>
              </a:rPr>
              <a:t>can</a:t>
            </a:r>
            <a:r>
              <a:rPr sz="1200" spc="-65" dirty="0">
                <a:cs typeface="Tahoma"/>
              </a:rPr>
              <a:t> </a:t>
            </a:r>
            <a:r>
              <a:rPr sz="1200" spc="10" dirty="0">
                <a:cs typeface="Tahoma"/>
              </a:rPr>
              <a:t>see,</a:t>
            </a:r>
            <a:r>
              <a:rPr sz="1200" spc="-95" dirty="0">
                <a:cs typeface="Tahoma"/>
              </a:rPr>
              <a:t> </a:t>
            </a:r>
            <a:r>
              <a:rPr sz="1200" spc="40" dirty="0">
                <a:cs typeface="Tahoma"/>
              </a:rPr>
              <a:t>during</a:t>
            </a:r>
            <a:r>
              <a:rPr sz="1200" spc="-65" dirty="0">
                <a:cs typeface="Tahoma"/>
              </a:rPr>
              <a:t> </a:t>
            </a:r>
            <a:r>
              <a:rPr sz="1200" spc="15" dirty="0">
                <a:cs typeface="Tahoma"/>
              </a:rPr>
              <a:t>the</a:t>
            </a:r>
            <a:r>
              <a:rPr sz="1200" spc="-70" dirty="0">
                <a:cs typeface="Tahoma"/>
              </a:rPr>
              <a:t> </a:t>
            </a:r>
            <a:r>
              <a:rPr sz="1200" spc="20" dirty="0">
                <a:cs typeface="Tahoma"/>
              </a:rPr>
              <a:t>prefill</a:t>
            </a:r>
            <a:r>
              <a:rPr sz="1200" spc="-55" dirty="0">
                <a:cs typeface="Tahoma"/>
              </a:rPr>
              <a:t> </a:t>
            </a:r>
            <a:r>
              <a:rPr sz="1200" spc="25" dirty="0">
                <a:cs typeface="Tahoma"/>
              </a:rPr>
              <a:t>of</a:t>
            </a:r>
            <a:r>
              <a:rPr sz="1200" spc="-40" dirty="0">
                <a:cs typeface="Tahoma"/>
              </a:rPr>
              <a:t> </a:t>
            </a:r>
            <a:r>
              <a:rPr sz="1200" spc="15" dirty="0">
                <a:cs typeface="Tahoma"/>
              </a:rPr>
              <a:t>the</a:t>
            </a:r>
            <a:r>
              <a:rPr sz="1200" spc="-70" dirty="0">
                <a:cs typeface="Tahoma"/>
              </a:rPr>
              <a:t> </a:t>
            </a:r>
            <a:r>
              <a:rPr sz="1200" spc="-10" dirty="0">
                <a:cs typeface="Tahoma"/>
              </a:rPr>
              <a:t>first</a:t>
            </a:r>
            <a:r>
              <a:rPr sz="1200" spc="-60" dirty="0">
                <a:cs typeface="Tahoma"/>
              </a:rPr>
              <a:t> </a:t>
            </a:r>
            <a:r>
              <a:rPr sz="1200" spc="25" dirty="0">
                <a:cs typeface="Tahoma"/>
              </a:rPr>
              <a:t>chunk</a:t>
            </a:r>
            <a:r>
              <a:rPr sz="1200" spc="-65" dirty="0">
                <a:cs typeface="Tahoma"/>
              </a:rPr>
              <a:t> </a:t>
            </a:r>
            <a:r>
              <a:rPr sz="1200" spc="40" dirty="0">
                <a:cs typeface="Tahoma"/>
              </a:rPr>
              <a:t>and</a:t>
            </a:r>
            <a:r>
              <a:rPr sz="1200" spc="-75" dirty="0">
                <a:cs typeface="Tahoma"/>
              </a:rPr>
              <a:t> </a:t>
            </a:r>
            <a:r>
              <a:rPr sz="1200" spc="15" dirty="0">
                <a:cs typeface="Tahoma"/>
              </a:rPr>
              <a:t>the</a:t>
            </a:r>
            <a:r>
              <a:rPr sz="1200" spc="-85" dirty="0">
                <a:cs typeface="Tahoma"/>
              </a:rPr>
              <a:t> </a:t>
            </a:r>
            <a:r>
              <a:rPr sz="1200" spc="30" dirty="0">
                <a:cs typeface="Tahoma"/>
              </a:rPr>
              <a:t>subsequent</a:t>
            </a:r>
            <a:r>
              <a:rPr sz="1200" spc="-35" dirty="0">
                <a:cs typeface="Tahoma"/>
              </a:rPr>
              <a:t> </a:t>
            </a:r>
            <a:r>
              <a:rPr sz="1200" spc="5" dirty="0">
                <a:cs typeface="Tahoma"/>
              </a:rPr>
              <a:t>chunks,</a:t>
            </a:r>
            <a:r>
              <a:rPr sz="1200" spc="-80" dirty="0">
                <a:cs typeface="Tahoma"/>
              </a:rPr>
              <a:t> </a:t>
            </a:r>
            <a:r>
              <a:rPr sz="1200" spc="25" dirty="0">
                <a:cs typeface="Tahoma"/>
              </a:rPr>
              <a:t>we</a:t>
            </a:r>
            <a:r>
              <a:rPr sz="1200" spc="-65" dirty="0">
                <a:cs typeface="Tahoma"/>
              </a:rPr>
              <a:t> </a:t>
            </a:r>
            <a:r>
              <a:rPr sz="1200" spc="20" dirty="0">
                <a:cs typeface="Tahoma"/>
              </a:rPr>
              <a:t>use</a:t>
            </a:r>
            <a:r>
              <a:rPr sz="1200" spc="-65" dirty="0">
                <a:cs typeface="Tahoma"/>
              </a:rPr>
              <a:t> </a:t>
            </a:r>
            <a:r>
              <a:rPr sz="1200" spc="15" dirty="0">
                <a:cs typeface="Tahoma"/>
              </a:rPr>
              <a:t>the</a:t>
            </a:r>
            <a:r>
              <a:rPr sz="1200" spc="-70" dirty="0">
                <a:cs typeface="Tahoma"/>
              </a:rPr>
              <a:t> </a:t>
            </a:r>
            <a:r>
              <a:rPr sz="1200" spc="15" dirty="0">
                <a:cs typeface="Tahoma"/>
              </a:rPr>
              <a:t>size</a:t>
            </a:r>
            <a:r>
              <a:rPr sz="1200" spc="-65" dirty="0">
                <a:cs typeface="Tahoma"/>
              </a:rPr>
              <a:t> </a:t>
            </a:r>
            <a:r>
              <a:rPr sz="1200" spc="25" dirty="0">
                <a:cs typeface="Tahoma"/>
              </a:rPr>
              <a:t>of</a:t>
            </a:r>
            <a:r>
              <a:rPr sz="1200" spc="-45" dirty="0">
                <a:cs typeface="Tahoma"/>
              </a:rPr>
              <a:t> </a:t>
            </a:r>
            <a:r>
              <a:rPr sz="1200" spc="15" dirty="0">
                <a:cs typeface="Tahoma"/>
              </a:rPr>
              <a:t>the</a:t>
            </a:r>
            <a:r>
              <a:rPr sz="1200" spc="-70" dirty="0">
                <a:cs typeface="Tahoma"/>
              </a:rPr>
              <a:t> </a:t>
            </a:r>
            <a:r>
              <a:rPr sz="1200" spc="35" dirty="0">
                <a:cs typeface="Tahoma"/>
              </a:rPr>
              <a:t>KV-Cache</a:t>
            </a:r>
            <a:r>
              <a:rPr sz="1200" spc="-65" dirty="0">
                <a:cs typeface="Tahoma"/>
              </a:rPr>
              <a:t> </a:t>
            </a:r>
            <a:r>
              <a:rPr sz="1200" spc="40" dirty="0">
                <a:cs typeface="Tahoma"/>
              </a:rPr>
              <a:t>and</a:t>
            </a:r>
            <a:r>
              <a:rPr sz="1200" spc="-75" dirty="0">
                <a:cs typeface="Tahoma"/>
              </a:rPr>
              <a:t> </a:t>
            </a:r>
            <a:r>
              <a:rPr sz="1200" spc="15" dirty="0">
                <a:cs typeface="Tahoma"/>
              </a:rPr>
              <a:t>the</a:t>
            </a:r>
            <a:r>
              <a:rPr sz="1200" spc="-70" dirty="0">
                <a:cs typeface="Tahoma"/>
              </a:rPr>
              <a:t> </a:t>
            </a:r>
            <a:r>
              <a:rPr sz="1200" spc="40" dirty="0">
                <a:cs typeface="Tahoma"/>
              </a:rPr>
              <a:t>number</a:t>
            </a:r>
            <a:r>
              <a:rPr sz="1200" spc="-45" dirty="0">
                <a:cs typeface="Tahoma"/>
              </a:rPr>
              <a:t> </a:t>
            </a:r>
            <a:r>
              <a:rPr sz="1200" spc="25" dirty="0">
                <a:cs typeface="Tahoma"/>
              </a:rPr>
              <a:t>of</a:t>
            </a:r>
            <a:r>
              <a:rPr sz="1200" spc="-45" dirty="0">
                <a:cs typeface="Tahoma"/>
              </a:rPr>
              <a:t> </a:t>
            </a:r>
            <a:r>
              <a:rPr sz="1200" spc="20" dirty="0">
                <a:cs typeface="Tahoma"/>
              </a:rPr>
              <a:t>tokens</a:t>
            </a:r>
            <a:r>
              <a:rPr sz="1200" spc="-65" dirty="0">
                <a:cs typeface="Tahoma"/>
              </a:rPr>
              <a:t> </a:t>
            </a:r>
            <a:r>
              <a:rPr sz="1200" spc="25" dirty="0">
                <a:cs typeface="Tahoma"/>
              </a:rPr>
              <a:t>in</a:t>
            </a:r>
            <a:endParaRPr sz="1200" dirty="0">
              <a:cs typeface="Tahoma"/>
            </a:endParaRPr>
          </a:p>
          <a:p>
            <a:pPr marL="12700">
              <a:lnSpc>
                <a:spcPts val="1370"/>
              </a:lnSpc>
            </a:pPr>
            <a:r>
              <a:rPr sz="1200" spc="20" dirty="0">
                <a:cs typeface="Tahoma"/>
              </a:rPr>
              <a:t>the</a:t>
            </a:r>
            <a:r>
              <a:rPr sz="1200" spc="-85" dirty="0">
                <a:cs typeface="Tahoma"/>
              </a:rPr>
              <a:t> </a:t>
            </a:r>
            <a:r>
              <a:rPr sz="1200" spc="10" dirty="0">
                <a:cs typeface="Tahoma"/>
              </a:rPr>
              <a:t>current</a:t>
            </a:r>
            <a:r>
              <a:rPr sz="1200" spc="-65" dirty="0">
                <a:cs typeface="Tahoma"/>
              </a:rPr>
              <a:t> </a:t>
            </a:r>
            <a:r>
              <a:rPr sz="1200" spc="25" dirty="0">
                <a:cs typeface="Tahoma"/>
              </a:rPr>
              <a:t>chunk</a:t>
            </a:r>
            <a:r>
              <a:rPr sz="1200" spc="-70" dirty="0">
                <a:cs typeface="Tahoma"/>
              </a:rPr>
              <a:t> </a:t>
            </a:r>
            <a:r>
              <a:rPr sz="1200" spc="30" dirty="0">
                <a:cs typeface="Tahoma"/>
              </a:rPr>
              <a:t>to</a:t>
            </a:r>
            <a:r>
              <a:rPr sz="1200" spc="-75" dirty="0">
                <a:cs typeface="Tahoma"/>
              </a:rPr>
              <a:t> </a:t>
            </a:r>
            <a:r>
              <a:rPr sz="1200" spc="25" dirty="0">
                <a:cs typeface="Tahoma"/>
              </a:rPr>
              <a:t>generate</a:t>
            </a:r>
            <a:r>
              <a:rPr sz="1200" spc="-60" dirty="0">
                <a:cs typeface="Tahoma"/>
              </a:rPr>
              <a:t> </a:t>
            </a:r>
            <a:r>
              <a:rPr sz="1200" spc="20" dirty="0">
                <a:cs typeface="Tahoma"/>
              </a:rPr>
              <a:t>the</a:t>
            </a:r>
            <a:r>
              <a:rPr sz="1200" spc="-85" dirty="0">
                <a:cs typeface="Tahoma"/>
              </a:rPr>
              <a:t> </a:t>
            </a:r>
            <a:r>
              <a:rPr sz="1200" spc="15" dirty="0">
                <a:cs typeface="Tahoma"/>
              </a:rPr>
              <a:t>attention</a:t>
            </a:r>
            <a:r>
              <a:rPr sz="1200" spc="-95" dirty="0">
                <a:cs typeface="Tahoma"/>
              </a:rPr>
              <a:t> </a:t>
            </a:r>
            <a:r>
              <a:rPr sz="1200" spc="-5" dirty="0">
                <a:cs typeface="Tahoma"/>
              </a:rPr>
              <a:t>mask.</a:t>
            </a:r>
            <a:endParaRPr sz="1200" dirty="0">
              <a:cs typeface="Tahoma"/>
            </a:endParaRPr>
          </a:p>
          <a:p>
            <a:pPr marL="12700" marR="15875">
              <a:lnSpc>
                <a:spcPts val="1300"/>
              </a:lnSpc>
              <a:spcBef>
                <a:spcPts val="1015"/>
              </a:spcBef>
            </a:pPr>
            <a:r>
              <a:rPr sz="1200" spc="45" dirty="0">
                <a:cs typeface="Tahoma"/>
              </a:rPr>
              <a:t>During</a:t>
            </a:r>
            <a:r>
              <a:rPr sz="1200" spc="-50" dirty="0">
                <a:cs typeface="Tahoma"/>
              </a:rPr>
              <a:t> </a:t>
            </a:r>
            <a:r>
              <a:rPr sz="1200" spc="5" dirty="0">
                <a:cs typeface="Tahoma"/>
              </a:rPr>
              <a:t>pre-fill,</a:t>
            </a:r>
            <a:r>
              <a:rPr sz="1200" spc="-85" dirty="0">
                <a:cs typeface="Tahoma"/>
              </a:rPr>
              <a:t> </a:t>
            </a:r>
            <a:r>
              <a:rPr sz="1200" spc="15" dirty="0">
                <a:cs typeface="Tahoma"/>
              </a:rPr>
              <a:t>the</a:t>
            </a:r>
            <a:r>
              <a:rPr sz="1200" spc="-70" dirty="0">
                <a:cs typeface="Tahoma"/>
              </a:rPr>
              <a:t> </a:t>
            </a:r>
            <a:r>
              <a:rPr sz="1200" spc="10" dirty="0">
                <a:cs typeface="Tahoma"/>
              </a:rPr>
              <a:t>attention</a:t>
            </a:r>
            <a:r>
              <a:rPr sz="1200" spc="-80" dirty="0">
                <a:cs typeface="Tahoma"/>
              </a:rPr>
              <a:t> </a:t>
            </a:r>
            <a:r>
              <a:rPr sz="1200" spc="10" dirty="0">
                <a:cs typeface="Tahoma"/>
              </a:rPr>
              <a:t>mask</a:t>
            </a:r>
            <a:r>
              <a:rPr sz="1200" spc="-60" dirty="0">
                <a:cs typeface="Tahoma"/>
              </a:rPr>
              <a:t> </a:t>
            </a:r>
            <a:r>
              <a:rPr sz="1200" spc="10" dirty="0">
                <a:cs typeface="Tahoma"/>
              </a:rPr>
              <a:t>is</a:t>
            </a:r>
            <a:r>
              <a:rPr sz="1200" spc="-65" dirty="0">
                <a:cs typeface="Tahoma"/>
              </a:rPr>
              <a:t> </a:t>
            </a:r>
            <a:r>
              <a:rPr sz="1200" spc="30" dirty="0">
                <a:cs typeface="Tahoma"/>
              </a:rPr>
              <a:t>calculated</a:t>
            </a:r>
            <a:r>
              <a:rPr sz="1200" spc="-65" dirty="0">
                <a:cs typeface="Tahoma"/>
              </a:rPr>
              <a:t> </a:t>
            </a:r>
            <a:r>
              <a:rPr sz="1200" spc="30" dirty="0">
                <a:cs typeface="Tahoma"/>
              </a:rPr>
              <a:t>using</a:t>
            </a:r>
            <a:r>
              <a:rPr sz="1200" spc="-55" dirty="0">
                <a:cs typeface="Tahoma"/>
              </a:rPr>
              <a:t> </a:t>
            </a:r>
            <a:r>
              <a:rPr sz="1200" spc="15" dirty="0">
                <a:cs typeface="Tahoma"/>
              </a:rPr>
              <a:t>the</a:t>
            </a:r>
            <a:r>
              <a:rPr sz="1200" spc="-70" dirty="0">
                <a:cs typeface="Tahoma"/>
              </a:rPr>
              <a:t> </a:t>
            </a:r>
            <a:r>
              <a:rPr sz="1200" spc="30" dirty="0">
                <a:cs typeface="Tahoma"/>
              </a:rPr>
              <a:t>KV-Cache</a:t>
            </a:r>
            <a:r>
              <a:rPr sz="1200" spc="-65" dirty="0">
                <a:cs typeface="Tahoma"/>
              </a:rPr>
              <a:t> </a:t>
            </a:r>
            <a:r>
              <a:rPr sz="1200" spc="-75" dirty="0">
                <a:cs typeface="Tahoma"/>
              </a:rPr>
              <a:t>+</a:t>
            </a:r>
            <a:r>
              <a:rPr sz="1200" spc="-70" dirty="0">
                <a:cs typeface="Tahoma"/>
              </a:rPr>
              <a:t> </a:t>
            </a:r>
            <a:r>
              <a:rPr sz="1200" spc="15" dirty="0">
                <a:cs typeface="Tahoma"/>
              </a:rPr>
              <a:t>the</a:t>
            </a:r>
            <a:r>
              <a:rPr sz="1200" spc="-70" dirty="0">
                <a:cs typeface="Tahoma"/>
              </a:rPr>
              <a:t> </a:t>
            </a:r>
            <a:r>
              <a:rPr sz="1200" spc="20" dirty="0">
                <a:cs typeface="Tahoma"/>
              </a:rPr>
              <a:t>tokens</a:t>
            </a:r>
            <a:r>
              <a:rPr sz="1200" spc="-60" dirty="0">
                <a:cs typeface="Tahoma"/>
              </a:rPr>
              <a:t> </a:t>
            </a:r>
            <a:r>
              <a:rPr sz="1200" spc="25" dirty="0">
                <a:cs typeface="Tahoma"/>
              </a:rPr>
              <a:t>in</a:t>
            </a:r>
            <a:r>
              <a:rPr sz="1200" spc="-65" dirty="0">
                <a:cs typeface="Tahoma"/>
              </a:rPr>
              <a:t> </a:t>
            </a:r>
            <a:r>
              <a:rPr sz="1200" spc="15" dirty="0">
                <a:cs typeface="Tahoma"/>
              </a:rPr>
              <a:t>the</a:t>
            </a:r>
            <a:r>
              <a:rPr sz="1200" spc="-70" dirty="0">
                <a:cs typeface="Tahoma"/>
              </a:rPr>
              <a:t> </a:t>
            </a:r>
            <a:r>
              <a:rPr sz="1200" spc="10" dirty="0">
                <a:cs typeface="Tahoma"/>
              </a:rPr>
              <a:t>current</a:t>
            </a:r>
            <a:r>
              <a:rPr sz="1200" spc="-55" dirty="0">
                <a:cs typeface="Tahoma"/>
              </a:rPr>
              <a:t> </a:t>
            </a:r>
            <a:r>
              <a:rPr sz="1200" spc="10" dirty="0">
                <a:cs typeface="Tahoma"/>
              </a:rPr>
              <a:t>chunk,</a:t>
            </a:r>
            <a:r>
              <a:rPr sz="1200" spc="-90" dirty="0">
                <a:cs typeface="Tahoma"/>
              </a:rPr>
              <a:t> </a:t>
            </a:r>
            <a:r>
              <a:rPr sz="1200" b="1" spc="-20" dirty="0">
                <a:cs typeface="Tahoma"/>
              </a:rPr>
              <a:t>so</a:t>
            </a:r>
            <a:r>
              <a:rPr sz="1200" b="1" spc="-55" dirty="0">
                <a:cs typeface="Tahoma"/>
              </a:rPr>
              <a:t> </a:t>
            </a:r>
            <a:r>
              <a:rPr sz="1200" b="1" spc="-30" dirty="0">
                <a:cs typeface="Tahoma"/>
              </a:rPr>
              <a:t>the</a:t>
            </a:r>
            <a:r>
              <a:rPr sz="1200" b="1" spc="-40" dirty="0">
                <a:cs typeface="Tahoma"/>
              </a:rPr>
              <a:t> </a:t>
            </a:r>
            <a:r>
              <a:rPr sz="1200" b="1" spc="-25" dirty="0">
                <a:cs typeface="Tahoma"/>
              </a:rPr>
              <a:t>size</a:t>
            </a:r>
            <a:r>
              <a:rPr sz="1200" b="1" spc="-70" dirty="0">
                <a:cs typeface="Tahoma"/>
              </a:rPr>
              <a:t> </a:t>
            </a:r>
            <a:r>
              <a:rPr sz="1200" b="1" spc="-5" dirty="0">
                <a:cs typeface="Tahoma"/>
              </a:rPr>
              <a:t>of</a:t>
            </a:r>
            <a:r>
              <a:rPr sz="1200" b="1" spc="-10" dirty="0">
                <a:cs typeface="Tahoma"/>
              </a:rPr>
              <a:t> </a:t>
            </a:r>
            <a:r>
              <a:rPr sz="1200" b="1" spc="-30" dirty="0">
                <a:cs typeface="Tahoma"/>
              </a:rPr>
              <a:t>the</a:t>
            </a:r>
            <a:r>
              <a:rPr sz="1200" b="1" spc="-55" dirty="0">
                <a:cs typeface="Tahoma"/>
              </a:rPr>
              <a:t> </a:t>
            </a:r>
            <a:r>
              <a:rPr sz="1200" b="1" spc="-35" dirty="0">
                <a:cs typeface="Tahoma"/>
              </a:rPr>
              <a:t>attention</a:t>
            </a:r>
            <a:r>
              <a:rPr sz="1200" b="1" spc="-65" dirty="0">
                <a:cs typeface="Tahoma"/>
              </a:rPr>
              <a:t> </a:t>
            </a:r>
            <a:r>
              <a:rPr sz="1200" b="1" spc="-40" dirty="0">
                <a:cs typeface="Tahoma"/>
              </a:rPr>
              <a:t>mask</a:t>
            </a:r>
            <a:r>
              <a:rPr sz="1200" b="1" spc="-45" dirty="0">
                <a:cs typeface="Tahoma"/>
              </a:rPr>
              <a:t> </a:t>
            </a:r>
            <a:r>
              <a:rPr sz="1200" b="1" spc="-35" dirty="0">
                <a:cs typeface="Tahoma"/>
              </a:rPr>
              <a:t>can </a:t>
            </a:r>
            <a:r>
              <a:rPr sz="1200" b="1" spc="-335" dirty="0">
                <a:cs typeface="Tahoma"/>
              </a:rPr>
              <a:t> </a:t>
            </a:r>
            <a:r>
              <a:rPr sz="1200" b="1" spc="15" dirty="0">
                <a:cs typeface="Tahoma"/>
              </a:rPr>
              <a:t>be</a:t>
            </a:r>
            <a:r>
              <a:rPr sz="1200" b="1" spc="-65" dirty="0">
                <a:cs typeface="Tahoma"/>
              </a:rPr>
              <a:t> </a:t>
            </a:r>
            <a:r>
              <a:rPr sz="1200" b="1" spc="5" dirty="0">
                <a:cs typeface="Tahoma"/>
              </a:rPr>
              <a:t>bigger</a:t>
            </a:r>
            <a:r>
              <a:rPr sz="1200" b="1" spc="-85" dirty="0">
                <a:cs typeface="Tahoma"/>
              </a:rPr>
              <a:t> </a:t>
            </a:r>
            <a:r>
              <a:rPr sz="1200" b="1" spc="-40" dirty="0">
                <a:cs typeface="Tahoma"/>
              </a:rPr>
              <a:t>than</a:t>
            </a:r>
            <a:r>
              <a:rPr sz="1200" b="1" spc="-65" dirty="0">
                <a:cs typeface="Tahoma"/>
              </a:rPr>
              <a:t> </a:t>
            </a:r>
            <a:r>
              <a:rPr sz="1200" b="1" spc="-50" dirty="0">
                <a:cs typeface="Tahoma"/>
              </a:rPr>
              <a:t>that</a:t>
            </a:r>
            <a:r>
              <a:rPr sz="1200" b="1" spc="-70" dirty="0">
                <a:cs typeface="Tahoma"/>
              </a:rPr>
              <a:t> </a:t>
            </a:r>
            <a:r>
              <a:rPr sz="1200" b="1" spc="-5" dirty="0">
                <a:cs typeface="Tahoma"/>
              </a:rPr>
              <a:t>of</a:t>
            </a:r>
            <a:r>
              <a:rPr sz="1200" b="1" spc="-15" dirty="0">
                <a:cs typeface="Tahoma"/>
              </a:rPr>
              <a:t> </a:t>
            </a:r>
            <a:r>
              <a:rPr sz="1200" b="1" spc="-30" dirty="0">
                <a:cs typeface="Tahoma"/>
              </a:rPr>
              <a:t>the</a:t>
            </a:r>
            <a:r>
              <a:rPr sz="1200" b="1" spc="-60" dirty="0">
                <a:cs typeface="Tahoma"/>
              </a:rPr>
              <a:t> </a:t>
            </a:r>
            <a:r>
              <a:rPr sz="1200" b="1" spc="-25" dirty="0">
                <a:cs typeface="Tahoma"/>
              </a:rPr>
              <a:t>KV-Cache</a:t>
            </a:r>
            <a:r>
              <a:rPr sz="1200" b="1" spc="-85" dirty="0">
                <a:cs typeface="Tahoma"/>
              </a:rPr>
              <a:t> (W)</a:t>
            </a:r>
            <a:r>
              <a:rPr sz="1200" spc="-85" dirty="0">
                <a:cs typeface="Tahoma"/>
              </a:rPr>
              <a:t>.</a:t>
            </a:r>
            <a:endParaRPr sz="1200" dirty="0">
              <a:cs typeface="Tahoma"/>
            </a:endParaRPr>
          </a:p>
          <a:p>
            <a:pPr marL="12700" marR="281305">
              <a:lnSpc>
                <a:spcPts val="1300"/>
              </a:lnSpc>
              <a:spcBef>
                <a:spcPts val="985"/>
              </a:spcBef>
            </a:pPr>
            <a:r>
              <a:rPr sz="1200" spc="45" dirty="0">
                <a:cs typeface="Tahoma"/>
              </a:rPr>
              <a:t>During</a:t>
            </a:r>
            <a:r>
              <a:rPr sz="1200" spc="-50" dirty="0">
                <a:cs typeface="Tahoma"/>
              </a:rPr>
              <a:t> </a:t>
            </a:r>
            <a:r>
              <a:rPr sz="1200" spc="20" dirty="0">
                <a:cs typeface="Tahoma"/>
              </a:rPr>
              <a:t>generation,</a:t>
            </a:r>
            <a:r>
              <a:rPr sz="1200" spc="-85" dirty="0">
                <a:cs typeface="Tahoma"/>
              </a:rPr>
              <a:t> </a:t>
            </a:r>
            <a:r>
              <a:rPr sz="1200" spc="25" dirty="0">
                <a:cs typeface="Tahoma"/>
              </a:rPr>
              <a:t>we</a:t>
            </a:r>
            <a:r>
              <a:rPr sz="1200" spc="-70" dirty="0">
                <a:cs typeface="Tahoma"/>
              </a:rPr>
              <a:t> </a:t>
            </a:r>
            <a:r>
              <a:rPr sz="1200" spc="-10" dirty="0">
                <a:cs typeface="Tahoma"/>
              </a:rPr>
              <a:t>first</a:t>
            </a:r>
            <a:r>
              <a:rPr sz="1200" spc="-55" dirty="0">
                <a:cs typeface="Tahoma"/>
              </a:rPr>
              <a:t> </a:t>
            </a:r>
            <a:r>
              <a:rPr sz="1200" spc="65" dirty="0">
                <a:cs typeface="Tahoma"/>
              </a:rPr>
              <a:t>add</a:t>
            </a:r>
            <a:r>
              <a:rPr sz="1200" spc="-80" dirty="0">
                <a:cs typeface="Tahoma"/>
              </a:rPr>
              <a:t> </a:t>
            </a:r>
            <a:r>
              <a:rPr sz="1200" spc="15" dirty="0">
                <a:cs typeface="Tahoma"/>
              </a:rPr>
              <a:t>the</a:t>
            </a:r>
            <a:r>
              <a:rPr sz="1200" spc="-65" dirty="0">
                <a:cs typeface="Tahoma"/>
              </a:rPr>
              <a:t> </a:t>
            </a:r>
            <a:r>
              <a:rPr sz="1200" spc="25" dirty="0">
                <a:cs typeface="Tahoma"/>
              </a:rPr>
              <a:t>previous</a:t>
            </a:r>
            <a:r>
              <a:rPr sz="1200" spc="-40" dirty="0">
                <a:cs typeface="Tahoma"/>
              </a:rPr>
              <a:t> </a:t>
            </a:r>
            <a:r>
              <a:rPr sz="1200" spc="25" dirty="0">
                <a:cs typeface="Tahoma"/>
              </a:rPr>
              <a:t>token</a:t>
            </a:r>
            <a:r>
              <a:rPr sz="1200" spc="-75" dirty="0">
                <a:cs typeface="Tahoma"/>
              </a:rPr>
              <a:t> </a:t>
            </a:r>
            <a:r>
              <a:rPr sz="1200" spc="30" dirty="0">
                <a:cs typeface="Tahoma"/>
              </a:rPr>
              <a:t>to</a:t>
            </a:r>
            <a:r>
              <a:rPr sz="1200" spc="-65" dirty="0">
                <a:cs typeface="Tahoma"/>
              </a:rPr>
              <a:t> </a:t>
            </a:r>
            <a:r>
              <a:rPr sz="1200" spc="20" dirty="0">
                <a:cs typeface="Tahoma"/>
              </a:rPr>
              <a:t>the</a:t>
            </a:r>
            <a:r>
              <a:rPr sz="1200" spc="-75" dirty="0">
                <a:cs typeface="Tahoma"/>
              </a:rPr>
              <a:t> </a:t>
            </a:r>
            <a:r>
              <a:rPr sz="1200" spc="30" dirty="0">
                <a:cs typeface="Tahoma"/>
              </a:rPr>
              <a:t>KV-Cache</a:t>
            </a:r>
            <a:r>
              <a:rPr sz="1200" spc="-60" dirty="0">
                <a:cs typeface="Tahoma"/>
              </a:rPr>
              <a:t> </a:t>
            </a:r>
            <a:r>
              <a:rPr sz="1200" spc="40" dirty="0">
                <a:cs typeface="Tahoma"/>
              </a:rPr>
              <a:t>and</a:t>
            </a:r>
            <a:r>
              <a:rPr sz="1200" spc="-75" dirty="0">
                <a:cs typeface="Tahoma"/>
              </a:rPr>
              <a:t> </a:t>
            </a:r>
            <a:r>
              <a:rPr sz="1200" spc="20" dirty="0">
                <a:cs typeface="Tahoma"/>
              </a:rPr>
              <a:t>then</a:t>
            </a:r>
            <a:r>
              <a:rPr sz="1200" spc="-70" dirty="0">
                <a:cs typeface="Tahoma"/>
              </a:rPr>
              <a:t> </a:t>
            </a:r>
            <a:r>
              <a:rPr sz="1200" spc="20" dirty="0">
                <a:cs typeface="Tahoma"/>
              </a:rPr>
              <a:t>use</a:t>
            </a:r>
            <a:r>
              <a:rPr sz="1200" spc="-60" dirty="0">
                <a:cs typeface="Tahoma"/>
              </a:rPr>
              <a:t> </a:t>
            </a:r>
            <a:r>
              <a:rPr sz="1200" spc="15" dirty="0">
                <a:cs typeface="Tahoma"/>
              </a:rPr>
              <a:t>the</a:t>
            </a:r>
            <a:r>
              <a:rPr sz="1200" spc="-70" dirty="0">
                <a:cs typeface="Tahoma"/>
              </a:rPr>
              <a:t> </a:t>
            </a:r>
            <a:r>
              <a:rPr sz="1200" spc="20" dirty="0">
                <a:cs typeface="Tahoma"/>
              </a:rPr>
              <a:t>contents</a:t>
            </a:r>
            <a:r>
              <a:rPr sz="1200" spc="-60" dirty="0">
                <a:cs typeface="Tahoma"/>
              </a:rPr>
              <a:t> </a:t>
            </a:r>
            <a:r>
              <a:rPr sz="1200" spc="25" dirty="0">
                <a:cs typeface="Tahoma"/>
              </a:rPr>
              <a:t>of</a:t>
            </a:r>
            <a:r>
              <a:rPr sz="1200" spc="-45" dirty="0">
                <a:cs typeface="Tahoma"/>
              </a:rPr>
              <a:t> </a:t>
            </a:r>
            <a:r>
              <a:rPr sz="1200" spc="15" dirty="0">
                <a:cs typeface="Tahoma"/>
              </a:rPr>
              <a:t>the</a:t>
            </a:r>
            <a:r>
              <a:rPr sz="1200" spc="-65" dirty="0">
                <a:cs typeface="Tahoma"/>
              </a:rPr>
              <a:t> </a:t>
            </a:r>
            <a:r>
              <a:rPr sz="1200" spc="30" dirty="0">
                <a:cs typeface="Tahoma"/>
              </a:rPr>
              <a:t>KV-Cache</a:t>
            </a:r>
            <a:r>
              <a:rPr sz="1200" spc="-60" dirty="0">
                <a:cs typeface="Tahoma"/>
              </a:rPr>
              <a:t> </a:t>
            </a:r>
            <a:r>
              <a:rPr sz="1200" spc="30" dirty="0">
                <a:cs typeface="Tahoma"/>
              </a:rPr>
              <a:t>to</a:t>
            </a:r>
            <a:r>
              <a:rPr sz="1200" spc="-85" dirty="0">
                <a:cs typeface="Tahoma"/>
              </a:rPr>
              <a:t> </a:t>
            </a:r>
            <a:r>
              <a:rPr sz="1200" spc="25" dirty="0">
                <a:cs typeface="Tahoma"/>
              </a:rPr>
              <a:t>generate</a:t>
            </a:r>
            <a:r>
              <a:rPr sz="1200" spc="-45" dirty="0">
                <a:cs typeface="Tahoma"/>
              </a:rPr>
              <a:t> </a:t>
            </a:r>
            <a:r>
              <a:rPr sz="1200" spc="15" dirty="0">
                <a:cs typeface="Tahoma"/>
              </a:rPr>
              <a:t>the</a:t>
            </a:r>
            <a:r>
              <a:rPr sz="1200" spc="-70" dirty="0">
                <a:cs typeface="Tahoma"/>
              </a:rPr>
              <a:t> </a:t>
            </a:r>
            <a:r>
              <a:rPr sz="1200" spc="15" dirty="0">
                <a:cs typeface="Tahoma"/>
              </a:rPr>
              <a:t>attention </a:t>
            </a:r>
            <a:r>
              <a:rPr sz="1200" spc="-360" dirty="0">
                <a:cs typeface="Tahoma"/>
              </a:rPr>
              <a:t> </a:t>
            </a:r>
            <a:r>
              <a:rPr sz="1200" dirty="0">
                <a:cs typeface="Tahoma"/>
              </a:rPr>
              <a:t>mask.</a:t>
            </a:r>
            <a:r>
              <a:rPr sz="1200" spc="-90" dirty="0">
                <a:cs typeface="Tahoma"/>
              </a:rPr>
              <a:t> </a:t>
            </a:r>
            <a:r>
              <a:rPr sz="1200" b="1" spc="-10" dirty="0">
                <a:cs typeface="Tahoma"/>
              </a:rPr>
              <a:t>During</a:t>
            </a:r>
            <a:r>
              <a:rPr sz="1200" b="1" spc="-75" dirty="0">
                <a:cs typeface="Tahoma"/>
              </a:rPr>
              <a:t> </a:t>
            </a:r>
            <a:r>
              <a:rPr sz="1200" b="1" spc="-20" dirty="0">
                <a:cs typeface="Tahoma"/>
              </a:rPr>
              <a:t>generation,</a:t>
            </a:r>
            <a:r>
              <a:rPr sz="1200" b="1" spc="-125" dirty="0">
                <a:cs typeface="Tahoma"/>
              </a:rPr>
              <a:t> </a:t>
            </a:r>
            <a:r>
              <a:rPr sz="1200" b="1" spc="-30" dirty="0">
                <a:cs typeface="Tahoma"/>
              </a:rPr>
              <a:t>the</a:t>
            </a:r>
            <a:r>
              <a:rPr sz="1200" b="1" spc="-60" dirty="0">
                <a:cs typeface="Tahoma"/>
              </a:rPr>
              <a:t> </a:t>
            </a:r>
            <a:r>
              <a:rPr sz="1200" b="1" spc="-25" dirty="0">
                <a:cs typeface="Tahoma"/>
              </a:rPr>
              <a:t>size</a:t>
            </a:r>
            <a:r>
              <a:rPr sz="1200" b="1" spc="-60" dirty="0">
                <a:cs typeface="Tahoma"/>
              </a:rPr>
              <a:t> </a:t>
            </a:r>
            <a:r>
              <a:rPr sz="1200" b="1" spc="-5" dirty="0">
                <a:cs typeface="Tahoma"/>
              </a:rPr>
              <a:t>of</a:t>
            </a:r>
            <a:r>
              <a:rPr sz="1200" b="1" spc="-25" dirty="0">
                <a:cs typeface="Tahoma"/>
              </a:rPr>
              <a:t> </a:t>
            </a:r>
            <a:r>
              <a:rPr sz="1200" b="1" spc="-30" dirty="0">
                <a:cs typeface="Tahoma"/>
              </a:rPr>
              <a:t>the</a:t>
            </a:r>
            <a:r>
              <a:rPr sz="1200" b="1" spc="-60" dirty="0">
                <a:cs typeface="Tahoma"/>
              </a:rPr>
              <a:t> </a:t>
            </a:r>
            <a:r>
              <a:rPr sz="1200" b="1" spc="-35" dirty="0">
                <a:cs typeface="Tahoma"/>
              </a:rPr>
              <a:t>attention</a:t>
            </a:r>
            <a:r>
              <a:rPr sz="1200" b="1" spc="-55" dirty="0">
                <a:cs typeface="Tahoma"/>
              </a:rPr>
              <a:t> </a:t>
            </a:r>
            <a:r>
              <a:rPr sz="1200" b="1" spc="-35" dirty="0">
                <a:cs typeface="Tahoma"/>
              </a:rPr>
              <a:t>mask</a:t>
            </a:r>
            <a:r>
              <a:rPr sz="1200" b="1" spc="-60" dirty="0">
                <a:cs typeface="Tahoma"/>
              </a:rPr>
              <a:t> </a:t>
            </a:r>
            <a:r>
              <a:rPr sz="1200" b="1" spc="-30" dirty="0">
                <a:cs typeface="Tahoma"/>
              </a:rPr>
              <a:t>is</a:t>
            </a:r>
            <a:r>
              <a:rPr sz="1200" b="1" spc="-70" dirty="0">
                <a:cs typeface="Tahoma"/>
              </a:rPr>
              <a:t> </a:t>
            </a:r>
            <a:r>
              <a:rPr sz="1200" b="1" spc="-30" dirty="0">
                <a:cs typeface="Tahoma"/>
              </a:rPr>
              <a:t>the</a:t>
            </a:r>
            <a:r>
              <a:rPr sz="1200" b="1" spc="-50" dirty="0">
                <a:cs typeface="Tahoma"/>
              </a:rPr>
              <a:t> </a:t>
            </a:r>
            <a:r>
              <a:rPr sz="1200" b="1" spc="-25" dirty="0">
                <a:cs typeface="Tahoma"/>
              </a:rPr>
              <a:t>size</a:t>
            </a:r>
            <a:r>
              <a:rPr sz="1200" b="1" spc="-70" dirty="0">
                <a:cs typeface="Tahoma"/>
              </a:rPr>
              <a:t> </a:t>
            </a:r>
            <a:r>
              <a:rPr sz="1200" b="1" spc="-5" dirty="0">
                <a:cs typeface="Tahoma"/>
              </a:rPr>
              <a:t>of</a:t>
            </a:r>
            <a:r>
              <a:rPr sz="1200" b="1" spc="-25" dirty="0">
                <a:cs typeface="Tahoma"/>
              </a:rPr>
              <a:t> </a:t>
            </a:r>
            <a:r>
              <a:rPr sz="1200" b="1" spc="-30" dirty="0">
                <a:cs typeface="Tahoma"/>
              </a:rPr>
              <a:t>the</a:t>
            </a:r>
            <a:r>
              <a:rPr sz="1200" b="1" spc="-50" dirty="0">
                <a:cs typeface="Tahoma"/>
              </a:rPr>
              <a:t> </a:t>
            </a:r>
            <a:r>
              <a:rPr sz="1200" b="1" spc="-35" dirty="0">
                <a:cs typeface="Tahoma"/>
              </a:rPr>
              <a:t>KV-Cache</a:t>
            </a:r>
            <a:r>
              <a:rPr sz="1200" b="1" spc="-95" dirty="0">
                <a:cs typeface="Tahoma"/>
              </a:rPr>
              <a:t> </a:t>
            </a:r>
            <a:r>
              <a:rPr sz="1200" b="1" spc="-75" dirty="0">
                <a:cs typeface="Tahoma"/>
              </a:rPr>
              <a:t>(W).</a:t>
            </a:r>
            <a:endParaRPr sz="1200" dirty="0">
              <a:cs typeface="Tahoma"/>
            </a:endParaRPr>
          </a:p>
          <a:p>
            <a:pPr>
              <a:lnSpc>
                <a:spcPct val="100000"/>
              </a:lnSpc>
              <a:spcBef>
                <a:spcPts val="10"/>
              </a:spcBef>
            </a:pPr>
            <a:endParaRPr sz="1400" dirty="0">
              <a:cs typeface="Tahoma"/>
            </a:endParaRPr>
          </a:p>
          <a:p>
            <a:pPr marL="12700" marR="8884920">
              <a:lnSpc>
                <a:spcPct val="100000"/>
              </a:lnSpc>
            </a:pPr>
            <a:r>
              <a:rPr sz="1050" b="1" spc="-5" dirty="0">
                <a:cs typeface="Tahoma"/>
              </a:rPr>
              <a:t>F</a:t>
            </a:r>
            <a:r>
              <a:rPr sz="1050" b="1" spc="-25" dirty="0">
                <a:cs typeface="Tahoma"/>
              </a:rPr>
              <a:t>ir</a:t>
            </a:r>
            <a:r>
              <a:rPr sz="1050" b="1" spc="-30" dirty="0">
                <a:cs typeface="Tahoma"/>
              </a:rPr>
              <a:t>s</a:t>
            </a:r>
            <a:r>
              <a:rPr sz="1050" b="1" spc="-45" dirty="0">
                <a:cs typeface="Tahoma"/>
              </a:rPr>
              <a:t>t</a:t>
            </a:r>
            <a:r>
              <a:rPr sz="1050" b="1" spc="-80" dirty="0">
                <a:cs typeface="Tahoma"/>
              </a:rPr>
              <a:t> </a:t>
            </a:r>
            <a:r>
              <a:rPr sz="1050" b="1" spc="-30" dirty="0">
                <a:cs typeface="Tahoma"/>
              </a:rPr>
              <a:t>ch</a:t>
            </a:r>
            <a:r>
              <a:rPr sz="1050" b="1" spc="-15" dirty="0">
                <a:cs typeface="Tahoma"/>
              </a:rPr>
              <a:t>unk  </a:t>
            </a:r>
            <a:r>
              <a:rPr sz="1050" b="1" spc="-50" dirty="0">
                <a:cs typeface="Tahoma"/>
              </a:rPr>
              <a:t>(K</a:t>
            </a:r>
            <a:r>
              <a:rPr sz="1050" b="1" spc="10" dirty="0">
                <a:cs typeface="Tahoma"/>
              </a:rPr>
              <a:t>V</a:t>
            </a:r>
            <a:r>
              <a:rPr sz="1050" b="1" spc="-110" dirty="0">
                <a:cs typeface="Tahoma"/>
              </a:rPr>
              <a:t>-</a:t>
            </a:r>
            <a:r>
              <a:rPr sz="1050" b="1" spc="-10" dirty="0">
                <a:cs typeface="Tahoma"/>
              </a:rPr>
              <a:t>Ca</a:t>
            </a:r>
            <a:r>
              <a:rPr sz="1050" b="1" spc="-15" dirty="0">
                <a:cs typeface="Tahoma"/>
              </a:rPr>
              <a:t>c</a:t>
            </a:r>
            <a:r>
              <a:rPr sz="1050" b="1" spc="-30" dirty="0">
                <a:cs typeface="Tahoma"/>
              </a:rPr>
              <a:t>h</a:t>
            </a:r>
            <a:r>
              <a:rPr sz="1050" b="1" spc="5" dirty="0">
                <a:cs typeface="Tahoma"/>
              </a:rPr>
              <a:t>e</a:t>
            </a:r>
            <a:r>
              <a:rPr sz="1050" b="1" spc="-85" dirty="0">
                <a:cs typeface="Tahoma"/>
              </a:rPr>
              <a:t> </a:t>
            </a:r>
            <a:r>
              <a:rPr sz="1050" b="1" spc="-20" dirty="0">
                <a:cs typeface="Tahoma"/>
              </a:rPr>
              <a:t>is  </a:t>
            </a:r>
            <a:r>
              <a:rPr sz="1050" b="1" spc="-30" dirty="0">
                <a:cs typeface="Tahoma"/>
              </a:rPr>
              <a:t>empty)</a:t>
            </a:r>
            <a:endParaRPr sz="1050" dirty="0">
              <a:cs typeface="Tahoma"/>
            </a:endParaRPr>
          </a:p>
          <a:p>
            <a:pPr marL="12700" marR="8525510">
              <a:lnSpc>
                <a:spcPct val="100000"/>
              </a:lnSpc>
              <a:spcBef>
                <a:spcPts val="819"/>
              </a:spcBef>
            </a:pPr>
            <a:r>
              <a:rPr sz="1050" b="1" spc="-20" dirty="0">
                <a:cs typeface="Tahoma"/>
              </a:rPr>
              <a:t>Subsequent </a:t>
            </a:r>
            <a:r>
              <a:rPr sz="1050" b="1" spc="-15" dirty="0">
                <a:cs typeface="Tahoma"/>
              </a:rPr>
              <a:t> </a:t>
            </a:r>
            <a:r>
              <a:rPr sz="1050" b="1" spc="-30" dirty="0">
                <a:cs typeface="Tahoma"/>
              </a:rPr>
              <a:t>ch</a:t>
            </a:r>
            <a:r>
              <a:rPr sz="1050" b="1" spc="-20" dirty="0">
                <a:cs typeface="Tahoma"/>
              </a:rPr>
              <a:t>un</a:t>
            </a:r>
            <a:r>
              <a:rPr sz="1050" b="1" spc="-30" dirty="0">
                <a:cs typeface="Tahoma"/>
              </a:rPr>
              <a:t>k</a:t>
            </a:r>
            <a:r>
              <a:rPr sz="1050" b="1" spc="-45" dirty="0">
                <a:cs typeface="Tahoma"/>
              </a:rPr>
              <a:t>s</a:t>
            </a:r>
            <a:r>
              <a:rPr sz="1050" b="1" spc="-40" dirty="0">
                <a:cs typeface="Tahoma"/>
              </a:rPr>
              <a:t> </a:t>
            </a:r>
            <a:r>
              <a:rPr sz="1050" b="1" spc="-50" dirty="0">
                <a:cs typeface="Tahoma"/>
              </a:rPr>
              <a:t>(K</a:t>
            </a:r>
            <a:r>
              <a:rPr sz="1050" b="1" spc="10" dirty="0">
                <a:cs typeface="Tahoma"/>
              </a:rPr>
              <a:t>V</a:t>
            </a:r>
            <a:r>
              <a:rPr sz="1050" b="1" spc="-110" dirty="0">
                <a:cs typeface="Tahoma"/>
              </a:rPr>
              <a:t>-</a:t>
            </a:r>
            <a:r>
              <a:rPr sz="1050" b="1" spc="-10" dirty="0">
                <a:cs typeface="Tahoma"/>
              </a:rPr>
              <a:t>Ca</a:t>
            </a:r>
            <a:r>
              <a:rPr sz="1050" b="1" spc="-15" dirty="0">
                <a:cs typeface="Tahoma"/>
              </a:rPr>
              <a:t>c</a:t>
            </a:r>
            <a:r>
              <a:rPr sz="1050" b="1" spc="-30" dirty="0">
                <a:cs typeface="Tahoma"/>
              </a:rPr>
              <a:t>h</a:t>
            </a:r>
            <a:r>
              <a:rPr sz="1050" b="1" dirty="0">
                <a:cs typeface="Tahoma"/>
              </a:rPr>
              <a:t>e  </a:t>
            </a:r>
            <a:r>
              <a:rPr sz="1050" b="1" spc="-25" dirty="0">
                <a:cs typeface="Tahoma"/>
              </a:rPr>
              <a:t>is</a:t>
            </a:r>
            <a:r>
              <a:rPr sz="1050" b="1" spc="-40" dirty="0">
                <a:cs typeface="Tahoma"/>
              </a:rPr>
              <a:t> </a:t>
            </a:r>
            <a:r>
              <a:rPr sz="1050" b="1" spc="-25" dirty="0">
                <a:cs typeface="Tahoma"/>
              </a:rPr>
              <a:t>no</a:t>
            </a:r>
            <a:r>
              <a:rPr sz="1050" b="1" spc="-15" dirty="0">
                <a:cs typeface="Tahoma"/>
              </a:rPr>
              <a:t>t</a:t>
            </a:r>
            <a:r>
              <a:rPr sz="1050" b="1" spc="-65" dirty="0">
                <a:cs typeface="Tahoma"/>
              </a:rPr>
              <a:t> </a:t>
            </a:r>
            <a:r>
              <a:rPr sz="1050" b="1" spc="-5" dirty="0">
                <a:cs typeface="Tahoma"/>
              </a:rPr>
              <a:t>e</a:t>
            </a:r>
            <a:r>
              <a:rPr sz="1050" b="1" spc="-35" dirty="0">
                <a:cs typeface="Tahoma"/>
              </a:rPr>
              <a:t>m</a:t>
            </a:r>
            <a:r>
              <a:rPr sz="1050" b="1" spc="-15" dirty="0">
                <a:cs typeface="Tahoma"/>
              </a:rPr>
              <a:t>p</a:t>
            </a:r>
            <a:r>
              <a:rPr sz="1050" b="1" spc="-5" dirty="0">
                <a:cs typeface="Tahoma"/>
              </a:rPr>
              <a:t>t</a:t>
            </a:r>
            <a:r>
              <a:rPr sz="1050" b="1" spc="-65" dirty="0">
                <a:cs typeface="Tahoma"/>
              </a:rPr>
              <a:t>y)</a:t>
            </a:r>
            <a:endParaRPr sz="1050" dirty="0">
              <a:cs typeface="Tahoma"/>
            </a:endParaRPr>
          </a:p>
        </p:txBody>
      </p:sp>
      <p:sp>
        <p:nvSpPr>
          <p:cNvPr id="6" name="object 6"/>
          <p:cNvSpPr/>
          <p:nvPr/>
        </p:nvSpPr>
        <p:spPr>
          <a:xfrm>
            <a:off x="1960224" y="4239393"/>
            <a:ext cx="331470" cy="114300"/>
          </a:xfrm>
          <a:custGeom>
            <a:avLst/>
            <a:gdLst/>
            <a:ahLst/>
            <a:cxnLst/>
            <a:rect l="l" t="t" r="r" b="b"/>
            <a:pathLst>
              <a:path w="331469" h="114300">
                <a:moveTo>
                  <a:pt x="216662" y="0"/>
                </a:moveTo>
                <a:lnTo>
                  <a:pt x="216662" y="114300"/>
                </a:lnTo>
                <a:lnTo>
                  <a:pt x="292862" y="76200"/>
                </a:lnTo>
                <a:lnTo>
                  <a:pt x="235712" y="76200"/>
                </a:lnTo>
                <a:lnTo>
                  <a:pt x="235712" y="38100"/>
                </a:lnTo>
                <a:lnTo>
                  <a:pt x="292862" y="38100"/>
                </a:lnTo>
                <a:lnTo>
                  <a:pt x="216662" y="0"/>
                </a:lnTo>
                <a:close/>
              </a:path>
              <a:path w="331469" h="114300">
                <a:moveTo>
                  <a:pt x="216662" y="38100"/>
                </a:moveTo>
                <a:lnTo>
                  <a:pt x="0" y="38100"/>
                </a:lnTo>
                <a:lnTo>
                  <a:pt x="0" y="76200"/>
                </a:lnTo>
                <a:lnTo>
                  <a:pt x="216662" y="76200"/>
                </a:lnTo>
                <a:lnTo>
                  <a:pt x="216662" y="38100"/>
                </a:lnTo>
                <a:close/>
              </a:path>
              <a:path w="331469" h="114300">
                <a:moveTo>
                  <a:pt x="292862" y="38100"/>
                </a:moveTo>
                <a:lnTo>
                  <a:pt x="235712" y="38100"/>
                </a:lnTo>
                <a:lnTo>
                  <a:pt x="235712" y="76200"/>
                </a:lnTo>
                <a:lnTo>
                  <a:pt x="292862" y="76200"/>
                </a:lnTo>
                <a:lnTo>
                  <a:pt x="330962" y="57150"/>
                </a:lnTo>
                <a:lnTo>
                  <a:pt x="292862" y="38100"/>
                </a:lnTo>
                <a:close/>
              </a:path>
            </a:pathLst>
          </a:custGeom>
          <a:solidFill>
            <a:srgbClr val="ED7660"/>
          </a:solidFill>
        </p:spPr>
        <p:txBody>
          <a:bodyPr wrap="square" lIns="0" tIns="0" rIns="0" bIns="0" rtlCol="0"/>
          <a:lstStyle/>
          <a:p>
            <a:endParaRPr/>
          </a:p>
        </p:txBody>
      </p:sp>
      <p:sp>
        <p:nvSpPr>
          <p:cNvPr id="7" name="object 7"/>
          <p:cNvSpPr/>
          <p:nvPr/>
        </p:nvSpPr>
        <p:spPr>
          <a:xfrm>
            <a:off x="1705715" y="5374773"/>
            <a:ext cx="776605" cy="114300"/>
          </a:xfrm>
          <a:custGeom>
            <a:avLst/>
            <a:gdLst/>
            <a:ahLst/>
            <a:cxnLst/>
            <a:rect l="l" t="t" r="r" b="b"/>
            <a:pathLst>
              <a:path w="776605" h="114300">
                <a:moveTo>
                  <a:pt x="661796" y="0"/>
                </a:moveTo>
                <a:lnTo>
                  <a:pt x="661796" y="114300"/>
                </a:lnTo>
                <a:lnTo>
                  <a:pt x="737996" y="76200"/>
                </a:lnTo>
                <a:lnTo>
                  <a:pt x="680846" y="76200"/>
                </a:lnTo>
                <a:lnTo>
                  <a:pt x="680846" y="38100"/>
                </a:lnTo>
                <a:lnTo>
                  <a:pt x="737996" y="38100"/>
                </a:lnTo>
                <a:lnTo>
                  <a:pt x="661796" y="0"/>
                </a:lnTo>
                <a:close/>
              </a:path>
              <a:path w="776605" h="114300">
                <a:moveTo>
                  <a:pt x="661796" y="38100"/>
                </a:moveTo>
                <a:lnTo>
                  <a:pt x="0" y="38100"/>
                </a:lnTo>
                <a:lnTo>
                  <a:pt x="0" y="76200"/>
                </a:lnTo>
                <a:lnTo>
                  <a:pt x="661796" y="76200"/>
                </a:lnTo>
                <a:lnTo>
                  <a:pt x="661796" y="38100"/>
                </a:lnTo>
                <a:close/>
              </a:path>
              <a:path w="776605" h="114300">
                <a:moveTo>
                  <a:pt x="737996" y="38100"/>
                </a:moveTo>
                <a:lnTo>
                  <a:pt x="680846" y="38100"/>
                </a:lnTo>
                <a:lnTo>
                  <a:pt x="680846" y="76200"/>
                </a:lnTo>
                <a:lnTo>
                  <a:pt x="737996" y="76200"/>
                </a:lnTo>
                <a:lnTo>
                  <a:pt x="776096" y="57150"/>
                </a:lnTo>
                <a:lnTo>
                  <a:pt x="737996" y="38100"/>
                </a:lnTo>
                <a:close/>
              </a:path>
            </a:pathLst>
          </a:custGeom>
          <a:solidFill>
            <a:srgbClr val="ED7660"/>
          </a:solidFill>
        </p:spPr>
        <p:txBody>
          <a:bodyPr wrap="square" lIns="0" tIns="0" rIns="0" bIns="0" rtlCol="0"/>
          <a:lstStyle/>
          <a:p>
            <a:endParaRPr/>
          </a:p>
        </p:txBody>
      </p:sp>
      <p:sp>
        <p:nvSpPr>
          <p:cNvPr id="8" name="object 8"/>
          <p:cNvSpPr txBox="1"/>
          <p:nvPr/>
        </p:nvSpPr>
        <p:spPr>
          <a:xfrm>
            <a:off x="679403" y="5242313"/>
            <a:ext cx="742315" cy="346710"/>
          </a:xfrm>
          <a:prstGeom prst="rect">
            <a:avLst/>
          </a:prstGeom>
        </p:spPr>
        <p:txBody>
          <a:bodyPr vert="horz" wrap="square" lIns="0" tIns="13335" rIns="0" bIns="0" rtlCol="0">
            <a:spAutoFit/>
          </a:bodyPr>
          <a:lstStyle/>
          <a:p>
            <a:pPr marL="12700" marR="5080">
              <a:lnSpc>
                <a:spcPct val="100000"/>
              </a:lnSpc>
              <a:spcBef>
                <a:spcPts val="105"/>
              </a:spcBef>
            </a:pPr>
            <a:r>
              <a:rPr sz="1050" b="1" spc="-15" dirty="0">
                <a:cs typeface="Tahoma"/>
              </a:rPr>
              <a:t>Token </a:t>
            </a:r>
            <a:r>
              <a:rPr sz="1050" b="1" spc="-10" dirty="0">
                <a:cs typeface="Tahoma"/>
              </a:rPr>
              <a:t> </a:t>
            </a:r>
            <a:r>
              <a:rPr sz="1050" b="1" spc="15" dirty="0">
                <a:cs typeface="Tahoma"/>
              </a:rPr>
              <a:t>ge</a:t>
            </a:r>
            <a:r>
              <a:rPr sz="1050" b="1" spc="-15" dirty="0">
                <a:cs typeface="Tahoma"/>
              </a:rPr>
              <a:t>n</a:t>
            </a:r>
            <a:r>
              <a:rPr sz="1050" b="1" spc="-20" dirty="0">
                <a:cs typeface="Tahoma"/>
              </a:rPr>
              <a:t>e</a:t>
            </a:r>
            <a:r>
              <a:rPr sz="1050" b="1" spc="-35" dirty="0">
                <a:cs typeface="Tahoma"/>
              </a:rPr>
              <a:t>ra</a:t>
            </a:r>
            <a:r>
              <a:rPr sz="1050" b="1" spc="-45" dirty="0">
                <a:cs typeface="Tahoma"/>
              </a:rPr>
              <a:t>t</a:t>
            </a:r>
            <a:r>
              <a:rPr sz="1050" b="1" spc="5" dirty="0">
                <a:cs typeface="Tahoma"/>
              </a:rPr>
              <a:t>io</a:t>
            </a:r>
            <a:r>
              <a:rPr sz="1050" b="1" spc="-25" dirty="0">
                <a:cs typeface="Tahoma"/>
              </a:rPr>
              <a:t>n</a:t>
            </a:r>
            <a:endParaRPr sz="1050">
              <a:cs typeface="Tahom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4221" y="597132"/>
            <a:ext cx="10858967" cy="636356"/>
          </a:xfrm>
          <a:prstGeom prst="rect">
            <a:avLst/>
          </a:prstGeom>
        </p:spPr>
        <p:txBody>
          <a:bodyPr vert="horz" lIns="0" tIns="0" rIns="0" bIns="0" rtlCol="0" anchor="ctr">
            <a:normAutofit/>
          </a:bodyPr>
          <a:lstStyle/>
          <a:p>
            <a:r>
              <a:rPr dirty="0">
                <a:latin typeface="+mn-lt"/>
              </a:rPr>
              <a:t>Pre-fill and chunking: last chunk</a:t>
            </a:r>
          </a:p>
        </p:txBody>
      </p:sp>
      <p:sp>
        <p:nvSpPr>
          <p:cNvPr id="3" name="object 3"/>
          <p:cNvSpPr txBox="1"/>
          <p:nvPr/>
        </p:nvSpPr>
        <p:spPr>
          <a:xfrm>
            <a:off x="674222" y="1673005"/>
            <a:ext cx="4105910" cy="208279"/>
          </a:xfrm>
          <a:prstGeom prst="rect">
            <a:avLst/>
          </a:prstGeom>
        </p:spPr>
        <p:txBody>
          <a:bodyPr vert="horz" wrap="square" lIns="0" tIns="12700" rIns="0" bIns="0" rtlCol="0">
            <a:spAutoFit/>
          </a:bodyPr>
          <a:lstStyle/>
          <a:p>
            <a:pPr marL="12700">
              <a:lnSpc>
                <a:spcPct val="100000"/>
              </a:lnSpc>
              <a:spcBef>
                <a:spcPts val="100"/>
              </a:spcBef>
            </a:pPr>
            <a:r>
              <a:rPr sz="1200" b="1" spc="-40" dirty="0">
                <a:latin typeface="Tahoma"/>
                <a:cs typeface="Tahoma"/>
              </a:rPr>
              <a:t>Prompt</a:t>
            </a:r>
            <a:r>
              <a:rPr sz="1200" spc="-40" dirty="0">
                <a:latin typeface="Tahoma"/>
                <a:cs typeface="Tahoma"/>
              </a:rPr>
              <a:t>:</a:t>
            </a:r>
            <a:r>
              <a:rPr sz="1200" spc="-65" dirty="0">
                <a:latin typeface="Tahoma"/>
                <a:cs typeface="Tahoma"/>
              </a:rPr>
              <a:t> </a:t>
            </a:r>
            <a:r>
              <a:rPr sz="1200" spc="30" dirty="0">
                <a:latin typeface="Tahoma"/>
                <a:cs typeface="Tahoma"/>
              </a:rPr>
              <a:t>“Can</a:t>
            </a:r>
            <a:r>
              <a:rPr sz="1200" spc="-75" dirty="0">
                <a:latin typeface="Tahoma"/>
                <a:cs typeface="Tahoma"/>
              </a:rPr>
              <a:t> </a:t>
            </a:r>
            <a:r>
              <a:rPr sz="1200" spc="30" dirty="0">
                <a:latin typeface="Tahoma"/>
                <a:cs typeface="Tahoma"/>
              </a:rPr>
              <a:t>you</a:t>
            </a:r>
            <a:r>
              <a:rPr sz="1200" spc="-70" dirty="0">
                <a:latin typeface="Tahoma"/>
                <a:cs typeface="Tahoma"/>
              </a:rPr>
              <a:t> </a:t>
            </a:r>
            <a:r>
              <a:rPr sz="1200" spc="20" dirty="0">
                <a:latin typeface="Tahoma"/>
                <a:cs typeface="Tahoma"/>
              </a:rPr>
              <a:t>tell</a:t>
            </a:r>
            <a:r>
              <a:rPr sz="1200" spc="-80" dirty="0">
                <a:latin typeface="Tahoma"/>
                <a:cs typeface="Tahoma"/>
              </a:rPr>
              <a:t> </a:t>
            </a:r>
            <a:r>
              <a:rPr sz="1200" spc="50" dirty="0">
                <a:latin typeface="Tahoma"/>
                <a:cs typeface="Tahoma"/>
              </a:rPr>
              <a:t>me</a:t>
            </a:r>
            <a:r>
              <a:rPr sz="1200" spc="-65" dirty="0">
                <a:latin typeface="Tahoma"/>
                <a:cs typeface="Tahoma"/>
              </a:rPr>
              <a:t> </a:t>
            </a:r>
            <a:r>
              <a:rPr sz="1200" spc="35" dirty="0">
                <a:latin typeface="Tahoma"/>
                <a:cs typeface="Tahoma"/>
              </a:rPr>
              <a:t>who</a:t>
            </a:r>
            <a:r>
              <a:rPr sz="1200" spc="-60" dirty="0">
                <a:latin typeface="Tahoma"/>
                <a:cs typeface="Tahoma"/>
              </a:rPr>
              <a:t> </a:t>
            </a:r>
            <a:r>
              <a:rPr sz="1200" spc="10" dirty="0">
                <a:latin typeface="Tahoma"/>
                <a:cs typeface="Tahoma"/>
              </a:rPr>
              <a:t>is</a:t>
            </a:r>
            <a:r>
              <a:rPr sz="1200" spc="-80" dirty="0">
                <a:latin typeface="Tahoma"/>
                <a:cs typeface="Tahoma"/>
              </a:rPr>
              <a:t> </a:t>
            </a:r>
            <a:r>
              <a:rPr sz="1200" spc="15" dirty="0">
                <a:latin typeface="Tahoma"/>
                <a:cs typeface="Tahoma"/>
              </a:rPr>
              <a:t>the</a:t>
            </a:r>
            <a:r>
              <a:rPr sz="1200" spc="-70" dirty="0">
                <a:latin typeface="Tahoma"/>
                <a:cs typeface="Tahoma"/>
              </a:rPr>
              <a:t> </a:t>
            </a:r>
            <a:r>
              <a:rPr sz="1200" spc="15" dirty="0">
                <a:latin typeface="Tahoma"/>
                <a:cs typeface="Tahoma"/>
              </a:rPr>
              <a:t>richest</a:t>
            </a:r>
            <a:r>
              <a:rPr sz="1200" spc="-50" dirty="0">
                <a:latin typeface="Tahoma"/>
                <a:cs typeface="Tahoma"/>
              </a:rPr>
              <a:t> </a:t>
            </a:r>
            <a:r>
              <a:rPr sz="1200" spc="25" dirty="0">
                <a:solidFill>
                  <a:srgbClr val="E23717"/>
                </a:solidFill>
                <a:latin typeface="Tahoma"/>
                <a:cs typeface="Tahoma"/>
              </a:rPr>
              <a:t>man</a:t>
            </a:r>
            <a:r>
              <a:rPr sz="1200" spc="-65" dirty="0">
                <a:solidFill>
                  <a:srgbClr val="E23717"/>
                </a:solidFill>
                <a:latin typeface="Tahoma"/>
                <a:cs typeface="Tahoma"/>
              </a:rPr>
              <a:t> </a:t>
            </a:r>
            <a:r>
              <a:rPr sz="1200" spc="25" dirty="0">
                <a:solidFill>
                  <a:srgbClr val="E23717"/>
                </a:solidFill>
                <a:latin typeface="Tahoma"/>
                <a:cs typeface="Tahoma"/>
              </a:rPr>
              <a:t>in</a:t>
            </a:r>
            <a:r>
              <a:rPr sz="1200" spc="-70" dirty="0">
                <a:solidFill>
                  <a:srgbClr val="E23717"/>
                </a:solidFill>
                <a:latin typeface="Tahoma"/>
                <a:cs typeface="Tahoma"/>
              </a:rPr>
              <a:t> </a:t>
            </a:r>
            <a:r>
              <a:rPr sz="1200" spc="5" dirty="0">
                <a:solidFill>
                  <a:srgbClr val="E23717"/>
                </a:solidFill>
                <a:latin typeface="Tahoma"/>
                <a:cs typeface="Tahoma"/>
              </a:rPr>
              <a:t>history</a:t>
            </a:r>
            <a:r>
              <a:rPr sz="1200" spc="5" dirty="0">
                <a:latin typeface="Tahoma"/>
                <a:cs typeface="Tahoma"/>
              </a:rPr>
              <a:t>”</a:t>
            </a:r>
            <a:endParaRPr sz="1200" dirty="0">
              <a:latin typeface="Tahoma"/>
              <a:cs typeface="Tahoma"/>
            </a:endParaRPr>
          </a:p>
        </p:txBody>
      </p:sp>
      <p:graphicFrame>
        <p:nvGraphicFramePr>
          <p:cNvPr id="4" name="object 4"/>
          <p:cNvGraphicFramePr>
            <a:graphicFrameLocks noGrp="1"/>
          </p:cNvGraphicFramePr>
          <p:nvPr>
            <p:extLst>
              <p:ext uri="{D42A27DB-BD31-4B8C-83A1-F6EECF244321}">
                <p14:modId xmlns:p14="http://schemas.microsoft.com/office/powerpoint/2010/main" val="3522038467"/>
              </p:ext>
            </p:extLst>
          </p:nvPr>
        </p:nvGraphicFramePr>
        <p:xfrm>
          <a:off x="2081636" y="2343945"/>
          <a:ext cx="8128000" cy="370839"/>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39">
                <a:tc>
                  <a:txBody>
                    <a:bodyPr/>
                    <a:lstStyle/>
                    <a:p>
                      <a:pPr marL="91440">
                        <a:lnSpc>
                          <a:spcPct val="100000"/>
                        </a:lnSpc>
                        <a:spcBef>
                          <a:spcPts val="280"/>
                        </a:spcBef>
                      </a:pPr>
                      <a:r>
                        <a:rPr sz="1800" b="1" spc="45" dirty="0">
                          <a:solidFill>
                            <a:srgbClr val="FFFFFF"/>
                          </a:solidFill>
                          <a:latin typeface="Tahoma"/>
                          <a:cs typeface="Tahoma"/>
                        </a:rPr>
                        <a:t>WHO</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marL="91440">
                        <a:lnSpc>
                          <a:spcPct val="100000"/>
                        </a:lnSpc>
                        <a:spcBef>
                          <a:spcPts val="280"/>
                        </a:spcBef>
                      </a:pPr>
                      <a:r>
                        <a:rPr sz="1800" b="1" spc="-190" dirty="0">
                          <a:solidFill>
                            <a:srgbClr val="FFFFFF"/>
                          </a:solidFill>
                          <a:latin typeface="Tahoma"/>
                          <a:cs typeface="Tahoma"/>
                        </a:rPr>
                        <a:t>IS</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marL="92075">
                        <a:lnSpc>
                          <a:spcPct val="100000"/>
                        </a:lnSpc>
                        <a:spcBef>
                          <a:spcPts val="280"/>
                        </a:spcBef>
                      </a:pPr>
                      <a:r>
                        <a:rPr sz="1800" b="1" spc="-30" dirty="0">
                          <a:solidFill>
                            <a:srgbClr val="FFFFFF"/>
                          </a:solidFill>
                          <a:latin typeface="Tahoma"/>
                          <a:cs typeface="Tahoma"/>
                        </a:rPr>
                        <a:t>THE</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marL="92075">
                        <a:lnSpc>
                          <a:spcPct val="100000"/>
                        </a:lnSpc>
                        <a:spcBef>
                          <a:spcPts val="280"/>
                        </a:spcBef>
                      </a:pPr>
                      <a:r>
                        <a:rPr sz="1800" b="1" spc="-80" dirty="0">
                          <a:solidFill>
                            <a:srgbClr val="FFFFFF"/>
                          </a:solidFill>
                          <a:latin typeface="Tahoma"/>
                          <a:cs typeface="Tahoma"/>
                        </a:rPr>
                        <a:t>RICHEST</a:t>
                      </a:r>
                      <a:endParaRPr sz="1800">
                        <a:latin typeface="Tahoma"/>
                        <a:cs typeface="Tahoma"/>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extLst>
                  <a:ext uri="{0D108BD9-81ED-4DB2-BD59-A6C34878D82A}">
                    <a16:rowId xmlns:a16="http://schemas.microsoft.com/office/drawing/2014/main" val="10000"/>
                  </a:ext>
                </a:extLst>
              </a:tr>
            </a:tbl>
          </a:graphicData>
        </a:graphic>
      </p:graphicFrame>
      <p:sp>
        <p:nvSpPr>
          <p:cNvPr id="5" name="object 5"/>
          <p:cNvSpPr txBox="1"/>
          <p:nvPr/>
        </p:nvSpPr>
        <p:spPr>
          <a:xfrm>
            <a:off x="674222" y="2374680"/>
            <a:ext cx="1214755" cy="239395"/>
          </a:xfrm>
          <a:prstGeom prst="rect">
            <a:avLst/>
          </a:prstGeom>
        </p:spPr>
        <p:txBody>
          <a:bodyPr vert="horz" wrap="square" lIns="0" tIns="13335" rIns="0" bIns="0" rtlCol="0">
            <a:spAutoFit/>
          </a:bodyPr>
          <a:lstStyle/>
          <a:p>
            <a:pPr marL="12700">
              <a:lnSpc>
                <a:spcPct val="100000"/>
              </a:lnSpc>
              <a:spcBef>
                <a:spcPts val="105"/>
              </a:spcBef>
            </a:pPr>
            <a:r>
              <a:rPr sz="1400" b="1" spc="-70" dirty="0">
                <a:latin typeface="Tahoma"/>
                <a:cs typeface="Tahoma"/>
              </a:rPr>
              <a:t>T</a:t>
            </a:r>
            <a:r>
              <a:rPr sz="1400" b="1" spc="-20" dirty="0">
                <a:latin typeface="Tahoma"/>
                <a:cs typeface="Tahoma"/>
              </a:rPr>
              <a:t>h</a:t>
            </a:r>
            <a:r>
              <a:rPr sz="1400" b="1" spc="-15" dirty="0">
                <a:latin typeface="Tahoma"/>
                <a:cs typeface="Tahoma"/>
              </a:rPr>
              <a:t>e</a:t>
            </a:r>
            <a:r>
              <a:rPr sz="1400" b="1" spc="-75" dirty="0">
                <a:latin typeface="Tahoma"/>
                <a:cs typeface="Tahoma"/>
              </a:rPr>
              <a:t> </a:t>
            </a:r>
            <a:r>
              <a:rPr sz="1400" b="1" spc="15" dirty="0">
                <a:latin typeface="Tahoma"/>
                <a:cs typeface="Tahoma"/>
              </a:rPr>
              <a:t>K</a:t>
            </a:r>
            <a:r>
              <a:rPr sz="1400" b="1" spc="-20" dirty="0">
                <a:latin typeface="Tahoma"/>
                <a:cs typeface="Tahoma"/>
              </a:rPr>
              <a:t>V</a:t>
            </a:r>
            <a:r>
              <a:rPr sz="1400" b="1" spc="-155" dirty="0">
                <a:latin typeface="Tahoma"/>
                <a:cs typeface="Tahoma"/>
              </a:rPr>
              <a:t>-</a:t>
            </a:r>
            <a:r>
              <a:rPr sz="1400" b="1" spc="10" dirty="0">
                <a:latin typeface="Tahoma"/>
                <a:cs typeface="Tahoma"/>
              </a:rPr>
              <a:t>C</a:t>
            </a:r>
            <a:r>
              <a:rPr sz="1400" b="1" spc="-25" dirty="0">
                <a:latin typeface="Tahoma"/>
                <a:cs typeface="Tahoma"/>
              </a:rPr>
              <a:t>ache</a:t>
            </a:r>
            <a:endParaRPr sz="1400">
              <a:latin typeface="Tahoma"/>
              <a:cs typeface="Tahoma"/>
            </a:endParaRPr>
          </a:p>
        </p:txBody>
      </p:sp>
      <p:sp>
        <p:nvSpPr>
          <p:cNvPr id="6" name="object 6"/>
          <p:cNvSpPr txBox="1"/>
          <p:nvPr/>
        </p:nvSpPr>
        <p:spPr>
          <a:xfrm>
            <a:off x="674222" y="4491515"/>
            <a:ext cx="1170940" cy="453390"/>
          </a:xfrm>
          <a:prstGeom prst="rect">
            <a:avLst/>
          </a:prstGeom>
        </p:spPr>
        <p:txBody>
          <a:bodyPr vert="horz" wrap="square" lIns="0" tIns="12700" rIns="0" bIns="0" rtlCol="0">
            <a:spAutoFit/>
          </a:bodyPr>
          <a:lstStyle/>
          <a:p>
            <a:pPr marL="12700">
              <a:lnSpc>
                <a:spcPct val="100000"/>
              </a:lnSpc>
              <a:spcBef>
                <a:spcPts val="100"/>
              </a:spcBef>
            </a:pPr>
            <a:r>
              <a:rPr sz="1400" b="1" spc="-70" dirty="0">
                <a:latin typeface="Tahoma"/>
                <a:cs typeface="Tahoma"/>
              </a:rPr>
              <a:t>T</a:t>
            </a:r>
            <a:r>
              <a:rPr sz="1400" b="1" spc="-20" dirty="0">
                <a:latin typeface="Tahoma"/>
                <a:cs typeface="Tahoma"/>
              </a:rPr>
              <a:t>h</a:t>
            </a:r>
            <a:r>
              <a:rPr sz="1400" b="1" spc="-15" dirty="0">
                <a:latin typeface="Tahoma"/>
                <a:cs typeface="Tahoma"/>
              </a:rPr>
              <a:t>e</a:t>
            </a:r>
            <a:r>
              <a:rPr sz="1400" b="1" spc="-75" dirty="0">
                <a:latin typeface="Tahoma"/>
                <a:cs typeface="Tahoma"/>
              </a:rPr>
              <a:t> </a:t>
            </a:r>
            <a:r>
              <a:rPr sz="1400" b="1" spc="-60" dirty="0">
                <a:latin typeface="Tahoma"/>
                <a:cs typeface="Tahoma"/>
              </a:rPr>
              <a:t>a</a:t>
            </a:r>
            <a:r>
              <a:rPr sz="1400" b="1" spc="-95" dirty="0">
                <a:latin typeface="Tahoma"/>
                <a:cs typeface="Tahoma"/>
              </a:rPr>
              <a:t>t</a:t>
            </a:r>
            <a:r>
              <a:rPr sz="1400" b="1" spc="-60" dirty="0">
                <a:latin typeface="Tahoma"/>
                <a:cs typeface="Tahoma"/>
              </a:rPr>
              <a:t>t</a:t>
            </a:r>
            <a:r>
              <a:rPr sz="1400" b="1" spc="-20" dirty="0">
                <a:latin typeface="Tahoma"/>
                <a:cs typeface="Tahoma"/>
              </a:rPr>
              <a:t>e</a:t>
            </a:r>
            <a:r>
              <a:rPr sz="1400" b="1" spc="-30" dirty="0">
                <a:latin typeface="Tahoma"/>
                <a:cs typeface="Tahoma"/>
              </a:rPr>
              <a:t>n</a:t>
            </a:r>
            <a:r>
              <a:rPr sz="1400" b="1" spc="-60" dirty="0">
                <a:latin typeface="Tahoma"/>
                <a:cs typeface="Tahoma"/>
              </a:rPr>
              <a:t>t</a:t>
            </a:r>
            <a:r>
              <a:rPr sz="1400" b="1" spc="-10" dirty="0">
                <a:latin typeface="Tahoma"/>
                <a:cs typeface="Tahoma"/>
              </a:rPr>
              <a:t>i</a:t>
            </a:r>
            <a:r>
              <a:rPr sz="1400" b="1" spc="-5" dirty="0">
                <a:latin typeface="Tahoma"/>
                <a:cs typeface="Tahoma"/>
              </a:rPr>
              <a:t>on</a:t>
            </a:r>
            <a:endParaRPr sz="1400">
              <a:latin typeface="Tahoma"/>
              <a:cs typeface="Tahoma"/>
            </a:endParaRPr>
          </a:p>
          <a:p>
            <a:pPr marL="12700">
              <a:lnSpc>
                <a:spcPct val="100000"/>
              </a:lnSpc>
            </a:pPr>
            <a:r>
              <a:rPr sz="1400" b="1" spc="-45" dirty="0">
                <a:latin typeface="Tahoma"/>
                <a:cs typeface="Tahoma"/>
              </a:rPr>
              <a:t>mask</a:t>
            </a:r>
            <a:endParaRPr sz="1400">
              <a:latin typeface="Tahoma"/>
              <a:cs typeface="Tahoma"/>
            </a:endParaRPr>
          </a:p>
        </p:txBody>
      </p:sp>
      <p:graphicFrame>
        <p:nvGraphicFramePr>
          <p:cNvPr id="7" name="object 7"/>
          <p:cNvGraphicFramePr>
            <a:graphicFrameLocks noGrp="1"/>
          </p:cNvGraphicFramePr>
          <p:nvPr>
            <p:extLst>
              <p:ext uri="{D42A27DB-BD31-4B8C-83A1-F6EECF244321}">
                <p14:modId xmlns:p14="http://schemas.microsoft.com/office/powerpoint/2010/main" val="2165662273"/>
              </p:ext>
            </p:extLst>
          </p:nvPr>
        </p:nvGraphicFramePr>
        <p:xfrm>
          <a:off x="2081636" y="3677064"/>
          <a:ext cx="4133847" cy="2089998"/>
        </p:xfrm>
        <a:graphic>
          <a:graphicData uri="http://schemas.openxmlformats.org/drawingml/2006/table">
            <a:tbl>
              <a:tblPr firstRow="1" bandRow="1">
                <a:tableStyleId>{2D5ABB26-0587-4C30-8999-92F81FD0307C}</a:tableStyleId>
              </a:tblPr>
              <a:tblGrid>
                <a:gridCol w="493395">
                  <a:extLst>
                    <a:ext uri="{9D8B030D-6E8A-4147-A177-3AD203B41FA5}">
                      <a16:colId xmlns:a16="http://schemas.microsoft.com/office/drawing/2014/main" val="20000"/>
                    </a:ext>
                  </a:extLst>
                </a:gridCol>
                <a:gridCol w="520065">
                  <a:extLst>
                    <a:ext uri="{9D8B030D-6E8A-4147-A177-3AD203B41FA5}">
                      <a16:colId xmlns:a16="http://schemas.microsoft.com/office/drawing/2014/main" val="20001"/>
                    </a:ext>
                  </a:extLst>
                </a:gridCol>
                <a:gridCol w="520065">
                  <a:extLst>
                    <a:ext uri="{9D8B030D-6E8A-4147-A177-3AD203B41FA5}">
                      <a16:colId xmlns:a16="http://schemas.microsoft.com/office/drawing/2014/main" val="20002"/>
                    </a:ext>
                  </a:extLst>
                </a:gridCol>
                <a:gridCol w="520065">
                  <a:extLst>
                    <a:ext uri="{9D8B030D-6E8A-4147-A177-3AD203B41FA5}">
                      <a16:colId xmlns:a16="http://schemas.microsoft.com/office/drawing/2014/main" val="20003"/>
                    </a:ext>
                  </a:extLst>
                </a:gridCol>
                <a:gridCol w="520065">
                  <a:extLst>
                    <a:ext uri="{9D8B030D-6E8A-4147-A177-3AD203B41FA5}">
                      <a16:colId xmlns:a16="http://schemas.microsoft.com/office/drawing/2014/main" val="20004"/>
                    </a:ext>
                  </a:extLst>
                </a:gridCol>
                <a:gridCol w="520064">
                  <a:extLst>
                    <a:ext uri="{9D8B030D-6E8A-4147-A177-3AD203B41FA5}">
                      <a16:colId xmlns:a16="http://schemas.microsoft.com/office/drawing/2014/main" val="20005"/>
                    </a:ext>
                  </a:extLst>
                </a:gridCol>
                <a:gridCol w="520064">
                  <a:extLst>
                    <a:ext uri="{9D8B030D-6E8A-4147-A177-3AD203B41FA5}">
                      <a16:colId xmlns:a16="http://schemas.microsoft.com/office/drawing/2014/main" val="20006"/>
                    </a:ext>
                  </a:extLst>
                </a:gridCol>
                <a:gridCol w="520064">
                  <a:extLst>
                    <a:ext uri="{9D8B030D-6E8A-4147-A177-3AD203B41FA5}">
                      <a16:colId xmlns:a16="http://schemas.microsoft.com/office/drawing/2014/main" val="20007"/>
                    </a:ext>
                  </a:extLst>
                </a:gridCol>
              </a:tblGrid>
              <a:tr h="522477">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spc="10" dirty="0">
                          <a:latin typeface="Tahoma"/>
                          <a:cs typeface="Tahoma"/>
                        </a:rPr>
                        <a:t>WHO</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spc="-65" dirty="0">
                          <a:latin typeface="Tahoma"/>
                          <a:cs typeface="Tahoma"/>
                        </a:rPr>
                        <a:t>IS</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1270" algn="ctr">
                        <a:lnSpc>
                          <a:spcPct val="100000"/>
                        </a:lnSpc>
                      </a:pPr>
                      <a:r>
                        <a:rPr sz="600" b="1" spc="-10" dirty="0">
                          <a:latin typeface="Tahoma"/>
                          <a:cs typeface="Tahoma"/>
                        </a:rPr>
                        <a:t>THE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635" algn="ctr">
                        <a:lnSpc>
                          <a:spcPct val="100000"/>
                        </a:lnSpc>
                      </a:pPr>
                      <a:r>
                        <a:rPr sz="600" b="1" spc="-30" dirty="0">
                          <a:latin typeface="Tahoma"/>
                          <a:cs typeface="Tahoma"/>
                        </a:rPr>
                        <a:t>RICHEST</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spc="20" dirty="0">
                          <a:latin typeface="Tahoma"/>
                          <a:cs typeface="Tahoma"/>
                        </a:rPr>
                        <a:t>MAN</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spc="-45" dirty="0">
                          <a:latin typeface="Tahoma"/>
                          <a:cs typeface="Tahoma"/>
                        </a:rPr>
                        <a:t>IN</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marL="235585" marR="107314" indent="-119380">
                        <a:lnSpc>
                          <a:spcPct val="100000"/>
                        </a:lnSpc>
                        <a:spcBef>
                          <a:spcPts val="515"/>
                        </a:spcBef>
                      </a:pPr>
                      <a:r>
                        <a:rPr sz="600" b="1" spc="-5" dirty="0">
                          <a:latin typeface="Tahoma"/>
                          <a:cs typeface="Tahoma"/>
                        </a:rPr>
                        <a:t>H</a:t>
                      </a:r>
                      <a:r>
                        <a:rPr sz="600" b="1" dirty="0">
                          <a:latin typeface="Tahoma"/>
                          <a:cs typeface="Tahoma"/>
                        </a:rPr>
                        <a:t>I</a:t>
                      </a:r>
                      <a:r>
                        <a:rPr sz="600" b="1" spc="5" dirty="0">
                          <a:latin typeface="Tahoma"/>
                          <a:cs typeface="Tahoma"/>
                        </a:rPr>
                        <a:t>S</a:t>
                      </a:r>
                      <a:r>
                        <a:rPr sz="600" b="1" dirty="0">
                          <a:latin typeface="Tahoma"/>
                          <a:cs typeface="Tahoma"/>
                        </a:rPr>
                        <a:t>TOR  </a:t>
                      </a:r>
                      <a:r>
                        <a:rPr sz="600" b="1" spc="-5" dirty="0">
                          <a:latin typeface="Tahoma"/>
                          <a:cs typeface="Tahoma"/>
                        </a:rPr>
                        <a:t>Y</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extLst>
                  <a:ext uri="{0D108BD9-81ED-4DB2-BD59-A6C34878D82A}">
                    <a16:rowId xmlns:a16="http://schemas.microsoft.com/office/drawing/2014/main" val="10000"/>
                  </a:ext>
                </a:extLst>
              </a:tr>
              <a:tr h="522478">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spc="20" dirty="0">
                          <a:latin typeface="Tahoma"/>
                          <a:cs typeface="Tahoma"/>
                        </a:rPr>
                        <a:t>MAN</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20"/>
                        </a:spcBef>
                      </a:pPr>
                      <a:endParaRPr sz="1250">
                        <a:latin typeface="Times New Roman"/>
                        <a:cs typeface="Times New Roman"/>
                      </a:endParaRPr>
                    </a:p>
                    <a:p>
                      <a:pPr marR="24130" algn="ctr">
                        <a:lnSpc>
                          <a:spcPct val="100000"/>
                        </a:lnSpc>
                        <a:spcBef>
                          <a:spcPts val="5"/>
                        </a:spcBef>
                      </a:pPr>
                      <a:r>
                        <a:rPr sz="100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635" algn="ctr">
                        <a:lnSpc>
                          <a:spcPct val="100000"/>
                        </a:lnSpc>
                      </a:pPr>
                      <a:r>
                        <a:rPr sz="1000" spc="10" dirty="0">
                          <a:latin typeface="Tahoma"/>
                          <a:cs typeface="Tahoma"/>
                        </a:rPr>
                        <a:t>0.132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97155">
                        <a:lnSpc>
                          <a:spcPct val="100000"/>
                        </a:lnSpc>
                      </a:pPr>
                      <a:r>
                        <a:rPr sz="1000" spc="10" dirty="0">
                          <a:latin typeface="Tahoma"/>
                          <a:cs typeface="Tahoma"/>
                        </a:rPr>
                        <a:t>0.262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635" algn="ctr">
                        <a:lnSpc>
                          <a:spcPct val="100000"/>
                        </a:lnSpc>
                      </a:pPr>
                      <a:r>
                        <a:rPr sz="1000" spc="10" dirty="0">
                          <a:latin typeface="Tahoma"/>
                          <a:cs typeface="Tahoma"/>
                        </a:rPr>
                        <a:t>0.132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0.951</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spcBef>
                          <a:spcPts val="5"/>
                        </a:spcBef>
                      </a:pPr>
                      <a:r>
                        <a:rPr sz="100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2860" algn="ctr">
                        <a:lnSpc>
                          <a:spcPct val="100000"/>
                        </a:lnSpc>
                        <a:spcBef>
                          <a:spcPts val="5"/>
                        </a:spcBef>
                      </a:pPr>
                      <a:r>
                        <a:rPr sz="100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1"/>
                  </a:ext>
                </a:extLst>
              </a:tr>
              <a:tr h="522477">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spcBef>
                          <a:spcPts val="5"/>
                        </a:spcBef>
                      </a:pPr>
                      <a:r>
                        <a:rPr sz="600" b="1" spc="-45" dirty="0">
                          <a:latin typeface="Tahoma"/>
                          <a:cs typeface="Tahoma"/>
                        </a:rPr>
                        <a:t>IN</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20"/>
                        </a:spcBef>
                      </a:pPr>
                      <a:endParaRPr sz="1250">
                        <a:latin typeface="Times New Roman"/>
                        <a:cs typeface="Times New Roman"/>
                      </a:endParaRPr>
                    </a:p>
                    <a:p>
                      <a:pPr marR="24130" algn="ctr">
                        <a:lnSpc>
                          <a:spcPct val="100000"/>
                        </a:lnSpc>
                        <a:spcBef>
                          <a:spcPts val="5"/>
                        </a:spcBef>
                      </a:pPr>
                      <a:r>
                        <a:rPr sz="100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3495" algn="ctr">
                        <a:lnSpc>
                          <a:spcPct val="100000"/>
                        </a:lnSpc>
                        <a:spcBef>
                          <a:spcPts val="5"/>
                        </a:spcBef>
                      </a:pPr>
                      <a:r>
                        <a:rPr sz="100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97155">
                        <a:lnSpc>
                          <a:spcPct val="100000"/>
                        </a:lnSpc>
                      </a:pPr>
                      <a:r>
                        <a:rPr sz="1000" spc="10" dirty="0">
                          <a:latin typeface="Tahoma"/>
                          <a:cs typeface="Tahoma"/>
                        </a:rPr>
                        <a:t>0.956</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635" algn="ctr">
                        <a:lnSpc>
                          <a:spcPct val="100000"/>
                        </a:lnSpc>
                      </a:pPr>
                      <a:r>
                        <a:rPr sz="1000" spc="10" dirty="0">
                          <a:latin typeface="Tahoma"/>
                          <a:cs typeface="Tahoma"/>
                        </a:rPr>
                        <a:t>0.874</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0.148</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635" algn="ctr">
                        <a:lnSpc>
                          <a:spcPct val="100000"/>
                        </a:lnSpc>
                      </a:pPr>
                      <a:r>
                        <a:rPr sz="1000" spc="10" dirty="0">
                          <a:latin typeface="Tahoma"/>
                          <a:cs typeface="Tahoma"/>
                        </a:rPr>
                        <a:t>0.253</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2860" algn="ctr">
                        <a:lnSpc>
                          <a:spcPct val="100000"/>
                        </a:lnSpc>
                        <a:spcBef>
                          <a:spcPts val="5"/>
                        </a:spcBef>
                      </a:pPr>
                      <a:r>
                        <a:rPr sz="1000" dirty="0">
                          <a:solidFill>
                            <a:srgbClr val="E23717"/>
                          </a:solidFill>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2"/>
                  </a:ext>
                </a:extLst>
              </a:tr>
              <a:tr h="522566">
                <a:tc>
                  <a:txBody>
                    <a:bodyPr/>
                    <a:lstStyle/>
                    <a:p>
                      <a:pPr>
                        <a:lnSpc>
                          <a:spcPct val="100000"/>
                        </a:lnSpc>
                      </a:pPr>
                      <a:endParaRPr sz="700">
                        <a:latin typeface="Times New Roman"/>
                        <a:cs typeface="Times New Roman"/>
                      </a:endParaRPr>
                    </a:p>
                    <a:p>
                      <a:pPr marL="221615" marR="94615" indent="-119380">
                        <a:lnSpc>
                          <a:spcPct val="100000"/>
                        </a:lnSpc>
                        <a:spcBef>
                          <a:spcPts val="515"/>
                        </a:spcBef>
                      </a:pPr>
                      <a:r>
                        <a:rPr sz="600" b="1" spc="-5" dirty="0">
                          <a:latin typeface="Tahoma"/>
                          <a:cs typeface="Tahoma"/>
                        </a:rPr>
                        <a:t>H</a:t>
                      </a:r>
                      <a:r>
                        <a:rPr sz="600" b="1" dirty="0">
                          <a:latin typeface="Tahoma"/>
                          <a:cs typeface="Tahoma"/>
                        </a:rPr>
                        <a:t>I</a:t>
                      </a:r>
                      <a:r>
                        <a:rPr sz="600" b="1" spc="5" dirty="0">
                          <a:latin typeface="Tahoma"/>
                          <a:cs typeface="Tahoma"/>
                        </a:rPr>
                        <a:t>S</a:t>
                      </a:r>
                      <a:r>
                        <a:rPr sz="600" b="1" dirty="0">
                          <a:latin typeface="Tahoma"/>
                          <a:cs typeface="Tahoma"/>
                        </a:rPr>
                        <a:t>TOR  </a:t>
                      </a:r>
                      <a:r>
                        <a:rPr sz="600" b="1" spc="-5" dirty="0">
                          <a:latin typeface="Tahoma"/>
                          <a:cs typeface="Tahoma"/>
                        </a:rPr>
                        <a:t>Y</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25"/>
                        </a:spcBef>
                      </a:pPr>
                      <a:endParaRPr sz="1250">
                        <a:latin typeface="Times New Roman"/>
                        <a:cs typeface="Times New Roman"/>
                      </a:endParaRPr>
                    </a:p>
                    <a:p>
                      <a:pPr marR="24130" algn="ctr">
                        <a:lnSpc>
                          <a:spcPct val="100000"/>
                        </a:lnSpc>
                      </a:pPr>
                      <a:r>
                        <a:rPr sz="1000" dirty="0">
                          <a:solidFill>
                            <a:srgbClr val="E23717"/>
                          </a:solidFill>
                          <a:latin typeface="Cambria Math"/>
                          <a:cs typeface="Cambria Math"/>
                        </a:rPr>
                        <a:t>−∞</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R="23495" algn="ctr">
                        <a:lnSpc>
                          <a:spcPct val="100000"/>
                        </a:lnSpc>
                      </a:pPr>
                      <a:r>
                        <a:rPr sz="1000" dirty="0">
                          <a:solidFill>
                            <a:srgbClr val="E23717"/>
                          </a:solidFill>
                          <a:latin typeface="Cambria Math"/>
                          <a:cs typeface="Cambria Math"/>
                        </a:rPr>
                        <a:t>−∞</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sz="1250">
                        <a:latin typeface="Times New Roman"/>
                        <a:cs typeface="Times New Roman"/>
                      </a:endParaRPr>
                    </a:p>
                    <a:p>
                      <a:pPr marL="142240">
                        <a:lnSpc>
                          <a:spcPct val="100000"/>
                        </a:lnSpc>
                      </a:pPr>
                      <a:r>
                        <a:rPr sz="1000" dirty="0">
                          <a:solidFill>
                            <a:srgbClr val="E23717"/>
                          </a:solidFill>
                          <a:latin typeface="Cambria Math"/>
                          <a:cs typeface="Cambria Math"/>
                        </a:rPr>
                        <a:t>−∞</a:t>
                      </a:r>
                      <a:endParaRPr sz="1000">
                        <a:latin typeface="Cambria Math"/>
                        <a:cs typeface="Cambria Math"/>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635" algn="ctr">
                        <a:lnSpc>
                          <a:spcPct val="100000"/>
                        </a:lnSpc>
                        <a:spcBef>
                          <a:spcPts val="5"/>
                        </a:spcBef>
                      </a:pPr>
                      <a:r>
                        <a:rPr sz="1000" spc="10" dirty="0">
                          <a:latin typeface="Tahoma"/>
                          <a:cs typeface="Tahoma"/>
                        </a:rPr>
                        <a:t>0.132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spcBef>
                          <a:spcPts val="5"/>
                        </a:spcBef>
                      </a:pPr>
                      <a:r>
                        <a:rPr sz="1000" spc="10" dirty="0">
                          <a:latin typeface="Tahoma"/>
                          <a:cs typeface="Tahoma"/>
                        </a:rPr>
                        <a:t>0.262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635" algn="ctr">
                        <a:lnSpc>
                          <a:spcPct val="100000"/>
                        </a:lnSpc>
                        <a:spcBef>
                          <a:spcPts val="5"/>
                        </a:spcBef>
                      </a:pPr>
                      <a:r>
                        <a:rPr sz="1000" spc="10" dirty="0">
                          <a:latin typeface="Tahoma"/>
                          <a:cs typeface="Tahoma"/>
                        </a:rPr>
                        <a:t>0.259</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spcBef>
                          <a:spcPts val="5"/>
                        </a:spcBef>
                      </a:pPr>
                      <a:r>
                        <a:rPr sz="1000" spc="10" dirty="0">
                          <a:latin typeface="Tahoma"/>
                          <a:cs typeface="Tahoma"/>
                        </a:rPr>
                        <a:t>0.456</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3"/>
                  </a:ext>
                </a:extLst>
              </a:tr>
            </a:tbl>
          </a:graphicData>
        </a:graphic>
      </p:graphicFrame>
      <p:sp>
        <p:nvSpPr>
          <p:cNvPr id="8" name="object 8"/>
          <p:cNvSpPr txBox="1"/>
          <p:nvPr/>
        </p:nvSpPr>
        <p:spPr>
          <a:xfrm>
            <a:off x="6441291" y="3703989"/>
            <a:ext cx="4166235"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Tahoma"/>
                <a:cs typeface="Tahoma"/>
              </a:rPr>
              <a:t>The</a:t>
            </a:r>
            <a:r>
              <a:rPr sz="1200" spc="-75" dirty="0">
                <a:latin typeface="Tahoma"/>
                <a:cs typeface="Tahoma"/>
              </a:rPr>
              <a:t> </a:t>
            </a:r>
            <a:r>
              <a:rPr sz="1200" dirty="0">
                <a:latin typeface="Tahoma"/>
                <a:cs typeface="Tahoma"/>
              </a:rPr>
              <a:t>last</a:t>
            </a:r>
            <a:r>
              <a:rPr sz="1200" spc="-75" dirty="0">
                <a:latin typeface="Tahoma"/>
                <a:cs typeface="Tahoma"/>
              </a:rPr>
              <a:t> </a:t>
            </a:r>
            <a:r>
              <a:rPr sz="1200" spc="25" dirty="0">
                <a:latin typeface="Tahoma"/>
                <a:cs typeface="Tahoma"/>
              </a:rPr>
              <a:t>chunk</a:t>
            </a:r>
            <a:r>
              <a:rPr sz="1200" spc="-70" dirty="0">
                <a:latin typeface="Tahoma"/>
                <a:cs typeface="Tahoma"/>
              </a:rPr>
              <a:t> </a:t>
            </a:r>
            <a:r>
              <a:rPr sz="1200" spc="10" dirty="0">
                <a:latin typeface="Tahoma"/>
                <a:cs typeface="Tahoma"/>
              </a:rPr>
              <a:t>may</a:t>
            </a:r>
            <a:r>
              <a:rPr sz="1200" spc="-65" dirty="0">
                <a:latin typeface="Tahoma"/>
                <a:cs typeface="Tahoma"/>
              </a:rPr>
              <a:t> </a:t>
            </a:r>
            <a:r>
              <a:rPr sz="1200" spc="75" dirty="0">
                <a:latin typeface="Tahoma"/>
                <a:cs typeface="Tahoma"/>
              </a:rPr>
              <a:t>be</a:t>
            </a:r>
            <a:r>
              <a:rPr sz="1200" spc="-75" dirty="0">
                <a:latin typeface="Tahoma"/>
                <a:cs typeface="Tahoma"/>
              </a:rPr>
              <a:t> </a:t>
            </a:r>
            <a:r>
              <a:rPr sz="1200" dirty="0">
                <a:latin typeface="Tahoma"/>
                <a:cs typeface="Tahoma"/>
              </a:rPr>
              <a:t>smaller,</a:t>
            </a:r>
            <a:r>
              <a:rPr sz="1200" spc="-95" dirty="0">
                <a:latin typeface="Tahoma"/>
                <a:cs typeface="Tahoma"/>
              </a:rPr>
              <a:t> </a:t>
            </a:r>
            <a:r>
              <a:rPr sz="1200" spc="-10" dirty="0">
                <a:latin typeface="Tahoma"/>
                <a:cs typeface="Tahoma"/>
              </a:rPr>
              <a:t>that’s</a:t>
            </a:r>
            <a:r>
              <a:rPr sz="1200" spc="-70" dirty="0">
                <a:latin typeface="Tahoma"/>
                <a:cs typeface="Tahoma"/>
              </a:rPr>
              <a:t> </a:t>
            </a:r>
            <a:r>
              <a:rPr sz="1200" spc="5" dirty="0">
                <a:latin typeface="Tahoma"/>
                <a:cs typeface="Tahoma"/>
              </a:rPr>
              <a:t>why</a:t>
            </a:r>
            <a:r>
              <a:rPr sz="1200" spc="-75" dirty="0">
                <a:latin typeface="Tahoma"/>
                <a:cs typeface="Tahoma"/>
              </a:rPr>
              <a:t> </a:t>
            </a:r>
            <a:r>
              <a:rPr sz="1200" spc="30" dirty="0">
                <a:latin typeface="Tahoma"/>
                <a:cs typeface="Tahoma"/>
              </a:rPr>
              <a:t>we</a:t>
            </a:r>
            <a:r>
              <a:rPr sz="1200" spc="-75" dirty="0">
                <a:latin typeface="Tahoma"/>
                <a:cs typeface="Tahoma"/>
              </a:rPr>
              <a:t> </a:t>
            </a:r>
            <a:r>
              <a:rPr sz="1200" spc="15" dirty="0">
                <a:latin typeface="Tahoma"/>
                <a:cs typeface="Tahoma"/>
              </a:rPr>
              <a:t>have</a:t>
            </a:r>
            <a:r>
              <a:rPr sz="1200" spc="-65" dirty="0">
                <a:latin typeface="Tahoma"/>
                <a:cs typeface="Tahoma"/>
              </a:rPr>
              <a:t> </a:t>
            </a:r>
            <a:r>
              <a:rPr sz="1200" spc="15" dirty="0">
                <a:latin typeface="Tahoma"/>
                <a:cs typeface="Tahoma"/>
              </a:rPr>
              <a:t>less</a:t>
            </a:r>
            <a:r>
              <a:rPr sz="1200" spc="-65" dirty="0">
                <a:latin typeface="Tahoma"/>
                <a:cs typeface="Tahoma"/>
              </a:rPr>
              <a:t> </a:t>
            </a:r>
            <a:r>
              <a:rPr sz="1200" dirty="0">
                <a:latin typeface="Tahoma"/>
                <a:cs typeface="Tahoma"/>
              </a:rPr>
              <a:t>rows.</a:t>
            </a:r>
            <a:endParaRPr sz="1200">
              <a:latin typeface="Tahoma"/>
              <a:cs typeface="Tahom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672045" y="599971"/>
            <a:ext cx="10861143" cy="633517"/>
          </a:xfrm>
          <a:prstGeom prst="rect">
            <a:avLst/>
          </a:prstGeom>
        </p:spPr>
        <p:txBody>
          <a:bodyPr vert="horz" lIns="0" tIns="0" rIns="0" bIns="0" rtlCol="0" anchor="ctr">
            <a:normAutofit/>
          </a:bodyPr>
          <a:lstStyle/>
          <a:p>
            <a:r>
              <a:rPr dirty="0">
                <a:latin typeface="+mn-lt"/>
              </a:rPr>
              <a:t>Mixture of Experts: </a:t>
            </a:r>
            <a:r>
              <a:rPr lang="en-US" dirty="0">
                <a:latin typeface="+mn-lt"/>
              </a:rPr>
              <a:t>A</a:t>
            </a:r>
            <a:r>
              <a:rPr dirty="0">
                <a:latin typeface="+mn-lt"/>
              </a:rPr>
              <a:t>n </a:t>
            </a:r>
            <a:r>
              <a:rPr lang="en-US" dirty="0">
                <a:latin typeface="+mn-lt"/>
              </a:rPr>
              <a:t>I</a:t>
            </a:r>
            <a:r>
              <a:rPr dirty="0">
                <a:latin typeface="+mn-lt"/>
              </a:rPr>
              <a:t>ntroduction</a:t>
            </a:r>
          </a:p>
        </p:txBody>
      </p:sp>
      <p:pic>
        <p:nvPicPr>
          <p:cNvPr id="3" name="object 3"/>
          <p:cNvPicPr/>
          <p:nvPr/>
        </p:nvPicPr>
        <p:blipFill>
          <a:blip r:embed="rId3" cstate="print"/>
          <a:stretch>
            <a:fillRect/>
          </a:stretch>
        </p:blipFill>
        <p:spPr>
          <a:xfrm>
            <a:off x="658812" y="2947037"/>
            <a:ext cx="10874375" cy="3145788"/>
          </a:xfrm>
          <a:prstGeom prst="rect">
            <a:avLst/>
          </a:prstGeom>
        </p:spPr>
      </p:pic>
      <p:sp>
        <p:nvSpPr>
          <p:cNvPr id="4" name="object 4"/>
          <p:cNvSpPr txBox="1"/>
          <p:nvPr/>
        </p:nvSpPr>
        <p:spPr>
          <a:xfrm>
            <a:off x="914265" y="4356492"/>
            <a:ext cx="614680" cy="299720"/>
          </a:xfrm>
          <a:prstGeom prst="rect">
            <a:avLst/>
          </a:prstGeom>
        </p:spPr>
        <p:txBody>
          <a:bodyPr vert="horz" wrap="square" lIns="0" tIns="12700" rIns="0" bIns="0" rtlCol="0">
            <a:spAutoFit/>
          </a:bodyPr>
          <a:lstStyle/>
          <a:p>
            <a:pPr marL="12700">
              <a:lnSpc>
                <a:spcPct val="100000"/>
              </a:lnSpc>
              <a:spcBef>
                <a:spcPts val="100"/>
              </a:spcBef>
            </a:pPr>
            <a:r>
              <a:rPr sz="1800" b="1" spc="-85" dirty="0">
                <a:solidFill>
                  <a:srgbClr val="FFFFFF"/>
                </a:solidFill>
                <a:cs typeface="Tahoma"/>
              </a:rPr>
              <a:t>Input</a:t>
            </a:r>
            <a:endParaRPr sz="1800" dirty="0">
              <a:cs typeface="Tahoma"/>
            </a:endParaRPr>
          </a:p>
        </p:txBody>
      </p:sp>
      <p:sp>
        <p:nvSpPr>
          <p:cNvPr id="5" name="object 5"/>
          <p:cNvSpPr txBox="1"/>
          <p:nvPr/>
        </p:nvSpPr>
        <p:spPr>
          <a:xfrm>
            <a:off x="5041899" y="3027556"/>
            <a:ext cx="888365"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FFFFFF"/>
                </a:solidFill>
                <a:cs typeface="Tahoma"/>
              </a:rPr>
              <a:t>E</a:t>
            </a:r>
            <a:r>
              <a:rPr sz="1800" spc="20" dirty="0">
                <a:solidFill>
                  <a:srgbClr val="FFFFFF"/>
                </a:solidFill>
                <a:cs typeface="Tahoma"/>
              </a:rPr>
              <a:t>x</a:t>
            </a:r>
            <a:r>
              <a:rPr sz="1800" spc="85" dirty="0">
                <a:solidFill>
                  <a:srgbClr val="FFFFFF"/>
                </a:solidFill>
                <a:cs typeface="Tahoma"/>
              </a:rPr>
              <a:t>pe</a:t>
            </a:r>
            <a:r>
              <a:rPr sz="1800" spc="30" dirty="0">
                <a:solidFill>
                  <a:srgbClr val="FFFFFF"/>
                </a:solidFill>
                <a:cs typeface="Tahoma"/>
              </a:rPr>
              <a:t>r</a:t>
            </a:r>
            <a:r>
              <a:rPr sz="1800" spc="-35" dirty="0">
                <a:solidFill>
                  <a:srgbClr val="FFFFFF"/>
                </a:solidFill>
                <a:cs typeface="Tahoma"/>
              </a:rPr>
              <a:t>t</a:t>
            </a:r>
            <a:r>
              <a:rPr sz="1800" spc="-125" dirty="0">
                <a:solidFill>
                  <a:srgbClr val="FFFFFF"/>
                </a:solidFill>
                <a:cs typeface="Tahoma"/>
              </a:rPr>
              <a:t> </a:t>
            </a:r>
            <a:r>
              <a:rPr sz="1800" spc="60" dirty="0">
                <a:solidFill>
                  <a:srgbClr val="FFFFFF"/>
                </a:solidFill>
                <a:cs typeface="Tahoma"/>
              </a:rPr>
              <a:t>1</a:t>
            </a:r>
            <a:endParaRPr sz="1800" dirty="0">
              <a:cs typeface="Tahoma"/>
            </a:endParaRPr>
          </a:p>
        </p:txBody>
      </p:sp>
      <p:sp>
        <p:nvSpPr>
          <p:cNvPr id="6" name="object 6"/>
          <p:cNvSpPr txBox="1"/>
          <p:nvPr/>
        </p:nvSpPr>
        <p:spPr>
          <a:xfrm>
            <a:off x="5041899" y="3907312"/>
            <a:ext cx="888365" cy="300355"/>
          </a:xfrm>
          <a:prstGeom prst="rect">
            <a:avLst/>
          </a:prstGeom>
        </p:spPr>
        <p:txBody>
          <a:bodyPr vert="horz" wrap="square" lIns="0" tIns="12700" rIns="0" bIns="0" rtlCol="0">
            <a:spAutoFit/>
          </a:bodyPr>
          <a:lstStyle/>
          <a:p>
            <a:pPr marL="12700">
              <a:lnSpc>
                <a:spcPct val="100000"/>
              </a:lnSpc>
              <a:spcBef>
                <a:spcPts val="100"/>
              </a:spcBef>
            </a:pPr>
            <a:r>
              <a:rPr sz="1800" spc="55" dirty="0">
                <a:solidFill>
                  <a:srgbClr val="FFFFFF"/>
                </a:solidFill>
                <a:cs typeface="Tahoma"/>
              </a:rPr>
              <a:t>Expe</a:t>
            </a:r>
            <a:r>
              <a:rPr sz="1800" spc="10" dirty="0">
                <a:solidFill>
                  <a:srgbClr val="FFFFFF"/>
                </a:solidFill>
                <a:cs typeface="Tahoma"/>
              </a:rPr>
              <a:t>r</a:t>
            </a:r>
            <a:r>
              <a:rPr sz="1800" spc="-35" dirty="0">
                <a:solidFill>
                  <a:srgbClr val="FFFFFF"/>
                </a:solidFill>
                <a:cs typeface="Tahoma"/>
              </a:rPr>
              <a:t>t</a:t>
            </a:r>
            <a:r>
              <a:rPr sz="1800" spc="-130" dirty="0">
                <a:solidFill>
                  <a:srgbClr val="FFFFFF"/>
                </a:solidFill>
                <a:cs typeface="Tahoma"/>
              </a:rPr>
              <a:t> </a:t>
            </a:r>
            <a:r>
              <a:rPr sz="1800" spc="60" dirty="0">
                <a:solidFill>
                  <a:srgbClr val="FFFFFF"/>
                </a:solidFill>
                <a:cs typeface="Tahoma"/>
              </a:rPr>
              <a:t>2</a:t>
            </a:r>
            <a:endParaRPr sz="1800" dirty="0">
              <a:cs typeface="Tahoma"/>
            </a:endParaRPr>
          </a:p>
        </p:txBody>
      </p:sp>
      <p:sp>
        <p:nvSpPr>
          <p:cNvPr id="7" name="object 7"/>
          <p:cNvSpPr txBox="1"/>
          <p:nvPr/>
        </p:nvSpPr>
        <p:spPr>
          <a:xfrm>
            <a:off x="5041899" y="4770204"/>
            <a:ext cx="888365" cy="300355"/>
          </a:xfrm>
          <a:prstGeom prst="rect">
            <a:avLst/>
          </a:prstGeom>
        </p:spPr>
        <p:txBody>
          <a:bodyPr vert="horz" wrap="square" lIns="0" tIns="12700" rIns="0" bIns="0" rtlCol="0">
            <a:spAutoFit/>
          </a:bodyPr>
          <a:lstStyle/>
          <a:p>
            <a:pPr marL="12700">
              <a:lnSpc>
                <a:spcPct val="100000"/>
              </a:lnSpc>
              <a:spcBef>
                <a:spcPts val="100"/>
              </a:spcBef>
            </a:pPr>
            <a:r>
              <a:rPr sz="1800" spc="55" dirty="0">
                <a:solidFill>
                  <a:srgbClr val="FFFFFF"/>
                </a:solidFill>
                <a:cs typeface="Tahoma"/>
              </a:rPr>
              <a:t>Expe</a:t>
            </a:r>
            <a:r>
              <a:rPr sz="1800" spc="10" dirty="0">
                <a:solidFill>
                  <a:srgbClr val="FFFFFF"/>
                </a:solidFill>
                <a:cs typeface="Tahoma"/>
              </a:rPr>
              <a:t>r</a:t>
            </a:r>
            <a:r>
              <a:rPr sz="1800" spc="-35" dirty="0">
                <a:solidFill>
                  <a:srgbClr val="FFFFFF"/>
                </a:solidFill>
                <a:cs typeface="Tahoma"/>
              </a:rPr>
              <a:t>t</a:t>
            </a:r>
            <a:r>
              <a:rPr sz="1800" spc="-130" dirty="0">
                <a:solidFill>
                  <a:srgbClr val="FFFFFF"/>
                </a:solidFill>
                <a:cs typeface="Tahoma"/>
              </a:rPr>
              <a:t> </a:t>
            </a:r>
            <a:r>
              <a:rPr sz="1800" spc="60" dirty="0">
                <a:solidFill>
                  <a:srgbClr val="FFFFFF"/>
                </a:solidFill>
                <a:cs typeface="Tahoma"/>
              </a:rPr>
              <a:t>3</a:t>
            </a:r>
            <a:endParaRPr sz="1800" dirty="0">
              <a:cs typeface="Tahoma"/>
            </a:endParaRPr>
          </a:p>
        </p:txBody>
      </p:sp>
      <p:sp>
        <p:nvSpPr>
          <p:cNvPr id="8" name="object 8"/>
          <p:cNvSpPr txBox="1"/>
          <p:nvPr/>
        </p:nvSpPr>
        <p:spPr>
          <a:xfrm>
            <a:off x="5041899" y="5696681"/>
            <a:ext cx="888365"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FFFFFF"/>
                </a:solidFill>
                <a:cs typeface="Tahoma"/>
              </a:rPr>
              <a:t>E</a:t>
            </a:r>
            <a:r>
              <a:rPr sz="1800" spc="20" dirty="0">
                <a:solidFill>
                  <a:srgbClr val="FFFFFF"/>
                </a:solidFill>
                <a:cs typeface="Tahoma"/>
              </a:rPr>
              <a:t>x</a:t>
            </a:r>
            <a:r>
              <a:rPr sz="1800" spc="85" dirty="0">
                <a:solidFill>
                  <a:srgbClr val="FFFFFF"/>
                </a:solidFill>
                <a:cs typeface="Tahoma"/>
              </a:rPr>
              <a:t>pe</a:t>
            </a:r>
            <a:r>
              <a:rPr sz="1800" spc="30" dirty="0">
                <a:solidFill>
                  <a:srgbClr val="FFFFFF"/>
                </a:solidFill>
                <a:cs typeface="Tahoma"/>
              </a:rPr>
              <a:t>r</a:t>
            </a:r>
            <a:r>
              <a:rPr sz="1800" spc="-35" dirty="0">
                <a:solidFill>
                  <a:srgbClr val="FFFFFF"/>
                </a:solidFill>
                <a:cs typeface="Tahoma"/>
              </a:rPr>
              <a:t>t</a:t>
            </a:r>
            <a:r>
              <a:rPr sz="1800" spc="-125" dirty="0">
                <a:solidFill>
                  <a:srgbClr val="FFFFFF"/>
                </a:solidFill>
                <a:cs typeface="Tahoma"/>
              </a:rPr>
              <a:t> </a:t>
            </a:r>
            <a:r>
              <a:rPr sz="1800" spc="60" dirty="0">
                <a:solidFill>
                  <a:srgbClr val="FFFFFF"/>
                </a:solidFill>
                <a:cs typeface="Tahoma"/>
              </a:rPr>
              <a:t>4</a:t>
            </a:r>
            <a:endParaRPr sz="1800" dirty="0">
              <a:cs typeface="Tahoma"/>
            </a:endParaRPr>
          </a:p>
        </p:txBody>
      </p:sp>
      <p:sp>
        <p:nvSpPr>
          <p:cNvPr id="9" name="object 9"/>
          <p:cNvSpPr txBox="1"/>
          <p:nvPr/>
        </p:nvSpPr>
        <p:spPr>
          <a:xfrm>
            <a:off x="10580877" y="4385186"/>
            <a:ext cx="822325" cy="299720"/>
          </a:xfrm>
          <a:prstGeom prst="rect">
            <a:avLst/>
          </a:prstGeom>
        </p:spPr>
        <p:txBody>
          <a:bodyPr vert="horz" wrap="square" lIns="0" tIns="12700" rIns="0" bIns="0" rtlCol="0">
            <a:spAutoFit/>
          </a:bodyPr>
          <a:lstStyle/>
          <a:p>
            <a:pPr marL="12700">
              <a:lnSpc>
                <a:spcPct val="100000"/>
              </a:lnSpc>
              <a:spcBef>
                <a:spcPts val="100"/>
              </a:spcBef>
            </a:pPr>
            <a:r>
              <a:rPr sz="1800" b="1" spc="-15" dirty="0">
                <a:solidFill>
                  <a:srgbClr val="FFFFFF"/>
                </a:solidFill>
                <a:cs typeface="Tahoma"/>
              </a:rPr>
              <a:t>Output</a:t>
            </a:r>
            <a:endParaRPr sz="1800" dirty="0">
              <a:cs typeface="Tahoma"/>
            </a:endParaRPr>
          </a:p>
        </p:txBody>
      </p:sp>
      <p:sp>
        <p:nvSpPr>
          <p:cNvPr id="10" name="object 10"/>
          <p:cNvSpPr txBox="1"/>
          <p:nvPr/>
        </p:nvSpPr>
        <p:spPr>
          <a:xfrm>
            <a:off x="7586599" y="4158999"/>
            <a:ext cx="481330" cy="299720"/>
          </a:xfrm>
          <a:prstGeom prst="rect">
            <a:avLst/>
          </a:prstGeom>
        </p:spPr>
        <p:txBody>
          <a:bodyPr vert="horz" wrap="square" lIns="0" tIns="12700" rIns="0" bIns="0" rtlCol="0">
            <a:spAutoFit/>
          </a:bodyPr>
          <a:lstStyle/>
          <a:p>
            <a:pPr marL="12700">
              <a:lnSpc>
                <a:spcPct val="100000"/>
              </a:lnSpc>
              <a:spcBef>
                <a:spcPts val="100"/>
              </a:spcBef>
            </a:pPr>
            <a:r>
              <a:rPr sz="1800" spc="-55" dirty="0">
                <a:cs typeface="Tahoma"/>
              </a:rPr>
              <a:t>40%</a:t>
            </a:r>
            <a:endParaRPr sz="1800">
              <a:cs typeface="Tahoma"/>
            </a:endParaRPr>
          </a:p>
        </p:txBody>
      </p:sp>
      <p:sp>
        <p:nvSpPr>
          <p:cNvPr id="11" name="object 11"/>
          <p:cNvSpPr txBox="1"/>
          <p:nvPr/>
        </p:nvSpPr>
        <p:spPr>
          <a:xfrm>
            <a:off x="7586599" y="5385488"/>
            <a:ext cx="481330" cy="300355"/>
          </a:xfrm>
          <a:prstGeom prst="rect">
            <a:avLst/>
          </a:prstGeom>
        </p:spPr>
        <p:txBody>
          <a:bodyPr vert="horz" wrap="square" lIns="0" tIns="12700" rIns="0" bIns="0" rtlCol="0">
            <a:spAutoFit/>
          </a:bodyPr>
          <a:lstStyle/>
          <a:p>
            <a:pPr marL="12700">
              <a:lnSpc>
                <a:spcPct val="100000"/>
              </a:lnSpc>
              <a:spcBef>
                <a:spcPts val="100"/>
              </a:spcBef>
            </a:pPr>
            <a:r>
              <a:rPr sz="1800" spc="-50" dirty="0">
                <a:cs typeface="Tahoma"/>
              </a:rPr>
              <a:t>60%</a:t>
            </a:r>
            <a:endParaRPr sz="1800">
              <a:cs typeface="Tahoma"/>
            </a:endParaRPr>
          </a:p>
        </p:txBody>
      </p:sp>
      <p:sp>
        <p:nvSpPr>
          <p:cNvPr id="12" name="object 12"/>
          <p:cNvSpPr txBox="1"/>
          <p:nvPr/>
        </p:nvSpPr>
        <p:spPr>
          <a:xfrm>
            <a:off x="674222" y="1670123"/>
            <a:ext cx="10858966" cy="1122680"/>
          </a:xfrm>
          <a:prstGeom prst="rect">
            <a:avLst/>
          </a:prstGeom>
        </p:spPr>
        <p:txBody>
          <a:bodyPr vert="horz" wrap="square" lIns="0" tIns="33020" rIns="0" bIns="0" rtlCol="0">
            <a:spAutoFit/>
          </a:bodyPr>
          <a:lstStyle/>
          <a:p>
            <a:pPr marL="12700" marR="5080">
              <a:lnSpc>
                <a:spcPts val="1300"/>
              </a:lnSpc>
              <a:spcBef>
                <a:spcPts val="260"/>
              </a:spcBef>
            </a:pPr>
            <a:r>
              <a:rPr sz="1400" spc="20" dirty="0">
                <a:cs typeface="Tahoma"/>
              </a:rPr>
              <a:t>Mixture</a:t>
            </a:r>
            <a:r>
              <a:rPr sz="1400" spc="-70" dirty="0">
                <a:cs typeface="Tahoma"/>
              </a:rPr>
              <a:t> </a:t>
            </a:r>
            <a:r>
              <a:rPr sz="1400" spc="20" dirty="0">
                <a:cs typeface="Tahoma"/>
              </a:rPr>
              <a:t>of</a:t>
            </a:r>
            <a:r>
              <a:rPr sz="1400" spc="-40" dirty="0">
                <a:cs typeface="Tahoma"/>
              </a:rPr>
              <a:t> </a:t>
            </a:r>
            <a:r>
              <a:rPr sz="1400" spc="15" dirty="0">
                <a:cs typeface="Tahoma"/>
              </a:rPr>
              <a:t>Experts</a:t>
            </a:r>
            <a:r>
              <a:rPr sz="1400" spc="-60" dirty="0">
                <a:cs typeface="Tahoma"/>
              </a:rPr>
              <a:t> </a:t>
            </a:r>
            <a:r>
              <a:rPr sz="1400" spc="10" dirty="0">
                <a:cs typeface="Tahoma"/>
              </a:rPr>
              <a:t>is</a:t>
            </a:r>
            <a:r>
              <a:rPr sz="1400" spc="-65" dirty="0">
                <a:cs typeface="Tahoma"/>
              </a:rPr>
              <a:t> </a:t>
            </a:r>
            <a:r>
              <a:rPr sz="1400" spc="15" dirty="0">
                <a:cs typeface="Tahoma"/>
              </a:rPr>
              <a:t>an</a:t>
            </a:r>
            <a:r>
              <a:rPr sz="1400" spc="-60" dirty="0">
                <a:cs typeface="Tahoma"/>
              </a:rPr>
              <a:t> </a:t>
            </a:r>
            <a:r>
              <a:rPr sz="1400" spc="40" dirty="0">
                <a:cs typeface="Tahoma"/>
              </a:rPr>
              <a:t>ensemble</a:t>
            </a:r>
            <a:r>
              <a:rPr sz="1400" spc="-50" dirty="0">
                <a:cs typeface="Tahoma"/>
              </a:rPr>
              <a:t> </a:t>
            </a:r>
            <a:r>
              <a:rPr sz="1400" spc="25" dirty="0">
                <a:cs typeface="Tahoma"/>
              </a:rPr>
              <a:t>technique,</a:t>
            </a:r>
            <a:r>
              <a:rPr sz="1400" spc="-95" dirty="0">
                <a:cs typeface="Tahoma"/>
              </a:rPr>
              <a:t> </a:t>
            </a:r>
            <a:r>
              <a:rPr sz="1400" spc="25" dirty="0">
                <a:cs typeface="Tahoma"/>
              </a:rPr>
              <a:t>in</a:t>
            </a:r>
            <a:r>
              <a:rPr sz="1400" spc="-60" dirty="0">
                <a:cs typeface="Tahoma"/>
              </a:rPr>
              <a:t> </a:t>
            </a:r>
            <a:r>
              <a:rPr sz="1400" spc="25" dirty="0">
                <a:cs typeface="Tahoma"/>
              </a:rPr>
              <a:t>which</a:t>
            </a:r>
            <a:r>
              <a:rPr sz="1400" spc="-70" dirty="0">
                <a:cs typeface="Tahoma"/>
              </a:rPr>
              <a:t> </a:t>
            </a:r>
            <a:r>
              <a:rPr sz="1400" spc="25" dirty="0">
                <a:cs typeface="Tahoma"/>
              </a:rPr>
              <a:t>we</a:t>
            </a:r>
            <a:r>
              <a:rPr sz="1400" spc="-65" dirty="0">
                <a:cs typeface="Tahoma"/>
              </a:rPr>
              <a:t> </a:t>
            </a:r>
            <a:r>
              <a:rPr sz="1400" spc="15" dirty="0">
                <a:cs typeface="Tahoma"/>
              </a:rPr>
              <a:t>have</a:t>
            </a:r>
            <a:r>
              <a:rPr sz="1400" spc="-65" dirty="0">
                <a:cs typeface="Tahoma"/>
              </a:rPr>
              <a:t> </a:t>
            </a:r>
            <a:r>
              <a:rPr sz="1400" spc="30" dirty="0">
                <a:cs typeface="Tahoma"/>
              </a:rPr>
              <a:t>multiple</a:t>
            </a:r>
            <a:r>
              <a:rPr sz="1400" spc="-60" dirty="0">
                <a:cs typeface="Tahoma"/>
              </a:rPr>
              <a:t> </a:t>
            </a:r>
            <a:r>
              <a:rPr sz="1400" spc="5" dirty="0">
                <a:cs typeface="Tahoma"/>
              </a:rPr>
              <a:t>“expert”</a:t>
            </a:r>
            <a:r>
              <a:rPr sz="1400" spc="-70" dirty="0">
                <a:cs typeface="Tahoma"/>
              </a:rPr>
              <a:t> </a:t>
            </a:r>
            <a:r>
              <a:rPr sz="1400" spc="35" dirty="0">
                <a:cs typeface="Tahoma"/>
              </a:rPr>
              <a:t>models,</a:t>
            </a:r>
            <a:r>
              <a:rPr sz="1400" spc="-80" dirty="0">
                <a:cs typeface="Tahoma"/>
              </a:rPr>
              <a:t> </a:t>
            </a:r>
            <a:r>
              <a:rPr sz="1400" spc="30" dirty="0">
                <a:cs typeface="Tahoma"/>
              </a:rPr>
              <a:t>each</a:t>
            </a:r>
            <a:r>
              <a:rPr sz="1400" spc="-60" dirty="0">
                <a:cs typeface="Tahoma"/>
              </a:rPr>
              <a:t> </a:t>
            </a:r>
            <a:r>
              <a:rPr sz="1400" spc="20" dirty="0">
                <a:cs typeface="Tahoma"/>
              </a:rPr>
              <a:t>trained</a:t>
            </a:r>
            <a:r>
              <a:rPr sz="1400" spc="-70" dirty="0">
                <a:cs typeface="Tahoma"/>
              </a:rPr>
              <a:t> </a:t>
            </a:r>
            <a:r>
              <a:rPr sz="1400" spc="50" dirty="0">
                <a:cs typeface="Tahoma"/>
              </a:rPr>
              <a:t>on</a:t>
            </a:r>
            <a:r>
              <a:rPr sz="1400" spc="-60" dirty="0">
                <a:cs typeface="Tahoma"/>
              </a:rPr>
              <a:t> </a:t>
            </a:r>
            <a:r>
              <a:rPr sz="1400" spc="10" dirty="0">
                <a:cs typeface="Tahoma"/>
              </a:rPr>
              <a:t>a</a:t>
            </a:r>
            <a:r>
              <a:rPr sz="1400" spc="-70" dirty="0">
                <a:cs typeface="Tahoma"/>
              </a:rPr>
              <a:t> </a:t>
            </a:r>
            <a:r>
              <a:rPr sz="1400" spc="20" dirty="0">
                <a:cs typeface="Tahoma"/>
              </a:rPr>
              <a:t>subset</a:t>
            </a:r>
            <a:r>
              <a:rPr sz="1400" spc="-60" dirty="0">
                <a:cs typeface="Tahoma"/>
              </a:rPr>
              <a:t> </a:t>
            </a:r>
            <a:r>
              <a:rPr sz="1400" spc="25" dirty="0">
                <a:cs typeface="Tahoma"/>
              </a:rPr>
              <a:t>of</a:t>
            </a:r>
            <a:r>
              <a:rPr sz="1400" spc="-40" dirty="0">
                <a:cs typeface="Tahoma"/>
              </a:rPr>
              <a:t> </a:t>
            </a:r>
            <a:r>
              <a:rPr sz="1400" spc="15" dirty="0">
                <a:cs typeface="Tahoma"/>
              </a:rPr>
              <a:t>the</a:t>
            </a:r>
            <a:r>
              <a:rPr sz="1400" spc="-65" dirty="0">
                <a:cs typeface="Tahoma"/>
              </a:rPr>
              <a:t> </a:t>
            </a:r>
            <a:r>
              <a:rPr sz="1400" dirty="0">
                <a:cs typeface="Tahoma"/>
              </a:rPr>
              <a:t>data,</a:t>
            </a:r>
            <a:r>
              <a:rPr sz="1400" spc="-70" dirty="0">
                <a:cs typeface="Tahoma"/>
              </a:rPr>
              <a:t> </a:t>
            </a:r>
            <a:r>
              <a:rPr sz="1400" spc="20" dirty="0">
                <a:cs typeface="Tahoma"/>
              </a:rPr>
              <a:t>such</a:t>
            </a:r>
            <a:r>
              <a:rPr sz="1400" spc="-65" dirty="0">
                <a:cs typeface="Tahoma"/>
              </a:rPr>
              <a:t> </a:t>
            </a:r>
            <a:r>
              <a:rPr sz="1400" spc="-10" dirty="0">
                <a:cs typeface="Tahoma"/>
              </a:rPr>
              <a:t>that</a:t>
            </a:r>
            <a:r>
              <a:rPr sz="1400" spc="-75" dirty="0">
                <a:cs typeface="Tahoma"/>
              </a:rPr>
              <a:t> </a:t>
            </a:r>
            <a:r>
              <a:rPr sz="1400" spc="30" dirty="0">
                <a:cs typeface="Tahoma"/>
              </a:rPr>
              <a:t>each </a:t>
            </a:r>
            <a:r>
              <a:rPr sz="1400" spc="-360" dirty="0">
                <a:cs typeface="Tahoma"/>
              </a:rPr>
              <a:t> </a:t>
            </a:r>
            <a:r>
              <a:rPr sz="1400" spc="60" dirty="0">
                <a:cs typeface="Tahoma"/>
              </a:rPr>
              <a:t>model </a:t>
            </a:r>
            <a:r>
              <a:rPr sz="1400" spc="25" dirty="0">
                <a:cs typeface="Tahoma"/>
              </a:rPr>
              <a:t>specializes </a:t>
            </a:r>
            <a:r>
              <a:rPr sz="1400" spc="50" dirty="0">
                <a:cs typeface="Tahoma"/>
              </a:rPr>
              <a:t>on </a:t>
            </a:r>
            <a:r>
              <a:rPr sz="1400" dirty="0">
                <a:cs typeface="Tahoma"/>
              </a:rPr>
              <a:t>it </a:t>
            </a:r>
            <a:r>
              <a:rPr sz="1400" spc="40" dirty="0">
                <a:cs typeface="Tahoma"/>
              </a:rPr>
              <a:t>and </a:t>
            </a:r>
            <a:r>
              <a:rPr sz="1400" spc="20" dirty="0">
                <a:cs typeface="Tahoma"/>
              </a:rPr>
              <a:t>then </a:t>
            </a:r>
            <a:r>
              <a:rPr sz="1400" spc="15" dirty="0">
                <a:cs typeface="Tahoma"/>
              </a:rPr>
              <a:t>the </a:t>
            </a:r>
            <a:r>
              <a:rPr sz="1400" spc="25" dirty="0">
                <a:cs typeface="Tahoma"/>
              </a:rPr>
              <a:t>output of </a:t>
            </a:r>
            <a:r>
              <a:rPr sz="1400" spc="15" dirty="0">
                <a:cs typeface="Tahoma"/>
              </a:rPr>
              <a:t>the experts </a:t>
            </a:r>
            <a:r>
              <a:rPr sz="1400" spc="10" dirty="0">
                <a:cs typeface="Tahoma"/>
              </a:rPr>
              <a:t>are </a:t>
            </a:r>
            <a:r>
              <a:rPr sz="1400" spc="60" dirty="0">
                <a:cs typeface="Tahoma"/>
              </a:rPr>
              <a:t>combined </a:t>
            </a:r>
            <a:r>
              <a:rPr sz="1400" spc="-5" dirty="0">
                <a:cs typeface="Tahoma"/>
              </a:rPr>
              <a:t>(usually </a:t>
            </a:r>
            <a:r>
              <a:rPr sz="1400" spc="10" dirty="0">
                <a:cs typeface="Tahoma"/>
              </a:rPr>
              <a:t>a </a:t>
            </a:r>
            <a:r>
              <a:rPr sz="1400" spc="40" dirty="0">
                <a:cs typeface="Tahoma"/>
              </a:rPr>
              <a:t>weighted </a:t>
            </a:r>
            <a:r>
              <a:rPr sz="1400" spc="20" dirty="0">
                <a:cs typeface="Tahoma"/>
              </a:rPr>
              <a:t>sum </a:t>
            </a:r>
            <a:r>
              <a:rPr sz="1400" spc="40" dirty="0">
                <a:cs typeface="Tahoma"/>
              </a:rPr>
              <a:t>or by </a:t>
            </a:r>
            <a:r>
              <a:rPr sz="1400" spc="15" dirty="0">
                <a:cs typeface="Tahoma"/>
              </a:rPr>
              <a:t>averaging) </a:t>
            </a:r>
            <a:r>
              <a:rPr sz="1400" spc="30" dirty="0">
                <a:cs typeface="Tahoma"/>
              </a:rPr>
              <a:t>to </a:t>
            </a:r>
            <a:r>
              <a:rPr sz="1400" spc="50" dirty="0">
                <a:cs typeface="Tahoma"/>
              </a:rPr>
              <a:t>produce </a:t>
            </a:r>
            <a:r>
              <a:rPr sz="1400" spc="60" dirty="0">
                <a:cs typeface="Tahoma"/>
              </a:rPr>
              <a:t>one </a:t>
            </a:r>
            <a:r>
              <a:rPr sz="1400" spc="35" dirty="0">
                <a:cs typeface="Tahoma"/>
              </a:rPr>
              <a:t>single </a:t>
            </a:r>
            <a:r>
              <a:rPr sz="1400" spc="-360" dirty="0">
                <a:cs typeface="Tahoma"/>
              </a:rPr>
              <a:t> </a:t>
            </a:r>
            <a:r>
              <a:rPr sz="1400" spc="15" dirty="0">
                <a:cs typeface="Tahoma"/>
              </a:rPr>
              <a:t>output.</a:t>
            </a:r>
            <a:endParaRPr sz="1400" dirty="0">
              <a:cs typeface="Tahoma"/>
            </a:endParaRPr>
          </a:p>
          <a:p>
            <a:pPr marL="12700" marR="224790">
              <a:lnSpc>
                <a:spcPts val="2290"/>
              </a:lnSpc>
              <a:spcBef>
                <a:spcPts val="204"/>
              </a:spcBef>
            </a:pPr>
            <a:r>
              <a:rPr sz="1400" spc="-55" dirty="0">
                <a:cs typeface="Tahoma"/>
              </a:rPr>
              <a:t>In</a:t>
            </a:r>
            <a:r>
              <a:rPr sz="1400" spc="-70" dirty="0">
                <a:cs typeface="Tahoma"/>
              </a:rPr>
              <a:t> </a:t>
            </a:r>
            <a:r>
              <a:rPr sz="1400" spc="20" dirty="0">
                <a:cs typeface="Tahoma"/>
              </a:rPr>
              <a:t>the</a:t>
            </a:r>
            <a:r>
              <a:rPr sz="1400" spc="-75" dirty="0">
                <a:cs typeface="Tahoma"/>
              </a:rPr>
              <a:t> </a:t>
            </a:r>
            <a:r>
              <a:rPr sz="1400" spc="20" dirty="0">
                <a:cs typeface="Tahoma"/>
              </a:rPr>
              <a:t>case</a:t>
            </a:r>
            <a:r>
              <a:rPr sz="1400" spc="-65" dirty="0">
                <a:cs typeface="Tahoma"/>
              </a:rPr>
              <a:t> </a:t>
            </a:r>
            <a:r>
              <a:rPr sz="1400" spc="25" dirty="0">
                <a:cs typeface="Tahoma"/>
              </a:rPr>
              <a:t>of</a:t>
            </a:r>
            <a:r>
              <a:rPr sz="1400" spc="-35" dirty="0">
                <a:cs typeface="Tahoma"/>
              </a:rPr>
              <a:t> </a:t>
            </a:r>
            <a:r>
              <a:rPr sz="1400" b="1" spc="-25" dirty="0">
                <a:cs typeface="Tahoma"/>
              </a:rPr>
              <a:t>Mistral</a:t>
            </a:r>
            <a:r>
              <a:rPr sz="1400" b="1" spc="-60" dirty="0">
                <a:cs typeface="Tahoma"/>
              </a:rPr>
              <a:t> </a:t>
            </a:r>
            <a:r>
              <a:rPr sz="1400" b="1" spc="-15" dirty="0">
                <a:cs typeface="Tahoma"/>
              </a:rPr>
              <a:t>8x7B</a:t>
            </a:r>
            <a:r>
              <a:rPr sz="1400" spc="-15" dirty="0">
                <a:cs typeface="Tahoma"/>
              </a:rPr>
              <a:t>,</a:t>
            </a:r>
            <a:r>
              <a:rPr sz="1400" spc="-110" dirty="0">
                <a:cs typeface="Tahoma"/>
              </a:rPr>
              <a:t> </a:t>
            </a:r>
            <a:r>
              <a:rPr sz="1400" spc="25" dirty="0">
                <a:cs typeface="Tahoma"/>
              </a:rPr>
              <a:t>we</a:t>
            </a:r>
            <a:r>
              <a:rPr sz="1400" spc="-70" dirty="0">
                <a:cs typeface="Tahoma"/>
              </a:rPr>
              <a:t> </a:t>
            </a:r>
            <a:r>
              <a:rPr sz="1400" spc="5" dirty="0">
                <a:cs typeface="Tahoma"/>
              </a:rPr>
              <a:t>talk</a:t>
            </a:r>
            <a:r>
              <a:rPr sz="1400" spc="-85" dirty="0">
                <a:cs typeface="Tahoma"/>
              </a:rPr>
              <a:t> </a:t>
            </a:r>
            <a:r>
              <a:rPr sz="1400" spc="35" dirty="0">
                <a:cs typeface="Tahoma"/>
              </a:rPr>
              <a:t>about</a:t>
            </a:r>
            <a:r>
              <a:rPr sz="1400" spc="-60" dirty="0">
                <a:cs typeface="Tahoma"/>
              </a:rPr>
              <a:t> </a:t>
            </a:r>
            <a:r>
              <a:rPr sz="1400" b="1" spc="-25" dirty="0">
                <a:cs typeface="Tahoma"/>
              </a:rPr>
              <a:t>Sparse</a:t>
            </a:r>
            <a:r>
              <a:rPr sz="1400" b="1" spc="-70" dirty="0">
                <a:cs typeface="Tahoma"/>
              </a:rPr>
              <a:t> </a:t>
            </a:r>
            <a:r>
              <a:rPr sz="1400" b="1" spc="-20" dirty="0">
                <a:cs typeface="Tahoma"/>
              </a:rPr>
              <a:t>Mixture</a:t>
            </a:r>
            <a:r>
              <a:rPr sz="1400" b="1" spc="-45" dirty="0">
                <a:cs typeface="Tahoma"/>
              </a:rPr>
              <a:t> </a:t>
            </a:r>
            <a:r>
              <a:rPr sz="1400" b="1" spc="-5" dirty="0">
                <a:cs typeface="Tahoma"/>
              </a:rPr>
              <a:t>of</a:t>
            </a:r>
            <a:r>
              <a:rPr sz="1400" b="1" spc="-20" dirty="0">
                <a:cs typeface="Tahoma"/>
              </a:rPr>
              <a:t> </a:t>
            </a:r>
            <a:r>
              <a:rPr sz="1400" b="1" spc="-25" dirty="0">
                <a:cs typeface="Tahoma"/>
              </a:rPr>
              <a:t>Experts</a:t>
            </a:r>
            <a:r>
              <a:rPr sz="1400" b="1" spc="-80" dirty="0">
                <a:cs typeface="Tahoma"/>
              </a:rPr>
              <a:t> </a:t>
            </a:r>
            <a:r>
              <a:rPr sz="1400" b="1" spc="-45" dirty="0">
                <a:cs typeface="Tahoma"/>
              </a:rPr>
              <a:t>(SMoE)</a:t>
            </a:r>
            <a:r>
              <a:rPr sz="1400" spc="-45" dirty="0">
                <a:cs typeface="Tahoma"/>
              </a:rPr>
              <a:t>,</a:t>
            </a:r>
            <a:r>
              <a:rPr sz="1400" spc="-90" dirty="0">
                <a:cs typeface="Tahoma"/>
              </a:rPr>
              <a:t> </a:t>
            </a:r>
            <a:r>
              <a:rPr sz="1400" spc="35" dirty="0">
                <a:cs typeface="Tahoma"/>
              </a:rPr>
              <a:t>because</a:t>
            </a:r>
            <a:r>
              <a:rPr sz="1400" spc="-50" dirty="0">
                <a:cs typeface="Tahoma"/>
              </a:rPr>
              <a:t> </a:t>
            </a:r>
            <a:r>
              <a:rPr sz="1400" spc="30" dirty="0">
                <a:cs typeface="Tahoma"/>
              </a:rPr>
              <a:t>only</a:t>
            </a:r>
            <a:r>
              <a:rPr sz="1400" spc="-60" dirty="0">
                <a:cs typeface="Tahoma"/>
              </a:rPr>
              <a:t> </a:t>
            </a:r>
            <a:r>
              <a:rPr sz="1400" spc="40" dirty="0">
                <a:cs typeface="Tahoma"/>
              </a:rPr>
              <a:t>2</a:t>
            </a:r>
            <a:r>
              <a:rPr sz="1400" spc="-75" dirty="0">
                <a:cs typeface="Tahoma"/>
              </a:rPr>
              <a:t> </a:t>
            </a:r>
            <a:r>
              <a:rPr sz="1400" spc="25" dirty="0">
                <a:cs typeface="Tahoma"/>
              </a:rPr>
              <a:t>out</a:t>
            </a:r>
            <a:r>
              <a:rPr sz="1400" spc="-65" dirty="0">
                <a:cs typeface="Tahoma"/>
              </a:rPr>
              <a:t> </a:t>
            </a:r>
            <a:r>
              <a:rPr sz="1400" spc="25" dirty="0">
                <a:cs typeface="Tahoma"/>
              </a:rPr>
              <a:t>of</a:t>
            </a:r>
            <a:r>
              <a:rPr sz="1400" spc="-45" dirty="0">
                <a:cs typeface="Tahoma"/>
              </a:rPr>
              <a:t> </a:t>
            </a:r>
            <a:r>
              <a:rPr sz="1400" spc="40" dirty="0">
                <a:cs typeface="Tahoma"/>
              </a:rPr>
              <a:t>8</a:t>
            </a:r>
            <a:r>
              <a:rPr sz="1400" spc="-75" dirty="0">
                <a:cs typeface="Tahoma"/>
              </a:rPr>
              <a:t> </a:t>
            </a:r>
            <a:r>
              <a:rPr sz="1400" spc="15" dirty="0">
                <a:cs typeface="Tahoma"/>
              </a:rPr>
              <a:t>experts</a:t>
            </a:r>
            <a:r>
              <a:rPr sz="1400" spc="-50" dirty="0">
                <a:cs typeface="Tahoma"/>
              </a:rPr>
              <a:t> </a:t>
            </a:r>
            <a:r>
              <a:rPr sz="1400" spc="10" dirty="0">
                <a:cs typeface="Tahoma"/>
              </a:rPr>
              <a:t>are</a:t>
            </a:r>
            <a:r>
              <a:rPr sz="1400" spc="-65" dirty="0">
                <a:cs typeface="Tahoma"/>
              </a:rPr>
              <a:t> </a:t>
            </a:r>
            <a:r>
              <a:rPr sz="1400" spc="40" dirty="0">
                <a:cs typeface="Tahoma"/>
              </a:rPr>
              <a:t>used</a:t>
            </a:r>
            <a:r>
              <a:rPr sz="1400" spc="-60" dirty="0">
                <a:cs typeface="Tahoma"/>
              </a:rPr>
              <a:t> </a:t>
            </a:r>
            <a:r>
              <a:rPr sz="1400" spc="10" dirty="0">
                <a:cs typeface="Tahoma"/>
              </a:rPr>
              <a:t>for</a:t>
            </a:r>
            <a:r>
              <a:rPr sz="1400" spc="-60" dirty="0">
                <a:cs typeface="Tahoma"/>
              </a:rPr>
              <a:t> </a:t>
            </a:r>
            <a:r>
              <a:rPr sz="1400" spc="15" dirty="0">
                <a:cs typeface="Tahoma"/>
              </a:rPr>
              <a:t>every</a:t>
            </a:r>
            <a:r>
              <a:rPr sz="1400" spc="-55" dirty="0">
                <a:cs typeface="Tahoma"/>
              </a:rPr>
              <a:t> </a:t>
            </a:r>
            <a:r>
              <a:rPr sz="1400" spc="10" dirty="0">
                <a:cs typeface="Tahoma"/>
              </a:rPr>
              <a:t>token. </a:t>
            </a:r>
            <a:r>
              <a:rPr sz="1400" spc="15" dirty="0">
                <a:cs typeface="Tahoma"/>
              </a:rPr>
              <a:t> </a:t>
            </a:r>
            <a:r>
              <a:rPr sz="1400" spc="10" dirty="0">
                <a:cs typeface="Tahoma"/>
              </a:rPr>
              <a:t>The</a:t>
            </a:r>
            <a:r>
              <a:rPr sz="1400" spc="-65" dirty="0">
                <a:cs typeface="Tahoma"/>
              </a:rPr>
              <a:t> </a:t>
            </a:r>
            <a:r>
              <a:rPr sz="1400" spc="25" dirty="0">
                <a:cs typeface="Tahoma"/>
              </a:rPr>
              <a:t>gate</a:t>
            </a:r>
            <a:r>
              <a:rPr sz="1400" spc="-65" dirty="0">
                <a:cs typeface="Tahoma"/>
              </a:rPr>
              <a:t> </a:t>
            </a:r>
            <a:r>
              <a:rPr sz="1400" spc="45" dirty="0">
                <a:cs typeface="Tahoma"/>
              </a:rPr>
              <a:t>produces</a:t>
            </a:r>
            <a:r>
              <a:rPr sz="1400" spc="-35" dirty="0">
                <a:cs typeface="Tahoma"/>
              </a:rPr>
              <a:t> </a:t>
            </a:r>
            <a:r>
              <a:rPr sz="1400" b="1" spc="-15" dirty="0">
                <a:cs typeface="Tahoma"/>
              </a:rPr>
              <a:t>logits</a:t>
            </a:r>
            <a:r>
              <a:rPr sz="1400" b="1" spc="-50" dirty="0">
                <a:cs typeface="Tahoma"/>
              </a:rPr>
              <a:t> </a:t>
            </a:r>
            <a:r>
              <a:rPr sz="1400" spc="25" dirty="0">
                <a:cs typeface="Tahoma"/>
              </a:rPr>
              <a:t>which</a:t>
            </a:r>
            <a:r>
              <a:rPr sz="1400" spc="-65" dirty="0">
                <a:cs typeface="Tahoma"/>
              </a:rPr>
              <a:t> </a:t>
            </a:r>
            <a:r>
              <a:rPr sz="1400" spc="10" dirty="0">
                <a:cs typeface="Tahoma"/>
              </a:rPr>
              <a:t>are</a:t>
            </a:r>
            <a:r>
              <a:rPr sz="1400" spc="-60" dirty="0">
                <a:cs typeface="Tahoma"/>
              </a:rPr>
              <a:t> </a:t>
            </a:r>
            <a:r>
              <a:rPr sz="1400" spc="40" dirty="0">
                <a:cs typeface="Tahoma"/>
              </a:rPr>
              <a:t>used</a:t>
            </a:r>
            <a:r>
              <a:rPr sz="1400" spc="-55" dirty="0">
                <a:cs typeface="Tahoma"/>
              </a:rPr>
              <a:t> </a:t>
            </a:r>
            <a:r>
              <a:rPr sz="1400" spc="30" dirty="0">
                <a:cs typeface="Tahoma"/>
              </a:rPr>
              <a:t>to</a:t>
            </a:r>
            <a:r>
              <a:rPr sz="1400" spc="-85" dirty="0">
                <a:cs typeface="Tahoma"/>
              </a:rPr>
              <a:t> </a:t>
            </a:r>
            <a:r>
              <a:rPr sz="1400" spc="20" dirty="0">
                <a:cs typeface="Tahoma"/>
              </a:rPr>
              <a:t>select</a:t>
            </a:r>
            <a:r>
              <a:rPr sz="1400" spc="-55" dirty="0">
                <a:cs typeface="Tahoma"/>
              </a:rPr>
              <a:t> </a:t>
            </a:r>
            <a:r>
              <a:rPr sz="1400" spc="15" dirty="0">
                <a:cs typeface="Tahoma"/>
              </a:rPr>
              <a:t>the</a:t>
            </a:r>
            <a:r>
              <a:rPr sz="1400" spc="-65" dirty="0">
                <a:cs typeface="Tahoma"/>
              </a:rPr>
              <a:t> </a:t>
            </a:r>
            <a:r>
              <a:rPr sz="1400" spc="20" dirty="0">
                <a:cs typeface="Tahoma"/>
              </a:rPr>
              <a:t>top-k</a:t>
            </a:r>
            <a:r>
              <a:rPr sz="1400" spc="-65" dirty="0">
                <a:cs typeface="Tahoma"/>
              </a:rPr>
              <a:t> </a:t>
            </a:r>
            <a:r>
              <a:rPr sz="1400" spc="5" dirty="0">
                <a:cs typeface="Tahoma"/>
              </a:rPr>
              <a:t>experts.</a:t>
            </a:r>
            <a:r>
              <a:rPr sz="1400" spc="-110" dirty="0">
                <a:cs typeface="Tahoma"/>
              </a:rPr>
              <a:t> </a:t>
            </a:r>
            <a:r>
              <a:rPr sz="1400" spc="10" dirty="0">
                <a:cs typeface="Tahoma"/>
              </a:rPr>
              <a:t>The</a:t>
            </a:r>
            <a:r>
              <a:rPr sz="1400" spc="-60" dirty="0">
                <a:cs typeface="Tahoma"/>
              </a:rPr>
              <a:t> </a:t>
            </a:r>
            <a:r>
              <a:rPr sz="1400" spc="20" dirty="0">
                <a:cs typeface="Tahoma"/>
              </a:rPr>
              <a:t>top-k</a:t>
            </a:r>
            <a:r>
              <a:rPr sz="1400" spc="-55" dirty="0">
                <a:cs typeface="Tahoma"/>
              </a:rPr>
              <a:t> </a:t>
            </a:r>
            <a:r>
              <a:rPr sz="1400" spc="30" dirty="0">
                <a:cs typeface="Tahoma"/>
              </a:rPr>
              <a:t>logits</a:t>
            </a:r>
            <a:r>
              <a:rPr sz="1400" spc="-65" dirty="0">
                <a:cs typeface="Tahoma"/>
              </a:rPr>
              <a:t> </a:t>
            </a:r>
            <a:r>
              <a:rPr sz="1400" spc="10" dirty="0">
                <a:cs typeface="Tahoma"/>
              </a:rPr>
              <a:t>are</a:t>
            </a:r>
            <a:r>
              <a:rPr sz="1400" spc="-60" dirty="0">
                <a:cs typeface="Tahoma"/>
              </a:rPr>
              <a:t> </a:t>
            </a:r>
            <a:r>
              <a:rPr sz="1400" spc="20" dirty="0">
                <a:cs typeface="Tahoma"/>
              </a:rPr>
              <a:t>then</a:t>
            </a:r>
            <a:r>
              <a:rPr sz="1400" spc="-70" dirty="0">
                <a:cs typeface="Tahoma"/>
              </a:rPr>
              <a:t> </a:t>
            </a:r>
            <a:r>
              <a:rPr sz="1400" spc="15" dirty="0">
                <a:cs typeface="Tahoma"/>
              </a:rPr>
              <a:t>run</a:t>
            </a:r>
            <a:r>
              <a:rPr sz="1400" spc="-60" dirty="0">
                <a:cs typeface="Tahoma"/>
              </a:rPr>
              <a:t> </a:t>
            </a:r>
            <a:r>
              <a:rPr sz="1400" spc="25" dirty="0">
                <a:cs typeface="Tahoma"/>
              </a:rPr>
              <a:t>through</a:t>
            </a:r>
            <a:r>
              <a:rPr sz="1400" spc="-55" dirty="0">
                <a:cs typeface="Tahoma"/>
              </a:rPr>
              <a:t> </a:t>
            </a:r>
            <a:r>
              <a:rPr sz="1400" spc="10" dirty="0">
                <a:cs typeface="Tahoma"/>
              </a:rPr>
              <a:t>a</a:t>
            </a:r>
            <a:r>
              <a:rPr sz="1400" spc="-65" dirty="0">
                <a:cs typeface="Tahoma"/>
              </a:rPr>
              <a:t> </a:t>
            </a:r>
            <a:r>
              <a:rPr sz="1400" b="1" spc="-35" dirty="0">
                <a:cs typeface="Tahoma"/>
              </a:rPr>
              <a:t>softmax</a:t>
            </a:r>
            <a:r>
              <a:rPr sz="1400" b="1" spc="-40" dirty="0">
                <a:cs typeface="Tahoma"/>
              </a:rPr>
              <a:t> </a:t>
            </a:r>
            <a:r>
              <a:rPr sz="1400" spc="30" dirty="0">
                <a:cs typeface="Tahoma"/>
              </a:rPr>
              <a:t>to</a:t>
            </a:r>
            <a:r>
              <a:rPr sz="1400" spc="-70" dirty="0">
                <a:cs typeface="Tahoma"/>
              </a:rPr>
              <a:t> </a:t>
            </a:r>
            <a:r>
              <a:rPr sz="1400" spc="50" dirty="0">
                <a:cs typeface="Tahoma"/>
              </a:rPr>
              <a:t>produce</a:t>
            </a:r>
            <a:r>
              <a:rPr sz="1400" spc="-45" dirty="0">
                <a:cs typeface="Tahoma"/>
              </a:rPr>
              <a:t> </a:t>
            </a:r>
            <a:r>
              <a:rPr sz="1400" spc="15" dirty="0">
                <a:cs typeface="Tahoma"/>
              </a:rPr>
              <a:t>weights.</a:t>
            </a:r>
            <a:endParaRPr sz="2400" dirty="0">
              <a:cs typeface="Tahoma"/>
            </a:endParaRPr>
          </a:p>
        </p:txBody>
      </p:sp>
      <p:sp>
        <p:nvSpPr>
          <p:cNvPr id="13" name="object 13"/>
          <p:cNvSpPr txBox="1"/>
          <p:nvPr/>
        </p:nvSpPr>
        <p:spPr>
          <a:xfrm>
            <a:off x="4408170" y="3924302"/>
            <a:ext cx="215900" cy="175048"/>
          </a:xfrm>
          <a:prstGeom prst="rect">
            <a:avLst/>
          </a:prstGeom>
        </p:spPr>
        <p:txBody>
          <a:bodyPr vert="horz" wrap="square" lIns="0" tIns="13335" rIns="0" bIns="0" rtlCol="0">
            <a:spAutoFit/>
          </a:bodyPr>
          <a:lstStyle/>
          <a:p>
            <a:pPr marL="12700">
              <a:lnSpc>
                <a:spcPct val="100000"/>
              </a:lnSpc>
              <a:spcBef>
                <a:spcPts val="105"/>
              </a:spcBef>
            </a:pPr>
            <a:r>
              <a:rPr sz="1050" spc="5" dirty="0">
                <a:cs typeface="Tahoma"/>
              </a:rPr>
              <a:t>1.5</a:t>
            </a:r>
            <a:endParaRPr sz="1050" dirty="0">
              <a:cs typeface="Tahoma"/>
            </a:endParaRPr>
          </a:p>
        </p:txBody>
      </p:sp>
      <p:sp>
        <p:nvSpPr>
          <p:cNvPr id="14" name="object 14"/>
          <p:cNvSpPr txBox="1"/>
          <p:nvPr/>
        </p:nvSpPr>
        <p:spPr>
          <a:xfrm>
            <a:off x="4410583" y="4860038"/>
            <a:ext cx="215900" cy="175048"/>
          </a:xfrm>
          <a:prstGeom prst="rect">
            <a:avLst/>
          </a:prstGeom>
        </p:spPr>
        <p:txBody>
          <a:bodyPr vert="horz" wrap="square" lIns="0" tIns="13335" rIns="0" bIns="0" rtlCol="0">
            <a:spAutoFit/>
          </a:bodyPr>
          <a:lstStyle/>
          <a:p>
            <a:pPr marL="12700">
              <a:lnSpc>
                <a:spcPct val="100000"/>
              </a:lnSpc>
              <a:spcBef>
                <a:spcPts val="105"/>
              </a:spcBef>
            </a:pPr>
            <a:r>
              <a:rPr sz="1050" spc="5" dirty="0">
                <a:cs typeface="Tahoma"/>
              </a:rPr>
              <a:t>1.2</a:t>
            </a:r>
            <a:endParaRPr sz="1050">
              <a:cs typeface="Tahoma"/>
            </a:endParaRPr>
          </a:p>
        </p:txBody>
      </p:sp>
      <p:sp>
        <p:nvSpPr>
          <p:cNvPr id="15" name="object 15"/>
          <p:cNvSpPr txBox="1"/>
          <p:nvPr/>
        </p:nvSpPr>
        <p:spPr>
          <a:xfrm>
            <a:off x="4407534" y="5777156"/>
            <a:ext cx="215900" cy="175048"/>
          </a:xfrm>
          <a:prstGeom prst="rect">
            <a:avLst/>
          </a:prstGeom>
        </p:spPr>
        <p:txBody>
          <a:bodyPr vert="horz" wrap="square" lIns="0" tIns="13335" rIns="0" bIns="0" rtlCol="0">
            <a:spAutoFit/>
          </a:bodyPr>
          <a:lstStyle/>
          <a:p>
            <a:pPr marL="12700">
              <a:lnSpc>
                <a:spcPct val="100000"/>
              </a:lnSpc>
              <a:spcBef>
                <a:spcPts val="105"/>
              </a:spcBef>
            </a:pPr>
            <a:r>
              <a:rPr sz="1050" spc="5" dirty="0">
                <a:cs typeface="Tahoma"/>
              </a:rPr>
              <a:t>3.4</a:t>
            </a:r>
            <a:endParaRPr sz="1050">
              <a:cs typeface="Tahoma"/>
            </a:endParaRPr>
          </a:p>
        </p:txBody>
      </p:sp>
      <p:sp>
        <p:nvSpPr>
          <p:cNvPr id="16" name="object 16"/>
          <p:cNvSpPr txBox="1"/>
          <p:nvPr/>
        </p:nvSpPr>
        <p:spPr>
          <a:xfrm>
            <a:off x="2930144" y="3799630"/>
            <a:ext cx="550545" cy="299720"/>
          </a:xfrm>
          <a:prstGeom prst="rect">
            <a:avLst/>
          </a:prstGeom>
        </p:spPr>
        <p:txBody>
          <a:bodyPr vert="horz" wrap="square" lIns="0" tIns="12700" rIns="0" bIns="0" rtlCol="0">
            <a:spAutoFit/>
          </a:bodyPr>
          <a:lstStyle/>
          <a:p>
            <a:pPr marL="12700">
              <a:lnSpc>
                <a:spcPct val="100000"/>
              </a:lnSpc>
              <a:spcBef>
                <a:spcPts val="100"/>
              </a:spcBef>
            </a:pPr>
            <a:r>
              <a:rPr sz="1800" b="1" spc="-15" dirty="0">
                <a:cs typeface="Tahoma"/>
              </a:rPr>
              <a:t>G</a:t>
            </a:r>
            <a:r>
              <a:rPr sz="1800" b="1" spc="-25" dirty="0">
                <a:cs typeface="Tahoma"/>
              </a:rPr>
              <a:t>a</a:t>
            </a:r>
            <a:r>
              <a:rPr sz="1800" b="1" spc="-45" dirty="0">
                <a:cs typeface="Tahoma"/>
              </a:rPr>
              <a:t>te</a:t>
            </a:r>
            <a:endParaRPr sz="1800" dirty="0">
              <a:cs typeface="Tahoma"/>
            </a:endParaRPr>
          </a:p>
        </p:txBody>
      </p:sp>
      <p:sp>
        <p:nvSpPr>
          <p:cNvPr id="17" name="object 17"/>
          <p:cNvSpPr txBox="1"/>
          <p:nvPr/>
        </p:nvSpPr>
        <p:spPr>
          <a:xfrm>
            <a:off x="8335772" y="3891105"/>
            <a:ext cx="1664970" cy="300355"/>
          </a:xfrm>
          <a:prstGeom prst="rect">
            <a:avLst/>
          </a:prstGeom>
        </p:spPr>
        <p:txBody>
          <a:bodyPr vert="horz" wrap="square" lIns="0" tIns="12700" rIns="0" bIns="0" rtlCol="0">
            <a:spAutoFit/>
          </a:bodyPr>
          <a:lstStyle/>
          <a:p>
            <a:pPr marL="12700">
              <a:lnSpc>
                <a:spcPct val="100000"/>
              </a:lnSpc>
              <a:spcBef>
                <a:spcPts val="100"/>
              </a:spcBef>
            </a:pPr>
            <a:r>
              <a:rPr sz="1800" b="1" spc="-65" dirty="0">
                <a:cs typeface="Tahoma"/>
              </a:rPr>
              <a:t>W</a:t>
            </a:r>
            <a:r>
              <a:rPr sz="1800" b="1" spc="-5" dirty="0">
                <a:cs typeface="Tahoma"/>
              </a:rPr>
              <a:t>e</a:t>
            </a:r>
            <a:r>
              <a:rPr sz="1800" b="1" spc="-20" dirty="0">
                <a:cs typeface="Tahoma"/>
              </a:rPr>
              <a:t>i</a:t>
            </a:r>
            <a:r>
              <a:rPr sz="1800" b="1" dirty="0">
                <a:cs typeface="Tahoma"/>
              </a:rPr>
              <a:t>g</a:t>
            </a:r>
            <a:r>
              <a:rPr sz="1800" b="1" spc="-5" dirty="0">
                <a:cs typeface="Tahoma"/>
              </a:rPr>
              <a:t>h</a:t>
            </a:r>
            <a:r>
              <a:rPr sz="1800" b="1" spc="-15" dirty="0">
                <a:cs typeface="Tahoma"/>
              </a:rPr>
              <a:t>te</a:t>
            </a:r>
            <a:r>
              <a:rPr sz="1800" b="1" spc="-10" dirty="0">
                <a:cs typeface="Tahoma"/>
              </a:rPr>
              <a:t>d</a:t>
            </a:r>
            <a:r>
              <a:rPr sz="1800" b="1" spc="-65" dirty="0">
                <a:cs typeface="Tahoma"/>
              </a:rPr>
              <a:t> </a:t>
            </a:r>
            <a:r>
              <a:rPr sz="1800" b="1" spc="-60" dirty="0">
                <a:cs typeface="Tahoma"/>
              </a:rPr>
              <a:t>Sum</a:t>
            </a:r>
            <a:endParaRPr sz="1800">
              <a:cs typeface="Tahoma"/>
            </a:endParaRPr>
          </a:p>
        </p:txBody>
      </p:sp>
      <p:sp>
        <p:nvSpPr>
          <p:cNvPr id="18" name="object 18"/>
          <p:cNvSpPr txBox="1"/>
          <p:nvPr/>
        </p:nvSpPr>
        <p:spPr>
          <a:xfrm>
            <a:off x="658813" y="5917050"/>
            <a:ext cx="2163445" cy="175048"/>
          </a:xfrm>
          <a:prstGeom prst="rect">
            <a:avLst/>
          </a:prstGeom>
        </p:spPr>
        <p:txBody>
          <a:bodyPr vert="horz" wrap="square" lIns="0" tIns="13335" rIns="0" bIns="0" rtlCol="0">
            <a:spAutoFit/>
          </a:bodyPr>
          <a:lstStyle/>
          <a:p>
            <a:pPr marL="12700">
              <a:lnSpc>
                <a:spcPct val="100000"/>
              </a:lnSpc>
              <a:spcBef>
                <a:spcPts val="105"/>
              </a:spcBef>
            </a:pPr>
            <a:r>
              <a:rPr sz="1050" dirty="0">
                <a:cs typeface="Tahoma"/>
              </a:rPr>
              <a:t>*</a:t>
            </a:r>
            <a:r>
              <a:rPr sz="1050" spc="-5" dirty="0">
                <a:cs typeface="Tahoma"/>
              </a:rPr>
              <a:t>N</a:t>
            </a:r>
            <a:r>
              <a:rPr sz="1050" spc="30" dirty="0">
                <a:cs typeface="Tahoma"/>
              </a:rPr>
              <a:t>umbers</a:t>
            </a:r>
            <a:r>
              <a:rPr sz="1050" spc="-105" dirty="0">
                <a:cs typeface="Tahoma"/>
              </a:rPr>
              <a:t> </a:t>
            </a:r>
            <a:r>
              <a:rPr sz="1050" dirty="0">
                <a:cs typeface="Tahoma"/>
              </a:rPr>
              <a:t>a</a:t>
            </a:r>
            <a:r>
              <a:rPr sz="1050" spc="5" dirty="0">
                <a:cs typeface="Tahoma"/>
              </a:rPr>
              <a:t>r</a:t>
            </a:r>
            <a:r>
              <a:rPr sz="1050" spc="50" dirty="0">
                <a:cs typeface="Tahoma"/>
              </a:rPr>
              <a:t>e</a:t>
            </a:r>
            <a:r>
              <a:rPr sz="1050" spc="-80" dirty="0">
                <a:cs typeface="Tahoma"/>
              </a:rPr>
              <a:t> </a:t>
            </a:r>
            <a:r>
              <a:rPr sz="1050" dirty="0">
                <a:cs typeface="Tahoma"/>
              </a:rPr>
              <a:t>r</a:t>
            </a:r>
            <a:r>
              <a:rPr sz="1050" spc="40" dirty="0">
                <a:cs typeface="Tahoma"/>
              </a:rPr>
              <a:t>ando</a:t>
            </a:r>
            <a:r>
              <a:rPr sz="1050" spc="70" dirty="0">
                <a:cs typeface="Tahoma"/>
              </a:rPr>
              <a:t>m</a:t>
            </a:r>
            <a:r>
              <a:rPr sz="1050" spc="5" dirty="0">
                <a:cs typeface="Tahoma"/>
              </a:rPr>
              <a:t>ly</a:t>
            </a:r>
            <a:r>
              <a:rPr sz="1050" spc="-105" dirty="0">
                <a:cs typeface="Tahoma"/>
              </a:rPr>
              <a:t> </a:t>
            </a:r>
            <a:r>
              <a:rPr sz="1050" spc="85" dirty="0">
                <a:cs typeface="Tahoma"/>
              </a:rPr>
              <a:t>g</a:t>
            </a:r>
            <a:r>
              <a:rPr sz="1050" spc="45" dirty="0">
                <a:cs typeface="Tahoma"/>
              </a:rPr>
              <a:t>e</a:t>
            </a:r>
            <a:r>
              <a:rPr sz="1050" spc="35" dirty="0">
                <a:cs typeface="Tahoma"/>
              </a:rPr>
              <a:t>n</a:t>
            </a:r>
            <a:r>
              <a:rPr sz="1050" spc="25" dirty="0">
                <a:cs typeface="Tahoma"/>
              </a:rPr>
              <a:t>e</a:t>
            </a:r>
            <a:r>
              <a:rPr sz="1050" dirty="0">
                <a:cs typeface="Tahoma"/>
              </a:rPr>
              <a:t>r</a:t>
            </a:r>
            <a:r>
              <a:rPr sz="1050" spc="30" dirty="0">
                <a:cs typeface="Tahoma"/>
              </a:rPr>
              <a:t>ated</a:t>
            </a:r>
            <a:endParaRPr sz="1050" dirty="0">
              <a:cs typeface="Tahoma"/>
            </a:endParaRPr>
          </a:p>
        </p:txBody>
      </p:sp>
      <p:sp>
        <p:nvSpPr>
          <p:cNvPr id="19" name="object 13">
            <a:extLst>
              <a:ext uri="{FF2B5EF4-FFF2-40B4-BE49-F238E27FC236}">
                <a16:creationId xmlns:a16="http://schemas.microsoft.com/office/drawing/2014/main" id="{0BDD36A1-92ED-6DD5-902B-1E20C997365D}"/>
              </a:ext>
            </a:extLst>
          </p:cNvPr>
          <p:cNvSpPr txBox="1"/>
          <p:nvPr/>
        </p:nvSpPr>
        <p:spPr>
          <a:xfrm>
            <a:off x="4416865" y="3127440"/>
            <a:ext cx="215900" cy="175048"/>
          </a:xfrm>
          <a:prstGeom prst="rect">
            <a:avLst/>
          </a:prstGeom>
        </p:spPr>
        <p:txBody>
          <a:bodyPr vert="horz" wrap="square" lIns="0" tIns="13335" rIns="0" bIns="0" rtlCol="0">
            <a:spAutoFit/>
          </a:bodyPr>
          <a:lstStyle/>
          <a:p>
            <a:pPr marL="12700">
              <a:lnSpc>
                <a:spcPct val="100000"/>
              </a:lnSpc>
              <a:spcBef>
                <a:spcPts val="105"/>
              </a:spcBef>
            </a:pPr>
            <a:r>
              <a:rPr lang="en-US" sz="1050" spc="5" dirty="0">
                <a:cs typeface="Tahoma"/>
              </a:rPr>
              <a:t>0.6</a:t>
            </a:r>
            <a:endParaRPr sz="1050" dirty="0">
              <a:cs typeface="Tahoma"/>
            </a:endParaRPr>
          </a:p>
        </p:txBody>
      </p:sp>
    </p:spTree>
  </p:cSld>
  <p:clrMapOvr>
    <a:overrideClrMapping bg1="lt1" tx1="dk1" bg2="lt2" tx2="dk2" accent1="accent1" accent2="accent2" accent3="accent3" accent4="accent4" accent5="accent5" accent6="accent6" hlink="hlink" folHlink="folHlink"/>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8344" y="601798"/>
            <a:ext cx="10864844" cy="631690"/>
          </a:xfrm>
          <a:prstGeom prst="rect">
            <a:avLst/>
          </a:prstGeom>
        </p:spPr>
        <p:txBody>
          <a:bodyPr vert="horz" lIns="0" tIns="0" rIns="0" bIns="0" rtlCol="0" anchor="ctr">
            <a:normAutofit/>
          </a:bodyPr>
          <a:lstStyle/>
          <a:p>
            <a:r>
              <a:rPr dirty="0">
                <a:latin typeface="+mn-lt"/>
              </a:rPr>
              <a:t>Mistral 8x7B: </a:t>
            </a:r>
            <a:r>
              <a:rPr lang="en-US" dirty="0">
                <a:latin typeface="+mn-lt"/>
              </a:rPr>
              <a:t>E</a:t>
            </a:r>
            <a:r>
              <a:rPr dirty="0">
                <a:latin typeface="+mn-lt"/>
              </a:rPr>
              <a:t>xpert </a:t>
            </a:r>
            <a:r>
              <a:rPr lang="en-US" dirty="0">
                <a:latin typeface="+mn-lt"/>
              </a:rPr>
              <a:t>F</a:t>
            </a:r>
            <a:r>
              <a:rPr dirty="0">
                <a:latin typeface="+mn-lt"/>
              </a:rPr>
              <a:t>eed-</a:t>
            </a:r>
            <a:r>
              <a:rPr lang="en-US" dirty="0">
                <a:latin typeface="+mn-lt"/>
              </a:rPr>
              <a:t>F</a:t>
            </a:r>
            <a:r>
              <a:rPr dirty="0">
                <a:latin typeface="+mn-lt"/>
              </a:rPr>
              <a:t>orward</a:t>
            </a:r>
            <a:r>
              <a:rPr lang="en-US" dirty="0">
                <a:latin typeface="+mn-lt"/>
              </a:rPr>
              <a:t> L</a:t>
            </a:r>
            <a:r>
              <a:rPr dirty="0">
                <a:latin typeface="+mn-lt"/>
              </a:rPr>
              <a:t>ayers</a:t>
            </a:r>
          </a:p>
        </p:txBody>
      </p:sp>
      <p:sp>
        <p:nvSpPr>
          <p:cNvPr id="3" name="object 3"/>
          <p:cNvSpPr txBox="1"/>
          <p:nvPr/>
        </p:nvSpPr>
        <p:spPr>
          <a:xfrm>
            <a:off x="674222" y="1670123"/>
            <a:ext cx="10914952" cy="1000851"/>
          </a:xfrm>
          <a:prstGeom prst="rect">
            <a:avLst/>
          </a:prstGeom>
        </p:spPr>
        <p:txBody>
          <a:bodyPr vert="horz" wrap="square" lIns="0" tIns="33020" rIns="0" bIns="0" rtlCol="0">
            <a:spAutoFit/>
          </a:bodyPr>
          <a:lstStyle/>
          <a:p>
            <a:pPr marL="241300" marR="5080" indent="-228600">
              <a:lnSpc>
                <a:spcPts val="1300"/>
              </a:lnSpc>
              <a:spcBef>
                <a:spcPts val="260"/>
              </a:spcBef>
              <a:buFont typeface="Arial MT"/>
              <a:buChar char="•"/>
              <a:tabLst>
                <a:tab pos="240665" algn="l"/>
                <a:tab pos="241300" algn="l"/>
              </a:tabLst>
            </a:pPr>
            <a:r>
              <a:rPr sz="1400" spc="-55" dirty="0">
                <a:cs typeface="Tahoma"/>
              </a:rPr>
              <a:t>In</a:t>
            </a:r>
            <a:r>
              <a:rPr sz="1400" spc="-70" dirty="0">
                <a:cs typeface="Tahoma"/>
              </a:rPr>
              <a:t> </a:t>
            </a:r>
            <a:r>
              <a:rPr sz="1400" spc="20" dirty="0">
                <a:cs typeface="Tahoma"/>
              </a:rPr>
              <a:t>the</a:t>
            </a:r>
            <a:r>
              <a:rPr sz="1400" spc="-75" dirty="0">
                <a:cs typeface="Tahoma"/>
              </a:rPr>
              <a:t> </a:t>
            </a:r>
            <a:r>
              <a:rPr sz="1400" spc="20" dirty="0">
                <a:cs typeface="Tahoma"/>
              </a:rPr>
              <a:t>case</a:t>
            </a:r>
            <a:r>
              <a:rPr sz="1400" spc="-65" dirty="0">
                <a:cs typeface="Tahoma"/>
              </a:rPr>
              <a:t> </a:t>
            </a:r>
            <a:r>
              <a:rPr sz="1400" spc="25" dirty="0">
                <a:cs typeface="Tahoma"/>
              </a:rPr>
              <a:t>of</a:t>
            </a:r>
            <a:r>
              <a:rPr sz="1400" spc="-40" dirty="0">
                <a:cs typeface="Tahoma"/>
              </a:rPr>
              <a:t> </a:t>
            </a:r>
            <a:r>
              <a:rPr sz="1400" spc="20" dirty="0">
                <a:cs typeface="Tahoma"/>
              </a:rPr>
              <a:t>Mistral</a:t>
            </a:r>
            <a:r>
              <a:rPr sz="1400" spc="-70" dirty="0">
                <a:cs typeface="Tahoma"/>
              </a:rPr>
              <a:t> </a:t>
            </a:r>
            <a:r>
              <a:rPr sz="1400" spc="10" dirty="0">
                <a:cs typeface="Tahoma"/>
              </a:rPr>
              <a:t>8x7B,</a:t>
            </a:r>
            <a:r>
              <a:rPr sz="1400" spc="-95" dirty="0">
                <a:cs typeface="Tahoma"/>
              </a:rPr>
              <a:t> </a:t>
            </a:r>
            <a:r>
              <a:rPr sz="1400" spc="15" dirty="0">
                <a:cs typeface="Tahoma"/>
              </a:rPr>
              <a:t>the</a:t>
            </a:r>
            <a:r>
              <a:rPr sz="1400" spc="-70" dirty="0">
                <a:cs typeface="Tahoma"/>
              </a:rPr>
              <a:t> </a:t>
            </a:r>
            <a:r>
              <a:rPr sz="1400" spc="15" dirty="0">
                <a:cs typeface="Tahoma"/>
              </a:rPr>
              <a:t>experts</a:t>
            </a:r>
            <a:r>
              <a:rPr sz="1400" spc="-65" dirty="0">
                <a:cs typeface="Tahoma"/>
              </a:rPr>
              <a:t> </a:t>
            </a:r>
            <a:r>
              <a:rPr sz="1400" spc="10" dirty="0">
                <a:cs typeface="Tahoma"/>
              </a:rPr>
              <a:t>are</a:t>
            </a:r>
            <a:r>
              <a:rPr sz="1400" spc="-60" dirty="0">
                <a:cs typeface="Tahoma"/>
              </a:rPr>
              <a:t> </a:t>
            </a:r>
            <a:r>
              <a:rPr sz="1400" spc="15" dirty="0">
                <a:cs typeface="Tahoma"/>
              </a:rPr>
              <a:t>the</a:t>
            </a:r>
            <a:r>
              <a:rPr sz="1400" spc="-70" dirty="0">
                <a:cs typeface="Tahoma"/>
              </a:rPr>
              <a:t> </a:t>
            </a:r>
            <a:r>
              <a:rPr sz="1400" spc="25" dirty="0">
                <a:cs typeface="Tahoma"/>
              </a:rPr>
              <a:t>Feed-Forward</a:t>
            </a:r>
            <a:r>
              <a:rPr sz="1400" spc="-35" dirty="0">
                <a:cs typeface="Tahoma"/>
              </a:rPr>
              <a:t> </a:t>
            </a:r>
            <a:r>
              <a:rPr sz="1400" spc="10" dirty="0">
                <a:cs typeface="Tahoma"/>
              </a:rPr>
              <a:t>layers</a:t>
            </a:r>
            <a:r>
              <a:rPr sz="1400" spc="-65" dirty="0">
                <a:cs typeface="Tahoma"/>
              </a:rPr>
              <a:t> </a:t>
            </a:r>
            <a:r>
              <a:rPr sz="1400" spc="20" dirty="0">
                <a:cs typeface="Tahoma"/>
              </a:rPr>
              <a:t>present</a:t>
            </a:r>
            <a:r>
              <a:rPr sz="1400" spc="-30" dirty="0">
                <a:cs typeface="Tahoma"/>
              </a:rPr>
              <a:t> </a:t>
            </a:r>
            <a:r>
              <a:rPr sz="1400" spc="-15" dirty="0">
                <a:cs typeface="Tahoma"/>
              </a:rPr>
              <a:t>at</a:t>
            </a:r>
            <a:r>
              <a:rPr sz="1400" spc="-80" dirty="0">
                <a:cs typeface="Tahoma"/>
              </a:rPr>
              <a:t> </a:t>
            </a:r>
            <a:r>
              <a:rPr sz="1400" spc="15" dirty="0">
                <a:cs typeface="Tahoma"/>
              </a:rPr>
              <a:t>every</a:t>
            </a:r>
            <a:r>
              <a:rPr sz="1400" spc="-60" dirty="0">
                <a:cs typeface="Tahoma"/>
              </a:rPr>
              <a:t> </a:t>
            </a:r>
            <a:r>
              <a:rPr sz="1400" spc="45" dirty="0">
                <a:cs typeface="Tahoma"/>
              </a:rPr>
              <a:t>Encoder</a:t>
            </a:r>
            <a:r>
              <a:rPr sz="1400" spc="-60" dirty="0">
                <a:cs typeface="Tahoma"/>
              </a:rPr>
              <a:t> </a:t>
            </a:r>
            <a:r>
              <a:rPr sz="1400" spc="-10" dirty="0">
                <a:cs typeface="Tahoma"/>
              </a:rPr>
              <a:t>layer.</a:t>
            </a:r>
            <a:r>
              <a:rPr sz="1400" spc="-85" dirty="0">
                <a:cs typeface="Tahoma"/>
              </a:rPr>
              <a:t> </a:t>
            </a:r>
            <a:r>
              <a:rPr sz="1400" spc="25" dirty="0">
                <a:cs typeface="Tahoma"/>
              </a:rPr>
              <a:t>Each</a:t>
            </a:r>
            <a:r>
              <a:rPr sz="1400" spc="-75" dirty="0">
                <a:cs typeface="Tahoma"/>
              </a:rPr>
              <a:t> </a:t>
            </a:r>
            <a:r>
              <a:rPr sz="1400" spc="45" dirty="0">
                <a:cs typeface="Tahoma"/>
              </a:rPr>
              <a:t>Encoder</a:t>
            </a:r>
            <a:r>
              <a:rPr sz="1400" spc="-50" dirty="0">
                <a:cs typeface="Tahoma"/>
              </a:rPr>
              <a:t> </a:t>
            </a:r>
            <a:r>
              <a:rPr sz="1400" spc="10" dirty="0">
                <a:cs typeface="Tahoma"/>
              </a:rPr>
              <a:t>layer</a:t>
            </a:r>
            <a:r>
              <a:rPr sz="1400" spc="-60" dirty="0">
                <a:cs typeface="Tahoma"/>
              </a:rPr>
              <a:t> </a:t>
            </a:r>
            <a:r>
              <a:rPr sz="1400" spc="10" dirty="0">
                <a:cs typeface="Tahoma"/>
              </a:rPr>
              <a:t>is</a:t>
            </a:r>
            <a:r>
              <a:rPr sz="1400" spc="-70" dirty="0">
                <a:cs typeface="Tahoma"/>
              </a:rPr>
              <a:t> </a:t>
            </a:r>
            <a:r>
              <a:rPr sz="1400" spc="50" dirty="0">
                <a:cs typeface="Tahoma"/>
              </a:rPr>
              <a:t>comprised</a:t>
            </a:r>
            <a:r>
              <a:rPr sz="1400" spc="-35" dirty="0">
                <a:cs typeface="Tahoma"/>
              </a:rPr>
              <a:t> </a:t>
            </a:r>
            <a:r>
              <a:rPr sz="1400" spc="25" dirty="0">
                <a:cs typeface="Tahoma"/>
              </a:rPr>
              <a:t>of</a:t>
            </a:r>
            <a:r>
              <a:rPr sz="1400" spc="-45" dirty="0">
                <a:cs typeface="Tahoma"/>
              </a:rPr>
              <a:t> </a:t>
            </a:r>
            <a:r>
              <a:rPr sz="1400" spc="10" dirty="0">
                <a:cs typeface="Tahoma"/>
              </a:rPr>
              <a:t>a </a:t>
            </a:r>
            <a:r>
              <a:rPr sz="1400" spc="15" dirty="0">
                <a:cs typeface="Tahoma"/>
              </a:rPr>
              <a:t> </a:t>
            </a:r>
            <a:r>
              <a:rPr sz="1400" spc="35" dirty="0">
                <a:cs typeface="Tahoma"/>
              </a:rPr>
              <a:t>single</a:t>
            </a:r>
            <a:r>
              <a:rPr sz="1400" spc="-55" dirty="0">
                <a:cs typeface="Tahoma"/>
              </a:rPr>
              <a:t> </a:t>
            </a:r>
            <a:r>
              <a:rPr sz="1400" spc="15" dirty="0">
                <a:cs typeface="Tahoma"/>
              </a:rPr>
              <a:t>Self-Attention</a:t>
            </a:r>
            <a:r>
              <a:rPr sz="1400" spc="-65" dirty="0">
                <a:cs typeface="Tahoma"/>
              </a:rPr>
              <a:t> </a:t>
            </a:r>
            <a:r>
              <a:rPr sz="1400" spc="15" dirty="0">
                <a:cs typeface="Tahoma"/>
              </a:rPr>
              <a:t>mechanism,</a:t>
            </a:r>
            <a:r>
              <a:rPr sz="1400" spc="-70" dirty="0">
                <a:cs typeface="Tahoma"/>
              </a:rPr>
              <a:t> </a:t>
            </a:r>
            <a:r>
              <a:rPr sz="1400" spc="40" dirty="0">
                <a:cs typeface="Tahoma"/>
              </a:rPr>
              <a:t>followed</a:t>
            </a:r>
            <a:r>
              <a:rPr sz="1400" spc="-60" dirty="0">
                <a:cs typeface="Tahoma"/>
              </a:rPr>
              <a:t> </a:t>
            </a:r>
            <a:r>
              <a:rPr sz="1400" spc="40" dirty="0">
                <a:cs typeface="Tahoma"/>
              </a:rPr>
              <a:t>by</a:t>
            </a:r>
            <a:r>
              <a:rPr sz="1400" spc="-75" dirty="0">
                <a:cs typeface="Tahoma"/>
              </a:rPr>
              <a:t> </a:t>
            </a:r>
            <a:r>
              <a:rPr sz="1400" spc="10" dirty="0">
                <a:cs typeface="Tahoma"/>
              </a:rPr>
              <a:t>a</a:t>
            </a:r>
            <a:r>
              <a:rPr sz="1400" spc="-70" dirty="0">
                <a:cs typeface="Tahoma"/>
              </a:rPr>
              <a:t> </a:t>
            </a:r>
            <a:r>
              <a:rPr sz="1400" spc="10" dirty="0">
                <a:cs typeface="Tahoma"/>
              </a:rPr>
              <a:t>mixture</a:t>
            </a:r>
            <a:r>
              <a:rPr sz="1400" spc="-60" dirty="0">
                <a:cs typeface="Tahoma"/>
              </a:rPr>
              <a:t> </a:t>
            </a:r>
            <a:r>
              <a:rPr sz="1400" spc="25" dirty="0">
                <a:cs typeface="Tahoma"/>
              </a:rPr>
              <a:t>of</a:t>
            </a:r>
            <a:r>
              <a:rPr sz="1400" spc="-45" dirty="0">
                <a:cs typeface="Tahoma"/>
              </a:rPr>
              <a:t> </a:t>
            </a:r>
            <a:r>
              <a:rPr sz="1400" spc="15" dirty="0">
                <a:cs typeface="Tahoma"/>
              </a:rPr>
              <a:t>experts</a:t>
            </a:r>
            <a:r>
              <a:rPr sz="1400" spc="-50" dirty="0">
                <a:cs typeface="Tahoma"/>
              </a:rPr>
              <a:t> </a:t>
            </a:r>
            <a:r>
              <a:rPr sz="1400" spc="25" dirty="0">
                <a:cs typeface="Tahoma"/>
              </a:rPr>
              <a:t>of</a:t>
            </a:r>
            <a:r>
              <a:rPr sz="1400" spc="-40" dirty="0">
                <a:cs typeface="Tahoma"/>
              </a:rPr>
              <a:t> </a:t>
            </a:r>
            <a:r>
              <a:rPr sz="1400" spc="40" dirty="0">
                <a:cs typeface="Tahoma"/>
              </a:rPr>
              <a:t>8</a:t>
            </a:r>
            <a:r>
              <a:rPr sz="1400" spc="-70" dirty="0">
                <a:cs typeface="Tahoma"/>
              </a:rPr>
              <a:t> </a:t>
            </a:r>
            <a:r>
              <a:rPr sz="1400" spc="35" dirty="0">
                <a:cs typeface="Tahoma"/>
              </a:rPr>
              <a:t>FFN.</a:t>
            </a:r>
            <a:r>
              <a:rPr sz="1400" spc="-120" dirty="0">
                <a:cs typeface="Tahoma"/>
              </a:rPr>
              <a:t> </a:t>
            </a:r>
            <a:r>
              <a:rPr sz="1400" spc="10" dirty="0">
                <a:cs typeface="Tahoma"/>
              </a:rPr>
              <a:t>The</a:t>
            </a:r>
            <a:r>
              <a:rPr sz="1400" spc="-60" dirty="0">
                <a:cs typeface="Tahoma"/>
              </a:rPr>
              <a:t> </a:t>
            </a:r>
            <a:r>
              <a:rPr sz="1400" spc="25" dirty="0">
                <a:cs typeface="Tahoma"/>
              </a:rPr>
              <a:t>gate</a:t>
            </a:r>
            <a:r>
              <a:rPr sz="1400" spc="-65" dirty="0">
                <a:cs typeface="Tahoma"/>
              </a:rPr>
              <a:t> </a:t>
            </a:r>
            <a:r>
              <a:rPr sz="1400" spc="15" dirty="0">
                <a:cs typeface="Tahoma"/>
              </a:rPr>
              <a:t>function</a:t>
            </a:r>
            <a:r>
              <a:rPr sz="1400" spc="-65" dirty="0">
                <a:cs typeface="Tahoma"/>
              </a:rPr>
              <a:t> </a:t>
            </a:r>
            <a:r>
              <a:rPr sz="1400" spc="20" dirty="0">
                <a:cs typeface="Tahoma"/>
              </a:rPr>
              <a:t>selects</a:t>
            </a:r>
            <a:r>
              <a:rPr sz="1400" spc="-60" dirty="0">
                <a:cs typeface="Tahoma"/>
              </a:rPr>
              <a:t> </a:t>
            </a:r>
            <a:r>
              <a:rPr sz="1400" spc="15" dirty="0">
                <a:cs typeface="Tahoma"/>
              </a:rPr>
              <a:t>the</a:t>
            </a:r>
            <a:r>
              <a:rPr sz="1400" spc="-65" dirty="0">
                <a:cs typeface="Tahoma"/>
              </a:rPr>
              <a:t> </a:t>
            </a:r>
            <a:r>
              <a:rPr sz="1400" spc="50" dirty="0">
                <a:cs typeface="Tahoma"/>
              </a:rPr>
              <a:t>top</a:t>
            </a:r>
            <a:r>
              <a:rPr sz="1400" spc="-75" dirty="0">
                <a:cs typeface="Tahoma"/>
              </a:rPr>
              <a:t> </a:t>
            </a:r>
            <a:r>
              <a:rPr sz="1400" spc="40" dirty="0">
                <a:cs typeface="Tahoma"/>
              </a:rPr>
              <a:t>2</a:t>
            </a:r>
            <a:r>
              <a:rPr sz="1400" spc="-60" dirty="0">
                <a:cs typeface="Tahoma"/>
              </a:rPr>
              <a:t> </a:t>
            </a:r>
            <a:r>
              <a:rPr sz="1400" spc="15" dirty="0">
                <a:cs typeface="Tahoma"/>
              </a:rPr>
              <a:t>experts</a:t>
            </a:r>
            <a:r>
              <a:rPr sz="1400" spc="-50" dirty="0">
                <a:cs typeface="Tahoma"/>
              </a:rPr>
              <a:t> </a:t>
            </a:r>
            <a:r>
              <a:rPr sz="1400" spc="10" dirty="0">
                <a:cs typeface="Tahoma"/>
              </a:rPr>
              <a:t>for</a:t>
            </a:r>
            <a:r>
              <a:rPr sz="1400" spc="-55" dirty="0">
                <a:cs typeface="Tahoma"/>
              </a:rPr>
              <a:t> </a:t>
            </a:r>
            <a:r>
              <a:rPr sz="1400" spc="30" dirty="0">
                <a:cs typeface="Tahoma"/>
              </a:rPr>
              <a:t>each</a:t>
            </a:r>
            <a:r>
              <a:rPr sz="1400" spc="-25" dirty="0">
                <a:cs typeface="Tahoma"/>
              </a:rPr>
              <a:t> </a:t>
            </a:r>
            <a:r>
              <a:rPr sz="1400" spc="45" dirty="0">
                <a:cs typeface="Tahoma"/>
              </a:rPr>
              <a:t>incoming </a:t>
            </a:r>
            <a:r>
              <a:rPr sz="1400" spc="-360" dirty="0">
                <a:cs typeface="Tahoma"/>
              </a:rPr>
              <a:t> </a:t>
            </a:r>
            <a:r>
              <a:rPr sz="1400" spc="10" dirty="0">
                <a:cs typeface="Tahoma"/>
              </a:rPr>
              <a:t>token.</a:t>
            </a:r>
            <a:r>
              <a:rPr sz="1400" spc="-140" dirty="0">
                <a:cs typeface="Tahoma"/>
              </a:rPr>
              <a:t> </a:t>
            </a:r>
            <a:r>
              <a:rPr sz="1400" spc="10" dirty="0">
                <a:cs typeface="Tahoma"/>
              </a:rPr>
              <a:t>The</a:t>
            </a:r>
            <a:r>
              <a:rPr sz="1400" spc="-70" dirty="0">
                <a:cs typeface="Tahoma"/>
              </a:rPr>
              <a:t> </a:t>
            </a:r>
            <a:r>
              <a:rPr sz="1400" spc="30" dirty="0">
                <a:cs typeface="Tahoma"/>
              </a:rPr>
              <a:t>output</a:t>
            </a:r>
            <a:r>
              <a:rPr sz="1400" spc="-65" dirty="0">
                <a:cs typeface="Tahoma"/>
              </a:rPr>
              <a:t> </a:t>
            </a:r>
            <a:r>
              <a:rPr sz="1400" spc="10" dirty="0">
                <a:cs typeface="Tahoma"/>
              </a:rPr>
              <a:t>is</a:t>
            </a:r>
            <a:r>
              <a:rPr sz="1400" spc="-80" dirty="0">
                <a:cs typeface="Tahoma"/>
              </a:rPr>
              <a:t> </a:t>
            </a:r>
            <a:r>
              <a:rPr sz="1400" spc="60" dirty="0">
                <a:cs typeface="Tahoma"/>
              </a:rPr>
              <a:t>combined</a:t>
            </a:r>
            <a:r>
              <a:rPr sz="1400" spc="-65" dirty="0">
                <a:cs typeface="Tahoma"/>
              </a:rPr>
              <a:t> </a:t>
            </a:r>
            <a:r>
              <a:rPr sz="1400" spc="10" dirty="0">
                <a:cs typeface="Tahoma"/>
              </a:rPr>
              <a:t>with</a:t>
            </a:r>
            <a:r>
              <a:rPr sz="1400" spc="-80" dirty="0">
                <a:cs typeface="Tahoma"/>
              </a:rPr>
              <a:t> </a:t>
            </a:r>
            <a:r>
              <a:rPr sz="1400" spc="10" dirty="0">
                <a:cs typeface="Tahoma"/>
              </a:rPr>
              <a:t>a</a:t>
            </a:r>
            <a:r>
              <a:rPr sz="1400" spc="-80" dirty="0">
                <a:cs typeface="Tahoma"/>
              </a:rPr>
              <a:t> </a:t>
            </a:r>
            <a:r>
              <a:rPr sz="1400" spc="40" dirty="0">
                <a:cs typeface="Tahoma"/>
              </a:rPr>
              <a:t>weighted</a:t>
            </a:r>
            <a:r>
              <a:rPr sz="1400" spc="-75" dirty="0">
                <a:cs typeface="Tahoma"/>
              </a:rPr>
              <a:t> </a:t>
            </a:r>
            <a:r>
              <a:rPr sz="1400" dirty="0">
                <a:cs typeface="Tahoma"/>
              </a:rPr>
              <a:t>sum.</a:t>
            </a:r>
          </a:p>
          <a:p>
            <a:pPr marL="241300" marR="142240" indent="-228600">
              <a:lnSpc>
                <a:spcPts val="1300"/>
              </a:lnSpc>
              <a:spcBef>
                <a:spcPts val="1000"/>
              </a:spcBef>
              <a:buFont typeface="Arial MT"/>
              <a:buChar char="•"/>
              <a:tabLst>
                <a:tab pos="240665" algn="l"/>
                <a:tab pos="241300" algn="l"/>
              </a:tabLst>
            </a:pPr>
            <a:r>
              <a:rPr sz="1400" dirty="0">
                <a:cs typeface="Tahoma"/>
              </a:rPr>
              <a:t>This</a:t>
            </a:r>
            <a:r>
              <a:rPr sz="1400" spc="-50" dirty="0">
                <a:cs typeface="Tahoma"/>
              </a:rPr>
              <a:t> </a:t>
            </a:r>
            <a:r>
              <a:rPr sz="1400" spc="20" dirty="0">
                <a:cs typeface="Tahoma"/>
              </a:rPr>
              <a:t>allows</a:t>
            </a:r>
            <a:r>
              <a:rPr sz="1400" spc="-60" dirty="0">
                <a:cs typeface="Tahoma"/>
              </a:rPr>
              <a:t> </a:t>
            </a:r>
            <a:r>
              <a:rPr sz="1400" spc="30" dirty="0">
                <a:cs typeface="Tahoma"/>
              </a:rPr>
              <a:t>to</a:t>
            </a:r>
            <a:r>
              <a:rPr sz="1400" spc="-65" dirty="0">
                <a:cs typeface="Tahoma"/>
              </a:rPr>
              <a:t> </a:t>
            </a:r>
            <a:r>
              <a:rPr sz="1400" spc="20" dirty="0">
                <a:cs typeface="Tahoma"/>
              </a:rPr>
              <a:t>increase</a:t>
            </a:r>
            <a:r>
              <a:rPr sz="1400" spc="-35" dirty="0">
                <a:cs typeface="Tahoma"/>
              </a:rPr>
              <a:t> </a:t>
            </a:r>
            <a:r>
              <a:rPr sz="1400" spc="15" dirty="0">
                <a:cs typeface="Tahoma"/>
              </a:rPr>
              <a:t>the</a:t>
            </a:r>
            <a:r>
              <a:rPr sz="1400" spc="-65" dirty="0">
                <a:cs typeface="Tahoma"/>
              </a:rPr>
              <a:t> </a:t>
            </a:r>
            <a:r>
              <a:rPr sz="1400" spc="20" dirty="0">
                <a:cs typeface="Tahoma"/>
              </a:rPr>
              <a:t>parameters</a:t>
            </a:r>
            <a:r>
              <a:rPr sz="1400" spc="-50" dirty="0">
                <a:cs typeface="Tahoma"/>
              </a:rPr>
              <a:t> </a:t>
            </a:r>
            <a:r>
              <a:rPr sz="1400" spc="25" dirty="0">
                <a:cs typeface="Tahoma"/>
              </a:rPr>
              <a:t>of</a:t>
            </a:r>
            <a:r>
              <a:rPr sz="1400" spc="-40" dirty="0">
                <a:cs typeface="Tahoma"/>
              </a:rPr>
              <a:t> </a:t>
            </a:r>
            <a:r>
              <a:rPr sz="1400" spc="15" dirty="0">
                <a:cs typeface="Tahoma"/>
              </a:rPr>
              <a:t>the</a:t>
            </a:r>
            <a:r>
              <a:rPr sz="1400" spc="-65" dirty="0">
                <a:cs typeface="Tahoma"/>
              </a:rPr>
              <a:t> </a:t>
            </a:r>
            <a:r>
              <a:rPr sz="1400" spc="40" dirty="0">
                <a:cs typeface="Tahoma"/>
              </a:rPr>
              <a:t>model,</a:t>
            </a:r>
            <a:r>
              <a:rPr sz="1400" spc="-95" dirty="0">
                <a:cs typeface="Tahoma"/>
              </a:rPr>
              <a:t> </a:t>
            </a:r>
            <a:r>
              <a:rPr sz="1400" spc="30" dirty="0">
                <a:cs typeface="Tahoma"/>
              </a:rPr>
              <a:t>but</a:t>
            </a:r>
            <a:r>
              <a:rPr sz="1400" spc="-75" dirty="0">
                <a:cs typeface="Tahoma"/>
              </a:rPr>
              <a:t> </a:t>
            </a:r>
            <a:r>
              <a:rPr sz="1400" spc="15" dirty="0">
                <a:cs typeface="Tahoma"/>
              </a:rPr>
              <a:t>without</a:t>
            </a:r>
            <a:r>
              <a:rPr sz="1400" spc="-65" dirty="0">
                <a:cs typeface="Tahoma"/>
              </a:rPr>
              <a:t> </a:t>
            </a:r>
            <a:r>
              <a:rPr sz="1400" spc="35" dirty="0">
                <a:cs typeface="Tahoma"/>
              </a:rPr>
              <a:t>impacting</a:t>
            </a:r>
            <a:r>
              <a:rPr sz="1400" spc="-60" dirty="0">
                <a:cs typeface="Tahoma"/>
              </a:rPr>
              <a:t> </a:t>
            </a:r>
            <a:r>
              <a:rPr sz="1400" spc="15" dirty="0">
                <a:cs typeface="Tahoma"/>
              </a:rPr>
              <a:t>the</a:t>
            </a:r>
            <a:r>
              <a:rPr sz="1400" spc="-65" dirty="0">
                <a:cs typeface="Tahoma"/>
              </a:rPr>
              <a:t> </a:t>
            </a:r>
            <a:r>
              <a:rPr sz="1400" spc="30" dirty="0">
                <a:cs typeface="Tahoma"/>
              </a:rPr>
              <a:t>computation</a:t>
            </a:r>
            <a:r>
              <a:rPr sz="1400" spc="-55" dirty="0">
                <a:cs typeface="Tahoma"/>
              </a:rPr>
              <a:t> </a:t>
            </a:r>
            <a:r>
              <a:rPr sz="1400" spc="10" dirty="0">
                <a:cs typeface="Tahoma"/>
              </a:rPr>
              <a:t>time,</a:t>
            </a:r>
            <a:r>
              <a:rPr sz="1400" spc="-110" dirty="0">
                <a:cs typeface="Tahoma"/>
              </a:rPr>
              <a:t> </a:t>
            </a:r>
            <a:r>
              <a:rPr sz="1400" spc="25" dirty="0">
                <a:cs typeface="Tahoma"/>
              </a:rPr>
              <a:t>since</a:t>
            </a:r>
            <a:r>
              <a:rPr sz="1400" spc="-50" dirty="0">
                <a:cs typeface="Tahoma"/>
              </a:rPr>
              <a:t> </a:t>
            </a:r>
            <a:r>
              <a:rPr sz="1400" spc="15" dirty="0">
                <a:cs typeface="Tahoma"/>
              </a:rPr>
              <a:t>the</a:t>
            </a:r>
            <a:r>
              <a:rPr sz="1400" spc="-60" dirty="0">
                <a:cs typeface="Tahoma"/>
              </a:rPr>
              <a:t> </a:t>
            </a:r>
            <a:r>
              <a:rPr sz="1400" spc="25" dirty="0">
                <a:cs typeface="Tahoma"/>
              </a:rPr>
              <a:t>input</a:t>
            </a:r>
            <a:r>
              <a:rPr sz="1400" spc="-70" dirty="0">
                <a:cs typeface="Tahoma"/>
              </a:rPr>
              <a:t> </a:t>
            </a:r>
            <a:r>
              <a:rPr sz="1400" spc="20" dirty="0">
                <a:cs typeface="Tahoma"/>
              </a:rPr>
              <a:t>will</a:t>
            </a:r>
            <a:r>
              <a:rPr sz="1400" spc="-70" dirty="0">
                <a:cs typeface="Tahoma"/>
              </a:rPr>
              <a:t> </a:t>
            </a:r>
            <a:r>
              <a:rPr sz="1400" spc="30" dirty="0">
                <a:cs typeface="Tahoma"/>
              </a:rPr>
              <a:t>only</a:t>
            </a:r>
            <a:r>
              <a:rPr sz="1400" spc="-55" dirty="0">
                <a:cs typeface="Tahoma"/>
              </a:rPr>
              <a:t> </a:t>
            </a:r>
            <a:r>
              <a:rPr sz="1400" spc="25" dirty="0">
                <a:cs typeface="Tahoma"/>
              </a:rPr>
              <a:t>pass</a:t>
            </a:r>
            <a:r>
              <a:rPr sz="1400" spc="-50" dirty="0">
                <a:cs typeface="Tahoma"/>
              </a:rPr>
              <a:t> </a:t>
            </a:r>
            <a:r>
              <a:rPr sz="1400" spc="25" dirty="0">
                <a:cs typeface="Tahoma"/>
              </a:rPr>
              <a:t>through </a:t>
            </a:r>
            <a:r>
              <a:rPr sz="1400" spc="-360" dirty="0">
                <a:cs typeface="Tahoma"/>
              </a:rPr>
              <a:t> </a:t>
            </a:r>
            <a:r>
              <a:rPr sz="1400" spc="15" dirty="0">
                <a:cs typeface="Tahoma"/>
              </a:rPr>
              <a:t>the</a:t>
            </a:r>
            <a:r>
              <a:rPr sz="1400" spc="-75" dirty="0">
                <a:cs typeface="Tahoma"/>
              </a:rPr>
              <a:t> </a:t>
            </a:r>
            <a:r>
              <a:rPr sz="1400" spc="50" dirty="0">
                <a:cs typeface="Tahoma"/>
              </a:rPr>
              <a:t>top</a:t>
            </a:r>
            <a:r>
              <a:rPr sz="1400" spc="-85" dirty="0">
                <a:cs typeface="Tahoma"/>
              </a:rPr>
              <a:t> </a:t>
            </a:r>
            <a:r>
              <a:rPr sz="1400" spc="40" dirty="0">
                <a:cs typeface="Tahoma"/>
              </a:rPr>
              <a:t>2</a:t>
            </a:r>
            <a:r>
              <a:rPr sz="1400" spc="-75" dirty="0">
                <a:cs typeface="Tahoma"/>
              </a:rPr>
              <a:t> </a:t>
            </a:r>
            <a:r>
              <a:rPr sz="1400" spc="5" dirty="0">
                <a:cs typeface="Tahoma"/>
              </a:rPr>
              <a:t>experts,</a:t>
            </a:r>
            <a:r>
              <a:rPr sz="1400" spc="-90" dirty="0">
                <a:cs typeface="Tahoma"/>
              </a:rPr>
              <a:t> </a:t>
            </a:r>
            <a:r>
              <a:rPr sz="1400" spc="35" dirty="0">
                <a:cs typeface="Tahoma"/>
              </a:rPr>
              <a:t>so</a:t>
            </a:r>
            <a:r>
              <a:rPr sz="1400" spc="-50" dirty="0">
                <a:cs typeface="Tahoma"/>
              </a:rPr>
              <a:t> </a:t>
            </a:r>
            <a:r>
              <a:rPr sz="1400" spc="15" dirty="0">
                <a:cs typeface="Tahoma"/>
              </a:rPr>
              <a:t>the</a:t>
            </a:r>
            <a:r>
              <a:rPr sz="1400" spc="-90" dirty="0">
                <a:cs typeface="Tahoma"/>
              </a:rPr>
              <a:t> </a:t>
            </a:r>
            <a:r>
              <a:rPr sz="1400" spc="25" dirty="0">
                <a:cs typeface="Tahoma"/>
              </a:rPr>
              <a:t>intermediate</a:t>
            </a:r>
            <a:r>
              <a:rPr sz="1400" spc="-65" dirty="0">
                <a:cs typeface="Tahoma"/>
              </a:rPr>
              <a:t> </a:t>
            </a:r>
            <a:r>
              <a:rPr sz="1400" dirty="0">
                <a:cs typeface="Tahoma"/>
              </a:rPr>
              <a:t>matrix</a:t>
            </a:r>
            <a:r>
              <a:rPr sz="1400" spc="-80" dirty="0">
                <a:cs typeface="Tahoma"/>
              </a:rPr>
              <a:t> </a:t>
            </a:r>
            <a:r>
              <a:rPr sz="1400" spc="25" dirty="0">
                <a:cs typeface="Tahoma"/>
              </a:rPr>
              <a:t>multiplications</a:t>
            </a:r>
            <a:r>
              <a:rPr sz="1400" spc="-55" dirty="0">
                <a:cs typeface="Tahoma"/>
              </a:rPr>
              <a:t> </a:t>
            </a:r>
            <a:r>
              <a:rPr sz="1400" spc="20" dirty="0">
                <a:cs typeface="Tahoma"/>
              </a:rPr>
              <a:t>will</a:t>
            </a:r>
            <a:r>
              <a:rPr sz="1400" spc="-80" dirty="0">
                <a:cs typeface="Tahoma"/>
              </a:rPr>
              <a:t> </a:t>
            </a:r>
            <a:r>
              <a:rPr sz="1400" spc="75" dirty="0">
                <a:cs typeface="Tahoma"/>
              </a:rPr>
              <a:t>be</a:t>
            </a:r>
            <a:r>
              <a:rPr sz="1400" spc="-75" dirty="0">
                <a:cs typeface="Tahoma"/>
              </a:rPr>
              <a:t> </a:t>
            </a:r>
            <a:r>
              <a:rPr sz="1400" spc="40" dirty="0">
                <a:cs typeface="Tahoma"/>
              </a:rPr>
              <a:t>performed</a:t>
            </a:r>
            <a:r>
              <a:rPr sz="1400" spc="-50" dirty="0">
                <a:cs typeface="Tahoma"/>
              </a:rPr>
              <a:t> </a:t>
            </a:r>
            <a:r>
              <a:rPr sz="1400" spc="30" dirty="0">
                <a:cs typeface="Tahoma"/>
              </a:rPr>
              <a:t>only</a:t>
            </a:r>
            <a:r>
              <a:rPr sz="1400" spc="-65" dirty="0">
                <a:cs typeface="Tahoma"/>
              </a:rPr>
              <a:t> </a:t>
            </a:r>
            <a:r>
              <a:rPr sz="1400" spc="50" dirty="0">
                <a:cs typeface="Tahoma"/>
              </a:rPr>
              <a:t>on</a:t>
            </a:r>
            <a:r>
              <a:rPr sz="1400" spc="-65" dirty="0">
                <a:cs typeface="Tahoma"/>
              </a:rPr>
              <a:t> </a:t>
            </a:r>
            <a:r>
              <a:rPr sz="1400" spc="15" dirty="0">
                <a:cs typeface="Tahoma"/>
              </a:rPr>
              <a:t>the</a:t>
            </a:r>
            <a:r>
              <a:rPr sz="1400" spc="-75" dirty="0">
                <a:cs typeface="Tahoma"/>
              </a:rPr>
              <a:t> </a:t>
            </a:r>
            <a:r>
              <a:rPr sz="1400" spc="35" dirty="0">
                <a:cs typeface="Tahoma"/>
              </a:rPr>
              <a:t>selected</a:t>
            </a:r>
            <a:r>
              <a:rPr sz="1400" spc="-70" dirty="0">
                <a:cs typeface="Tahoma"/>
              </a:rPr>
              <a:t> </a:t>
            </a:r>
            <a:r>
              <a:rPr sz="1400" spc="5" dirty="0">
                <a:cs typeface="Tahoma"/>
              </a:rPr>
              <a:t>experts.</a:t>
            </a:r>
            <a:endParaRPr sz="1400" dirty="0">
              <a:cs typeface="Tahoma"/>
            </a:endParaRPr>
          </a:p>
        </p:txBody>
      </p:sp>
      <p:grpSp>
        <p:nvGrpSpPr>
          <p:cNvPr id="4" name="object 4"/>
          <p:cNvGrpSpPr/>
          <p:nvPr/>
        </p:nvGrpSpPr>
        <p:grpSpPr>
          <a:xfrm>
            <a:off x="4510785" y="2802546"/>
            <a:ext cx="3170555" cy="3292475"/>
            <a:chOff x="4510785" y="3091942"/>
            <a:chExt cx="3170555" cy="3292475"/>
          </a:xfrm>
        </p:grpSpPr>
        <p:sp>
          <p:nvSpPr>
            <p:cNvPr id="5" name="object 5"/>
            <p:cNvSpPr/>
            <p:nvPr/>
          </p:nvSpPr>
          <p:spPr>
            <a:xfrm>
              <a:off x="4517135" y="3098292"/>
              <a:ext cx="3157855" cy="3279775"/>
            </a:xfrm>
            <a:custGeom>
              <a:avLst/>
              <a:gdLst/>
              <a:ahLst/>
              <a:cxnLst/>
              <a:rect l="l" t="t" r="r" b="b"/>
              <a:pathLst>
                <a:path w="3157854" h="3279775">
                  <a:moveTo>
                    <a:pt x="3157727" y="0"/>
                  </a:moveTo>
                  <a:lnTo>
                    <a:pt x="0" y="0"/>
                  </a:lnTo>
                  <a:lnTo>
                    <a:pt x="0" y="3279648"/>
                  </a:lnTo>
                  <a:lnTo>
                    <a:pt x="3157727" y="3279648"/>
                  </a:lnTo>
                  <a:lnTo>
                    <a:pt x="3157727" y="0"/>
                  </a:lnTo>
                  <a:close/>
                </a:path>
              </a:pathLst>
            </a:custGeom>
            <a:solidFill>
              <a:srgbClr val="F3F3F4">
                <a:alpha val="50195"/>
              </a:srgbClr>
            </a:solidFill>
          </p:spPr>
          <p:txBody>
            <a:bodyPr wrap="square" lIns="0" tIns="0" rIns="0" bIns="0" rtlCol="0"/>
            <a:lstStyle/>
            <a:p>
              <a:endParaRPr/>
            </a:p>
          </p:txBody>
        </p:sp>
        <p:sp>
          <p:nvSpPr>
            <p:cNvPr id="6" name="object 6"/>
            <p:cNvSpPr/>
            <p:nvPr/>
          </p:nvSpPr>
          <p:spPr>
            <a:xfrm>
              <a:off x="4517135" y="3098292"/>
              <a:ext cx="3157855" cy="3279775"/>
            </a:xfrm>
            <a:custGeom>
              <a:avLst/>
              <a:gdLst/>
              <a:ahLst/>
              <a:cxnLst/>
              <a:rect l="l" t="t" r="r" b="b"/>
              <a:pathLst>
                <a:path w="3157854" h="3279775">
                  <a:moveTo>
                    <a:pt x="0" y="3279648"/>
                  </a:moveTo>
                  <a:lnTo>
                    <a:pt x="3157727" y="3279648"/>
                  </a:lnTo>
                  <a:lnTo>
                    <a:pt x="3157727" y="0"/>
                  </a:lnTo>
                  <a:lnTo>
                    <a:pt x="0" y="0"/>
                  </a:lnTo>
                  <a:lnTo>
                    <a:pt x="0" y="3279648"/>
                  </a:lnTo>
                  <a:close/>
                </a:path>
              </a:pathLst>
            </a:custGeom>
            <a:ln w="12700">
              <a:solidFill>
                <a:srgbClr val="632D23"/>
              </a:solidFill>
              <a:prstDash val="sysDash"/>
            </a:ln>
          </p:spPr>
          <p:txBody>
            <a:bodyPr wrap="square" lIns="0" tIns="0" rIns="0" bIns="0" rtlCol="0"/>
            <a:lstStyle/>
            <a:p>
              <a:endParaRPr/>
            </a:p>
          </p:txBody>
        </p:sp>
        <p:sp>
          <p:nvSpPr>
            <p:cNvPr id="7" name="object 7"/>
            <p:cNvSpPr/>
            <p:nvPr/>
          </p:nvSpPr>
          <p:spPr>
            <a:xfrm>
              <a:off x="5675375" y="5862827"/>
              <a:ext cx="868680" cy="262255"/>
            </a:xfrm>
            <a:custGeom>
              <a:avLst/>
              <a:gdLst/>
              <a:ahLst/>
              <a:cxnLst/>
              <a:rect l="l" t="t" r="r" b="b"/>
              <a:pathLst>
                <a:path w="868679" h="262254">
                  <a:moveTo>
                    <a:pt x="868679" y="0"/>
                  </a:moveTo>
                  <a:lnTo>
                    <a:pt x="0" y="0"/>
                  </a:lnTo>
                  <a:lnTo>
                    <a:pt x="0" y="262128"/>
                  </a:lnTo>
                  <a:lnTo>
                    <a:pt x="868679" y="262128"/>
                  </a:lnTo>
                  <a:lnTo>
                    <a:pt x="868679" y="0"/>
                  </a:lnTo>
                  <a:close/>
                </a:path>
              </a:pathLst>
            </a:custGeom>
            <a:solidFill>
              <a:srgbClr val="F1F4C1"/>
            </a:solidFill>
          </p:spPr>
          <p:txBody>
            <a:bodyPr wrap="square" lIns="0" tIns="0" rIns="0" bIns="0" rtlCol="0"/>
            <a:lstStyle/>
            <a:p>
              <a:endParaRPr/>
            </a:p>
          </p:txBody>
        </p:sp>
        <p:sp>
          <p:nvSpPr>
            <p:cNvPr id="8" name="object 8"/>
            <p:cNvSpPr/>
            <p:nvPr/>
          </p:nvSpPr>
          <p:spPr>
            <a:xfrm>
              <a:off x="5675375" y="5862827"/>
              <a:ext cx="868680" cy="262255"/>
            </a:xfrm>
            <a:custGeom>
              <a:avLst/>
              <a:gdLst/>
              <a:ahLst/>
              <a:cxnLst/>
              <a:rect l="l" t="t" r="r" b="b"/>
              <a:pathLst>
                <a:path w="868679" h="262254">
                  <a:moveTo>
                    <a:pt x="0" y="262128"/>
                  </a:moveTo>
                  <a:lnTo>
                    <a:pt x="868679" y="262128"/>
                  </a:lnTo>
                  <a:lnTo>
                    <a:pt x="868679" y="0"/>
                  </a:lnTo>
                  <a:lnTo>
                    <a:pt x="0" y="0"/>
                  </a:lnTo>
                  <a:lnTo>
                    <a:pt x="0" y="262128"/>
                  </a:lnTo>
                  <a:close/>
                </a:path>
              </a:pathLst>
            </a:custGeom>
            <a:ln w="12699">
              <a:solidFill>
                <a:srgbClr val="000000"/>
              </a:solidFill>
            </a:ln>
          </p:spPr>
          <p:txBody>
            <a:bodyPr wrap="square" lIns="0" tIns="0" rIns="0" bIns="0" rtlCol="0"/>
            <a:lstStyle/>
            <a:p>
              <a:endParaRPr/>
            </a:p>
          </p:txBody>
        </p:sp>
      </p:grpSp>
      <p:sp>
        <p:nvSpPr>
          <p:cNvPr id="9" name="object 9"/>
          <p:cNvSpPr txBox="1"/>
          <p:nvPr/>
        </p:nvSpPr>
        <p:spPr>
          <a:xfrm>
            <a:off x="5675376" y="5627483"/>
            <a:ext cx="862330" cy="135935"/>
          </a:xfrm>
          <a:prstGeom prst="rect">
            <a:avLst/>
          </a:prstGeom>
        </p:spPr>
        <p:txBody>
          <a:bodyPr vert="horz" wrap="square" lIns="0" tIns="12700" rIns="0" bIns="0" rtlCol="0">
            <a:spAutoFit/>
          </a:bodyPr>
          <a:lstStyle/>
          <a:p>
            <a:pPr marL="184150">
              <a:lnSpc>
                <a:spcPct val="100000"/>
              </a:lnSpc>
              <a:spcBef>
                <a:spcPts val="100"/>
              </a:spcBef>
            </a:pPr>
            <a:r>
              <a:rPr sz="800" spc="30" dirty="0">
                <a:cs typeface="Tahoma"/>
              </a:rPr>
              <a:t>R</a:t>
            </a:r>
            <a:r>
              <a:rPr sz="800" spc="35" dirty="0">
                <a:cs typeface="Tahoma"/>
              </a:rPr>
              <a:t>M</a:t>
            </a:r>
            <a:r>
              <a:rPr sz="800" spc="5" dirty="0">
                <a:cs typeface="Tahoma"/>
              </a:rPr>
              <a:t>S</a:t>
            </a:r>
            <a:r>
              <a:rPr sz="800" spc="-60" dirty="0">
                <a:cs typeface="Tahoma"/>
              </a:rPr>
              <a:t> </a:t>
            </a:r>
            <a:r>
              <a:rPr sz="800" spc="40" dirty="0">
                <a:cs typeface="Tahoma"/>
              </a:rPr>
              <a:t>Nor</a:t>
            </a:r>
            <a:r>
              <a:rPr sz="800" spc="35" dirty="0">
                <a:cs typeface="Tahoma"/>
              </a:rPr>
              <a:t>m</a:t>
            </a:r>
            <a:endParaRPr sz="800">
              <a:cs typeface="Tahoma"/>
            </a:endParaRPr>
          </a:p>
        </p:txBody>
      </p:sp>
      <p:grpSp>
        <p:nvGrpSpPr>
          <p:cNvPr id="10" name="object 10"/>
          <p:cNvGrpSpPr/>
          <p:nvPr/>
        </p:nvGrpSpPr>
        <p:grpSpPr>
          <a:xfrm>
            <a:off x="4814061" y="4593245"/>
            <a:ext cx="2590165" cy="401320"/>
            <a:chOff x="4814061" y="4882641"/>
            <a:chExt cx="2590165" cy="401320"/>
          </a:xfrm>
        </p:grpSpPr>
        <p:sp>
          <p:nvSpPr>
            <p:cNvPr id="11" name="object 11"/>
            <p:cNvSpPr/>
            <p:nvPr/>
          </p:nvSpPr>
          <p:spPr>
            <a:xfrm>
              <a:off x="4820411" y="4888991"/>
              <a:ext cx="2577465" cy="388620"/>
            </a:xfrm>
            <a:custGeom>
              <a:avLst/>
              <a:gdLst/>
              <a:ahLst/>
              <a:cxnLst/>
              <a:rect l="l" t="t" r="r" b="b"/>
              <a:pathLst>
                <a:path w="2577465" h="388620">
                  <a:moveTo>
                    <a:pt x="2577084" y="0"/>
                  </a:moveTo>
                  <a:lnTo>
                    <a:pt x="0" y="0"/>
                  </a:lnTo>
                  <a:lnTo>
                    <a:pt x="0" y="388619"/>
                  </a:lnTo>
                  <a:lnTo>
                    <a:pt x="2577084" y="388619"/>
                  </a:lnTo>
                  <a:lnTo>
                    <a:pt x="2577084" y="0"/>
                  </a:lnTo>
                  <a:close/>
                </a:path>
              </a:pathLst>
            </a:custGeom>
            <a:solidFill>
              <a:srgbClr val="FFE1BA"/>
            </a:solidFill>
          </p:spPr>
          <p:txBody>
            <a:bodyPr wrap="square" lIns="0" tIns="0" rIns="0" bIns="0" rtlCol="0"/>
            <a:lstStyle/>
            <a:p>
              <a:endParaRPr/>
            </a:p>
          </p:txBody>
        </p:sp>
        <p:sp>
          <p:nvSpPr>
            <p:cNvPr id="12" name="object 12"/>
            <p:cNvSpPr/>
            <p:nvPr/>
          </p:nvSpPr>
          <p:spPr>
            <a:xfrm>
              <a:off x="4820411" y="4888991"/>
              <a:ext cx="2577465" cy="388620"/>
            </a:xfrm>
            <a:custGeom>
              <a:avLst/>
              <a:gdLst/>
              <a:ahLst/>
              <a:cxnLst/>
              <a:rect l="l" t="t" r="r" b="b"/>
              <a:pathLst>
                <a:path w="2577465" h="388620">
                  <a:moveTo>
                    <a:pt x="0" y="388619"/>
                  </a:moveTo>
                  <a:lnTo>
                    <a:pt x="2577084" y="388619"/>
                  </a:lnTo>
                  <a:lnTo>
                    <a:pt x="2577084" y="0"/>
                  </a:lnTo>
                  <a:lnTo>
                    <a:pt x="0" y="0"/>
                  </a:lnTo>
                  <a:lnTo>
                    <a:pt x="0" y="388619"/>
                  </a:lnTo>
                  <a:close/>
                </a:path>
              </a:pathLst>
            </a:custGeom>
            <a:ln w="12700">
              <a:solidFill>
                <a:srgbClr val="000000"/>
              </a:solidFill>
            </a:ln>
          </p:spPr>
          <p:txBody>
            <a:bodyPr wrap="square" lIns="0" tIns="0" rIns="0" bIns="0" rtlCol="0"/>
            <a:lstStyle/>
            <a:p>
              <a:endParaRPr/>
            </a:p>
          </p:txBody>
        </p:sp>
      </p:grpSp>
      <p:sp>
        <p:nvSpPr>
          <p:cNvPr id="13" name="object 13"/>
          <p:cNvSpPr txBox="1"/>
          <p:nvPr/>
        </p:nvSpPr>
        <p:spPr>
          <a:xfrm>
            <a:off x="4820411" y="4595150"/>
            <a:ext cx="2571115" cy="391795"/>
          </a:xfrm>
          <a:prstGeom prst="rect">
            <a:avLst/>
          </a:prstGeom>
        </p:spPr>
        <p:txBody>
          <a:bodyPr vert="horz" wrap="square" lIns="0" tIns="12700" rIns="0" bIns="0" rtlCol="0">
            <a:spAutoFit/>
          </a:bodyPr>
          <a:lstStyle/>
          <a:p>
            <a:pPr marL="6985" algn="ctr">
              <a:lnSpc>
                <a:spcPct val="100000"/>
              </a:lnSpc>
              <a:spcBef>
                <a:spcPts val="100"/>
              </a:spcBef>
            </a:pPr>
            <a:r>
              <a:rPr sz="800" spc="5" dirty="0">
                <a:cs typeface="Tahoma"/>
              </a:rPr>
              <a:t>S</a:t>
            </a:r>
            <a:r>
              <a:rPr sz="800" spc="30" dirty="0">
                <a:cs typeface="Tahoma"/>
              </a:rPr>
              <a:t>e</a:t>
            </a:r>
            <a:r>
              <a:rPr sz="800" dirty="0">
                <a:cs typeface="Tahoma"/>
              </a:rPr>
              <a:t>l</a:t>
            </a:r>
            <a:r>
              <a:rPr sz="800" spc="5" dirty="0">
                <a:cs typeface="Tahoma"/>
              </a:rPr>
              <a:t>f</a:t>
            </a:r>
            <a:r>
              <a:rPr sz="800" spc="-45" dirty="0">
                <a:cs typeface="Tahoma"/>
              </a:rPr>
              <a:t>-</a:t>
            </a:r>
            <a:r>
              <a:rPr sz="800" spc="10" dirty="0">
                <a:cs typeface="Tahoma"/>
              </a:rPr>
              <a:t>Att</a:t>
            </a:r>
            <a:r>
              <a:rPr sz="800" spc="30" dirty="0">
                <a:cs typeface="Tahoma"/>
              </a:rPr>
              <a:t>e</a:t>
            </a:r>
            <a:r>
              <a:rPr sz="800" spc="20" dirty="0">
                <a:cs typeface="Tahoma"/>
              </a:rPr>
              <a:t>ntion</a:t>
            </a:r>
            <a:r>
              <a:rPr sz="800" spc="-85" dirty="0">
                <a:cs typeface="Tahoma"/>
              </a:rPr>
              <a:t> </a:t>
            </a:r>
            <a:r>
              <a:rPr sz="800" spc="10" dirty="0">
                <a:cs typeface="Tahoma"/>
              </a:rPr>
              <a:t>w</a:t>
            </a:r>
            <a:r>
              <a:rPr sz="800" spc="5" dirty="0">
                <a:cs typeface="Tahoma"/>
              </a:rPr>
              <a:t>i</a:t>
            </a:r>
            <a:r>
              <a:rPr sz="800" spc="-20" dirty="0">
                <a:cs typeface="Tahoma"/>
              </a:rPr>
              <a:t>t</a:t>
            </a:r>
            <a:r>
              <a:rPr sz="800" spc="20" dirty="0">
                <a:cs typeface="Tahoma"/>
              </a:rPr>
              <a:t>h</a:t>
            </a:r>
            <a:r>
              <a:rPr sz="800" spc="-60" dirty="0">
                <a:cs typeface="Tahoma"/>
              </a:rPr>
              <a:t> </a:t>
            </a:r>
            <a:r>
              <a:rPr sz="800" b="1" spc="-35" dirty="0">
                <a:solidFill>
                  <a:srgbClr val="FF0000"/>
                </a:solidFill>
                <a:cs typeface="Tahoma"/>
              </a:rPr>
              <a:t>S</a:t>
            </a:r>
            <a:r>
              <a:rPr sz="800" b="1" spc="-5" dirty="0">
                <a:solidFill>
                  <a:srgbClr val="FF0000"/>
                </a:solidFill>
                <a:cs typeface="Tahoma"/>
              </a:rPr>
              <a:t>li</a:t>
            </a:r>
            <a:r>
              <a:rPr sz="800" b="1" dirty="0">
                <a:solidFill>
                  <a:srgbClr val="FF0000"/>
                </a:solidFill>
                <a:cs typeface="Tahoma"/>
              </a:rPr>
              <a:t>din</a:t>
            </a:r>
            <a:r>
              <a:rPr sz="800" b="1" spc="5" dirty="0">
                <a:solidFill>
                  <a:srgbClr val="FF0000"/>
                </a:solidFill>
                <a:cs typeface="Tahoma"/>
              </a:rPr>
              <a:t>g</a:t>
            </a:r>
            <a:r>
              <a:rPr sz="800" b="1" spc="-60" dirty="0">
                <a:solidFill>
                  <a:srgbClr val="FF0000"/>
                </a:solidFill>
                <a:cs typeface="Tahoma"/>
              </a:rPr>
              <a:t> </a:t>
            </a:r>
            <a:r>
              <a:rPr sz="800" b="1" dirty="0">
                <a:solidFill>
                  <a:srgbClr val="FF0000"/>
                </a:solidFill>
                <a:cs typeface="Tahoma"/>
              </a:rPr>
              <a:t>Wind</a:t>
            </a:r>
            <a:r>
              <a:rPr sz="800" b="1" spc="-5" dirty="0">
                <a:solidFill>
                  <a:srgbClr val="FF0000"/>
                </a:solidFill>
                <a:cs typeface="Tahoma"/>
              </a:rPr>
              <a:t>o</a:t>
            </a:r>
            <a:r>
              <a:rPr sz="800" b="1" spc="-15" dirty="0">
                <a:solidFill>
                  <a:srgbClr val="FF0000"/>
                </a:solidFill>
                <a:cs typeface="Tahoma"/>
              </a:rPr>
              <a:t>w</a:t>
            </a:r>
            <a:r>
              <a:rPr sz="800" b="1" spc="-60" dirty="0">
                <a:solidFill>
                  <a:srgbClr val="FF0000"/>
                </a:solidFill>
                <a:cs typeface="Tahoma"/>
              </a:rPr>
              <a:t> </a:t>
            </a:r>
            <a:r>
              <a:rPr sz="800" b="1" dirty="0">
                <a:solidFill>
                  <a:srgbClr val="FF0000"/>
                </a:solidFill>
                <a:cs typeface="Tahoma"/>
              </a:rPr>
              <a:t>At</a:t>
            </a:r>
            <a:r>
              <a:rPr sz="800" b="1" spc="-20" dirty="0">
                <a:solidFill>
                  <a:srgbClr val="FF0000"/>
                </a:solidFill>
                <a:cs typeface="Tahoma"/>
              </a:rPr>
              <a:t>tention</a:t>
            </a:r>
            <a:endParaRPr sz="800">
              <a:cs typeface="Tahoma"/>
            </a:endParaRPr>
          </a:p>
          <a:p>
            <a:pPr marL="118110" marR="102235" algn="ctr">
              <a:lnSpc>
                <a:spcPct val="100000"/>
              </a:lnSpc>
              <a:spcBef>
                <a:spcPts val="5"/>
              </a:spcBef>
            </a:pPr>
            <a:r>
              <a:rPr sz="800" spc="35" dirty="0">
                <a:cs typeface="Tahoma"/>
              </a:rPr>
              <a:t>,Grouped</a:t>
            </a:r>
            <a:r>
              <a:rPr sz="800" spc="-45" dirty="0">
                <a:cs typeface="Tahoma"/>
              </a:rPr>
              <a:t> </a:t>
            </a:r>
            <a:r>
              <a:rPr sz="800" spc="30" dirty="0">
                <a:cs typeface="Tahoma"/>
              </a:rPr>
              <a:t>Query</a:t>
            </a:r>
            <a:r>
              <a:rPr sz="800" spc="-55" dirty="0">
                <a:cs typeface="Tahoma"/>
              </a:rPr>
              <a:t> </a:t>
            </a:r>
            <a:r>
              <a:rPr sz="800" spc="10" dirty="0">
                <a:cs typeface="Tahoma"/>
              </a:rPr>
              <a:t>Attention,</a:t>
            </a:r>
            <a:r>
              <a:rPr sz="800" spc="-70" dirty="0">
                <a:cs typeface="Tahoma"/>
              </a:rPr>
              <a:t> </a:t>
            </a:r>
            <a:r>
              <a:rPr sz="800" spc="30" dirty="0">
                <a:cs typeface="Tahoma"/>
              </a:rPr>
              <a:t>and</a:t>
            </a:r>
            <a:r>
              <a:rPr sz="800" spc="-45" dirty="0">
                <a:cs typeface="Tahoma"/>
              </a:rPr>
              <a:t> </a:t>
            </a:r>
            <a:r>
              <a:rPr sz="800" b="1" spc="-10" dirty="0">
                <a:solidFill>
                  <a:srgbClr val="FF0000"/>
                </a:solidFill>
                <a:cs typeface="Tahoma"/>
              </a:rPr>
              <a:t>Rolling</a:t>
            </a:r>
            <a:r>
              <a:rPr sz="800" b="1" spc="-55" dirty="0">
                <a:solidFill>
                  <a:srgbClr val="FF0000"/>
                </a:solidFill>
                <a:cs typeface="Tahoma"/>
              </a:rPr>
              <a:t> </a:t>
            </a:r>
            <a:r>
              <a:rPr sz="800" b="1" spc="-20" dirty="0">
                <a:solidFill>
                  <a:srgbClr val="FF0000"/>
                </a:solidFill>
                <a:cs typeface="Tahoma"/>
              </a:rPr>
              <a:t>Buffer</a:t>
            </a:r>
            <a:r>
              <a:rPr sz="800" b="1" spc="-55" dirty="0">
                <a:solidFill>
                  <a:srgbClr val="FF0000"/>
                </a:solidFill>
                <a:cs typeface="Tahoma"/>
              </a:rPr>
              <a:t> </a:t>
            </a:r>
            <a:r>
              <a:rPr sz="800" spc="5" dirty="0">
                <a:cs typeface="Tahoma"/>
              </a:rPr>
              <a:t>KV- </a:t>
            </a:r>
            <a:r>
              <a:rPr sz="800" spc="-235" dirty="0">
                <a:cs typeface="Tahoma"/>
              </a:rPr>
              <a:t> </a:t>
            </a:r>
            <a:r>
              <a:rPr sz="800" spc="35" dirty="0">
                <a:cs typeface="Tahoma"/>
              </a:rPr>
              <a:t>Cache</a:t>
            </a:r>
            <a:endParaRPr sz="800">
              <a:cs typeface="Tahoma"/>
            </a:endParaRPr>
          </a:p>
        </p:txBody>
      </p:sp>
      <p:grpSp>
        <p:nvGrpSpPr>
          <p:cNvPr id="14" name="object 14"/>
          <p:cNvGrpSpPr/>
          <p:nvPr/>
        </p:nvGrpSpPr>
        <p:grpSpPr>
          <a:xfrm>
            <a:off x="6072378" y="5024538"/>
            <a:ext cx="1273175" cy="1146175"/>
            <a:chOff x="6072378" y="5313934"/>
            <a:chExt cx="1273175" cy="1146175"/>
          </a:xfrm>
        </p:grpSpPr>
        <p:pic>
          <p:nvPicPr>
            <p:cNvPr id="15" name="object 15"/>
            <p:cNvPicPr/>
            <p:nvPr/>
          </p:nvPicPr>
          <p:blipFill>
            <a:blip r:embed="rId2" cstate="print"/>
            <a:stretch>
              <a:fillRect/>
            </a:stretch>
          </p:blipFill>
          <p:spPr>
            <a:xfrm>
              <a:off x="6193282" y="5313934"/>
              <a:ext cx="142239" cy="127000"/>
            </a:xfrm>
            <a:prstGeom prst="rect">
              <a:avLst/>
            </a:prstGeom>
          </p:spPr>
        </p:pic>
        <p:sp>
          <p:nvSpPr>
            <p:cNvPr id="16" name="object 16"/>
            <p:cNvSpPr/>
            <p:nvPr/>
          </p:nvSpPr>
          <p:spPr>
            <a:xfrm>
              <a:off x="6072378" y="5496306"/>
              <a:ext cx="1273175" cy="963930"/>
            </a:xfrm>
            <a:custGeom>
              <a:avLst/>
              <a:gdLst/>
              <a:ahLst/>
              <a:cxnLst/>
              <a:rect l="l" t="t" r="r" b="b"/>
              <a:pathLst>
                <a:path w="1273175" h="963929">
                  <a:moveTo>
                    <a:pt x="76200" y="705612"/>
                  </a:moveTo>
                  <a:lnTo>
                    <a:pt x="69850" y="692912"/>
                  </a:lnTo>
                  <a:lnTo>
                    <a:pt x="38100" y="629412"/>
                  </a:lnTo>
                  <a:lnTo>
                    <a:pt x="0" y="705612"/>
                  </a:lnTo>
                  <a:lnTo>
                    <a:pt x="28575" y="705612"/>
                  </a:lnTo>
                  <a:lnTo>
                    <a:pt x="28575" y="963434"/>
                  </a:lnTo>
                  <a:lnTo>
                    <a:pt x="47625" y="963434"/>
                  </a:lnTo>
                  <a:lnTo>
                    <a:pt x="47625" y="705612"/>
                  </a:lnTo>
                  <a:lnTo>
                    <a:pt x="76200" y="705612"/>
                  </a:lnTo>
                  <a:close/>
                </a:path>
                <a:path w="1273175" h="963929">
                  <a:moveTo>
                    <a:pt x="1272794" y="76200"/>
                  </a:moveTo>
                  <a:lnTo>
                    <a:pt x="1266444" y="63500"/>
                  </a:lnTo>
                  <a:lnTo>
                    <a:pt x="1234694" y="0"/>
                  </a:lnTo>
                  <a:lnTo>
                    <a:pt x="1196594" y="76200"/>
                  </a:lnTo>
                  <a:lnTo>
                    <a:pt x="1225169" y="76200"/>
                  </a:lnTo>
                  <a:lnTo>
                    <a:pt x="1225169" y="174294"/>
                  </a:lnTo>
                  <a:lnTo>
                    <a:pt x="51092" y="174294"/>
                  </a:lnTo>
                  <a:lnTo>
                    <a:pt x="52857" y="76365"/>
                  </a:lnTo>
                  <a:lnTo>
                    <a:pt x="81407" y="76835"/>
                  </a:lnTo>
                  <a:lnTo>
                    <a:pt x="74968" y="63373"/>
                  </a:lnTo>
                  <a:lnTo>
                    <a:pt x="44704" y="0"/>
                  </a:lnTo>
                  <a:lnTo>
                    <a:pt x="5207" y="75565"/>
                  </a:lnTo>
                  <a:lnTo>
                    <a:pt x="33807" y="76047"/>
                  </a:lnTo>
                  <a:lnTo>
                    <a:pt x="32042" y="174294"/>
                  </a:lnTo>
                  <a:lnTo>
                    <a:pt x="28575" y="174294"/>
                  </a:lnTo>
                  <a:lnTo>
                    <a:pt x="28575" y="367474"/>
                  </a:lnTo>
                  <a:lnTo>
                    <a:pt x="28575" y="367652"/>
                  </a:lnTo>
                  <a:lnTo>
                    <a:pt x="38442" y="367652"/>
                  </a:lnTo>
                  <a:lnTo>
                    <a:pt x="47625" y="367817"/>
                  </a:lnTo>
                  <a:lnTo>
                    <a:pt x="47625" y="367652"/>
                  </a:lnTo>
                  <a:lnTo>
                    <a:pt x="50749" y="193344"/>
                  </a:lnTo>
                  <a:lnTo>
                    <a:pt x="1244219" y="193344"/>
                  </a:lnTo>
                  <a:lnTo>
                    <a:pt x="1244219" y="174294"/>
                  </a:lnTo>
                  <a:lnTo>
                    <a:pt x="1244219" y="76200"/>
                  </a:lnTo>
                  <a:lnTo>
                    <a:pt x="1272794" y="76200"/>
                  </a:lnTo>
                  <a:close/>
                </a:path>
              </a:pathLst>
            </a:custGeom>
            <a:solidFill>
              <a:srgbClr val="000000"/>
            </a:solidFill>
          </p:spPr>
          <p:txBody>
            <a:bodyPr wrap="square" lIns="0" tIns="0" rIns="0" bIns="0" rtlCol="0"/>
            <a:lstStyle/>
            <a:p>
              <a:endParaRPr/>
            </a:p>
          </p:txBody>
        </p:sp>
      </p:grpSp>
      <p:sp>
        <p:nvSpPr>
          <p:cNvPr id="17" name="object 17"/>
          <p:cNvSpPr txBox="1"/>
          <p:nvPr/>
        </p:nvSpPr>
        <p:spPr>
          <a:xfrm>
            <a:off x="7241285" y="4995327"/>
            <a:ext cx="121285" cy="182101"/>
          </a:xfrm>
          <a:prstGeom prst="rect">
            <a:avLst/>
          </a:prstGeom>
        </p:spPr>
        <p:txBody>
          <a:bodyPr vert="horz" wrap="square" lIns="0" tIns="12700" rIns="0" bIns="0" rtlCol="0">
            <a:spAutoFit/>
          </a:bodyPr>
          <a:lstStyle/>
          <a:p>
            <a:pPr marL="12700">
              <a:lnSpc>
                <a:spcPct val="100000"/>
              </a:lnSpc>
              <a:spcBef>
                <a:spcPts val="100"/>
              </a:spcBef>
            </a:pPr>
            <a:r>
              <a:rPr sz="1100" b="1" spc="10" dirty="0">
                <a:cs typeface="Tahoma"/>
              </a:rPr>
              <a:t>V</a:t>
            </a:r>
            <a:endParaRPr sz="1100">
              <a:cs typeface="Tahoma"/>
            </a:endParaRPr>
          </a:p>
        </p:txBody>
      </p:sp>
      <p:sp>
        <p:nvSpPr>
          <p:cNvPr id="18" name="object 18"/>
          <p:cNvSpPr txBox="1"/>
          <p:nvPr/>
        </p:nvSpPr>
        <p:spPr>
          <a:xfrm>
            <a:off x="4896739" y="4995327"/>
            <a:ext cx="1277620" cy="182101"/>
          </a:xfrm>
          <a:prstGeom prst="rect">
            <a:avLst/>
          </a:prstGeom>
        </p:spPr>
        <p:txBody>
          <a:bodyPr vert="horz" wrap="square" lIns="0" tIns="12700" rIns="0" bIns="0" rtlCol="0">
            <a:spAutoFit/>
          </a:bodyPr>
          <a:lstStyle/>
          <a:p>
            <a:pPr marL="12700">
              <a:lnSpc>
                <a:spcPct val="100000"/>
              </a:lnSpc>
              <a:spcBef>
                <a:spcPts val="100"/>
              </a:spcBef>
              <a:tabLst>
                <a:tab pos="1164590" algn="l"/>
              </a:tabLst>
            </a:pPr>
            <a:r>
              <a:rPr sz="1650" b="1" spc="142" baseline="2525" dirty="0">
                <a:cs typeface="Tahoma"/>
              </a:rPr>
              <a:t>Q	</a:t>
            </a:r>
            <a:r>
              <a:rPr sz="1100" b="1" spc="15" dirty="0">
                <a:cs typeface="Tahoma"/>
              </a:rPr>
              <a:t>K</a:t>
            </a:r>
            <a:endParaRPr sz="1100">
              <a:cs typeface="Tahoma"/>
            </a:endParaRPr>
          </a:p>
        </p:txBody>
      </p:sp>
      <p:grpSp>
        <p:nvGrpSpPr>
          <p:cNvPr id="19" name="object 19"/>
          <p:cNvGrpSpPr/>
          <p:nvPr/>
        </p:nvGrpSpPr>
        <p:grpSpPr>
          <a:xfrm>
            <a:off x="4679950" y="3796194"/>
            <a:ext cx="1870710" cy="2374900"/>
            <a:chOff x="4679950" y="4085590"/>
            <a:chExt cx="1870710" cy="2374900"/>
          </a:xfrm>
        </p:grpSpPr>
        <p:sp>
          <p:nvSpPr>
            <p:cNvPr id="20" name="object 20"/>
            <p:cNvSpPr/>
            <p:nvPr/>
          </p:nvSpPr>
          <p:spPr>
            <a:xfrm>
              <a:off x="4935474" y="5487162"/>
              <a:ext cx="1184275" cy="375920"/>
            </a:xfrm>
            <a:custGeom>
              <a:avLst/>
              <a:gdLst/>
              <a:ahLst/>
              <a:cxnLst/>
              <a:rect l="l" t="t" r="r" b="b"/>
              <a:pathLst>
                <a:path w="1184275" h="375920">
                  <a:moveTo>
                    <a:pt x="1164971" y="187845"/>
                  </a:moveTo>
                  <a:lnTo>
                    <a:pt x="1164971" y="375678"/>
                  </a:lnTo>
                  <a:lnTo>
                    <a:pt x="1184021" y="375678"/>
                  </a:lnTo>
                  <a:lnTo>
                    <a:pt x="1184021" y="197370"/>
                  </a:lnTo>
                  <a:lnTo>
                    <a:pt x="1174496" y="197370"/>
                  </a:lnTo>
                  <a:lnTo>
                    <a:pt x="1164971" y="187845"/>
                  </a:lnTo>
                  <a:close/>
                </a:path>
                <a:path w="1184275" h="375920">
                  <a:moveTo>
                    <a:pt x="47625" y="63500"/>
                  </a:moveTo>
                  <a:lnTo>
                    <a:pt x="28575" y="63500"/>
                  </a:lnTo>
                  <a:lnTo>
                    <a:pt x="28575" y="197370"/>
                  </a:lnTo>
                  <a:lnTo>
                    <a:pt x="1164971" y="197370"/>
                  </a:lnTo>
                  <a:lnTo>
                    <a:pt x="1164971" y="187845"/>
                  </a:lnTo>
                  <a:lnTo>
                    <a:pt x="47625" y="187845"/>
                  </a:lnTo>
                  <a:lnTo>
                    <a:pt x="38100" y="178320"/>
                  </a:lnTo>
                  <a:lnTo>
                    <a:pt x="47625" y="178320"/>
                  </a:lnTo>
                  <a:lnTo>
                    <a:pt x="47625" y="63500"/>
                  </a:lnTo>
                  <a:close/>
                </a:path>
                <a:path w="1184275" h="375920">
                  <a:moveTo>
                    <a:pt x="1184021" y="178320"/>
                  </a:moveTo>
                  <a:lnTo>
                    <a:pt x="47625" y="178320"/>
                  </a:lnTo>
                  <a:lnTo>
                    <a:pt x="47625" y="187845"/>
                  </a:lnTo>
                  <a:lnTo>
                    <a:pt x="1164971" y="187845"/>
                  </a:lnTo>
                  <a:lnTo>
                    <a:pt x="1174496" y="197370"/>
                  </a:lnTo>
                  <a:lnTo>
                    <a:pt x="1184021" y="197370"/>
                  </a:lnTo>
                  <a:lnTo>
                    <a:pt x="1184021" y="178320"/>
                  </a:lnTo>
                  <a:close/>
                </a:path>
                <a:path w="1184275" h="375920">
                  <a:moveTo>
                    <a:pt x="47625" y="178320"/>
                  </a:moveTo>
                  <a:lnTo>
                    <a:pt x="38100" y="178320"/>
                  </a:lnTo>
                  <a:lnTo>
                    <a:pt x="47625" y="187845"/>
                  </a:lnTo>
                  <a:lnTo>
                    <a:pt x="47625" y="178320"/>
                  </a:lnTo>
                  <a:close/>
                </a:path>
                <a:path w="1184275" h="375920">
                  <a:moveTo>
                    <a:pt x="38100" y="0"/>
                  </a:moveTo>
                  <a:lnTo>
                    <a:pt x="0" y="76200"/>
                  </a:lnTo>
                  <a:lnTo>
                    <a:pt x="28575" y="76200"/>
                  </a:lnTo>
                  <a:lnTo>
                    <a:pt x="28575" y="63500"/>
                  </a:lnTo>
                  <a:lnTo>
                    <a:pt x="69850" y="63500"/>
                  </a:lnTo>
                  <a:lnTo>
                    <a:pt x="38100" y="0"/>
                  </a:lnTo>
                  <a:close/>
                </a:path>
                <a:path w="1184275" h="375920">
                  <a:moveTo>
                    <a:pt x="69850" y="63500"/>
                  </a:moveTo>
                  <a:lnTo>
                    <a:pt x="47625" y="63500"/>
                  </a:lnTo>
                  <a:lnTo>
                    <a:pt x="47625" y="76200"/>
                  </a:lnTo>
                  <a:lnTo>
                    <a:pt x="76200" y="76200"/>
                  </a:lnTo>
                  <a:lnTo>
                    <a:pt x="69850" y="63500"/>
                  </a:lnTo>
                  <a:close/>
                </a:path>
              </a:pathLst>
            </a:custGeom>
            <a:solidFill>
              <a:srgbClr val="000000"/>
            </a:solidFill>
          </p:spPr>
          <p:txBody>
            <a:bodyPr wrap="square" lIns="0" tIns="0" rIns="0" bIns="0" rtlCol="0"/>
            <a:lstStyle/>
            <a:p>
              <a:endParaRPr/>
            </a:p>
          </p:txBody>
        </p:sp>
        <p:pic>
          <p:nvPicPr>
            <p:cNvPr id="21" name="object 21"/>
            <p:cNvPicPr/>
            <p:nvPr/>
          </p:nvPicPr>
          <p:blipFill>
            <a:blip r:embed="rId3" cstate="print"/>
            <a:stretch>
              <a:fillRect/>
            </a:stretch>
          </p:blipFill>
          <p:spPr>
            <a:xfrm>
              <a:off x="6003036" y="4565904"/>
              <a:ext cx="211836" cy="185928"/>
            </a:xfrm>
            <a:prstGeom prst="rect">
              <a:avLst/>
            </a:prstGeom>
          </p:spPr>
        </p:pic>
        <p:pic>
          <p:nvPicPr>
            <p:cNvPr id="22" name="object 22"/>
            <p:cNvPicPr/>
            <p:nvPr/>
          </p:nvPicPr>
          <p:blipFill>
            <a:blip r:embed="rId4" cstate="print"/>
            <a:stretch>
              <a:fillRect/>
            </a:stretch>
          </p:blipFill>
          <p:spPr>
            <a:xfrm>
              <a:off x="6072377" y="4752594"/>
              <a:ext cx="76200" cy="137794"/>
            </a:xfrm>
            <a:prstGeom prst="rect">
              <a:avLst/>
            </a:prstGeom>
          </p:spPr>
        </p:pic>
        <p:sp>
          <p:nvSpPr>
            <p:cNvPr id="23" name="object 23"/>
            <p:cNvSpPr/>
            <p:nvPr/>
          </p:nvSpPr>
          <p:spPr>
            <a:xfrm>
              <a:off x="4679950" y="4621530"/>
              <a:ext cx="1439545" cy="1838960"/>
            </a:xfrm>
            <a:custGeom>
              <a:avLst/>
              <a:gdLst/>
              <a:ahLst/>
              <a:cxnLst/>
              <a:rect l="l" t="t" r="r" b="b"/>
              <a:pathLst>
                <a:path w="1439545" h="1838960">
                  <a:moveTo>
                    <a:pt x="1420367" y="1693164"/>
                  </a:moveTo>
                  <a:lnTo>
                    <a:pt x="1420367" y="1838883"/>
                  </a:lnTo>
                  <a:lnTo>
                    <a:pt x="1439417" y="1838883"/>
                  </a:lnTo>
                  <a:lnTo>
                    <a:pt x="1439417" y="1702689"/>
                  </a:lnTo>
                  <a:lnTo>
                    <a:pt x="1429892" y="1702689"/>
                  </a:lnTo>
                  <a:lnTo>
                    <a:pt x="1420367" y="1693164"/>
                  </a:lnTo>
                  <a:close/>
                </a:path>
                <a:path w="1439545" h="1838960">
                  <a:moveTo>
                    <a:pt x="1247648" y="28575"/>
                  </a:moveTo>
                  <a:lnTo>
                    <a:pt x="0" y="28575"/>
                  </a:lnTo>
                  <a:lnTo>
                    <a:pt x="0" y="1702689"/>
                  </a:lnTo>
                  <a:lnTo>
                    <a:pt x="1420367" y="1702689"/>
                  </a:lnTo>
                  <a:lnTo>
                    <a:pt x="1420367" y="1693164"/>
                  </a:lnTo>
                  <a:lnTo>
                    <a:pt x="19050" y="1693164"/>
                  </a:lnTo>
                  <a:lnTo>
                    <a:pt x="9525" y="1683639"/>
                  </a:lnTo>
                  <a:lnTo>
                    <a:pt x="19050" y="1683639"/>
                  </a:lnTo>
                  <a:lnTo>
                    <a:pt x="19050" y="47625"/>
                  </a:lnTo>
                  <a:lnTo>
                    <a:pt x="9525" y="47625"/>
                  </a:lnTo>
                  <a:lnTo>
                    <a:pt x="19050" y="38100"/>
                  </a:lnTo>
                  <a:lnTo>
                    <a:pt x="1247648" y="38100"/>
                  </a:lnTo>
                  <a:lnTo>
                    <a:pt x="1247648" y="28575"/>
                  </a:lnTo>
                  <a:close/>
                </a:path>
                <a:path w="1439545" h="1838960">
                  <a:moveTo>
                    <a:pt x="1439417" y="1683639"/>
                  </a:moveTo>
                  <a:lnTo>
                    <a:pt x="19050" y="1683639"/>
                  </a:lnTo>
                  <a:lnTo>
                    <a:pt x="19050" y="1693164"/>
                  </a:lnTo>
                  <a:lnTo>
                    <a:pt x="1420367" y="1693164"/>
                  </a:lnTo>
                  <a:lnTo>
                    <a:pt x="1429892" y="1702689"/>
                  </a:lnTo>
                  <a:lnTo>
                    <a:pt x="1439417" y="1702689"/>
                  </a:lnTo>
                  <a:lnTo>
                    <a:pt x="1439417" y="1683639"/>
                  </a:lnTo>
                  <a:close/>
                </a:path>
                <a:path w="1439545" h="1838960">
                  <a:moveTo>
                    <a:pt x="19050" y="1683639"/>
                  </a:moveTo>
                  <a:lnTo>
                    <a:pt x="9525" y="1683639"/>
                  </a:lnTo>
                  <a:lnTo>
                    <a:pt x="19050" y="1693164"/>
                  </a:lnTo>
                  <a:lnTo>
                    <a:pt x="19050" y="1683639"/>
                  </a:lnTo>
                  <a:close/>
                </a:path>
                <a:path w="1439545" h="1838960">
                  <a:moveTo>
                    <a:pt x="1247648" y="0"/>
                  </a:moveTo>
                  <a:lnTo>
                    <a:pt x="1247648" y="76200"/>
                  </a:lnTo>
                  <a:lnTo>
                    <a:pt x="1304798" y="47625"/>
                  </a:lnTo>
                  <a:lnTo>
                    <a:pt x="1260348" y="47625"/>
                  </a:lnTo>
                  <a:lnTo>
                    <a:pt x="1260348" y="28575"/>
                  </a:lnTo>
                  <a:lnTo>
                    <a:pt x="1304798" y="28575"/>
                  </a:lnTo>
                  <a:lnTo>
                    <a:pt x="1247648" y="0"/>
                  </a:lnTo>
                  <a:close/>
                </a:path>
                <a:path w="1439545" h="1838960">
                  <a:moveTo>
                    <a:pt x="19050" y="38100"/>
                  </a:moveTo>
                  <a:lnTo>
                    <a:pt x="9525" y="47625"/>
                  </a:lnTo>
                  <a:lnTo>
                    <a:pt x="19050" y="47625"/>
                  </a:lnTo>
                  <a:lnTo>
                    <a:pt x="19050" y="38100"/>
                  </a:lnTo>
                  <a:close/>
                </a:path>
                <a:path w="1439545" h="1838960">
                  <a:moveTo>
                    <a:pt x="1247648" y="38100"/>
                  </a:moveTo>
                  <a:lnTo>
                    <a:pt x="19050" y="38100"/>
                  </a:lnTo>
                  <a:lnTo>
                    <a:pt x="19050" y="47625"/>
                  </a:lnTo>
                  <a:lnTo>
                    <a:pt x="1247648" y="47625"/>
                  </a:lnTo>
                  <a:lnTo>
                    <a:pt x="1247648" y="38100"/>
                  </a:lnTo>
                  <a:close/>
                </a:path>
                <a:path w="1439545" h="1838960">
                  <a:moveTo>
                    <a:pt x="1304798" y="28575"/>
                  </a:moveTo>
                  <a:lnTo>
                    <a:pt x="1260348" y="28575"/>
                  </a:lnTo>
                  <a:lnTo>
                    <a:pt x="1260348" y="47625"/>
                  </a:lnTo>
                  <a:lnTo>
                    <a:pt x="1304798" y="47625"/>
                  </a:lnTo>
                  <a:lnTo>
                    <a:pt x="1323848" y="38100"/>
                  </a:lnTo>
                  <a:lnTo>
                    <a:pt x="1304798" y="28575"/>
                  </a:lnTo>
                  <a:close/>
                </a:path>
              </a:pathLst>
            </a:custGeom>
            <a:solidFill>
              <a:srgbClr val="000000"/>
            </a:solidFill>
          </p:spPr>
          <p:txBody>
            <a:bodyPr wrap="square" lIns="0" tIns="0" rIns="0" bIns="0" rtlCol="0"/>
            <a:lstStyle/>
            <a:p>
              <a:endParaRPr/>
            </a:p>
          </p:txBody>
        </p:sp>
        <p:sp>
          <p:nvSpPr>
            <p:cNvPr id="24" name="object 24"/>
            <p:cNvSpPr/>
            <p:nvPr/>
          </p:nvSpPr>
          <p:spPr>
            <a:xfrm>
              <a:off x="5675375" y="4091940"/>
              <a:ext cx="868680" cy="264160"/>
            </a:xfrm>
            <a:custGeom>
              <a:avLst/>
              <a:gdLst/>
              <a:ahLst/>
              <a:cxnLst/>
              <a:rect l="l" t="t" r="r" b="b"/>
              <a:pathLst>
                <a:path w="868679" h="264160">
                  <a:moveTo>
                    <a:pt x="868679" y="0"/>
                  </a:moveTo>
                  <a:lnTo>
                    <a:pt x="0" y="0"/>
                  </a:lnTo>
                  <a:lnTo>
                    <a:pt x="0" y="263651"/>
                  </a:lnTo>
                  <a:lnTo>
                    <a:pt x="868679" y="263651"/>
                  </a:lnTo>
                  <a:lnTo>
                    <a:pt x="868679" y="0"/>
                  </a:lnTo>
                  <a:close/>
                </a:path>
              </a:pathLst>
            </a:custGeom>
            <a:solidFill>
              <a:srgbClr val="F1F4C1"/>
            </a:solidFill>
          </p:spPr>
          <p:txBody>
            <a:bodyPr wrap="square" lIns="0" tIns="0" rIns="0" bIns="0" rtlCol="0"/>
            <a:lstStyle/>
            <a:p>
              <a:endParaRPr/>
            </a:p>
          </p:txBody>
        </p:sp>
        <p:sp>
          <p:nvSpPr>
            <p:cNvPr id="25" name="object 25"/>
            <p:cNvSpPr/>
            <p:nvPr/>
          </p:nvSpPr>
          <p:spPr>
            <a:xfrm>
              <a:off x="5675375" y="4091940"/>
              <a:ext cx="868680" cy="264160"/>
            </a:xfrm>
            <a:custGeom>
              <a:avLst/>
              <a:gdLst/>
              <a:ahLst/>
              <a:cxnLst/>
              <a:rect l="l" t="t" r="r" b="b"/>
              <a:pathLst>
                <a:path w="868679" h="264160">
                  <a:moveTo>
                    <a:pt x="0" y="263651"/>
                  </a:moveTo>
                  <a:lnTo>
                    <a:pt x="868679" y="263651"/>
                  </a:lnTo>
                  <a:lnTo>
                    <a:pt x="868679" y="0"/>
                  </a:lnTo>
                  <a:lnTo>
                    <a:pt x="0" y="0"/>
                  </a:lnTo>
                  <a:lnTo>
                    <a:pt x="0" y="263651"/>
                  </a:lnTo>
                  <a:close/>
                </a:path>
              </a:pathLst>
            </a:custGeom>
            <a:ln w="12700">
              <a:solidFill>
                <a:srgbClr val="000000"/>
              </a:solidFill>
            </a:ln>
          </p:spPr>
          <p:txBody>
            <a:bodyPr wrap="square" lIns="0" tIns="0" rIns="0" bIns="0" rtlCol="0"/>
            <a:lstStyle/>
            <a:p>
              <a:endParaRPr/>
            </a:p>
          </p:txBody>
        </p:sp>
      </p:grpSp>
      <p:sp>
        <p:nvSpPr>
          <p:cNvPr id="26" name="object 26"/>
          <p:cNvSpPr txBox="1"/>
          <p:nvPr/>
        </p:nvSpPr>
        <p:spPr>
          <a:xfrm>
            <a:off x="5675376" y="3856900"/>
            <a:ext cx="862330" cy="135935"/>
          </a:xfrm>
          <a:prstGeom prst="rect">
            <a:avLst/>
          </a:prstGeom>
        </p:spPr>
        <p:txBody>
          <a:bodyPr vert="horz" wrap="square" lIns="0" tIns="12700" rIns="0" bIns="0" rtlCol="0">
            <a:spAutoFit/>
          </a:bodyPr>
          <a:lstStyle/>
          <a:p>
            <a:pPr marL="184150">
              <a:lnSpc>
                <a:spcPct val="100000"/>
              </a:lnSpc>
              <a:spcBef>
                <a:spcPts val="100"/>
              </a:spcBef>
            </a:pPr>
            <a:r>
              <a:rPr sz="800" spc="30" dirty="0">
                <a:cs typeface="Tahoma"/>
              </a:rPr>
              <a:t>R</a:t>
            </a:r>
            <a:r>
              <a:rPr sz="800" spc="35" dirty="0">
                <a:cs typeface="Tahoma"/>
              </a:rPr>
              <a:t>M</a:t>
            </a:r>
            <a:r>
              <a:rPr sz="800" spc="5" dirty="0">
                <a:cs typeface="Tahoma"/>
              </a:rPr>
              <a:t>S</a:t>
            </a:r>
            <a:r>
              <a:rPr sz="800" spc="-60" dirty="0">
                <a:cs typeface="Tahoma"/>
              </a:rPr>
              <a:t> </a:t>
            </a:r>
            <a:r>
              <a:rPr sz="800" spc="40" dirty="0">
                <a:cs typeface="Tahoma"/>
              </a:rPr>
              <a:t>Nor</a:t>
            </a:r>
            <a:r>
              <a:rPr sz="800" spc="35" dirty="0">
                <a:cs typeface="Tahoma"/>
              </a:rPr>
              <a:t>m</a:t>
            </a:r>
            <a:endParaRPr sz="800">
              <a:cs typeface="Tahoma"/>
            </a:endParaRPr>
          </a:p>
        </p:txBody>
      </p:sp>
      <p:grpSp>
        <p:nvGrpSpPr>
          <p:cNvPr id="27" name="object 27"/>
          <p:cNvGrpSpPr/>
          <p:nvPr/>
        </p:nvGrpSpPr>
        <p:grpSpPr>
          <a:xfrm>
            <a:off x="5495290" y="3214025"/>
            <a:ext cx="1227455" cy="1064260"/>
            <a:chOff x="5495290" y="3503421"/>
            <a:chExt cx="1227455" cy="1064260"/>
          </a:xfrm>
        </p:grpSpPr>
        <p:pic>
          <p:nvPicPr>
            <p:cNvPr id="28" name="object 28"/>
            <p:cNvPicPr/>
            <p:nvPr/>
          </p:nvPicPr>
          <p:blipFill>
            <a:blip r:embed="rId5" cstate="print"/>
            <a:stretch>
              <a:fillRect/>
            </a:stretch>
          </p:blipFill>
          <p:spPr>
            <a:xfrm>
              <a:off x="6072378" y="4356353"/>
              <a:ext cx="76200" cy="210819"/>
            </a:xfrm>
            <a:prstGeom prst="rect">
              <a:avLst/>
            </a:prstGeom>
          </p:spPr>
        </p:pic>
        <p:sp>
          <p:nvSpPr>
            <p:cNvPr id="29" name="object 29"/>
            <p:cNvSpPr/>
            <p:nvPr/>
          </p:nvSpPr>
          <p:spPr>
            <a:xfrm>
              <a:off x="5501640" y="3509771"/>
              <a:ext cx="1214755" cy="323215"/>
            </a:xfrm>
            <a:custGeom>
              <a:avLst/>
              <a:gdLst/>
              <a:ahLst/>
              <a:cxnLst/>
              <a:rect l="l" t="t" r="r" b="b"/>
              <a:pathLst>
                <a:path w="1214754" h="323214">
                  <a:moveTo>
                    <a:pt x="1214628" y="0"/>
                  </a:moveTo>
                  <a:lnTo>
                    <a:pt x="0" y="0"/>
                  </a:lnTo>
                  <a:lnTo>
                    <a:pt x="0" y="323088"/>
                  </a:lnTo>
                  <a:lnTo>
                    <a:pt x="1214628" y="323088"/>
                  </a:lnTo>
                  <a:lnTo>
                    <a:pt x="1214628" y="0"/>
                  </a:lnTo>
                  <a:close/>
                </a:path>
              </a:pathLst>
            </a:custGeom>
            <a:solidFill>
              <a:srgbClr val="C2E8F7"/>
            </a:solidFill>
          </p:spPr>
          <p:txBody>
            <a:bodyPr wrap="square" lIns="0" tIns="0" rIns="0" bIns="0" rtlCol="0"/>
            <a:lstStyle/>
            <a:p>
              <a:endParaRPr/>
            </a:p>
          </p:txBody>
        </p:sp>
        <p:sp>
          <p:nvSpPr>
            <p:cNvPr id="30" name="object 30"/>
            <p:cNvSpPr/>
            <p:nvPr/>
          </p:nvSpPr>
          <p:spPr>
            <a:xfrm>
              <a:off x="5501640" y="3509771"/>
              <a:ext cx="1214755" cy="323215"/>
            </a:xfrm>
            <a:custGeom>
              <a:avLst/>
              <a:gdLst/>
              <a:ahLst/>
              <a:cxnLst/>
              <a:rect l="l" t="t" r="r" b="b"/>
              <a:pathLst>
                <a:path w="1214754" h="323214">
                  <a:moveTo>
                    <a:pt x="0" y="323088"/>
                  </a:moveTo>
                  <a:lnTo>
                    <a:pt x="1214628" y="323088"/>
                  </a:lnTo>
                  <a:lnTo>
                    <a:pt x="1214628" y="0"/>
                  </a:lnTo>
                  <a:lnTo>
                    <a:pt x="0" y="0"/>
                  </a:lnTo>
                  <a:lnTo>
                    <a:pt x="0" y="323088"/>
                  </a:lnTo>
                  <a:close/>
                </a:path>
              </a:pathLst>
            </a:custGeom>
            <a:ln w="12700">
              <a:solidFill>
                <a:srgbClr val="000000"/>
              </a:solidFill>
            </a:ln>
          </p:spPr>
          <p:txBody>
            <a:bodyPr wrap="square" lIns="0" tIns="0" rIns="0" bIns="0" rtlCol="0"/>
            <a:lstStyle/>
            <a:p>
              <a:endParaRPr/>
            </a:p>
          </p:txBody>
        </p:sp>
      </p:grpSp>
      <p:sp>
        <p:nvSpPr>
          <p:cNvPr id="31" name="object 31"/>
          <p:cNvSpPr txBox="1"/>
          <p:nvPr/>
        </p:nvSpPr>
        <p:spPr>
          <a:xfrm>
            <a:off x="5501640" y="3242727"/>
            <a:ext cx="1208405" cy="269875"/>
          </a:xfrm>
          <a:prstGeom prst="rect">
            <a:avLst/>
          </a:prstGeom>
        </p:spPr>
        <p:txBody>
          <a:bodyPr vert="horz" wrap="square" lIns="0" tIns="13335" rIns="0" bIns="0" rtlCol="0">
            <a:spAutoFit/>
          </a:bodyPr>
          <a:lstStyle/>
          <a:p>
            <a:pPr marL="6350" algn="ctr">
              <a:lnSpc>
                <a:spcPct val="100000"/>
              </a:lnSpc>
              <a:spcBef>
                <a:spcPts val="105"/>
              </a:spcBef>
            </a:pPr>
            <a:r>
              <a:rPr sz="800" spc="-75" dirty="0">
                <a:cs typeface="Tahoma"/>
              </a:rPr>
              <a:t>(</a:t>
            </a:r>
            <a:r>
              <a:rPr sz="800" b="1" spc="25" dirty="0">
                <a:solidFill>
                  <a:srgbClr val="FF0000"/>
                </a:solidFill>
                <a:cs typeface="Tahoma"/>
              </a:rPr>
              <a:t>Mo</a:t>
            </a:r>
            <a:r>
              <a:rPr sz="800" b="1" spc="-5" dirty="0">
                <a:solidFill>
                  <a:srgbClr val="FF0000"/>
                </a:solidFill>
                <a:cs typeface="Tahoma"/>
              </a:rPr>
              <a:t>E</a:t>
            </a:r>
            <a:r>
              <a:rPr sz="800" spc="-70" dirty="0">
                <a:cs typeface="Tahoma"/>
              </a:rPr>
              <a:t>)</a:t>
            </a:r>
            <a:r>
              <a:rPr sz="800" spc="-75" dirty="0">
                <a:cs typeface="Tahoma"/>
              </a:rPr>
              <a:t> </a:t>
            </a:r>
            <a:r>
              <a:rPr sz="800" spc="30" dirty="0">
                <a:cs typeface="Tahoma"/>
              </a:rPr>
              <a:t>Fee</a:t>
            </a:r>
            <a:r>
              <a:rPr sz="800" spc="70" dirty="0">
                <a:cs typeface="Tahoma"/>
              </a:rPr>
              <a:t>d</a:t>
            </a:r>
            <a:r>
              <a:rPr sz="800" spc="-45" dirty="0">
                <a:cs typeface="Tahoma"/>
              </a:rPr>
              <a:t> </a:t>
            </a:r>
            <a:r>
              <a:rPr sz="800" spc="30" dirty="0">
                <a:cs typeface="Tahoma"/>
              </a:rPr>
              <a:t>F</a:t>
            </a:r>
            <a:r>
              <a:rPr sz="800" spc="20" dirty="0">
                <a:cs typeface="Tahoma"/>
              </a:rPr>
              <a:t>orward</a:t>
            </a:r>
            <a:endParaRPr sz="800">
              <a:cs typeface="Tahoma"/>
            </a:endParaRPr>
          </a:p>
          <a:p>
            <a:pPr marL="8890" algn="ctr">
              <a:lnSpc>
                <a:spcPct val="100000"/>
              </a:lnSpc>
            </a:pPr>
            <a:r>
              <a:rPr sz="800" b="1" spc="-55" dirty="0">
                <a:solidFill>
                  <a:srgbClr val="FF0000"/>
                </a:solidFill>
                <a:cs typeface="Tahoma"/>
              </a:rPr>
              <a:t>SILU</a:t>
            </a:r>
            <a:endParaRPr sz="800">
              <a:cs typeface="Tahoma"/>
            </a:endParaRPr>
          </a:p>
        </p:txBody>
      </p:sp>
      <p:grpSp>
        <p:nvGrpSpPr>
          <p:cNvPr id="32" name="object 32"/>
          <p:cNvGrpSpPr/>
          <p:nvPr/>
        </p:nvGrpSpPr>
        <p:grpSpPr>
          <a:xfrm>
            <a:off x="3940302" y="2670974"/>
            <a:ext cx="4971415" cy="2471420"/>
            <a:chOff x="3940302" y="2960370"/>
            <a:chExt cx="4971415" cy="2471420"/>
          </a:xfrm>
        </p:grpSpPr>
        <p:sp>
          <p:nvSpPr>
            <p:cNvPr id="33" name="object 33"/>
            <p:cNvSpPr/>
            <p:nvPr/>
          </p:nvSpPr>
          <p:spPr>
            <a:xfrm>
              <a:off x="6072378" y="3833622"/>
              <a:ext cx="76200" cy="260350"/>
            </a:xfrm>
            <a:custGeom>
              <a:avLst/>
              <a:gdLst/>
              <a:ahLst/>
              <a:cxnLst/>
              <a:rect l="l" t="t" r="r" b="b"/>
              <a:pathLst>
                <a:path w="76200" h="260350">
                  <a:moveTo>
                    <a:pt x="47625" y="63500"/>
                  </a:moveTo>
                  <a:lnTo>
                    <a:pt x="28575" y="63500"/>
                  </a:lnTo>
                  <a:lnTo>
                    <a:pt x="28575" y="260095"/>
                  </a:lnTo>
                  <a:lnTo>
                    <a:pt x="47625" y="259969"/>
                  </a:lnTo>
                  <a:lnTo>
                    <a:pt x="47625" y="63500"/>
                  </a:lnTo>
                  <a:close/>
                </a:path>
                <a:path w="76200" h="260350">
                  <a:moveTo>
                    <a:pt x="38100" y="0"/>
                  </a:moveTo>
                  <a:lnTo>
                    <a:pt x="0" y="76200"/>
                  </a:lnTo>
                  <a:lnTo>
                    <a:pt x="28575" y="76200"/>
                  </a:lnTo>
                  <a:lnTo>
                    <a:pt x="28575" y="63500"/>
                  </a:lnTo>
                  <a:lnTo>
                    <a:pt x="69850" y="63500"/>
                  </a:lnTo>
                  <a:lnTo>
                    <a:pt x="38100" y="0"/>
                  </a:lnTo>
                  <a:close/>
                </a:path>
                <a:path w="76200" h="260350">
                  <a:moveTo>
                    <a:pt x="69850" y="63500"/>
                  </a:moveTo>
                  <a:lnTo>
                    <a:pt x="47625" y="63500"/>
                  </a:lnTo>
                  <a:lnTo>
                    <a:pt x="47625" y="76200"/>
                  </a:lnTo>
                  <a:lnTo>
                    <a:pt x="76200" y="76200"/>
                  </a:lnTo>
                  <a:lnTo>
                    <a:pt x="69850" y="63500"/>
                  </a:lnTo>
                  <a:close/>
                </a:path>
              </a:pathLst>
            </a:custGeom>
            <a:solidFill>
              <a:srgbClr val="000000"/>
            </a:solidFill>
          </p:spPr>
          <p:txBody>
            <a:bodyPr wrap="square" lIns="0" tIns="0" rIns="0" bIns="0" rtlCol="0"/>
            <a:lstStyle/>
            <a:p>
              <a:endParaRPr/>
            </a:p>
          </p:txBody>
        </p:sp>
        <p:pic>
          <p:nvPicPr>
            <p:cNvPr id="34" name="object 34"/>
            <p:cNvPicPr/>
            <p:nvPr/>
          </p:nvPicPr>
          <p:blipFill>
            <a:blip r:embed="rId3" cstate="print"/>
            <a:stretch>
              <a:fillRect/>
            </a:stretch>
          </p:blipFill>
          <p:spPr>
            <a:xfrm>
              <a:off x="6004560" y="3136392"/>
              <a:ext cx="213360" cy="185927"/>
            </a:xfrm>
            <a:prstGeom prst="rect">
              <a:avLst/>
            </a:prstGeom>
          </p:spPr>
        </p:pic>
        <p:sp>
          <p:nvSpPr>
            <p:cNvPr id="35" name="object 35"/>
            <p:cNvSpPr/>
            <p:nvPr/>
          </p:nvSpPr>
          <p:spPr>
            <a:xfrm>
              <a:off x="5331079" y="3192018"/>
              <a:ext cx="788035" cy="1375410"/>
            </a:xfrm>
            <a:custGeom>
              <a:avLst/>
              <a:gdLst/>
              <a:ahLst/>
              <a:cxnLst/>
              <a:rect l="l" t="t" r="r" b="b"/>
              <a:pathLst>
                <a:path w="788035" h="1375410">
                  <a:moveTo>
                    <a:pt x="768858" y="1309370"/>
                  </a:moveTo>
                  <a:lnTo>
                    <a:pt x="768858" y="1374902"/>
                  </a:lnTo>
                  <a:lnTo>
                    <a:pt x="787908" y="1374902"/>
                  </a:lnTo>
                  <a:lnTo>
                    <a:pt x="787908" y="1318895"/>
                  </a:lnTo>
                  <a:lnTo>
                    <a:pt x="778383" y="1318895"/>
                  </a:lnTo>
                  <a:lnTo>
                    <a:pt x="768858" y="1309370"/>
                  </a:lnTo>
                  <a:close/>
                </a:path>
                <a:path w="788035" h="1375410">
                  <a:moveTo>
                    <a:pt x="598043" y="28575"/>
                  </a:moveTo>
                  <a:lnTo>
                    <a:pt x="0" y="28575"/>
                  </a:lnTo>
                  <a:lnTo>
                    <a:pt x="0" y="1318895"/>
                  </a:lnTo>
                  <a:lnTo>
                    <a:pt x="768858" y="1318895"/>
                  </a:lnTo>
                  <a:lnTo>
                    <a:pt x="768858" y="1309370"/>
                  </a:lnTo>
                  <a:lnTo>
                    <a:pt x="19050" y="1309370"/>
                  </a:lnTo>
                  <a:lnTo>
                    <a:pt x="9525" y="1299845"/>
                  </a:lnTo>
                  <a:lnTo>
                    <a:pt x="19050" y="1299845"/>
                  </a:lnTo>
                  <a:lnTo>
                    <a:pt x="19050" y="47625"/>
                  </a:lnTo>
                  <a:lnTo>
                    <a:pt x="9525" y="47625"/>
                  </a:lnTo>
                  <a:lnTo>
                    <a:pt x="19050" y="38100"/>
                  </a:lnTo>
                  <a:lnTo>
                    <a:pt x="598043" y="38100"/>
                  </a:lnTo>
                  <a:lnTo>
                    <a:pt x="598043" y="28575"/>
                  </a:lnTo>
                  <a:close/>
                </a:path>
                <a:path w="788035" h="1375410">
                  <a:moveTo>
                    <a:pt x="787908" y="1299845"/>
                  </a:moveTo>
                  <a:lnTo>
                    <a:pt x="19050" y="1299845"/>
                  </a:lnTo>
                  <a:lnTo>
                    <a:pt x="19050" y="1309370"/>
                  </a:lnTo>
                  <a:lnTo>
                    <a:pt x="768858" y="1309370"/>
                  </a:lnTo>
                  <a:lnTo>
                    <a:pt x="778383" y="1318895"/>
                  </a:lnTo>
                  <a:lnTo>
                    <a:pt x="787908" y="1318895"/>
                  </a:lnTo>
                  <a:lnTo>
                    <a:pt x="787908" y="1299845"/>
                  </a:lnTo>
                  <a:close/>
                </a:path>
                <a:path w="788035" h="1375410">
                  <a:moveTo>
                    <a:pt x="19050" y="1299845"/>
                  </a:moveTo>
                  <a:lnTo>
                    <a:pt x="9525" y="1299845"/>
                  </a:lnTo>
                  <a:lnTo>
                    <a:pt x="19050" y="1309370"/>
                  </a:lnTo>
                  <a:lnTo>
                    <a:pt x="19050" y="1299845"/>
                  </a:lnTo>
                  <a:close/>
                </a:path>
                <a:path w="788035" h="1375410">
                  <a:moveTo>
                    <a:pt x="598043" y="0"/>
                  </a:moveTo>
                  <a:lnTo>
                    <a:pt x="598043" y="76200"/>
                  </a:lnTo>
                  <a:lnTo>
                    <a:pt x="655193" y="47625"/>
                  </a:lnTo>
                  <a:lnTo>
                    <a:pt x="610743" y="47625"/>
                  </a:lnTo>
                  <a:lnTo>
                    <a:pt x="610743" y="28575"/>
                  </a:lnTo>
                  <a:lnTo>
                    <a:pt x="655193" y="28575"/>
                  </a:lnTo>
                  <a:lnTo>
                    <a:pt x="598043" y="0"/>
                  </a:lnTo>
                  <a:close/>
                </a:path>
                <a:path w="788035" h="1375410">
                  <a:moveTo>
                    <a:pt x="19050" y="38100"/>
                  </a:moveTo>
                  <a:lnTo>
                    <a:pt x="9525" y="47625"/>
                  </a:lnTo>
                  <a:lnTo>
                    <a:pt x="19050" y="47625"/>
                  </a:lnTo>
                  <a:lnTo>
                    <a:pt x="19050" y="38100"/>
                  </a:lnTo>
                  <a:close/>
                </a:path>
                <a:path w="788035" h="1375410">
                  <a:moveTo>
                    <a:pt x="598043" y="38100"/>
                  </a:moveTo>
                  <a:lnTo>
                    <a:pt x="19050" y="38100"/>
                  </a:lnTo>
                  <a:lnTo>
                    <a:pt x="19050" y="47625"/>
                  </a:lnTo>
                  <a:lnTo>
                    <a:pt x="598043" y="47625"/>
                  </a:lnTo>
                  <a:lnTo>
                    <a:pt x="598043" y="38100"/>
                  </a:lnTo>
                  <a:close/>
                </a:path>
                <a:path w="788035" h="1375410">
                  <a:moveTo>
                    <a:pt x="655193" y="28575"/>
                  </a:moveTo>
                  <a:lnTo>
                    <a:pt x="610743" y="28575"/>
                  </a:lnTo>
                  <a:lnTo>
                    <a:pt x="610743" y="47625"/>
                  </a:lnTo>
                  <a:lnTo>
                    <a:pt x="655193" y="47625"/>
                  </a:lnTo>
                  <a:lnTo>
                    <a:pt x="674243" y="38100"/>
                  </a:lnTo>
                  <a:lnTo>
                    <a:pt x="655193" y="28575"/>
                  </a:lnTo>
                  <a:close/>
                </a:path>
              </a:pathLst>
            </a:custGeom>
            <a:solidFill>
              <a:srgbClr val="000000"/>
            </a:solidFill>
          </p:spPr>
          <p:txBody>
            <a:bodyPr wrap="square" lIns="0" tIns="0" rIns="0" bIns="0" rtlCol="0"/>
            <a:lstStyle/>
            <a:p>
              <a:endParaRPr/>
            </a:p>
          </p:txBody>
        </p:sp>
        <p:pic>
          <p:nvPicPr>
            <p:cNvPr id="36" name="object 36"/>
            <p:cNvPicPr/>
            <p:nvPr/>
          </p:nvPicPr>
          <p:blipFill>
            <a:blip r:embed="rId6" cstate="print"/>
            <a:stretch>
              <a:fillRect/>
            </a:stretch>
          </p:blipFill>
          <p:spPr>
            <a:xfrm>
              <a:off x="6073521" y="3323082"/>
              <a:ext cx="76200" cy="187197"/>
            </a:xfrm>
            <a:prstGeom prst="rect">
              <a:avLst/>
            </a:prstGeom>
          </p:spPr>
        </p:pic>
        <p:pic>
          <p:nvPicPr>
            <p:cNvPr id="37" name="object 37"/>
            <p:cNvPicPr/>
            <p:nvPr/>
          </p:nvPicPr>
          <p:blipFill>
            <a:blip r:embed="rId7" cstate="print"/>
            <a:stretch>
              <a:fillRect/>
            </a:stretch>
          </p:blipFill>
          <p:spPr>
            <a:xfrm>
              <a:off x="6073140" y="2960370"/>
              <a:ext cx="76200" cy="177164"/>
            </a:xfrm>
            <a:prstGeom prst="rect">
              <a:avLst/>
            </a:prstGeom>
          </p:spPr>
        </p:pic>
        <p:pic>
          <p:nvPicPr>
            <p:cNvPr id="38" name="object 38"/>
            <p:cNvPicPr/>
            <p:nvPr/>
          </p:nvPicPr>
          <p:blipFill>
            <a:blip r:embed="rId8" cstate="print"/>
            <a:stretch>
              <a:fillRect/>
            </a:stretch>
          </p:blipFill>
          <p:spPr>
            <a:xfrm>
              <a:off x="5059426" y="5304790"/>
              <a:ext cx="142239" cy="127000"/>
            </a:xfrm>
            <a:prstGeom prst="rect">
              <a:avLst/>
            </a:prstGeom>
          </p:spPr>
        </p:pic>
        <p:sp>
          <p:nvSpPr>
            <p:cNvPr id="39" name="object 39"/>
            <p:cNvSpPr/>
            <p:nvPr/>
          </p:nvSpPr>
          <p:spPr>
            <a:xfrm>
              <a:off x="3940302" y="3358895"/>
              <a:ext cx="4971415" cy="661670"/>
            </a:xfrm>
            <a:custGeom>
              <a:avLst/>
              <a:gdLst/>
              <a:ahLst/>
              <a:cxnLst/>
              <a:rect l="l" t="t" r="r" b="b"/>
              <a:pathLst>
                <a:path w="4971415" h="661670">
                  <a:moveTo>
                    <a:pt x="2116963" y="57150"/>
                  </a:moveTo>
                  <a:lnTo>
                    <a:pt x="2078863" y="38100"/>
                  </a:lnTo>
                  <a:lnTo>
                    <a:pt x="2002663" y="0"/>
                  </a:lnTo>
                  <a:lnTo>
                    <a:pt x="2002663" y="38100"/>
                  </a:lnTo>
                  <a:lnTo>
                    <a:pt x="0" y="38100"/>
                  </a:lnTo>
                  <a:lnTo>
                    <a:pt x="0" y="76200"/>
                  </a:lnTo>
                  <a:lnTo>
                    <a:pt x="2002663" y="76200"/>
                  </a:lnTo>
                  <a:lnTo>
                    <a:pt x="2002663" y="114300"/>
                  </a:lnTo>
                  <a:lnTo>
                    <a:pt x="2078863" y="76200"/>
                  </a:lnTo>
                  <a:lnTo>
                    <a:pt x="2116963" y="57150"/>
                  </a:lnTo>
                  <a:close/>
                </a:path>
                <a:path w="4971415" h="661670">
                  <a:moveTo>
                    <a:pt x="2131822" y="604266"/>
                  </a:moveTo>
                  <a:lnTo>
                    <a:pt x="2093722" y="585216"/>
                  </a:lnTo>
                  <a:lnTo>
                    <a:pt x="2017522" y="547116"/>
                  </a:lnTo>
                  <a:lnTo>
                    <a:pt x="2017522" y="585216"/>
                  </a:lnTo>
                  <a:lnTo>
                    <a:pt x="0" y="585216"/>
                  </a:lnTo>
                  <a:lnTo>
                    <a:pt x="0" y="623316"/>
                  </a:lnTo>
                  <a:lnTo>
                    <a:pt x="2017522" y="623316"/>
                  </a:lnTo>
                  <a:lnTo>
                    <a:pt x="2017522" y="661416"/>
                  </a:lnTo>
                  <a:lnTo>
                    <a:pt x="2093722" y="623316"/>
                  </a:lnTo>
                  <a:lnTo>
                    <a:pt x="2131822" y="604266"/>
                  </a:lnTo>
                  <a:close/>
                </a:path>
                <a:path w="4971415" h="661670">
                  <a:moveTo>
                    <a:pt x="4971415" y="295656"/>
                  </a:moveTo>
                  <a:lnTo>
                    <a:pt x="2968752" y="295656"/>
                  </a:lnTo>
                  <a:lnTo>
                    <a:pt x="2968752" y="257556"/>
                  </a:lnTo>
                  <a:lnTo>
                    <a:pt x="2854452" y="314706"/>
                  </a:lnTo>
                  <a:lnTo>
                    <a:pt x="2968752" y="371856"/>
                  </a:lnTo>
                  <a:lnTo>
                    <a:pt x="2968752" y="333756"/>
                  </a:lnTo>
                  <a:lnTo>
                    <a:pt x="4971415" y="333756"/>
                  </a:lnTo>
                  <a:lnTo>
                    <a:pt x="4971415" y="295656"/>
                  </a:lnTo>
                  <a:close/>
                </a:path>
              </a:pathLst>
            </a:custGeom>
            <a:solidFill>
              <a:srgbClr val="ED7660"/>
            </a:solidFill>
          </p:spPr>
          <p:txBody>
            <a:bodyPr wrap="square" lIns="0" tIns="0" rIns="0" bIns="0" rtlCol="0"/>
            <a:lstStyle/>
            <a:p>
              <a:endParaRPr/>
            </a:p>
          </p:txBody>
        </p:sp>
      </p:grpSp>
      <p:grpSp>
        <p:nvGrpSpPr>
          <p:cNvPr id="40" name="object 40"/>
          <p:cNvGrpSpPr/>
          <p:nvPr/>
        </p:nvGrpSpPr>
        <p:grpSpPr>
          <a:xfrm>
            <a:off x="3081273" y="3537113"/>
            <a:ext cx="256540" cy="256540"/>
            <a:chOff x="3081273" y="3826509"/>
            <a:chExt cx="256540" cy="256540"/>
          </a:xfrm>
        </p:grpSpPr>
        <p:pic>
          <p:nvPicPr>
            <p:cNvPr id="41" name="object 41"/>
            <p:cNvPicPr/>
            <p:nvPr/>
          </p:nvPicPr>
          <p:blipFill>
            <a:blip r:embed="rId9" cstate="print"/>
            <a:stretch>
              <a:fillRect/>
            </a:stretch>
          </p:blipFill>
          <p:spPr>
            <a:xfrm>
              <a:off x="3087623" y="3832859"/>
              <a:ext cx="243839" cy="243839"/>
            </a:xfrm>
            <a:prstGeom prst="rect">
              <a:avLst/>
            </a:prstGeom>
          </p:spPr>
        </p:pic>
        <p:sp>
          <p:nvSpPr>
            <p:cNvPr id="42" name="object 42"/>
            <p:cNvSpPr/>
            <p:nvPr/>
          </p:nvSpPr>
          <p:spPr>
            <a:xfrm>
              <a:off x="3087623" y="3832859"/>
              <a:ext cx="243840" cy="243840"/>
            </a:xfrm>
            <a:custGeom>
              <a:avLst/>
              <a:gdLst/>
              <a:ahLst/>
              <a:cxnLst/>
              <a:rect l="l" t="t" r="r" b="b"/>
              <a:pathLst>
                <a:path w="243839" h="243839">
                  <a:moveTo>
                    <a:pt x="0" y="121919"/>
                  </a:moveTo>
                  <a:lnTo>
                    <a:pt x="9584" y="74473"/>
                  </a:lnTo>
                  <a:lnTo>
                    <a:pt x="35718" y="35718"/>
                  </a:lnTo>
                  <a:lnTo>
                    <a:pt x="74473" y="9584"/>
                  </a:lnTo>
                  <a:lnTo>
                    <a:pt x="121919" y="0"/>
                  </a:lnTo>
                  <a:lnTo>
                    <a:pt x="169366" y="9584"/>
                  </a:lnTo>
                  <a:lnTo>
                    <a:pt x="208121" y="35718"/>
                  </a:lnTo>
                  <a:lnTo>
                    <a:pt x="234255" y="74473"/>
                  </a:lnTo>
                  <a:lnTo>
                    <a:pt x="243839" y="121919"/>
                  </a:lnTo>
                  <a:lnTo>
                    <a:pt x="234255" y="169366"/>
                  </a:lnTo>
                  <a:lnTo>
                    <a:pt x="208121" y="208121"/>
                  </a:lnTo>
                  <a:lnTo>
                    <a:pt x="169366" y="234255"/>
                  </a:lnTo>
                  <a:lnTo>
                    <a:pt x="121919" y="243839"/>
                  </a:lnTo>
                  <a:lnTo>
                    <a:pt x="74473" y="234255"/>
                  </a:lnTo>
                  <a:lnTo>
                    <a:pt x="35718" y="208121"/>
                  </a:lnTo>
                  <a:lnTo>
                    <a:pt x="9584" y="169366"/>
                  </a:lnTo>
                  <a:lnTo>
                    <a:pt x="0" y="121919"/>
                  </a:lnTo>
                  <a:close/>
                </a:path>
              </a:pathLst>
            </a:custGeom>
            <a:ln w="12700">
              <a:solidFill>
                <a:srgbClr val="211E23"/>
              </a:solidFill>
            </a:ln>
          </p:spPr>
          <p:txBody>
            <a:bodyPr wrap="square" lIns="0" tIns="0" rIns="0" bIns="0" rtlCol="0"/>
            <a:lstStyle/>
            <a:p>
              <a:endParaRPr/>
            </a:p>
          </p:txBody>
        </p:sp>
      </p:grpSp>
      <p:sp>
        <p:nvSpPr>
          <p:cNvPr id="43" name="object 43"/>
          <p:cNvSpPr txBox="1"/>
          <p:nvPr/>
        </p:nvSpPr>
        <p:spPr>
          <a:xfrm>
            <a:off x="3411092" y="3569118"/>
            <a:ext cx="335280" cy="175048"/>
          </a:xfrm>
          <a:prstGeom prst="rect">
            <a:avLst/>
          </a:prstGeom>
        </p:spPr>
        <p:txBody>
          <a:bodyPr vert="horz" wrap="square" lIns="0" tIns="13335" rIns="0" bIns="0" rtlCol="0">
            <a:spAutoFit/>
          </a:bodyPr>
          <a:lstStyle/>
          <a:p>
            <a:pPr marL="12700">
              <a:lnSpc>
                <a:spcPct val="100000"/>
              </a:lnSpc>
              <a:spcBef>
                <a:spcPts val="105"/>
              </a:spcBef>
            </a:pPr>
            <a:r>
              <a:rPr sz="1050" b="1" spc="25" dirty="0">
                <a:cs typeface="Tahoma"/>
              </a:rPr>
              <a:t>G</a:t>
            </a:r>
            <a:r>
              <a:rPr sz="1050" b="1" spc="-40" dirty="0">
                <a:cs typeface="Tahoma"/>
              </a:rPr>
              <a:t>at</a:t>
            </a:r>
            <a:r>
              <a:rPr sz="1050" b="1" spc="5" dirty="0">
                <a:cs typeface="Tahoma"/>
              </a:rPr>
              <a:t>e</a:t>
            </a:r>
            <a:endParaRPr sz="1050">
              <a:cs typeface="Tahoma"/>
            </a:endParaRPr>
          </a:p>
        </p:txBody>
      </p:sp>
      <p:grpSp>
        <p:nvGrpSpPr>
          <p:cNvPr id="44" name="object 44"/>
          <p:cNvGrpSpPr/>
          <p:nvPr/>
        </p:nvGrpSpPr>
        <p:grpSpPr>
          <a:xfrm>
            <a:off x="2366517" y="3011333"/>
            <a:ext cx="258445" cy="258445"/>
            <a:chOff x="2366517" y="3300729"/>
            <a:chExt cx="258445" cy="258445"/>
          </a:xfrm>
        </p:grpSpPr>
        <p:pic>
          <p:nvPicPr>
            <p:cNvPr id="45" name="object 45"/>
            <p:cNvPicPr/>
            <p:nvPr/>
          </p:nvPicPr>
          <p:blipFill>
            <a:blip r:embed="rId10" cstate="print"/>
            <a:stretch>
              <a:fillRect/>
            </a:stretch>
          </p:blipFill>
          <p:spPr>
            <a:xfrm>
              <a:off x="2372867" y="3307079"/>
              <a:ext cx="245363" cy="245364"/>
            </a:xfrm>
            <a:prstGeom prst="rect">
              <a:avLst/>
            </a:prstGeom>
          </p:spPr>
        </p:pic>
        <p:sp>
          <p:nvSpPr>
            <p:cNvPr id="46" name="object 46"/>
            <p:cNvSpPr/>
            <p:nvPr/>
          </p:nvSpPr>
          <p:spPr>
            <a:xfrm>
              <a:off x="2372867" y="3307079"/>
              <a:ext cx="245745" cy="245745"/>
            </a:xfrm>
            <a:custGeom>
              <a:avLst/>
              <a:gdLst/>
              <a:ahLst/>
              <a:cxnLst/>
              <a:rect l="l" t="t" r="r" b="b"/>
              <a:pathLst>
                <a:path w="245744" h="245745">
                  <a:moveTo>
                    <a:pt x="0" y="122682"/>
                  </a:moveTo>
                  <a:lnTo>
                    <a:pt x="9632" y="74902"/>
                  </a:lnTo>
                  <a:lnTo>
                    <a:pt x="35909" y="35909"/>
                  </a:lnTo>
                  <a:lnTo>
                    <a:pt x="74902" y="9632"/>
                  </a:lnTo>
                  <a:lnTo>
                    <a:pt x="122681" y="0"/>
                  </a:lnTo>
                  <a:lnTo>
                    <a:pt x="170461" y="9632"/>
                  </a:lnTo>
                  <a:lnTo>
                    <a:pt x="209454" y="35909"/>
                  </a:lnTo>
                  <a:lnTo>
                    <a:pt x="235731" y="74902"/>
                  </a:lnTo>
                  <a:lnTo>
                    <a:pt x="245363" y="122682"/>
                  </a:lnTo>
                  <a:lnTo>
                    <a:pt x="235731" y="170461"/>
                  </a:lnTo>
                  <a:lnTo>
                    <a:pt x="209454" y="209454"/>
                  </a:lnTo>
                  <a:lnTo>
                    <a:pt x="170461" y="235731"/>
                  </a:lnTo>
                  <a:lnTo>
                    <a:pt x="122681" y="245364"/>
                  </a:lnTo>
                  <a:lnTo>
                    <a:pt x="74902" y="235731"/>
                  </a:lnTo>
                  <a:lnTo>
                    <a:pt x="35909" y="209454"/>
                  </a:lnTo>
                  <a:lnTo>
                    <a:pt x="9632" y="170461"/>
                  </a:lnTo>
                  <a:lnTo>
                    <a:pt x="0" y="122682"/>
                  </a:lnTo>
                  <a:close/>
                </a:path>
              </a:pathLst>
            </a:custGeom>
            <a:ln w="12700">
              <a:solidFill>
                <a:srgbClr val="211E23"/>
              </a:solidFill>
            </a:ln>
          </p:spPr>
          <p:txBody>
            <a:bodyPr wrap="square" lIns="0" tIns="0" rIns="0" bIns="0" rtlCol="0"/>
            <a:lstStyle/>
            <a:p>
              <a:endParaRPr/>
            </a:p>
          </p:txBody>
        </p:sp>
      </p:grpSp>
      <p:sp>
        <p:nvSpPr>
          <p:cNvPr id="47" name="object 47"/>
          <p:cNvSpPr txBox="1"/>
          <p:nvPr/>
        </p:nvSpPr>
        <p:spPr>
          <a:xfrm>
            <a:off x="2706751" y="3025050"/>
            <a:ext cx="986790" cy="175048"/>
          </a:xfrm>
          <a:prstGeom prst="rect">
            <a:avLst/>
          </a:prstGeom>
        </p:spPr>
        <p:txBody>
          <a:bodyPr vert="horz" wrap="square" lIns="0" tIns="13335" rIns="0" bIns="0" rtlCol="0">
            <a:spAutoFit/>
          </a:bodyPr>
          <a:lstStyle/>
          <a:p>
            <a:pPr marL="12700">
              <a:lnSpc>
                <a:spcPct val="100000"/>
              </a:lnSpc>
              <a:spcBef>
                <a:spcPts val="105"/>
              </a:spcBef>
            </a:pPr>
            <a:r>
              <a:rPr sz="1050" b="1" spc="5" dirty="0">
                <a:cs typeface="Tahoma"/>
              </a:rPr>
              <a:t>W</a:t>
            </a:r>
            <a:r>
              <a:rPr sz="1050" b="1" spc="-10" dirty="0">
                <a:cs typeface="Tahoma"/>
              </a:rPr>
              <a:t>eight</a:t>
            </a:r>
            <a:r>
              <a:rPr sz="1050" b="1" spc="-20" dirty="0">
                <a:cs typeface="Tahoma"/>
              </a:rPr>
              <a:t>e</a:t>
            </a:r>
            <a:r>
              <a:rPr sz="1050" b="1" spc="30" dirty="0">
                <a:cs typeface="Tahoma"/>
              </a:rPr>
              <a:t>d</a:t>
            </a:r>
            <a:r>
              <a:rPr sz="1050" b="1" spc="-70" dirty="0">
                <a:cs typeface="Tahoma"/>
              </a:rPr>
              <a:t> </a:t>
            </a:r>
            <a:r>
              <a:rPr sz="1050" b="1" spc="-35" dirty="0">
                <a:cs typeface="Tahoma"/>
              </a:rPr>
              <a:t>Sum</a:t>
            </a:r>
            <a:endParaRPr sz="1050">
              <a:cs typeface="Tahoma"/>
            </a:endParaRPr>
          </a:p>
        </p:txBody>
      </p:sp>
      <p:sp>
        <p:nvSpPr>
          <p:cNvPr id="48" name="object 48"/>
          <p:cNvSpPr txBox="1"/>
          <p:nvPr/>
        </p:nvSpPr>
        <p:spPr>
          <a:xfrm>
            <a:off x="9066403" y="3280574"/>
            <a:ext cx="1468120" cy="175048"/>
          </a:xfrm>
          <a:prstGeom prst="rect">
            <a:avLst/>
          </a:prstGeom>
        </p:spPr>
        <p:txBody>
          <a:bodyPr vert="horz" wrap="square" lIns="0" tIns="13335" rIns="0" bIns="0" rtlCol="0">
            <a:spAutoFit/>
          </a:bodyPr>
          <a:lstStyle/>
          <a:p>
            <a:pPr marL="12700">
              <a:lnSpc>
                <a:spcPct val="100000"/>
              </a:lnSpc>
              <a:spcBef>
                <a:spcPts val="105"/>
              </a:spcBef>
            </a:pPr>
            <a:r>
              <a:rPr sz="1050" b="1" spc="-5" dirty="0">
                <a:cs typeface="Tahoma"/>
              </a:rPr>
              <a:t>8xf</a:t>
            </a:r>
            <a:r>
              <a:rPr sz="1050" b="1" spc="-15" dirty="0">
                <a:cs typeface="Tahoma"/>
              </a:rPr>
              <a:t>e</a:t>
            </a:r>
            <a:r>
              <a:rPr sz="1050" b="1" spc="-5" dirty="0">
                <a:cs typeface="Tahoma"/>
              </a:rPr>
              <a:t>e</a:t>
            </a:r>
            <a:r>
              <a:rPr sz="1050" b="1" spc="30" dirty="0">
                <a:cs typeface="Tahoma"/>
              </a:rPr>
              <a:t>d</a:t>
            </a:r>
            <a:r>
              <a:rPr sz="1050" b="1" spc="-110" dirty="0">
                <a:cs typeface="Tahoma"/>
              </a:rPr>
              <a:t>-</a:t>
            </a:r>
            <a:r>
              <a:rPr sz="1050" b="1" dirty="0">
                <a:cs typeface="Tahoma"/>
              </a:rPr>
              <a:t>fo</a:t>
            </a:r>
            <a:r>
              <a:rPr sz="1050" b="1" spc="-20" dirty="0">
                <a:cs typeface="Tahoma"/>
              </a:rPr>
              <a:t>r</a:t>
            </a:r>
            <a:r>
              <a:rPr sz="1050" b="1" spc="-45" dirty="0">
                <a:cs typeface="Tahoma"/>
              </a:rPr>
              <a:t>w</a:t>
            </a:r>
            <a:r>
              <a:rPr sz="1050" b="1" spc="-40" dirty="0">
                <a:cs typeface="Tahoma"/>
              </a:rPr>
              <a:t>ar</a:t>
            </a:r>
            <a:r>
              <a:rPr sz="1050" b="1" spc="30" dirty="0">
                <a:cs typeface="Tahoma"/>
              </a:rPr>
              <a:t>d</a:t>
            </a:r>
            <a:r>
              <a:rPr sz="1050" b="1" spc="-80" dirty="0">
                <a:cs typeface="Tahoma"/>
              </a:rPr>
              <a:t> </a:t>
            </a:r>
            <a:r>
              <a:rPr sz="1050" b="1" spc="-10" dirty="0">
                <a:cs typeface="Tahoma"/>
              </a:rPr>
              <a:t>lay</a:t>
            </a:r>
            <a:r>
              <a:rPr sz="1050" b="1" spc="-15" dirty="0">
                <a:cs typeface="Tahoma"/>
              </a:rPr>
              <a:t>e</a:t>
            </a:r>
            <a:r>
              <a:rPr sz="1050" b="1" spc="-40" dirty="0">
                <a:cs typeface="Tahoma"/>
              </a:rPr>
              <a:t>rs</a:t>
            </a:r>
            <a:endParaRPr sz="1050">
              <a:cs typeface="Tahom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7800" y="595403"/>
            <a:ext cx="10865387" cy="638085"/>
          </a:xfrm>
          <a:prstGeom prst="rect">
            <a:avLst/>
          </a:prstGeom>
        </p:spPr>
        <p:txBody>
          <a:bodyPr vert="horz" lIns="0" tIns="0" rIns="0" bIns="0" rtlCol="0" anchor="ctr">
            <a:normAutofit/>
          </a:bodyPr>
          <a:lstStyle/>
          <a:p>
            <a:r>
              <a:rPr dirty="0">
                <a:latin typeface="+mn-lt"/>
              </a:rPr>
              <a:t>Mistral 8x7B : </a:t>
            </a:r>
            <a:r>
              <a:rPr lang="en-US" dirty="0">
                <a:latin typeface="+mn-lt"/>
              </a:rPr>
              <a:t>T</a:t>
            </a:r>
            <a:r>
              <a:rPr dirty="0">
                <a:latin typeface="+mn-lt"/>
              </a:rPr>
              <a:t>he </a:t>
            </a:r>
            <a:r>
              <a:rPr lang="en-US" dirty="0">
                <a:latin typeface="+mn-lt"/>
              </a:rPr>
              <a:t>G</a:t>
            </a:r>
            <a:r>
              <a:rPr dirty="0">
                <a:latin typeface="+mn-lt"/>
              </a:rPr>
              <a:t>ating </a:t>
            </a:r>
            <a:r>
              <a:rPr lang="en-US" dirty="0">
                <a:latin typeface="+mn-lt"/>
              </a:rPr>
              <a:t>F</a:t>
            </a:r>
            <a:r>
              <a:rPr dirty="0">
                <a:latin typeface="+mn-lt"/>
              </a:rPr>
              <a:t>unction</a:t>
            </a:r>
          </a:p>
        </p:txBody>
      </p:sp>
      <p:sp>
        <p:nvSpPr>
          <p:cNvPr id="3" name="object 3"/>
          <p:cNvSpPr txBox="1"/>
          <p:nvPr/>
        </p:nvSpPr>
        <p:spPr>
          <a:xfrm>
            <a:off x="667800" y="1674619"/>
            <a:ext cx="10865388" cy="659155"/>
          </a:xfrm>
          <a:prstGeom prst="rect">
            <a:avLst/>
          </a:prstGeom>
        </p:spPr>
        <p:txBody>
          <a:bodyPr vert="horz" wrap="square" lIns="0" tIns="12700" rIns="0" bIns="0" rtlCol="0">
            <a:spAutoFit/>
          </a:bodyPr>
          <a:lstStyle/>
          <a:p>
            <a:pPr marL="12700">
              <a:spcBef>
                <a:spcPts val="600"/>
              </a:spcBef>
              <a:spcAft>
                <a:spcPts val="600"/>
              </a:spcAft>
              <a:tabLst>
                <a:tab pos="240665" algn="l"/>
                <a:tab pos="241300" algn="l"/>
              </a:tabLst>
            </a:pPr>
            <a:r>
              <a:rPr sz="1600" spc="10" dirty="0">
                <a:cs typeface="Tahoma"/>
              </a:rPr>
              <a:t>The</a:t>
            </a:r>
            <a:r>
              <a:rPr sz="1600" spc="-65" dirty="0">
                <a:cs typeface="Tahoma"/>
              </a:rPr>
              <a:t> </a:t>
            </a:r>
            <a:r>
              <a:rPr sz="1600" spc="35" dirty="0">
                <a:cs typeface="Tahoma"/>
              </a:rPr>
              <a:t>gating</a:t>
            </a:r>
            <a:r>
              <a:rPr sz="1600" spc="-60" dirty="0">
                <a:cs typeface="Tahoma"/>
              </a:rPr>
              <a:t> </a:t>
            </a:r>
            <a:r>
              <a:rPr sz="1600" spc="15" dirty="0">
                <a:cs typeface="Tahoma"/>
              </a:rPr>
              <a:t>function</a:t>
            </a:r>
            <a:r>
              <a:rPr sz="1600" spc="-65" dirty="0">
                <a:cs typeface="Tahoma"/>
              </a:rPr>
              <a:t> </a:t>
            </a:r>
            <a:r>
              <a:rPr sz="1600" spc="10" dirty="0">
                <a:cs typeface="Tahoma"/>
              </a:rPr>
              <a:t>is</a:t>
            </a:r>
            <a:r>
              <a:rPr sz="1600" spc="-60" dirty="0">
                <a:cs typeface="Tahoma"/>
              </a:rPr>
              <a:t> </a:t>
            </a:r>
            <a:r>
              <a:rPr sz="1600" spc="-15" dirty="0">
                <a:cs typeface="Tahoma"/>
              </a:rPr>
              <a:t>just</a:t>
            </a:r>
            <a:r>
              <a:rPr sz="1600" spc="-65" dirty="0">
                <a:cs typeface="Tahoma"/>
              </a:rPr>
              <a:t> </a:t>
            </a:r>
            <a:r>
              <a:rPr sz="1600" spc="10" dirty="0">
                <a:cs typeface="Tahoma"/>
              </a:rPr>
              <a:t>a</a:t>
            </a:r>
            <a:r>
              <a:rPr sz="1600" spc="-75" dirty="0">
                <a:cs typeface="Tahoma"/>
              </a:rPr>
              <a:t> </a:t>
            </a:r>
            <a:r>
              <a:rPr sz="1600" spc="20" dirty="0">
                <a:cs typeface="Tahoma"/>
              </a:rPr>
              <a:t>linear</a:t>
            </a:r>
            <a:r>
              <a:rPr sz="1600" spc="-45" dirty="0">
                <a:cs typeface="Tahoma"/>
              </a:rPr>
              <a:t> </a:t>
            </a:r>
            <a:r>
              <a:rPr sz="1600" spc="10" dirty="0">
                <a:cs typeface="Tahoma"/>
              </a:rPr>
              <a:t>layer</a:t>
            </a:r>
            <a:r>
              <a:rPr sz="1600" spc="-45" dirty="0">
                <a:cs typeface="Tahoma"/>
              </a:rPr>
              <a:t> </a:t>
            </a:r>
            <a:r>
              <a:rPr sz="1600" b="1" spc="-45" dirty="0">
                <a:cs typeface="Tahoma"/>
              </a:rPr>
              <a:t>(in_features=4096,</a:t>
            </a:r>
            <a:r>
              <a:rPr sz="1600" b="1" spc="-110" dirty="0">
                <a:cs typeface="Tahoma"/>
              </a:rPr>
              <a:t> </a:t>
            </a:r>
            <a:r>
              <a:rPr sz="1600" b="1" spc="-50" dirty="0">
                <a:cs typeface="Tahoma"/>
              </a:rPr>
              <a:t>out_feature=8,</a:t>
            </a:r>
            <a:r>
              <a:rPr sz="1600" b="1" spc="-75" dirty="0">
                <a:cs typeface="Tahoma"/>
              </a:rPr>
              <a:t> </a:t>
            </a:r>
            <a:r>
              <a:rPr sz="1600" b="1" spc="-55" dirty="0">
                <a:cs typeface="Tahoma"/>
              </a:rPr>
              <a:t>bias=False)</a:t>
            </a:r>
            <a:r>
              <a:rPr sz="1600" b="1" spc="-75" dirty="0">
                <a:cs typeface="Tahoma"/>
              </a:rPr>
              <a:t> </a:t>
            </a:r>
            <a:r>
              <a:rPr sz="1600" spc="-10" dirty="0">
                <a:cs typeface="Tahoma"/>
              </a:rPr>
              <a:t>that’s</a:t>
            </a:r>
            <a:r>
              <a:rPr sz="1600" spc="-75" dirty="0">
                <a:cs typeface="Tahoma"/>
              </a:rPr>
              <a:t> </a:t>
            </a:r>
            <a:r>
              <a:rPr sz="1600" spc="20" dirty="0">
                <a:cs typeface="Tahoma"/>
              </a:rPr>
              <a:t>trained</a:t>
            </a:r>
            <a:r>
              <a:rPr sz="1600" spc="-65" dirty="0">
                <a:cs typeface="Tahoma"/>
              </a:rPr>
              <a:t> </a:t>
            </a:r>
            <a:r>
              <a:rPr sz="1600" spc="45" dirty="0">
                <a:cs typeface="Tahoma"/>
              </a:rPr>
              <a:t>along</a:t>
            </a:r>
            <a:r>
              <a:rPr sz="1600" spc="-55" dirty="0">
                <a:cs typeface="Tahoma"/>
              </a:rPr>
              <a:t> </a:t>
            </a:r>
            <a:r>
              <a:rPr sz="1600" spc="10" dirty="0">
                <a:cs typeface="Tahoma"/>
              </a:rPr>
              <a:t>with</a:t>
            </a:r>
            <a:r>
              <a:rPr sz="1600" spc="-85" dirty="0">
                <a:cs typeface="Tahoma"/>
              </a:rPr>
              <a:t> </a:t>
            </a:r>
            <a:r>
              <a:rPr sz="1600" spc="15" dirty="0">
                <a:cs typeface="Tahoma"/>
              </a:rPr>
              <a:t>the</a:t>
            </a:r>
            <a:r>
              <a:rPr sz="1600" spc="-70" dirty="0">
                <a:cs typeface="Tahoma"/>
              </a:rPr>
              <a:t> </a:t>
            </a:r>
            <a:r>
              <a:rPr sz="1600" spc="-5" dirty="0">
                <a:cs typeface="Tahoma"/>
              </a:rPr>
              <a:t>rest</a:t>
            </a:r>
            <a:r>
              <a:rPr sz="1600" spc="-55" dirty="0">
                <a:cs typeface="Tahoma"/>
              </a:rPr>
              <a:t> </a:t>
            </a:r>
            <a:r>
              <a:rPr sz="1600" spc="25" dirty="0">
                <a:cs typeface="Tahoma"/>
              </a:rPr>
              <a:t>of</a:t>
            </a:r>
            <a:r>
              <a:rPr sz="1600" spc="-40" dirty="0">
                <a:cs typeface="Tahoma"/>
              </a:rPr>
              <a:t> </a:t>
            </a:r>
            <a:r>
              <a:rPr sz="1600" spc="15" dirty="0">
                <a:cs typeface="Tahoma"/>
              </a:rPr>
              <a:t>the</a:t>
            </a:r>
            <a:r>
              <a:rPr sz="1600" spc="-70" dirty="0">
                <a:cs typeface="Tahoma"/>
              </a:rPr>
              <a:t> </a:t>
            </a:r>
            <a:r>
              <a:rPr sz="1600" spc="40" dirty="0">
                <a:cs typeface="Tahoma"/>
              </a:rPr>
              <a:t>model.</a:t>
            </a:r>
            <a:endParaRPr lang="en-US" sz="1600" dirty="0">
              <a:cs typeface="Tahoma"/>
            </a:endParaRPr>
          </a:p>
          <a:p>
            <a:pPr marL="12700">
              <a:spcBef>
                <a:spcPts val="600"/>
              </a:spcBef>
              <a:spcAft>
                <a:spcPts val="600"/>
              </a:spcAft>
              <a:tabLst>
                <a:tab pos="240665" algn="l"/>
                <a:tab pos="241300" algn="l"/>
              </a:tabLst>
            </a:pPr>
            <a:r>
              <a:rPr sz="1600" spc="20" dirty="0">
                <a:cs typeface="Tahoma"/>
              </a:rPr>
              <a:t>For</a:t>
            </a:r>
            <a:r>
              <a:rPr sz="1600" spc="-65" dirty="0">
                <a:cs typeface="Tahoma"/>
              </a:rPr>
              <a:t> </a:t>
            </a:r>
            <a:r>
              <a:rPr sz="1600" spc="30" dirty="0">
                <a:cs typeface="Tahoma"/>
              </a:rPr>
              <a:t>each</a:t>
            </a:r>
            <a:r>
              <a:rPr sz="1600" spc="-55" dirty="0">
                <a:cs typeface="Tahoma"/>
              </a:rPr>
              <a:t> </a:t>
            </a:r>
            <a:r>
              <a:rPr sz="1600" spc="25" dirty="0">
                <a:cs typeface="Tahoma"/>
              </a:rPr>
              <a:t>token</a:t>
            </a:r>
            <a:r>
              <a:rPr sz="1600" spc="-80" dirty="0">
                <a:cs typeface="Tahoma"/>
              </a:rPr>
              <a:t> </a:t>
            </a:r>
            <a:r>
              <a:rPr sz="1600" spc="50" dirty="0">
                <a:cs typeface="Tahoma"/>
              </a:rPr>
              <a:t>embedding,</a:t>
            </a:r>
            <a:r>
              <a:rPr sz="1600" spc="-95" dirty="0">
                <a:cs typeface="Tahoma"/>
              </a:rPr>
              <a:t> </a:t>
            </a:r>
            <a:r>
              <a:rPr sz="1600" dirty="0">
                <a:cs typeface="Tahoma"/>
              </a:rPr>
              <a:t>it</a:t>
            </a:r>
            <a:r>
              <a:rPr sz="1600" spc="-80" dirty="0">
                <a:cs typeface="Tahoma"/>
              </a:rPr>
              <a:t> </a:t>
            </a:r>
            <a:r>
              <a:rPr sz="1600" spc="45" dirty="0">
                <a:cs typeface="Tahoma"/>
              </a:rPr>
              <a:t>produces</a:t>
            </a:r>
            <a:r>
              <a:rPr sz="1600" spc="-50" dirty="0">
                <a:cs typeface="Tahoma"/>
              </a:rPr>
              <a:t> </a:t>
            </a:r>
            <a:r>
              <a:rPr sz="1600" spc="40" dirty="0">
                <a:cs typeface="Tahoma"/>
              </a:rPr>
              <a:t>8</a:t>
            </a:r>
            <a:r>
              <a:rPr sz="1600" spc="-75" dirty="0">
                <a:cs typeface="Tahoma"/>
              </a:rPr>
              <a:t> </a:t>
            </a:r>
            <a:r>
              <a:rPr sz="1600" spc="20" dirty="0">
                <a:cs typeface="Tahoma"/>
              </a:rPr>
              <a:t>logits,</a:t>
            </a:r>
            <a:r>
              <a:rPr sz="1600" spc="-95" dirty="0">
                <a:cs typeface="Tahoma"/>
              </a:rPr>
              <a:t> </a:t>
            </a:r>
            <a:r>
              <a:rPr sz="1600" spc="25" dirty="0">
                <a:cs typeface="Tahoma"/>
              </a:rPr>
              <a:t>which</a:t>
            </a:r>
            <a:r>
              <a:rPr sz="1600" spc="-70" dirty="0">
                <a:cs typeface="Tahoma"/>
              </a:rPr>
              <a:t> </a:t>
            </a:r>
            <a:r>
              <a:rPr sz="1600" spc="30" dirty="0">
                <a:cs typeface="Tahoma"/>
              </a:rPr>
              <a:t>indicate</a:t>
            </a:r>
            <a:r>
              <a:rPr sz="1600" spc="-85" dirty="0">
                <a:cs typeface="Tahoma"/>
              </a:rPr>
              <a:t> </a:t>
            </a:r>
            <a:r>
              <a:rPr sz="1600" spc="25" dirty="0">
                <a:cs typeface="Tahoma"/>
              </a:rPr>
              <a:t>which</a:t>
            </a:r>
            <a:r>
              <a:rPr sz="1600" spc="-70" dirty="0">
                <a:cs typeface="Tahoma"/>
              </a:rPr>
              <a:t> </a:t>
            </a:r>
            <a:r>
              <a:rPr sz="1600" spc="20" dirty="0">
                <a:cs typeface="Tahoma"/>
              </a:rPr>
              <a:t>expert</a:t>
            </a:r>
            <a:r>
              <a:rPr sz="1600" spc="-60" dirty="0">
                <a:cs typeface="Tahoma"/>
              </a:rPr>
              <a:t> </a:t>
            </a:r>
            <a:r>
              <a:rPr sz="1600" spc="30" dirty="0">
                <a:cs typeface="Tahoma"/>
              </a:rPr>
              <a:t>to</a:t>
            </a:r>
            <a:r>
              <a:rPr sz="1600" spc="-70" dirty="0">
                <a:cs typeface="Tahoma"/>
              </a:rPr>
              <a:t> </a:t>
            </a:r>
            <a:r>
              <a:rPr sz="1600" spc="10" dirty="0">
                <a:cs typeface="Tahoma"/>
              </a:rPr>
              <a:t>select.</a:t>
            </a:r>
            <a:endParaRPr sz="1600" dirty="0">
              <a:cs typeface="Tahoma"/>
            </a:endParaRPr>
          </a:p>
        </p:txBody>
      </p:sp>
      <p:grpSp>
        <p:nvGrpSpPr>
          <p:cNvPr id="4" name="object 4"/>
          <p:cNvGrpSpPr/>
          <p:nvPr/>
        </p:nvGrpSpPr>
        <p:grpSpPr>
          <a:xfrm>
            <a:off x="3679323" y="3148552"/>
            <a:ext cx="5814060" cy="1642110"/>
            <a:chOff x="3697985" y="3213866"/>
            <a:chExt cx="5814060" cy="1642110"/>
          </a:xfrm>
        </p:grpSpPr>
        <p:pic>
          <p:nvPicPr>
            <p:cNvPr id="5" name="object 5"/>
            <p:cNvPicPr/>
            <p:nvPr/>
          </p:nvPicPr>
          <p:blipFill>
            <a:blip r:embed="rId2" cstate="print"/>
            <a:stretch>
              <a:fillRect/>
            </a:stretch>
          </p:blipFill>
          <p:spPr>
            <a:xfrm>
              <a:off x="4628387" y="3213866"/>
              <a:ext cx="4883150" cy="1632192"/>
            </a:xfrm>
            <a:prstGeom prst="rect">
              <a:avLst/>
            </a:prstGeom>
          </p:spPr>
        </p:pic>
        <p:sp>
          <p:nvSpPr>
            <p:cNvPr id="6" name="object 6"/>
            <p:cNvSpPr/>
            <p:nvPr/>
          </p:nvSpPr>
          <p:spPr>
            <a:xfrm>
              <a:off x="3697986" y="3392423"/>
              <a:ext cx="1091565" cy="1463040"/>
            </a:xfrm>
            <a:custGeom>
              <a:avLst/>
              <a:gdLst/>
              <a:ahLst/>
              <a:cxnLst/>
              <a:rect l="l" t="t" r="r" b="b"/>
              <a:pathLst>
                <a:path w="1091564" h="1463039">
                  <a:moveTo>
                    <a:pt x="893826" y="57150"/>
                  </a:moveTo>
                  <a:lnTo>
                    <a:pt x="855726" y="38100"/>
                  </a:lnTo>
                  <a:lnTo>
                    <a:pt x="779526" y="0"/>
                  </a:lnTo>
                  <a:lnTo>
                    <a:pt x="779526" y="38100"/>
                  </a:lnTo>
                  <a:lnTo>
                    <a:pt x="99060" y="38100"/>
                  </a:lnTo>
                  <a:lnTo>
                    <a:pt x="99060" y="76200"/>
                  </a:lnTo>
                  <a:lnTo>
                    <a:pt x="779526" y="76200"/>
                  </a:lnTo>
                  <a:lnTo>
                    <a:pt x="779526" y="114300"/>
                  </a:lnTo>
                  <a:lnTo>
                    <a:pt x="855726" y="76200"/>
                  </a:lnTo>
                  <a:lnTo>
                    <a:pt x="893826" y="57150"/>
                  </a:lnTo>
                  <a:close/>
                </a:path>
                <a:path w="1091564" h="1463039">
                  <a:moveTo>
                    <a:pt x="1091184" y="1405890"/>
                  </a:moveTo>
                  <a:lnTo>
                    <a:pt x="1053084" y="1386840"/>
                  </a:lnTo>
                  <a:lnTo>
                    <a:pt x="976884" y="1348740"/>
                  </a:lnTo>
                  <a:lnTo>
                    <a:pt x="976884" y="1386840"/>
                  </a:lnTo>
                  <a:lnTo>
                    <a:pt x="0" y="1386840"/>
                  </a:lnTo>
                  <a:lnTo>
                    <a:pt x="0" y="1424940"/>
                  </a:lnTo>
                  <a:lnTo>
                    <a:pt x="976884" y="1424940"/>
                  </a:lnTo>
                  <a:lnTo>
                    <a:pt x="976884" y="1463040"/>
                  </a:lnTo>
                  <a:lnTo>
                    <a:pt x="1053084" y="1424940"/>
                  </a:lnTo>
                  <a:lnTo>
                    <a:pt x="1091184" y="1405890"/>
                  </a:lnTo>
                  <a:close/>
                </a:path>
              </a:pathLst>
            </a:custGeom>
            <a:solidFill>
              <a:srgbClr val="ED7660"/>
            </a:solidFill>
          </p:spPr>
          <p:txBody>
            <a:bodyPr wrap="square" lIns="0" tIns="0" rIns="0" bIns="0" rtlCol="0"/>
            <a:lstStyle/>
            <a:p>
              <a:endParaRPr sz="2000"/>
            </a:p>
          </p:txBody>
        </p:sp>
      </p:grpSp>
      <p:sp>
        <p:nvSpPr>
          <p:cNvPr id="7" name="object 7"/>
          <p:cNvSpPr txBox="1"/>
          <p:nvPr/>
        </p:nvSpPr>
        <p:spPr>
          <a:xfrm>
            <a:off x="2708789" y="3283040"/>
            <a:ext cx="848994" cy="182742"/>
          </a:xfrm>
          <a:prstGeom prst="rect">
            <a:avLst/>
          </a:prstGeom>
        </p:spPr>
        <p:txBody>
          <a:bodyPr vert="horz" wrap="square" lIns="0" tIns="13335" rIns="0" bIns="0" rtlCol="0">
            <a:spAutoFit/>
          </a:bodyPr>
          <a:lstStyle/>
          <a:p>
            <a:pPr marL="12700">
              <a:lnSpc>
                <a:spcPct val="100000"/>
              </a:lnSpc>
              <a:spcBef>
                <a:spcPts val="105"/>
              </a:spcBef>
            </a:pPr>
            <a:r>
              <a:rPr sz="1100" b="1" dirty="0">
                <a:cs typeface="Tahoma"/>
              </a:rPr>
              <a:t>Mi</a:t>
            </a:r>
            <a:r>
              <a:rPr sz="1100" b="1" spc="5" dirty="0">
                <a:cs typeface="Tahoma"/>
              </a:rPr>
              <a:t>s</a:t>
            </a:r>
            <a:r>
              <a:rPr sz="1100" b="1" spc="-45" dirty="0">
                <a:cs typeface="Tahoma"/>
              </a:rPr>
              <a:t>t</a:t>
            </a:r>
            <a:r>
              <a:rPr sz="1100" b="1" spc="-35" dirty="0">
                <a:cs typeface="Tahoma"/>
              </a:rPr>
              <a:t>ra</a:t>
            </a:r>
            <a:r>
              <a:rPr sz="1100" b="1" spc="-5" dirty="0">
                <a:cs typeface="Tahoma"/>
              </a:rPr>
              <a:t>l</a:t>
            </a:r>
            <a:r>
              <a:rPr sz="1100" b="1" spc="-70" dirty="0">
                <a:cs typeface="Tahoma"/>
              </a:rPr>
              <a:t> </a:t>
            </a:r>
            <a:r>
              <a:rPr sz="1100" b="1" dirty="0">
                <a:cs typeface="Tahoma"/>
              </a:rPr>
              <a:t>8x7B</a:t>
            </a:r>
            <a:endParaRPr sz="1100" dirty="0">
              <a:cs typeface="Tahoma"/>
            </a:endParaRPr>
          </a:p>
        </p:txBody>
      </p:sp>
      <p:sp>
        <p:nvSpPr>
          <p:cNvPr id="8" name="object 8"/>
          <p:cNvSpPr txBox="1"/>
          <p:nvPr/>
        </p:nvSpPr>
        <p:spPr>
          <a:xfrm>
            <a:off x="2763654" y="4631781"/>
            <a:ext cx="716280" cy="182742"/>
          </a:xfrm>
          <a:prstGeom prst="rect">
            <a:avLst/>
          </a:prstGeom>
        </p:spPr>
        <p:txBody>
          <a:bodyPr vert="horz" wrap="square" lIns="0" tIns="13335" rIns="0" bIns="0" rtlCol="0">
            <a:spAutoFit/>
          </a:bodyPr>
          <a:lstStyle/>
          <a:p>
            <a:pPr marL="12700">
              <a:lnSpc>
                <a:spcPct val="100000"/>
              </a:lnSpc>
              <a:spcBef>
                <a:spcPts val="105"/>
              </a:spcBef>
            </a:pPr>
            <a:r>
              <a:rPr sz="1100" b="1" spc="-15" dirty="0">
                <a:cs typeface="Tahoma"/>
              </a:rPr>
              <a:t>Mistral</a:t>
            </a:r>
            <a:r>
              <a:rPr sz="1100" b="1" spc="120" dirty="0">
                <a:cs typeface="Tahoma"/>
              </a:rPr>
              <a:t> </a:t>
            </a:r>
            <a:r>
              <a:rPr sz="1100" b="1" spc="-5" dirty="0">
                <a:cs typeface="Tahoma"/>
              </a:rPr>
              <a:t>7B</a:t>
            </a:r>
            <a:endParaRPr sz="1100">
              <a:cs typeface="Tahom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4222" y="593531"/>
            <a:ext cx="10858966" cy="639958"/>
          </a:xfrm>
          <a:prstGeom prst="rect">
            <a:avLst/>
          </a:prstGeom>
        </p:spPr>
        <p:txBody>
          <a:bodyPr vert="horz" lIns="0" tIns="0" rIns="0" bIns="0" rtlCol="0" anchor="ctr">
            <a:normAutofit/>
          </a:bodyPr>
          <a:lstStyle/>
          <a:p>
            <a:r>
              <a:rPr lang="en-US" dirty="0">
                <a:latin typeface="+mn-lt"/>
              </a:rPr>
              <a:t>Mixture-of-Experts: why soft-max after the top-k gate?</a:t>
            </a:r>
          </a:p>
        </p:txBody>
      </p:sp>
      <p:sp>
        <p:nvSpPr>
          <p:cNvPr id="4" name="Content Placeholder 2">
            <a:extLst>
              <a:ext uri="{FF2B5EF4-FFF2-40B4-BE49-F238E27FC236}">
                <a16:creationId xmlns:a16="http://schemas.microsoft.com/office/drawing/2014/main" id="{D566C047-50F1-BA42-C631-912E1582BB0F}"/>
              </a:ext>
            </a:extLst>
          </p:cNvPr>
          <p:cNvSpPr>
            <a:spLocks noGrp="1"/>
          </p:cNvSpPr>
          <p:nvPr>
            <p:ph idx="1"/>
          </p:nvPr>
        </p:nvSpPr>
        <p:spPr>
          <a:xfrm>
            <a:off x="669552" y="1665743"/>
            <a:ext cx="10863635" cy="4427081"/>
          </a:xfrm>
        </p:spPr>
        <p:txBody>
          <a:bodyPr>
            <a:normAutofit/>
          </a:bodyPr>
          <a:lstStyle/>
          <a:p>
            <a:pPr>
              <a:lnSpc>
                <a:spcPct val="100000"/>
              </a:lnSpc>
              <a:spcBef>
                <a:spcPts val="600"/>
              </a:spcBef>
              <a:spcAft>
                <a:spcPts val="600"/>
              </a:spcAft>
            </a:pPr>
            <a:r>
              <a:rPr lang="en-US" sz="2400" dirty="0">
                <a:solidFill>
                  <a:srgbClr val="161A3E"/>
                </a:solidFill>
              </a:rPr>
              <a:t>If we apply the SoftMax directly to the output of the gate function, this will result in a “probability distribution” (weights that sum up to 1)  over all the experts. But since we are only going to use the top-k of them, we want a “probability distribution” over only the selected  experts.</a:t>
            </a:r>
          </a:p>
          <a:p>
            <a:pPr>
              <a:lnSpc>
                <a:spcPct val="100000"/>
              </a:lnSpc>
              <a:spcBef>
                <a:spcPts val="600"/>
              </a:spcBef>
              <a:spcAft>
                <a:spcPts val="600"/>
              </a:spcAft>
            </a:pPr>
            <a:r>
              <a:rPr lang="en-US" sz="2400" dirty="0">
                <a:solidFill>
                  <a:srgbClr val="161A3E"/>
                </a:solidFill>
              </a:rPr>
              <a:t>This also makes it easier to compare two models trained on different number of experts, since the sum of the weights applied to the  output will always be 1 independently on the number of experts chosen by the gate function.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8474" y="600981"/>
            <a:ext cx="10864714" cy="632507"/>
          </a:xfrm>
          <a:prstGeom prst="rect">
            <a:avLst/>
          </a:prstGeom>
        </p:spPr>
        <p:txBody>
          <a:bodyPr vert="horz" lIns="0" tIns="0" rIns="0" bIns="0" rtlCol="0" anchor="ctr">
            <a:normAutofit/>
          </a:bodyPr>
          <a:lstStyle/>
          <a:p>
            <a:r>
              <a:rPr dirty="0">
                <a:latin typeface="+mn-lt"/>
              </a:rPr>
              <a:t>Model </a:t>
            </a:r>
            <a:r>
              <a:rPr lang="en-US" dirty="0">
                <a:latin typeface="+mn-lt"/>
              </a:rPr>
              <a:t>S</a:t>
            </a:r>
            <a:r>
              <a:rPr dirty="0">
                <a:latin typeface="+mn-lt"/>
              </a:rPr>
              <a:t>harding</a:t>
            </a:r>
          </a:p>
        </p:txBody>
      </p:sp>
      <p:sp>
        <p:nvSpPr>
          <p:cNvPr id="3" name="object 3"/>
          <p:cNvSpPr txBox="1"/>
          <p:nvPr/>
        </p:nvSpPr>
        <p:spPr>
          <a:xfrm>
            <a:off x="668474" y="1672296"/>
            <a:ext cx="10864714" cy="1147109"/>
          </a:xfrm>
          <a:prstGeom prst="rect">
            <a:avLst/>
          </a:prstGeom>
        </p:spPr>
        <p:txBody>
          <a:bodyPr vert="horz" wrap="square" lIns="0" tIns="13335" rIns="0" bIns="0" rtlCol="0">
            <a:spAutoFit/>
          </a:bodyPr>
          <a:lstStyle/>
          <a:p>
            <a:pPr marL="12700">
              <a:lnSpc>
                <a:spcPts val="1190"/>
              </a:lnSpc>
              <a:spcBef>
                <a:spcPts val="105"/>
              </a:spcBef>
            </a:pPr>
            <a:r>
              <a:rPr sz="1600" spc="45" dirty="0">
                <a:cs typeface="Tahoma"/>
              </a:rPr>
              <a:t>When</a:t>
            </a:r>
            <a:r>
              <a:rPr sz="1600" spc="-85" dirty="0">
                <a:cs typeface="Tahoma"/>
              </a:rPr>
              <a:t> </a:t>
            </a:r>
            <a:r>
              <a:rPr sz="1600" spc="25" dirty="0">
                <a:cs typeface="Tahoma"/>
              </a:rPr>
              <a:t>we</a:t>
            </a:r>
            <a:r>
              <a:rPr sz="1600" spc="-75" dirty="0">
                <a:cs typeface="Tahoma"/>
              </a:rPr>
              <a:t> </a:t>
            </a:r>
            <a:r>
              <a:rPr sz="1600" spc="15" dirty="0">
                <a:cs typeface="Tahoma"/>
              </a:rPr>
              <a:t>have</a:t>
            </a:r>
            <a:r>
              <a:rPr sz="1600" spc="-100" dirty="0">
                <a:cs typeface="Tahoma"/>
              </a:rPr>
              <a:t> </a:t>
            </a:r>
            <a:r>
              <a:rPr sz="1600" spc="10" dirty="0">
                <a:cs typeface="Tahoma"/>
              </a:rPr>
              <a:t>a</a:t>
            </a:r>
            <a:r>
              <a:rPr sz="1600" spc="-65" dirty="0">
                <a:cs typeface="Tahoma"/>
              </a:rPr>
              <a:t> </a:t>
            </a:r>
            <a:r>
              <a:rPr sz="1600" spc="60" dirty="0">
                <a:cs typeface="Tahoma"/>
              </a:rPr>
              <a:t>model</a:t>
            </a:r>
            <a:r>
              <a:rPr sz="1600" spc="-80" dirty="0">
                <a:cs typeface="Tahoma"/>
              </a:rPr>
              <a:t> </a:t>
            </a:r>
            <a:r>
              <a:rPr sz="1600" dirty="0">
                <a:cs typeface="Tahoma"/>
              </a:rPr>
              <a:t>that</a:t>
            </a:r>
            <a:r>
              <a:rPr sz="1600" spc="-80" dirty="0">
                <a:cs typeface="Tahoma"/>
              </a:rPr>
              <a:t> </a:t>
            </a:r>
            <a:r>
              <a:rPr sz="1600" spc="10" dirty="0">
                <a:cs typeface="Tahoma"/>
              </a:rPr>
              <a:t>is</a:t>
            </a:r>
            <a:r>
              <a:rPr sz="1600" spc="-65" dirty="0">
                <a:cs typeface="Tahoma"/>
              </a:rPr>
              <a:t> </a:t>
            </a:r>
            <a:r>
              <a:rPr sz="1600" spc="45" dirty="0">
                <a:cs typeface="Tahoma"/>
              </a:rPr>
              <a:t>too</a:t>
            </a:r>
            <a:r>
              <a:rPr sz="1600" spc="-70" dirty="0">
                <a:cs typeface="Tahoma"/>
              </a:rPr>
              <a:t> </a:t>
            </a:r>
            <a:r>
              <a:rPr sz="1600" spc="65" dirty="0">
                <a:cs typeface="Tahoma"/>
              </a:rPr>
              <a:t>big</a:t>
            </a:r>
            <a:r>
              <a:rPr sz="1600" spc="-60" dirty="0">
                <a:cs typeface="Tahoma"/>
              </a:rPr>
              <a:t> </a:t>
            </a:r>
            <a:r>
              <a:rPr sz="1600" spc="25" dirty="0">
                <a:cs typeface="Tahoma"/>
              </a:rPr>
              <a:t>to</a:t>
            </a:r>
            <a:r>
              <a:rPr sz="1600" spc="-65" dirty="0">
                <a:cs typeface="Tahoma"/>
              </a:rPr>
              <a:t> </a:t>
            </a:r>
            <a:r>
              <a:rPr sz="1600" spc="-10" dirty="0">
                <a:cs typeface="Tahoma"/>
              </a:rPr>
              <a:t>fit</a:t>
            </a:r>
            <a:r>
              <a:rPr sz="1600" spc="-65" dirty="0">
                <a:cs typeface="Tahoma"/>
              </a:rPr>
              <a:t> </a:t>
            </a:r>
            <a:r>
              <a:rPr sz="1600" spc="25" dirty="0">
                <a:cs typeface="Tahoma"/>
              </a:rPr>
              <a:t>in</a:t>
            </a:r>
            <a:r>
              <a:rPr sz="1600" spc="-75" dirty="0">
                <a:cs typeface="Tahoma"/>
              </a:rPr>
              <a:t> </a:t>
            </a:r>
            <a:r>
              <a:rPr sz="1600" spc="10" dirty="0">
                <a:cs typeface="Tahoma"/>
              </a:rPr>
              <a:t>a</a:t>
            </a:r>
            <a:r>
              <a:rPr sz="1600" spc="-65" dirty="0">
                <a:cs typeface="Tahoma"/>
              </a:rPr>
              <a:t> </a:t>
            </a:r>
            <a:r>
              <a:rPr sz="1600" spc="30" dirty="0">
                <a:cs typeface="Tahoma"/>
              </a:rPr>
              <a:t>single</a:t>
            </a:r>
            <a:r>
              <a:rPr sz="1600" spc="-75" dirty="0">
                <a:cs typeface="Tahoma"/>
              </a:rPr>
              <a:t> </a:t>
            </a:r>
            <a:r>
              <a:rPr sz="1600" spc="40" dirty="0">
                <a:cs typeface="Tahoma"/>
              </a:rPr>
              <a:t>GPU,</a:t>
            </a:r>
            <a:r>
              <a:rPr sz="1600" spc="-65" dirty="0">
                <a:cs typeface="Tahoma"/>
              </a:rPr>
              <a:t> </a:t>
            </a:r>
            <a:r>
              <a:rPr sz="1600" spc="25" dirty="0">
                <a:cs typeface="Tahoma"/>
              </a:rPr>
              <a:t>we</a:t>
            </a:r>
            <a:r>
              <a:rPr sz="1600" spc="-80" dirty="0">
                <a:cs typeface="Tahoma"/>
              </a:rPr>
              <a:t> </a:t>
            </a:r>
            <a:r>
              <a:rPr sz="1600" spc="25" dirty="0">
                <a:cs typeface="Tahoma"/>
              </a:rPr>
              <a:t>can</a:t>
            </a:r>
            <a:r>
              <a:rPr sz="1600" spc="-70" dirty="0">
                <a:cs typeface="Tahoma"/>
              </a:rPr>
              <a:t> </a:t>
            </a:r>
            <a:r>
              <a:rPr sz="1600" spc="45" dirty="0">
                <a:cs typeface="Tahoma"/>
              </a:rPr>
              <a:t>divide</a:t>
            </a:r>
            <a:r>
              <a:rPr sz="1600" spc="-100" dirty="0">
                <a:cs typeface="Tahoma"/>
              </a:rPr>
              <a:t> </a:t>
            </a:r>
            <a:r>
              <a:rPr sz="1600" spc="20" dirty="0">
                <a:cs typeface="Tahoma"/>
              </a:rPr>
              <a:t>the</a:t>
            </a:r>
            <a:r>
              <a:rPr sz="1600" spc="-70" dirty="0">
                <a:cs typeface="Tahoma"/>
              </a:rPr>
              <a:t> </a:t>
            </a:r>
            <a:r>
              <a:rPr sz="1600" spc="55" dirty="0">
                <a:cs typeface="Tahoma"/>
              </a:rPr>
              <a:t>model</a:t>
            </a:r>
            <a:r>
              <a:rPr sz="1600" spc="-80" dirty="0">
                <a:cs typeface="Tahoma"/>
              </a:rPr>
              <a:t> </a:t>
            </a:r>
            <a:r>
              <a:rPr sz="1600" spc="25" dirty="0">
                <a:cs typeface="Tahoma"/>
              </a:rPr>
              <a:t>into</a:t>
            </a:r>
            <a:r>
              <a:rPr sz="1600" spc="-70" dirty="0">
                <a:cs typeface="Tahoma"/>
              </a:rPr>
              <a:t> </a:t>
            </a:r>
            <a:r>
              <a:rPr sz="1600" spc="30" dirty="0">
                <a:cs typeface="Tahoma"/>
              </a:rPr>
              <a:t>“groups</a:t>
            </a:r>
            <a:r>
              <a:rPr sz="1600" spc="-65" dirty="0">
                <a:cs typeface="Tahoma"/>
              </a:rPr>
              <a:t> </a:t>
            </a:r>
            <a:r>
              <a:rPr sz="1600" spc="25" dirty="0">
                <a:cs typeface="Tahoma"/>
              </a:rPr>
              <a:t>of</a:t>
            </a:r>
            <a:r>
              <a:rPr sz="1600" spc="-65" dirty="0">
                <a:cs typeface="Tahoma"/>
              </a:rPr>
              <a:t> </a:t>
            </a:r>
            <a:r>
              <a:rPr sz="1600" spc="5" dirty="0">
                <a:cs typeface="Tahoma"/>
              </a:rPr>
              <a:t>layers”</a:t>
            </a:r>
            <a:r>
              <a:rPr sz="1600" spc="-70" dirty="0">
                <a:cs typeface="Tahoma"/>
              </a:rPr>
              <a:t> </a:t>
            </a:r>
            <a:r>
              <a:rPr sz="1600" spc="40" dirty="0">
                <a:cs typeface="Tahoma"/>
              </a:rPr>
              <a:t>and</a:t>
            </a:r>
            <a:r>
              <a:rPr sz="1600" spc="-75" dirty="0">
                <a:cs typeface="Tahoma"/>
              </a:rPr>
              <a:t> </a:t>
            </a:r>
            <a:r>
              <a:rPr sz="1600" spc="40" dirty="0">
                <a:cs typeface="Tahoma"/>
              </a:rPr>
              <a:t>place</a:t>
            </a:r>
            <a:r>
              <a:rPr sz="1600" spc="-75" dirty="0">
                <a:cs typeface="Tahoma"/>
              </a:rPr>
              <a:t> </a:t>
            </a:r>
            <a:r>
              <a:rPr sz="1600" spc="30" dirty="0">
                <a:cs typeface="Tahoma"/>
              </a:rPr>
              <a:t>each</a:t>
            </a:r>
            <a:r>
              <a:rPr sz="1600" spc="-85" dirty="0">
                <a:cs typeface="Tahoma"/>
              </a:rPr>
              <a:t> </a:t>
            </a:r>
            <a:r>
              <a:rPr sz="1600" spc="60" dirty="0">
                <a:cs typeface="Tahoma"/>
              </a:rPr>
              <a:t>group</a:t>
            </a:r>
            <a:r>
              <a:rPr sz="1600" spc="-60" dirty="0">
                <a:cs typeface="Tahoma"/>
              </a:rPr>
              <a:t> </a:t>
            </a:r>
            <a:r>
              <a:rPr sz="1600" spc="25" dirty="0">
                <a:cs typeface="Tahoma"/>
              </a:rPr>
              <a:t>of</a:t>
            </a:r>
            <a:r>
              <a:rPr sz="1600" spc="-70" dirty="0">
                <a:cs typeface="Tahoma"/>
              </a:rPr>
              <a:t> </a:t>
            </a:r>
            <a:r>
              <a:rPr sz="1600" spc="10" dirty="0">
                <a:cs typeface="Tahoma"/>
              </a:rPr>
              <a:t>layers</a:t>
            </a:r>
            <a:r>
              <a:rPr sz="1600" spc="-75" dirty="0">
                <a:cs typeface="Tahoma"/>
              </a:rPr>
              <a:t> </a:t>
            </a:r>
            <a:r>
              <a:rPr sz="1600" spc="25" dirty="0">
                <a:cs typeface="Tahoma"/>
              </a:rPr>
              <a:t>in</a:t>
            </a:r>
            <a:r>
              <a:rPr sz="1600" spc="-70" dirty="0">
                <a:cs typeface="Tahoma"/>
              </a:rPr>
              <a:t> </a:t>
            </a:r>
            <a:r>
              <a:rPr sz="1600" spc="10" dirty="0">
                <a:cs typeface="Tahoma"/>
              </a:rPr>
              <a:t>a</a:t>
            </a:r>
            <a:r>
              <a:rPr sz="1600" spc="-60" dirty="0">
                <a:cs typeface="Tahoma"/>
              </a:rPr>
              <a:t> </a:t>
            </a:r>
            <a:r>
              <a:rPr sz="1600" spc="40" dirty="0">
                <a:cs typeface="Tahoma"/>
              </a:rPr>
              <a:t>GPU.</a:t>
            </a:r>
            <a:endParaRPr sz="1600" dirty="0">
              <a:cs typeface="Tahoma"/>
            </a:endParaRPr>
          </a:p>
          <a:p>
            <a:pPr marL="12700">
              <a:lnSpc>
                <a:spcPts val="1190"/>
              </a:lnSpc>
            </a:pPr>
            <a:r>
              <a:rPr sz="1600" spc="45" dirty="0">
                <a:cs typeface="Tahoma"/>
              </a:rPr>
              <a:t>When</a:t>
            </a:r>
            <a:r>
              <a:rPr sz="1600" spc="-90" dirty="0">
                <a:cs typeface="Tahoma"/>
              </a:rPr>
              <a:t> </a:t>
            </a:r>
            <a:r>
              <a:rPr sz="1600" spc="25" dirty="0">
                <a:cs typeface="Tahoma"/>
              </a:rPr>
              <a:t>we</a:t>
            </a:r>
            <a:r>
              <a:rPr sz="1600" spc="-70" dirty="0">
                <a:cs typeface="Tahoma"/>
              </a:rPr>
              <a:t> </a:t>
            </a:r>
            <a:r>
              <a:rPr sz="1600" spc="25" dirty="0">
                <a:cs typeface="Tahoma"/>
              </a:rPr>
              <a:t>inference</a:t>
            </a:r>
            <a:r>
              <a:rPr sz="1600" spc="-100" dirty="0">
                <a:cs typeface="Tahoma"/>
              </a:rPr>
              <a:t> </a:t>
            </a:r>
            <a:r>
              <a:rPr sz="1600" spc="5" dirty="0">
                <a:cs typeface="Tahoma"/>
              </a:rPr>
              <a:t>iteratively:</a:t>
            </a:r>
            <a:r>
              <a:rPr sz="1600" spc="-95" dirty="0">
                <a:cs typeface="Tahoma"/>
              </a:rPr>
              <a:t> </a:t>
            </a:r>
            <a:r>
              <a:rPr sz="1600" b="1" spc="-25" dirty="0">
                <a:cs typeface="Tahoma"/>
              </a:rPr>
              <a:t>the</a:t>
            </a:r>
            <a:r>
              <a:rPr sz="1600" b="1" spc="-55" dirty="0">
                <a:cs typeface="Tahoma"/>
              </a:rPr>
              <a:t> </a:t>
            </a:r>
            <a:r>
              <a:rPr sz="1600" b="1" spc="-25" dirty="0">
                <a:cs typeface="Tahoma"/>
              </a:rPr>
              <a:t>output </a:t>
            </a:r>
            <a:r>
              <a:rPr sz="1600" b="1" dirty="0">
                <a:cs typeface="Tahoma"/>
              </a:rPr>
              <a:t>of</a:t>
            </a:r>
            <a:r>
              <a:rPr sz="1600" b="1" spc="-45" dirty="0">
                <a:cs typeface="Tahoma"/>
              </a:rPr>
              <a:t> </a:t>
            </a:r>
            <a:r>
              <a:rPr sz="1600" b="1" spc="-25" dirty="0">
                <a:cs typeface="Tahoma"/>
              </a:rPr>
              <a:t>each</a:t>
            </a:r>
            <a:r>
              <a:rPr sz="1600" b="1" spc="-65" dirty="0">
                <a:cs typeface="Tahoma"/>
              </a:rPr>
              <a:t> </a:t>
            </a:r>
            <a:r>
              <a:rPr sz="1600" b="1" dirty="0">
                <a:cs typeface="Tahoma"/>
              </a:rPr>
              <a:t>GPU</a:t>
            </a:r>
            <a:r>
              <a:rPr sz="1600" b="1" spc="-55" dirty="0">
                <a:cs typeface="Tahoma"/>
              </a:rPr>
              <a:t> </a:t>
            </a:r>
            <a:r>
              <a:rPr sz="1600" b="1" spc="-30" dirty="0">
                <a:cs typeface="Tahoma"/>
              </a:rPr>
              <a:t>is</a:t>
            </a:r>
            <a:r>
              <a:rPr sz="1600" b="1" spc="-50" dirty="0">
                <a:cs typeface="Tahoma"/>
              </a:rPr>
              <a:t> </a:t>
            </a:r>
            <a:r>
              <a:rPr sz="1600" b="1" dirty="0">
                <a:cs typeface="Tahoma"/>
              </a:rPr>
              <a:t>fed</a:t>
            </a:r>
            <a:r>
              <a:rPr sz="1600" b="1" spc="-50" dirty="0">
                <a:cs typeface="Tahoma"/>
              </a:rPr>
              <a:t> </a:t>
            </a:r>
            <a:r>
              <a:rPr sz="1600" b="1" spc="-40" dirty="0">
                <a:cs typeface="Tahoma"/>
              </a:rPr>
              <a:t>as </a:t>
            </a:r>
            <a:r>
              <a:rPr sz="1600" b="1" spc="-20" dirty="0">
                <a:cs typeface="Tahoma"/>
              </a:rPr>
              <a:t>input</a:t>
            </a:r>
            <a:r>
              <a:rPr sz="1600" b="1" spc="-45" dirty="0">
                <a:cs typeface="Tahoma"/>
              </a:rPr>
              <a:t> </a:t>
            </a:r>
            <a:r>
              <a:rPr sz="1600" b="1" spc="-20" dirty="0">
                <a:cs typeface="Tahoma"/>
              </a:rPr>
              <a:t>to</a:t>
            </a:r>
            <a:r>
              <a:rPr sz="1600" b="1" spc="-35" dirty="0">
                <a:cs typeface="Tahoma"/>
              </a:rPr>
              <a:t> </a:t>
            </a:r>
            <a:r>
              <a:rPr sz="1600" b="1" spc="-25" dirty="0">
                <a:cs typeface="Tahoma"/>
              </a:rPr>
              <a:t>the</a:t>
            </a:r>
            <a:r>
              <a:rPr sz="1600" b="1" spc="-55" dirty="0">
                <a:cs typeface="Tahoma"/>
              </a:rPr>
              <a:t> </a:t>
            </a:r>
            <a:r>
              <a:rPr sz="1600" b="1" spc="-20" dirty="0">
                <a:cs typeface="Tahoma"/>
              </a:rPr>
              <a:t>next</a:t>
            </a:r>
            <a:r>
              <a:rPr sz="1600" b="1" spc="-90" dirty="0">
                <a:cs typeface="Tahoma"/>
              </a:rPr>
              <a:t> </a:t>
            </a:r>
            <a:r>
              <a:rPr sz="1600" b="1" dirty="0">
                <a:cs typeface="Tahoma"/>
              </a:rPr>
              <a:t>GPU,</a:t>
            </a:r>
            <a:r>
              <a:rPr sz="1600" b="1" spc="-65" dirty="0">
                <a:cs typeface="Tahoma"/>
              </a:rPr>
              <a:t> </a:t>
            </a:r>
            <a:r>
              <a:rPr sz="1600" b="1" spc="-10" dirty="0">
                <a:cs typeface="Tahoma"/>
              </a:rPr>
              <a:t>and</a:t>
            </a:r>
            <a:r>
              <a:rPr sz="1600" b="1" spc="-50" dirty="0">
                <a:cs typeface="Tahoma"/>
              </a:rPr>
              <a:t> </a:t>
            </a:r>
            <a:r>
              <a:rPr sz="1600" b="1" spc="-20" dirty="0">
                <a:cs typeface="Tahoma"/>
              </a:rPr>
              <a:t>so</a:t>
            </a:r>
            <a:r>
              <a:rPr sz="1600" b="1" spc="-35" dirty="0">
                <a:cs typeface="Tahoma"/>
              </a:rPr>
              <a:t> </a:t>
            </a:r>
            <a:r>
              <a:rPr sz="1600" b="1" dirty="0">
                <a:cs typeface="Tahoma"/>
              </a:rPr>
              <a:t>on…</a:t>
            </a:r>
            <a:endParaRPr sz="1600" dirty="0">
              <a:cs typeface="Tahoma"/>
            </a:endParaRPr>
          </a:p>
          <a:p>
            <a:pPr marL="12700">
              <a:lnSpc>
                <a:spcPct val="100000"/>
              </a:lnSpc>
              <a:spcBef>
                <a:spcPts val="730"/>
              </a:spcBef>
            </a:pPr>
            <a:r>
              <a:rPr sz="1600" b="1" spc="-35" dirty="0">
                <a:cs typeface="Tahoma"/>
              </a:rPr>
              <a:t>This</a:t>
            </a:r>
            <a:r>
              <a:rPr sz="1600" b="1" spc="-55" dirty="0">
                <a:cs typeface="Tahoma"/>
              </a:rPr>
              <a:t> </a:t>
            </a:r>
            <a:r>
              <a:rPr sz="1600" b="1" spc="-20" dirty="0">
                <a:cs typeface="Tahoma"/>
              </a:rPr>
              <a:t>technique</a:t>
            </a:r>
            <a:r>
              <a:rPr sz="1600" b="1" spc="-65" dirty="0">
                <a:cs typeface="Tahoma"/>
              </a:rPr>
              <a:t> </a:t>
            </a:r>
            <a:r>
              <a:rPr sz="1600" b="1" spc="-30" dirty="0">
                <a:cs typeface="Tahoma"/>
              </a:rPr>
              <a:t>is</a:t>
            </a:r>
            <a:r>
              <a:rPr sz="1600" b="1" spc="-40" dirty="0">
                <a:cs typeface="Tahoma"/>
              </a:rPr>
              <a:t> </a:t>
            </a:r>
            <a:r>
              <a:rPr sz="1600" b="1" spc="-15" dirty="0">
                <a:cs typeface="Tahoma"/>
              </a:rPr>
              <a:t>known</a:t>
            </a:r>
            <a:r>
              <a:rPr sz="1600" b="1" spc="-65" dirty="0">
                <a:cs typeface="Tahoma"/>
              </a:rPr>
              <a:t> </a:t>
            </a:r>
            <a:r>
              <a:rPr sz="1600" b="1" spc="-40" dirty="0">
                <a:cs typeface="Tahoma"/>
              </a:rPr>
              <a:t>as</a:t>
            </a:r>
            <a:r>
              <a:rPr sz="1600" b="1" spc="-50" dirty="0">
                <a:cs typeface="Tahoma"/>
              </a:rPr>
              <a:t> </a:t>
            </a:r>
            <a:r>
              <a:rPr sz="1600" b="1" dirty="0">
                <a:cs typeface="Tahoma"/>
              </a:rPr>
              <a:t>model</a:t>
            </a:r>
            <a:r>
              <a:rPr sz="1600" b="1" spc="-60" dirty="0">
                <a:cs typeface="Tahoma"/>
              </a:rPr>
              <a:t> </a:t>
            </a:r>
            <a:r>
              <a:rPr sz="1600" b="1" spc="-20" dirty="0">
                <a:cs typeface="Tahoma"/>
              </a:rPr>
              <a:t>sharding.</a:t>
            </a:r>
            <a:endParaRPr sz="1600" dirty="0">
              <a:cs typeface="Tahoma"/>
            </a:endParaRPr>
          </a:p>
          <a:p>
            <a:pPr marL="12700">
              <a:lnSpc>
                <a:spcPct val="100000"/>
              </a:lnSpc>
              <a:spcBef>
                <a:spcPts val="745"/>
              </a:spcBef>
            </a:pPr>
            <a:r>
              <a:rPr sz="1600" spc="-50" dirty="0">
                <a:cs typeface="Tahoma"/>
              </a:rPr>
              <a:t>In</a:t>
            </a:r>
            <a:r>
              <a:rPr sz="1600" spc="-75" dirty="0">
                <a:cs typeface="Tahoma"/>
              </a:rPr>
              <a:t> </a:t>
            </a:r>
            <a:r>
              <a:rPr sz="1600" spc="20" dirty="0">
                <a:cs typeface="Tahoma"/>
              </a:rPr>
              <a:t>the</a:t>
            </a:r>
            <a:r>
              <a:rPr sz="1600" spc="-85" dirty="0">
                <a:cs typeface="Tahoma"/>
              </a:rPr>
              <a:t> </a:t>
            </a:r>
            <a:r>
              <a:rPr sz="1600" spc="25" dirty="0">
                <a:cs typeface="Tahoma"/>
              </a:rPr>
              <a:t>case</a:t>
            </a:r>
            <a:r>
              <a:rPr sz="1600" spc="-75" dirty="0">
                <a:cs typeface="Tahoma"/>
              </a:rPr>
              <a:t> </a:t>
            </a:r>
            <a:r>
              <a:rPr sz="1600" spc="25" dirty="0">
                <a:cs typeface="Tahoma"/>
              </a:rPr>
              <a:t>of</a:t>
            </a:r>
            <a:r>
              <a:rPr sz="1600" spc="-75" dirty="0">
                <a:cs typeface="Tahoma"/>
              </a:rPr>
              <a:t> </a:t>
            </a:r>
            <a:r>
              <a:rPr sz="1600" spc="15" dirty="0">
                <a:cs typeface="Tahoma"/>
              </a:rPr>
              <a:t>Mistral,</a:t>
            </a:r>
            <a:r>
              <a:rPr sz="1600" spc="-75" dirty="0">
                <a:cs typeface="Tahoma"/>
              </a:rPr>
              <a:t> </a:t>
            </a:r>
            <a:r>
              <a:rPr sz="1600" spc="25" dirty="0">
                <a:cs typeface="Tahoma"/>
              </a:rPr>
              <a:t>since</a:t>
            </a:r>
            <a:r>
              <a:rPr sz="1600" spc="-75" dirty="0">
                <a:cs typeface="Tahoma"/>
              </a:rPr>
              <a:t> </a:t>
            </a:r>
            <a:r>
              <a:rPr sz="1600" spc="25" dirty="0">
                <a:cs typeface="Tahoma"/>
              </a:rPr>
              <a:t>we</a:t>
            </a:r>
            <a:r>
              <a:rPr sz="1600" spc="-85" dirty="0">
                <a:cs typeface="Tahoma"/>
              </a:rPr>
              <a:t> </a:t>
            </a:r>
            <a:r>
              <a:rPr sz="1600" spc="15" dirty="0">
                <a:cs typeface="Tahoma"/>
              </a:rPr>
              <a:t>have</a:t>
            </a:r>
            <a:r>
              <a:rPr sz="1600" spc="-90" dirty="0">
                <a:cs typeface="Tahoma"/>
              </a:rPr>
              <a:t> </a:t>
            </a:r>
            <a:r>
              <a:rPr sz="1600" spc="35" dirty="0">
                <a:cs typeface="Tahoma"/>
              </a:rPr>
              <a:t>32</a:t>
            </a:r>
            <a:r>
              <a:rPr sz="1600" spc="-70" dirty="0">
                <a:cs typeface="Tahoma"/>
              </a:rPr>
              <a:t> </a:t>
            </a:r>
            <a:r>
              <a:rPr sz="1600" spc="45" dirty="0">
                <a:cs typeface="Tahoma"/>
              </a:rPr>
              <a:t>Encoder</a:t>
            </a:r>
            <a:r>
              <a:rPr sz="1600" spc="-80" dirty="0">
                <a:cs typeface="Tahoma"/>
              </a:rPr>
              <a:t> </a:t>
            </a:r>
            <a:r>
              <a:rPr sz="1600" dirty="0">
                <a:cs typeface="Tahoma"/>
              </a:rPr>
              <a:t>layers,</a:t>
            </a:r>
            <a:r>
              <a:rPr sz="1600" spc="-75" dirty="0">
                <a:cs typeface="Tahoma"/>
              </a:rPr>
              <a:t> </a:t>
            </a:r>
            <a:r>
              <a:rPr sz="1600" dirty="0">
                <a:cs typeface="Tahoma"/>
              </a:rPr>
              <a:t>if</a:t>
            </a:r>
            <a:r>
              <a:rPr sz="1600" spc="-70" dirty="0">
                <a:cs typeface="Tahoma"/>
              </a:rPr>
              <a:t> </a:t>
            </a:r>
            <a:r>
              <a:rPr sz="1600" spc="25" dirty="0">
                <a:cs typeface="Tahoma"/>
              </a:rPr>
              <a:t>we</a:t>
            </a:r>
            <a:r>
              <a:rPr sz="1600" spc="-70" dirty="0">
                <a:cs typeface="Tahoma"/>
              </a:rPr>
              <a:t> </a:t>
            </a:r>
            <a:r>
              <a:rPr sz="1600" spc="15" dirty="0">
                <a:cs typeface="Tahoma"/>
              </a:rPr>
              <a:t>have</a:t>
            </a:r>
            <a:r>
              <a:rPr sz="1600" spc="-100" dirty="0">
                <a:cs typeface="Tahoma"/>
              </a:rPr>
              <a:t> </a:t>
            </a:r>
            <a:r>
              <a:rPr sz="1600" spc="35" dirty="0">
                <a:cs typeface="Tahoma"/>
              </a:rPr>
              <a:t>4</a:t>
            </a:r>
            <a:r>
              <a:rPr sz="1600" spc="-60" dirty="0">
                <a:cs typeface="Tahoma"/>
              </a:rPr>
              <a:t> </a:t>
            </a:r>
            <a:r>
              <a:rPr sz="1600" spc="30" dirty="0">
                <a:cs typeface="Tahoma"/>
              </a:rPr>
              <a:t>GPUs,</a:t>
            </a:r>
            <a:r>
              <a:rPr sz="1600" spc="-80" dirty="0">
                <a:cs typeface="Tahoma"/>
              </a:rPr>
              <a:t> </a:t>
            </a:r>
            <a:r>
              <a:rPr sz="1600" spc="25" dirty="0">
                <a:cs typeface="Tahoma"/>
              </a:rPr>
              <a:t>we</a:t>
            </a:r>
            <a:r>
              <a:rPr sz="1600" spc="-85" dirty="0">
                <a:cs typeface="Tahoma"/>
              </a:rPr>
              <a:t> </a:t>
            </a:r>
            <a:r>
              <a:rPr sz="1600" spc="25" dirty="0">
                <a:cs typeface="Tahoma"/>
              </a:rPr>
              <a:t>can</a:t>
            </a:r>
            <a:r>
              <a:rPr sz="1600" spc="-70" dirty="0">
                <a:cs typeface="Tahoma"/>
              </a:rPr>
              <a:t> </a:t>
            </a:r>
            <a:r>
              <a:rPr sz="1600" spc="20" dirty="0">
                <a:cs typeface="Tahoma"/>
              </a:rPr>
              <a:t>store</a:t>
            </a:r>
            <a:r>
              <a:rPr sz="1600" spc="-60" dirty="0">
                <a:cs typeface="Tahoma"/>
              </a:rPr>
              <a:t> </a:t>
            </a:r>
            <a:r>
              <a:rPr sz="1600" spc="35" dirty="0">
                <a:cs typeface="Tahoma"/>
              </a:rPr>
              <a:t>8</a:t>
            </a:r>
            <a:r>
              <a:rPr sz="1600" spc="-75" dirty="0">
                <a:cs typeface="Tahoma"/>
              </a:rPr>
              <a:t> </a:t>
            </a:r>
            <a:r>
              <a:rPr sz="1600" spc="25" dirty="0">
                <a:cs typeface="Tahoma"/>
              </a:rPr>
              <a:t>of</a:t>
            </a:r>
            <a:r>
              <a:rPr sz="1600" spc="-70" dirty="0">
                <a:cs typeface="Tahoma"/>
              </a:rPr>
              <a:t> </a:t>
            </a:r>
            <a:r>
              <a:rPr sz="1600" spc="30" dirty="0">
                <a:cs typeface="Tahoma"/>
              </a:rPr>
              <a:t>them</a:t>
            </a:r>
            <a:r>
              <a:rPr sz="1600" spc="-90" dirty="0">
                <a:cs typeface="Tahoma"/>
              </a:rPr>
              <a:t> </a:t>
            </a:r>
            <a:r>
              <a:rPr sz="1600" spc="25" dirty="0">
                <a:cs typeface="Tahoma"/>
              </a:rPr>
              <a:t>in</a:t>
            </a:r>
            <a:r>
              <a:rPr sz="1600" spc="-70" dirty="0">
                <a:cs typeface="Tahoma"/>
              </a:rPr>
              <a:t> </a:t>
            </a:r>
            <a:r>
              <a:rPr sz="1600" spc="30" dirty="0">
                <a:cs typeface="Tahoma"/>
              </a:rPr>
              <a:t>each</a:t>
            </a:r>
            <a:r>
              <a:rPr sz="1600" spc="-90" dirty="0">
                <a:cs typeface="Tahoma"/>
              </a:rPr>
              <a:t> </a:t>
            </a:r>
            <a:r>
              <a:rPr sz="1600" spc="40" dirty="0">
                <a:cs typeface="Tahoma"/>
              </a:rPr>
              <a:t>GPU.</a:t>
            </a:r>
            <a:endParaRPr sz="1600" dirty="0">
              <a:cs typeface="Tahoma"/>
            </a:endParaRPr>
          </a:p>
        </p:txBody>
      </p:sp>
      <p:sp>
        <p:nvSpPr>
          <p:cNvPr id="4" name="object 4"/>
          <p:cNvSpPr txBox="1"/>
          <p:nvPr/>
        </p:nvSpPr>
        <p:spPr>
          <a:xfrm>
            <a:off x="973619" y="3536494"/>
            <a:ext cx="984885" cy="179536"/>
          </a:xfrm>
          <a:prstGeom prst="rect">
            <a:avLst/>
          </a:prstGeom>
          <a:solidFill>
            <a:srgbClr val="ED7660"/>
          </a:solidFill>
          <a:ln w="12700">
            <a:solidFill>
              <a:srgbClr val="632D23"/>
            </a:solidFill>
          </a:ln>
        </p:spPr>
        <p:txBody>
          <a:bodyPr vert="horz" wrap="square" lIns="0" tIns="25400" rIns="0" bIns="0" rtlCol="0">
            <a:spAutoFit/>
          </a:bodyPr>
          <a:lstStyle/>
          <a:p>
            <a:pPr marL="121285">
              <a:lnSpc>
                <a:spcPct val="100000"/>
              </a:lnSpc>
              <a:spcBef>
                <a:spcPts val="200"/>
              </a:spcBef>
            </a:pPr>
            <a:r>
              <a:rPr sz="1000" b="1" spc="40" dirty="0">
                <a:solidFill>
                  <a:srgbClr val="FFFFFF"/>
                </a:solidFill>
                <a:cs typeface="Tahoma"/>
              </a:rPr>
              <a:t>Embeddings</a:t>
            </a:r>
            <a:endParaRPr sz="1000" b="1">
              <a:cs typeface="Tahoma"/>
            </a:endParaRPr>
          </a:p>
        </p:txBody>
      </p:sp>
      <p:grpSp>
        <p:nvGrpSpPr>
          <p:cNvPr id="5" name="object 5"/>
          <p:cNvGrpSpPr/>
          <p:nvPr/>
        </p:nvGrpSpPr>
        <p:grpSpPr>
          <a:xfrm>
            <a:off x="2232189" y="3452421"/>
            <a:ext cx="624205" cy="383540"/>
            <a:chOff x="2166873" y="3107182"/>
            <a:chExt cx="624205" cy="383540"/>
          </a:xfrm>
        </p:grpSpPr>
        <p:sp>
          <p:nvSpPr>
            <p:cNvPr id="6" name="object 6"/>
            <p:cNvSpPr/>
            <p:nvPr/>
          </p:nvSpPr>
          <p:spPr>
            <a:xfrm>
              <a:off x="2173223" y="3113532"/>
              <a:ext cx="611505" cy="370840"/>
            </a:xfrm>
            <a:custGeom>
              <a:avLst/>
              <a:gdLst/>
              <a:ahLst/>
              <a:cxnLst/>
              <a:rect l="l" t="t" r="r" b="b"/>
              <a:pathLst>
                <a:path w="611505" h="370839">
                  <a:moveTo>
                    <a:pt x="611124" y="0"/>
                  </a:moveTo>
                  <a:lnTo>
                    <a:pt x="0" y="0"/>
                  </a:lnTo>
                  <a:lnTo>
                    <a:pt x="0" y="370332"/>
                  </a:lnTo>
                  <a:lnTo>
                    <a:pt x="611124" y="370332"/>
                  </a:lnTo>
                  <a:lnTo>
                    <a:pt x="611124" y="0"/>
                  </a:lnTo>
                  <a:close/>
                </a:path>
              </a:pathLst>
            </a:custGeom>
            <a:solidFill>
              <a:srgbClr val="ED7660"/>
            </a:solidFill>
          </p:spPr>
          <p:txBody>
            <a:bodyPr wrap="square" lIns="0" tIns="0" rIns="0" bIns="0" rtlCol="0"/>
            <a:lstStyle/>
            <a:p>
              <a:endParaRPr b="1"/>
            </a:p>
          </p:txBody>
        </p:sp>
        <p:sp>
          <p:nvSpPr>
            <p:cNvPr id="7" name="object 7"/>
            <p:cNvSpPr/>
            <p:nvPr/>
          </p:nvSpPr>
          <p:spPr>
            <a:xfrm>
              <a:off x="2173223" y="3113532"/>
              <a:ext cx="611505" cy="370840"/>
            </a:xfrm>
            <a:custGeom>
              <a:avLst/>
              <a:gdLst/>
              <a:ahLst/>
              <a:cxnLst/>
              <a:rect l="l" t="t" r="r" b="b"/>
              <a:pathLst>
                <a:path w="611505" h="370839">
                  <a:moveTo>
                    <a:pt x="0" y="370332"/>
                  </a:moveTo>
                  <a:lnTo>
                    <a:pt x="611124" y="370332"/>
                  </a:lnTo>
                  <a:lnTo>
                    <a:pt x="611124" y="0"/>
                  </a:lnTo>
                  <a:lnTo>
                    <a:pt x="0" y="0"/>
                  </a:lnTo>
                  <a:lnTo>
                    <a:pt x="0" y="370332"/>
                  </a:lnTo>
                  <a:close/>
                </a:path>
              </a:pathLst>
            </a:custGeom>
            <a:ln w="12700">
              <a:solidFill>
                <a:srgbClr val="632D23"/>
              </a:solidFill>
            </a:ln>
          </p:spPr>
          <p:txBody>
            <a:bodyPr wrap="square" lIns="0" tIns="0" rIns="0" bIns="0" rtlCol="0"/>
            <a:lstStyle/>
            <a:p>
              <a:endParaRPr b="1"/>
            </a:p>
          </p:txBody>
        </p:sp>
      </p:grpSp>
      <p:sp>
        <p:nvSpPr>
          <p:cNvPr id="8" name="object 8"/>
          <p:cNvSpPr txBox="1"/>
          <p:nvPr/>
        </p:nvSpPr>
        <p:spPr>
          <a:xfrm>
            <a:off x="2341664" y="3473502"/>
            <a:ext cx="405130" cy="330200"/>
          </a:xfrm>
          <a:prstGeom prst="rect">
            <a:avLst/>
          </a:prstGeom>
        </p:spPr>
        <p:txBody>
          <a:bodyPr vert="horz" wrap="square" lIns="0" tIns="12065" rIns="0" bIns="0" rtlCol="0">
            <a:spAutoFit/>
          </a:bodyPr>
          <a:lstStyle/>
          <a:p>
            <a:pPr marL="165100" marR="5080" indent="-152400">
              <a:lnSpc>
                <a:spcPct val="100000"/>
              </a:lnSpc>
              <a:spcBef>
                <a:spcPts val="95"/>
              </a:spcBef>
            </a:pPr>
            <a:r>
              <a:rPr sz="1000" b="1" spc="5" dirty="0">
                <a:solidFill>
                  <a:srgbClr val="FFFFFF"/>
                </a:solidFill>
                <a:cs typeface="Tahoma"/>
              </a:rPr>
              <a:t>L</a:t>
            </a:r>
            <a:r>
              <a:rPr sz="1000" b="1" spc="20" dirty="0">
                <a:solidFill>
                  <a:srgbClr val="FFFFFF"/>
                </a:solidFill>
                <a:cs typeface="Tahoma"/>
              </a:rPr>
              <a:t>AYER  </a:t>
            </a:r>
            <a:r>
              <a:rPr sz="1000" b="1" spc="30" dirty="0">
                <a:solidFill>
                  <a:srgbClr val="FFFFFF"/>
                </a:solidFill>
                <a:cs typeface="Tahoma"/>
              </a:rPr>
              <a:t>1</a:t>
            </a:r>
            <a:endParaRPr sz="1000" b="1">
              <a:cs typeface="Tahoma"/>
            </a:endParaRPr>
          </a:p>
        </p:txBody>
      </p:sp>
      <p:grpSp>
        <p:nvGrpSpPr>
          <p:cNvPr id="9" name="object 9"/>
          <p:cNvGrpSpPr/>
          <p:nvPr/>
        </p:nvGrpSpPr>
        <p:grpSpPr>
          <a:xfrm>
            <a:off x="3123730" y="3452421"/>
            <a:ext cx="625475" cy="383540"/>
            <a:chOff x="3058414" y="3107182"/>
            <a:chExt cx="625475" cy="383540"/>
          </a:xfrm>
        </p:grpSpPr>
        <p:sp>
          <p:nvSpPr>
            <p:cNvPr id="10" name="object 10"/>
            <p:cNvSpPr/>
            <p:nvPr/>
          </p:nvSpPr>
          <p:spPr>
            <a:xfrm>
              <a:off x="3064764" y="3113532"/>
              <a:ext cx="612775" cy="370840"/>
            </a:xfrm>
            <a:custGeom>
              <a:avLst/>
              <a:gdLst/>
              <a:ahLst/>
              <a:cxnLst/>
              <a:rect l="l" t="t" r="r" b="b"/>
              <a:pathLst>
                <a:path w="612775" h="370839">
                  <a:moveTo>
                    <a:pt x="612648" y="0"/>
                  </a:moveTo>
                  <a:lnTo>
                    <a:pt x="0" y="0"/>
                  </a:lnTo>
                  <a:lnTo>
                    <a:pt x="0" y="370332"/>
                  </a:lnTo>
                  <a:lnTo>
                    <a:pt x="612648" y="370332"/>
                  </a:lnTo>
                  <a:lnTo>
                    <a:pt x="612648" y="0"/>
                  </a:lnTo>
                  <a:close/>
                </a:path>
              </a:pathLst>
            </a:custGeom>
            <a:solidFill>
              <a:srgbClr val="ED7660"/>
            </a:solidFill>
          </p:spPr>
          <p:txBody>
            <a:bodyPr wrap="square" lIns="0" tIns="0" rIns="0" bIns="0" rtlCol="0"/>
            <a:lstStyle/>
            <a:p>
              <a:endParaRPr b="1"/>
            </a:p>
          </p:txBody>
        </p:sp>
        <p:sp>
          <p:nvSpPr>
            <p:cNvPr id="11" name="object 11"/>
            <p:cNvSpPr/>
            <p:nvPr/>
          </p:nvSpPr>
          <p:spPr>
            <a:xfrm>
              <a:off x="3064764" y="3113532"/>
              <a:ext cx="612775" cy="370840"/>
            </a:xfrm>
            <a:custGeom>
              <a:avLst/>
              <a:gdLst/>
              <a:ahLst/>
              <a:cxnLst/>
              <a:rect l="l" t="t" r="r" b="b"/>
              <a:pathLst>
                <a:path w="612775" h="370839">
                  <a:moveTo>
                    <a:pt x="0" y="370332"/>
                  </a:moveTo>
                  <a:lnTo>
                    <a:pt x="612648" y="370332"/>
                  </a:lnTo>
                  <a:lnTo>
                    <a:pt x="612648" y="0"/>
                  </a:lnTo>
                  <a:lnTo>
                    <a:pt x="0" y="0"/>
                  </a:lnTo>
                  <a:lnTo>
                    <a:pt x="0" y="370332"/>
                  </a:lnTo>
                  <a:close/>
                </a:path>
              </a:pathLst>
            </a:custGeom>
            <a:ln w="12700">
              <a:solidFill>
                <a:srgbClr val="632D23"/>
              </a:solidFill>
            </a:ln>
          </p:spPr>
          <p:txBody>
            <a:bodyPr wrap="square" lIns="0" tIns="0" rIns="0" bIns="0" rtlCol="0"/>
            <a:lstStyle/>
            <a:p>
              <a:endParaRPr b="1"/>
            </a:p>
          </p:txBody>
        </p:sp>
      </p:grpSp>
      <p:sp>
        <p:nvSpPr>
          <p:cNvPr id="12" name="object 12"/>
          <p:cNvSpPr txBox="1"/>
          <p:nvPr/>
        </p:nvSpPr>
        <p:spPr>
          <a:xfrm>
            <a:off x="3234092" y="3473502"/>
            <a:ext cx="405130" cy="330200"/>
          </a:xfrm>
          <a:prstGeom prst="rect">
            <a:avLst/>
          </a:prstGeom>
        </p:spPr>
        <p:txBody>
          <a:bodyPr vert="horz" wrap="square" lIns="0" tIns="12065" rIns="0" bIns="0" rtlCol="0">
            <a:spAutoFit/>
          </a:bodyPr>
          <a:lstStyle/>
          <a:p>
            <a:pPr marL="165100" marR="5080" indent="-152400">
              <a:lnSpc>
                <a:spcPct val="100000"/>
              </a:lnSpc>
              <a:spcBef>
                <a:spcPts val="95"/>
              </a:spcBef>
            </a:pPr>
            <a:r>
              <a:rPr sz="1000" b="1" spc="5" dirty="0">
                <a:solidFill>
                  <a:srgbClr val="FFFFFF"/>
                </a:solidFill>
                <a:cs typeface="Tahoma"/>
              </a:rPr>
              <a:t>L</a:t>
            </a:r>
            <a:r>
              <a:rPr sz="1000" b="1" spc="20" dirty="0">
                <a:solidFill>
                  <a:srgbClr val="FFFFFF"/>
                </a:solidFill>
                <a:cs typeface="Tahoma"/>
              </a:rPr>
              <a:t>AYER  </a:t>
            </a:r>
            <a:r>
              <a:rPr sz="1000" b="1" spc="30" dirty="0">
                <a:solidFill>
                  <a:srgbClr val="FFFFFF"/>
                </a:solidFill>
                <a:cs typeface="Tahoma"/>
              </a:rPr>
              <a:t>8</a:t>
            </a:r>
            <a:endParaRPr sz="1000" b="1">
              <a:cs typeface="Tahoma"/>
            </a:endParaRPr>
          </a:p>
        </p:txBody>
      </p:sp>
      <p:grpSp>
        <p:nvGrpSpPr>
          <p:cNvPr id="13" name="object 13"/>
          <p:cNvGrpSpPr/>
          <p:nvPr/>
        </p:nvGrpSpPr>
        <p:grpSpPr>
          <a:xfrm>
            <a:off x="4016794" y="3452421"/>
            <a:ext cx="624205" cy="383540"/>
            <a:chOff x="3951478" y="3107182"/>
            <a:chExt cx="624205" cy="383540"/>
          </a:xfrm>
        </p:grpSpPr>
        <p:sp>
          <p:nvSpPr>
            <p:cNvPr id="14" name="object 14"/>
            <p:cNvSpPr/>
            <p:nvPr/>
          </p:nvSpPr>
          <p:spPr>
            <a:xfrm>
              <a:off x="3957828" y="3113532"/>
              <a:ext cx="611505" cy="370840"/>
            </a:xfrm>
            <a:custGeom>
              <a:avLst/>
              <a:gdLst/>
              <a:ahLst/>
              <a:cxnLst/>
              <a:rect l="l" t="t" r="r" b="b"/>
              <a:pathLst>
                <a:path w="611504" h="370839">
                  <a:moveTo>
                    <a:pt x="611124" y="0"/>
                  </a:moveTo>
                  <a:lnTo>
                    <a:pt x="0" y="0"/>
                  </a:lnTo>
                  <a:lnTo>
                    <a:pt x="0" y="370332"/>
                  </a:lnTo>
                  <a:lnTo>
                    <a:pt x="611124" y="370332"/>
                  </a:lnTo>
                  <a:lnTo>
                    <a:pt x="611124" y="0"/>
                  </a:lnTo>
                  <a:close/>
                </a:path>
              </a:pathLst>
            </a:custGeom>
            <a:solidFill>
              <a:srgbClr val="ED7660"/>
            </a:solidFill>
          </p:spPr>
          <p:txBody>
            <a:bodyPr wrap="square" lIns="0" tIns="0" rIns="0" bIns="0" rtlCol="0"/>
            <a:lstStyle/>
            <a:p>
              <a:endParaRPr b="1"/>
            </a:p>
          </p:txBody>
        </p:sp>
        <p:sp>
          <p:nvSpPr>
            <p:cNvPr id="15" name="object 15"/>
            <p:cNvSpPr/>
            <p:nvPr/>
          </p:nvSpPr>
          <p:spPr>
            <a:xfrm>
              <a:off x="3957828" y="3113532"/>
              <a:ext cx="611505" cy="370840"/>
            </a:xfrm>
            <a:custGeom>
              <a:avLst/>
              <a:gdLst/>
              <a:ahLst/>
              <a:cxnLst/>
              <a:rect l="l" t="t" r="r" b="b"/>
              <a:pathLst>
                <a:path w="611504" h="370839">
                  <a:moveTo>
                    <a:pt x="0" y="370332"/>
                  </a:moveTo>
                  <a:lnTo>
                    <a:pt x="611124" y="370332"/>
                  </a:lnTo>
                  <a:lnTo>
                    <a:pt x="611124" y="0"/>
                  </a:lnTo>
                  <a:lnTo>
                    <a:pt x="0" y="0"/>
                  </a:lnTo>
                  <a:lnTo>
                    <a:pt x="0" y="370332"/>
                  </a:lnTo>
                  <a:close/>
                </a:path>
              </a:pathLst>
            </a:custGeom>
            <a:ln w="12700">
              <a:solidFill>
                <a:srgbClr val="632D23"/>
              </a:solidFill>
            </a:ln>
          </p:spPr>
          <p:txBody>
            <a:bodyPr wrap="square" lIns="0" tIns="0" rIns="0" bIns="0" rtlCol="0"/>
            <a:lstStyle/>
            <a:p>
              <a:endParaRPr b="1"/>
            </a:p>
          </p:txBody>
        </p:sp>
      </p:grpSp>
      <p:sp>
        <p:nvSpPr>
          <p:cNvPr id="16" name="object 16"/>
          <p:cNvSpPr txBox="1"/>
          <p:nvPr/>
        </p:nvSpPr>
        <p:spPr>
          <a:xfrm>
            <a:off x="4126268" y="3473502"/>
            <a:ext cx="405130" cy="330200"/>
          </a:xfrm>
          <a:prstGeom prst="rect">
            <a:avLst/>
          </a:prstGeom>
        </p:spPr>
        <p:txBody>
          <a:bodyPr vert="horz" wrap="square" lIns="0" tIns="12065" rIns="0" bIns="0" rtlCol="0">
            <a:spAutoFit/>
          </a:bodyPr>
          <a:lstStyle/>
          <a:p>
            <a:pPr marL="165100" marR="5080" indent="-152400">
              <a:lnSpc>
                <a:spcPct val="100000"/>
              </a:lnSpc>
              <a:spcBef>
                <a:spcPts val="95"/>
              </a:spcBef>
            </a:pPr>
            <a:r>
              <a:rPr sz="1000" b="1" spc="5" dirty="0">
                <a:solidFill>
                  <a:srgbClr val="FFFFFF"/>
                </a:solidFill>
                <a:cs typeface="Tahoma"/>
              </a:rPr>
              <a:t>L</a:t>
            </a:r>
            <a:r>
              <a:rPr sz="1000" b="1" spc="20" dirty="0">
                <a:solidFill>
                  <a:srgbClr val="FFFFFF"/>
                </a:solidFill>
                <a:cs typeface="Tahoma"/>
              </a:rPr>
              <a:t>AYER  </a:t>
            </a:r>
            <a:r>
              <a:rPr sz="1000" b="1" spc="30" dirty="0">
                <a:solidFill>
                  <a:srgbClr val="FFFFFF"/>
                </a:solidFill>
                <a:cs typeface="Tahoma"/>
              </a:rPr>
              <a:t>9</a:t>
            </a:r>
            <a:endParaRPr sz="1000" b="1">
              <a:cs typeface="Tahoma"/>
            </a:endParaRPr>
          </a:p>
        </p:txBody>
      </p:sp>
      <p:grpSp>
        <p:nvGrpSpPr>
          <p:cNvPr id="17" name="object 17"/>
          <p:cNvGrpSpPr/>
          <p:nvPr/>
        </p:nvGrpSpPr>
        <p:grpSpPr>
          <a:xfrm>
            <a:off x="4908333" y="3452421"/>
            <a:ext cx="624205" cy="383540"/>
            <a:chOff x="4843017" y="3107182"/>
            <a:chExt cx="624205" cy="383540"/>
          </a:xfrm>
        </p:grpSpPr>
        <p:sp>
          <p:nvSpPr>
            <p:cNvPr id="18" name="object 18"/>
            <p:cNvSpPr/>
            <p:nvPr/>
          </p:nvSpPr>
          <p:spPr>
            <a:xfrm>
              <a:off x="4849367" y="3113532"/>
              <a:ext cx="611505" cy="370840"/>
            </a:xfrm>
            <a:custGeom>
              <a:avLst/>
              <a:gdLst/>
              <a:ahLst/>
              <a:cxnLst/>
              <a:rect l="l" t="t" r="r" b="b"/>
              <a:pathLst>
                <a:path w="611504" h="370839">
                  <a:moveTo>
                    <a:pt x="611124" y="0"/>
                  </a:moveTo>
                  <a:lnTo>
                    <a:pt x="0" y="0"/>
                  </a:lnTo>
                  <a:lnTo>
                    <a:pt x="0" y="370332"/>
                  </a:lnTo>
                  <a:lnTo>
                    <a:pt x="611124" y="370332"/>
                  </a:lnTo>
                  <a:lnTo>
                    <a:pt x="611124" y="0"/>
                  </a:lnTo>
                  <a:close/>
                </a:path>
              </a:pathLst>
            </a:custGeom>
            <a:solidFill>
              <a:srgbClr val="ED7660"/>
            </a:solidFill>
          </p:spPr>
          <p:txBody>
            <a:bodyPr wrap="square" lIns="0" tIns="0" rIns="0" bIns="0" rtlCol="0"/>
            <a:lstStyle/>
            <a:p>
              <a:endParaRPr b="1"/>
            </a:p>
          </p:txBody>
        </p:sp>
        <p:sp>
          <p:nvSpPr>
            <p:cNvPr id="19" name="object 19"/>
            <p:cNvSpPr/>
            <p:nvPr/>
          </p:nvSpPr>
          <p:spPr>
            <a:xfrm>
              <a:off x="4849367" y="3113532"/>
              <a:ext cx="611505" cy="370840"/>
            </a:xfrm>
            <a:custGeom>
              <a:avLst/>
              <a:gdLst/>
              <a:ahLst/>
              <a:cxnLst/>
              <a:rect l="l" t="t" r="r" b="b"/>
              <a:pathLst>
                <a:path w="611504" h="370839">
                  <a:moveTo>
                    <a:pt x="0" y="370332"/>
                  </a:moveTo>
                  <a:lnTo>
                    <a:pt x="611124" y="370332"/>
                  </a:lnTo>
                  <a:lnTo>
                    <a:pt x="611124" y="0"/>
                  </a:lnTo>
                  <a:lnTo>
                    <a:pt x="0" y="0"/>
                  </a:lnTo>
                  <a:lnTo>
                    <a:pt x="0" y="370332"/>
                  </a:lnTo>
                  <a:close/>
                </a:path>
              </a:pathLst>
            </a:custGeom>
            <a:ln w="12700">
              <a:solidFill>
                <a:srgbClr val="632D23"/>
              </a:solidFill>
            </a:ln>
          </p:spPr>
          <p:txBody>
            <a:bodyPr wrap="square" lIns="0" tIns="0" rIns="0" bIns="0" rtlCol="0"/>
            <a:lstStyle/>
            <a:p>
              <a:endParaRPr b="1"/>
            </a:p>
          </p:txBody>
        </p:sp>
      </p:grpSp>
      <p:sp>
        <p:nvSpPr>
          <p:cNvPr id="20" name="object 20"/>
          <p:cNvSpPr txBox="1"/>
          <p:nvPr/>
        </p:nvSpPr>
        <p:spPr>
          <a:xfrm>
            <a:off x="5018443" y="3473502"/>
            <a:ext cx="405130" cy="330200"/>
          </a:xfrm>
          <a:prstGeom prst="rect">
            <a:avLst/>
          </a:prstGeom>
        </p:spPr>
        <p:txBody>
          <a:bodyPr vert="horz" wrap="square" lIns="0" tIns="12065" rIns="0" bIns="0" rtlCol="0">
            <a:spAutoFit/>
          </a:bodyPr>
          <a:lstStyle/>
          <a:p>
            <a:pPr marL="128270" marR="5080" indent="-116205">
              <a:lnSpc>
                <a:spcPct val="100000"/>
              </a:lnSpc>
              <a:spcBef>
                <a:spcPts val="95"/>
              </a:spcBef>
            </a:pPr>
            <a:r>
              <a:rPr sz="1000" b="1" spc="5" dirty="0">
                <a:solidFill>
                  <a:srgbClr val="FFFFFF"/>
                </a:solidFill>
                <a:cs typeface="Tahoma"/>
              </a:rPr>
              <a:t>L</a:t>
            </a:r>
            <a:r>
              <a:rPr sz="1000" b="1" spc="20" dirty="0">
                <a:solidFill>
                  <a:srgbClr val="FFFFFF"/>
                </a:solidFill>
                <a:cs typeface="Tahoma"/>
              </a:rPr>
              <a:t>AYER  </a:t>
            </a:r>
            <a:r>
              <a:rPr sz="1000" b="1" spc="25" dirty="0">
                <a:solidFill>
                  <a:srgbClr val="FFFFFF"/>
                </a:solidFill>
                <a:cs typeface="Tahoma"/>
              </a:rPr>
              <a:t>16</a:t>
            </a:r>
            <a:endParaRPr sz="1000" b="1">
              <a:cs typeface="Tahoma"/>
            </a:endParaRPr>
          </a:p>
        </p:txBody>
      </p:sp>
      <p:grpSp>
        <p:nvGrpSpPr>
          <p:cNvPr id="21" name="object 21"/>
          <p:cNvGrpSpPr/>
          <p:nvPr/>
        </p:nvGrpSpPr>
        <p:grpSpPr>
          <a:xfrm>
            <a:off x="5799874" y="3452421"/>
            <a:ext cx="625475" cy="383540"/>
            <a:chOff x="5734558" y="3107182"/>
            <a:chExt cx="625475" cy="383540"/>
          </a:xfrm>
        </p:grpSpPr>
        <p:sp>
          <p:nvSpPr>
            <p:cNvPr id="22" name="object 22"/>
            <p:cNvSpPr/>
            <p:nvPr/>
          </p:nvSpPr>
          <p:spPr>
            <a:xfrm>
              <a:off x="5740908" y="3113532"/>
              <a:ext cx="612775" cy="370840"/>
            </a:xfrm>
            <a:custGeom>
              <a:avLst/>
              <a:gdLst/>
              <a:ahLst/>
              <a:cxnLst/>
              <a:rect l="l" t="t" r="r" b="b"/>
              <a:pathLst>
                <a:path w="612775" h="370839">
                  <a:moveTo>
                    <a:pt x="612648" y="0"/>
                  </a:moveTo>
                  <a:lnTo>
                    <a:pt x="0" y="0"/>
                  </a:lnTo>
                  <a:lnTo>
                    <a:pt x="0" y="370332"/>
                  </a:lnTo>
                  <a:lnTo>
                    <a:pt x="612648" y="370332"/>
                  </a:lnTo>
                  <a:lnTo>
                    <a:pt x="612648" y="0"/>
                  </a:lnTo>
                  <a:close/>
                </a:path>
              </a:pathLst>
            </a:custGeom>
            <a:solidFill>
              <a:srgbClr val="ED7660"/>
            </a:solidFill>
          </p:spPr>
          <p:txBody>
            <a:bodyPr wrap="square" lIns="0" tIns="0" rIns="0" bIns="0" rtlCol="0"/>
            <a:lstStyle/>
            <a:p>
              <a:endParaRPr b="1"/>
            </a:p>
          </p:txBody>
        </p:sp>
        <p:sp>
          <p:nvSpPr>
            <p:cNvPr id="23" name="object 23"/>
            <p:cNvSpPr/>
            <p:nvPr/>
          </p:nvSpPr>
          <p:spPr>
            <a:xfrm>
              <a:off x="5740908" y="3113532"/>
              <a:ext cx="612775" cy="370840"/>
            </a:xfrm>
            <a:custGeom>
              <a:avLst/>
              <a:gdLst/>
              <a:ahLst/>
              <a:cxnLst/>
              <a:rect l="l" t="t" r="r" b="b"/>
              <a:pathLst>
                <a:path w="612775" h="370839">
                  <a:moveTo>
                    <a:pt x="0" y="370332"/>
                  </a:moveTo>
                  <a:lnTo>
                    <a:pt x="612648" y="370332"/>
                  </a:lnTo>
                  <a:lnTo>
                    <a:pt x="612648" y="0"/>
                  </a:lnTo>
                  <a:lnTo>
                    <a:pt x="0" y="0"/>
                  </a:lnTo>
                  <a:lnTo>
                    <a:pt x="0" y="370332"/>
                  </a:lnTo>
                  <a:close/>
                </a:path>
              </a:pathLst>
            </a:custGeom>
            <a:ln w="12700">
              <a:solidFill>
                <a:srgbClr val="632D23"/>
              </a:solidFill>
            </a:ln>
          </p:spPr>
          <p:txBody>
            <a:bodyPr wrap="square" lIns="0" tIns="0" rIns="0" bIns="0" rtlCol="0"/>
            <a:lstStyle/>
            <a:p>
              <a:endParaRPr b="1"/>
            </a:p>
          </p:txBody>
        </p:sp>
      </p:grpSp>
      <p:sp>
        <p:nvSpPr>
          <p:cNvPr id="24" name="object 24"/>
          <p:cNvSpPr txBox="1"/>
          <p:nvPr/>
        </p:nvSpPr>
        <p:spPr>
          <a:xfrm>
            <a:off x="5910618" y="3473502"/>
            <a:ext cx="405130" cy="330200"/>
          </a:xfrm>
          <a:prstGeom prst="rect">
            <a:avLst/>
          </a:prstGeom>
        </p:spPr>
        <p:txBody>
          <a:bodyPr vert="horz" wrap="square" lIns="0" tIns="12065" rIns="0" bIns="0" rtlCol="0">
            <a:spAutoFit/>
          </a:bodyPr>
          <a:lstStyle/>
          <a:p>
            <a:pPr marL="128270" marR="5080" indent="-116205">
              <a:lnSpc>
                <a:spcPct val="100000"/>
              </a:lnSpc>
              <a:spcBef>
                <a:spcPts val="95"/>
              </a:spcBef>
            </a:pPr>
            <a:r>
              <a:rPr sz="1000" b="1" spc="5" dirty="0">
                <a:solidFill>
                  <a:srgbClr val="FFFFFF"/>
                </a:solidFill>
                <a:cs typeface="Tahoma"/>
              </a:rPr>
              <a:t>L</a:t>
            </a:r>
            <a:r>
              <a:rPr sz="1000" b="1" spc="20" dirty="0">
                <a:solidFill>
                  <a:srgbClr val="FFFFFF"/>
                </a:solidFill>
                <a:cs typeface="Tahoma"/>
              </a:rPr>
              <a:t>AYER  </a:t>
            </a:r>
            <a:r>
              <a:rPr sz="1000" b="1" spc="25" dirty="0">
                <a:solidFill>
                  <a:srgbClr val="FFFFFF"/>
                </a:solidFill>
                <a:cs typeface="Tahoma"/>
              </a:rPr>
              <a:t>17</a:t>
            </a:r>
            <a:endParaRPr sz="1000" b="1">
              <a:cs typeface="Tahoma"/>
            </a:endParaRPr>
          </a:p>
        </p:txBody>
      </p:sp>
      <p:grpSp>
        <p:nvGrpSpPr>
          <p:cNvPr id="25" name="object 25"/>
          <p:cNvGrpSpPr/>
          <p:nvPr/>
        </p:nvGrpSpPr>
        <p:grpSpPr>
          <a:xfrm>
            <a:off x="6692937" y="3452421"/>
            <a:ext cx="624205" cy="383540"/>
            <a:chOff x="6627621" y="3107182"/>
            <a:chExt cx="624205" cy="383540"/>
          </a:xfrm>
        </p:grpSpPr>
        <p:sp>
          <p:nvSpPr>
            <p:cNvPr id="26" name="object 26"/>
            <p:cNvSpPr/>
            <p:nvPr/>
          </p:nvSpPr>
          <p:spPr>
            <a:xfrm>
              <a:off x="6633971" y="3113532"/>
              <a:ext cx="611505" cy="370840"/>
            </a:xfrm>
            <a:custGeom>
              <a:avLst/>
              <a:gdLst/>
              <a:ahLst/>
              <a:cxnLst/>
              <a:rect l="l" t="t" r="r" b="b"/>
              <a:pathLst>
                <a:path w="611504" h="370839">
                  <a:moveTo>
                    <a:pt x="611124" y="0"/>
                  </a:moveTo>
                  <a:lnTo>
                    <a:pt x="0" y="0"/>
                  </a:lnTo>
                  <a:lnTo>
                    <a:pt x="0" y="370332"/>
                  </a:lnTo>
                  <a:lnTo>
                    <a:pt x="611124" y="370332"/>
                  </a:lnTo>
                  <a:lnTo>
                    <a:pt x="611124" y="0"/>
                  </a:lnTo>
                  <a:close/>
                </a:path>
              </a:pathLst>
            </a:custGeom>
            <a:solidFill>
              <a:srgbClr val="ED7660"/>
            </a:solidFill>
          </p:spPr>
          <p:txBody>
            <a:bodyPr wrap="square" lIns="0" tIns="0" rIns="0" bIns="0" rtlCol="0"/>
            <a:lstStyle/>
            <a:p>
              <a:endParaRPr b="1"/>
            </a:p>
          </p:txBody>
        </p:sp>
        <p:sp>
          <p:nvSpPr>
            <p:cNvPr id="27" name="object 27"/>
            <p:cNvSpPr/>
            <p:nvPr/>
          </p:nvSpPr>
          <p:spPr>
            <a:xfrm>
              <a:off x="6633971" y="3113532"/>
              <a:ext cx="611505" cy="370840"/>
            </a:xfrm>
            <a:custGeom>
              <a:avLst/>
              <a:gdLst/>
              <a:ahLst/>
              <a:cxnLst/>
              <a:rect l="l" t="t" r="r" b="b"/>
              <a:pathLst>
                <a:path w="611504" h="370839">
                  <a:moveTo>
                    <a:pt x="0" y="370332"/>
                  </a:moveTo>
                  <a:lnTo>
                    <a:pt x="611124" y="370332"/>
                  </a:lnTo>
                  <a:lnTo>
                    <a:pt x="611124" y="0"/>
                  </a:lnTo>
                  <a:lnTo>
                    <a:pt x="0" y="0"/>
                  </a:lnTo>
                  <a:lnTo>
                    <a:pt x="0" y="370332"/>
                  </a:lnTo>
                  <a:close/>
                </a:path>
              </a:pathLst>
            </a:custGeom>
            <a:ln w="12700">
              <a:solidFill>
                <a:srgbClr val="632D23"/>
              </a:solidFill>
            </a:ln>
          </p:spPr>
          <p:txBody>
            <a:bodyPr wrap="square" lIns="0" tIns="0" rIns="0" bIns="0" rtlCol="0"/>
            <a:lstStyle/>
            <a:p>
              <a:endParaRPr b="1"/>
            </a:p>
          </p:txBody>
        </p:sp>
      </p:grpSp>
      <p:sp>
        <p:nvSpPr>
          <p:cNvPr id="28" name="object 28"/>
          <p:cNvSpPr txBox="1"/>
          <p:nvPr/>
        </p:nvSpPr>
        <p:spPr>
          <a:xfrm>
            <a:off x="6803047" y="3473502"/>
            <a:ext cx="405130" cy="330200"/>
          </a:xfrm>
          <a:prstGeom prst="rect">
            <a:avLst/>
          </a:prstGeom>
        </p:spPr>
        <p:txBody>
          <a:bodyPr vert="horz" wrap="square" lIns="0" tIns="12065" rIns="0" bIns="0" rtlCol="0">
            <a:spAutoFit/>
          </a:bodyPr>
          <a:lstStyle/>
          <a:p>
            <a:pPr marL="128270" marR="5080" indent="-116205">
              <a:lnSpc>
                <a:spcPct val="100000"/>
              </a:lnSpc>
              <a:spcBef>
                <a:spcPts val="95"/>
              </a:spcBef>
            </a:pPr>
            <a:r>
              <a:rPr sz="1000" b="1" spc="5" dirty="0">
                <a:solidFill>
                  <a:srgbClr val="FFFFFF"/>
                </a:solidFill>
                <a:cs typeface="Tahoma"/>
              </a:rPr>
              <a:t>L</a:t>
            </a:r>
            <a:r>
              <a:rPr sz="1000" b="1" spc="20" dirty="0">
                <a:solidFill>
                  <a:srgbClr val="FFFFFF"/>
                </a:solidFill>
                <a:cs typeface="Tahoma"/>
              </a:rPr>
              <a:t>AYER  </a:t>
            </a:r>
            <a:r>
              <a:rPr sz="1000" b="1" spc="25" dirty="0">
                <a:solidFill>
                  <a:srgbClr val="FFFFFF"/>
                </a:solidFill>
                <a:cs typeface="Tahoma"/>
              </a:rPr>
              <a:t>24</a:t>
            </a:r>
            <a:endParaRPr sz="1000" b="1">
              <a:cs typeface="Tahoma"/>
            </a:endParaRPr>
          </a:p>
        </p:txBody>
      </p:sp>
      <p:grpSp>
        <p:nvGrpSpPr>
          <p:cNvPr id="29" name="object 29"/>
          <p:cNvGrpSpPr/>
          <p:nvPr/>
        </p:nvGrpSpPr>
        <p:grpSpPr>
          <a:xfrm>
            <a:off x="7584477" y="3452421"/>
            <a:ext cx="624205" cy="383540"/>
            <a:chOff x="7519161" y="3107182"/>
            <a:chExt cx="624205" cy="383540"/>
          </a:xfrm>
        </p:grpSpPr>
        <p:sp>
          <p:nvSpPr>
            <p:cNvPr id="30" name="object 30"/>
            <p:cNvSpPr/>
            <p:nvPr/>
          </p:nvSpPr>
          <p:spPr>
            <a:xfrm>
              <a:off x="7525511" y="3113532"/>
              <a:ext cx="611505" cy="370840"/>
            </a:xfrm>
            <a:custGeom>
              <a:avLst/>
              <a:gdLst/>
              <a:ahLst/>
              <a:cxnLst/>
              <a:rect l="l" t="t" r="r" b="b"/>
              <a:pathLst>
                <a:path w="611504" h="370839">
                  <a:moveTo>
                    <a:pt x="611124" y="0"/>
                  </a:moveTo>
                  <a:lnTo>
                    <a:pt x="0" y="0"/>
                  </a:lnTo>
                  <a:lnTo>
                    <a:pt x="0" y="370332"/>
                  </a:lnTo>
                  <a:lnTo>
                    <a:pt x="611124" y="370332"/>
                  </a:lnTo>
                  <a:lnTo>
                    <a:pt x="611124" y="0"/>
                  </a:lnTo>
                  <a:close/>
                </a:path>
              </a:pathLst>
            </a:custGeom>
            <a:solidFill>
              <a:srgbClr val="ED7660"/>
            </a:solidFill>
          </p:spPr>
          <p:txBody>
            <a:bodyPr wrap="square" lIns="0" tIns="0" rIns="0" bIns="0" rtlCol="0"/>
            <a:lstStyle/>
            <a:p>
              <a:endParaRPr b="1"/>
            </a:p>
          </p:txBody>
        </p:sp>
        <p:sp>
          <p:nvSpPr>
            <p:cNvPr id="31" name="object 31"/>
            <p:cNvSpPr/>
            <p:nvPr/>
          </p:nvSpPr>
          <p:spPr>
            <a:xfrm>
              <a:off x="7525511" y="3113532"/>
              <a:ext cx="611505" cy="370840"/>
            </a:xfrm>
            <a:custGeom>
              <a:avLst/>
              <a:gdLst/>
              <a:ahLst/>
              <a:cxnLst/>
              <a:rect l="l" t="t" r="r" b="b"/>
              <a:pathLst>
                <a:path w="611504" h="370839">
                  <a:moveTo>
                    <a:pt x="0" y="370332"/>
                  </a:moveTo>
                  <a:lnTo>
                    <a:pt x="611124" y="370332"/>
                  </a:lnTo>
                  <a:lnTo>
                    <a:pt x="611124" y="0"/>
                  </a:lnTo>
                  <a:lnTo>
                    <a:pt x="0" y="0"/>
                  </a:lnTo>
                  <a:lnTo>
                    <a:pt x="0" y="370332"/>
                  </a:lnTo>
                  <a:close/>
                </a:path>
              </a:pathLst>
            </a:custGeom>
            <a:ln w="12700">
              <a:solidFill>
                <a:srgbClr val="632D23"/>
              </a:solidFill>
            </a:ln>
          </p:spPr>
          <p:txBody>
            <a:bodyPr wrap="square" lIns="0" tIns="0" rIns="0" bIns="0" rtlCol="0"/>
            <a:lstStyle/>
            <a:p>
              <a:endParaRPr b="1"/>
            </a:p>
          </p:txBody>
        </p:sp>
      </p:grpSp>
      <p:sp>
        <p:nvSpPr>
          <p:cNvPr id="32" name="object 32"/>
          <p:cNvSpPr txBox="1"/>
          <p:nvPr/>
        </p:nvSpPr>
        <p:spPr>
          <a:xfrm>
            <a:off x="7695222" y="3473502"/>
            <a:ext cx="405130" cy="330200"/>
          </a:xfrm>
          <a:prstGeom prst="rect">
            <a:avLst/>
          </a:prstGeom>
        </p:spPr>
        <p:txBody>
          <a:bodyPr vert="horz" wrap="square" lIns="0" tIns="12065" rIns="0" bIns="0" rtlCol="0">
            <a:spAutoFit/>
          </a:bodyPr>
          <a:lstStyle/>
          <a:p>
            <a:pPr marL="128270" marR="5080" indent="-116205">
              <a:lnSpc>
                <a:spcPct val="100000"/>
              </a:lnSpc>
              <a:spcBef>
                <a:spcPts val="95"/>
              </a:spcBef>
            </a:pPr>
            <a:r>
              <a:rPr sz="1000" b="1" spc="5" dirty="0">
                <a:solidFill>
                  <a:srgbClr val="FFFFFF"/>
                </a:solidFill>
                <a:cs typeface="Tahoma"/>
              </a:rPr>
              <a:t>L</a:t>
            </a:r>
            <a:r>
              <a:rPr sz="1000" b="1" spc="20" dirty="0">
                <a:solidFill>
                  <a:srgbClr val="FFFFFF"/>
                </a:solidFill>
                <a:cs typeface="Tahoma"/>
              </a:rPr>
              <a:t>AYER  </a:t>
            </a:r>
            <a:r>
              <a:rPr sz="1000" b="1" spc="25" dirty="0">
                <a:solidFill>
                  <a:srgbClr val="FFFFFF"/>
                </a:solidFill>
                <a:cs typeface="Tahoma"/>
              </a:rPr>
              <a:t>25</a:t>
            </a:r>
            <a:endParaRPr sz="1000" b="1">
              <a:cs typeface="Tahoma"/>
            </a:endParaRPr>
          </a:p>
        </p:txBody>
      </p:sp>
      <p:grpSp>
        <p:nvGrpSpPr>
          <p:cNvPr id="33" name="object 33"/>
          <p:cNvGrpSpPr/>
          <p:nvPr/>
        </p:nvGrpSpPr>
        <p:grpSpPr>
          <a:xfrm>
            <a:off x="8476018" y="3452421"/>
            <a:ext cx="625475" cy="383540"/>
            <a:chOff x="8410702" y="3107182"/>
            <a:chExt cx="625475" cy="383540"/>
          </a:xfrm>
        </p:grpSpPr>
        <p:sp>
          <p:nvSpPr>
            <p:cNvPr id="34" name="object 34"/>
            <p:cNvSpPr/>
            <p:nvPr/>
          </p:nvSpPr>
          <p:spPr>
            <a:xfrm>
              <a:off x="8417052" y="3113532"/>
              <a:ext cx="612775" cy="370840"/>
            </a:xfrm>
            <a:custGeom>
              <a:avLst/>
              <a:gdLst/>
              <a:ahLst/>
              <a:cxnLst/>
              <a:rect l="l" t="t" r="r" b="b"/>
              <a:pathLst>
                <a:path w="612775" h="370839">
                  <a:moveTo>
                    <a:pt x="612648" y="0"/>
                  </a:moveTo>
                  <a:lnTo>
                    <a:pt x="0" y="0"/>
                  </a:lnTo>
                  <a:lnTo>
                    <a:pt x="0" y="370332"/>
                  </a:lnTo>
                  <a:lnTo>
                    <a:pt x="612648" y="370332"/>
                  </a:lnTo>
                  <a:lnTo>
                    <a:pt x="612648" y="0"/>
                  </a:lnTo>
                  <a:close/>
                </a:path>
              </a:pathLst>
            </a:custGeom>
            <a:solidFill>
              <a:srgbClr val="ED7660"/>
            </a:solidFill>
          </p:spPr>
          <p:txBody>
            <a:bodyPr wrap="square" lIns="0" tIns="0" rIns="0" bIns="0" rtlCol="0"/>
            <a:lstStyle/>
            <a:p>
              <a:endParaRPr b="1"/>
            </a:p>
          </p:txBody>
        </p:sp>
        <p:sp>
          <p:nvSpPr>
            <p:cNvPr id="35" name="object 35"/>
            <p:cNvSpPr/>
            <p:nvPr/>
          </p:nvSpPr>
          <p:spPr>
            <a:xfrm>
              <a:off x="8417052" y="3113532"/>
              <a:ext cx="612775" cy="370840"/>
            </a:xfrm>
            <a:custGeom>
              <a:avLst/>
              <a:gdLst/>
              <a:ahLst/>
              <a:cxnLst/>
              <a:rect l="l" t="t" r="r" b="b"/>
              <a:pathLst>
                <a:path w="612775" h="370839">
                  <a:moveTo>
                    <a:pt x="0" y="370332"/>
                  </a:moveTo>
                  <a:lnTo>
                    <a:pt x="612648" y="370332"/>
                  </a:lnTo>
                  <a:lnTo>
                    <a:pt x="612648" y="0"/>
                  </a:lnTo>
                  <a:lnTo>
                    <a:pt x="0" y="0"/>
                  </a:lnTo>
                  <a:lnTo>
                    <a:pt x="0" y="370332"/>
                  </a:lnTo>
                  <a:close/>
                </a:path>
              </a:pathLst>
            </a:custGeom>
            <a:ln w="12700">
              <a:solidFill>
                <a:srgbClr val="632D23"/>
              </a:solidFill>
            </a:ln>
          </p:spPr>
          <p:txBody>
            <a:bodyPr wrap="square" lIns="0" tIns="0" rIns="0" bIns="0" rtlCol="0"/>
            <a:lstStyle/>
            <a:p>
              <a:endParaRPr b="1"/>
            </a:p>
          </p:txBody>
        </p:sp>
      </p:grpSp>
      <p:sp>
        <p:nvSpPr>
          <p:cNvPr id="36" name="object 36"/>
          <p:cNvSpPr txBox="1"/>
          <p:nvPr/>
        </p:nvSpPr>
        <p:spPr>
          <a:xfrm>
            <a:off x="8587270" y="3473502"/>
            <a:ext cx="405130" cy="330200"/>
          </a:xfrm>
          <a:prstGeom prst="rect">
            <a:avLst/>
          </a:prstGeom>
        </p:spPr>
        <p:txBody>
          <a:bodyPr vert="horz" wrap="square" lIns="0" tIns="12065" rIns="0" bIns="0" rtlCol="0">
            <a:spAutoFit/>
          </a:bodyPr>
          <a:lstStyle/>
          <a:p>
            <a:pPr marL="128270" marR="5080" indent="-116205">
              <a:lnSpc>
                <a:spcPct val="100000"/>
              </a:lnSpc>
              <a:spcBef>
                <a:spcPts val="95"/>
              </a:spcBef>
            </a:pPr>
            <a:r>
              <a:rPr sz="1000" b="1" spc="5" dirty="0">
                <a:solidFill>
                  <a:srgbClr val="FFFFFF"/>
                </a:solidFill>
                <a:cs typeface="Tahoma"/>
              </a:rPr>
              <a:t>L</a:t>
            </a:r>
            <a:r>
              <a:rPr sz="1000" b="1" spc="20" dirty="0">
                <a:solidFill>
                  <a:srgbClr val="FFFFFF"/>
                </a:solidFill>
                <a:cs typeface="Tahoma"/>
              </a:rPr>
              <a:t>AYER  </a:t>
            </a:r>
            <a:r>
              <a:rPr sz="1000" b="1" spc="25" dirty="0">
                <a:solidFill>
                  <a:srgbClr val="FFFFFF"/>
                </a:solidFill>
                <a:cs typeface="Tahoma"/>
              </a:rPr>
              <a:t>32</a:t>
            </a:r>
            <a:endParaRPr sz="1000" b="1">
              <a:cs typeface="Tahoma"/>
            </a:endParaRPr>
          </a:p>
        </p:txBody>
      </p:sp>
      <p:grpSp>
        <p:nvGrpSpPr>
          <p:cNvPr id="37" name="object 37"/>
          <p:cNvGrpSpPr/>
          <p:nvPr/>
        </p:nvGrpSpPr>
        <p:grpSpPr>
          <a:xfrm>
            <a:off x="1958886" y="3452421"/>
            <a:ext cx="8715375" cy="383540"/>
            <a:chOff x="1893570" y="3107182"/>
            <a:chExt cx="8715375" cy="383540"/>
          </a:xfrm>
        </p:grpSpPr>
        <p:sp>
          <p:nvSpPr>
            <p:cNvPr id="38" name="object 38"/>
            <p:cNvSpPr/>
            <p:nvPr/>
          </p:nvSpPr>
          <p:spPr>
            <a:xfrm>
              <a:off x="1893570" y="3113531"/>
              <a:ext cx="8709025" cy="370840"/>
            </a:xfrm>
            <a:custGeom>
              <a:avLst/>
              <a:gdLst/>
              <a:ahLst/>
              <a:cxnLst/>
              <a:rect l="l" t="t" r="r" b="b"/>
              <a:pathLst>
                <a:path w="8709025" h="370839">
                  <a:moveTo>
                    <a:pt x="280543" y="186690"/>
                  </a:moveTo>
                  <a:lnTo>
                    <a:pt x="242443" y="167640"/>
                  </a:lnTo>
                  <a:lnTo>
                    <a:pt x="166243" y="129540"/>
                  </a:lnTo>
                  <a:lnTo>
                    <a:pt x="166243" y="167640"/>
                  </a:lnTo>
                  <a:lnTo>
                    <a:pt x="0" y="167640"/>
                  </a:lnTo>
                  <a:lnTo>
                    <a:pt x="0" y="205740"/>
                  </a:lnTo>
                  <a:lnTo>
                    <a:pt x="166243" y="205740"/>
                  </a:lnTo>
                  <a:lnTo>
                    <a:pt x="166243" y="243840"/>
                  </a:lnTo>
                  <a:lnTo>
                    <a:pt x="242443" y="205740"/>
                  </a:lnTo>
                  <a:lnTo>
                    <a:pt x="280543" y="186690"/>
                  </a:lnTo>
                  <a:close/>
                </a:path>
                <a:path w="8709025" h="370839">
                  <a:moveTo>
                    <a:pt x="1172083" y="186690"/>
                  </a:moveTo>
                  <a:lnTo>
                    <a:pt x="1133983" y="167640"/>
                  </a:lnTo>
                  <a:lnTo>
                    <a:pt x="1057783" y="129540"/>
                  </a:lnTo>
                  <a:lnTo>
                    <a:pt x="1057783" y="167640"/>
                  </a:lnTo>
                  <a:lnTo>
                    <a:pt x="891540" y="167640"/>
                  </a:lnTo>
                  <a:lnTo>
                    <a:pt x="891540" y="205740"/>
                  </a:lnTo>
                  <a:lnTo>
                    <a:pt x="1057783" y="205740"/>
                  </a:lnTo>
                  <a:lnTo>
                    <a:pt x="1057783" y="243840"/>
                  </a:lnTo>
                  <a:lnTo>
                    <a:pt x="1133983" y="205740"/>
                  </a:lnTo>
                  <a:lnTo>
                    <a:pt x="1172083" y="186690"/>
                  </a:lnTo>
                  <a:close/>
                </a:path>
                <a:path w="8709025" h="370839">
                  <a:moveTo>
                    <a:pt x="2065147" y="186690"/>
                  </a:moveTo>
                  <a:lnTo>
                    <a:pt x="2027047" y="167640"/>
                  </a:lnTo>
                  <a:lnTo>
                    <a:pt x="1950847" y="129540"/>
                  </a:lnTo>
                  <a:lnTo>
                    <a:pt x="1950847" y="167640"/>
                  </a:lnTo>
                  <a:lnTo>
                    <a:pt x="1784604" y="167640"/>
                  </a:lnTo>
                  <a:lnTo>
                    <a:pt x="1784604" y="205740"/>
                  </a:lnTo>
                  <a:lnTo>
                    <a:pt x="1950847" y="205740"/>
                  </a:lnTo>
                  <a:lnTo>
                    <a:pt x="1950847" y="243840"/>
                  </a:lnTo>
                  <a:lnTo>
                    <a:pt x="2027047" y="205740"/>
                  </a:lnTo>
                  <a:lnTo>
                    <a:pt x="2065147" y="186690"/>
                  </a:lnTo>
                  <a:close/>
                </a:path>
                <a:path w="8709025" h="370839">
                  <a:moveTo>
                    <a:pt x="2956687" y="186690"/>
                  </a:moveTo>
                  <a:lnTo>
                    <a:pt x="2918587" y="167640"/>
                  </a:lnTo>
                  <a:lnTo>
                    <a:pt x="2842387" y="129540"/>
                  </a:lnTo>
                  <a:lnTo>
                    <a:pt x="2842387" y="167640"/>
                  </a:lnTo>
                  <a:lnTo>
                    <a:pt x="2676144" y="167640"/>
                  </a:lnTo>
                  <a:lnTo>
                    <a:pt x="2676144" y="205740"/>
                  </a:lnTo>
                  <a:lnTo>
                    <a:pt x="2842387" y="205740"/>
                  </a:lnTo>
                  <a:lnTo>
                    <a:pt x="2842387" y="243840"/>
                  </a:lnTo>
                  <a:lnTo>
                    <a:pt x="2918587" y="205740"/>
                  </a:lnTo>
                  <a:lnTo>
                    <a:pt x="2956687" y="186690"/>
                  </a:lnTo>
                  <a:close/>
                </a:path>
                <a:path w="8709025" h="370839">
                  <a:moveTo>
                    <a:pt x="3848227" y="186690"/>
                  </a:moveTo>
                  <a:lnTo>
                    <a:pt x="3810127" y="167640"/>
                  </a:lnTo>
                  <a:lnTo>
                    <a:pt x="3733927" y="129540"/>
                  </a:lnTo>
                  <a:lnTo>
                    <a:pt x="3733927" y="167640"/>
                  </a:lnTo>
                  <a:lnTo>
                    <a:pt x="3567684" y="167640"/>
                  </a:lnTo>
                  <a:lnTo>
                    <a:pt x="3567684" y="205740"/>
                  </a:lnTo>
                  <a:lnTo>
                    <a:pt x="3733927" y="205740"/>
                  </a:lnTo>
                  <a:lnTo>
                    <a:pt x="3733927" y="243840"/>
                  </a:lnTo>
                  <a:lnTo>
                    <a:pt x="3810127" y="205740"/>
                  </a:lnTo>
                  <a:lnTo>
                    <a:pt x="3848227" y="186690"/>
                  </a:lnTo>
                  <a:close/>
                </a:path>
                <a:path w="8709025" h="370839">
                  <a:moveTo>
                    <a:pt x="4740275" y="186690"/>
                  </a:moveTo>
                  <a:lnTo>
                    <a:pt x="4702175" y="167640"/>
                  </a:lnTo>
                  <a:lnTo>
                    <a:pt x="4625975" y="129540"/>
                  </a:lnTo>
                  <a:lnTo>
                    <a:pt x="4625975" y="167640"/>
                  </a:lnTo>
                  <a:lnTo>
                    <a:pt x="4355592" y="167640"/>
                  </a:lnTo>
                  <a:lnTo>
                    <a:pt x="4355592" y="205740"/>
                  </a:lnTo>
                  <a:lnTo>
                    <a:pt x="4625975" y="205740"/>
                  </a:lnTo>
                  <a:lnTo>
                    <a:pt x="4625975" y="243840"/>
                  </a:lnTo>
                  <a:lnTo>
                    <a:pt x="4702175" y="205740"/>
                  </a:lnTo>
                  <a:lnTo>
                    <a:pt x="4740275" y="186690"/>
                  </a:lnTo>
                  <a:close/>
                </a:path>
                <a:path w="8709025" h="370839">
                  <a:moveTo>
                    <a:pt x="5632831" y="186690"/>
                  </a:moveTo>
                  <a:lnTo>
                    <a:pt x="5594731" y="167640"/>
                  </a:lnTo>
                  <a:lnTo>
                    <a:pt x="5518531" y="129540"/>
                  </a:lnTo>
                  <a:lnTo>
                    <a:pt x="5518531" y="167640"/>
                  </a:lnTo>
                  <a:lnTo>
                    <a:pt x="5352288" y="167640"/>
                  </a:lnTo>
                  <a:lnTo>
                    <a:pt x="5352288" y="205740"/>
                  </a:lnTo>
                  <a:lnTo>
                    <a:pt x="5518531" y="205740"/>
                  </a:lnTo>
                  <a:lnTo>
                    <a:pt x="5518531" y="243840"/>
                  </a:lnTo>
                  <a:lnTo>
                    <a:pt x="5594731" y="205740"/>
                  </a:lnTo>
                  <a:lnTo>
                    <a:pt x="5632831" y="186690"/>
                  </a:lnTo>
                  <a:close/>
                </a:path>
                <a:path w="8709025" h="370839">
                  <a:moveTo>
                    <a:pt x="6524371" y="186690"/>
                  </a:moveTo>
                  <a:lnTo>
                    <a:pt x="6486271" y="167640"/>
                  </a:lnTo>
                  <a:lnTo>
                    <a:pt x="6410071" y="129540"/>
                  </a:lnTo>
                  <a:lnTo>
                    <a:pt x="6410071" y="167640"/>
                  </a:lnTo>
                  <a:lnTo>
                    <a:pt x="6243828" y="167640"/>
                  </a:lnTo>
                  <a:lnTo>
                    <a:pt x="6243828" y="205740"/>
                  </a:lnTo>
                  <a:lnTo>
                    <a:pt x="6410071" y="205740"/>
                  </a:lnTo>
                  <a:lnTo>
                    <a:pt x="6410071" y="243840"/>
                  </a:lnTo>
                  <a:lnTo>
                    <a:pt x="6486271" y="205740"/>
                  </a:lnTo>
                  <a:lnTo>
                    <a:pt x="6524371" y="186690"/>
                  </a:lnTo>
                  <a:close/>
                </a:path>
                <a:path w="8709025" h="370839">
                  <a:moveTo>
                    <a:pt x="8708898" y="0"/>
                  </a:moveTo>
                  <a:lnTo>
                    <a:pt x="7416546" y="0"/>
                  </a:lnTo>
                  <a:lnTo>
                    <a:pt x="7416546" y="186245"/>
                  </a:lnTo>
                  <a:lnTo>
                    <a:pt x="7379335" y="167640"/>
                  </a:lnTo>
                  <a:lnTo>
                    <a:pt x="7303135" y="129540"/>
                  </a:lnTo>
                  <a:lnTo>
                    <a:pt x="7303135" y="167640"/>
                  </a:lnTo>
                  <a:lnTo>
                    <a:pt x="7136892" y="167640"/>
                  </a:lnTo>
                  <a:lnTo>
                    <a:pt x="7136892" y="205740"/>
                  </a:lnTo>
                  <a:lnTo>
                    <a:pt x="7303135" y="205740"/>
                  </a:lnTo>
                  <a:lnTo>
                    <a:pt x="7303135" y="243840"/>
                  </a:lnTo>
                  <a:lnTo>
                    <a:pt x="7379335" y="205740"/>
                  </a:lnTo>
                  <a:lnTo>
                    <a:pt x="7416546" y="187134"/>
                  </a:lnTo>
                  <a:lnTo>
                    <a:pt x="7416546" y="370332"/>
                  </a:lnTo>
                  <a:lnTo>
                    <a:pt x="8708898" y="370332"/>
                  </a:lnTo>
                  <a:lnTo>
                    <a:pt x="8708898" y="0"/>
                  </a:lnTo>
                  <a:close/>
                </a:path>
              </a:pathLst>
            </a:custGeom>
            <a:solidFill>
              <a:srgbClr val="ED7660"/>
            </a:solidFill>
          </p:spPr>
          <p:txBody>
            <a:bodyPr wrap="square" lIns="0" tIns="0" rIns="0" bIns="0" rtlCol="0"/>
            <a:lstStyle/>
            <a:p>
              <a:endParaRPr b="1"/>
            </a:p>
          </p:txBody>
        </p:sp>
        <p:sp>
          <p:nvSpPr>
            <p:cNvPr id="39" name="object 39"/>
            <p:cNvSpPr/>
            <p:nvPr/>
          </p:nvSpPr>
          <p:spPr>
            <a:xfrm>
              <a:off x="9310115" y="3113532"/>
              <a:ext cx="1292860" cy="370840"/>
            </a:xfrm>
            <a:custGeom>
              <a:avLst/>
              <a:gdLst/>
              <a:ahLst/>
              <a:cxnLst/>
              <a:rect l="l" t="t" r="r" b="b"/>
              <a:pathLst>
                <a:path w="1292859" h="370839">
                  <a:moveTo>
                    <a:pt x="0" y="370332"/>
                  </a:moveTo>
                  <a:lnTo>
                    <a:pt x="1292352" y="370332"/>
                  </a:lnTo>
                  <a:lnTo>
                    <a:pt x="1292352" y="0"/>
                  </a:lnTo>
                  <a:lnTo>
                    <a:pt x="0" y="0"/>
                  </a:lnTo>
                  <a:lnTo>
                    <a:pt x="0" y="370332"/>
                  </a:lnTo>
                  <a:close/>
                </a:path>
              </a:pathLst>
            </a:custGeom>
            <a:ln w="12700">
              <a:solidFill>
                <a:srgbClr val="632D23"/>
              </a:solidFill>
            </a:ln>
          </p:spPr>
          <p:txBody>
            <a:bodyPr wrap="square" lIns="0" tIns="0" rIns="0" bIns="0" rtlCol="0"/>
            <a:lstStyle/>
            <a:p>
              <a:endParaRPr b="1"/>
            </a:p>
          </p:txBody>
        </p:sp>
      </p:grpSp>
      <p:sp>
        <p:nvSpPr>
          <p:cNvPr id="40" name="object 40"/>
          <p:cNvSpPr txBox="1"/>
          <p:nvPr/>
        </p:nvSpPr>
        <p:spPr>
          <a:xfrm>
            <a:off x="9600730" y="3473502"/>
            <a:ext cx="844550" cy="330200"/>
          </a:xfrm>
          <a:prstGeom prst="rect">
            <a:avLst/>
          </a:prstGeom>
        </p:spPr>
        <p:txBody>
          <a:bodyPr vert="horz" wrap="square" lIns="0" tIns="12065" rIns="0" bIns="0" rtlCol="0">
            <a:spAutoFit/>
          </a:bodyPr>
          <a:lstStyle/>
          <a:p>
            <a:pPr marL="189230" marR="5080" indent="-177165">
              <a:lnSpc>
                <a:spcPct val="100000"/>
              </a:lnSpc>
              <a:spcBef>
                <a:spcPts val="95"/>
              </a:spcBef>
            </a:pPr>
            <a:r>
              <a:rPr sz="1000" b="1" spc="10" dirty="0">
                <a:solidFill>
                  <a:srgbClr val="FFFFFF"/>
                </a:solidFill>
                <a:cs typeface="Tahoma"/>
              </a:rPr>
              <a:t>Linear</a:t>
            </a:r>
            <a:r>
              <a:rPr sz="1000" b="1" spc="-75" dirty="0">
                <a:solidFill>
                  <a:srgbClr val="FFFFFF"/>
                </a:solidFill>
                <a:cs typeface="Tahoma"/>
              </a:rPr>
              <a:t> </a:t>
            </a:r>
            <a:r>
              <a:rPr sz="1000" b="1" dirty="0">
                <a:solidFill>
                  <a:srgbClr val="FFFFFF"/>
                </a:solidFill>
                <a:cs typeface="Tahoma"/>
              </a:rPr>
              <a:t>Layer</a:t>
            </a:r>
            <a:r>
              <a:rPr sz="1000" b="1" spc="-55" dirty="0">
                <a:solidFill>
                  <a:srgbClr val="FFFFFF"/>
                </a:solidFill>
                <a:cs typeface="Tahoma"/>
              </a:rPr>
              <a:t> </a:t>
            </a:r>
            <a:r>
              <a:rPr sz="1000" b="1" spc="-65" dirty="0">
                <a:solidFill>
                  <a:srgbClr val="FFFFFF"/>
                </a:solidFill>
                <a:cs typeface="Tahoma"/>
              </a:rPr>
              <a:t>+ </a:t>
            </a:r>
            <a:r>
              <a:rPr sz="1000" b="1" spc="-295" dirty="0">
                <a:solidFill>
                  <a:srgbClr val="FFFFFF"/>
                </a:solidFill>
                <a:cs typeface="Tahoma"/>
              </a:rPr>
              <a:t> </a:t>
            </a:r>
            <a:r>
              <a:rPr sz="1000" b="1" spc="5" dirty="0">
                <a:solidFill>
                  <a:srgbClr val="FFFFFF"/>
                </a:solidFill>
                <a:cs typeface="Tahoma"/>
              </a:rPr>
              <a:t>Softmax</a:t>
            </a:r>
            <a:endParaRPr sz="1000" b="1">
              <a:cs typeface="Tahoma"/>
            </a:endParaRPr>
          </a:p>
        </p:txBody>
      </p:sp>
      <p:sp>
        <p:nvSpPr>
          <p:cNvPr id="41" name="object 41"/>
          <p:cNvSpPr/>
          <p:nvPr/>
        </p:nvSpPr>
        <p:spPr>
          <a:xfrm>
            <a:off x="974382" y="3924353"/>
            <a:ext cx="2769235" cy="361315"/>
          </a:xfrm>
          <a:custGeom>
            <a:avLst/>
            <a:gdLst/>
            <a:ahLst/>
            <a:cxnLst/>
            <a:rect l="l" t="t" r="r" b="b"/>
            <a:pathLst>
              <a:path w="2769235" h="361314">
                <a:moveTo>
                  <a:pt x="2769108" y="0"/>
                </a:moveTo>
                <a:lnTo>
                  <a:pt x="2766744" y="70276"/>
                </a:lnTo>
                <a:lnTo>
                  <a:pt x="2760297" y="127682"/>
                </a:lnTo>
                <a:lnTo>
                  <a:pt x="2750730" y="166395"/>
                </a:lnTo>
                <a:lnTo>
                  <a:pt x="2739009" y="180594"/>
                </a:lnTo>
                <a:lnTo>
                  <a:pt x="1414653" y="180594"/>
                </a:lnTo>
                <a:lnTo>
                  <a:pt x="1402931" y="194792"/>
                </a:lnTo>
                <a:lnTo>
                  <a:pt x="1393364" y="233505"/>
                </a:lnTo>
                <a:lnTo>
                  <a:pt x="1386917" y="290911"/>
                </a:lnTo>
                <a:lnTo>
                  <a:pt x="1384554" y="361188"/>
                </a:lnTo>
                <a:lnTo>
                  <a:pt x="1382190" y="290911"/>
                </a:lnTo>
                <a:lnTo>
                  <a:pt x="1375743" y="233505"/>
                </a:lnTo>
                <a:lnTo>
                  <a:pt x="1366176" y="194792"/>
                </a:lnTo>
                <a:lnTo>
                  <a:pt x="1354455" y="180594"/>
                </a:lnTo>
                <a:lnTo>
                  <a:pt x="30099" y="180594"/>
                </a:lnTo>
                <a:lnTo>
                  <a:pt x="18382" y="166395"/>
                </a:lnTo>
                <a:lnTo>
                  <a:pt x="8815" y="127682"/>
                </a:lnTo>
                <a:lnTo>
                  <a:pt x="2365" y="70276"/>
                </a:lnTo>
                <a:lnTo>
                  <a:pt x="0" y="0"/>
                </a:lnTo>
              </a:path>
            </a:pathLst>
          </a:custGeom>
          <a:ln w="38100">
            <a:solidFill>
              <a:srgbClr val="ED7660"/>
            </a:solidFill>
          </a:ln>
        </p:spPr>
        <p:txBody>
          <a:bodyPr wrap="square" lIns="0" tIns="0" rIns="0" bIns="0" rtlCol="0"/>
          <a:lstStyle/>
          <a:p>
            <a:endParaRPr b="1"/>
          </a:p>
        </p:txBody>
      </p:sp>
      <p:sp>
        <p:nvSpPr>
          <p:cNvPr id="42" name="object 42"/>
          <p:cNvSpPr txBox="1"/>
          <p:nvPr/>
        </p:nvSpPr>
        <p:spPr>
          <a:xfrm>
            <a:off x="1869858" y="4402254"/>
            <a:ext cx="976630" cy="515620"/>
          </a:xfrm>
          <a:prstGeom prst="rect">
            <a:avLst/>
          </a:prstGeom>
        </p:spPr>
        <p:txBody>
          <a:bodyPr vert="horz" wrap="square" lIns="0" tIns="12700" rIns="0" bIns="0" rtlCol="0">
            <a:spAutoFit/>
          </a:bodyPr>
          <a:lstStyle/>
          <a:p>
            <a:pPr algn="ctr">
              <a:lnSpc>
                <a:spcPct val="100000"/>
              </a:lnSpc>
              <a:spcBef>
                <a:spcPts val="100"/>
              </a:spcBef>
            </a:pPr>
            <a:r>
              <a:rPr sz="1800" b="1" spc="114" dirty="0">
                <a:cs typeface="Tahoma"/>
              </a:rPr>
              <a:t>GPU</a:t>
            </a:r>
            <a:r>
              <a:rPr sz="1800" b="1" spc="-114" dirty="0">
                <a:cs typeface="Tahoma"/>
              </a:rPr>
              <a:t> </a:t>
            </a:r>
            <a:r>
              <a:rPr sz="1800" b="1" spc="60" dirty="0">
                <a:cs typeface="Tahoma"/>
              </a:rPr>
              <a:t>1</a:t>
            </a:r>
            <a:endParaRPr sz="1800" b="1">
              <a:cs typeface="Tahoma"/>
            </a:endParaRPr>
          </a:p>
          <a:p>
            <a:pPr algn="ctr">
              <a:lnSpc>
                <a:spcPct val="100000"/>
              </a:lnSpc>
              <a:spcBef>
                <a:spcPts val="15"/>
              </a:spcBef>
            </a:pPr>
            <a:r>
              <a:rPr sz="1400" b="1" spc="15" dirty="0">
                <a:cs typeface="Tahoma"/>
              </a:rPr>
              <a:t>Layer</a:t>
            </a:r>
            <a:r>
              <a:rPr sz="1400" b="1" spc="-95" dirty="0">
                <a:cs typeface="Tahoma"/>
              </a:rPr>
              <a:t> </a:t>
            </a:r>
            <a:r>
              <a:rPr sz="1400" b="1" spc="50" dirty="0">
                <a:cs typeface="Tahoma"/>
              </a:rPr>
              <a:t>1</a:t>
            </a:r>
            <a:r>
              <a:rPr sz="1400" b="1" spc="-90" dirty="0">
                <a:cs typeface="Tahoma"/>
              </a:rPr>
              <a:t> </a:t>
            </a:r>
            <a:r>
              <a:rPr sz="1400" b="1" spc="254" dirty="0">
                <a:cs typeface="Tahoma"/>
              </a:rPr>
              <a:t>…</a:t>
            </a:r>
            <a:r>
              <a:rPr sz="1400" b="1" spc="-140" dirty="0">
                <a:cs typeface="Tahoma"/>
              </a:rPr>
              <a:t> </a:t>
            </a:r>
            <a:r>
              <a:rPr sz="1400" b="1" spc="50" dirty="0">
                <a:cs typeface="Tahoma"/>
              </a:rPr>
              <a:t>8</a:t>
            </a:r>
            <a:endParaRPr sz="1400" b="1">
              <a:cs typeface="Tahoma"/>
            </a:endParaRPr>
          </a:p>
        </p:txBody>
      </p:sp>
      <p:sp>
        <p:nvSpPr>
          <p:cNvPr id="43" name="object 43"/>
          <p:cNvSpPr/>
          <p:nvPr/>
        </p:nvSpPr>
        <p:spPr>
          <a:xfrm>
            <a:off x="4023906" y="3924353"/>
            <a:ext cx="1503045" cy="361315"/>
          </a:xfrm>
          <a:custGeom>
            <a:avLst/>
            <a:gdLst/>
            <a:ahLst/>
            <a:cxnLst/>
            <a:rect l="l" t="t" r="r" b="b"/>
            <a:pathLst>
              <a:path w="1503045" h="361314">
                <a:moveTo>
                  <a:pt x="1502664" y="0"/>
                </a:moveTo>
                <a:lnTo>
                  <a:pt x="1500300" y="70276"/>
                </a:lnTo>
                <a:lnTo>
                  <a:pt x="1493853" y="127682"/>
                </a:lnTo>
                <a:lnTo>
                  <a:pt x="1484286" y="166395"/>
                </a:lnTo>
                <a:lnTo>
                  <a:pt x="1472564" y="180594"/>
                </a:lnTo>
                <a:lnTo>
                  <a:pt x="781431" y="180594"/>
                </a:lnTo>
                <a:lnTo>
                  <a:pt x="769709" y="194792"/>
                </a:lnTo>
                <a:lnTo>
                  <a:pt x="760142" y="233505"/>
                </a:lnTo>
                <a:lnTo>
                  <a:pt x="753695" y="290911"/>
                </a:lnTo>
                <a:lnTo>
                  <a:pt x="751332" y="361188"/>
                </a:lnTo>
                <a:lnTo>
                  <a:pt x="748968" y="290911"/>
                </a:lnTo>
                <a:lnTo>
                  <a:pt x="742521" y="233505"/>
                </a:lnTo>
                <a:lnTo>
                  <a:pt x="732954" y="194792"/>
                </a:lnTo>
                <a:lnTo>
                  <a:pt x="721233" y="180594"/>
                </a:lnTo>
                <a:lnTo>
                  <a:pt x="30099" y="180594"/>
                </a:lnTo>
                <a:lnTo>
                  <a:pt x="18377" y="166395"/>
                </a:lnTo>
                <a:lnTo>
                  <a:pt x="8810" y="127682"/>
                </a:lnTo>
                <a:lnTo>
                  <a:pt x="2363" y="70276"/>
                </a:lnTo>
                <a:lnTo>
                  <a:pt x="0" y="0"/>
                </a:lnTo>
              </a:path>
            </a:pathLst>
          </a:custGeom>
          <a:ln w="38099">
            <a:solidFill>
              <a:srgbClr val="ED7660"/>
            </a:solidFill>
          </a:ln>
        </p:spPr>
        <p:txBody>
          <a:bodyPr wrap="square" lIns="0" tIns="0" rIns="0" bIns="0" rtlCol="0"/>
          <a:lstStyle/>
          <a:p>
            <a:endParaRPr b="1"/>
          </a:p>
        </p:txBody>
      </p:sp>
      <p:sp>
        <p:nvSpPr>
          <p:cNvPr id="44" name="object 44"/>
          <p:cNvSpPr txBox="1"/>
          <p:nvPr/>
        </p:nvSpPr>
        <p:spPr>
          <a:xfrm>
            <a:off x="4234218" y="4402254"/>
            <a:ext cx="1080135" cy="515620"/>
          </a:xfrm>
          <a:prstGeom prst="rect">
            <a:avLst/>
          </a:prstGeom>
        </p:spPr>
        <p:txBody>
          <a:bodyPr vert="horz" wrap="square" lIns="0" tIns="12700" rIns="0" bIns="0" rtlCol="0">
            <a:spAutoFit/>
          </a:bodyPr>
          <a:lstStyle/>
          <a:p>
            <a:pPr marL="1270" algn="ctr">
              <a:lnSpc>
                <a:spcPct val="100000"/>
              </a:lnSpc>
              <a:spcBef>
                <a:spcPts val="100"/>
              </a:spcBef>
            </a:pPr>
            <a:r>
              <a:rPr sz="1800" b="1" spc="114" dirty="0">
                <a:cs typeface="Tahoma"/>
              </a:rPr>
              <a:t>GPU</a:t>
            </a:r>
            <a:r>
              <a:rPr sz="1800" b="1" spc="-114" dirty="0">
                <a:cs typeface="Tahoma"/>
              </a:rPr>
              <a:t> </a:t>
            </a:r>
            <a:r>
              <a:rPr sz="1800" b="1" spc="60" dirty="0">
                <a:cs typeface="Tahoma"/>
              </a:rPr>
              <a:t>2</a:t>
            </a:r>
            <a:endParaRPr sz="1800" b="1">
              <a:cs typeface="Tahoma"/>
            </a:endParaRPr>
          </a:p>
          <a:p>
            <a:pPr algn="ctr">
              <a:lnSpc>
                <a:spcPct val="100000"/>
              </a:lnSpc>
              <a:spcBef>
                <a:spcPts val="15"/>
              </a:spcBef>
            </a:pPr>
            <a:r>
              <a:rPr sz="1400" b="1" spc="15" dirty="0">
                <a:cs typeface="Tahoma"/>
              </a:rPr>
              <a:t>Layer</a:t>
            </a:r>
            <a:r>
              <a:rPr sz="1400" b="1" spc="-95" dirty="0">
                <a:cs typeface="Tahoma"/>
              </a:rPr>
              <a:t> </a:t>
            </a:r>
            <a:r>
              <a:rPr sz="1400" b="1" spc="50" dirty="0">
                <a:cs typeface="Tahoma"/>
              </a:rPr>
              <a:t>9</a:t>
            </a:r>
            <a:r>
              <a:rPr sz="1400" b="1" spc="-90" dirty="0">
                <a:cs typeface="Tahoma"/>
              </a:rPr>
              <a:t> </a:t>
            </a:r>
            <a:r>
              <a:rPr sz="1400" b="1" spc="254" dirty="0">
                <a:cs typeface="Tahoma"/>
              </a:rPr>
              <a:t>…</a:t>
            </a:r>
            <a:r>
              <a:rPr sz="1400" b="1" spc="-140" dirty="0">
                <a:cs typeface="Tahoma"/>
              </a:rPr>
              <a:t> </a:t>
            </a:r>
            <a:r>
              <a:rPr sz="1400" b="1" spc="45" dirty="0">
                <a:cs typeface="Tahoma"/>
              </a:rPr>
              <a:t>16</a:t>
            </a:r>
            <a:endParaRPr sz="1400" b="1">
              <a:cs typeface="Tahoma"/>
            </a:endParaRPr>
          </a:p>
        </p:txBody>
      </p:sp>
      <p:sp>
        <p:nvSpPr>
          <p:cNvPr id="45" name="object 45"/>
          <p:cNvSpPr/>
          <p:nvPr/>
        </p:nvSpPr>
        <p:spPr>
          <a:xfrm>
            <a:off x="5806986" y="3924353"/>
            <a:ext cx="1504315" cy="361315"/>
          </a:xfrm>
          <a:custGeom>
            <a:avLst/>
            <a:gdLst/>
            <a:ahLst/>
            <a:cxnLst/>
            <a:rect l="l" t="t" r="r" b="b"/>
            <a:pathLst>
              <a:path w="1504315" h="361314">
                <a:moveTo>
                  <a:pt x="1504187" y="0"/>
                </a:moveTo>
                <a:lnTo>
                  <a:pt x="1501824" y="70276"/>
                </a:lnTo>
                <a:lnTo>
                  <a:pt x="1495377" y="127682"/>
                </a:lnTo>
                <a:lnTo>
                  <a:pt x="1485810" y="166395"/>
                </a:lnTo>
                <a:lnTo>
                  <a:pt x="1474088" y="180594"/>
                </a:lnTo>
                <a:lnTo>
                  <a:pt x="782193" y="180594"/>
                </a:lnTo>
                <a:lnTo>
                  <a:pt x="770471" y="194792"/>
                </a:lnTo>
                <a:lnTo>
                  <a:pt x="760904" y="233505"/>
                </a:lnTo>
                <a:lnTo>
                  <a:pt x="754457" y="290911"/>
                </a:lnTo>
                <a:lnTo>
                  <a:pt x="752093" y="361188"/>
                </a:lnTo>
                <a:lnTo>
                  <a:pt x="749730" y="290911"/>
                </a:lnTo>
                <a:lnTo>
                  <a:pt x="743283" y="233505"/>
                </a:lnTo>
                <a:lnTo>
                  <a:pt x="733716" y="194792"/>
                </a:lnTo>
                <a:lnTo>
                  <a:pt x="721994" y="180594"/>
                </a:lnTo>
                <a:lnTo>
                  <a:pt x="30099" y="180594"/>
                </a:lnTo>
                <a:lnTo>
                  <a:pt x="18377" y="166395"/>
                </a:lnTo>
                <a:lnTo>
                  <a:pt x="8810" y="127682"/>
                </a:lnTo>
                <a:lnTo>
                  <a:pt x="2363" y="70276"/>
                </a:lnTo>
                <a:lnTo>
                  <a:pt x="0" y="0"/>
                </a:lnTo>
              </a:path>
            </a:pathLst>
          </a:custGeom>
          <a:ln w="38100">
            <a:solidFill>
              <a:srgbClr val="ED7660"/>
            </a:solidFill>
          </a:ln>
        </p:spPr>
        <p:txBody>
          <a:bodyPr wrap="square" lIns="0" tIns="0" rIns="0" bIns="0" rtlCol="0"/>
          <a:lstStyle/>
          <a:p>
            <a:endParaRPr b="1"/>
          </a:p>
        </p:txBody>
      </p:sp>
      <p:sp>
        <p:nvSpPr>
          <p:cNvPr id="46" name="object 46"/>
          <p:cNvSpPr txBox="1"/>
          <p:nvPr/>
        </p:nvSpPr>
        <p:spPr>
          <a:xfrm>
            <a:off x="5897410" y="4404031"/>
            <a:ext cx="1184275" cy="515620"/>
          </a:xfrm>
          <a:prstGeom prst="rect">
            <a:avLst/>
          </a:prstGeom>
        </p:spPr>
        <p:txBody>
          <a:bodyPr vert="horz" wrap="square" lIns="0" tIns="12700" rIns="0" bIns="0" rtlCol="0">
            <a:spAutoFit/>
          </a:bodyPr>
          <a:lstStyle/>
          <a:p>
            <a:pPr marL="1270" algn="ctr">
              <a:lnSpc>
                <a:spcPct val="100000"/>
              </a:lnSpc>
              <a:spcBef>
                <a:spcPts val="100"/>
              </a:spcBef>
            </a:pPr>
            <a:r>
              <a:rPr sz="1800" b="1" spc="114" dirty="0">
                <a:cs typeface="Tahoma"/>
              </a:rPr>
              <a:t>GPU</a:t>
            </a:r>
            <a:r>
              <a:rPr sz="1800" b="1" spc="-114" dirty="0">
                <a:cs typeface="Tahoma"/>
              </a:rPr>
              <a:t> </a:t>
            </a:r>
            <a:r>
              <a:rPr sz="1800" b="1" spc="60" dirty="0">
                <a:cs typeface="Tahoma"/>
              </a:rPr>
              <a:t>3</a:t>
            </a:r>
            <a:endParaRPr sz="1800" b="1">
              <a:cs typeface="Tahoma"/>
            </a:endParaRPr>
          </a:p>
          <a:p>
            <a:pPr algn="ctr">
              <a:lnSpc>
                <a:spcPct val="100000"/>
              </a:lnSpc>
              <a:spcBef>
                <a:spcPts val="15"/>
              </a:spcBef>
            </a:pPr>
            <a:r>
              <a:rPr sz="1400" b="1" spc="15" dirty="0">
                <a:cs typeface="Tahoma"/>
              </a:rPr>
              <a:t>Layer</a:t>
            </a:r>
            <a:r>
              <a:rPr sz="1400" b="1" spc="-95" dirty="0">
                <a:cs typeface="Tahoma"/>
              </a:rPr>
              <a:t> </a:t>
            </a:r>
            <a:r>
              <a:rPr sz="1400" b="1" spc="45" dirty="0">
                <a:cs typeface="Tahoma"/>
              </a:rPr>
              <a:t>1</a:t>
            </a:r>
            <a:r>
              <a:rPr sz="1400" b="1" spc="50" dirty="0">
                <a:cs typeface="Tahoma"/>
              </a:rPr>
              <a:t>7</a:t>
            </a:r>
            <a:r>
              <a:rPr sz="1400" b="1" spc="-100" dirty="0">
                <a:cs typeface="Tahoma"/>
              </a:rPr>
              <a:t> </a:t>
            </a:r>
            <a:r>
              <a:rPr sz="1400" b="1" spc="254" dirty="0">
                <a:cs typeface="Tahoma"/>
              </a:rPr>
              <a:t>…</a:t>
            </a:r>
            <a:r>
              <a:rPr sz="1400" b="1" spc="-125" dirty="0">
                <a:cs typeface="Tahoma"/>
              </a:rPr>
              <a:t> </a:t>
            </a:r>
            <a:r>
              <a:rPr sz="1400" b="1" spc="45" dirty="0">
                <a:cs typeface="Tahoma"/>
              </a:rPr>
              <a:t>24</a:t>
            </a:r>
            <a:endParaRPr sz="1400" b="1">
              <a:cs typeface="Tahoma"/>
            </a:endParaRPr>
          </a:p>
        </p:txBody>
      </p:sp>
      <p:sp>
        <p:nvSpPr>
          <p:cNvPr id="47" name="object 47"/>
          <p:cNvSpPr/>
          <p:nvPr/>
        </p:nvSpPr>
        <p:spPr>
          <a:xfrm>
            <a:off x="7591589" y="3924353"/>
            <a:ext cx="3077210" cy="361315"/>
          </a:xfrm>
          <a:custGeom>
            <a:avLst/>
            <a:gdLst/>
            <a:ahLst/>
            <a:cxnLst/>
            <a:rect l="l" t="t" r="r" b="b"/>
            <a:pathLst>
              <a:path w="3077209" h="361314">
                <a:moveTo>
                  <a:pt x="3076955" y="0"/>
                </a:moveTo>
                <a:lnTo>
                  <a:pt x="3074592" y="70276"/>
                </a:lnTo>
                <a:lnTo>
                  <a:pt x="3068145" y="127682"/>
                </a:lnTo>
                <a:lnTo>
                  <a:pt x="3058578" y="166395"/>
                </a:lnTo>
                <a:lnTo>
                  <a:pt x="3046856" y="180594"/>
                </a:lnTo>
                <a:lnTo>
                  <a:pt x="1568577" y="180594"/>
                </a:lnTo>
                <a:lnTo>
                  <a:pt x="1556855" y="194792"/>
                </a:lnTo>
                <a:lnTo>
                  <a:pt x="1547288" y="233505"/>
                </a:lnTo>
                <a:lnTo>
                  <a:pt x="1540841" y="290911"/>
                </a:lnTo>
                <a:lnTo>
                  <a:pt x="1538477" y="361188"/>
                </a:lnTo>
                <a:lnTo>
                  <a:pt x="1536114" y="290911"/>
                </a:lnTo>
                <a:lnTo>
                  <a:pt x="1529667" y="233505"/>
                </a:lnTo>
                <a:lnTo>
                  <a:pt x="1520100" y="194792"/>
                </a:lnTo>
                <a:lnTo>
                  <a:pt x="1508378" y="180594"/>
                </a:lnTo>
                <a:lnTo>
                  <a:pt x="30099" y="180594"/>
                </a:lnTo>
                <a:lnTo>
                  <a:pt x="18377" y="166395"/>
                </a:lnTo>
                <a:lnTo>
                  <a:pt x="8810" y="127682"/>
                </a:lnTo>
                <a:lnTo>
                  <a:pt x="2363" y="70276"/>
                </a:lnTo>
                <a:lnTo>
                  <a:pt x="0" y="0"/>
                </a:lnTo>
              </a:path>
            </a:pathLst>
          </a:custGeom>
          <a:ln w="38100">
            <a:solidFill>
              <a:srgbClr val="ED7660"/>
            </a:solidFill>
          </a:ln>
        </p:spPr>
        <p:txBody>
          <a:bodyPr wrap="square" lIns="0" tIns="0" rIns="0" bIns="0" rtlCol="0"/>
          <a:lstStyle/>
          <a:p>
            <a:endParaRPr b="1"/>
          </a:p>
        </p:txBody>
      </p:sp>
      <p:sp>
        <p:nvSpPr>
          <p:cNvPr id="48" name="object 48"/>
          <p:cNvSpPr txBox="1"/>
          <p:nvPr/>
        </p:nvSpPr>
        <p:spPr>
          <a:xfrm>
            <a:off x="8538247" y="4402254"/>
            <a:ext cx="1184275" cy="515620"/>
          </a:xfrm>
          <a:prstGeom prst="rect">
            <a:avLst/>
          </a:prstGeom>
        </p:spPr>
        <p:txBody>
          <a:bodyPr vert="horz" wrap="square" lIns="0" tIns="12700" rIns="0" bIns="0" rtlCol="0">
            <a:spAutoFit/>
          </a:bodyPr>
          <a:lstStyle/>
          <a:p>
            <a:pPr marL="1270" algn="ctr">
              <a:lnSpc>
                <a:spcPct val="100000"/>
              </a:lnSpc>
              <a:spcBef>
                <a:spcPts val="100"/>
              </a:spcBef>
            </a:pPr>
            <a:r>
              <a:rPr sz="1800" b="1" spc="114" dirty="0">
                <a:cs typeface="Tahoma"/>
              </a:rPr>
              <a:t>GPU</a:t>
            </a:r>
            <a:r>
              <a:rPr sz="1800" b="1" spc="-114" dirty="0">
                <a:cs typeface="Tahoma"/>
              </a:rPr>
              <a:t> </a:t>
            </a:r>
            <a:r>
              <a:rPr sz="1800" b="1" spc="60" dirty="0">
                <a:cs typeface="Tahoma"/>
              </a:rPr>
              <a:t>4</a:t>
            </a:r>
            <a:endParaRPr sz="1800" b="1">
              <a:cs typeface="Tahoma"/>
            </a:endParaRPr>
          </a:p>
          <a:p>
            <a:pPr algn="ctr">
              <a:lnSpc>
                <a:spcPct val="100000"/>
              </a:lnSpc>
              <a:spcBef>
                <a:spcPts val="15"/>
              </a:spcBef>
            </a:pPr>
            <a:r>
              <a:rPr sz="1400" b="1" spc="15" dirty="0">
                <a:cs typeface="Tahoma"/>
              </a:rPr>
              <a:t>Layer</a:t>
            </a:r>
            <a:r>
              <a:rPr sz="1400" b="1" spc="-95" dirty="0">
                <a:cs typeface="Tahoma"/>
              </a:rPr>
              <a:t> </a:t>
            </a:r>
            <a:r>
              <a:rPr sz="1400" b="1" spc="45" dirty="0">
                <a:cs typeface="Tahoma"/>
              </a:rPr>
              <a:t>2</a:t>
            </a:r>
            <a:r>
              <a:rPr sz="1400" b="1" spc="50" dirty="0">
                <a:cs typeface="Tahoma"/>
              </a:rPr>
              <a:t>5</a:t>
            </a:r>
            <a:r>
              <a:rPr sz="1400" b="1" spc="-100" dirty="0">
                <a:cs typeface="Tahoma"/>
              </a:rPr>
              <a:t> </a:t>
            </a:r>
            <a:r>
              <a:rPr sz="1400" b="1" spc="254" dirty="0">
                <a:cs typeface="Tahoma"/>
              </a:rPr>
              <a:t>…</a:t>
            </a:r>
            <a:r>
              <a:rPr sz="1400" b="1" spc="-125" dirty="0">
                <a:cs typeface="Tahoma"/>
              </a:rPr>
              <a:t> </a:t>
            </a:r>
            <a:r>
              <a:rPr sz="1400" b="1" spc="45" dirty="0">
                <a:cs typeface="Tahoma"/>
              </a:rPr>
              <a:t>32</a:t>
            </a:r>
            <a:endParaRPr sz="1400" b="1">
              <a:cs typeface="Tahoma"/>
            </a:endParaRPr>
          </a:p>
        </p:txBody>
      </p:sp>
      <p:sp>
        <p:nvSpPr>
          <p:cNvPr id="49" name="object 49"/>
          <p:cNvSpPr txBox="1"/>
          <p:nvPr/>
        </p:nvSpPr>
        <p:spPr>
          <a:xfrm>
            <a:off x="668934" y="5394797"/>
            <a:ext cx="10865191" cy="695062"/>
          </a:xfrm>
          <a:prstGeom prst="rect">
            <a:avLst/>
          </a:prstGeom>
        </p:spPr>
        <p:txBody>
          <a:bodyPr vert="horz" wrap="square" lIns="0" tIns="48260" rIns="0" bIns="0" rtlCol="0">
            <a:spAutoFit/>
          </a:bodyPr>
          <a:lstStyle/>
          <a:p>
            <a:pPr marL="12700" marR="5080">
              <a:spcBef>
                <a:spcPts val="600"/>
              </a:spcBef>
              <a:spcAft>
                <a:spcPts val="600"/>
              </a:spcAft>
            </a:pPr>
            <a:r>
              <a:rPr sz="1400" spc="120" dirty="0">
                <a:cs typeface="Tahoma"/>
              </a:rPr>
              <a:t>A</a:t>
            </a:r>
            <a:r>
              <a:rPr sz="1400" spc="-95" dirty="0">
                <a:cs typeface="Tahoma"/>
              </a:rPr>
              <a:t> </a:t>
            </a:r>
            <a:r>
              <a:rPr sz="1400" spc="45" dirty="0">
                <a:cs typeface="Tahoma"/>
              </a:rPr>
              <a:t>pipeline</a:t>
            </a:r>
            <a:r>
              <a:rPr sz="1400" spc="-55" dirty="0">
                <a:cs typeface="Tahoma"/>
              </a:rPr>
              <a:t> </a:t>
            </a:r>
            <a:r>
              <a:rPr sz="1400" spc="20" dirty="0">
                <a:cs typeface="Tahoma"/>
              </a:rPr>
              <a:t>like</a:t>
            </a:r>
            <a:r>
              <a:rPr sz="1400" spc="-65" dirty="0">
                <a:cs typeface="Tahoma"/>
              </a:rPr>
              <a:t> </a:t>
            </a:r>
            <a:r>
              <a:rPr sz="1400" spc="5" dirty="0">
                <a:cs typeface="Tahoma"/>
              </a:rPr>
              <a:t>this</a:t>
            </a:r>
            <a:r>
              <a:rPr sz="1400" spc="-70" dirty="0">
                <a:cs typeface="Tahoma"/>
              </a:rPr>
              <a:t> </a:t>
            </a:r>
            <a:r>
              <a:rPr sz="1400" spc="50" dirty="0">
                <a:cs typeface="Tahoma"/>
              </a:rPr>
              <a:t>one</a:t>
            </a:r>
            <a:r>
              <a:rPr sz="1400" spc="-65" dirty="0">
                <a:cs typeface="Tahoma"/>
              </a:rPr>
              <a:t> </a:t>
            </a:r>
            <a:r>
              <a:rPr sz="1400" spc="15" dirty="0">
                <a:cs typeface="Tahoma"/>
              </a:rPr>
              <a:t>works</a:t>
            </a:r>
            <a:r>
              <a:rPr sz="1400" spc="-55" dirty="0">
                <a:cs typeface="Tahoma"/>
              </a:rPr>
              <a:t> </a:t>
            </a:r>
            <a:r>
              <a:rPr sz="1400" dirty="0">
                <a:cs typeface="Tahoma"/>
              </a:rPr>
              <a:t>fine,</a:t>
            </a:r>
            <a:r>
              <a:rPr sz="1400" spc="-90" dirty="0">
                <a:cs typeface="Tahoma"/>
              </a:rPr>
              <a:t> </a:t>
            </a:r>
            <a:r>
              <a:rPr sz="1400" spc="30" dirty="0">
                <a:cs typeface="Tahoma"/>
              </a:rPr>
              <a:t>but</a:t>
            </a:r>
            <a:r>
              <a:rPr sz="1400" spc="-70" dirty="0">
                <a:cs typeface="Tahoma"/>
              </a:rPr>
              <a:t> </a:t>
            </a:r>
            <a:r>
              <a:rPr sz="1400" b="1" spc="-30" dirty="0">
                <a:cs typeface="Tahoma"/>
              </a:rPr>
              <a:t>it</a:t>
            </a:r>
            <a:r>
              <a:rPr sz="1400" b="1" spc="-50" dirty="0">
                <a:cs typeface="Tahoma"/>
              </a:rPr>
              <a:t> </a:t>
            </a:r>
            <a:r>
              <a:rPr sz="1400" b="1" spc="-30" dirty="0">
                <a:cs typeface="Tahoma"/>
              </a:rPr>
              <a:t>is</a:t>
            </a:r>
            <a:r>
              <a:rPr sz="1400" b="1" spc="-60" dirty="0">
                <a:cs typeface="Tahoma"/>
              </a:rPr>
              <a:t> </a:t>
            </a:r>
            <a:r>
              <a:rPr sz="1400" b="1" spc="-20" dirty="0">
                <a:cs typeface="Tahoma"/>
              </a:rPr>
              <a:t>not</a:t>
            </a:r>
            <a:r>
              <a:rPr sz="1400" b="1" spc="-45" dirty="0">
                <a:cs typeface="Tahoma"/>
              </a:rPr>
              <a:t> </a:t>
            </a:r>
            <a:r>
              <a:rPr sz="1400" b="1" spc="-20" dirty="0">
                <a:cs typeface="Tahoma"/>
              </a:rPr>
              <a:t>very</a:t>
            </a:r>
            <a:r>
              <a:rPr sz="1400" b="1" spc="-70" dirty="0">
                <a:cs typeface="Tahoma"/>
              </a:rPr>
              <a:t> </a:t>
            </a:r>
            <a:r>
              <a:rPr sz="1400" b="1" spc="-25" dirty="0">
                <a:cs typeface="Tahoma"/>
              </a:rPr>
              <a:t>efficient,</a:t>
            </a:r>
            <a:r>
              <a:rPr sz="1400" b="1" spc="-110" dirty="0">
                <a:cs typeface="Tahoma"/>
              </a:rPr>
              <a:t> </a:t>
            </a:r>
            <a:r>
              <a:rPr sz="1400" b="1" spc="-20" dirty="0">
                <a:cs typeface="Tahoma"/>
              </a:rPr>
              <a:t>because</a:t>
            </a:r>
            <a:r>
              <a:rPr sz="1400" b="1" spc="-65" dirty="0">
                <a:cs typeface="Tahoma"/>
              </a:rPr>
              <a:t> </a:t>
            </a:r>
            <a:r>
              <a:rPr sz="1400" b="1" spc="-50" dirty="0">
                <a:cs typeface="Tahoma"/>
              </a:rPr>
              <a:t>at </a:t>
            </a:r>
            <a:r>
              <a:rPr sz="1400" b="1" spc="-25" dirty="0">
                <a:cs typeface="Tahoma"/>
              </a:rPr>
              <a:t>any</a:t>
            </a:r>
            <a:r>
              <a:rPr sz="1400" b="1" spc="-70" dirty="0">
                <a:cs typeface="Tahoma"/>
              </a:rPr>
              <a:t> </a:t>
            </a:r>
            <a:r>
              <a:rPr sz="1400" b="1" spc="-30" dirty="0">
                <a:cs typeface="Tahoma"/>
              </a:rPr>
              <a:t>time</a:t>
            </a:r>
            <a:r>
              <a:rPr sz="1400" b="1" spc="-40" dirty="0">
                <a:cs typeface="Tahoma"/>
              </a:rPr>
              <a:t> </a:t>
            </a:r>
            <a:r>
              <a:rPr sz="1400" b="1" spc="-10" dirty="0">
                <a:cs typeface="Tahoma"/>
              </a:rPr>
              <a:t>only</a:t>
            </a:r>
            <a:r>
              <a:rPr sz="1400" b="1" spc="-55" dirty="0">
                <a:cs typeface="Tahoma"/>
              </a:rPr>
              <a:t> </a:t>
            </a:r>
            <a:r>
              <a:rPr sz="1400" b="1" spc="-5" dirty="0">
                <a:cs typeface="Tahoma"/>
              </a:rPr>
              <a:t>one</a:t>
            </a:r>
            <a:r>
              <a:rPr sz="1400" b="1" spc="-55" dirty="0">
                <a:cs typeface="Tahoma"/>
              </a:rPr>
              <a:t> </a:t>
            </a:r>
            <a:r>
              <a:rPr sz="1400" b="1" dirty="0">
                <a:cs typeface="Tahoma"/>
              </a:rPr>
              <a:t>GPU</a:t>
            </a:r>
            <a:r>
              <a:rPr sz="1400" b="1" spc="-40" dirty="0">
                <a:cs typeface="Tahoma"/>
              </a:rPr>
              <a:t> </a:t>
            </a:r>
            <a:r>
              <a:rPr sz="1400" b="1" spc="-30" dirty="0">
                <a:cs typeface="Tahoma"/>
              </a:rPr>
              <a:t>is</a:t>
            </a:r>
            <a:r>
              <a:rPr sz="1400" b="1" spc="-65" dirty="0">
                <a:cs typeface="Tahoma"/>
              </a:rPr>
              <a:t> </a:t>
            </a:r>
            <a:r>
              <a:rPr sz="1400" b="1" spc="-20" dirty="0">
                <a:cs typeface="Tahoma"/>
              </a:rPr>
              <a:t>working</a:t>
            </a:r>
            <a:r>
              <a:rPr sz="1400" spc="-20" dirty="0">
                <a:cs typeface="Tahoma"/>
              </a:rPr>
              <a:t>.</a:t>
            </a:r>
            <a:r>
              <a:rPr sz="1400" spc="-145" dirty="0">
                <a:cs typeface="Tahoma"/>
              </a:rPr>
              <a:t> </a:t>
            </a:r>
            <a:r>
              <a:rPr sz="1400" spc="120" dirty="0">
                <a:cs typeface="Tahoma"/>
              </a:rPr>
              <a:t>A</a:t>
            </a:r>
            <a:r>
              <a:rPr sz="1400" spc="-95" dirty="0">
                <a:cs typeface="Tahoma"/>
              </a:rPr>
              <a:t> </a:t>
            </a:r>
            <a:r>
              <a:rPr sz="1400" spc="25" dirty="0">
                <a:cs typeface="Tahoma"/>
              </a:rPr>
              <a:t>better</a:t>
            </a:r>
            <a:r>
              <a:rPr sz="1400" spc="-100" dirty="0">
                <a:cs typeface="Tahoma"/>
              </a:rPr>
              <a:t> </a:t>
            </a:r>
            <a:r>
              <a:rPr sz="1400" spc="35" dirty="0">
                <a:cs typeface="Tahoma"/>
              </a:rPr>
              <a:t>approach</a:t>
            </a:r>
            <a:r>
              <a:rPr sz="1400" spc="-35" dirty="0">
                <a:cs typeface="Tahoma"/>
              </a:rPr>
              <a:t> </a:t>
            </a:r>
            <a:r>
              <a:rPr sz="1400" spc="-45" dirty="0">
                <a:cs typeface="Tahoma"/>
              </a:rPr>
              <a:t>(</a:t>
            </a:r>
            <a:r>
              <a:rPr sz="1400" b="1" spc="-45" dirty="0">
                <a:cs typeface="Tahoma"/>
              </a:rPr>
              <a:t>not </a:t>
            </a:r>
            <a:r>
              <a:rPr sz="1400" b="1" spc="-40" dirty="0">
                <a:cs typeface="Tahoma"/>
              </a:rPr>
              <a:t> </a:t>
            </a:r>
            <a:r>
              <a:rPr sz="1400" spc="45" dirty="0">
                <a:cs typeface="Tahoma"/>
              </a:rPr>
              <a:t>implemented</a:t>
            </a:r>
            <a:r>
              <a:rPr sz="1400" spc="-50" dirty="0">
                <a:cs typeface="Tahoma"/>
              </a:rPr>
              <a:t> </a:t>
            </a:r>
            <a:r>
              <a:rPr sz="1400" spc="25" dirty="0">
                <a:cs typeface="Tahoma"/>
              </a:rPr>
              <a:t>in</a:t>
            </a:r>
            <a:r>
              <a:rPr sz="1400" spc="-65" dirty="0">
                <a:cs typeface="Tahoma"/>
              </a:rPr>
              <a:t> </a:t>
            </a:r>
            <a:r>
              <a:rPr sz="1400" spc="20" dirty="0">
                <a:cs typeface="Tahoma"/>
              </a:rPr>
              <a:t>the</a:t>
            </a:r>
            <a:r>
              <a:rPr sz="1400" spc="-75" dirty="0">
                <a:cs typeface="Tahoma"/>
              </a:rPr>
              <a:t> </a:t>
            </a:r>
            <a:r>
              <a:rPr sz="1400" spc="30" dirty="0">
                <a:cs typeface="Tahoma"/>
              </a:rPr>
              <a:t>open-source</a:t>
            </a:r>
            <a:r>
              <a:rPr sz="1400" spc="-25" dirty="0">
                <a:cs typeface="Tahoma"/>
              </a:rPr>
              <a:t> </a:t>
            </a:r>
            <a:r>
              <a:rPr sz="1400" spc="20" dirty="0">
                <a:cs typeface="Tahoma"/>
              </a:rPr>
              <a:t>release</a:t>
            </a:r>
            <a:r>
              <a:rPr sz="1400" spc="-35" dirty="0">
                <a:cs typeface="Tahoma"/>
              </a:rPr>
              <a:t> </a:t>
            </a:r>
            <a:r>
              <a:rPr sz="1400" spc="25" dirty="0">
                <a:cs typeface="Tahoma"/>
              </a:rPr>
              <a:t>of</a:t>
            </a:r>
            <a:r>
              <a:rPr sz="1400" spc="-45" dirty="0">
                <a:cs typeface="Tahoma"/>
              </a:rPr>
              <a:t> </a:t>
            </a:r>
            <a:r>
              <a:rPr sz="1400" dirty="0">
                <a:cs typeface="Tahoma"/>
              </a:rPr>
              <a:t>Mistral),</a:t>
            </a:r>
            <a:r>
              <a:rPr sz="1400" spc="-105" dirty="0">
                <a:cs typeface="Tahoma"/>
              </a:rPr>
              <a:t> </a:t>
            </a:r>
            <a:r>
              <a:rPr sz="1400" spc="40" dirty="0">
                <a:cs typeface="Tahoma"/>
              </a:rPr>
              <a:t>used</a:t>
            </a:r>
            <a:r>
              <a:rPr sz="1400" spc="-60" dirty="0">
                <a:cs typeface="Tahoma"/>
              </a:rPr>
              <a:t> </a:t>
            </a:r>
            <a:r>
              <a:rPr sz="1400" spc="25" dirty="0">
                <a:cs typeface="Tahoma"/>
              </a:rPr>
              <a:t>especially</a:t>
            </a:r>
            <a:r>
              <a:rPr sz="1400" spc="-40" dirty="0">
                <a:cs typeface="Tahoma"/>
              </a:rPr>
              <a:t> </a:t>
            </a:r>
            <a:r>
              <a:rPr sz="1400" spc="40" dirty="0">
                <a:cs typeface="Tahoma"/>
              </a:rPr>
              <a:t>during</a:t>
            </a:r>
            <a:r>
              <a:rPr sz="1400" spc="-50" dirty="0">
                <a:cs typeface="Tahoma"/>
              </a:rPr>
              <a:t> </a:t>
            </a:r>
            <a:r>
              <a:rPr sz="1400" spc="10" dirty="0">
                <a:cs typeface="Tahoma"/>
              </a:rPr>
              <a:t>training,</a:t>
            </a:r>
            <a:r>
              <a:rPr sz="1400" spc="-95" dirty="0">
                <a:cs typeface="Tahoma"/>
              </a:rPr>
              <a:t> </a:t>
            </a:r>
            <a:r>
              <a:rPr sz="1400" spc="10" dirty="0">
                <a:cs typeface="Tahoma"/>
              </a:rPr>
              <a:t>is</a:t>
            </a:r>
            <a:r>
              <a:rPr sz="1400" spc="-70" dirty="0">
                <a:cs typeface="Tahoma"/>
              </a:rPr>
              <a:t> </a:t>
            </a:r>
            <a:r>
              <a:rPr sz="1400" spc="30" dirty="0">
                <a:cs typeface="Tahoma"/>
              </a:rPr>
              <a:t>to</a:t>
            </a:r>
            <a:r>
              <a:rPr sz="1400" spc="-70" dirty="0">
                <a:cs typeface="Tahoma"/>
              </a:rPr>
              <a:t> </a:t>
            </a:r>
            <a:r>
              <a:rPr sz="1400" spc="20" dirty="0">
                <a:cs typeface="Tahoma"/>
              </a:rPr>
              <a:t>work</a:t>
            </a:r>
            <a:r>
              <a:rPr sz="1400" spc="-55" dirty="0">
                <a:cs typeface="Tahoma"/>
              </a:rPr>
              <a:t> </a:t>
            </a:r>
            <a:r>
              <a:rPr sz="1400" spc="50" dirty="0">
                <a:cs typeface="Tahoma"/>
              </a:rPr>
              <a:t>on</a:t>
            </a:r>
            <a:r>
              <a:rPr sz="1400" spc="-65" dirty="0">
                <a:cs typeface="Tahoma"/>
              </a:rPr>
              <a:t> </a:t>
            </a:r>
            <a:r>
              <a:rPr sz="1400" spc="30" dirty="0">
                <a:cs typeface="Tahoma"/>
              </a:rPr>
              <a:t>multiple</a:t>
            </a:r>
            <a:r>
              <a:rPr sz="1400" spc="-60" dirty="0">
                <a:cs typeface="Tahoma"/>
              </a:rPr>
              <a:t> </a:t>
            </a:r>
            <a:r>
              <a:rPr sz="1400" spc="25" dirty="0">
                <a:cs typeface="Tahoma"/>
              </a:rPr>
              <a:t>batches</a:t>
            </a:r>
            <a:r>
              <a:rPr sz="1400" spc="-80" dirty="0">
                <a:cs typeface="Tahoma"/>
              </a:rPr>
              <a:t> </a:t>
            </a:r>
            <a:r>
              <a:rPr sz="1400" spc="-15" dirty="0">
                <a:cs typeface="Tahoma"/>
              </a:rPr>
              <a:t>at</a:t>
            </a:r>
            <a:r>
              <a:rPr sz="1400" spc="-65" dirty="0">
                <a:cs typeface="Tahoma"/>
              </a:rPr>
              <a:t> </a:t>
            </a:r>
            <a:r>
              <a:rPr sz="1400" spc="15" dirty="0">
                <a:cs typeface="Tahoma"/>
              </a:rPr>
              <a:t>the</a:t>
            </a:r>
            <a:r>
              <a:rPr sz="1400" spc="-85" dirty="0">
                <a:cs typeface="Tahoma"/>
              </a:rPr>
              <a:t> </a:t>
            </a:r>
            <a:r>
              <a:rPr sz="1400" spc="20" dirty="0">
                <a:cs typeface="Tahoma"/>
              </a:rPr>
              <a:t>same</a:t>
            </a:r>
            <a:r>
              <a:rPr sz="1400" spc="-15" dirty="0">
                <a:cs typeface="Tahoma"/>
              </a:rPr>
              <a:t> </a:t>
            </a:r>
            <a:r>
              <a:rPr sz="1400" spc="10" dirty="0">
                <a:cs typeface="Tahoma"/>
              </a:rPr>
              <a:t>time,</a:t>
            </a:r>
            <a:r>
              <a:rPr sz="1400" spc="-105" dirty="0">
                <a:cs typeface="Tahoma"/>
              </a:rPr>
              <a:t> </a:t>
            </a:r>
            <a:r>
              <a:rPr sz="1400" spc="30" dirty="0">
                <a:cs typeface="Tahoma"/>
              </a:rPr>
              <a:t>but </a:t>
            </a:r>
            <a:r>
              <a:rPr sz="1400" spc="-360" dirty="0">
                <a:cs typeface="Tahoma"/>
              </a:rPr>
              <a:t> </a:t>
            </a:r>
            <a:r>
              <a:rPr sz="1400" spc="-10" dirty="0">
                <a:cs typeface="Tahoma"/>
              </a:rPr>
              <a:t>shift</a:t>
            </a:r>
            <a:r>
              <a:rPr sz="1400" spc="-75" dirty="0">
                <a:cs typeface="Tahoma"/>
              </a:rPr>
              <a:t> </a:t>
            </a:r>
            <a:r>
              <a:rPr sz="1400" spc="25" dirty="0">
                <a:cs typeface="Tahoma"/>
              </a:rPr>
              <a:t>them</a:t>
            </a:r>
            <a:r>
              <a:rPr sz="1400" spc="-70" dirty="0">
                <a:cs typeface="Tahoma"/>
              </a:rPr>
              <a:t> </a:t>
            </a:r>
            <a:r>
              <a:rPr sz="1400" spc="50" dirty="0">
                <a:cs typeface="Tahoma"/>
              </a:rPr>
              <a:t>on</a:t>
            </a:r>
            <a:r>
              <a:rPr sz="1400" spc="-65" dirty="0">
                <a:cs typeface="Tahoma"/>
              </a:rPr>
              <a:t> </a:t>
            </a:r>
            <a:r>
              <a:rPr sz="1400" spc="15" dirty="0">
                <a:cs typeface="Tahoma"/>
              </a:rPr>
              <a:t>the</a:t>
            </a:r>
            <a:r>
              <a:rPr sz="1400" spc="-90" dirty="0">
                <a:cs typeface="Tahoma"/>
              </a:rPr>
              <a:t> </a:t>
            </a:r>
            <a:r>
              <a:rPr sz="1400" spc="25" dirty="0">
                <a:cs typeface="Tahoma"/>
              </a:rPr>
              <a:t>time</a:t>
            </a:r>
            <a:r>
              <a:rPr sz="1400" spc="-75" dirty="0">
                <a:cs typeface="Tahoma"/>
              </a:rPr>
              <a:t> </a:t>
            </a:r>
            <a:r>
              <a:rPr sz="1400" spc="10" dirty="0">
                <a:cs typeface="Tahoma"/>
              </a:rPr>
              <a:t>scale.</a:t>
            </a:r>
            <a:r>
              <a:rPr sz="1400" spc="-120" dirty="0">
                <a:cs typeface="Tahoma"/>
              </a:rPr>
              <a:t> </a:t>
            </a:r>
            <a:r>
              <a:rPr sz="1400" dirty="0">
                <a:cs typeface="Tahoma"/>
              </a:rPr>
              <a:t>This</a:t>
            </a:r>
            <a:r>
              <a:rPr sz="1400" spc="-60" dirty="0">
                <a:cs typeface="Tahoma"/>
              </a:rPr>
              <a:t> </a:t>
            </a:r>
            <a:r>
              <a:rPr sz="1400" spc="35" dirty="0">
                <a:cs typeface="Tahoma"/>
              </a:rPr>
              <a:t>approach</a:t>
            </a:r>
            <a:r>
              <a:rPr sz="1400" spc="-45" dirty="0">
                <a:cs typeface="Tahoma"/>
              </a:rPr>
              <a:t> </a:t>
            </a:r>
            <a:r>
              <a:rPr sz="1400" spc="10" dirty="0">
                <a:cs typeface="Tahoma"/>
              </a:rPr>
              <a:t>is</a:t>
            </a:r>
            <a:r>
              <a:rPr sz="1400" spc="-65" dirty="0">
                <a:cs typeface="Tahoma"/>
              </a:rPr>
              <a:t> </a:t>
            </a:r>
            <a:r>
              <a:rPr sz="1400" spc="30" dirty="0">
                <a:cs typeface="Tahoma"/>
              </a:rPr>
              <a:t>known</a:t>
            </a:r>
            <a:r>
              <a:rPr sz="1400" spc="-65" dirty="0">
                <a:cs typeface="Tahoma"/>
              </a:rPr>
              <a:t> </a:t>
            </a:r>
            <a:r>
              <a:rPr sz="1400" dirty="0">
                <a:cs typeface="Tahoma"/>
              </a:rPr>
              <a:t>as</a:t>
            </a:r>
            <a:r>
              <a:rPr sz="1400" spc="-55" dirty="0">
                <a:cs typeface="Tahoma"/>
              </a:rPr>
              <a:t> </a:t>
            </a:r>
            <a:r>
              <a:rPr sz="1400" b="1" spc="-10" dirty="0">
                <a:cs typeface="Tahoma"/>
              </a:rPr>
              <a:t>Pipeline</a:t>
            </a:r>
            <a:r>
              <a:rPr sz="1400" b="1" spc="-90" dirty="0">
                <a:cs typeface="Tahoma"/>
              </a:rPr>
              <a:t> </a:t>
            </a:r>
            <a:r>
              <a:rPr sz="1400" b="1" spc="-35" dirty="0">
                <a:cs typeface="Tahoma"/>
              </a:rPr>
              <a:t>Parallelism</a:t>
            </a:r>
            <a:r>
              <a:rPr sz="1400" spc="-35" dirty="0">
                <a:cs typeface="Tahoma"/>
              </a:rPr>
              <a:t>.</a:t>
            </a:r>
            <a:r>
              <a:rPr sz="1400" spc="-135" dirty="0">
                <a:cs typeface="Tahoma"/>
              </a:rPr>
              <a:t> </a:t>
            </a:r>
            <a:r>
              <a:rPr sz="1400" spc="-5" dirty="0">
                <a:cs typeface="Tahoma"/>
              </a:rPr>
              <a:t>Let’s</a:t>
            </a:r>
            <a:r>
              <a:rPr sz="1400" spc="-70" dirty="0">
                <a:cs typeface="Tahoma"/>
              </a:rPr>
              <a:t> </a:t>
            </a:r>
            <a:r>
              <a:rPr sz="1400" spc="30" dirty="0">
                <a:cs typeface="Tahoma"/>
              </a:rPr>
              <a:t>see</a:t>
            </a:r>
            <a:r>
              <a:rPr sz="1400" spc="-55" dirty="0">
                <a:cs typeface="Tahoma"/>
              </a:rPr>
              <a:t> </a:t>
            </a:r>
            <a:r>
              <a:rPr sz="1400" spc="35" dirty="0">
                <a:cs typeface="Tahoma"/>
              </a:rPr>
              <a:t>how</a:t>
            </a:r>
            <a:r>
              <a:rPr sz="1400" spc="-65" dirty="0">
                <a:cs typeface="Tahoma"/>
              </a:rPr>
              <a:t> </a:t>
            </a:r>
            <a:r>
              <a:rPr sz="1400" dirty="0">
                <a:cs typeface="Tahoma"/>
              </a:rPr>
              <a:t>it</a:t>
            </a:r>
            <a:r>
              <a:rPr sz="1400" spc="-85" dirty="0">
                <a:cs typeface="Tahoma"/>
              </a:rPr>
              <a:t> </a:t>
            </a:r>
            <a:r>
              <a:rPr sz="1400" dirty="0">
                <a:cs typeface="Tahoma"/>
              </a:rPr>
              <a:t>works.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descr="A white background with black text&#10;&#10;AI-generated content may be incorrect."/>
          <p:cNvPicPr/>
          <p:nvPr/>
        </p:nvPicPr>
        <p:blipFill>
          <a:blip r:embed="rId2" cstate="print"/>
          <a:stretch>
            <a:fillRect/>
          </a:stretch>
        </p:blipFill>
        <p:spPr>
          <a:xfrm>
            <a:off x="4475341" y="2701811"/>
            <a:ext cx="7057847" cy="1257944"/>
          </a:xfrm>
          <a:prstGeom prst="rect">
            <a:avLst/>
          </a:prstGeom>
          <a:noFill/>
        </p:spPr>
      </p:pic>
      <p:sp>
        <p:nvSpPr>
          <p:cNvPr id="2" name="object 2"/>
          <p:cNvSpPr txBox="1">
            <a:spLocks noGrp="1"/>
          </p:cNvSpPr>
          <p:nvPr>
            <p:ph type="title"/>
          </p:nvPr>
        </p:nvSpPr>
        <p:spPr>
          <a:xfrm>
            <a:off x="838202" y="2049670"/>
            <a:ext cx="2743200" cy="2562226"/>
          </a:xfrm>
        </p:spPr>
        <p:txBody>
          <a:bodyPr vert="horz" lIns="0" tIns="0" rIns="0" bIns="0" rtlCol="0" anchor="ctr">
            <a:normAutofit/>
          </a:bodyPr>
          <a:lstStyle/>
          <a:p>
            <a:r>
              <a:rPr lang="en-IN"/>
              <a:t>Pipeline Parallelism</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8144" y="593531"/>
            <a:ext cx="10865044" cy="639957"/>
          </a:xfrm>
          <a:prstGeom prst="rect">
            <a:avLst/>
          </a:prstGeom>
        </p:spPr>
        <p:txBody>
          <a:bodyPr vert="horz" lIns="0" tIns="0" rIns="0" bIns="0" rtlCol="0" anchor="ctr">
            <a:normAutofit/>
          </a:bodyPr>
          <a:lstStyle/>
          <a:p>
            <a:r>
              <a:rPr dirty="0">
                <a:latin typeface="+mn-lt"/>
              </a:rPr>
              <a:t>Pipeline Parallelism: </a:t>
            </a:r>
            <a:r>
              <a:rPr lang="en-US" dirty="0">
                <a:latin typeface="+mn-lt"/>
              </a:rPr>
              <a:t>T</a:t>
            </a:r>
            <a:r>
              <a:rPr dirty="0">
                <a:latin typeface="+mn-lt"/>
              </a:rPr>
              <a:t>he </a:t>
            </a:r>
            <a:r>
              <a:rPr lang="en-US" dirty="0">
                <a:latin typeface="+mn-lt"/>
              </a:rPr>
              <a:t>P</a:t>
            </a:r>
            <a:r>
              <a:rPr dirty="0">
                <a:latin typeface="+mn-lt"/>
              </a:rPr>
              <a:t>roblem</a:t>
            </a:r>
          </a:p>
        </p:txBody>
      </p:sp>
      <p:graphicFrame>
        <p:nvGraphicFramePr>
          <p:cNvPr id="3" name="object 3"/>
          <p:cNvGraphicFramePr>
            <a:graphicFrameLocks noGrp="1"/>
          </p:cNvGraphicFramePr>
          <p:nvPr>
            <p:extLst>
              <p:ext uri="{D42A27DB-BD31-4B8C-83A1-F6EECF244321}">
                <p14:modId xmlns:p14="http://schemas.microsoft.com/office/powerpoint/2010/main" val="4261024640"/>
              </p:ext>
            </p:extLst>
          </p:nvPr>
        </p:nvGraphicFramePr>
        <p:xfrm>
          <a:off x="1567180" y="2918136"/>
          <a:ext cx="9035412" cy="1854197"/>
        </p:xfrm>
        <a:graphic>
          <a:graphicData uri="http://schemas.openxmlformats.org/drawingml/2006/table">
            <a:tbl>
              <a:tblPr firstRow="1" bandRow="1">
                <a:tableStyleId>{2D5ABB26-0587-4C30-8999-92F81FD0307C}</a:tableStyleId>
              </a:tblPr>
              <a:tblGrid>
                <a:gridCol w="1003935">
                  <a:extLst>
                    <a:ext uri="{9D8B030D-6E8A-4147-A177-3AD203B41FA5}">
                      <a16:colId xmlns:a16="http://schemas.microsoft.com/office/drawing/2014/main" val="20000"/>
                    </a:ext>
                  </a:extLst>
                </a:gridCol>
                <a:gridCol w="1003935">
                  <a:extLst>
                    <a:ext uri="{9D8B030D-6E8A-4147-A177-3AD203B41FA5}">
                      <a16:colId xmlns:a16="http://schemas.microsoft.com/office/drawing/2014/main" val="20001"/>
                    </a:ext>
                  </a:extLst>
                </a:gridCol>
                <a:gridCol w="1003934">
                  <a:extLst>
                    <a:ext uri="{9D8B030D-6E8A-4147-A177-3AD203B41FA5}">
                      <a16:colId xmlns:a16="http://schemas.microsoft.com/office/drawing/2014/main" val="20002"/>
                    </a:ext>
                  </a:extLst>
                </a:gridCol>
                <a:gridCol w="1003935">
                  <a:extLst>
                    <a:ext uri="{9D8B030D-6E8A-4147-A177-3AD203B41FA5}">
                      <a16:colId xmlns:a16="http://schemas.microsoft.com/office/drawing/2014/main" val="20003"/>
                    </a:ext>
                  </a:extLst>
                </a:gridCol>
                <a:gridCol w="1003935">
                  <a:extLst>
                    <a:ext uri="{9D8B030D-6E8A-4147-A177-3AD203B41FA5}">
                      <a16:colId xmlns:a16="http://schemas.microsoft.com/office/drawing/2014/main" val="20004"/>
                    </a:ext>
                  </a:extLst>
                </a:gridCol>
                <a:gridCol w="1003935">
                  <a:extLst>
                    <a:ext uri="{9D8B030D-6E8A-4147-A177-3AD203B41FA5}">
                      <a16:colId xmlns:a16="http://schemas.microsoft.com/office/drawing/2014/main" val="20005"/>
                    </a:ext>
                  </a:extLst>
                </a:gridCol>
                <a:gridCol w="1003935">
                  <a:extLst>
                    <a:ext uri="{9D8B030D-6E8A-4147-A177-3AD203B41FA5}">
                      <a16:colId xmlns:a16="http://schemas.microsoft.com/office/drawing/2014/main" val="20006"/>
                    </a:ext>
                  </a:extLst>
                </a:gridCol>
                <a:gridCol w="1003934">
                  <a:extLst>
                    <a:ext uri="{9D8B030D-6E8A-4147-A177-3AD203B41FA5}">
                      <a16:colId xmlns:a16="http://schemas.microsoft.com/office/drawing/2014/main" val="20007"/>
                    </a:ext>
                  </a:extLst>
                </a:gridCol>
                <a:gridCol w="1003934">
                  <a:extLst>
                    <a:ext uri="{9D8B030D-6E8A-4147-A177-3AD203B41FA5}">
                      <a16:colId xmlns:a16="http://schemas.microsoft.com/office/drawing/2014/main" val="20008"/>
                    </a:ext>
                  </a:extLst>
                </a:gridCol>
              </a:tblGrid>
              <a:tr h="370839">
                <a:tc>
                  <a:txBody>
                    <a:bodyPr/>
                    <a:lstStyle/>
                    <a:p>
                      <a:pPr algn="ctr">
                        <a:lnSpc>
                          <a:spcPct val="100000"/>
                        </a:lnSpc>
                        <a:spcBef>
                          <a:spcPts val="810"/>
                        </a:spcBef>
                      </a:pPr>
                      <a:r>
                        <a:rPr sz="1000" b="1" spc="-25" dirty="0">
                          <a:solidFill>
                            <a:srgbClr val="FFFFFF"/>
                          </a:solidFill>
                          <a:latin typeface="Tahoma"/>
                          <a:cs typeface="Tahoma"/>
                        </a:rPr>
                        <a:t>Timestep</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gn="ctr">
                        <a:lnSpc>
                          <a:spcPct val="100000"/>
                        </a:lnSpc>
                        <a:spcBef>
                          <a:spcPts val="810"/>
                        </a:spcBef>
                      </a:pPr>
                      <a:r>
                        <a:rPr sz="1000" b="1" dirty="0">
                          <a:solidFill>
                            <a:srgbClr val="FFFFFF"/>
                          </a:solidFill>
                          <a:latin typeface="Tahoma"/>
                          <a:cs typeface="Tahoma"/>
                        </a:rPr>
                        <a:t>0</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gn="ctr">
                        <a:lnSpc>
                          <a:spcPct val="100000"/>
                        </a:lnSpc>
                        <a:spcBef>
                          <a:spcPts val="810"/>
                        </a:spcBef>
                      </a:pPr>
                      <a:r>
                        <a:rPr sz="1000" b="1" dirty="0">
                          <a:solidFill>
                            <a:srgbClr val="FFFFFF"/>
                          </a:solidFill>
                          <a:latin typeface="Tahoma"/>
                          <a:cs typeface="Tahoma"/>
                        </a:rPr>
                        <a:t>1</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gn="ctr">
                        <a:lnSpc>
                          <a:spcPct val="100000"/>
                        </a:lnSpc>
                        <a:spcBef>
                          <a:spcPts val="810"/>
                        </a:spcBef>
                      </a:pPr>
                      <a:r>
                        <a:rPr sz="1000" b="1" dirty="0">
                          <a:solidFill>
                            <a:srgbClr val="FFFFFF"/>
                          </a:solidFill>
                          <a:latin typeface="Tahoma"/>
                          <a:cs typeface="Tahoma"/>
                        </a:rPr>
                        <a:t>2</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gn="ctr">
                        <a:lnSpc>
                          <a:spcPct val="100000"/>
                        </a:lnSpc>
                        <a:spcBef>
                          <a:spcPts val="810"/>
                        </a:spcBef>
                      </a:pPr>
                      <a:r>
                        <a:rPr sz="1000" b="1" dirty="0">
                          <a:solidFill>
                            <a:srgbClr val="FFFFFF"/>
                          </a:solidFill>
                          <a:latin typeface="Tahoma"/>
                          <a:cs typeface="Tahoma"/>
                        </a:rPr>
                        <a:t>3</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gn="ctr">
                        <a:lnSpc>
                          <a:spcPct val="100000"/>
                        </a:lnSpc>
                        <a:spcBef>
                          <a:spcPts val="810"/>
                        </a:spcBef>
                      </a:pPr>
                      <a:r>
                        <a:rPr sz="1000" b="1" dirty="0">
                          <a:solidFill>
                            <a:srgbClr val="FFFFFF"/>
                          </a:solidFill>
                          <a:latin typeface="Tahoma"/>
                          <a:cs typeface="Tahoma"/>
                        </a:rPr>
                        <a:t>4</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marL="635" algn="ctr">
                        <a:lnSpc>
                          <a:spcPct val="100000"/>
                        </a:lnSpc>
                        <a:spcBef>
                          <a:spcPts val="810"/>
                        </a:spcBef>
                      </a:pPr>
                      <a:r>
                        <a:rPr sz="1000" b="1" dirty="0">
                          <a:solidFill>
                            <a:srgbClr val="FFFFFF"/>
                          </a:solidFill>
                          <a:latin typeface="Tahoma"/>
                          <a:cs typeface="Tahoma"/>
                        </a:rPr>
                        <a:t>5</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marL="635" algn="ctr">
                        <a:lnSpc>
                          <a:spcPct val="100000"/>
                        </a:lnSpc>
                        <a:spcBef>
                          <a:spcPts val="810"/>
                        </a:spcBef>
                      </a:pPr>
                      <a:r>
                        <a:rPr sz="1000" b="1" dirty="0">
                          <a:solidFill>
                            <a:srgbClr val="FFFFFF"/>
                          </a:solidFill>
                          <a:latin typeface="Tahoma"/>
                          <a:cs typeface="Tahoma"/>
                        </a:rPr>
                        <a:t>6</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marL="635" algn="ctr">
                        <a:lnSpc>
                          <a:spcPct val="100000"/>
                        </a:lnSpc>
                        <a:spcBef>
                          <a:spcPts val="810"/>
                        </a:spcBef>
                      </a:pPr>
                      <a:r>
                        <a:rPr sz="1000" b="1" dirty="0">
                          <a:solidFill>
                            <a:srgbClr val="FFFFFF"/>
                          </a:solidFill>
                          <a:latin typeface="Tahoma"/>
                          <a:cs typeface="Tahoma"/>
                        </a:rPr>
                        <a:t>7</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extLst>
                  <a:ext uri="{0D108BD9-81ED-4DB2-BD59-A6C34878D82A}">
                    <a16:rowId xmlns:a16="http://schemas.microsoft.com/office/drawing/2014/main" val="10000"/>
                  </a:ext>
                </a:extLst>
              </a:tr>
              <a:tr h="370839">
                <a:tc>
                  <a:txBody>
                    <a:bodyPr/>
                    <a:lstStyle/>
                    <a:p>
                      <a:pPr marL="635" algn="ctr">
                        <a:lnSpc>
                          <a:spcPct val="100000"/>
                        </a:lnSpc>
                        <a:spcBef>
                          <a:spcPts val="810"/>
                        </a:spcBef>
                      </a:pPr>
                      <a:r>
                        <a:rPr sz="1000" dirty="0">
                          <a:latin typeface="Tahoma"/>
                          <a:cs typeface="Tahoma"/>
                        </a:rPr>
                        <a:t>G</a:t>
                      </a:r>
                      <a:r>
                        <a:rPr sz="1000" spc="-5" dirty="0">
                          <a:latin typeface="Tahoma"/>
                          <a:cs typeface="Tahoma"/>
                        </a:rPr>
                        <a:t>P</a:t>
                      </a:r>
                      <a:r>
                        <a:rPr sz="1000" dirty="0">
                          <a:latin typeface="Tahoma"/>
                          <a:cs typeface="Tahoma"/>
                        </a:rPr>
                        <a:t>U</a:t>
                      </a:r>
                      <a:r>
                        <a:rPr sz="1000" spc="-65" dirty="0">
                          <a:latin typeface="Tahoma"/>
                          <a:cs typeface="Tahoma"/>
                        </a:rPr>
                        <a:t> </a:t>
                      </a:r>
                      <a:r>
                        <a:rPr sz="1000" dirty="0">
                          <a:latin typeface="Tahoma"/>
                          <a:cs typeface="Tahoma"/>
                        </a:rPr>
                        <a:t>4</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810"/>
                        </a:spcBef>
                      </a:pPr>
                      <a:r>
                        <a:rPr sz="1000" spc="50" dirty="0">
                          <a:latin typeface="Tahoma"/>
                          <a:cs typeface="Tahoma"/>
                        </a:rPr>
                        <a:t>FORWARD</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A"/>
                    </a:solidFill>
                  </a:tcPr>
                </a:tc>
                <a:tc>
                  <a:txBody>
                    <a:bodyPr/>
                    <a:lstStyle/>
                    <a:p>
                      <a:pPr marL="1905" algn="ctr">
                        <a:lnSpc>
                          <a:spcPct val="100000"/>
                        </a:lnSpc>
                        <a:spcBef>
                          <a:spcPts val="810"/>
                        </a:spcBef>
                      </a:pPr>
                      <a:r>
                        <a:rPr sz="1000" spc="60" dirty="0">
                          <a:latin typeface="Tahoma"/>
                          <a:cs typeface="Tahoma"/>
                        </a:rPr>
                        <a:t>BACKWARD</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1"/>
                  </a:ext>
                </a:extLst>
              </a:tr>
              <a:tr h="370840">
                <a:tc>
                  <a:txBody>
                    <a:bodyPr/>
                    <a:lstStyle/>
                    <a:p>
                      <a:pPr marL="635" algn="ctr">
                        <a:lnSpc>
                          <a:spcPct val="100000"/>
                        </a:lnSpc>
                        <a:spcBef>
                          <a:spcPts val="810"/>
                        </a:spcBef>
                      </a:pPr>
                      <a:r>
                        <a:rPr sz="1000" dirty="0">
                          <a:latin typeface="Tahoma"/>
                          <a:cs typeface="Tahoma"/>
                        </a:rPr>
                        <a:t>G</a:t>
                      </a:r>
                      <a:r>
                        <a:rPr sz="1000" spc="-5" dirty="0">
                          <a:latin typeface="Tahoma"/>
                          <a:cs typeface="Tahoma"/>
                        </a:rPr>
                        <a:t>P</a:t>
                      </a:r>
                      <a:r>
                        <a:rPr sz="1000" dirty="0">
                          <a:latin typeface="Tahoma"/>
                          <a:cs typeface="Tahoma"/>
                        </a:rPr>
                        <a:t>U</a:t>
                      </a:r>
                      <a:r>
                        <a:rPr sz="1000" spc="-65" dirty="0">
                          <a:latin typeface="Tahoma"/>
                          <a:cs typeface="Tahoma"/>
                        </a:rPr>
                        <a:t> </a:t>
                      </a:r>
                      <a:r>
                        <a:rPr sz="1000" dirty="0">
                          <a:latin typeface="Tahoma"/>
                          <a:cs typeface="Tahoma"/>
                        </a:rPr>
                        <a:t>3</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810"/>
                        </a:spcBef>
                      </a:pPr>
                      <a:r>
                        <a:rPr sz="1000" spc="50" dirty="0">
                          <a:latin typeface="Tahoma"/>
                          <a:cs typeface="Tahoma"/>
                        </a:rPr>
                        <a:t>FORWARD</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1905" algn="ctr">
                        <a:lnSpc>
                          <a:spcPct val="100000"/>
                        </a:lnSpc>
                        <a:spcBef>
                          <a:spcPts val="810"/>
                        </a:spcBef>
                      </a:pPr>
                      <a:r>
                        <a:rPr sz="1000" spc="60" dirty="0">
                          <a:latin typeface="Tahoma"/>
                          <a:cs typeface="Tahoma"/>
                        </a:rPr>
                        <a:t>BACKWARD</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2"/>
                  </a:ext>
                </a:extLst>
              </a:tr>
              <a:tr h="370839">
                <a:tc>
                  <a:txBody>
                    <a:bodyPr/>
                    <a:lstStyle/>
                    <a:p>
                      <a:pPr marL="635" algn="ctr">
                        <a:lnSpc>
                          <a:spcPct val="100000"/>
                        </a:lnSpc>
                        <a:spcBef>
                          <a:spcPts val="815"/>
                        </a:spcBef>
                      </a:pPr>
                      <a:r>
                        <a:rPr sz="1000" dirty="0">
                          <a:latin typeface="Tahoma"/>
                          <a:cs typeface="Tahoma"/>
                        </a:rPr>
                        <a:t>G</a:t>
                      </a:r>
                      <a:r>
                        <a:rPr sz="1000" spc="-5" dirty="0">
                          <a:latin typeface="Tahoma"/>
                          <a:cs typeface="Tahoma"/>
                        </a:rPr>
                        <a:t>P</a:t>
                      </a:r>
                      <a:r>
                        <a:rPr sz="1000" dirty="0">
                          <a:latin typeface="Tahoma"/>
                          <a:cs typeface="Tahoma"/>
                        </a:rPr>
                        <a:t>U</a:t>
                      </a:r>
                      <a:r>
                        <a:rPr sz="1000" spc="-65" dirty="0">
                          <a:latin typeface="Tahoma"/>
                          <a:cs typeface="Tahoma"/>
                        </a:rPr>
                        <a:t> </a:t>
                      </a:r>
                      <a:r>
                        <a:rPr sz="1000" dirty="0">
                          <a:latin typeface="Tahoma"/>
                          <a:cs typeface="Tahoma"/>
                        </a:rPr>
                        <a:t>2</a:t>
                      </a:r>
                      <a:endParaRPr sz="1000">
                        <a:latin typeface="Tahoma"/>
                        <a:cs typeface="Tahoma"/>
                      </a:endParaRPr>
                    </a:p>
                  </a:txBody>
                  <a:tcPr marL="0" marR="0" marT="1035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815"/>
                        </a:spcBef>
                      </a:pPr>
                      <a:r>
                        <a:rPr sz="1000" spc="50" dirty="0">
                          <a:latin typeface="Tahoma"/>
                          <a:cs typeface="Tahoma"/>
                        </a:rPr>
                        <a:t>FORWARD</a:t>
                      </a:r>
                      <a:endParaRPr sz="1000">
                        <a:latin typeface="Tahoma"/>
                        <a:cs typeface="Tahoma"/>
                      </a:endParaRPr>
                    </a:p>
                  </a:txBody>
                  <a:tcPr marL="0" marR="0" marT="1035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2540" algn="ctr">
                        <a:lnSpc>
                          <a:spcPct val="100000"/>
                        </a:lnSpc>
                        <a:spcBef>
                          <a:spcPts val="815"/>
                        </a:spcBef>
                      </a:pPr>
                      <a:r>
                        <a:rPr sz="1000" spc="60" dirty="0">
                          <a:latin typeface="Tahoma"/>
                          <a:cs typeface="Tahoma"/>
                        </a:rPr>
                        <a:t>BACKWARD</a:t>
                      </a:r>
                      <a:endParaRPr sz="1000">
                        <a:latin typeface="Tahoma"/>
                        <a:cs typeface="Tahoma"/>
                      </a:endParaRPr>
                    </a:p>
                  </a:txBody>
                  <a:tcPr marL="0" marR="0" marT="1035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3"/>
                  </a:ext>
                </a:extLst>
              </a:tr>
              <a:tr h="370840">
                <a:tc>
                  <a:txBody>
                    <a:bodyPr/>
                    <a:lstStyle/>
                    <a:p>
                      <a:pPr marL="635" algn="ctr">
                        <a:lnSpc>
                          <a:spcPct val="100000"/>
                        </a:lnSpc>
                        <a:spcBef>
                          <a:spcPts val="815"/>
                        </a:spcBef>
                      </a:pPr>
                      <a:r>
                        <a:rPr sz="1000" dirty="0">
                          <a:latin typeface="Tahoma"/>
                          <a:cs typeface="Tahoma"/>
                        </a:rPr>
                        <a:t>G</a:t>
                      </a:r>
                      <a:r>
                        <a:rPr sz="1000" spc="-5" dirty="0">
                          <a:latin typeface="Tahoma"/>
                          <a:cs typeface="Tahoma"/>
                        </a:rPr>
                        <a:t>P</a:t>
                      </a:r>
                      <a:r>
                        <a:rPr sz="1000" dirty="0">
                          <a:latin typeface="Tahoma"/>
                          <a:cs typeface="Tahoma"/>
                        </a:rPr>
                        <a:t>U</a:t>
                      </a:r>
                      <a:r>
                        <a:rPr sz="1000" spc="-65" dirty="0">
                          <a:latin typeface="Tahoma"/>
                          <a:cs typeface="Tahoma"/>
                        </a:rPr>
                        <a:t> </a:t>
                      </a:r>
                      <a:r>
                        <a:rPr sz="1000" dirty="0">
                          <a:latin typeface="Tahoma"/>
                          <a:cs typeface="Tahoma"/>
                        </a:rPr>
                        <a:t>1</a:t>
                      </a:r>
                      <a:endParaRPr sz="1000">
                        <a:latin typeface="Tahoma"/>
                        <a:cs typeface="Tahoma"/>
                      </a:endParaRPr>
                    </a:p>
                  </a:txBody>
                  <a:tcPr marL="0" marR="0" marT="1035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815"/>
                        </a:spcBef>
                      </a:pPr>
                      <a:r>
                        <a:rPr sz="1000" spc="50" dirty="0">
                          <a:latin typeface="Tahoma"/>
                          <a:cs typeface="Tahoma"/>
                        </a:rPr>
                        <a:t>FORWARD</a:t>
                      </a:r>
                      <a:endParaRPr sz="1000">
                        <a:latin typeface="Tahoma"/>
                        <a:cs typeface="Tahoma"/>
                      </a:endParaRPr>
                    </a:p>
                  </a:txBody>
                  <a:tcPr marL="0" marR="0" marT="1035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2540" algn="ctr">
                        <a:lnSpc>
                          <a:spcPct val="100000"/>
                        </a:lnSpc>
                        <a:spcBef>
                          <a:spcPts val="815"/>
                        </a:spcBef>
                      </a:pPr>
                      <a:r>
                        <a:rPr sz="1000" spc="60" dirty="0">
                          <a:latin typeface="Tahoma"/>
                          <a:cs typeface="Tahoma"/>
                        </a:rPr>
                        <a:t>BACKWARD</a:t>
                      </a:r>
                      <a:endParaRPr sz="1000" dirty="0">
                        <a:latin typeface="Tahoma"/>
                        <a:cs typeface="Tahoma"/>
                      </a:endParaRPr>
                    </a:p>
                  </a:txBody>
                  <a:tcPr marL="0" marR="0" marT="1035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4"/>
                  </a:ext>
                </a:extLst>
              </a:tr>
            </a:tbl>
          </a:graphicData>
        </a:graphic>
      </p:graphicFrame>
      <p:sp>
        <p:nvSpPr>
          <p:cNvPr id="4" name="object 4"/>
          <p:cNvSpPr txBox="1"/>
          <p:nvPr/>
        </p:nvSpPr>
        <p:spPr>
          <a:xfrm>
            <a:off x="670099" y="1674619"/>
            <a:ext cx="10865044" cy="587340"/>
          </a:xfrm>
          <a:prstGeom prst="rect">
            <a:avLst/>
          </a:prstGeom>
        </p:spPr>
        <p:txBody>
          <a:bodyPr vert="horz" wrap="square" lIns="0" tIns="33020" rIns="0" bIns="0" rtlCol="0">
            <a:spAutoFit/>
          </a:bodyPr>
          <a:lstStyle/>
          <a:p>
            <a:pPr marL="12700" marR="5080">
              <a:spcBef>
                <a:spcPts val="600"/>
              </a:spcBef>
              <a:spcAft>
                <a:spcPts val="600"/>
              </a:spcAft>
            </a:pPr>
            <a:r>
              <a:rPr spc="15" dirty="0">
                <a:cs typeface="Tahoma"/>
              </a:rPr>
              <a:t>Imagine</a:t>
            </a:r>
            <a:r>
              <a:rPr spc="-55" dirty="0">
                <a:cs typeface="Tahoma"/>
              </a:rPr>
              <a:t> </a:t>
            </a:r>
            <a:r>
              <a:rPr spc="25" dirty="0">
                <a:cs typeface="Tahoma"/>
              </a:rPr>
              <a:t>we</a:t>
            </a:r>
            <a:r>
              <a:rPr spc="-70" dirty="0">
                <a:cs typeface="Tahoma"/>
              </a:rPr>
              <a:t> </a:t>
            </a:r>
            <a:r>
              <a:rPr dirty="0">
                <a:cs typeface="Tahoma"/>
              </a:rPr>
              <a:t>want</a:t>
            </a:r>
            <a:r>
              <a:rPr spc="-70" dirty="0">
                <a:cs typeface="Tahoma"/>
              </a:rPr>
              <a:t> </a:t>
            </a:r>
            <a:r>
              <a:rPr spc="30" dirty="0">
                <a:cs typeface="Tahoma"/>
              </a:rPr>
              <a:t>to</a:t>
            </a:r>
            <a:r>
              <a:rPr spc="-70" dirty="0">
                <a:cs typeface="Tahoma"/>
              </a:rPr>
              <a:t> </a:t>
            </a:r>
            <a:r>
              <a:rPr spc="5" dirty="0">
                <a:cs typeface="Tahoma"/>
              </a:rPr>
              <a:t>train</a:t>
            </a:r>
            <a:r>
              <a:rPr spc="-70" dirty="0">
                <a:cs typeface="Tahoma"/>
              </a:rPr>
              <a:t> </a:t>
            </a:r>
            <a:r>
              <a:rPr spc="35" dirty="0">
                <a:cs typeface="Tahoma"/>
              </a:rPr>
              <a:t>our</a:t>
            </a:r>
            <a:r>
              <a:rPr spc="-65" dirty="0">
                <a:cs typeface="Tahoma"/>
              </a:rPr>
              <a:t> </a:t>
            </a:r>
            <a:r>
              <a:rPr spc="35" dirty="0">
                <a:cs typeface="Tahoma"/>
              </a:rPr>
              <a:t>sharded</a:t>
            </a:r>
            <a:r>
              <a:rPr spc="-60" dirty="0">
                <a:cs typeface="Tahoma"/>
              </a:rPr>
              <a:t> </a:t>
            </a:r>
            <a:r>
              <a:rPr spc="60" dirty="0">
                <a:cs typeface="Tahoma"/>
              </a:rPr>
              <a:t>model</a:t>
            </a:r>
            <a:r>
              <a:rPr spc="-70" dirty="0">
                <a:cs typeface="Tahoma"/>
              </a:rPr>
              <a:t> </a:t>
            </a:r>
            <a:r>
              <a:rPr spc="50" dirty="0">
                <a:cs typeface="Tahoma"/>
              </a:rPr>
              <a:t>on</a:t>
            </a:r>
            <a:r>
              <a:rPr spc="-65" dirty="0">
                <a:cs typeface="Tahoma"/>
              </a:rPr>
              <a:t> </a:t>
            </a:r>
            <a:r>
              <a:rPr spc="10" dirty="0">
                <a:cs typeface="Tahoma"/>
              </a:rPr>
              <a:t>a</a:t>
            </a:r>
            <a:r>
              <a:rPr spc="-75" dirty="0">
                <a:cs typeface="Tahoma"/>
              </a:rPr>
              <a:t> </a:t>
            </a:r>
            <a:r>
              <a:rPr spc="35" dirty="0">
                <a:cs typeface="Tahoma"/>
              </a:rPr>
              <a:t>single</a:t>
            </a:r>
            <a:r>
              <a:rPr spc="-55" dirty="0">
                <a:cs typeface="Tahoma"/>
              </a:rPr>
              <a:t> </a:t>
            </a:r>
            <a:r>
              <a:rPr spc="10" dirty="0">
                <a:cs typeface="Tahoma"/>
              </a:rPr>
              <a:t>batch:</a:t>
            </a:r>
            <a:r>
              <a:rPr spc="-85" dirty="0">
                <a:cs typeface="Tahoma"/>
              </a:rPr>
              <a:t> </a:t>
            </a:r>
            <a:r>
              <a:rPr dirty="0">
                <a:cs typeface="Tahoma"/>
              </a:rPr>
              <a:t>it</a:t>
            </a:r>
            <a:r>
              <a:rPr spc="-70" dirty="0">
                <a:cs typeface="Tahoma"/>
              </a:rPr>
              <a:t> </a:t>
            </a:r>
            <a:r>
              <a:rPr spc="20" dirty="0">
                <a:cs typeface="Tahoma"/>
              </a:rPr>
              <a:t>will</a:t>
            </a:r>
            <a:r>
              <a:rPr spc="-80" dirty="0">
                <a:cs typeface="Tahoma"/>
              </a:rPr>
              <a:t> </a:t>
            </a:r>
            <a:r>
              <a:rPr spc="5" dirty="0">
                <a:cs typeface="Tahoma"/>
              </a:rPr>
              <a:t>take</a:t>
            </a:r>
            <a:r>
              <a:rPr spc="-85" dirty="0">
                <a:cs typeface="Tahoma"/>
              </a:rPr>
              <a:t> </a:t>
            </a:r>
            <a:r>
              <a:rPr spc="40" dirty="0">
                <a:cs typeface="Tahoma"/>
              </a:rPr>
              <a:t>8</a:t>
            </a:r>
            <a:r>
              <a:rPr spc="-60" dirty="0">
                <a:cs typeface="Tahoma"/>
              </a:rPr>
              <a:t> </a:t>
            </a:r>
            <a:r>
              <a:rPr spc="20" dirty="0">
                <a:cs typeface="Tahoma"/>
              </a:rPr>
              <a:t>timesteps</a:t>
            </a:r>
            <a:r>
              <a:rPr spc="-55" dirty="0">
                <a:cs typeface="Tahoma"/>
              </a:rPr>
              <a:t> </a:t>
            </a:r>
            <a:r>
              <a:rPr spc="30" dirty="0">
                <a:cs typeface="Tahoma"/>
              </a:rPr>
              <a:t>to</a:t>
            </a:r>
            <a:r>
              <a:rPr spc="-85" dirty="0">
                <a:cs typeface="Tahoma"/>
              </a:rPr>
              <a:t> </a:t>
            </a:r>
            <a:r>
              <a:rPr spc="90" dirty="0">
                <a:cs typeface="Tahoma"/>
              </a:rPr>
              <a:t>do</a:t>
            </a:r>
            <a:r>
              <a:rPr spc="-70" dirty="0">
                <a:cs typeface="Tahoma"/>
              </a:rPr>
              <a:t> </a:t>
            </a:r>
            <a:r>
              <a:rPr spc="-20" dirty="0">
                <a:cs typeface="Tahoma"/>
              </a:rPr>
              <a:t>it,</a:t>
            </a:r>
            <a:r>
              <a:rPr spc="-110" dirty="0">
                <a:cs typeface="Tahoma"/>
              </a:rPr>
              <a:t> </a:t>
            </a:r>
            <a:r>
              <a:rPr spc="40" dirty="0">
                <a:cs typeface="Tahoma"/>
              </a:rPr>
              <a:t>and</a:t>
            </a:r>
            <a:r>
              <a:rPr spc="-75" dirty="0">
                <a:cs typeface="Tahoma"/>
              </a:rPr>
              <a:t> </a:t>
            </a:r>
            <a:r>
              <a:rPr spc="-15" dirty="0">
                <a:cs typeface="Tahoma"/>
              </a:rPr>
              <a:t>at</a:t>
            </a:r>
            <a:r>
              <a:rPr spc="-80" dirty="0">
                <a:cs typeface="Tahoma"/>
              </a:rPr>
              <a:t> </a:t>
            </a:r>
            <a:r>
              <a:rPr spc="30" dirty="0">
                <a:cs typeface="Tahoma"/>
              </a:rPr>
              <a:t>each</a:t>
            </a:r>
            <a:r>
              <a:rPr spc="-65" dirty="0">
                <a:cs typeface="Tahoma"/>
              </a:rPr>
              <a:t> </a:t>
            </a:r>
            <a:r>
              <a:rPr spc="25" dirty="0">
                <a:cs typeface="Tahoma"/>
              </a:rPr>
              <a:t>time</a:t>
            </a:r>
            <a:r>
              <a:rPr spc="-70" dirty="0">
                <a:cs typeface="Tahoma"/>
              </a:rPr>
              <a:t> </a:t>
            </a:r>
            <a:r>
              <a:rPr spc="5" dirty="0">
                <a:cs typeface="Tahoma"/>
              </a:rPr>
              <a:t>step,</a:t>
            </a:r>
            <a:r>
              <a:rPr spc="-95" dirty="0">
                <a:cs typeface="Tahoma"/>
              </a:rPr>
              <a:t> </a:t>
            </a:r>
            <a:r>
              <a:rPr spc="30" dirty="0">
                <a:cs typeface="Tahoma"/>
              </a:rPr>
              <a:t>only</a:t>
            </a:r>
            <a:r>
              <a:rPr spc="-25" dirty="0">
                <a:cs typeface="Tahoma"/>
              </a:rPr>
              <a:t> </a:t>
            </a:r>
            <a:r>
              <a:rPr spc="50" dirty="0">
                <a:cs typeface="Tahoma"/>
              </a:rPr>
              <a:t>one</a:t>
            </a:r>
            <a:r>
              <a:rPr spc="-65" dirty="0">
                <a:cs typeface="Tahoma"/>
              </a:rPr>
              <a:t> </a:t>
            </a:r>
            <a:r>
              <a:rPr spc="75" dirty="0">
                <a:cs typeface="Tahoma"/>
              </a:rPr>
              <a:t>GPU</a:t>
            </a:r>
            <a:r>
              <a:rPr spc="-70" dirty="0">
                <a:cs typeface="Tahoma"/>
              </a:rPr>
              <a:t> </a:t>
            </a:r>
            <a:r>
              <a:rPr spc="10" dirty="0">
                <a:cs typeface="Tahoma"/>
              </a:rPr>
              <a:t>is </a:t>
            </a:r>
            <a:r>
              <a:rPr spc="-360" dirty="0">
                <a:cs typeface="Tahoma"/>
              </a:rPr>
              <a:t> </a:t>
            </a:r>
            <a:r>
              <a:rPr spc="35" dirty="0">
                <a:cs typeface="Tahoma"/>
              </a:rPr>
              <a:t>working</a:t>
            </a:r>
            <a:r>
              <a:rPr spc="-65" dirty="0">
                <a:cs typeface="Tahoma"/>
              </a:rPr>
              <a:t> </a:t>
            </a:r>
            <a:r>
              <a:rPr spc="25" dirty="0">
                <a:cs typeface="Tahoma"/>
              </a:rPr>
              <a:t>while</a:t>
            </a:r>
            <a:r>
              <a:rPr spc="-80" dirty="0">
                <a:cs typeface="Tahoma"/>
              </a:rPr>
              <a:t> </a:t>
            </a:r>
            <a:r>
              <a:rPr spc="15" dirty="0">
                <a:cs typeface="Tahoma"/>
              </a:rPr>
              <a:t>the</a:t>
            </a:r>
            <a:r>
              <a:rPr spc="-75" dirty="0">
                <a:cs typeface="Tahoma"/>
              </a:rPr>
              <a:t> </a:t>
            </a:r>
            <a:r>
              <a:rPr spc="20" dirty="0">
                <a:cs typeface="Tahoma"/>
              </a:rPr>
              <a:t>others</a:t>
            </a:r>
            <a:r>
              <a:rPr spc="-60" dirty="0">
                <a:cs typeface="Tahoma"/>
              </a:rPr>
              <a:t> </a:t>
            </a:r>
            <a:r>
              <a:rPr spc="10" dirty="0">
                <a:cs typeface="Tahoma"/>
              </a:rPr>
              <a:t>are</a:t>
            </a:r>
            <a:r>
              <a:rPr spc="-70" dirty="0">
                <a:cs typeface="Tahoma"/>
              </a:rPr>
              <a:t> </a:t>
            </a:r>
            <a:r>
              <a:rPr spc="20" dirty="0">
                <a:cs typeface="Tahoma"/>
              </a:rPr>
              <a:t>waiting</a:t>
            </a:r>
            <a:r>
              <a:rPr spc="-80" dirty="0">
                <a:cs typeface="Tahoma"/>
              </a:rPr>
              <a:t> </a:t>
            </a:r>
            <a:r>
              <a:rPr spc="30" dirty="0">
                <a:cs typeface="Tahoma"/>
              </a:rPr>
              <a:t>idle.</a:t>
            </a:r>
            <a:endParaRPr dirty="0">
              <a:cs typeface="Tahom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8144" y="593531"/>
            <a:ext cx="10865044" cy="649162"/>
          </a:xfrm>
          <a:prstGeom prst="rect">
            <a:avLst/>
          </a:prstGeom>
        </p:spPr>
        <p:txBody>
          <a:bodyPr vert="horz" lIns="0" tIns="0" rIns="0" bIns="0" rtlCol="0" anchor="ctr">
            <a:normAutofit/>
          </a:bodyPr>
          <a:lstStyle/>
          <a:p>
            <a:r>
              <a:rPr dirty="0">
                <a:latin typeface="+mn-lt"/>
              </a:rPr>
              <a:t>Pipeline Parallelism: </a:t>
            </a:r>
            <a:r>
              <a:rPr lang="en-US" dirty="0">
                <a:latin typeface="+mn-lt"/>
              </a:rPr>
              <a:t>T</a:t>
            </a:r>
            <a:r>
              <a:rPr dirty="0">
                <a:latin typeface="+mn-lt"/>
              </a:rPr>
              <a:t>he </a:t>
            </a:r>
            <a:r>
              <a:rPr lang="en-US" dirty="0">
                <a:latin typeface="+mn-lt"/>
              </a:rPr>
              <a:t>S</a:t>
            </a:r>
            <a:r>
              <a:rPr dirty="0">
                <a:latin typeface="+mn-lt"/>
              </a:rPr>
              <a:t>olution</a:t>
            </a:r>
          </a:p>
        </p:txBody>
      </p:sp>
      <p:graphicFrame>
        <p:nvGraphicFramePr>
          <p:cNvPr id="3" name="object 3"/>
          <p:cNvGraphicFramePr>
            <a:graphicFrameLocks noGrp="1"/>
          </p:cNvGraphicFramePr>
          <p:nvPr>
            <p:extLst>
              <p:ext uri="{D42A27DB-BD31-4B8C-83A1-F6EECF244321}">
                <p14:modId xmlns:p14="http://schemas.microsoft.com/office/powerpoint/2010/main" val="3094098029"/>
              </p:ext>
            </p:extLst>
          </p:nvPr>
        </p:nvGraphicFramePr>
        <p:xfrm>
          <a:off x="658814" y="2819654"/>
          <a:ext cx="10874373" cy="1904997"/>
        </p:xfrm>
        <a:graphic>
          <a:graphicData uri="http://schemas.openxmlformats.org/drawingml/2006/table">
            <a:tbl>
              <a:tblPr firstRow="1" bandRow="1">
                <a:tableStyleId>{2D5ABB26-0587-4C30-8999-92F81FD0307C}</a:tableStyleId>
              </a:tblPr>
              <a:tblGrid>
                <a:gridCol w="725763">
                  <a:extLst>
                    <a:ext uri="{9D8B030D-6E8A-4147-A177-3AD203B41FA5}">
                      <a16:colId xmlns:a16="http://schemas.microsoft.com/office/drawing/2014/main" val="20000"/>
                    </a:ext>
                  </a:extLst>
                </a:gridCol>
                <a:gridCol w="748085">
                  <a:extLst>
                    <a:ext uri="{9D8B030D-6E8A-4147-A177-3AD203B41FA5}">
                      <a16:colId xmlns:a16="http://schemas.microsoft.com/office/drawing/2014/main" val="20001"/>
                    </a:ext>
                  </a:extLst>
                </a:gridCol>
                <a:gridCol w="702838">
                  <a:extLst>
                    <a:ext uri="{9D8B030D-6E8A-4147-A177-3AD203B41FA5}">
                      <a16:colId xmlns:a16="http://schemas.microsoft.com/office/drawing/2014/main" val="20002"/>
                    </a:ext>
                  </a:extLst>
                </a:gridCol>
                <a:gridCol w="725159">
                  <a:extLst>
                    <a:ext uri="{9D8B030D-6E8A-4147-A177-3AD203B41FA5}">
                      <a16:colId xmlns:a16="http://schemas.microsoft.com/office/drawing/2014/main" val="20003"/>
                    </a:ext>
                  </a:extLst>
                </a:gridCol>
                <a:gridCol w="725160">
                  <a:extLst>
                    <a:ext uri="{9D8B030D-6E8A-4147-A177-3AD203B41FA5}">
                      <a16:colId xmlns:a16="http://schemas.microsoft.com/office/drawing/2014/main" val="20004"/>
                    </a:ext>
                  </a:extLst>
                </a:gridCol>
                <a:gridCol w="725160">
                  <a:extLst>
                    <a:ext uri="{9D8B030D-6E8A-4147-A177-3AD203B41FA5}">
                      <a16:colId xmlns:a16="http://schemas.microsoft.com/office/drawing/2014/main" val="20005"/>
                    </a:ext>
                  </a:extLst>
                </a:gridCol>
                <a:gridCol w="725762">
                  <a:extLst>
                    <a:ext uri="{9D8B030D-6E8A-4147-A177-3AD203B41FA5}">
                      <a16:colId xmlns:a16="http://schemas.microsoft.com/office/drawing/2014/main" val="20006"/>
                    </a:ext>
                  </a:extLst>
                </a:gridCol>
                <a:gridCol w="701028">
                  <a:extLst>
                    <a:ext uri="{9D8B030D-6E8A-4147-A177-3AD203B41FA5}">
                      <a16:colId xmlns:a16="http://schemas.microsoft.com/office/drawing/2014/main" val="20007"/>
                    </a:ext>
                  </a:extLst>
                </a:gridCol>
                <a:gridCol w="758943">
                  <a:extLst>
                    <a:ext uri="{9D8B030D-6E8A-4147-A177-3AD203B41FA5}">
                      <a16:colId xmlns:a16="http://schemas.microsoft.com/office/drawing/2014/main" val="20008"/>
                    </a:ext>
                  </a:extLst>
                </a:gridCol>
                <a:gridCol w="713697">
                  <a:extLst>
                    <a:ext uri="{9D8B030D-6E8A-4147-A177-3AD203B41FA5}">
                      <a16:colId xmlns:a16="http://schemas.microsoft.com/office/drawing/2014/main" val="20009"/>
                    </a:ext>
                  </a:extLst>
                </a:gridCol>
                <a:gridCol w="724555">
                  <a:extLst>
                    <a:ext uri="{9D8B030D-6E8A-4147-A177-3AD203B41FA5}">
                      <a16:colId xmlns:a16="http://schemas.microsoft.com/office/drawing/2014/main" val="20010"/>
                    </a:ext>
                  </a:extLst>
                </a:gridCol>
                <a:gridCol w="724555">
                  <a:extLst>
                    <a:ext uri="{9D8B030D-6E8A-4147-A177-3AD203B41FA5}">
                      <a16:colId xmlns:a16="http://schemas.microsoft.com/office/drawing/2014/main" val="20011"/>
                    </a:ext>
                  </a:extLst>
                </a:gridCol>
                <a:gridCol w="724555">
                  <a:extLst>
                    <a:ext uri="{9D8B030D-6E8A-4147-A177-3AD203B41FA5}">
                      <a16:colId xmlns:a16="http://schemas.microsoft.com/office/drawing/2014/main" val="20012"/>
                    </a:ext>
                  </a:extLst>
                </a:gridCol>
                <a:gridCol w="725160">
                  <a:extLst>
                    <a:ext uri="{9D8B030D-6E8A-4147-A177-3AD203B41FA5}">
                      <a16:colId xmlns:a16="http://schemas.microsoft.com/office/drawing/2014/main" val="20013"/>
                    </a:ext>
                  </a:extLst>
                </a:gridCol>
                <a:gridCol w="723953">
                  <a:extLst>
                    <a:ext uri="{9D8B030D-6E8A-4147-A177-3AD203B41FA5}">
                      <a16:colId xmlns:a16="http://schemas.microsoft.com/office/drawing/2014/main" val="20014"/>
                    </a:ext>
                  </a:extLst>
                </a:gridCol>
              </a:tblGrid>
              <a:tr h="370840">
                <a:tc>
                  <a:txBody>
                    <a:bodyPr/>
                    <a:lstStyle/>
                    <a:p>
                      <a:pPr algn="ctr">
                        <a:lnSpc>
                          <a:spcPct val="100000"/>
                        </a:lnSpc>
                        <a:spcBef>
                          <a:spcPts val="810"/>
                        </a:spcBef>
                      </a:pPr>
                      <a:r>
                        <a:rPr sz="1000" b="1" spc="-25" dirty="0">
                          <a:solidFill>
                            <a:srgbClr val="FFFFFF"/>
                          </a:solidFill>
                          <a:latin typeface="Tahoma"/>
                          <a:cs typeface="Tahoma"/>
                        </a:rPr>
                        <a:t>Timestep</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marR="17780" algn="ctr">
                        <a:lnSpc>
                          <a:spcPct val="100000"/>
                        </a:lnSpc>
                        <a:spcBef>
                          <a:spcPts val="810"/>
                        </a:spcBef>
                      </a:pPr>
                      <a:r>
                        <a:rPr sz="1000" b="1" dirty="0">
                          <a:solidFill>
                            <a:srgbClr val="FFFFFF"/>
                          </a:solidFill>
                          <a:latin typeface="Tahoma"/>
                          <a:cs typeface="Tahoma"/>
                        </a:rPr>
                        <a:t>0</a:t>
                      </a:r>
                      <a:endParaRPr sz="1000">
                        <a:latin typeface="Tahoma"/>
                        <a:cs typeface="Tahoma"/>
                      </a:endParaRPr>
                    </a:p>
                  </a:txBody>
                  <a:tcPr marL="0" marR="0" marT="102870" marB="0">
                    <a:lnL w="12700">
                      <a:solidFill>
                        <a:srgbClr val="FFFFFF"/>
                      </a:solidFill>
                      <a:prstDash val="solid"/>
                    </a:lnL>
                    <a:lnT w="12700">
                      <a:solidFill>
                        <a:srgbClr val="FFFFFF"/>
                      </a:solidFill>
                      <a:prstDash val="solid"/>
                    </a:lnT>
                    <a:lnB w="38100">
                      <a:solidFill>
                        <a:srgbClr val="FFFFFF"/>
                      </a:solidFill>
                      <a:prstDash val="solid"/>
                    </a:lnB>
                    <a:solidFill>
                      <a:srgbClr val="ED7660"/>
                    </a:solidFill>
                  </a:tcPr>
                </a:tc>
                <a:tc>
                  <a:txBody>
                    <a:bodyPr/>
                    <a:lstStyle/>
                    <a:p>
                      <a:pPr marR="17780" algn="ctr">
                        <a:lnSpc>
                          <a:spcPct val="100000"/>
                        </a:lnSpc>
                        <a:spcBef>
                          <a:spcPts val="810"/>
                        </a:spcBef>
                      </a:pPr>
                      <a:r>
                        <a:rPr sz="1000" b="1" dirty="0">
                          <a:solidFill>
                            <a:srgbClr val="FFFFFF"/>
                          </a:solidFill>
                          <a:latin typeface="Tahoma"/>
                          <a:cs typeface="Tahoma"/>
                        </a:rPr>
                        <a:t>1</a:t>
                      </a:r>
                      <a:endParaRPr sz="1000">
                        <a:latin typeface="Tahoma"/>
                        <a:cs typeface="Tahoma"/>
                      </a:endParaRPr>
                    </a:p>
                  </a:txBody>
                  <a:tcPr marL="0" marR="0" marT="102870" marB="0">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gn="ctr">
                        <a:lnSpc>
                          <a:spcPct val="100000"/>
                        </a:lnSpc>
                        <a:spcBef>
                          <a:spcPts val="810"/>
                        </a:spcBef>
                      </a:pPr>
                      <a:r>
                        <a:rPr sz="1000" b="1" dirty="0">
                          <a:solidFill>
                            <a:srgbClr val="FFFFFF"/>
                          </a:solidFill>
                          <a:latin typeface="Tahoma"/>
                          <a:cs typeface="Tahoma"/>
                        </a:rPr>
                        <a:t>2</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gn="ctr">
                        <a:lnSpc>
                          <a:spcPct val="100000"/>
                        </a:lnSpc>
                        <a:spcBef>
                          <a:spcPts val="810"/>
                        </a:spcBef>
                      </a:pPr>
                      <a:r>
                        <a:rPr sz="1000" b="1" dirty="0">
                          <a:solidFill>
                            <a:srgbClr val="FFFFFF"/>
                          </a:solidFill>
                          <a:latin typeface="Tahoma"/>
                          <a:cs typeface="Tahoma"/>
                        </a:rPr>
                        <a:t>3</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gn="ctr">
                        <a:lnSpc>
                          <a:spcPct val="100000"/>
                        </a:lnSpc>
                        <a:spcBef>
                          <a:spcPts val="810"/>
                        </a:spcBef>
                      </a:pPr>
                      <a:r>
                        <a:rPr sz="1000" b="1" dirty="0">
                          <a:solidFill>
                            <a:srgbClr val="FFFFFF"/>
                          </a:solidFill>
                          <a:latin typeface="Tahoma"/>
                          <a:cs typeface="Tahoma"/>
                        </a:rPr>
                        <a:t>4</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gn="ctr">
                        <a:lnSpc>
                          <a:spcPct val="100000"/>
                        </a:lnSpc>
                        <a:spcBef>
                          <a:spcPts val="810"/>
                        </a:spcBef>
                      </a:pPr>
                      <a:r>
                        <a:rPr sz="1000" b="1" dirty="0">
                          <a:solidFill>
                            <a:srgbClr val="FFFFFF"/>
                          </a:solidFill>
                          <a:latin typeface="Tahoma"/>
                          <a:cs typeface="Tahoma"/>
                        </a:rPr>
                        <a:t>5</a:t>
                      </a:r>
                      <a:endParaRPr sz="1000">
                        <a:latin typeface="Tahoma"/>
                        <a:cs typeface="Tahoma"/>
                      </a:endParaRPr>
                    </a:p>
                  </a:txBody>
                  <a:tcPr marL="0" marR="0" marT="102870" marB="0">
                    <a:lnL w="12700">
                      <a:solidFill>
                        <a:srgbClr val="FFFFFF"/>
                      </a:solidFill>
                      <a:prstDash val="solid"/>
                    </a:lnL>
                    <a:lnT w="12700">
                      <a:solidFill>
                        <a:srgbClr val="FFFFFF"/>
                      </a:solidFill>
                      <a:prstDash val="solid"/>
                    </a:lnT>
                    <a:lnB w="38100">
                      <a:solidFill>
                        <a:srgbClr val="FFFFFF"/>
                      </a:solidFill>
                      <a:prstDash val="solid"/>
                    </a:lnB>
                    <a:solidFill>
                      <a:srgbClr val="ED7660"/>
                    </a:solidFill>
                  </a:tcPr>
                </a:tc>
                <a:tc>
                  <a:txBody>
                    <a:bodyPr/>
                    <a:lstStyle/>
                    <a:p>
                      <a:pPr marL="22225" algn="ctr">
                        <a:lnSpc>
                          <a:spcPct val="100000"/>
                        </a:lnSpc>
                        <a:spcBef>
                          <a:spcPts val="810"/>
                        </a:spcBef>
                      </a:pPr>
                      <a:r>
                        <a:rPr sz="1000" b="1" dirty="0">
                          <a:solidFill>
                            <a:srgbClr val="FFFFFF"/>
                          </a:solidFill>
                          <a:latin typeface="Tahoma"/>
                          <a:cs typeface="Tahoma"/>
                        </a:rPr>
                        <a:t>6</a:t>
                      </a:r>
                      <a:endParaRPr sz="1000">
                        <a:latin typeface="Tahoma"/>
                        <a:cs typeface="Tahoma"/>
                      </a:endParaRPr>
                    </a:p>
                  </a:txBody>
                  <a:tcPr marL="0" marR="0" marT="102870" marB="0">
                    <a:lnT w="12700">
                      <a:solidFill>
                        <a:srgbClr val="FFFFFF"/>
                      </a:solidFill>
                      <a:prstDash val="solid"/>
                    </a:lnT>
                    <a:lnB w="38100">
                      <a:solidFill>
                        <a:srgbClr val="FFFFFF"/>
                      </a:solidFill>
                      <a:prstDash val="solid"/>
                    </a:lnB>
                    <a:solidFill>
                      <a:srgbClr val="ED7660"/>
                    </a:solidFill>
                  </a:tcPr>
                </a:tc>
                <a:tc>
                  <a:txBody>
                    <a:bodyPr/>
                    <a:lstStyle/>
                    <a:p>
                      <a:pPr marL="11430" algn="ctr">
                        <a:lnSpc>
                          <a:spcPct val="100000"/>
                        </a:lnSpc>
                        <a:spcBef>
                          <a:spcPts val="810"/>
                        </a:spcBef>
                      </a:pPr>
                      <a:r>
                        <a:rPr sz="1000" b="1" dirty="0">
                          <a:solidFill>
                            <a:srgbClr val="FFFFFF"/>
                          </a:solidFill>
                          <a:latin typeface="Tahoma"/>
                          <a:cs typeface="Tahoma"/>
                        </a:rPr>
                        <a:t>7</a:t>
                      </a:r>
                      <a:endParaRPr sz="1000">
                        <a:latin typeface="Tahoma"/>
                        <a:cs typeface="Tahoma"/>
                      </a:endParaRPr>
                    </a:p>
                  </a:txBody>
                  <a:tcPr marL="0" marR="0" marT="102870" marB="0">
                    <a:lnT w="12700">
                      <a:solidFill>
                        <a:srgbClr val="FFFFFF"/>
                      </a:solidFill>
                      <a:prstDash val="solid"/>
                    </a:lnT>
                    <a:lnB w="38100">
                      <a:solidFill>
                        <a:srgbClr val="FFFFFF"/>
                      </a:solidFill>
                      <a:prstDash val="solid"/>
                    </a:lnB>
                    <a:solidFill>
                      <a:srgbClr val="ED7660"/>
                    </a:solidFill>
                  </a:tcPr>
                </a:tc>
                <a:tc>
                  <a:txBody>
                    <a:bodyPr/>
                    <a:lstStyle/>
                    <a:p>
                      <a:pPr marR="3810" algn="ctr">
                        <a:lnSpc>
                          <a:spcPct val="100000"/>
                        </a:lnSpc>
                        <a:spcBef>
                          <a:spcPts val="810"/>
                        </a:spcBef>
                      </a:pPr>
                      <a:r>
                        <a:rPr sz="1000" b="1" dirty="0">
                          <a:solidFill>
                            <a:srgbClr val="FFFFFF"/>
                          </a:solidFill>
                          <a:latin typeface="Tahoma"/>
                          <a:cs typeface="Tahoma"/>
                        </a:rPr>
                        <a:t>8</a:t>
                      </a:r>
                      <a:endParaRPr sz="1000">
                        <a:latin typeface="Tahoma"/>
                        <a:cs typeface="Tahoma"/>
                      </a:endParaRPr>
                    </a:p>
                  </a:txBody>
                  <a:tcPr marL="0" marR="0" marT="102870" marB="0">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gn="ctr">
                        <a:lnSpc>
                          <a:spcPct val="100000"/>
                        </a:lnSpc>
                        <a:spcBef>
                          <a:spcPts val="810"/>
                        </a:spcBef>
                      </a:pPr>
                      <a:r>
                        <a:rPr sz="1000" b="1" dirty="0">
                          <a:solidFill>
                            <a:srgbClr val="FFFFFF"/>
                          </a:solidFill>
                          <a:latin typeface="Tahoma"/>
                          <a:cs typeface="Tahoma"/>
                        </a:rPr>
                        <a:t>9</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gn="ctr">
                        <a:lnSpc>
                          <a:spcPct val="100000"/>
                        </a:lnSpc>
                        <a:spcBef>
                          <a:spcPts val="810"/>
                        </a:spcBef>
                      </a:pPr>
                      <a:r>
                        <a:rPr sz="1000" b="1" spc="5" dirty="0">
                          <a:solidFill>
                            <a:srgbClr val="FFFFFF"/>
                          </a:solidFill>
                          <a:latin typeface="Tahoma"/>
                          <a:cs typeface="Tahoma"/>
                        </a:rPr>
                        <a:t>10</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marL="635" algn="ctr">
                        <a:lnSpc>
                          <a:spcPct val="100000"/>
                        </a:lnSpc>
                        <a:spcBef>
                          <a:spcPts val="810"/>
                        </a:spcBef>
                      </a:pPr>
                      <a:r>
                        <a:rPr sz="1000" b="1" spc="5" dirty="0">
                          <a:solidFill>
                            <a:srgbClr val="FFFFFF"/>
                          </a:solidFill>
                          <a:latin typeface="Tahoma"/>
                          <a:cs typeface="Tahoma"/>
                        </a:rPr>
                        <a:t>11</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tc>
                  <a:txBody>
                    <a:bodyPr/>
                    <a:lstStyle/>
                    <a:p>
                      <a:pPr algn="ctr">
                        <a:lnSpc>
                          <a:spcPct val="100000"/>
                        </a:lnSpc>
                        <a:spcBef>
                          <a:spcPts val="810"/>
                        </a:spcBef>
                      </a:pPr>
                      <a:r>
                        <a:rPr sz="1000" b="1" spc="5" dirty="0">
                          <a:solidFill>
                            <a:srgbClr val="FFFFFF"/>
                          </a:solidFill>
                          <a:latin typeface="Tahoma"/>
                          <a:cs typeface="Tahoma"/>
                        </a:rPr>
                        <a:t>12</a:t>
                      </a:r>
                      <a:endParaRPr sz="1000">
                        <a:latin typeface="Tahoma"/>
                        <a:cs typeface="Tahoma"/>
                      </a:endParaRPr>
                    </a:p>
                  </a:txBody>
                  <a:tcPr marL="0" marR="0" marT="102870" marB="0">
                    <a:lnL w="12700">
                      <a:solidFill>
                        <a:srgbClr val="FFFFFF"/>
                      </a:solidFill>
                      <a:prstDash val="solid"/>
                    </a:lnL>
                    <a:lnT w="12700">
                      <a:solidFill>
                        <a:srgbClr val="FFFFFF"/>
                      </a:solidFill>
                      <a:prstDash val="solid"/>
                    </a:lnT>
                    <a:lnB w="38100">
                      <a:solidFill>
                        <a:srgbClr val="FFFFFF"/>
                      </a:solidFill>
                      <a:prstDash val="solid"/>
                    </a:lnB>
                    <a:solidFill>
                      <a:srgbClr val="ED7660"/>
                    </a:solidFill>
                  </a:tcPr>
                </a:tc>
                <a:tc>
                  <a:txBody>
                    <a:bodyPr/>
                    <a:lstStyle/>
                    <a:p>
                      <a:pPr algn="ctr">
                        <a:lnSpc>
                          <a:spcPct val="100000"/>
                        </a:lnSpc>
                        <a:spcBef>
                          <a:spcPts val="810"/>
                        </a:spcBef>
                      </a:pPr>
                      <a:r>
                        <a:rPr sz="1000" b="1" spc="5" dirty="0">
                          <a:solidFill>
                            <a:srgbClr val="FFFFFF"/>
                          </a:solidFill>
                          <a:latin typeface="Tahoma"/>
                          <a:cs typeface="Tahoma"/>
                        </a:rPr>
                        <a:t>13</a:t>
                      </a:r>
                      <a:endParaRPr sz="1000" dirty="0">
                        <a:latin typeface="Tahoma"/>
                        <a:cs typeface="Tahoma"/>
                      </a:endParaRPr>
                    </a:p>
                  </a:txBody>
                  <a:tcPr marL="0" marR="0" marT="102870" marB="0">
                    <a:lnR w="12700">
                      <a:solidFill>
                        <a:srgbClr val="FFFFFF"/>
                      </a:solidFill>
                      <a:prstDash val="solid"/>
                    </a:lnR>
                    <a:lnT w="12700">
                      <a:solidFill>
                        <a:srgbClr val="FFFFFF"/>
                      </a:solidFill>
                      <a:prstDash val="solid"/>
                    </a:lnT>
                    <a:lnB w="38100">
                      <a:solidFill>
                        <a:srgbClr val="FFFFFF"/>
                      </a:solidFill>
                      <a:prstDash val="solid"/>
                    </a:lnB>
                    <a:solidFill>
                      <a:srgbClr val="ED7660"/>
                    </a:solidFill>
                  </a:tcPr>
                </a:tc>
                <a:extLst>
                  <a:ext uri="{0D108BD9-81ED-4DB2-BD59-A6C34878D82A}">
                    <a16:rowId xmlns:a16="http://schemas.microsoft.com/office/drawing/2014/main" val="10000"/>
                  </a:ext>
                </a:extLst>
              </a:tr>
              <a:tr h="370839">
                <a:tc>
                  <a:txBody>
                    <a:bodyPr/>
                    <a:lstStyle/>
                    <a:p>
                      <a:pPr algn="ctr">
                        <a:lnSpc>
                          <a:spcPct val="100000"/>
                        </a:lnSpc>
                        <a:spcBef>
                          <a:spcPts val="810"/>
                        </a:spcBef>
                      </a:pPr>
                      <a:r>
                        <a:rPr sz="1000" dirty="0">
                          <a:latin typeface="Tahoma"/>
                          <a:cs typeface="Tahoma"/>
                        </a:rPr>
                        <a:t>G</a:t>
                      </a:r>
                      <a:r>
                        <a:rPr sz="1000" spc="-5" dirty="0">
                          <a:latin typeface="Tahoma"/>
                          <a:cs typeface="Tahoma"/>
                        </a:rPr>
                        <a:t>P</a:t>
                      </a:r>
                      <a:r>
                        <a:rPr sz="1000" dirty="0">
                          <a:latin typeface="Tahoma"/>
                          <a:cs typeface="Tahoma"/>
                        </a:rPr>
                        <a:t>U</a:t>
                      </a:r>
                      <a:r>
                        <a:rPr sz="1000" spc="-65" dirty="0">
                          <a:latin typeface="Tahoma"/>
                          <a:cs typeface="Tahoma"/>
                        </a:rPr>
                        <a:t> </a:t>
                      </a:r>
                      <a:r>
                        <a:rPr sz="1000" dirty="0">
                          <a:latin typeface="Tahoma"/>
                          <a:cs typeface="Tahoma"/>
                        </a:rPr>
                        <a:t>4</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A"/>
                    </a:solidFill>
                  </a:tcPr>
                </a:tc>
                <a:tc gridSpan="2">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A"/>
                    </a:solidFill>
                  </a:tcPr>
                </a:tc>
                <a:tc hMerge="1">
                  <a:txBody>
                    <a:bodyPr/>
                    <a:lstStyle/>
                    <a:p>
                      <a:endParaRPr/>
                    </a:p>
                  </a:txBody>
                  <a:tcPr marL="0" marR="0" marT="0" marB="0"/>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810"/>
                        </a:spcBef>
                      </a:pPr>
                      <a:r>
                        <a:rPr sz="1000" spc="20" dirty="0">
                          <a:latin typeface="Tahoma"/>
                          <a:cs typeface="Tahoma"/>
                        </a:rPr>
                        <a:t>FW-1</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810"/>
                        </a:spcBef>
                      </a:pPr>
                      <a:r>
                        <a:rPr sz="1000" spc="20" dirty="0">
                          <a:latin typeface="Tahoma"/>
                          <a:cs typeface="Tahoma"/>
                        </a:rPr>
                        <a:t>FW-2</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810"/>
                        </a:spcBef>
                      </a:pPr>
                      <a:r>
                        <a:rPr sz="1000" spc="20" dirty="0">
                          <a:latin typeface="Tahoma"/>
                          <a:cs typeface="Tahoma"/>
                        </a:rPr>
                        <a:t>FW-3</a:t>
                      </a:r>
                      <a:endParaRPr sz="1000">
                        <a:latin typeface="Tahoma"/>
                        <a:cs typeface="Tahoma"/>
                      </a:endParaRPr>
                    </a:p>
                  </a:txBody>
                  <a:tcPr marL="0" marR="0" marT="102870" marB="0">
                    <a:lnL w="12700">
                      <a:solidFill>
                        <a:srgbClr val="FFFFFF"/>
                      </a:solidFill>
                      <a:prstDash val="solid"/>
                    </a:lnL>
                    <a:lnT w="38100">
                      <a:solidFill>
                        <a:srgbClr val="FFFFFF"/>
                      </a:solidFill>
                      <a:prstDash val="solid"/>
                    </a:lnT>
                    <a:lnB w="12700">
                      <a:solidFill>
                        <a:srgbClr val="FFFFFF"/>
                      </a:solidFill>
                      <a:prstDash val="solid"/>
                    </a:lnB>
                    <a:solidFill>
                      <a:srgbClr val="FBEBEA"/>
                    </a:solidFill>
                  </a:tcPr>
                </a:tc>
                <a:tc>
                  <a:txBody>
                    <a:bodyPr/>
                    <a:lstStyle/>
                    <a:p>
                      <a:pPr marL="24765" algn="ctr">
                        <a:lnSpc>
                          <a:spcPct val="100000"/>
                        </a:lnSpc>
                        <a:spcBef>
                          <a:spcPts val="810"/>
                        </a:spcBef>
                      </a:pPr>
                      <a:r>
                        <a:rPr sz="1000" spc="20" dirty="0">
                          <a:latin typeface="Tahoma"/>
                          <a:cs typeface="Tahoma"/>
                        </a:rPr>
                        <a:t>FW-4</a:t>
                      </a:r>
                      <a:endParaRPr sz="1000">
                        <a:latin typeface="Tahoma"/>
                        <a:cs typeface="Tahoma"/>
                      </a:endParaRPr>
                    </a:p>
                  </a:txBody>
                  <a:tcPr marL="0" marR="0" marT="102870" marB="0">
                    <a:lnT w="38100">
                      <a:solidFill>
                        <a:srgbClr val="FFFFFF"/>
                      </a:solidFill>
                      <a:prstDash val="solid"/>
                    </a:lnT>
                    <a:lnB w="12700">
                      <a:solidFill>
                        <a:srgbClr val="FFFFFF"/>
                      </a:solidFill>
                      <a:prstDash val="solid"/>
                    </a:lnB>
                    <a:solidFill>
                      <a:srgbClr val="FBEBEA"/>
                    </a:solidFill>
                  </a:tcPr>
                </a:tc>
                <a:tc>
                  <a:txBody>
                    <a:bodyPr/>
                    <a:lstStyle/>
                    <a:p>
                      <a:pPr marL="13970" algn="ctr">
                        <a:lnSpc>
                          <a:spcPct val="100000"/>
                        </a:lnSpc>
                        <a:spcBef>
                          <a:spcPts val="810"/>
                        </a:spcBef>
                      </a:pPr>
                      <a:r>
                        <a:rPr sz="1000" spc="40" dirty="0">
                          <a:latin typeface="Tahoma"/>
                          <a:cs typeface="Tahoma"/>
                        </a:rPr>
                        <a:t>BCW-4</a:t>
                      </a:r>
                      <a:endParaRPr sz="1000">
                        <a:latin typeface="Tahoma"/>
                        <a:cs typeface="Tahoma"/>
                      </a:endParaRPr>
                    </a:p>
                  </a:txBody>
                  <a:tcPr marL="0" marR="0" marT="102870" marB="0">
                    <a:lnT w="38100">
                      <a:solidFill>
                        <a:srgbClr val="FFFFFF"/>
                      </a:solidFill>
                      <a:prstDash val="solid"/>
                    </a:lnT>
                    <a:lnB w="12700">
                      <a:solidFill>
                        <a:srgbClr val="FFFFFF"/>
                      </a:solidFill>
                      <a:prstDash val="solid"/>
                    </a:lnB>
                    <a:solidFill>
                      <a:srgbClr val="FBEBEA"/>
                    </a:solidFill>
                  </a:tcPr>
                </a:tc>
                <a:tc>
                  <a:txBody>
                    <a:bodyPr/>
                    <a:lstStyle/>
                    <a:p>
                      <a:pPr marR="3175" algn="ctr">
                        <a:lnSpc>
                          <a:spcPct val="100000"/>
                        </a:lnSpc>
                        <a:spcBef>
                          <a:spcPts val="810"/>
                        </a:spcBef>
                      </a:pPr>
                      <a:r>
                        <a:rPr sz="1000" spc="35" dirty="0">
                          <a:latin typeface="Tahoma"/>
                          <a:cs typeface="Tahoma"/>
                        </a:rPr>
                        <a:t>BCK-3</a:t>
                      </a:r>
                      <a:endParaRPr sz="1000">
                        <a:latin typeface="Tahoma"/>
                        <a:cs typeface="Tahoma"/>
                      </a:endParaRPr>
                    </a:p>
                  </a:txBody>
                  <a:tcPr marL="0" marR="0" marT="102870" marB="0">
                    <a:lnR w="12700">
                      <a:solidFill>
                        <a:srgbClr val="FFFFFF"/>
                      </a:solidFill>
                      <a:prstDash val="solid"/>
                    </a:lnR>
                    <a:lnT w="381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810"/>
                        </a:spcBef>
                      </a:pPr>
                      <a:r>
                        <a:rPr sz="1000" spc="35" dirty="0">
                          <a:latin typeface="Tahoma"/>
                          <a:cs typeface="Tahoma"/>
                        </a:rPr>
                        <a:t>BCK-2</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810"/>
                        </a:spcBef>
                      </a:pPr>
                      <a:r>
                        <a:rPr sz="1000" spc="35" dirty="0">
                          <a:latin typeface="Tahoma"/>
                          <a:cs typeface="Tahoma"/>
                        </a:rPr>
                        <a:t>BCK-1</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A"/>
                    </a:solidFill>
                  </a:tcPr>
                </a:tc>
                <a:tc gridSpan="2">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BEBEA"/>
                    </a:solidFill>
                  </a:tcPr>
                </a:tc>
                <a:tc hMerge="1">
                  <a:txBody>
                    <a:bodyPr/>
                    <a:lstStyle/>
                    <a:p>
                      <a:endParaRPr/>
                    </a:p>
                  </a:txBody>
                  <a:tcPr marL="0" marR="0" marT="0" marB="0"/>
                </a:tc>
                <a:extLst>
                  <a:ext uri="{0D108BD9-81ED-4DB2-BD59-A6C34878D82A}">
                    <a16:rowId xmlns:a16="http://schemas.microsoft.com/office/drawing/2014/main" val="10001"/>
                  </a:ext>
                </a:extLst>
              </a:tr>
              <a:tr h="370839">
                <a:tc>
                  <a:txBody>
                    <a:bodyPr/>
                    <a:lstStyle/>
                    <a:p>
                      <a:pPr algn="ctr">
                        <a:lnSpc>
                          <a:spcPct val="100000"/>
                        </a:lnSpc>
                        <a:spcBef>
                          <a:spcPts val="810"/>
                        </a:spcBef>
                      </a:pPr>
                      <a:r>
                        <a:rPr sz="1000" dirty="0">
                          <a:latin typeface="Tahoma"/>
                          <a:cs typeface="Tahoma"/>
                        </a:rPr>
                        <a:t>G</a:t>
                      </a:r>
                      <a:r>
                        <a:rPr sz="1000" spc="-5" dirty="0">
                          <a:latin typeface="Tahoma"/>
                          <a:cs typeface="Tahoma"/>
                        </a:rPr>
                        <a:t>P</a:t>
                      </a:r>
                      <a:r>
                        <a:rPr sz="1000" dirty="0">
                          <a:latin typeface="Tahoma"/>
                          <a:cs typeface="Tahoma"/>
                        </a:rPr>
                        <a:t>U</a:t>
                      </a:r>
                      <a:r>
                        <a:rPr sz="1000" spc="-65" dirty="0">
                          <a:latin typeface="Tahoma"/>
                          <a:cs typeface="Tahoma"/>
                        </a:rPr>
                        <a:t> </a:t>
                      </a:r>
                      <a:r>
                        <a:rPr sz="1000" dirty="0">
                          <a:latin typeface="Tahoma"/>
                          <a:cs typeface="Tahoma"/>
                        </a:rPr>
                        <a:t>3</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gridSpan="2">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hMerge="1">
                  <a:txBody>
                    <a:bodyPr/>
                    <a:lstStyle/>
                    <a:p>
                      <a:endParaRPr/>
                    </a:p>
                  </a:txBody>
                  <a:tcPr marL="0" marR="0" marT="0" marB="0"/>
                </a:tc>
                <a:tc>
                  <a:txBody>
                    <a:bodyPr/>
                    <a:lstStyle/>
                    <a:p>
                      <a:pPr algn="ctr">
                        <a:lnSpc>
                          <a:spcPct val="100000"/>
                        </a:lnSpc>
                        <a:spcBef>
                          <a:spcPts val="810"/>
                        </a:spcBef>
                      </a:pPr>
                      <a:r>
                        <a:rPr sz="1000" spc="20" dirty="0">
                          <a:latin typeface="Tahoma"/>
                          <a:cs typeface="Tahoma"/>
                        </a:rPr>
                        <a:t>FW-1</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810"/>
                        </a:spcBef>
                      </a:pPr>
                      <a:r>
                        <a:rPr sz="1000" spc="20" dirty="0">
                          <a:latin typeface="Tahoma"/>
                          <a:cs typeface="Tahoma"/>
                        </a:rPr>
                        <a:t>FW-2</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810"/>
                        </a:spcBef>
                      </a:pPr>
                      <a:r>
                        <a:rPr sz="1000" spc="20" dirty="0">
                          <a:latin typeface="Tahoma"/>
                          <a:cs typeface="Tahoma"/>
                        </a:rPr>
                        <a:t>FW-3</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810"/>
                        </a:spcBef>
                      </a:pPr>
                      <a:r>
                        <a:rPr sz="1000" spc="20" dirty="0">
                          <a:latin typeface="Tahoma"/>
                          <a:cs typeface="Tahoma"/>
                        </a:rPr>
                        <a:t>FW-4</a:t>
                      </a:r>
                      <a:endParaRPr sz="1000">
                        <a:latin typeface="Tahoma"/>
                        <a:cs typeface="Tahoma"/>
                      </a:endParaRPr>
                    </a:p>
                  </a:txBody>
                  <a:tcPr marL="0" marR="0" marT="102870" marB="0">
                    <a:lnL w="12700">
                      <a:solidFill>
                        <a:srgbClr val="FFFFFF"/>
                      </a:solidFill>
                      <a:prstDash val="solid"/>
                    </a:lnL>
                    <a:lnT w="127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200">
                        <a:latin typeface="Times New Roman"/>
                        <a:cs typeface="Times New Roman"/>
                      </a:endParaRPr>
                    </a:p>
                  </a:txBody>
                  <a:tcPr marL="0" marR="0" marT="0" marB="0">
                    <a:lnT w="127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200">
                        <a:latin typeface="Times New Roman"/>
                        <a:cs typeface="Times New Roman"/>
                      </a:endParaRPr>
                    </a:p>
                  </a:txBody>
                  <a:tcPr marL="0" marR="0" marT="0" marB="0">
                    <a:lnT w="12700">
                      <a:solidFill>
                        <a:srgbClr val="FFFFFF"/>
                      </a:solidFill>
                      <a:prstDash val="solid"/>
                    </a:lnT>
                    <a:lnB w="12700">
                      <a:solidFill>
                        <a:srgbClr val="FFFFFF"/>
                      </a:solidFill>
                      <a:prstDash val="solid"/>
                    </a:lnB>
                    <a:solidFill>
                      <a:srgbClr val="FBEBEA"/>
                    </a:solidFill>
                  </a:tcPr>
                </a:tc>
                <a:tc>
                  <a:txBody>
                    <a:bodyPr/>
                    <a:lstStyle/>
                    <a:p>
                      <a:pPr marR="1905" algn="ctr">
                        <a:lnSpc>
                          <a:spcPct val="100000"/>
                        </a:lnSpc>
                        <a:spcBef>
                          <a:spcPts val="810"/>
                        </a:spcBef>
                      </a:pPr>
                      <a:r>
                        <a:rPr sz="1000" spc="40" dirty="0">
                          <a:latin typeface="Tahoma"/>
                          <a:cs typeface="Tahoma"/>
                        </a:rPr>
                        <a:t>BCW-4</a:t>
                      </a:r>
                      <a:endParaRPr sz="1000">
                        <a:latin typeface="Tahoma"/>
                        <a:cs typeface="Tahoma"/>
                      </a:endParaRPr>
                    </a:p>
                  </a:txBody>
                  <a:tcPr marL="0" marR="0" marT="102870" marB="0">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810"/>
                        </a:spcBef>
                      </a:pPr>
                      <a:r>
                        <a:rPr sz="1000" spc="35" dirty="0">
                          <a:latin typeface="Tahoma"/>
                          <a:cs typeface="Tahoma"/>
                        </a:rPr>
                        <a:t>BCK-3</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810"/>
                        </a:spcBef>
                      </a:pPr>
                      <a:r>
                        <a:rPr sz="1000" spc="35" dirty="0">
                          <a:latin typeface="Tahoma"/>
                          <a:cs typeface="Tahoma"/>
                        </a:rPr>
                        <a:t>BCK-2</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810"/>
                        </a:spcBef>
                      </a:pPr>
                      <a:r>
                        <a:rPr sz="1000" spc="35" dirty="0">
                          <a:latin typeface="Tahoma"/>
                          <a:cs typeface="Tahoma"/>
                        </a:rPr>
                        <a:t>BCK-1</a:t>
                      </a:r>
                      <a:endParaRPr sz="1000">
                        <a:latin typeface="Tahoma"/>
                        <a:cs typeface="Tahom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gridSpan="2">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hMerge="1">
                  <a:txBody>
                    <a:bodyPr/>
                    <a:lstStyle/>
                    <a:p>
                      <a:endParaRPr/>
                    </a:p>
                  </a:txBody>
                  <a:tcPr marL="0" marR="0" marT="0" marB="0"/>
                </a:tc>
                <a:extLst>
                  <a:ext uri="{0D108BD9-81ED-4DB2-BD59-A6C34878D82A}">
                    <a16:rowId xmlns:a16="http://schemas.microsoft.com/office/drawing/2014/main" val="10002"/>
                  </a:ext>
                </a:extLst>
              </a:tr>
              <a:tr h="396239">
                <a:tc>
                  <a:txBody>
                    <a:bodyPr/>
                    <a:lstStyle/>
                    <a:p>
                      <a:pPr algn="ctr">
                        <a:lnSpc>
                          <a:spcPct val="100000"/>
                        </a:lnSpc>
                        <a:spcBef>
                          <a:spcPts val="910"/>
                        </a:spcBef>
                      </a:pPr>
                      <a:r>
                        <a:rPr sz="1000" dirty="0">
                          <a:latin typeface="Tahoma"/>
                          <a:cs typeface="Tahoma"/>
                        </a:rPr>
                        <a:t>G</a:t>
                      </a:r>
                      <a:r>
                        <a:rPr sz="1000" spc="-5" dirty="0">
                          <a:latin typeface="Tahoma"/>
                          <a:cs typeface="Tahoma"/>
                        </a:rPr>
                        <a:t>P</a:t>
                      </a:r>
                      <a:r>
                        <a:rPr sz="1000" dirty="0">
                          <a:latin typeface="Tahoma"/>
                          <a:cs typeface="Tahoma"/>
                        </a:rPr>
                        <a:t>U</a:t>
                      </a:r>
                      <a:r>
                        <a:rPr sz="1000" spc="-65" dirty="0">
                          <a:latin typeface="Tahoma"/>
                          <a:cs typeface="Tahoma"/>
                        </a:rPr>
                        <a:t> </a:t>
                      </a:r>
                      <a:r>
                        <a:rPr sz="1000" dirty="0">
                          <a:latin typeface="Tahoma"/>
                          <a:cs typeface="Tahoma"/>
                        </a:rPr>
                        <a:t>2</a:t>
                      </a:r>
                      <a:endParaRPr sz="1000">
                        <a:latin typeface="Tahoma"/>
                        <a:cs typeface="Tahoma"/>
                      </a:endParaRPr>
                    </a:p>
                  </a:txBody>
                  <a:tcPr marL="0" marR="0" marT="1155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gridSpan="2">
                  <a:txBody>
                    <a:bodyPr/>
                    <a:lstStyle/>
                    <a:p>
                      <a:pPr marL="942340">
                        <a:lnSpc>
                          <a:spcPct val="100000"/>
                        </a:lnSpc>
                        <a:spcBef>
                          <a:spcPts val="910"/>
                        </a:spcBef>
                      </a:pPr>
                      <a:r>
                        <a:rPr sz="1000" spc="30" dirty="0">
                          <a:latin typeface="Tahoma"/>
                          <a:cs typeface="Tahoma"/>
                        </a:rPr>
                        <a:t>FWD-1</a:t>
                      </a:r>
                      <a:endParaRPr sz="1000">
                        <a:latin typeface="Tahoma"/>
                        <a:cs typeface="Tahoma"/>
                      </a:endParaRPr>
                    </a:p>
                  </a:txBody>
                  <a:tcPr marL="0" marR="0" marT="1155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hMerge="1">
                  <a:txBody>
                    <a:bodyPr/>
                    <a:lstStyle/>
                    <a:p>
                      <a:endParaRPr/>
                    </a:p>
                  </a:txBody>
                  <a:tcPr marL="0" marR="0" marT="0" marB="0"/>
                </a:tc>
                <a:tc>
                  <a:txBody>
                    <a:bodyPr/>
                    <a:lstStyle/>
                    <a:p>
                      <a:pPr algn="ctr">
                        <a:lnSpc>
                          <a:spcPct val="100000"/>
                        </a:lnSpc>
                        <a:spcBef>
                          <a:spcPts val="910"/>
                        </a:spcBef>
                      </a:pPr>
                      <a:r>
                        <a:rPr sz="1000" spc="20" dirty="0">
                          <a:latin typeface="Tahoma"/>
                          <a:cs typeface="Tahoma"/>
                        </a:rPr>
                        <a:t>FW-2</a:t>
                      </a:r>
                      <a:endParaRPr sz="1000">
                        <a:latin typeface="Tahoma"/>
                        <a:cs typeface="Tahoma"/>
                      </a:endParaRPr>
                    </a:p>
                  </a:txBody>
                  <a:tcPr marL="0" marR="0" marT="1155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910"/>
                        </a:spcBef>
                      </a:pPr>
                      <a:r>
                        <a:rPr sz="1000" spc="20" dirty="0">
                          <a:latin typeface="Tahoma"/>
                          <a:cs typeface="Tahoma"/>
                        </a:rPr>
                        <a:t>FW-3</a:t>
                      </a:r>
                      <a:endParaRPr sz="1000">
                        <a:latin typeface="Tahoma"/>
                        <a:cs typeface="Tahoma"/>
                      </a:endParaRPr>
                    </a:p>
                  </a:txBody>
                  <a:tcPr marL="0" marR="0" marT="1155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310"/>
                        </a:spcBef>
                      </a:pPr>
                      <a:r>
                        <a:rPr sz="1000" spc="20" dirty="0">
                          <a:latin typeface="Tahoma"/>
                          <a:cs typeface="Tahoma"/>
                        </a:rPr>
                        <a:t>FW-4</a:t>
                      </a:r>
                      <a:endParaRPr sz="1000">
                        <a:latin typeface="Tahoma"/>
                        <a:cs typeface="Tahoma"/>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gridSpan="4">
                  <a:txBody>
                    <a:bodyPr/>
                    <a:lstStyle/>
                    <a:p>
                      <a:pPr marL="998855">
                        <a:lnSpc>
                          <a:spcPts val="1290"/>
                        </a:lnSpc>
                        <a:spcBef>
                          <a:spcPts val="1730"/>
                        </a:spcBef>
                      </a:pPr>
                      <a:r>
                        <a:rPr sz="1800" spc="85" dirty="0">
                          <a:solidFill>
                            <a:srgbClr val="FFFFFF"/>
                          </a:solidFill>
                          <a:latin typeface="Tahoma"/>
                          <a:cs typeface="Tahoma"/>
                        </a:rPr>
                        <a:t>Bubble</a:t>
                      </a:r>
                      <a:endParaRPr sz="1800">
                        <a:latin typeface="Tahoma"/>
                        <a:cs typeface="Tahoma"/>
                      </a:endParaRPr>
                    </a:p>
                  </a:txBody>
                  <a:tcPr marL="0" marR="0" marT="2197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L="1905" algn="ctr">
                        <a:lnSpc>
                          <a:spcPct val="100000"/>
                        </a:lnSpc>
                        <a:spcBef>
                          <a:spcPts val="910"/>
                        </a:spcBef>
                      </a:pPr>
                      <a:r>
                        <a:rPr sz="1000" spc="40" dirty="0">
                          <a:latin typeface="Tahoma"/>
                          <a:cs typeface="Tahoma"/>
                        </a:rPr>
                        <a:t>BCW-4</a:t>
                      </a:r>
                      <a:endParaRPr sz="1000">
                        <a:latin typeface="Tahoma"/>
                        <a:cs typeface="Tahoma"/>
                      </a:endParaRPr>
                    </a:p>
                  </a:txBody>
                  <a:tcPr marL="0" marR="0" marT="1155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910"/>
                        </a:spcBef>
                      </a:pPr>
                      <a:r>
                        <a:rPr sz="1000" spc="35" dirty="0">
                          <a:latin typeface="Tahoma"/>
                          <a:cs typeface="Tahoma"/>
                        </a:rPr>
                        <a:t>BCK-3</a:t>
                      </a:r>
                      <a:endParaRPr sz="1000">
                        <a:latin typeface="Tahoma"/>
                        <a:cs typeface="Tahoma"/>
                      </a:endParaRPr>
                    </a:p>
                  </a:txBody>
                  <a:tcPr marL="0" marR="0" marT="1155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910"/>
                        </a:spcBef>
                      </a:pPr>
                      <a:r>
                        <a:rPr sz="1000" spc="35" dirty="0">
                          <a:latin typeface="Tahoma"/>
                          <a:cs typeface="Tahoma"/>
                        </a:rPr>
                        <a:t>BCK-2</a:t>
                      </a:r>
                      <a:endParaRPr sz="1000">
                        <a:latin typeface="Tahoma"/>
                        <a:cs typeface="Tahoma"/>
                      </a:endParaRPr>
                    </a:p>
                  </a:txBody>
                  <a:tcPr marL="0" marR="0" marT="1155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gridSpan="2">
                  <a:txBody>
                    <a:bodyPr/>
                    <a:lstStyle/>
                    <a:p>
                      <a:pPr marL="198755">
                        <a:lnSpc>
                          <a:spcPct val="100000"/>
                        </a:lnSpc>
                        <a:spcBef>
                          <a:spcPts val="910"/>
                        </a:spcBef>
                      </a:pPr>
                      <a:r>
                        <a:rPr sz="1000" spc="35" dirty="0">
                          <a:latin typeface="Tahoma"/>
                          <a:cs typeface="Tahoma"/>
                        </a:rPr>
                        <a:t>BCK-1</a:t>
                      </a:r>
                      <a:endParaRPr sz="1000">
                        <a:latin typeface="Tahoma"/>
                        <a:cs typeface="Tahoma"/>
                      </a:endParaRPr>
                    </a:p>
                  </a:txBody>
                  <a:tcPr marL="0" marR="0" marT="1155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hMerge="1">
                  <a:txBody>
                    <a:bodyPr/>
                    <a:lstStyle/>
                    <a:p>
                      <a:endParaRPr/>
                    </a:p>
                  </a:txBody>
                  <a:tcPr marL="0" marR="0" marT="0" marB="0"/>
                </a:tc>
                <a:extLst>
                  <a:ext uri="{0D108BD9-81ED-4DB2-BD59-A6C34878D82A}">
                    <a16:rowId xmlns:a16="http://schemas.microsoft.com/office/drawing/2014/main" val="10003"/>
                  </a:ext>
                </a:extLst>
              </a:tr>
              <a:tr h="396240">
                <a:tc>
                  <a:txBody>
                    <a:bodyPr/>
                    <a:lstStyle/>
                    <a:p>
                      <a:pPr algn="ctr">
                        <a:lnSpc>
                          <a:spcPct val="100000"/>
                        </a:lnSpc>
                        <a:spcBef>
                          <a:spcPts val="915"/>
                        </a:spcBef>
                      </a:pPr>
                      <a:r>
                        <a:rPr sz="1000" dirty="0">
                          <a:latin typeface="Tahoma"/>
                          <a:cs typeface="Tahoma"/>
                        </a:rPr>
                        <a:t>G</a:t>
                      </a:r>
                      <a:r>
                        <a:rPr sz="1000" spc="-5" dirty="0">
                          <a:latin typeface="Tahoma"/>
                          <a:cs typeface="Tahoma"/>
                        </a:rPr>
                        <a:t>P</a:t>
                      </a:r>
                      <a:r>
                        <a:rPr sz="1000" dirty="0">
                          <a:latin typeface="Tahoma"/>
                          <a:cs typeface="Tahoma"/>
                        </a:rPr>
                        <a:t>U</a:t>
                      </a:r>
                      <a:r>
                        <a:rPr sz="1000" spc="-65" dirty="0">
                          <a:latin typeface="Tahoma"/>
                          <a:cs typeface="Tahoma"/>
                        </a:rPr>
                        <a:t> </a:t>
                      </a:r>
                      <a:r>
                        <a:rPr sz="1000" dirty="0">
                          <a:latin typeface="Tahoma"/>
                          <a:cs typeface="Tahoma"/>
                        </a:rPr>
                        <a:t>1</a:t>
                      </a:r>
                      <a:endParaRPr sz="1000">
                        <a:latin typeface="Tahoma"/>
                        <a:cs typeface="Tahoma"/>
                      </a:endParaRPr>
                    </a:p>
                  </a:txBody>
                  <a:tcPr marL="0" marR="0" marT="1162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R="17145" algn="ctr">
                        <a:lnSpc>
                          <a:spcPct val="100000"/>
                        </a:lnSpc>
                        <a:spcBef>
                          <a:spcPts val="915"/>
                        </a:spcBef>
                      </a:pPr>
                      <a:r>
                        <a:rPr sz="1000" spc="30" dirty="0">
                          <a:latin typeface="Tahoma"/>
                          <a:cs typeface="Tahoma"/>
                        </a:rPr>
                        <a:t>FWD-1</a:t>
                      </a:r>
                      <a:endParaRPr sz="1000">
                        <a:latin typeface="Tahoma"/>
                        <a:cs typeface="Tahoma"/>
                      </a:endParaRPr>
                    </a:p>
                  </a:txBody>
                  <a:tcPr marL="0" marR="0" marT="116205" marB="0">
                    <a:lnL w="12700">
                      <a:solidFill>
                        <a:srgbClr val="FFFFFF"/>
                      </a:solidFill>
                      <a:prstDash val="solid"/>
                    </a:lnL>
                    <a:lnT w="12700">
                      <a:solidFill>
                        <a:srgbClr val="FFFFFF"/>
                      </a:solidFill>
                      <a:prstDash val="solid"/>
                    </a:lnT>
                    <a:lnB w="12700">
                      <a:solidFill>
                        <a:srgbClr val="FFFFFF"/>
                      </a:solidFill>
                      <a:prstDash val="solid"/>
                    </a:lnB>
                    <a:solidFill>
                      <a:srgbClr val="FBEBEA"/>
                    </a:solidFill>
                  </a:tcPr>
                </a:tc>
                <a:tc>
                  <a:txBody>
                    <a:bodyPr/>
                    <a:lstStyle/>
                    <a:p>
                      <a:pPr marR="15875" algn="ctr">
                        <a:lnSpc>
                          <a:spcPct val="100000"/>
                        </a:lnSpc>
                        <a:spcBef>
                          <a:spcPts val="915"/>
                        </a:spcBef>
                      </a:pPr>
                      <a:r>
                        <a:rPr sz="1000" spc="20" dirty="0">
                          <a:latin typeface="Tahoma"/>
                          <a:cs typeface="Tahoma"/>
                        </a:rPr>
                        <a:t>FW-2</a:t>
                      </a:r>
                      <a:endParaRPr sz="1000">
                        <a:latin typeface="Tahoma"/>
                        <a:cs typeface="Tahoma"/>
                      </a:endParaRPr>
                    </a:p>
                  </a:txBody>
                  <a:tcPr marL="0" marR="0" marT="116205" marB="0">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915"/>
                        </a:spcBef>
                      </a:pPr>
                      <a:r>
                        <a:rPr sz="1000" spc="20" dirty="0">
                          <a:latin typeface="Tahoma"/>
                          <a:cs typeface="Tahoma"/>
                        </a:rPr>
                        <a:t>FW-3</a:t>
                      </a:r>
                      <a:endParaRPr sz="1000">
                        <a:latin typeface="Tahoma"/>
                        <a:cs typeface="Tahoma"/>
                      </a:endParaRPr>
                    </a:p>
                  </a:txBody>
                  <a:tcPr marL="0" marR="0" marT="1162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315"/>
                        </a:spcBef>
                      </a:pPr>
                      <a:r>
                        <a:rPr sz="1000" spc="20" dirty="0">
                          <a:latin typeface="Tahoma"/>
                          <a:cs typeface="Tahoma"/>
                        </a:rPr>
                        <a:t>FW-4</a:t>
                      </a:r>
                      <a:endParaRPr sz="1000">
                        <a:latin typeface="Tahoma"/>
                        <a:cs typeface="Tahom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gridSpan="4">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1905" algn="ctr">
                        <a:lnSpc>
                          <a:spcPct val="100000"/>
                        </a:lnSpc>
                        <a:spcBef>
                          <a:spcPts val="915"/>
                        </a:spcBef>
                      </a:pPr>
                      <a:r>
                        <a:rPr sz="1000" spc="40" dirty="0">
                          <a:latin typeface="Tahoma"/>
                          <a:cs typeface="Tahoma"/>
                        </a:rPr>
                        <a:t>BCW-4</a:t>
                      </a:r>
                      <a:endParaRPr sz="1000">
                        <a:latin typeface="Tahoma"/>
                        <a:cs typeface="Tahoma"/>
                      </a:endParaRPr>
                    </a:p>
                  </a:txBody>
                  <a:tcPr marL="0" marR="0" marT="1162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915"/>
                        </a:spcBef>
                      </a:pPr>
                      <a:r>
                        <a:rPr sz="1000" spc="35" dirty="0">
                          <a:latin typeface="Tahoma"/>
                          <a:cs typeface="Tahoma"/>
                        </a:rPr>
                        <a:t>BCK-3</a:t>
                      </a:r>
                      <a:endParaRPr sz="1000">
                        <a:latin typeface="Tahoma"/>
                        <a:cs typeface="Tahoma"/>
                      </a:endParaRPr>
                    </a:p>
                  </a:txBody>
                  <a:tcPr marL="0" marR="0" marT="1162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915"/>
                        </a:spcBef>
                      </a:pPr>
                      <a:r>
                        <a:rPr sz="1000" spc="35" dirty="0">
                          <a:latin typeface="Tahoma"/>
                          <a:cs typeface="Tahoma"/>
                        </a:rPr>
                        <a:t>BCK-2</a:t>
                      </a:r>
                      <a:endParaRPr sz="1000">
                        <a:latin typeface="Tahoma"/>
                        <a:cs typeface="Tahoma"/>
                      </a:endParaRPr>
                    </a:p>
                  </a:txBody>
                  <a:tcPr marL="0" marR="0" marT="116205" marB="0">
                    <a:lnL w="12700">
                      <a:solidFill>
                        <a:srgbClr val="FFFFFF"/>
                      </a:solidFill>
                      <a:prstDash val="solid"/>
                    </a:lnL>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915"/>
                        </a:spcBef>
                      </a:pPr>
                      <a:r>
                        <a:rPr sz="1000" spc="35" dirty="0">
                          <a:latin typeface="Tahoma"/>
                          <a:cs typeface="Tahoma"/>
                        </a:rPr>
                        <a:t>BCK-1</a:t>
                      </a:r>
                      <a:endParaRPr sz="1000" dirty="0">
                        <a:latin typeface="Tahoma"/>
                        <a:cs typeface="Tahoma"/>
                      </a:endParaRPr>
                    </a:p>
                  </a:txBody>
                  <a:tcPr marL="0" marR="0" marT="116205" marB="0">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4"/>
                  </a:ext>
                </a:extLst>
              </a:tr>
            </a:tbl>
          </a:graphicData>
        </a:graphic>
      </p:graphicFrame>
      <p:grpSp>
        <p:nvGrpSpPr>
          <p:cNvPr id="4" name="object 4"/>
          <p:cNvGrpSpPr/>
          <p:nvPr/>
        </p:nvGrpSpPr>
        <p:grpSpPr>
          <a:xfrm>
            <a:off x="1377060" y="2759964"/>
            <a:ext cx="1517015" cy="1917700"/>
            <a:chOff x="1107906" y="2819654"/>
            <a:chExt cx="1517015" cy="1917700"/>
          </a:xfrm>
        </p:grpSpPr>
        <p:sp>
          <p:nvSpPr>
            <p:cNvPr id="5" name="object 5"/>
            <p:cNvSpPr/>
            <p:nvPr/>
          </p:nvSpPr>
          <p:spPr>
            <a:xfrm>
              <a:off x="1894331" y="2819654"/>
              <a:ext cx="0" cy="1917700"/>
            </a:xfrm>
            <a:custGeom>
              <a:avLst/>
              <a:gdLst/>
              <a:ahLst/>
              <a:cxnLst/>
              <a:rect l="l" t="t" r="r" b="b"/>
              <a:pathLst>
                <a:path h="1917700">
                  <a:moveTo>
                    <a:pt x="0" y="0"/>
                  </a:moveTo>
                  <a:lnTo>
                    <a:pt x="0" y="1917700"/>
                  </a:lnTo>
                </a:path>
              </a:pathLst>
            </a:custGeom>
            <a:ln w="12700">
              <a:solidFill>
                <a:srgbClr val="FFFFFF"/>
              </a:solidFill>
            </a:ln>
          </p:spPr>
          <p:txBody>
            <a:bodyPr wrap="square" lIns="0" tIns="0" rIns="0" bIns="0" rtlCol="0"/>
            <a:lstStyle/>
            <a:p>
              <a:endParaRPr/>
            </a:p>
          </p:txBody>
        </p:sp>
        <p:sp>
          <p:nvSpPr>
            <p:cNvPr id="6" name="object 6"/>
            <p:cNvSpPr/>
            <p:nvPr/>
          </p:nvSpPr>
          <p:spPr>
            <a:xfrm>
              <a:off x="1114256" y="3211571"/>
              <a:ext cx="1504315" cy="943610"/>
            </a:xfrm>
            <a:custGeom>
              <a:avLst/>
              <a:gdLst/>
              <a:ahLst/>
              <a:cxnLst/>
              <a:rect l="l" t="t" r="r" b="b"/>
              <a:pathLst>
                <a:path w="1504314" h="943610">
                  <a:moveTo>
                    <a:pt x="1143359" y="0"/>
                  </a:moveTo>
                  <a:lnTo>
                    <a:pt x="1095358" y="1871"/>
                  </a:lnTo>
                  <a:lnTo>
                    <a:pt x="1045451" y="6253"/>
                  </a:lnTo>
                  <a:lnTo>
                    <a:pt x="993835" y="13146"/>
                  </a:lnTo>
                  <a:lnTo>
                    <a:pt x="940707" y="22554"/>
                  </a:lnTo>
                  <a:lnTo>
                    <a:pt x="886266" y="34479"/>
                  </a:lnTo>
                  <a:lnTo>
                    <a:pt x="830708" y="48924"/>
                  </a:lnTo>
                  <a:lnTo>
                    <a:pt x="774231" y="65892"/>
                  </a:lnTo>
                  <a:lnTo>
                    <a:pt x="717032" y="85385"/>
                  </a:lnTo>
                  <a:lnTo>
                    <a:pt x="659309" y="107406"/>
                  </a:lnTo>
                  <a:lnTo>
                    <a:pt x="601259" y="131957"/>
                  </a:lnTo>
                  <a:lnTo>
                    <a:pt x="544117" y="158568"/>
                  </a:lnTo>
                  <a:lnTo>
                    <a:pt x="489073" y="186630"/>
                  </a:lnTo>
                  <a:lnTo>
                    <a:pt x="436257" y="215997"/>
                  </a:lnTo>
                  <a:lnTo>
                    <a:pt x="385800" y="246520"/>
                  </a:lnTo>
                  <a:lnTo>
                    <a:pt x="337832" y="278050"/>
                  </a:lnTo>
                  <a:lnTo>
                    <a:pt x="292483" y="310441"/>
                  </a:lnTo>
                  <a:lnTo>
                    <a:pt x="249883" y="343543"/>
                  </a:lnTo>
                  <a:lnTo>
                    <a:pt x="210163" y="377210"/>
                  </a:lnTo>
                  <a:lnTo>
                    <a:pt x="173453" y="411292"/>
                  </a:lnTo>
                  <a:lnTo>
                    <a:pt x="139883" y="445642"/>
                  </a:lnTo>
                  <a:lnTo>
                    <a:pt x="109584" y="480112"/>
                  </a:lnTo>
                  <a:lnTo>
                    <a:pt x="82685" y="514553"/>
                  </a:lnTo>
                  <a:lnTo>
                    <a:pt x="59317" y="548819"/>
                  </a:lnTo>
                  <a:lnTo>
                    <a:pt x="39610" y="582760"/>
                  </a:lnTo>
                  <a:lnTo>
                    <a:pt x="11701" y="649077"/>
                  </a:lnTo>
                  <a:lnTo>
                    <a:pt x="0" y="712321"/>
                  </a:lnTo>
                  <a:lnTo>
                    <a:pt x="552" y="742420"/>
                  </a:lnTo>
                  <a:lnTo>
                    <a:pt x="15116" y="798834"/>
                  </a:lnTo>
                  <a:lnTo>
                    <a:pt x="47197" y="847469"/>
                  </a:lnTo>
                  <a:lnTo>
                    <a:pt x="94798" y="886171"/>
                  </a:lnTo>
                  <a:lnTo>
                    <a:pt x="156338" y="914921"/>
                  </a:lnTo>
                  <a:lnTo>
                    <a:pt x="230239" y="933696"/>
                  </a:lnTo>
                  <a:lnTo>
                    <a:pt x="271332" y="939336"/>
                  </a:lnTo>
                  <a:lnTo>
                    <a:pt x="314923" y="942475"/>
                  </a:lnTo>
                  <a:lnTo>
                    <a:pt x="360816" y="943110"/>
                  </a:lnTo>
                  <a:lnTo>
                    <a:pt x="408812" y="941238"/>
                  </a:lnTo>
                  <a:lnTo>
                    <a:pt x="458714" y="936857"/>
                  </a:lnTo>
                  <a:lnTo>
                    <a:pt x="510325" y="929964"/>
                  </a:lnTo>
                  <a:lnTo>
                    <a:pt x="563449" y="920556"/>
                  </a:lnTo>
                  <a:lnTo>
                    <a:pt x="617886" y="908630"/>
                  </a:lnTo>
                  <a:lnTo>
                    <a:pt x="673441" y="894185"/>
                  </a:lnTo>
                  <a:lnTo>
                    <a:pt x="729915" y="877218"/>
                  </a:lnTo>
                  <a:lnTo>
                    <a:pt x="787112" y="857725"/>
                  </a:lnTo>
                  <a:lnTo>
                    <a:pt x="844834" y="835704"/>
                  </a:lnTo>
                  <a:lnTo>
                    <a:pt x="902884" y="811153"/>
                  </a:lnTo>
                  <a:lnTo>
                    <a:pt x="960027" y="784541"/>
                  </a:lnTo>
                  <a:lnTo>
                    <a:pt x="1015073" y="756476"/>
                  </a:lnTo>
                  <a:lnTo>
                    <a:pt x="1067892" y="727106"/>
                  </a:lnTo>
                  <a:lnTo>
                    <a:pt x="1118353" y="696579"/>
                  </a:lnTo>
                  <a:lnTo>
                    <a:pt x="1166327" y="665043"/>
                  </a:lnTo>
                  <a:lnTo>
                    <a:pt x="1211682" y="632646"/>
                  </a:lnTo>
                  <a:lnTo>
                    <a:pt x="1254288" y="599538"/>
                  </a:lnTo>
                  <a:lnTo>
                    <a:pt x="1294015" y="565866"/>
                  </a:lnTo>
                  <a:lnTo>
                    <a:pt x="1330732" y="531778"/>
                  </a:lnTo>
                  <a:lnTo>
                    <a:pt x="1364310" y="497422"/>
                  </a:lnTo>
                  <a:lnTo>
                    <a:pt x="1394616" y="462948"/>
                  </a:lnTo>
                  <a:lnTo>
                    <a:pt x="1421522" y="428503"/>
                  </a:lnTo>
                  <a:lnTo>
                    <a:pt x="1444897" y="394235"/>
                  </a:lnTo>
                  <a:lnTo>
                    <a:pt x="1464610" y="360293"/>
                  </a:lnTo>
                  <a:lnTo>
                    <a:pt x="1492528" y="293980"/>
                  </a:lnTo>
                  <a:lnTo>
                    <a:pt x="1504235" y="230749"/>
                  </a:lnTo>
                  <a:lnTo>
                    <a:pt x="1503683" y="200660"/>
                  </a:lnTo>
                  <a:lnTo>
                    <a:pt x="1489116" y="144276"/>
                  </a:lnTo>
                  <a:lnTo>
                    <a:pt x="1457026" y="95641"/>
                  </a:lnTo>
                  <a:lnTo>
                    <a:pt x="1409416" y="56938"/>
                  </a:lnTo>
                  <a:lnTo>
                    <a:pt x="1347865" y="28189"/>
                  </a:lnTo>
                  <a:lnTo>
                    <a:pt x="1273952" y="9414"/>
                  </a:lnTo>
                  <a:lnTo>
                    <a:pt x="1232854" y="3773"/>
                  </a:lnTo>
                  <a:lnTo>
                    <a:pt x="1189257" y="634"/>
                  </a:lnTo>
                  <a:lnTo>
                    <a:pt x="1143359" y="0"/>
                  </a:lnTo>
                  <a:close/>
                </a:path>
              </a:pathLst>
            </a:custGeom>
            <a:solidFill>
              <a:srgbClr val="5B525F"/>
            </a:solidFill>
          </p:spPr>
          <p:txBody>
            <a:bodyPr wrap="square" lIns="0" tIns="0" rIns="0" bIns="0" rtlCol="0"/>
            <a:lstStyle/>
            <a:p>
              <a:endParaRPr/>
            </a:p>
          </p:txBody>
        </p:sp>
        <p:sp>
          <p:nvSpPr>
            <p:cNvPr id="7" name="object 7"/>
            <p:cNvSpPr/>
            <p:nvPr/>
          </p:nvSpPr>
          <p:spPr>
            <a:xfrm>
              <a:off x="1114256" y="3211571"/>
              <a:ext cx="1504315" cy="943610"/>
            </a:xfrm>
            <a:custGeom>
              <a:avLst/>
              <a:gdLst/>
              <a:ahLst/>
              <a:cxnLst/>
              <a:rect l="l" t="t" r="r" b="b"/>
              <a:pathLst>
                <a:path w="1504314" h="943610">
                  <a:moveTo>
                    <a:pt x="15116" y="798834"/>
                  </a:moveTo>
                  <a:lnTo>
                    <a:pt x="5548" y="771307"/>
                  </a:lnTo>
                  <a:lnTo>
                    <a:pt x="552" y="742420"/>
                  </a:lnTo>
                  <a:lnTo>
                    <a:pt x="0" y="712321"/>
                  </a:lnTo>
                  <a:lnTo>
                    <a:pt x="3759" y="681157"/>
                  </a:lnTo>
                  <a:lnTo>
                    <a:pt x="23695" y="616228"/>
                  </a:lnTo>
                  <a:lnTo>
                    <a:pt x="59317" y="548819"/>
                  </a:lnTo>
                  <a:lnTo>
                    <a:pt x="82685" y="514553"/>
                  </a:lnTo>
                  <a:lnTo>
                    <a:pt x="109584" y="480112"/>
                  </a:lnTo>
                  <a:lnTo>
                    <a:pt x="139883" y="445642"/>
                  </a:lnTo>
                  <a:lnTo>
                    <a:pt x="173453" y="411292"/>
                  </a:lnTo>
                  <a:lnTo>
                    <a:pt x="210163" y="377210"/>
                  </a:lnTo>
                  <a:lnTo>
                    <a:pt x="249883" y="343543"/>
                  </a:lnTo>
                  <a:lnTo>
                    <a:pt x="292483" y="310441"/>
                  </a:lnTo>
                  <a:lnTo>
                    <a:pt x="337832" y="278050"/>
                  </a:lnTo>
                  <a:lnTo>
                    <a:pt x="385800" y="246520"/>
                  </a:lnTo>
                  <a:lnTo>
                    <a:pt x="436257" y="215997"/>
                  </a:lnTo>
                  <a:lnTo>
                    <a:pt x="489073" y="186630"/>
                  </a:lnTo>
                  <a:lnTo>
                    <a:pt x="544117" y="158568"/>
                  </a:lnTo>
                  <a:lnTo>
                    <a:pt x="601259" y="131957"/>
                  </a:lnTo>
                  <a:lnTo>
                    <a:pt x="659309" y="107406"/>
                  </a:lnTo>
                  <a:lnTo>
                    <a:pt x="717032" y="85385"/>
                  </a:lnTo>
                  <a:lnTo>
                    <a:pt x="774231" y="65892"/>
                  </a:lnTo>
                  <a:lnTo>
                    <a:pt x="830708" y="48924"/>
                  </a:lnTo>
                  <a:lnTo>
                    <a:pt x="886266" y="34479"/>
                  </a:lnTo>
                  <a:lnTo>
                    <a:pt x="940707" y="22554"/>
                  </a:lnTo>
                  <a:lnTo>
                    <a:pt x="993835" y="13146"/>
                  </a:lnTo>
                  <a:lnTo>
                    <a:pt x="1045451" y="6253"/>
                  </a:lnTo>
                  <a:lnTo>
                    <a:pt x="1095358" y="1871"/>
                  </a:lnTo>
                  <a:lnTo>
                    <a:pt x="1143359" y="0"/>
                  </a:lnTo>
                  <a:lnTo>
                    <a:pt x="1189257" y="634"/>
                  </a:lnTo>
                  <a:lnTo>
                    <a:pt x="1232854" y="3773"/>
                  </a:lnTo>
                  <a:lnTo>
                    <a:pt x="1273952" y="9414"/>
                  </a:lnTo>
                  <a:lnTo>
                    <a:pt x="1312355" y="17553"/>
                  </a:lnTo>
                  <a:lnTo>
                    <a:pt x="1380285" y="41318"/>
                  </a:lnTo>
                  <a:lnTo>
                    <a:pt x="1435062" y="75047"/>
                  </a:lnTo>
                  <a:lnTo>
                    <a:pt x="1475110" y="118718"/>
                  </a:lnTo>
                  <a:lnTo>
                    <a:pt x="1498687" y="171786"/>
                  </a:lnTo>
                  <a:lnTo>
                    <a:pt x="1504235" y="230749"/>
                  </a:lnTo>
                  <a:lnTo>
                    <a:pt x="1500473" y="261905"/>
                  </a:lnTo>
                  <a:lnTo>
                    <a:pt x="1480530" y="326825"/>
                  </a:lnTo>
                  <a:lnTo>
                    <a:pt x="1444897" y="394235"/>
                  </a:lnTo>
                  <a:lnTo>
                    <a:pt x="1421522" y="428503"/>
                  </a:lnTo>
                  <a:lnTo>
                    <a:pt x="1394616" y="462948"/>
                  </a:lnTo>
                  <a:lnTo>
                    <a:pt x="1364310" y="497422"/>
                  </a:lnTo>
                  <a:lnTo>
                    <a:pt x="1330732" y="531778"/>
                  </a:lnTo>
                  <a:lnTo>
                    <a:pt x="1294015" y="565866"/>
                  </a:lnTo>
                  <a:lnTo>
                    <a:pt x="1254288" y="599538"/>
                  </a:lnTo>
                  <a:lnTo>
                    <a:pt x="1211682" y="632646"/>
                  </a:lnTo>
                  <a:lnTo>
                    <a:pt x="1166327" y="665043"/>
                  </a:lnTo>
                  <a:lnTo>
                    <a:pt x="1118353" y="696579"/>
                  </a:lnTo>
                  <a:lnTo>
                    <a:pt x="1067892" y="727106"/>
                  </a:lnTo>
                  <a:lnTo>
                    <a:pt x="1015073" y="756476"/>
                  </a:lnTo>
                  <a:lnTo>
                    <a:pt x="960027" y="784541"/>
                  </a:lnTo>
                  <a:lnTo>
                    <a:pt x="902884" y="811153"/>
                  </a:lnTo>
                  <a:lnTo>
                    <a:pt x="844834" y="835704"/>
                  </a:lnTo>
                  <a:lnTo>
                    <a:pt x="787112" y="857725"/>
                  </a:lnTo>
                  <a:lnTo>
                    <a:pt x="729915" y="877218"/>
                  </a:lnTo>
                  <a:lnTo>
                    <a:pt x="673441" y="894185"/>
                  </a:lnTo>
                  <a:lnTo>
                    <a:pt x="617886" y="908630"/>
                  </a:lnTo>
                  <a:lnTo>
                    <a:pt x="563449" y="920556"/>
                  </a:lnTo>
                  <a:lnTo>
                    <a:pt x="510325" y="929964"/>
                  </a:lnTo>
                  <a:lnTo>
                    <a:pt x="458714" y="936857"/>
                  </a:lnTo>
                  <a:lnTo>
                    <a:pt x="408812" y="941238"/>
                  </a:lnTo>
                  <a:lnTo>
                    <a:pt x="360816" y="943110"/>
                  </a:lnTo>
                  <a:lnTo>
                    <a:pt x="314923" y="942475"/>
                  </a:lnTo>
                  <a:lnTo>
                    <a:pt x="271332" y="939336"/>
                  </a:lnTo>
                  <a:lnTo>
                    <a:pt x="230239" y="933696"/>
                  </a:lnTo>
                  <a:lnTo>
                    <a:pt x="191842" y="925556"/>
                  </a:lnTo>
                  <a:lnTo>
                    <a:pt x="123924" y="901791"/>
                  </a:lnTo>
                  <a:lnTo>
                    <a:pt x="69156" y="868063"/>
                  </a:lnTo>
                  <a:lnTo>
                    <a:pt x="29118" y="824391"/>
                  </a:lnTo>
                  <a:lnTo>
                    <a:pt x="15116" y="798834"/>
                  </a:lnTo>
                  <a:close/>
                </a:path>
              </a:pathLst>
            </a:custGeom>
            <a:ln w="12700">
              <a:solidFill>
                <a:srgbClr val="211E23"/>
              </a:solidFill>
            </a:ln>
          </p:spPr>
          <p:txBody>
            <a:bodyPr wrap="square" lIns="0" tIns="0" rIns="0" bIns="0" rtlCol="0"/>
            <a:lstStyle/>
            <a:p>
              <a:endParaRPr/>
            </a:p>
          </p:txBody>
        </p:sp>
        <p:sp>
          <p:nvSpPr>
            <p:cNvPr id="8" name="object 8"/>
            <p:cNvSpPr/>
            <p:nvPr/>
          </p:nvSpPr>
          <p:spPr>
            <a:xfrm>
              <a:off x="1506220" y="3506851"/>
              <a:ext cx="716280" cy="395605"/>
            </a:xfrm>
            <a:custGeom>
              <a:avLst/>
              <a:gdLst/>
              <a:ahLst/>
              <a:cxnLst/>
              <a:rect l="l" t="t" r="r" b="b"/>
              <a:pathLst>
                <a:path w="716280" h="395604">
                  <a:moveTo>
                    <a:pt x="74041" y="220599"/>
                  </a:moveTo>
                  <a:lnTo>
                    <a:pt x="67945" y="220853"/>
                  </a:lnTo>
                  <a:lnTo>
                    <a:pt x="61849" y="222250"/>
                  </a:lnTo>
                  <a:lnTo>
                    <a:pt x="55626" y="223519"/>
                  </a:lnTo>
                  <a:lnTo>
                    <a:pt x="49657" y="225425"/>
                  </a:lnTo>
                  <a:lnTo>
                    <a:pt x="44068" y="227965"/>
                  </a:lnTo>
                  <a:lnTo>
                    <a:pt x="0" y="247523"/>
                  </a:lnTo>
                  <a:lnTo>
                    <a:pt x="65786" y="395350"/>
                  </a:lnTo>
                  <a:lnTo>
                    <a:pt x="109884" y="375793"/>
                  </a:lnTo>
                  <a:lnTo>
                    <a:pt x="74930" y="375793"/>
                  </a:lnTo>
                  <a:lnTo>
                    <a:pt x="49276" y="317881"/>
                  </a:lnTo>
                  <a:lnTo>
                    <a:pt x="77137" y="305562"/>
                  </a:lnTo>
                  <a:lnTo>
                    <a:pt x="43815" y="305562"/>
                  </a:lnTo>
                  <a:lnTo>
                    <a:pt x="20828" y="253746"/>
                  </a:lnTo>
                  <a:lnTo>
                    <a:pt x="56642" y="238379"/>
                  </a:lnTo>
                  <a:lnTo>
                    <a:pt x="70485" y="236219"/>
                  </a:lnTo>
                  <a:lnTo>
                    <a:pt x="104520" y="236219"/>
                  </a:lnTo>
                  <a:lnTo>
                    <a:pt x="101092" y="231648"/>
                  </a:lnTo>
                  <a:lnTo>
                    <a:pt x="96139" y="228092"/>
                  </a:lnTo>
                  <a:lnTo>
                    <a:pt x="91059" y="224536"/>
                  </a:lnTo>
                  <a:lnTo>
                    <a:pt x="85725" y="222250"/>
                  </a:lnTo>
                  <a:lnTo>
                    <a:pt x="79883" y="221487"/>
                  </a:lnTo>
                  <a:lnTo>
                    <a:pt x="74041" y="220599"/>
                  </a:lnTo>
                  <a:close/>
                </a:path>
                <a:path w="716280" h="395604">
                  <a:moveTo>
                    <a:pt x="138721" y="298291"/>
                  </a:moveTo>
                  <a:lnTo>
                    <a:pt x="104370" y="298291"/>
                  </a:lnTo>
                  <a:lnTo>
                    <a:pt x="111252" y="298958"/>
                  </a:lnTo>
                  <a:lnTo>
                    <a:pt x="117417" y="301122"/>
                  </a:lnTo>
                  <a:lnTo>
                    <a:pt x="134112" y="326517"/>
                  </a:lnTo>
                  <a:lnTo>
                    <a:pt x="132842" y="335915"/>
                  </a:lnTo>
                  <a:lnTo>
                    <a:pt x="131191" y="340232"/>
                  </a:lnTo>
                  <a:lnTo>
                    <a:pt x="128524" y="344043"/>
                  </a:lnTo>
                  <a:lnTo>
                    <a:pt x="125856" y="347980"/>
                  </a:lnTo>
                  <a:lnTo>
                    <a:pt x="74930" y="375793"/>
                  </a:lnTo>
                  <a:lnTo>
                    <a:pt x="109884" y="375793"/>
                  </a:lnTo>
                  <a:lnTo>
                    <a:pt x="141731" y="352551"/>
                  </a:lnTo>
                  <a:lnTo>
                    <a:pt x="144906" y="346837"/>
                  </a:lnTo>
                  <a:lnTo>
                    <a:pt x="148081" y="341249"/>
                  </a:lnTo>
                  <a:lnTo>
                    <a:pt x="149732" y="335280"/>
                  </a:lnTo>
                  <a:lnTo>
                    <a:pt x="150494" y="322834"/>
                  </a:lnTo>
                  <a:lnTo>
                    <a:pt x="149225" y="316611"/>
                  </a:lnTo>
                  <a:lnTo>
                    <a:pt x="146557" y="310515"/>
                  </a:lnTo>
                  <a:lnTo>
                    <a:pt x="142533" y="303087"/>
                  </a:lnTo>
                  <a:lnTo>
                    <a:pt x="138721" y="298291"/>
                  </a:lnTo>
                  <a:close/>
                </a:path>
                <a:path w="716280" h="395604">
                  <a:moveTo>
                    <a:pt x="104520" y="236219"/>
                  </a:moveTo>
                  <a:lnTo>
                    <a:pt x="70485" y="236219"/>
                  </a:lnTo>
                  <a:lnTo>
                    <a:pt x="78740" y="237490"/>
                  </a:lnTo>
                  <a:lnTo>
                    <a:pt x="82423" y="239141"/>
                  </a:lnTo>
                  <a:lnTo>
                    <a:pt x="89027" y="243967"/>
                  </a:lnTo>
                  <a:lnTo>
                    <a:pt x="91821" y="247523"/>
                  </a:lnTo>
                  <a:lnTo>
                    <a:pt x="96139" y="257175"/>
                  </a:lnTo>
                  <a:lnTo>
                    <a:pt x="97028" y="261747"/>
                  </a:lnTo>
                  <a:lnTo>
                    <a:pt x="96266" y="270129"/>
                  </a:lnTo>
                  <a:lnTo>
                    <a:pt x="84351" y="286083"/>
                  </a:lnTo>
                  <a:lnTo>
                    <a:pt x="81153" y="288544"/>
                  </a:lnTo>
                  <a:lnTo>
                    <a:pt x="77724" y="290575"/>
                  </a:lnTo>
                  <a:lnTo>
                    <a:pt x="74168" y="292100"/>
                  </a:lnTo>
                  <a:lnTo>
                    <a:pt x="43815" y="305562"/>
                  </a:lnTo>
                  <a:lnTo>
                    <a:pt x="77137" y="305562"/>
                  </a:lnTo>
                  <a:lnTo>
                    <a:pt x="80010" y="304292"/>
                  </a:lnTo>
                  <a:lnTo>
                    <a:pt x="88749" y="300958"/>
                  </a:lnTo>
                  <a:lnTo>
                    <a:pt x="96869" y="298958"/>
                  </a:lnTo>
                  <a:lnTo>
                    <a:pt x="104370" y="298291"/>
                  </a:lnTo>
                  <a:lnTo>
                    <a:pt x="138721" y="298291"/>
                  </a:lnTo>
                  <a:lnTo>
                    <a:pt x="137699" y="297005"/>
                  </a:lnTo>
                  <a:lnTo>
                    <a:pt x="132056" y="292280"/>
                  </a:lnTo>
                  <a:lnTo>
                    <a:pt x="125603" y="288925"/>
                  </a:lnTo>
                  <a:lnTo>
                    <a:pt x="123445" y="288290"/>
                  </a:lnTo>
                  <a:lnTo>
                    <a:pt x="96774" y="288290"/>
                  </a:lnTo>
                  <a:lnTo>
                    <a:pt x="96520" y="287909"/>
                  </a:lnTo>
                  <a:lnTo>
                    <a:pt x="103632" y="282575"/>
                  </a:lnTo>
                  <a:lnTo>
                    <a:pt x="108204" y="275971"/>
                  </a:lnTo>
                  <a:lnTo>
                    <a:pt x="110490" y="268097"/>
                  </a:lnTo>
                  <a:lnTo>
                    <a:pt x="112649" y="260223"/>
                  </a:lnTo>
                  <a:lnTo>
                    <a:pt x="112014" y="252349"/>
                  </a:lnTo>
                  <a:lnTo>
                    <a:pt x="108585" y="244601"/>
                  </a:lnTo>
                  <a:lnTo>
                    <a:pt x="105283" y="237236"/>
                  </a:lnTo>
                  <a:lnTo>
                    <a:pt x="104520" y="236219"/>
                  </a:lnTo>
                  <a:close/>
                </a:path>
                <a:path w="716280" h="395604">
                  <a:moveTo>
                    <a:pt x="111521" y="286083"/>
                  </a:moveTo>
                  <a:lnTo>
                    <a:pt x="104225" y="286549"/>
                  </a:lnTo>
                  <a:lnTo>
                    <a:pt x="96774" y="288290"/>
                  </a:lnTo>
                  <a:lnTo>
                    <a:pt x="123445" y="288290"/>
                  </a:lnTo>
                  <a:lnTo>
                    <a:pt x="118651" y="286879"/>
                  </a:lnTo>
                  <a:lnTo>
                    <a:pt x="111521" y="286083"/>
                  </a:lnTo>
                  <a:close/>
                </a:path>
                <a:path w="716280" h="395604">
                  <a:moveTo>
                    <a:pt x="167131" y="233425"/>
                  </a:moveTo>
                  <a:lnTo>
                    <a:pt x="179450" y="299593"/>
                  </a:lnTo>
                  <a:lnTo>
                    <a:pt x="209210" y="327237"/>
                  </a:lnTo>
                  <a:lnTo>
                    <a:pt x="217154" y="327866"/>
                  </a:lnTo>
                  <a:lnTo>
                    <a:pt x="225645" y="326614"/>
                  </a:lnTo>
                  <a:lnTo>
                    <a:pt x="234696" y="323469"/>
                  </a:lnTo>
                  <a:lnTo>
                    <a:pt x="241681" y="320294"/>
                  </a:lnTo>
                  <a:lnTo>
                    <a:pt x="247396" y="315594"/>
                  </a:lnTo>
                  <a:lnTo>
                    <a:pt x="249087" y="313309"/>
                  </a:lnTo>
                  <a:lnTo>
                    <a:pt x="223138" y="313309"/>
                  </a:lnTo>
                  <a:lnTo>
                    <a:pt x="218948" y="313181"/>
                  </a:lnTo>
                  <a:lnTo>
                    <a:pt x="214756" y="312928"/>
                  </a:lnTo>
                  <a:lnTo>
                    <a:pt x="211074" y="311912"/>
                  </a:lnTo>
                  <a:lnTo>
                    <a:pt x="207644" y="309753"/>
                  </a:lnTo>
                  <a:lnTo>
                    <a:pt x="204343" y="307721"/>
                  </a:lnTo>
                  <a:lnTo>
                    <a:pt x="201294" y="304673"/>
                  </a:lnTo>
                  <a:lnTo>
                    <a:pt x="195961" y="297053"/>
                  </a:lnTo>
                  <a:lnTo>
                    <a:pt x="193421" y="292607"/>
                  </a:lnTo>
                  <a:lnTo>
                    <a:pt x="191022" y="287147"/>
                  </a:lnTo>
                  <a:lnTo>
                    <a:pt x="167131" y="233425"/>
                  </a:lnTo>
                  <a:close/>
                </a:path>
                <a:path w="716280" h="395604">
                  <a:moveTo>
                    <a:pt x="237617" y="202056"/>
                  </a:moveTo>
                  <a:lnTo>
                    <a:pt x="223266" y="208406"/>
                  </a:lnTo>
                  <a:lnTo>
                    <a:pt x="248412" y="265049"/>
                  </a:lnTo>
                  <a:lnTo>
                    <a:pt x="250190" y="271018"/>
                  </a:lnTo>
                  <a:lnTo>
                    <a:pt x="250582" y="276732"/>
                  </a:lnTo>
                  <a:lnTo>
                    <a:pt x="250963" y="280924"/>
                  </a:lnTo>
                  <a:lnTo>
                    <a:pt x="251010" y="283082"/>
                  </a:lnTo>
                  <a:lnTo>
                    <a:pt x="250698" y="287147"/>
                  </a:lnTo>
                  <a:lnTo>
                    <a:pt x="249174" y="291592"/>
                  </a:lnTo>
                  <a:lnTo>
                    <a:pt x="247777" y="295910"/>
                  </a:lnTo>
                  <a:lnTo>
                    <a:pt x="223138" y="313309"/>
                  </a:lnTo>
                  <a:lnTo>
                    <a:pt x="249087" y="313309"/>
                  </a:lnTo>
                  <a:lnTo>
                    <a:pt x="256794" y="302894"/>
                  </a:lnTo>
                  <a:lnTo>
                    <a:pt x="259206" y="296291"/>
                  </a:lnTo>
                  <a:lnTo>
                    <a:pt x="259461" y="289306"/>
                  </a:lnTo>
                  <a:lnTo>
                    <a:pt x="259842" y="289179"/>
                  </a:lnTo>
                  <a:lnTo>
                    <a:pt x="276571" y="289179"/>
                  </a:lnTo>
                  <a:lnTo>
                    <a:pt x="276225" y="288417"/>
                  </a:lnTo>
                  <a:lnTo>
                    <a:pt x="274193" y="284353"/>
                  </a:lnTo>
                  <a:lnTo>
                    <a:pt x="272669" y="280924"/>
                  </a:lnTo>
                  <a:lnTo>
                    <a:pt x="271399" y="278256"/>
                  </a:lnTo>
                  <a:lnTo>
                    <a:pt x="237617" y="202056"/>
                  </a:lnTo>
                  <a:close/>
                </a:path>
                <a:path w="716280" h="395604">
                  <a:moveTo>
                    <a:pt x="276571" y="289179"/>
                  </a:moveTo>
                  <a:lnTo>
                    <a:pt x="259842" y="289179"/>
                  </a:lnTo>
                  <a:lnTo>
                    <a:pt x="260857" y="291211"/>
                  </a:lnTo>
                  <a:lnTo>
                    <a:pt x="262128" y="293878"/>
                  </a:lnTo>
                  <a:lnTo>
                    <a:pt x="263718" y="297053"/>
                  </a:lnTo>
                  <a:lnTo>
                    <a:pt x="265303" y="300100"/>
                  </a:lnTo>
                  <a:lnTo>
                    <a:pt x="268224" y="305435"/>
                  </a:lnTo>
                  <a:lnTo>
                    <a:pt x="281813" y="299466"/>
                  </a:lnTo>
                  <a:lnTo>
                    <a:pt x="278130" y="292607"/>
                  </a:lnTo>
                  <a:lnTo>
                    <a:pt x="276571" y="289179"/>
                  </a:lnTo>
                  <a:close/>
                </a:path>
                <a:path w="716280" h="395604">
                  <a:moveTo>
                    <a:pt x="262890" y="118744"/>
                  </a:moveTo>
                  <a:lnTo>
                    <a:pt x="248538" y="125094"/>
                  </a:lnTo>
                  <a:lnTo>
                    <a:pt x="318769" y="283082"/>
                  </a:lnTo>
                  <a:lnTo>
                    <a:pt x="332994" y="276732"/>
                  </a:lnTo>
                  <a:lnTo>
                    <a:pt x="325628" y="260223"/>
                  </a:lnTo>
                  <a:lnTo>
                    <a:pt x="326009" y="259969"/>
                  </a:lnTo>
                  <a:lnTo>
                    <a:pt x="377395" y="259969"/>
                  </a:lnTo>
                  <a:lnTo>
                    <a:pt x="379094" y="259206"/>
                  </a:lnTo>
                  <a:lnTo>
                    <a:pt x="385444" y="254888"/>
                  </a:lnTo>
                  <a:lnTo>
                    <a:pt x="342773" y="254762"/>
                  </a:lnTo>
                  <a:lnTo>
                    <a:pt x="337566" y="253746"/>
                  </a:lnTo>
                  <a:lnTo>
                    <a:pt x="309625" y="228600"/>
                  </a:lnTo>
                  <a:lnTo>
                    <a:pt x="307086" y="223012"/>
                  </a:lnTo>
                  <a:lnTo>
                    <a:pt x="305688" y="217424"/>
                  </a:lnTo>
                  <a:lnTo>
                    <a:pt x="305562" y="211836"/>
                  </a:lnTo>
                  <a:lnTo>
                    <a:pt x="305307" y="206121"/>
                  </a:lnTo>
                  <a:lnTo>
                    <a:pt x="306051" y="200913"/>
                  </a:lnTo>
                  <a:lnTo>
                    <a:pt x="306114" y="200660"/>
                  </a:lnTo>
                  <a:lnTo>
                    <a:pt x="307803" y="195834"/>
                  </a:lnTo>
                  <a:lnTo>
                    <a:pt x="297053" y="195834"/>
                  </a:lnTo>
                  <a:lnTo>
                    <a:pt x="262890" y="118744"/>
                  </a:lnTo>
                  <a:close/>
                </a:path>
                <a:path w="716280" h="395604">
                  <a:moveTo>
                    <a:pt x="377395" y="259969"/>
                  </a:moveTo>
                  <a:lnTo>
                    <a:pt x="326009" y="259969"/>
                  </a:lnTo>
                  <a:lnTo>
                    <a:pt x="332994" y="264413"/>
                  </a:lnTo>
                  <a:lnTo>
                    <a:pt x="340487" y="266700"/>
                  </a:lnTo>
                  <a:lnTo>
                    <a:pt x="356743" y="267207"/>
                  </a:lnTo>
                  <a:lnTo>
                    <a:pt x="364363" y="265811"/>
                  </a:lnTo>
                  <a:lnTo>
                    <a:pt x="377395" y="259969"/>
                  </a:lnTo>
                  <a:close/>
                </a:path>
                <a:path w="716280" h="395604">
                  <a:moveTo>
                    <a:pt x="385025" y="168529"/>
                  </a:moveTo>
                  <a:lnTo>
                    <a:pt x="346710" y="168529"/>
                  </a:lnTo>
                  <a:lnTo>
                    <a:pt x="352171" y="168656"/>
                  </a:lnTo>
                  <a:lnTo>
                    <a:pt x="357378" y="169672"/>
                  </a:lnTo>
                  <a:lnTo>
                    <a:pt x="386588" y="200913"/>
                  </a:lnTo>
                  <a:lnTo>
                    <a:pt x="388865" y="217297"/>
                  </a:lnTo>
                  <a:lnTo>
                    <a:pt x="388813" y="218059"/>
                  </a:lnTo>
                  <a:lnTo>
                    <a:pt x="388366" y="222757"/>
                  </a:lnTo>
                  <a:lnTo>
                    <a:pt x="386842" y="227584"/>
                  </a:lnTo>
                  <a:lnTo>
                    <a:pt x="385318" y="232537"/>
                  </a:lnTo>
                  <a:lnTo>
                    <a:pt x="353694" y="254762"/>
                  </a:lnTo>
                  <a:lnTo>
                    <a:pt x="385563" y="254762"/>
                  </a:lnTo>
                  <a:lnTo>
                    <a:pt x="404875" y="218059"/>
                  </a:lnTo>
                  <a:lnTo>
                    <a:pt x="404494" y="210693"/>
                  </a:lnTo>
                  <a:lnTo>
                    <a:pt x="404241" y="203326"/>
                  </a:lnTo>
                  <a:lnTo>
                    <a:pt x="386588" y="170053"/>
                  </a:lnTo>
                  <a:lnTo>
                    <a:pt x="385025" y="168529"/>
                  </a:lnTo>
                  <a:close/>
                </a:path>
                <a:path w="716280" h="395604">
                  <a:moveTo>
                    <a:pt x="396621" y="59436"/>
                  </a:moveTo>
                  <a:lnTo>
                    <a:pt x="382269" y="65786"/>
                  </a:lnTo>
                  <a:lnTo>
                    <a:pt x="452374" y="223647"/>
                  </a:lnTo>
                  <a:lnTo>
                    <a:pt x="466725" y="217297"/>
                  </a:lnTo>
                  <a:lnTo>
                    <a:pt x="459359" y="200787"/>
                  </a:lnTo>
                  <a:lnTo>
                    <a:pt x="459740" y="200660"/>
                  </a:lnTo>
                  <a:lnTo>
                    <a:pt x="511132" y="200660"/>
                  </a:lnTo>
                  <a:lnTo>
                    <a:pt x="512825" y="199898"/>
                  </a:lnTo>
                  <a:lnTo>
                    <a:pt x="519175" y="195453"/>
                  </a:lnTo>
                  <a:lnTo>
                    <a:pt x="476504" y="195453"/>
                  </a:lnTo>
                  <a:lnTo>
                    <a:pt x="471297" y="194437"/>
                  </a:lnTo>
                  <a:lnTo>
                    <a:pt x="442837" y="168275"/>
                  </a:lnTo>
                  <a:lnTo>
                    <a:pt x="439038" y="146812"/>
                  </a:lnTo>
                  <a:lnTo>
                    <a:pt x="439800" y="141350"/>
                  </a:lnTo>
                  <a:lnTo>
                    <a:pt x="441452" y="136398"/>
                  </a:lnTo>
                  <a:lnTo>
                    <a:pt x="430784" y="136398"/>
                  </a:lnTo>
                  <a:lnTo>
                    <a:pt x="396621" y="59436"/>
                  </a:lnTo>
                  <a:close/>
                </a:path>
                <a:path w="716280" h="395604">
                  <a:moveTo>
                    <a:pt x="511132" y="200660"/>
                  </a:moveTo>
                  <a:lnTo>
                    <a:pt x="459740" y="200660"/>
                  </a:lnTo>
                  <a:lnTo>
                    <a:pt x="466725" y="204978"/>
                  </a:lnTo>
                  <a:lnTo>
                    <a:pt x="474218" y="207391"/>
                  </a:lnTo>
                  <a:lnTo>
                    <a:pt x="490474" y="207899"/>
                  </a:lnTo>
                  <a:lnTo>
                    <a:pt x="498094" y="206375"/>
                  </a:lnTo>
                  <a:lnTo>
                    <a:pt x="505206" y="203326"/>
                  </a:lnTo>
                  <a:lnTo>
                    <a:pt x="511132" y="200660"/>
                  </a:lnTo>
                  <a:close/>
                </a:path>
                <a:path w="716280" h="395604">
                  <a:moveTo>
                    <a:pt x="355727" y="154431"/>
                  </a:moveTo>
                  <a:lnTo>
                    <a:pt x="312547" y="167640"/>
                  </a:lnTo>
                  <a:lnTo>
                    <a:pt x="297434" y="195580"/>
                  </a:lnTo>
                  <a:lnTo>
                    <a:pt x="297053" y="195834"/>
                  </a:lnTo>
                  <a:lnTo>
                    <a:pt x="307803" y="195834"/>
                  </a:lnTo>
                  <a:lnTo>
                    <a:pt x="309499" y="190754"/>
                  </a:lnTo>
                  <a:lnTo>
                    <a:pt x="312293" y="186181"/>
                  </a:lnTo>
                  <a:lnTo>
                    <a:pt x="319659" y="178054"/>
                  </a:lnTo>
                  <a:lnTo>
                    <a:pt x="324231" y="174879"/>
                  </a:lnTo>
                  <a:lnTo>
                    <a:pt x="329692" y="172466"/>
                  </a:lnTo>
                  <a:lnTo>
                    <a:pt x="335534" y="169799"/>
                  </a:lnTo>
                  <a:lnTo>
                    <a:pt x="341249" y="168529"/>
                  </a:lnTo>
                  <a:lnTo>
                    <a:pt x="385025" y="168529"/>
                  </a:lnTo>
                  <a:lnTo>
                    <a:pt x="381381" y="164973"/>
                  </a:lnTo>
                  <a:lnTo>
                    <a:pt x="375538" y="161036"/>
                  </a:lnTo>
                  <a:lnTo>
                    <a:pt x="362585" y="155701"/>
                  </a:lnTo>
                  <a:lnTo>
                    <a:pt x="355727" y="154431"/>
                  </a:lnTo>
                  <a:close/>
                </a:path>
                <a:path w="716280" h="395604">
                  <a:moveTo>
                    <a:pt x="518627" y="109093"/>
                  </a:moveTo>
                  <a:lnTo>
                    <a:pt x="474853" y="109093"/>
                  </a:lnTo>
                  <a:lnTo>
                    <a:pt x="480441" y="109219"/>
                  </a:lnTo>
                  <a:lnTo>
                    <a:pt x="485902" y="109219"/>
                  </a:lnTo>
                  <a:lnTo>
                    <a:pt x="491109" y="110362"/>
                  </a:lnTo>
                  <a:lnTo>
                    <a:pt x="500506" y="114681"/>
                  </a:lnTo>
                  <a:lnTo>
                    <a:pt x="504698" y="117856"/>
                  </a:lnTo>
                  <a:lnTo>
                    <a:pt x="508507" y="121919"/>
                  </a:lnTo>
                  <a:lnTo>
                    <a:pt x="512318" y="125856"/>
                  </a:lnTo>
                  <a:lnTo>
                    <a:pt x="522555" y="158623"/>
                  </a:lnTo>
                  <a:lnTo>
                    <a:pt x="522097" y="163322"/>
                  </a:lnTo>
                  <a:lnTo>
                    <a:pt x="492887" y="194182"/>
                  </a:lnTo>
                  <a:lnTo>
                    <a:pt x="487425" y="195453"/>
                  </a:lnTo>
                  <a:lnTo>
                    <a:pt x="519175" y="195453"/>
                  </a:lnTo>
                  <a:lnTo>
                    <a:pt x="538607" y="158623"/>
                  </a:lnTo>
                  <a:lnTo>
                    <a:pt x="538226" y="151256"/>
                  </a:lnTo>
                  <a:lnTo>
                    <a:pt x="537972" y="143891"/>
                  </a:lnTo>
                  <a:lnTo>
                    <a:pt x="536194" y="136651"/>
                  </a:lnTo>
                  <a:lnTo>
                    <a:pt x="532892" y="129412"/>
                  </a:lnTo>
                  <a:lnTo>
                    <a:pt x="529717" y="122174"/>
                  </a:lnTo>
                  <a:lnTo>
                    <a:pt x="525526" y="115950"/>
                  </a:lnTo>
                  <a:lnTo>
                    <a:pt x="520319" y="110743"/>
                  </a:lnTo>
                  <a:lnTo>
                    <a:pt x="518627" y="109093"/>
                  </a:lnTo>
                  <a:close/>
                </a:path>
                <a:path w="716280" h="395604">
                  <a:moveTo>
                    <a:pt x="530352" y="0"/>
                  </a:moveTo>
                  <a:lnTo>
                    <a:pt x="516000" y="6350"/>
                  </a:lnTo>
                  <a:lnTo>
                    <a:pt x="586105" y="164337"/>
                  </a:lnTo>
                  <a:lnTo>
                    <a:pt x="600456" y="157987"/>
                  </a:lnTo>
                  <a:lnTo>
                    <a:pt x="530352" y="0"/>
                  </a:lnTo>
                  <a:close/>
                </a:path>
                <a:path w="716280" h="395604">
                  <a:moveTo>
                    <a:pt x="489457" y="95123"/>
                  </a:moveTo>
                  <a:lnTo>
                    <a:pt x="482092" y="95250"/>
                  </a:lnTo>
                  <a:lnTo>
                    <a:pt x="474725" y="95250"/>
                  </a:lnTo>
                  <a:lnTo>
                    <a:pt x="467232" y="97027"/>
                  </a:lnTo>
                  <a:lnTo>
                    <a:pt x="459486" y="100456"/>
                  </a:lnTo>
                  <a:lnTo>
                    <a:pt x="452500" y="103631"/>
                  </a:lnTo>
                  <a:lnTo>
                    <a:pt x="446278" y="108331"/>
                  </a:lnTo>
                  <a:lnTo>
                    <a:pt x="440962" y="114681"/>
                  </a:lnTo>
                  <a:lnTo>
                    <a:pt x="435737" y="120776"/>
                  </a:lnTo>
                  <a:lnTo>
                    <a:pt x="432562" y="128016"/>
                  </a:lnTo>
                  <a:lnTo>
                    <a:pt x="431165" y="136271"/>
                  </a:lnTo>
                  <a:lnTo>
                    <a:pt x="430784" y="136398"/>
                  </a:lnTo>
                  <a:lnTo>
                    <a:pt x="441452" y="136398"/>
                  </a:lnTo>
                  <a:lnTo>
                    <a:pt x="443230" y="131318"/>
                  </a:lnTo>
                  <a:lnTo>
                    <a:pt x="446024" y="126746"/>
                  </a:lnTo>
                  <a:lnTo>
                    <a:pt x="453390" y="118618"/>
                  </a:lnTo>
                  <a:lnTo>
                    <a:pt x="457962" y="115443"/>
                  </a:lnTo>
                  <a:lnTo>
                    <a:pt x="469265" y="110490"/>
                  </a:lnTo>
                  <a:lnTo>
                    <a:pt x="474853" y="109093"/>
                  </a:lnTo>
                  <a:lnTo>
                    <a:pt x="518627" y="109093"/>
                  </a:lnTo>
                  <a:lnTo>
                    <a:pt x="514985" y="105537"/>
                  </a:lnTo>
                  <a:lnTo>
                    <a:pt x="509143" y="101600"/>
                  </a:lnTo>
                  <a:lnTo>
                    <a:pt x="502793" y="99060"/>
                  </a:lnTo>
                  <a:lnTo>
                    <a:pt x="496316" y="96393"/>
                  </a:lnTo>
                  <a:lnTo>
                    <a:pt x="489457" y="95123"/>
                  </a:lnTo>
                  <a:close/>
                </a:path>
                <a:path w="716280" h="395604">
                  <a:moveTo>
                    <a:pt x="665353" y="16763"/>
                  </a:moveTo>
                  <a:lnTo>
                    <a:pt x="651382" y="16763"/>
                  </a:lnTo>
                  <a:lnTo>
                    <a:pt x="644017" y="18541"/>
                  </a:lnTo>
                  <a:lnTo>
                    <a:pt x="636397" y="21971"/>
                  </a:lnTo>
                  <a:lnTo>
                    <a:pt x="629412" y="25019"/>
                  </a:lnTo>
                  <a:lnTo>
                    <a:pt x="607694" y="52197"/>
                  </a:lnTo>
                  <a:lnTo>
                    <a:pt x="605282" y="58674"/>
                  </a:lnTo>
                  <a:lnTo>
                    <a:pt x="604266" y="65659"/>
                  </a:lnTo>
                  <a:lnTo>
                    <a:pt x="604774" y="80390"/>
                  </a:lnTo>
                  <a:lnTo>
                    <a:pt x="606679" y="87757"/>
                  </a:lnTo>
                  <a:lnTo>
                    <a:pt x="609981" y="95250"/>
                  </a:lnTo>
                  <a:lnTo>
                    <a:pt x="613156" y="102616"/>
                  </a:lnTo>
                  <a:lnTo>
                    <a:pt x="617474" y="108838"/>
                  </a:lnTo>
                  <a:lnTo>
                    <a:pt x="622807" y="113918"/>
                  </a:lnTo>
                  <a:lnTo>
                    <a:pt x="628142" y="119125"/>
                  </a:lnTo>
                  <a:lnTo>
                    <a:pt x="634111" y="123062"/>
                  </a:lnTo>
                  <a:lnTo>
                    <a:pt x="647192" y="128143"/>
                  </a:lnTo>
                  <a:lnTo>
                    <a:pt x="654050" y="129412"/>
                  </a:lnTo>
                  <a:lnTo>
                    <a:pt x="661416" y="129286"/>
                  </a:lnTo>
                  <a:lnTo>
                    <a:pt x="697327" y="115443"/>
                  </a:lnTo>
                  <a:lnTo>
                    <a:pt x="657479" y="115443"/>
                  </a:lnTo>
                  <a:lnTo>
                    <a:pt x="652653" y="114554"/>
                  </a:lnTo>
                  <a:lnTo>
                    <a:pt x="626363" y="92456"/>
                  </a:lnTo>
                  <a:lnTo>
                    <a:pt x="652081" y="81025"/>
                  </a:lnTo>
                  <a:lnTo>
                    <a:pt x="621538" y="81025"/>
                  </a:lnTo>
                  <a:lnTo>
                    <a:pt x="620013" y="76708"/>
                  </a:lnTo>
                  <a:lnTo>
                    <a:pt x="619252" y="72262"/>
                  </a:lnTo>
                  <a:lnTo>
                    <a:pt x="619506" y="62991"/>
                  </a:lnTo>
                  <a:lnTo>
                    <a:pt x="629666" y="42290"/>
                  </a:lnTo>
                  <a:lnTo>
                    <a:pt x="632841" y="38735"/>
                  </a:lnTo>
                  <a:lnTo>
                    <a:pt x="636905" y="35940"/>
                  </a:lnTo>
                  <a:lnTo>
                    <a:pt x="641604" y="33909"/>
                  </a:lnTo>
                  <a:lnTo>
                    <a:pt x="649106" y="31243"/>
                  </a:lnTo>
                  <a:lnTo>
                    <a:pt x="656193" y="30114"/>
                  </a:lnTo>
                  <a:lnTo>
                    <a:pt x="691431" y="30114"/>
                  </a:lnTo>
                  <a:lnTo>
                    <a:pt x="688721" y="27177"/>
                  </a:lnTo>
                  <a:lnTo>
                    <a:pt x="683387" y="23368"/>
                  </a:lnTo>
                  <a:lnTo>
                    <a:pt x="677672" y="20700"/>
                  </a:lnTo>
                  <a:lnTo>
                    <a:pt x="671830" y="18034"/>
                  </a:lnTo>
                  <a:lnTo>
                    <a:pt x="665353" y="16763"/>
                  </a:lnTo>
                  <a:close/>
                </a:path>
                <a:path w="716280" h="395604">
                  <a:moveTo>
                    <a:pt x="701802" y="81152"/>
                  </a:moveTo>
                  <a:lnTo>
                    <a:pt x="700913" y="86868"/>
                  </a:lnTo>
                  <a:lnTo>
                    <a:pt x="698627" y="92583"/>
                  </a:lnTo>
                  <a:lnTo>
                    <a:pt x="694690" y="98425"/>
                  </a:lnTo>
                  <a:lnTo>
                    <a:pt x="690880" y="104267"/>
                  </a:lnTo>
                  <a:lnTo>
                    <a:pt x="685292" y="108712"/>
                  </a:lnTo>
                  <a:lnTo>
                    <a:pt x="677799" y="112013"/>
                  </a:lnTo>
                  <a:lnTo>
                    <a:pt x="672846" y="114300"/>
                  </a:lnTo>
                  <a:lnTo>
                    <a:pt x="667893" y="115316"/>
                  </a:lnTo>
                  <a:lnTo>
                    <a:pt x="662686" y="115443"/>
                  </a:lnTo>
                  <a:lnTo>
                    <a:pt x="697327" y="115443"/>
                  </a:lnTo>
                  <a:lnTo>
                    <a:pt x="716026" y="84836"/>
                  </a:lnTo>
                  <a:lnTo>
                    <a:pt x="701802" y="81152"/>
                  </a:lnTo>
                  <a:close/>
                </a:path>
                <a:path w="716280" h="395604">
                  <a:moveTo>
                    <a:pt x="691431" y="30114"/>
                  </a:moveTo>
                  <a:lnTo>
                    <a:pt x="656193" y="30114"/>
                  </a:lnTo>
                  <a:lnTo>
                    <a:pt x="662874" y="30533"/>
                  </a:lnTo>
                  <a:lnTo>
                    <a:pt x="669163" y="32512"/>
                  </a:lnTo>
                  <a:lnTo>
                    <a:pt x="674979" y="35700"/>
                  </a:lnTo>
                  <a:lnTo>
                    <a:pt x="680069" y="39925"/>
                  </a:lnTo>
                  <a:lnTo>
                    <a:pt x="684468" y="45174"/>
                  </a:lnTo>
                  <a:lnTo>
                    <a:pt x="688213" y="51435"/>
                  </a:lnTo>
                  <a:lnTo>
                    <a:pt x="621538" y="81025"/>
                  </a:lnTo>
                  <a:lnTo>
                    <a:pt x="652081" y="81025"/>
                  </a:lnTo>
                  <a:lnTo>
                    <a:pt x="707517" y="56387"/>
                  </a:lnTo>
                  <a:lnTo>
                    <a:pt x="707009" y="54990"/>
                  </a:lnTo>
                  <a:lnTo>
                    <a:pt x="706119" y="52832"/>
                  </a:lnTo>
                  <a:lnTo>
                    <a:pt x="704723" y="49529"/>
                  </a:lnTo>
                  <a:lnTo>
                    <a:pt x="701802" y="42925"/>
                  </a:lnTo>
                  <a:lnTo>
                    <a:pt x="697992" y="37084"/>
                  </a:lnTo>
                  <a:lnTo>
                    <a:pt x="693293" y="32131"/>
                  </a:lnTo>
                  <a:lnTo>
                    <a:pt x="691431" y="30114"/>
                  </a:lnTo>
                  <a:close/>
                </a:path>
              </a:pathLst>
            </a:custGeom>
            <a:solidFill>
              <a:srgbClr val="FFFFFF"/>
            </a:solidFill>
          </p:spPr>
          <p:txBody>
            <a:bodyPr wrap="square" lIns="0" tIns="0" rIns="0" bIns="0" rtlCol="0"/>
            <a:lstStyle/>
            <a:p>
              <a:endParaRPr/>
            </a:p>
          </p:txBody>
        </p:sp>
      </p:grpSp>
      <p:grpSp>
        <p:nvGrpSpPr>
          <p:cNvPr id="9" name="object 9"/>
          <p:cNvGrpSpPr/>
          <p:nvPr/>
        </p:nvGrpSpPr>
        <p:grpSpPr>
          <a:xfrm>
            <a:off x="10014608" y="2794314"/>
            <a:ext cx="1517015" cy="1917700"/>
            <a:chOff x="10296831" y="2819654"/>
            <a:chExt cx="1517015" cy="1917700"/>
          </a:xfrm>
        </p:grpSpPr>
        <p:sp>
          <p:nvSpPr>
            <p:cNvPr id="10" name="object 10"/>
            <p:cNvSpPr/>
            <p:nvPr/>
          </p:nvSpPr>
          <p:spPr>
            <a:xfrm>
              <a:off x="11061572" y="2819654"/>
              <a:ext cx="0" cy="1917700"/>
            </a:xfrm>
            <a:custGeom>
              <a:avLst/>
              <a:gdLst/>
              <a:ahLst/>
              <a:cxnLst/>
              <a:rect l="l" t="t" r="r" b="b"/>
              <a:pathLst>
                <a:path h="1917700">
                  <a:moveTo>
                    <a:pt x="0" y="0"/>
                  </a:moveTo>
                  <a:lnTo>
                    <a:pt x="0" y="1917700"/>
                  </a:lnTo>
                </a:path>
              </a:pathLst>
            </a:custGeom>
            <a:ln w="12700">
              <a:solidFill>
                <a:srgbClr val="FFFFFF"/>
              </a:solidFill>
            </a:ln>
          </p:spPr>
          <p:txBody>
            <a:bodyPr wrap="square" lIns="0" tIns="0" rIns="0" bIns="0" rtlCol="0"/>
            <a:lstStyle/>
            <a:p>
              <a:endParaRPr/>
            </a:p>
          </p:txBody>
        </p:sp>
        <p:sp>
          <p:nvSpPr>
            <p:cNvPr id="11" name="object 11"/>
            <p:cNvSpPr/>
            <p:nvPr/>
          </p:nvSpPr>
          <p:spPr>
            <a:xfrm>
              <a:off x="10303181" y="3210673"/>
              <a:ext cx="1504315" cy="944244"/>
            </a:xfrm>
            <a:custGeom>
              <a:avLst/>
              <a:gdLst/>
              <a:ahLst/>
              <a:cxnLst/>
              <a:rect l="l" t="t" r="r" b="b"/>
              <a:pathLst>
                <a:path w="1504315" h="944245">
                  <a:moveTo>
                    <a:pt x="361084" y="0"/>
                  </a:moveTo>
                  <a:lnTo>
                    <a:pt x="315191" y="589"/>
                  </a:lnTo>
                  <a:lnTo>
                    <a:pt x="271596" y="3685"/>
                  </a:lnTo>
                  <a:lnTo>
                    <a:pt x="230496" y="9283"/>
                  </a:lnTo>
                  <a:lnTo>
                    <a:pt x="192089" y="17383"/>
                  </a:lnTo>
                  <a:lnTo>
                    <a:pt x="124140" y="41076"/>
                  </a:lnTo>
                  <a:lnTo>
                    <a:pt x="69327" y="74744"/>
                  </a:lnTo>
                  <a:lnTo>
                    <a:pt x="29227" y="118366"/>
                  </a:lnTo>
                  <a:lnTo>
                    <a:pt x="5597" y="171415"/>
                  </a:lnTo>
                  <a:lnTo>
                    <a:pt x="0" y="230391"/>
                  </a:lnTo>
                  <a:lnTo>
                    <a:pt x="3733" y="261559"/>
                  </a:lnTo>
                  <a:lnTo>
                    <a:pt x="23614" y="326510"/>
                  </a:lnTo>
                  <a:lnTo>
                    <a:pt x="59179" y="393960"/>
                  </a:lnTo>
                  <a:lnTo>
                    <a:pt x="82518" y="428251"/>
                  </a:lnTo>
                  <a:lnTo>
                    <a:pt x="109387" y="462721"/>
                  </a:lnTo>
                  <a:lnTo>
                    <a:pt x="139658" y="497223"/>
                  </a:lnTo>
                  <a:lnTo>
                    <a:pt x="173199" y="531607"/>
                  </a:lnTo>
                  <a:lnTo>
                    <a:pt x="209881" y="565725"/>
                  </a:lnTo>
                  <a:lnTo>
                    <a:pt x="249573" y="599429"/>
                  </a:lnTo>
                  <a:lnTo>
                    <a:pt x="292145" y="632570"/>
                  </a:lnTo>
                  <a:lnTo>
                    <a:pt x="337468" y="665000"/>
                  </a:lnTo>
                  <a:lnTo>
                    <a:pt x="385411" y="696571"/>
                  </a:lnTo>
                  <a:lnTo>
                    <a:pt x="435845" y="727134"/>
                  </a:lnTo>
                  <a:lnTo>
                    <a:pt x="488638" y="756540"/>
                  </a:lnTo>
                  <a:lnTo>
                    <a:pt x="543661" y="784641"/>
                  </a:lnTo>
                  <a:lnTo>
                    <a:pt x="600784" y="811289"/>
                  </a:lnTo>
                  <a:lnTo>
                    <a:pt x="658816" y="835911"/>
                  </a:lnTo>
                  <a:lnTo>
                    <a:pt x="716522" y="857999"/>
                  </a:lnTo>
                  <a:lnTo>
                    <a:pt x="773703" y="877556"/>
                  </a:lnTo>
                  <a:lnTo>
                    <a:pt x="830164" y="894585"/>
                  </a:lnTo>
                  <a:lnTo>
                    <a:pt x="885706" y="909088"/>
                  </a:lnTo>
                  <a:lnTo>
                    <a:pt x="940133" y="921068"/>
                  </a:lnTo>
                  <a:lnTo>
                    <a:pt x="993247" y="930528"/>
                  </a:lnTo>
                  <a:lnTo>
                    <a:pt x="1044852" y="937470"/>
                  </a:lnTo>
                  <a:lnTo>
                    <a:pt x="1094750" y="941897"/>
                  </a:lnTo>
                  <a:lnTo>
                    <a:pt x="1142744" y="943813"/>
                  </a:lnTo>
                  <a:lnTo>
                    <a:pt x="1188638" y="943218"/>
                  </a:lnTo>
                  <a:lnTo>
                    <a:pt x="1232233" y="940118"/>
                  </a:lnTo>
                  <a:lnTo>
                    <a:pt x="1273332" y="934513"/>
                  </a:lnTo>
                  <a:lnTo>
                    <a:pt x="1311740" y="926407"/>
                  </a:lnTo>
                  <a:lnTo>
                    <a:pt x="1379688" y="902702"/>
                  </a:lnTo>
                  <a:lnTo>
                    <a:pt x="1434501" y="869025"/>
                  </a:lnTo>
                  <a:lnTo>
                    <a:pt x="1474601" y="825397"/>
                  </a:lnTo>
                  <a:lnTo>
                    <a:pt x="1498232" y="772347"/>
                  </a:lnTo>
                  <a:lnTo>
                    <a:pt x="1503829" y="713371"/>
                  </a:lnTo>
                  <a:lnTo>
                    <a:pt x="1500096" y="682204"/>
                  </a:lnTo>
                  <a:lnTo>
                    <a:pt x="1480215" y="617253"/>
                  </a:lnTo>
                  <a:lnTo>
                    <a:pt x="1444650" y="549803"/>
                  </a:lnTo>
                  <a:lnTo>
                    <a:pt x="1421311" y="515512"/>
                  </a:lnTo>
                  <a:lnTo>
                    <a:pt x="1394441" y="481041"/>
                  </a:lnTo>
                  <a:lnTo>
                    <a:pt x="1364171" y="446540"/>
                  </a:lnTo>
                  <a:lnTo>
                    <a:pt x="1330630" y="412155"/>
                  </a:lnTo>
                  <a:lnTo>
                    <a:pt x="1293948" y="378037"/>
                  </a:lnTo>
                  <a:lnTo>
                    <a:pt x="1254256" y="344333"/>
                  </a:lnTo>
                  <a:lnTo>
                    <a:pt x="1211683" y="311192"/>
                  </a:lnTo>
                  <a:lnTo>
                    <a:pt x="1166360" y="278762"/>
                  </a:lnTo>
                  <a:lnTo>
                    <a:pt x="1118417" y="247191"/>
                  </a:lnTo>
                  <a:lnTo>
                    <a:pt x="1067984" y="216629"/>
                  </a:lnTo>
                  <a:lnTo>
                    <a:pt x="1015191" y="187223"/>
                  </a:lnTo>
                  <a:lnTo>
                    <a:pt x="960167" y="159121"/>
                  </a:lnTo>
                  <a:lnTo>
                    <a:pt x="903044" y="132474"/>
                  </a:lnTo>
                  <a:lnTo>
                    <a:pt x="845012" y="107868"/>
                  </a:lnTo>
                  <a:lnTo>
                    <a:pt x="787307" y="85793"/>
                  </a:lnTo>
                  <a:lnTo>
                    <a:pt x="730125" y="66246"/>
                  </a:lnTo>
                  <a:lnTo>
                    <a:pt x="673665" y="49225"/>
                  </a:lnTo>
                  <a:lnTo>
                    <a:pt x="618123" y="34727"/>
                  </a:lnTo>
                  <a:lnTo>
                    <a:pt x="563696" y="22750"/>
                  </a:lnTo>
                  <a:lnTo>
                    <a:pt x="510581" y="13291"/>
                  </a:lnTo>
                  <a:lnTo>
                    <a:pt x="458976" y="6348"/>
                  </a:lnTo>
                  <a:lnTo>
                    <a:pt x="409078" y="1918"/>
                  </a:lnTo>
                  <a:lnTo>
                    <a:pt x="361084" y="0"/>
                  </a:lnTo>
                  <a:close/>
                </a:path>
              </a:pathLst>
            </a:custGeom>
            <a:solidFill>
              <a:srgbClr val="5B525F"/>
            </a:solidFill>
          </p:spPr>
          <p:txBody>
            <a:bodyPr wrap="square" lIns="0" tIns="0" rIns="0" bIns="0" rtlCol="0"/>
            <a:lstStyle/>
            <a:p>
              <a:endParaRPr/>
            </a:p>
          </p:txBody>
        </p:sp>
        <p:sp>
          <p:nvSpPr>
            <p:cNvPr id="12" name="object 12"/>
            <p:cNvSpPr/>
            <p:nvPr/>
          </p:nvSpPr>
          <p:spPr>
            <a:xfrm>
              <a:off x="10303181" y="3210673"/>
              <a:ext cx="1504315" cy="944244"/>
            </a:xfrm>
            <a:custGeom>
              <a:avLst/>
              <a:gdLst/>
              <a:ahLst/>
              <a:cxnLst/>
              <a:rect l="l" t="t" r="r" b="b"/>
              <a:pathLst>
                <a:path w="1504315" h="944245">
                  <a:moveTo>
                    <a:pt x="15187" y="143904"/>
                  </a:moveTo>
                  <a:lnTo>
                    <a:pt x="47340" y="95312"/>
                  </a:lnTo>
                  <a:lnTo>
                    <a:pt x="94993" y="56665"/>
                  </a:lnTo>
                  <a:lnTo>
                    <a:pt x="156571" y="27982"/>
                  </a:lnTo>
                  <a:lnTo>
                    <a:pt x="230496" y="9283"/>
                  </a:lnTo>
                  <a:lnTo>
                    <a:pt x="271596" y="3685"/>
                  </a:lnTo>
                  <a:lnTo>
                    <a:pt x="315191" y="589"/>
                  </a:lnTo>
                  <a:lnTo>
                    <a:pt x="361084" y="0"/>
                  </a:lnTo>
                  <a:lnTo>
                    <a:pt x="409078" y="1918"/>
                  </a:lnTo>
                  <a:lnTo>
                    <a:pt x="458976" y="6348"/>
                  </a:lnTo>
                  <a:lnTo>
                    <a:pt x="510581" y="13291"/>
                  </a:lnTo>
                  <a:lnTo>
                    <a:pt x="563696" y="22750"/>
                  </a:lnTo>
                  <a:lnTo>
                    <a:pt x="618123" y="34727"/>
                  </a:lnTo>
                  <a:lnTo>
                    <a:pt x="673665" y="49225"/>
                  </a:lnTo>
                  <a:lnTo>
                    <a:pt x="730125" y="66246"/>
                  </a:lnTo>
                  <a:lnTo>
                    <a:pt x="787307" y="85793"/>
                  </a:lnTo>
                  <a:lnTo>
                    <a:pt x="845012" y="107868"/>
                  </a:lnTo>
                  <a:lnTo>
                    <a:pt x="903044" y="132474"/>
                  </a:lnTo>
                  <a:lnTo>
                    <a:pt x="960167" y="159121"/>
                  </a:lnTo>
                  <a:lnTo>
                    <a:pt x="1015191" y="187223"/>
                  </a:lnTo>
                  <a:lnTo>
                    <a:pt x="1067984" y="216629"/>
                  </a:lnTo>
                  <a:lnTo>
                    <a:pt x="1118417" y="247191"/>
                  </a:lnTo>
                  <a:lnTo>
                    <a:pt x="1166360" y="278762"/>
                  </a:lnTo>
                  <a:lnTo>
                    <a:pt x="1211683" y="311192"/>
                  </a:lnTo>
                  <a:lnTo>
                    <a:pt x="1254256" y="344333"/>
                  </a:lnTo>
                  <a:lnTo>
                    <a:pt x="1293948" y="378037"/>
                  </a:lnTo>
                  <a:lnTo>
                    <a:pt x="1330630" y="412155"/>
                  </a:lnTo>
                  <a:lnTo>
                    <a:pt x="1364171" y="446540"/>
                  </a:lnTo>
                  <a:lnTo>
                    <a:pt x="1394441" y="481041"/>
                  </a:lnTo>
                  <a:lnTo>
                    <a:pt x="1421311" y="515512"/>
                  </a:lnTo>
                  <a:lnTo>
                    <a:pt x="1444650" y="549803"/>
                  </a:lnTo>
                  <a:lnTo>
                    <a:pt x="1464328" y="583766"/>
                  </a:lnTo>
                  <a:lnTo>
                    <a:pt x="1492181" y="650115"/>
                  </a:lnTo>
                  <a:lnTo>
                    <a:pt x="1503829" y="713371"/>
                  </a:lnTo>
                  <a:lnTo>
                    <a:pt x="1503251" y="743468"/>
                  </a:lnTo>
                  <a:lnTo>
                    <a:pt x="1488641" y="799859"/>
                  </a:lnTo>
                  <a:lnTo>
                    <a:pt x="1456489" y="848454"/>
                  </a:lnTo>
                  <a:lnTo>
                    <a:pt x="1408835" y="887109"/>
                  </a:lnTo>
                  <a:lnTo>
                    <a:pt x="1347257" y="915803"/>
                  </a:lnTo>
                  <a:lnTo>
                    <a:pt x="1273332" y="934513"/>
                  </a:lnTo>
                  <a:lnTo>
                    <a:pt x="1232233" y="940118"/>
                  </a:lnTo>
                  <a:lnTo>
                    <a:pt x="1188638" y="943218"/>
                  </a:lnTo>
                  <a:lnTo>
                    <a:pt x="1142744" y="943813"/>
                  </a:lnTo>
                  <a:lnTo>
                    <a:pt x="1094750" y="941897"/>
                  </a:lnTo>
                  <a:lnTo>
                    <a:pt x="1044852" y="937470"/>
                  </a:lnTo>
                  <a:lnTo>
                    <a:pt x="993247" y="930528"/>
                  </a:lnTo>
                  <a:lnTo>
                    <a:pt x="940133" y="921068"/>
                  </a:lnTo>
                  <a:lnTo>
                    <a:pt x="885706" y="909088"/>
                  </a:lnTo>
                  <a:lnTo>
                    <a:pt x="830164" y="894585"/>
                  </a:lnTo>
                  <a:lnTo>
                    <a:pt x="773703" y="877556"/>
                  </a:lnTo>
                  <a:lnTo>
                    <a:pt x="716522" y="857999"/>
                  </a:lnTo>
                  <a:lnTo>
                    <a:pt x="658816" y="835911"/>
                  </a:lnTo>
                  <a:lnTo>
                    <a:pt x="600784" y="811289"/>
                  </a:lnTo>
                  <a:lnTo>
                    <a:pt x="543661" y="784641"/>
                  </a:lnTo>
                  <a:lnTo>
                    <a:pt x="488638" y="756540"/>
                  </a:lnTo>
                  <a:lnTo>
                    <a:pt x="435845" y="727134"/>
                  </a:lnTo>
                  <a:lnTo>
                    <a:pt x="385411" y="696571"/>
                  </a:lnTo>
                  <a:lnTo>
                    <a:pt x="337468" y="665000"/>
                  </a:lnTo>
                  <a:lnTo>
                    <a:pt x="292145" y="632570"/>
                  </a:lnTo>
                  <a:lnTo>
                    <a:pt x="249573" y="599429"/>
                  </a:lnTo>
                  <a:lnTo>
                    <a:pt x="209881" y="565725"/>
                  </a:lnTo>
                  <a:lnTo>
                    <a:pt x="173199" y="531607"/>
                  </a:lnTo>
                  <a:lnTo>
                    <a:pt x="139658" y="497223"/>
                  </a:lnTo>
                  <a:lnTo>
                    <a:pt x="109387" y="462721"/>
                  </a:lnTo>
                  <a:lnTo>
                    <a:pt x="82518" y="428251"/>
                  </a:lnTo>
                  <a:lnTo>
                    <a:pt x="59179" y="393960"/>
                  </a:lnTo>
                  <a:lnTo>
                    <a:pt x="39501" y="359996"/>
                  </a:lnTo>
                  <a:lnTo>
                    <a:pt x="11648" y="293648"/>
                  </a:lnTo>
                  <a:lnTo>
                    <a:pt x="0" y="230391"/>
                  </a:lnTo>
                  <a:lnTo>
                    <a:pt x="577" y="200294"/>
                  </a:lnTo>
                  <a:lnTo>
                    <a:pt x="5597" y="171415"/>
                  </a:lnTo>
                  <a:lnTo>
                    <a:pt x="15187" y="143904"/>
                  </a:lnTo>
                  <a:close/>
                </a:path>
              </a:pathLst>
            </a:custGeom>
            <a:ln w="12700">
              <a:solidFill>
                <a:srgbClr val="211E23"/>
              </a:solidFill>
            </a:ln>
          </p:spPr>
          <p:txBody>
            <a:bodyPr wrap="square" lIns="0" tIns="0" rIns="0" bIns="0" rtlCol="0"/>
            <a:lstStyle/>
            <a:p>
              <a:endParaRPr/>
            </a:p>
          </p:txBody>
        </p:sp>
        <p:sp>
          <p:nvSpPr>
            <p:cNvPr id="13" name="object 13"/>
            <p:cNvSpPr/>
            <p:nvPr/>
          </p:nvSpPr>
          <p:spPr>
            <a:xfrm>
              <a:off x="10695177" y="3462909"/>
              <a:ext cx="690880" cy="430530"/>
            </a:xfrm>
            <a:custGeom>
              <a:avLst/>
              <a:gdLst/>
              <a:ahLst/>
              <a:cxnLst/>
              <a:rect l="l" t="t" r="r" b="b"/>
              <a:pathLst>
                <a:path w="690879" h="430529">
                  <a:moveTo>
                    <a:pt x="285632" y="250316"/>
                  </a:moveTo>
                  <a:lnTo>
                    <a:pt x="274574" y="250316"/>
                  </a:lnTo>
                  <a:lnTo>
                    <a:pt x="274954" y="250443"/>
                  </a:lnTo>
                  <a:lnTo>
                    <a:pt x="276351" y="258571"/>
                  </a:lnTo>
                  <a:lnTo>
                    <a:pt x="311023" y="289432"/>
                  </a:lnTo>
                  <a:lnTo>
                    <a:pt x="333248" y="291338"/>
                  </a:lnTo>
                  <a:lnTo>
                    <a:pt x="340232" y="290067"/>
                  </a:lnTo>
                  <a:lnTo>
                    <a:pt x="346582" y="287400"/>
                  </a:lnTo>
                  <a:lnTo>
                    <a:pt x="353060" y="284860"/>
                  </a:lnTo>
                  <a:lnTo>
                    <a:pt x="358901" y="280923"/>
                  </a:lnTo>
                  <a:lnTo>
                    <a:pt x="362711" y="277113"/>
                  </a:lnTo>
                  <a:lnTo>
                    <a:pt x="318897" y="277113"/>
                  </a:lnTo>
                  <a:lnTo>
                    <a:pt x="313181" y="275843"/>
                  </a:lnTo>
                  <a:lnTo>
                    <a:pt x="307340" y="273176"/>
                  </a:lnTo>
                  <a:lnTo>
                    <a:pt x="301878" y="270763"/>
                  </a:lnTo>
                  <a:lnTo>
                    <a:pt x="297306" y="267461"/>
                  </a:lnTo>
                  <a:lnTo>
                    <a:pt x="289941" y="259333"/>
                  </a:lnTo>
                  <a:lnTo>
                    <a:pt x="287274" y="254888"/>
                  </a:lnTo>
                  <a:lnTo>
                    <a:pt x="285632" y="250316"/>
                  </a:lnTo>
                  <a:close/>
                </a:path>
                <a:path w="690879" h="430529">
                  <a:moveTo>
                    <a:pt x="362730" y="190753"/>
                  </a:moveTo>
                  <a:lnTo>
                    <a:pt x="331470" y="190753"/>
                  </a:lnTo>
                  <a:lnTo>
                    <a:pt x="336930" y="192023"/>
                  </a:lnTo>
                  <a:lnTo>
                    <a:pt x="342392" y="194436"/>
                  </a:lnTo>
                  <a:lnTo>
                    <a:pt x="348233" y="197103"/>
                  </a:lnTo>
                  <a:lnTo>
                    <a:pt x="352932" y="200405"/>
                  </a:lnTo>
                  <a:lnTo>
                    <a:pt x="356616" y="204596"/>
                  </a:lnTo>
                  <a:lnTo>
                    <a:pt x="360299" y="208660"/>
                  </a:lnTo>
                  <a:lnTo>
                    <a:pt x="362966" y="213232"/>
                  </a:lnTo>
                  <a:lnTo>
                    <a:pt x="366014" y="223138"/>
                  </a:lnTo>
                  <a:lnTo>
                    <a:pt x="366460" y="227710"/>
                  </a:lnTo>
                  <a:lnTo>
                    <a:pt x="366429" y="229361"/>
                  </a:lnTo>
                  <a:lnTo>
                    <a:pt x="366014" y="233933"/>
                  </a:lnTo>
                  <a:lnTo>
                    <a:pt x="365632" y="239394"/>
                  </a:lnTo>
                  <a:lnTo>
                    <a:pt x="364108" y="244982"/>
                  </a:lnTo>
                  <a:lnTo>
                    <a:pt x="361639" y="250443"/>
                  </a:lnTo>
                  <a:lnTo>
                    <a:pt x="359282" y="255777"/>
                  </a:lnTo>
                  <a:lnTo>
                    <a:pt x="356235" y="260603"/>
                  </a:lnTo>
                  <a:lnTo>
                    <a:pt x="352425" y="264540"/>
                  </a:lnTo>
                  <a:lnTo>
                    <a:pt x="348615" y="268604"/>
                  </a:lnTo>
                  <a:lnTo>
                    <a:pt x="344297" y="271779"/>
                  </a:lnTo>
                  <a:lnTo>
                    <a:pt x="339598" y="273938"/>
                  </a:lnTo>
                  <a:lnTo>
                    <a:pt x="334899" y="275970"/>
                  </a:lnTo>
                  <a:lnTo>
                    <a:pt x="329819" y="277113"/>
                  </a:lnTo>
                  <a:lnTo>
                    <a:pt x="362711" y="277113"/>
                  </a:lnTo>
                  <a:lnTo>
                    <a:pt x="364108" y="275716"/>
                  </a:lnTo>
                  <a:lnTo>
                    <a:pt x="369443" y="270509"/>
                  </a:lnTo>
                  <a:lnTo>
                    <a:pt x="373633" y="264286"/>
                  </a:lnTo>
                  <a:lnTo>
                    <a:pt x="376808" y="257047"/>
                  </a:lnTo>
                  <a:lnTo>
                    <a:pt x="380111" y="249808"/>
                  </a:lnTo>
                  <a:lnTo>
                    <a:pt x="381889" y="242442"/>
                  </a:lnTo>
                  <a:lnTo>
                    <a:pt x="382089" y="236727"/>
                  </a:lnTo>
                  <a:lnTo>
                    <a:pt x="382445" y="229361"/>
                  </a:lnTo>
                  <a:lnTo>
                    <a:pt x="382505" y="227710"/>
                  </a:lnTo>
                  <a:lnTo>
                    <a:pt x="363093" y="191007"/>
                  </a:lnTo>
                  <a:lnTo>
                    <a:pt x="362730" y="190753"/>
                  </a:lnTo>
                  <a:close/>
                </a:path>
                <a:path w="690879" h="430529">
                  <a:moveTo>
                    <a:pt x="323215" y="102615"/>
                  </a:moveTo>
                  <a:lnTo>
                    <a:pt x="252856" y="260476"/>
                  </a:lnTo>
                  <a:lnTo>
                    <a:pt x="267207" y="266826"/>
                  </a:lnTo>
                  <a:lnTo>
                    <a:pt x="274574" y="250316"/>
                  </a:lnTo>
                  <a:lnTo>
                    <a:pt x="285632" y="250316"/>
                  </a:lnTo>
                  <a:lnTo>
                    <a:pt x="283718" y="244982"/>
                  </a:lnTo>
                  <a:lnTo>
                    <a:pt x="282828" y="239648"/>
                  </a:lnTo>
                  <a:lnTo>
                    <a:pt x="283291" y="229361"/>
                  </a:lnTo>
                  <a:lnTo>
                    <a:pt x="305435" y="195960"/>
                  </a:lnTo>
                  <a:lnTo>
                    <a:pt x="320548" y="190753"/>
                  </a:lnTo>
                  <a:lnTo>
                    <a:pt x="362730" y="190753"/>
                  </a:lnTo>
                  <a:lnTo>
                    <a:pt x="356743" y="186562"/>
                  </a:lnTo>
                  <a:lnTo>
                    <a:pt x="355609" y="186054"/>
                  </a:lnTo>
                  <a:lnTo>
                    <a:pt x="303529" y="186054"/>
                  </a:lnTo>
                  <a:lnTo>
                    <a:pt x="303149" y="185927"/>
                  </a:lnTo>
                  <a:lnTo>
                    <a:pt x="337439" y="108965"/>
                  </a:lnTo>
                  <a:lnTo>
                    <a:pt x="323215" y="102615"/>
                  </a:lnTo>
                  <a:close/>
                </a:path>
                <a:path w="690879" h="430529">
                  <a:moveTo>
                    <a:pt x="225468" y="220598"/>
                  </a:moveTo>
                  <a:lnTo>
                    <a:pt x="208533" y="220598"/>
                  </a:lnTo>
                  <a:lnTo>
                    <a:pt x="208915" y="220852"/>
                  </a:lnTo>
                  <a:lnTo>
                    <a:pt x="207922" y="223138"/>
                  </a:lnTo>
                  <a:lnTo>
                    <a:pt x="206882" y="225678"/>
                  </a:lnTo>
                  <a:lnTo>
                    <a:pt x="205740" y="228853"/>
                  </a:lnTo>
                  <a:lnTo>
                    <a:pt x="204374" y="232409"/>
                  </a:lnTo>
                  <a:lnTo>
                    <a:pt x="203326" y="235203"/>
                  </a:lnTo>
                  <a:lnTo>
                    <a:pt x="202438" y="237997"/>
                  </a:lnTo>
                  <a:lnTo>
                    <a:pt x="216026" y="243966"/>
                  </a:lnTo>
                  <a:lnTo>
                    <a:pt x="217170" y="240537"/>
                  </a:lnTo>
                  <a:lnTo>
                    <a:pt x="218694" y="236727"/>
                  </a:lnTo>
                  <a:lnTo>
                    <a:pt x="220452" y="232155"/>
                  </a:lnTo>
                  <a:lnTo>
                    <a:pt x="222329" y="227710"/>
                  </a:lnTo>
                  <a:lnTo>
                    <a:pt x="223520" y="224789"/>
                  </a:lnTo>
                  <a:lnTo>
                    <a:pt x="224790" y="222122"/>
                  </a:lnTo>
                  <a:lnTo>
                    <a:pt x="225468" y="220598"/>
                  </a:lnTo>
                  <a:close/>
                </a:path>
                <a:path w="690879" h="430529">
                  <a:moveTo>
                    <a:pt x="173990" y="108330"/>
                  </a:moveTo>
                  <a:lnTo>
                    <a:pt x="147447" y="168147"/>
                  </a:lnTo>
                  <a:lnTo>
                    <a:pt x="144137" y="177028"/>
                  </a:lnTo>
                  <a:lnTo>
                    <a:pt x="142398" y="185562"/>
                  </a:lnTo>
                  <a:lnTo>
                    <a:pt x="142357" y="194436"/>
                  </a:lnTo>
                  <a:lnTo>
                    <a:pt x="143637" y="201548"/>
                  </a:lnTo>
                  <a:lnTo>
                    <a:pt x="173608" y="228218"/>
                  </a:lnTo>
                  <a:lnTo>
                    <a:pt x="180975" y="229361"/>
                  </a:lnTo>
                  <a:lnTo>
                    <a:pt x="188849" y="228472"/>
                  </a:lnTo>
                  <a:lnTo>
                    <a:pt x="196596" y="227710"/>
                  </a:lnTo>
                  <a:lnTo>
                    <a:pt x="203200" y="225170"/>
                  </a:lnTo>
                  <a:lnTo>
                    <a:pt x="208533" y="220598"/>
                  </a:lnTo>
                  <a:lnTo>
                    <a:pt x="225468" y="220598"/>
                  </a:lnTo>
                  <a:lnTo>
                    <a:pt x="226937" y="217296"/>
                  </a:lnTo>
                  <a:lnTo>
                    <a:pt x="183261" y="217296"/>
                  </a:lnTo>
                  <a:lnTo>
                    <a:pt x="179197" y="216407"/>
                  </a:lnTo>
                  <a:lnTo>
                    <a:pt x="157988" y="192023"/>
                  </a:lnTo>
                  <a:lnTo>
                    <a:pt x="158115" y="187832"/>
                  </a:lnTo>
                  <a:lnTo>
                    <a:pt x="160147" y="178688"/>
                  </a:lnTo>
                  <a:lnTo>
                    <a:pt x="161798" y="173735"/>
                  </a:lnTo>
                  <a:lnTo>
                    <a:pt x="164211" y="168655"/>
                  </a:lnTo>
                  <a:lnTo>
                    <a:pt x="188214" y="114553"/>
                  </a:lnTo>
                  <a:lnTo>
                    <a:pt x="173990" y="108330"/>
                  </a:lnTo>
                  <a:close/>
                </a:path>
                <a:path w="690879" h="430529">
                  <a:moveTo>
                    <a:pt x="244348" y="139573"/>
                  </a:moveTo>
                  <a:lnTo>
                    <a:pt x="219201" y="196214"/>
                  </a:lnTo>
                  <a:lnTo>
                    <a:pt x="191643" y="217296"/>
                  </a:lnTo>
                  <a:lnTo>
                    <a:pt x="226937" y="217296"/>
                  </a:lnTo>
                  <a:lnTo>
                    <a:pt x="258699" y="145922"/>
                  </a:lnTo>
                  <a:lnTo>
                    <a:pt x="244348" y="139573"/>
                  </a:lnTo>
                  <a:close/>
                </a:path>
                <a:path w="690879" h="430529">
                  <a:moveTo>
                    <a:pt x="334391" y="178561"/>
                  </a:moveTo>
                  <a:lnTo>
                    <a:pt x="326263" y="178815"/>
                  </a:lnTo>
                  <a:lnTo>
                    <a:pt x="318135" y="179196"/>
                  </a:lnTo>
                  <a:lnTo>
                    <a:pt x="310515" y="181609"/>
                  </a:lnTo>
                  <a:lnTo>
                    <a:pt x="303529" y="186054"/>
                  </a:lnTo>
                  <a:lnTo>
                    <a:pt x="355609" y="186054"/>
                  </a:lnTo>
                  <a:lnTo>
                    <a:pt x="342011" y="179958"/>
                  </a:lnTo>
                  <a:lnTo>
                    <a:pt x="334391" y="178561"/>
                  </a:lnTo>
                  <a:close/>
                </a:path>
                <a:path w="690879" h="430529">
                  <a:moveTo>
                    <a:pt x="65786" y="0"/>
                  </a:moveTo>
                  <a:lnTo>
                    <a:pt x="0" y="147827"/>
                  </a:lnTo>
                  <a:lnTo>
                    <a:pt x="52324" y="171195"/>
                  </a:lnTo>
                  <a:lnTo>
                    <a:pt x="60451" y="173608"/>
                  </a:lnTo>
                  <a:lnTo>
                    <a:pt x="68072" y="174624"/>
                  </a:lnTo>
                  <a:lnTo>
                    <a:pt x="75819" y="175767"/>
                  </a:lnTo>
                  <a:lnTo>
                    <a:pt x="105791" y="165988"/>
                  </a:lnTo>
                  <a:lnTo>
                    <a:pt x="110617" y="162178"/>
                  </a:lnTo>
                  <a:lnTo>
                    <a:pt x="111664" y="160781"/>
                  </a:lnTo>
                  <a:lnTo>
                    <a:pt x="75565" y="160781"/>
                  </a:lnTo>
                  <a:lnTo>
                    <a:pt x="70485" y="160527"/>
                  </a:lnTo>
                  <a:lnTo>
                    <a:pt x="59563" y="158241"/>
                  </a:lnTo>
                  <a:lnTo>
                    <a:pt x="54101" y="156463"/>
                  </a:lnTo>
                  <a:lnTo>
                    <a:pt x="20827" y="141604"/>
                  </a:lnTo>
                  <a:lnTo>
                    <a:pt x="46481" y="83692"/>
                  </a:lnTo>
                  <a:lnTo>
                    <a:pt x="79729" y="83692"/>
                  </a:lnTo>
                  <a:lnTo>
                    <a:pt x="52070" y="71374"/>
                  </a:lnTo>
                  <a:lnTo>
                    <a:pt x="75056" y="19557"/>
                  </a:lnTo>
                  <a:lnTo>
                    <a:pt x="109854" y="19557"/>
                  </a:lnTo>
                  <a:lnTo>
                    <a:pt x="65786" y="0"/>
                  </a:lnTo>
                  <a:close/>
                </a:path>
                <a:path w="690879" h="430529">
                  <a:moveTo>
                    <a:pt x="79729" y="83692"/>
                  </a:moveTo>
                  <a:lnTo>
                    <a:pt x="46481" y="83692"/>
                  </a:lnTo>
                  <a:lnTo>
                    <a:pt x="77216" y="97408"/>
                  </a:lnTo>
                  <a:lnTo>
                    <a:pt x="85570" y="101645"/>
                  </a:lnTo>
                  <a:lnTo>
                    <a:pt x="105521" y="129460"/>
                  </a:lnTo>
                  <a:lnTo>
                    <a:pt x="104769" y="136185"/>
                  </a:lnTo>
                  <a:lnTo>
                    <a:pt x="75565" y="160781"/>
                  </a:lnTo>
                  <a:lnTo>
                    <a:pt x="111664" y="160781"/>
                  </a:lnTo>
                  <a:lnTo>
                    <a:pt x="114426" y="157098"/>
                  </a:lnTo>
                  <a:lnTo>
                    <a:pt x="117094" y="151002"/>
                  </a:lnTo>
                  <a:lnTo>
                    <a:pt x="119947" y="142978"/>
                  </a:lnTo>
                  <a:lnTo>
                    <a:pt x="121253" y="135286"/>
                  </a:lnTo>
                  <a:lnTo>
                    <a:pt x="120987" y="127928"/>
                  </a:lnTo>
                  <a:lnTo>
                    <a:pt x="100329" y="99187"/>
                  </a:lnTo>
                  <a:lnTo>
                    <a:pt x="100456" y="98678"/>
                  </a:lnTo>
                  <a:lnTo>
                    <a:pt x="118718" y="98678"/>
                  </a:lnTo>
                  <a:lnTo>
                    <a:pt x="131825" y="92075"/>
                  </a:lnTo>
                  <a:lnTo>
                    <a:pt x="134374" y="89407"/>
                  </a:lnTo>
                  <a:lnTo>
                    <a:pt x="101980" y="89407"/>
                  </a:lnTo>
                  <a:lnTo>
                    <a:pt x="97917" y="89280"/>
                  </a:lnTo>
                  <a:lnTo>
                    <a:pt x="89789" y="87756"/>
                  </a:lnTo>
                  <a:lnTo>
                    <a:pt x="85851" y="86487"/>
                  </a:lnTo>
                  <a:lnTo>
                    <a:pt x="82296" y="84836"/>
                  </a:lnTo>
                  <a:lnTo>
                    <a:pt x="79729" y="83692"/>
                  </a:lnTo>
                  <a:close/>
                </a:path>
                <a:path w="690879" h="430529">
                  <a:moveTo>
                    <a:pt x="118718" y="98678"/>
                  </a:moveTo>
                  <a:lnTo>
                    <a:pt x="100456" y="98678"/>
                  </a:lnTo>
                  <a:lnTo>
                    <a:pt x="109093" y="100456"/>
                  </a:lnTo>
                  <a:lnTo>
                    <a:pt x="117221" y="99440"/>
                  </a:lnTo>
                  <a:lnTo>
                    <a:pt x="118718" y="98678"/>
                  </a:lnTo>
                  <a:close/>
                </a:path>
                <a:path w="690879" h="430529">
                  <a:moveTo>
                    <a:pt x="109854" y="19557"/>
                  </a:moveTo>
                  <a:lnTo>
                    <a:pt x="75056" y="19557"/>
                  </a:lnTo>
                  <a:lnTo>
                    <a:pt x="106045" y="33400"/>
                  </a:lnTo>
                  <a:lnTo>
                    <a:pt x="110490" y="35940"/>
                  </a:lnTo>
                  <a:lnTo>
                    <a:pt x="127635" y="59689"/>
                  </a:lnTo>
                  <a:lnTo>
                    <a:pt x="128143" y="63753"/>
                  </a:lnTo>
                  <a:lnTo>
                    <a:pt x="127253" y="68199"/>
                  </a:lnTo>
                  <a:lnTo>
                    <a:pt x="125095" y="72898"/>
                  </a:lnTo>
                  <a:lnTo>
                    <a:pt x="122936" y="77850"/>
                  </a:lnTo>
                  <a:lnTo>
                    <a:pt x="101980" y="89407"/>
                  </a:lnTo>
                  <a:lnTo>
                    <a:pt x="134374" y="89407"/>
                  </a:lnTo>
                  <a:lnTo>
                    <a:pt x="137287" y="86360"/>
                  </a:lnTo>
                  <a:lnTo>
                    <a:pt x="140716" y="78612"/>
                  </a:lnTo>
                  <a:lnTo>
                    <a:pt x="144018" y="71246"/>
                  </a:lnTo>
                  <a:lnTo>
                    <a:pt x="145288" y="64388"/>
                  </a:lnTo>
                  <a:lnTo>
                    <a:pt x="144525" y="58292"/>
                  </a:lnTo>
                  <a:lnTo>
                    <a:pt x="143891" y="52196"/>
                  </a:lnTo>
                  <a:lnTo>
                    <a:pt x="125983" y="28955"/>
                  </a:lnTo>
                  <a:lnTo>
                    <a:pt x="120776" y="25145"/>
                  </a:lnTo>
                  <a:lnTo>
                    <a:pt x="115443" y="22098"/>
                  </a:lnTo>
                  <a:lnTo>
                    <a:pt x="109854" y="19557"/>
                  </a:lnTo>
                  <a:close/>
                </a:path>
                <a:path w="690879" h="430529">
                  <a:moveTo>
                    <a:pt x="419236" y="309752"/>
                  </a:moveTo>
                  <a:lnTo>
                    <a:pt x="408177" y="309752"/>
                  </a:lnTo>
                  <a:lnTo>
                    <a:pt x="408558" y="310006"/>
                  </a:lnTo>
                  <a:lnTo>
                    <a:pt x="409955" y="318007"/>
                  </a:lnTo>
                  <a:lnTo>
                    <a:pt x="444753" y="348868"/>
                  </a:lnTo>
                  <a:lnTo>
                    <a:pt x="466978" y="350900"/>
                  </a:lnTo>
                  <a:lnTo>
                    <a:pt x="473837" y="349630"/>
                  </a:lnTo>
                  <a:lnTo>
                    <a:pt x="486664" y="344296"/>
                  </a:lnTo>
                  <a:lnTo>
                    <a:pt x="492505" y="340359"/>
                  </a:lnTo>
                  <a:lnTo>
                    <a:pt x="496408" y="336549"/>
                  </a:lnTo>
                  <a:lnTo>
                    <a:pt x="452500" y="336549"/>
                  </a:lnTo>
                  <a:lnTo>
                    <a:pt x="446786" y="335279"/>
                  </a:lnTo>
                  <a:lnTo>
                    <a:pt x="420877" y="314324"/>
                  </a:lnTo>
                  <a:lnTo>
                    <a:pt x="419236" y="309752"/>
                  </a:lnTo>
                  <a:close/>
                </a:path>
                <a:path w="690879" h="430529">
                  <a:moveTo>
                    <a:pt x="496279" y="250189"/>
                  </a:moveTo>
                  <a:lnTo>
                    <a:pt x="454151" y="250189"/>
                  </a:lnTo>
                  <a:lnTo>
                    <a:pt x="459613" y="250316"/>
                  </a:lnTo>
                  <a:lnTo>
                    <a:pt x="465200" y="250316"/>
                  </a:lnTo>
                  <a:lnTo>
                    <a:pt x="470662" y="251586"/>
                  </a:lnTo>
                  <a:lnTo>
                    <a:pt x="475996" y="253999"/>
                  </a:lnTo>
                  <a:lnTo>
                    <a:pt x="481838" y="256539"/>
                  </a:lnTo>
                  <a:lnTo>
                    <a:pt x="486664" y="259968"/>
                  </a:lnTo>
                  <a:lnTo>
                    <a:pt x="500125" y="287908"/>
                  </a:lnTo>
                  <a:lnTo>
                    <a:pt x="499745" y="293369"/>
                  </a:lnTo>
                  <a:lnTo>
                    <a:pt x="482219" y="328167"/>
                  </a:lnTo>
                  <a:lnTo>
                    <a:pt x="463550" y="336549"/>
                  </a:lnTo>
                  <a:lnTo>
                    <a:pt x="496408" y="336549"/>
                  </a:lnTo>
                  <a:lnTo>
                    <a:pt x="497840" y="335152"/>
                  </a:lnTo>
                  <a:lnTo>
                    <a:pt x="503047" y="329945"/>
                  </a:lnTo>
                  <a:lnTo>
                    <a:pt x="507238" y="323849"/>
                  </a:lnTo>
                  <a:lnTo>
                    <a:pt x="510413" y="316610"/>
                  </a:lnTo>
                  <a:lnTo>
                    <a:pt x="513715" y="309371"/>
                  </a:lnTo>
                  <a:lnTo>
                    <a:pt x="515493" y="302005"/>
                  </a:lnTo>
                  <a:lnTo>
                    <a:pt x="515874" y="294639"/>
                  </a:lnTo>
                  <a:lnTo>
                    <a:pt x="516127" y="287273"/>
                  </a:lnTo>
                  <a:lnTo>
                    <a:pt x="515112" y="280415"/>
                  </a:lnTo>
                  <a:lnTo>
                    <a:pt x="512825" y="273811"/>
                  </a:lnTo>
                  <a:lnTo>
                    <a:pt x="510540" y="267334"/>
                  </a:lnTo>
                  <a:lnTo>
                    <a:pt x="506856" y="261365"/>
                  </a:lnTo>
                  <a:lnTo>
                    <a:pt x="496824" y="250570"/>
                  </a:lnTo>
                  <a:lnTo>
                    <a:pt x="496279" y="250189"/>
                  </a:lnTo>
                  <a:close/>
                </a:path>
                <a:path w="690879" h="430529">
                  <a:moveTo>
                    <a:pt x="456819" y="162051"/>
                  </a:moveTo>
                  <a:lnTo>
                    <a:pt x="386588" y="319913"/>
                  </a:lnTo>
                  <a:lnTo>
                    <a:pt x="400812" y="326263"/>
                  </a:lnTo>
                  <a:lnTo>
                    <a:pt x="408177" y="309752"/>
                  </a:lnTo>
                  <a:lnTo>
                    <a:pt x="419236" y="309752"/>
                  </a:lnTo>
                  <a:lnTo>
                    <a:pt x="417322" y="304418"/>
                  </a:lnTo>
                  <a:lnTo>
                    <a:pt x="416560" y="299084"/>
                  </a:lnTo>
                  <a:lnTo>
                    <a:pt x="416816" y="293369"/>
                  </a:lnTo>
                  <a:lnTo>
                    <a:pt x="416941" y="287908"/>
                  </a:lnTo>
                  <a:lnTo>
                    <a:pt x="418338" y="282193"/>
                  </a:lnTo>
                  <a:lnTo>
                    <a:pt x="420877" y="276732"/>
                  </a:lnTo>
                  <a:lnTo>
                    <a:pt x="423291" y="271144"/>
                  </a:lnTo>
                  <a:lnTo>
                    <a:pt x="426593" y="266318"/>
                  </a:lnTo>
                  <a:lnTo>
                    <a:pt x="430656" y="262381"/>
                  </a:lnTo>
                  <a:lnTo>
                    <a:pt x="434594" y="258444"/>
                  </a:lnTo>
                  <a:lnTo>
                    <a:pt x="439166" y="255396"/>
                  </a:lnTo>
                  <a:lnTo>
                    <a:pt x="444119" y="253364"/>
                  </a:lnTo>
                  <a:lnTo>
                    <a:pt x="448945" y="251205"/>
                  </a:lnTo>
                  <a:lnTo>
                    <a:pt x="454151" y="250189"/>
                  </a:lnTo>
                  <a:lnTo>
                    <a:pt x="496279" y="250189"/>
                  </a:lnTo>
                  <a:lnTo>
                    <a:pt x="490474" y="246125"/>
                  </a:lnTo>
                  <a:lnTo>
                    <a:pt x="489326" y="245617"/>
                  </a:lnTo>
                  <a:lnTo>
                    <a:pt x="437261" y="245617"/>
                  </a:lnTo>
                  <a:lnTo>
                    <a:pt x="436879" y="245490"/>
                  </a:lnTo>
                  <a:lnTo>
                    <a:pt x="471170" y="168401"/>
                  </a:lnTo>
                  <a:lnTo>
                    <a:pt x="456819" y="162051"/>
                  </a:lnTo>
                  <a:close/>
                </a:path>
                <a:path w="690879" h="430529">
                  <a:moveTo>
                    <a:pt x="468122" y="238124"/>
                  </a:moveTo>
                  <a:lnTo>
                    <a:pt x="451739" y="238632"/>
                  </a:lnTo>
                  <a:lnTo>
                    <a:pt x="444246" y="241045"/>
                  </a:lnTo>
                  <a:lnTo>
                    <a:pt x="437261" y="245617"/>
                  </a:lnTo>
                  <a:lnTo>
                    <a:pt x="489326" y="245617"/>
                  </a:lnTo>
                  <a:lnTo>
                    <a:pt x="482726" y="242696"/>
                  </a:lnTo>
                  <a:lnTo>
                    <a:pt x="475742" y="239521"/>
                  </a:lnTo>
                  <a:lnTo>
                    <a:pt x="468122" y="238124"/>
                  </a:lnTo>
                  <a:close/>
                </a:path>
                <a:path w="690879" h="430529">
                  <a:moveTo>
                    <a:pt x="631190" y="316483"/>
                  </a:moveTo>
                  <a:lnTo>
                    <a:pt x="624458" y="317753"/>
                  </a:lnTo>
                  <a:lnTo>
                    <a:pt x="617854" y="320420"/>
                  </a:lnTo>
                  <a:lnTo>
                    <a:pt x="611377" y="322960"/>
                  </a:lnTo>
                  <a:lnTo>
                    <a:pt x="584200" y="358139"/>
                  </a:lnTo>
                  <a:lnTo>
                    <a:pt x="581914" y="380364"/>
                  </a:lnTo>
                  <a:lnTo>
                    <a:pt x="582929" y="387476"/>
                  </a:lnTo>
                  <a:lnTo>
                    <a:pt x="585470" y="393953"/>
                  </a:lnTo>
                  <a:lnTo>
                    <a:pt x="587882" y="400557"/>
                  </a:lnTo>
                  <a:lnTo>
                    <a:pt x="591566" y="406526"/>
                  </a:lnTo>
                  <a:lnTo>
                    <a:pt x="601726" y="417194"/>
                  </a:lnTo>
                  <a:lnTo>
                    <a:pt x="607822" y="421513"/>
                  </a:lnTo>
                  <a:lnTo>
                    <a:pt x="615061" y="424688"/>
                  </a:lnTo>
                  <a:lnTo>
                    <a:pt x="623062" y="428370"/>
                  </a:lnTo>
                  <a:lnTo>
                    <a:pt x="631317" y="430021"/>
                  </a:lnTo>
                  <a:lnTo>
                    <a:pt x="639826" y="430021"/>
                  </a:lnTo>
                  <a:lnTo>
                    <a:pt x="646257" y="429496"/>
                  </a:lnTo>
                  <a:lnTo>
                    <a:pt x="652795" y="428101"/>
                  </a:lnTo>
                  <a:lnTo>
                    <a:pt x="659453" y="425825"/>
                  </a:lnTo>
                  <a:lnTo>
                    <a:pt x="666242" y="422655"/>
                  </a:lnTo>
                  <a:lnTo>
                    <a:pt x="663245" y="416940"/>
                  </a:lnTo>
                  <a:lnTo>
                    <a:pt x="635000" y="416940"/>
                  </a:lnTo>
                  <a:lnTo>
                    <a:pt x="627761" y="415924"/>
                  </a:lnTo>
                  <a:lnTo>
                    <a:pt x="620395" y="412622"/>
                  </a:lnTo>
                  <a:lnTo>
                    <a:pt x="615442" y="410336"/>
                  </a:lnTo>
                  <a:lnTo>
                    <a:pt x="611251" y="407288"/>
                  </a:lnTo>
                  <a:lnTo>
                    <a:pt x="607822" y="403478"/>
                  </a:lnTo>
                  <a:lnTo>
                    <a:pt x="604266" y="399668"/>
                  </a:lnTo>
                  <a:lnTo>
                    <a:pt x="601599" y="395477"/>
                  </a:lnTo>
                  <a:lnTo>
                    <a:pt x="599821" y="390778"/>
                  </a:lnTo>
                  <a:lnTo>
                    <a:pt x="598043" y="386206"/>
                  </a:lnTo>
                  <a:lnTo>
                    <a:pt x="597153" y="381380"/>
                  </a:lnTo>
                  <a:lnTo>
                    <a:pt x="597407" y="371093"/>
                  </a:lnTo>
                  <a:lnTo>
                    <a:pt x="598551" y="366140"/>
                  </a:lnTo>
                  <a:lnTo>
                    <a:pt x="600582" y="361188"/>
                  </a:lnTo>
                  <a:lnTo>
                    <a:pt x="630924" y="361188"/>
                  </a:lnTo>
                  <a:lnTo>
                    <a:pt x="605790" y="350011"/>
                  </a:lnTo>
                  <a:lnTo>
                    <a:pt x="635126" y="329945"/>
                  </a:lnTo>
                  <a:lnTo>
                    <a:pt x="674261" y="329945"/>
                  </a:lnTo>
                  <a:lnTo>
                    <a:pt x="673480" y="329056"/>
                  </a:lnTo>
                  <a:lnTo>
                    <a:pt x="667257" y="324738"/>
                  </a:lnTo>
                  <a:lnTo>
                    <a:pt x="659511" y="321436"/>
                  </a:lnTo>
                  <a:lnTo>
                    <a:pt x="652652" y="318261"/>
                  </a:lnTo>
                  <a:lnTo>
                    <a:pt x="645541" y="316738"/>
                  </a:lnTo>
                  <a:lnTo>
                    <a:pt x="631190" y="316483"/>
                  </a:lnTo>
                  <a:close/>
                </a:path>
                <a:path w="690879" h="430529">
                  <a:moveTo>
                    <a:pt x="659383" y="409574"/>
                  </a:moveTo>
                  <a:lnTo>
                    <a:pt x="654557" y="412749"/>
                  </a:lnTo>
                  <a:lnTo>
                    <a:pt x="648716" y="414908"/>
                  </a:lnTo>
                  <a:lnTo>
                    <a:pt x="635000" y="416940"/>
                  </a:lnTo>
                  <a:lnTo>
                    <a:pt x="663245" y="416940"/>
                  </a:lnTo>
                  <a:lnTo>
                    <a:pt x="659383" y="409574"/>
                  </a:lnTo>
                  <a:close/>
                </a:path>
                <a:path w="690879" h="430529">
                  <a:moveTo>
                    <a:pt x="630924" y="361188"/>
                  </a:moveTo>
                  <a:lnTo>
                    <a:pt x="600582" y="361188"/>
                  </a:lnTo>
                  <a:lnTo>
                    <a:pt x="681608" y="397255"/>
                  </a:lnTo>
                  <a:lnTo>
                    <a:pt x="682244" y="396113"/>
                  </a:lnTo>
                  <a:lnTo>
                    <a:pt x="683387" y="393826"/>
                  </a:lnTo>
                  <a:lnTo>
                    <a:pt x="687704" y="384047"/>
                  </a:lnTo>
                  <a:lnTo>
                    <a:pt x="688879" y="379602"/>
                  </a:lnTo>
                  <a:lnTo>
                    <a:pt x="672338" y="379602"/>
                  </a:lnTo>
                  <a:lnTo>
                    <a:pt x="630924" y="361188"/>
                  </a:lnTo>
                  <a:close/>
                </a:path>
                <a:path w="690879" h="430529">
                  <a:moveTo>
                    <a:pt x="590550" y="221614"/>
                  </a:moveTo>
                  <a:lnTo>
                    <a:pt x="520192" y="379475"/>
                  </a:lnTo>
                  <a:lnTo>
                    <a:pt x="534543" y="385825"/>
                  </a:lnTo>
                  <a:lnTo>
                    <a:pt x="604774" y="227964"/>
                  </a:lnTo>
                  <a:lnTo>
                    <a:pt x="590550" y="221614"/>
                  </a:lnTo>
                  <a:close/>
                </a:path>
                <a:path w="690879" h="430529">
                  <a:moveTo>
                    <a:pt x="674261" y="329945"/>
                  </a:moveTo>
                  <a:lnTo>
                    <a:pt x="635126" y="329945"/>
                  </a:lnTo>
                  <a:lnTo>
                    <a:pt x="639952" y="330072"/>
                  </a:lnTo>
                  <a:lnTo>
                    <a:pt x="644651" y="330072"/>
                  </a:lnTo>
                  <a:lnTo>
                    <a:pt x="649477" y="331215"/>
                  </a:lnTo>
                  <a:lnTo>
                    <a:pt x="675383" y="363727"/>
                  </a:lnTo>
                  <a:lnTo>
                    <a:pt x="675427" y="366140"/>
                  </a:lnTo>
                  <a:lnTo>
                    <a:pt x="674502" y="372647"/>
                  </a:lnTo>
                  <a:lnTo>
                    <a:pt x="672338" y="379602"/>
                  </a:lnTo>
                  <a:lnTo>
                    <a:pt x="688879" y="379602"/>
                  </a:lnTo>
                  <a:lnTo>
                    <a:pt x="689482" y="377316"/>
                  </a:lnTo>
                  <a:lnTo>
                    <a:pt x="690118" y="370585"/>
                  </a:lnTo>
                  <a:lnTo>
                    <a:pt x="690626" y="363727"/>
                  </a:lnTo>
                  <a:lnTo>
                    <a:pt x="689991" y="357377"/>
                  </a:lnTo>
                  <a:lnTo>
                    <a:pt x="686180" y="345185"/>
                  </a:lnTo>
                  <a:lnTo>
                    <a:pt x="682751" y="339470"/>
                  </a:lnTo>
                  <a:lnTo>
                    <a:pt x="678052" y="334263"/>
                  </a:lnTo>
                  <a:lnTo>
                    <a:pt x="674261" y="329945"/>
                  </a:lnTo>
                  <a:close/>
                </a:path>
              </a:pathLst>
            </a:custGeom>
            <a:solidFill>
              <a:srgbClr val="FFFFFF"/>
            </a:solidFill>
          </p:spPr>
          <p:txBody>
            <a:bodyPr wrap="square" lIns="0" tIns="0" rIns="0" bIns="0" rtlCol="0"/>
            <a:lstStyle/>
            <a:p>
              <a:endParaRPr/>
            </a:p>
          </p:txBody>
        </p:sp>
      </p:grpSp>
      <p:grpSp>
        <p:nvGrpSpPr>
          <p:cNvPr id="14" name="object 14"/>
          <p:cNvGrpSpPr/>
          <p:nvPr/>
        </p:nvGrpSpPr>
        <p:grpSpPr>
          <a:xfrm>
            <a:off x="4843950" y="2806951"/>
            <a:ext cx="3062605" cy="1917700"/>
            <a:chOff x="4797297" y="2819654"/>
            <a:chExt cx="3062605" cy="1917700"/>
          </a:xfrm>
        </p:grpSpPr>
        <p:sp>
          <p:nvSpPr>
            <p:cNvPr id="15" name="object 15"/>
            <p:cNvSpPr/>
            <p:nvPr/>
          </p:nvSpPr>
          <p:spPr>
            <a:xfrm>
              <a:off x="5713983" y="2819654"/>
              <a:ext cx="1528445" cy="1917700"/>
            </a:xfrm>
            <a:custGeom>
              <a:avLst/>
              <a:gdLst/>
              <a:ahLst/>
              <a:cxnLst/>
              <a:rect l="l" t="t" r="r" b="b"/>
              <a:pathLst>
                <a:path w="1528445" h="1917700">
                  <a:moveTo>
                    <a:pt x="0" y="0"/>
                  </a:moveTo>
                  <a:lnTo>
                    <a:pt x="0" y="1917700"/>
                  </a:lnTo>
                </a:path>
                <a:path w="1528445" h="1917700">
                  <a:moveTo>
                    <a:pt x="764031" y="0"/>
                  </a:moveTo>
                  <a:lnTo>
                    <a:pt x="764031" y="1917700"/>
                  </a:lnTo>
                </a:path>
                <a:path w="1528445" h="1917700">
                  <a:moveTo>
                    <a:pt x="1527937" y="0"/>
                  </a:moveTo>
                  <a:lnTo>
                    <a:pt x="1527937" y="1917700"/>
                  </a:lnTo>
                </a:path>
              </a:pathLst>
            </a:custGeom>
            <a:ln w="12700">
              <a:solidFill>
                <a:srgbClr val="FFFFFF"/>
              </a:solidFill>
            </a:ln>
          </p:spPr>
          <p:txBody>
            <a:bodyPr wrap="square" lIns="0" tIns="0" rIns="0" bIns="0" rtlCol="0"/>
            <a:lstStyle/>
            <a:p>
              <a:endParaRPr/>
            </a:p>
          </p:txBody>
        </p:sp>
        <p:sp>
          <p:nvSpPr>
            <p:cNvPr id="16" name="object 16"/>
            <p:cNvSpPr/>
            <p:nvPr/>
          </p:nvSpPr>
          <p:spPr>
            <a:xfrm>
              <a:off x="4803647" y="3933444"/>
              <a:ext cx="3049905" cy="744220"/>
            </a:xfrm>
            <a:custGeom>
              <a:avLst/>
              <a:gdLst/>
              <a:ahLst/>
              <a:cxnLst/>
              <a:rect l="l" t="t" r="r" b="b"/>
              <a:pathLst>
                <a:path w="3049904" h="744220">
                  <a:moveTo>
                    <a:pt x="1524762" y="0"/>
                  </a:moveTo>
                  <a:lnTo>
                    <a:pt x="1450883" y="428"/>
                  </a:lnTo>
                  <a:lnTo>
                    <a:pt x="1377911" y="1702"/>
                  </a:lnTo>
                  <a:lnTo>
                    <a:pt x="1305928" y="3801"/>
                  </a:lnTo>
                  <a:lnTo>
                    <a:pt x="1235012" y="6705"/>
                  </a:lnTo>
                  <a:lnTo>
                    <a:pt x="1165243" y="10396"/>
                  </a:lnTo>
                  <a:lnTo>
                    <a:pt x="1096702" y="14853"/>
                  </a:lnTo>
                  <a:lnTo>
                    <a:pt x="1029467" y="20058"/>
                  </a:lnTo>
                  <a:lnTo>
                    <a:pt x="963620" y="25990"/>
                  </a:lnTo>
                  <a:lnTo>
                    <a:pt x="899239" y="32631"/>
                  </a:lnTo>
                  <a:lnTo>
                    <a:pt x="836405" y="39961"/>
                  </a:lnTo>
                  <a:lnTo>
                    <a:pt x="775197" y="47960"/>
                  </a:lnTo>
                  <a:lnTo>
                    <a:pt x="715696" y="56608"/>
                  </a:lnTo>
                  <a:lnTo>
                    <a:pt x="657981" y="65887"/>
                  </a:lnTo>
                  <a:lnTo>
                    <a:pt x="602131" y="75777"/>
                  </a:lnTo>
                  <a:lnTo>
                    <a:pt x="548228" y="86259"/>
                  </a:lnTo>
                  <a:lnTo>
                    <a:pt x="496351" y="97312"/>
                  </a:lnTo>
                  <a:lnTo>
                    <a:pt x="446579" y="108918"/>
                  </a:lnTo>
                  <a:lnTo>
                    <a:pt x="398993" y="121057"/>
                  </a:lnTo>
                  <a:lnTo>
                    <a:pt x="353672" y="133709"/>
                  </a:lnTo>
                  <a:lnTo>
                    <a:pt x="310696" y="146855"/>
                  </a:lnTo>
                  <a:lnTo>
                    <a:pt x="270145" y="160475"/>
                  </a:lnTo>
                  <a:lnTo>
                    <a:pt x="232099" y="174551"/>
                  </a:lnTo>
                  <a:lnTo>
                    <a:pt x="196638" y="189062"/>
                  </a:lnTo>
                  <a:lnTo>
                    <a:pt x="133790" y="219313"/>
                  </a:lnTo>
                  <a:lnTo>
                    <a:pt x="82239" y="251072"/>
                  </a:lnTo>
                  <a:lnTo>
                    <a:pt x="42624" y="284183"/>
                  </a:lnTo>
                  <a:lnTo>
                    <a:pt x="15584" y="318491"/>
                  </a:lnTo>
                  <a:lnTo>
                    <a:pt x="0" y="371855"/>
                  </a:lnTo>
                  <a:lnTo>
                    <a:pt x="1758" y="389871"/>
                  </a:lnTo>
                  <a:lnTo>
                    <a:pt x="27492" y="442514"/>
                  </a:lnTo>
                  <a:lnTo>
                    <a:pt x="60899" y="476243"/>
                  </a:lnTo>
                  <a:lnTo>
                    <a:pt x="106562" y="508698"/>
                  </a:lnTo>
                  <a:lnTo>
                    <a:pt x="163842" y="539722"/>
                  </a:lnTo>
                  <a:lnTo>
                    <a:pt x="232099" y="569160"/>
                  </a:lnTo>
                  <a:lnTo>
                    <a:pt x="270145" y="583236"/>
                  </a:lnTo>
                  <a:lnTo>
                    <a:pt x="310696" y="596856"/>
                  </a:lnTo>
                  <a:lnTo>
                    <a:pt x="353672" y="610002"/>
                  </a:lnTo>
                  <a:lnTo>
                    <a:pt x="398993" y="622654"/>
                  </a:lnTo>
                  <a:lnTo>
                    <a:pt x="446579" y="634793"/>
                  </a:lnTo>
                  <a:lnTo>
                    <a:pt x="496351" y="646399"/>
                  </a:lnTo>
                  <a:lnTo>
                    <a:pt x="548228" y="657452"/>
                  </a:lnTo>
                  <a:lnTo>
                    <a:pt x="602131" y="667934"/>
                  </a:lnTo>
                  <a:lnTo>
                    <a:pt x="657981" y="677824"/>
                  </a:lnTo>
                  <a:lnTo>
                    <a:pt x="715696" y="687103"/>
                  </a:lnTo>
                  <a:lnTo>
                    <a:pt x="775197" y="695751"/>
                  </a:lnTo>
                  <a:lnTo>
                    <a:pt x="836405" y="703750"/>
                  </a:lnTo>
                  <a:lnTo>
                    <a:pt x="899239" y="711080"/>
                  </a:lnTo>
                  <a:lnTo>
                    <a:pt x="963620" y="717721"/>
                  </a:lnTo>
                  <a:lnTo>
                    <a:pt x="1029467" y="723653"/>
                  </a:lnTo>
                  <a:lnTo>
                    <a:pt x="1096702" y="728858"/>
                  </a:lnTo>
                  <a:lnTo>
                    <a:pt x="1165243" y="733315"/>
                  </a:lnTo>
                  <a:lnTo>
                    <a:pt x="1235012" y="737006"/>
                  </a:lnTo>
                  <a:lnTo>
                    <a:pt x="1305928" y="739910"/>
                  </a:lnTo>
                  <a:lnTo>
                    <a:pt x="1377911" y="742009"/>
                  </a:lnTo>
                  <a:lnTo>
                    <a:pt x="1450883" y="743283"/>
                  </a:lnTo>
                  <a:lnTo>
                    <a:pt x="1524762" y="743711"/>
                  </a:lnTo>
                  <a:lnTo>
                    <a:pt x="1598640" y="743283"/>
                  </a:lnTo>
                  <a:lnTo>
                    <a:pt x="1671612" y="742009"/>
                  </a:lnTo>
                  <a:lnTo>
                    <a:pt x="1743595" y="739910"/>
                  </a:lnTo>
                  <a:lnTo>
                    <a:pt x="1814511" y="737006"/>
                  </a:lnTo>
                  <a:lnTo>
                    <a:pt x="1884280" y="733315"/>
                  </a:lnTo>
                  <a:lnTo>
                    <a:pt x="1952821" y="728858"/>
                  </a:lnTo>
                  <a:lnTo>
                    <a:pt x="2020056" y="723653"/>
                  </a:lnTo>
                  <a:lnTo>
                    <a:pt x="2085903" y="717721"/>
                  </a:lnTo>
                  <a:lnTo>
                    <a:pt x="2150284" y="711080"/>
                  </a:lnTo>
                  <a:lnTo>
                    <a:pt x="2213118" y="703750"/>
                  </a:lnTo>
                  <a:lnTo>
                    <a:pt x="2274326" y="695751"/>
                  </a:lnTo>
                  <a:lnTo>
                    <a:pt x="2333827" y="687103"/>
                  </a:lnTo>
                  <a:lnTo>
                    <a:pt x="2391542" y="677824"/>
                  </a:lnTo>
                  <a:lnTo>
                    <a:pt x="2447392" y="667934"/>
                  </a:lnTo>
                  <a:lnTo>
                    <a:pt x="2501295" y="657452"/>
                  </a:lnTo>
                  <a:lnTo>
                    <a:pt x="2553172" y="646399"/>
                  </a:lnTo>
                  <a:lnTo>
                    <a:pt x="2602944" y="634793"/>
                  </a:lnTo>
                  <a:lnTo>
                    <a:pt x="2650530" y="622654"/>
                  </a:lnTo>
                  <a:lnTo>
                    <a:pt x="2695851" y="610002"/>
                  </a:lnTo>
                  <a:lnTo>
                    <a:pt x="2738827" y="596856"/>
                  </a:lnTo>
                  <a:lnTo>
                    <a:pt x="2779378" y="583236"/>
                  </a:lnTo>
                  <a:lnTo>
                    <a:pt x="2817424" y="569160"/>
                  </a:lnTo>
                  <a:lnTo>
                    <a:pt x="2852885" y="554649"/>
                  </a:lnTo>
                  <a:lnTo>
                    <a:pt x="2915733" y="524398"/>
                  </a:lnTo>
                  <a:lnTo>
                    <a:pt x="2967284" y="492639"/>
                  </a:lnTo>
                  <a:lnTo>
                    <a:pt x="3006899" y="459528"/>
                  </a:lnTo>
                  <a:lnTo>
                    <a:pt x="3033939" y="425220"/>
                  </a:lnTo>
                  <a:lnTo>
                    <a:pt x="3049524" y="371855"/>
                  </a:lnTo>
                  <a:lnTo>
                    <a:pt x="3047765" y="353840"/>
                  </a:lnTo>
                  <a:lnTo>
                    <a:pt x="3022031" y="301197"/>
                  </a:lnTo>
                  <a:lnTo>
                    <a:pt x="2988624" y="267468"/>
                  </a:lnTo>
                  <a:lnTo>
                    <a:pt x="2942961" y="235013"/>
                  </a:lnTo>
                  <a:lnTo>
                    <a:pt x="2885681" y="203989"/>
                  </a:lnTo>
                  <a:lnTo>
                    <a:pt x="2817424" y="174551"/>
                  </a:lnTo>
                  <a:lnTo>
                    <a:pt x="2779378" y="160475"/>
                  </a:lnTo>
                  <a:lnTo>
                    <a:pt x="2738827" y="146855"/>
                  </a:lnTo>
                  <a:lnTo>
                    <a:pt x="2695851" y="133709"/>
                  </a:lnTo>
                  <a:lnTo>
                    <a:pt x="2650530" y="121057"/>
                  </a:lnTo>
                  <a:lnTo>
                    <a:pt x="2602944" y="108918"/>
                  </a:lnTo>
                  <a:lnTo>
                    <a:pt x="2553172" y="97312"/>
                  </a:lnTo>
                  <a:lnTo>
                    <a:pt x="2501295" y="86259"/>
                  </a:lnTo>
                  <a:lnTo>
                    <a:pt x="2447392" y="75777"/>
                  </a:lnTo>
                  <a:lnTo>
                    <a:pt x="2391542" y="65887"/>
                  </a:lnTo>
                  <a:lnTo>
                    <a:pt x="2333827" y="56608"/>
                  </a:lnTo>
                  <a:lnTo>
                    <a:pt x="2274326" y="47960"/>
                  </a:lnTo>
                  <a:lnTo>
                    <a:pt x="2213118" y="39961"/>
                  </a:lnTo>
                  <a:lnTo>
                    <a:pt x="2150284" y="32631"/>
                  </a:lnTo>
                  <a:lnTo>
                    <a:pt x="2085903" y="25990"/>
                  </a:lnTo>
                  <a:lnTo>
                    <a:pt x="2020056" y="20058"/>
                  </a:lnTo>
                  <a:lnTo>
                    <a:pt x="1952821" y="14853"/>
                  </a:lnTo>
                  <a:lnTo>
                    <a:pt x="1884280" y="10396"/>
                  </a:lnTo>
                  <a:lnTo>
                    <a:pt x="1814511" y="6705"/>
                  </a:lnTo>
                  <a:lnTo>
                    <a:pt x="1743595" y="3801"/>
                  </a:lnTo>
                  <a:lnTo>
                    <a:pt x="1671612" y="1702"/>
                  </a:lnTo>
                  <a:lnTo>
                    <a:pt x="1598640" y="428"/>
                  </a:lnTo>
                  <a:lnTo>
                    <a:pt x="1524762" y="0"/>
                  </a:lnTo>
                  <a:close/>
                </a:path>
              </a:pathLst>
            </a:custGeom>
            <a:solidFill>
              <a:srgbClr val="5B525F"/>
            </a:solidFill>
          </p:spPr>
          <p:txBody>
            <a:bodyPr wrap="square" lIns="0" tIns="0" rIns="0" bIns="0" rtlCol="0"/>
            <a:lstStyle/>
            <a:p>
              <a:endParaRPr/>
            </a:p>
          </p:txBody>
        </p:sp>
        <p:sp>
          <p:nvSpPr>
            <p:cNvPr id="17" name="object 17"/>
            <p:cNvSpPr/>
            <p:nvPr/>
          </p:nvSpPr>
          <p:spPr>
            <a:xfrm>
              <a:off x="4803647" y="3933444"/>
              <a:ext cx="3049905" cy="744220"/>
            </a:xfrm>
            <a:custGeom>
              <a:avLst/>
              <a:gdLst/>
              <a:ahLst/>
              <a:cxnLst/>
              <a:rect l="l" t="t" r="r" b="b"/>
              <a:pathLst>
                <a:path w="3049904" h="744220">
                  <a:moveTo>
                    <a:pt x="0" y="371855"/>
                  </a:moveTo>
                  <a:lnTo>
                    <a:pt x="15584" y="318491"/>
                  </a:lnTo>
                  <a:lnTo>
                    <a:pt x="42624" y="284183"/>
                  </a:lnTo>
                  <a:lnTo>
                    <a:pt x="82239" y="251072"/>
                  </a:lnTo>
                  <a:lnTo>
                    <a:pt x="133790" y="219313"/>
                  </a:lnTo>
                  <a:lnTo>
                    <a:pt x="196638" y="189062"/>
                  </a:lnTo>
                  <a:lnTo>
                    <a:pt x="232099" y="174551"/>
                  </a:lnTo>
                  <a:lnTo>
                    <a:pt x="270145" y="160475"/>
                  </a:lnTo>
                  <a:lnTo>
                    <a:pt x="310696" y="146855"/>
                  </a:lnTo>
                  <a:lnTo>
                    <a:pt x="353672" y="133709"/>
                  </a:lnTo>
                  <a:lnTo>
                    <a:pt x="398993" y="121057"/>
                  </a:lnTo>
                  <a:lnTo>
                    <a:pt x="446579" y="108918"/>
                  </a:lnTo>
                  <a:lnTo>
                    <a:pt x="496351" y="97312"/>
                  </a:lnTo>
                  <a:lnTo>
                    <a:pt x="548228" y="86259"/>
                  </a:lnTo>
                  <a:lnTo>
                    <a:pt x="602131" y="75777"/>
                  </a:lnTo>
                  <a:lnTo>
                    <a:pt x="657981" y="65887"/>
                  </a:lnTo>
                  <a:lnTo>
                    <a:pt x="715696" y="56608"/>
                  </a:lnTo>
                  <a:lnTo>
                    <a:pt x="775197" y="47960"/>
                  </a:lnTo>
                  <a:lnTo>
                    <a:pt x="836405" y="39961"/>
                  </a:lnTo>
                  <a:lnTo>
                    <a:pt x="899239" y="32631"/>
                  </a:lnTo>
                  <a:lnTo>
                    <a:pt x="963620" y="25990"/>
                  </a:lnTo>
                  <a:lnTo>
                    <a:pt x="1029467" y="20058"/>
                  </a:lnTo>
                  <a:lnTo>
                    <a:pt x="1096702" y="14853"/>
                  </a:lnTo>
                  <a:lnTo>
                    <a:pt x="1165243" y="10396"/>
                  </a:lnTo>
                  <a:lnTo>
                    <a:pt x="1235012" y="6705"/>
                  </a:lnTo>
                  <a:lnTo>
                    <a:pt x="1305928" y="3801"/>
                  </a:lnTo>
                  <a:lnTo>
                    <a:pt x="1377911" y="1702"/>
                  </a:lnTo>
                  <a:lnTo>
                    <a:pt x="1450883" y="428"/>
                  </a:lnTo>
                  <a:lnTo>
                    <a:pt x="1524762" y="0"/>
                  </a:lnTo>
                  <a:lnTo>
                    <a:pt x="1598640" y="428"/>
                  </a:lnTo>
                  <a:lnTo>
                    <a:pt x="1671612" y="1702"/>
                  </a:lnTo>
                  <a:lnTo>
                    <a:pt x="1743595" y="3801"/>
                  </a:lnTo>
                  <a:lnTo>
                    <a:pt x="1814511" y="6705"/>
                  </a:lnTo>
                  <a:lnTo>
                    <a:pt x="1884280" y="10396"/>
                  </a:lnTo>
                  <a:lnTo>
                    <a:pt x="1952821" y="14853"/>
                  </a:lnTo>
                  <a:lnTo>
                    <a:pt x="2020056" y="20058"/>
                  </a:lnTo>
                  <a:lnTo>
                    <a:pt x="2085903" y="25990"/>
                  </a:lnTo>
                  <a:lnTo>
                    <a:pt x="2150284" y="32631"/>
                  </a:lnTo>
                  <a:lnTo>
                    <a:pt x="2213118" y="39961"/>
                  </a:lnTo>
                  <a:lnTo>
                    <a:pt x="2274326" y="47960"/>
                  </a:lnTo>
                  <a:lnTo>
                    <a:pt x="2333827" y="56608"/>
                  </a:lnTo>
                  <a:lnTo>
                    <a:pt x="2391542" y="65887"/>
                  </a:lnTo>
                  <a:lnTo>
                    <a:pt x="2447392" y="75777"/>
                  </a:lnTo>
                  <a:lnTo>
                    <a:pt x="2501295" y="86259"/>
                  </a:lnTo>
                  <a:lnTo>
                    <a:pt x="2553172" y="97312"/>
                  </a:lnTo>
                  <a:lnTo>
                    <a:pt x="2602944" y="108918"/>
                  </a:lnTo>
                  <a:lnTo>
                    <a:pt x="2650530" y="121057"/>
                  </a:lnTo>
                  <a:lnTo>
                    <a:pt x="2695851" y="133709"/>
                  </a:lnTo>
                  <a:lnTo>
                    <a:pt x="2738827" y="146855"/>
                  </a:lnTo>
                  <a:lnTo>
                    <a:pt x="2779378" y="160475"/>
                  </a:lnTo>
                  <a:lnTo>
                    <a:pt x="2817424" y="174551"/>
                  </a:lnTo>
                  <a:lnTo>
                    <a:pt x="2852885" y="189062"/>
                  </a:lnTo>
                  <a:lnTo>
                    <a:pt x="2915733" y="219313"/>
                  </a:lnTo>
                  <a:lnTo>
                    <a:pt x="2967284" y="251072"/>
                  </a:lnTo>
                  <a:lnTo>
                    <a:pt x="3006899" y="284183"/>
                  </a:lnTo>
                  <a:lnTo>
                    <a:pt x="3033939" y="318491"/>
                  </a:lnTo>
                  <a:lnTo>
                    <a:pt x="3049524" y="371855"/>
                  </a:lnTo>
                  <a:lnTo>
                    <a:pt x="3047765" y="389871"/>
                  </a:lnTo>
                  <a:lnTo>
                    <a:pt x="3022031" y="442514"/>
                  </a:lnTo>
                  <a:lnTo>
                    <a:pt x="2988624" y="476243"/>
                  </a:lnTo>
                  <a:lnTo>
                    <a:pt x="2942961" y="508698"/>
                  </a:lnTo>
                  <a:lnTo>
                    <a:pt x="2885681" y="539722"/>
                  </a:lnTo>
                  <a:lnTo>
                    <a:pt x="2817424" y="569160"/>
                  </a:lnTo>
                  <a:lnTo>
                    <a:pt x="2779378" y="583236"/>
                  </a:lnTo>
                  <a:lnTo>
                    <a:pt x="2738827" y="596856"/>
                  </a:lnTo>
                  <a:lnTo>
                    <a:pt x="2695851" y="610002"/>
                  </a:lnTo>
                  <a:lnTo>
                    <a:pt x="2650530" y="622654"/>
                  </a:lnTo>
                  <a:lnTo>
                    <a:pt x="2602944" y="634793"/>
                  </a:lnTo>
                  <a:lnTo>
                    <a:pt x="2553172" y="646399"/>
                  </a:lnTo>
                  <a:lnTo>
                    <a:pt x="2501295" y="657452"/>
                  </a:lnTo>
                  <a:lnTo>
                    <a:pt x="2447392" y="667934"/>
                  </a:lnTo>
                  <a:lnTo>
                    <a:pt x="2391542" y="677824"/>
                  </a:lnTo>
                  <a:lnTo>
                    <a:pt x="2333827" y="687103"/>
                  </a:lnTo>
                  <a:lnTo>
                    <a:pt x="2274326" y="695751"/>
                  </a:lnTo>
                  <a:lnTo>
                    <a:pt x="2213118" y="703750"/>
                  </a:lnTo>
                  <a:lnTo>
                    <a:pt x="2150284" y="711080"/>
                  </a:lnTo>
                  <a:lnTo>
                    <a:pt x="2085903" y="717721"/>
                  </a:lnTo>
                  <a:lnTo>
                    <a:pt x="2020056" y="723653"/>
                  </a:lnTo>
                  <a:lnTo>
                    <a:pt x="1952821" y="728858"/>
                  </a:lnTo>
                  <a:lnTo>
                    <a:pt x="1884280" y="733315"/>
                  </a:lnTo>
                  <a:lnTo>
                    <a:pt x="1814511" y="737006"/>
                  </a:lnTo>
                  <a:lnTo>
                    <a:pt x="1743595" y="739910"/>
                  </a:lnTo>
                  <a:lnTo>
                    <a:pt x="1671612" y="742009"/>
                  </a:lnTo>
                  <a:lnTo>
                    <a:pt x="1598640" y="743283"/>
                  </a:lnTo>
                  <a:lnTo>
                    <a:pt x="1524762" y="743711"/>
                  </a:lnTo>
                  <a:lnTo>
                    <a:pt x="1450883" y="743283"/>
                  </a:lnTo>
                  <a:lnTo>
                    <a:pt x="1377911" y="742009"/>
                  </a:lnTo>
                  <a:lnTo>
                    <a:pt x="1305928" y="739910"/>
                  </a:lnTo>
                  <a:lnTo>
                    <a:pt x="1235012" y="737006"/>
                  </a:lnTo>
                  <a:lnTo>
                    <a:pt x="1165243" y="733315"/>
                  </a:lnTo>
                  <a:lnTo>
                    <a:pt x="1096702" y="728858"/>
                  </a:lnTo>
                  <a:lnTo>
                    <a:pt x="1029467" y="723653"/>
                  </a:lnTo>
                  <a:lnTo>
                    <a:pt x="963620" y="717721"/>
                  </a:lnTo>
                  <a:lnTo>
                    <a:pt x="899239" y="711080"/>
                  </a:lnTo>
                  <a:lnTo>
                    <a:pt x="836405" y="703750"/>
                  </a:lnTo>
                  <a:lnTo>
                    <a:pt x="775197" y="695751"/>
                  </a:lnTo>
                  <a:lnTo>
                    <a:pt x="715696" y="687103"/>
                  </a:lnTo>
                  <a:lnTo>
                    <a:pt x="657981" y="677824"/>
                  </a:lnTo>
                  <a:lnTo>
                    <a:pt x="602131" y="667934"/>
                  </a:lnTo>
                  <a:lnTo>
                    <a:pt x="548228" y="657452"/>
                  </a:lnTo>
                  <a:lnTo>
                    <a:pt x="496351" y="646399"/>
                  </a:lnTo>
                  <a:lnTo>
                    <a:pt x="446579" y="634793"/>
                  </a:lnTo>
                  <a:lnTo>
                    <a:pt x="398993" y="622654"/>
                  </a:lnTo>
                  <a:lnTo>
                    <a:pt x="353672" y="610002"/>
                  </a:lnTo>
                  <a:lnTo>
                    <a:pt x="310696" y="596856"/>
                  </a:lnTo>
                  <a:lnTo>
                    <a:pt x="270145" y="583236"/>
                  </a:lnTo>
                  <a:lnTo>
                    <a:pt x="232099" y="569160"/>
                  </a:lnTo>
                  <a:lnTo>
                    <a:pt x="196638" y="554649"/>
                  </a:lnTo>
                  <a:lnTo>
                    <a:pt x="133790" y="524398"/>
                  </a:lnTo>
                  <a:lnTo>
                    <a:pt x="82239" y="492639"/>
                  </a:lnTo>
                  <a:lnTo>
                    <a:pt x="42624" y="459528"/>
                  </a:lnTo>
                  <a:lnTo>
                    <a:pt x="15584" y="425220"/>
                  </a:lnTo>
                  <a:lnTo>
                    <a:pt x="0" y="371855"/>
                  </a:lnTo>
                  <a:close/>
                </a:path>
              </a:pathLst>
            </a:custGeom>
            <a:ln w="12700">
              <a:solidFill>
                <a:srgbClr val="211E23"/>
              </a:solidFill>
            </a:ln>
          </p:spPr>
          <p:txBody>
            <a:bodyPr wrap="square" lIns="0" tIns="0" rIns="0" bIns="0" rtlCol="0"/>
            <a:lstStyle/>
            <a:p>
              <a:endParaRPr/>
            </a:p>
          </p:txBody>
        </p:sp>
      </p:grpSp>
      <p:sp>
        <p:nvSpPr>
          <p:cNvPr id="18" name="object 18"/>
          <p:cNvSpPr txBox="1"/>
          <p:nvPr/>
        </p:nvSpPr>
        <p:spPr>
          <a:xfrm>
            <a:off x="674222" y="1670123"/>
            <a:ext cx="10858966" cy="922304"/>
          </a:xfrm>
          <a:prstGeom prst="rect">
            <a:avLst/>
          </a:prstGeom>
        </p:spPr>
        <p:txBody>
          <a:bodyPr vert="horz" wrap="square" lIns="0" tIns="12700" rIns="0" bIns="0" rtlCol="0">
            <a:spAutoFit/>
          </a:bodyPr>
          <a:lstStyle/>
          <a:p>
            <a:pPr marL="12700">
              <a:lnSpc>
                <a:spcPct val="100000"/>
              </a:lnSpc>
              <a:spcBef>
                <a:spcPts val="100"/>
              </a:spcBef>
            </a:pPr>
            <a:r>
              <a:rPr sz="1600" spc="40" dirty="0">
                <a:cs typeface="Tahoma"/>
              </a:rPr>
              <a:t>We</a:t>
            </a:r>
            <a:r>
              <a:rPr sz="1600" spc="-65" dirty="0">
                <a:cs typeface="Tahoma"/>
              </a:rPr>
              <a:t> </a:t>
            </a:r>
            <a:r>
              <a:rPr sz="1600" spc="45" dirty="0">
                <a:cs typeface="Tahoma"/>
              </a:rPr>
              <a:t>divide</a:t>
            </a:r>
            <a:r>
              <a:rPr sz="1600" spc="-80" dirty="0">
                <a:cs typeface="Tahoma"/>
              </a:rPr>
              <a:t> </a:t>
            </a:r>
            <a:r>
              <a:rPr sz="1600" spc="35" dirty="0">
                <a:cs typeface="Tahoma"/>
              </a:rPr>
              <a:t>our</a:t>
            </a:r>
            <a:r>
              <a:rPr sz="1600" spc="-60" dirty="0">
                <a:cs typeface="Tahoma"/>
              </a:rPr>
              <a:t> </a:t>
            </a:r>
            <a:r>
              <a:rPr sz="1600" spc="25" dirty="0">
                <a:cs typeface="Tahoma"/>
              </a:rPr>
              <a:t>batch</a:t>
            </a:r>
            <a:r>
              <a:rPr sz="1600" spc="-85" dirty="0">
                <a:cs typeface="Tahoma"/>
              </a:rPr>
              <a:t> </a:t>
            </a:r>
            <a:r>
              <a:rPr sz="1600" spc="25" dirty="0">
                <a:cs typeface="Tahoma"/>
              </a:rPr>
              <a:t>into</a:t>
            </a:r>
            <a:r>
              <a:rPr sz="1600" spc="-65" dirty="0">
                <a:cs typeface="Tahoma"/>
              </a:rPr>
              <a:t> </a:t>
            </a:r>
            <a:r>
              <a:rPr sz="1600" spc="20" dirty="0">
                <a:cs typeface="Tahoma"/>
              </a:rPr>
              <a:t>smaller</a:t>
            </a:r>
            <a:r>
              <a:rPr sz="1600" spc="-25" dirty="0">
                <a:cs typeface="Tahoma"/>
              </a:rPr>
              <a:t> </a:t>
            </a:r>
            <a:r>
              <a:rPr sz="1600" spc="20" dirty="0">
                <a:cs typeface="Tahoma"/>
              </a:rPr>
              <a:t>microbatches,</a:t>
            </a:r>
            <a:r>
              <a:rPr sz="1600" spc="-80" dirty="0">
                <a:cs typeface="Tahoma"/>
              </a:rPr>
              <a:t> </a:t>
            </a:r>
            <a:r>
              <a:rPr sz="1600" spc="40" dirty="0">
                <a:cs typeface="Tahoma"/>
              </a:rPr>
              <a:t>and</a:t>
            </a:r>
            <a:r>
              <a:rPr sz="1600" spc="-70" dirty="0">
                <a:cs typeface="Tahoma"/>
              </a:rPr>
              <a:t> </a:t>
            </a:r>
            <a:r>
              <a:rPr sz="1600" spc="-10" dirty="0">
                <a:cs typeface="Tahoma"/>
              </a:rPr>
              <a:t>shift</a:t>
            </a:r>
            <a:r>
              <a:rPr sz="1600" spc="-65" dirty="0">
                <a:cs typeface="Tahoma"/>
              </a:rPr>
              <a:t> </a:t>
            </a:r>
            <a:r>
              <a:rPr sz="1600" spc="30" dirty="0">
                <a:cs typeface="Tahoma"/>
              </a:rPr>
              <a:t>each</a:t>
            </a:r>
            <a:r>
              <a:rPr sz="1600" spc="-55" dirty="0">
                <a:cs typeface="Tahoma"/>
              </a:rPr>
              <a:t> </a:t>
            </a:r>
            <a:r>
              <a:rPr sz="1600" spc="20" dirty="0">
                <a:cs typeface="Tahoma"/>
              </a:rPr>
              <a:t>microbatch’s</a:t>
            </a:r>
            <a:r>
              <a:rPr sz="1600" spc="-50" dirty="0">
                <a:cs typeface="Tahoma"/>
              </a:rPr>
              <a:t> </a:t>
            </a:r>
            <a:r>
              <a:rPr sz="1600" spc="15" dirty="0">
                <a:cs typeface="Tahoma"/>
              </a:rPr>
              <a:t>forward</a:t>
            </a:r>
            <a:r>
              <a:rPr sz="1600" spc="-40" dirty="0">
                <a:cs typeface="Tahoma"/>
              </a:rPr>
              <a:t> </a:t>
            </a:r>
            <a:r>
              <a:rPr sz="1600" spc="40" dirty="0">
                <a:cs typeface="Tahoma"/>
              </a:rPr>
              <a:t>and</a:t>
            </a:r>
            <a:r>
              <a:rPr sz="1600" spc="-65" dirty="0">
                <a:cs typeface="Tahoma"/>
              </a:rPr>
              <a:t> </a:t>
            </a:r>
            <a:r>
              <a:rPr sz="1600" spc="30" dirty="0">
                <a:cs typeface="Tahoma"/>
              </a:rPr>
              <a:t>backward</a:t>
            </a:r>
            <a:r>
              <a:rPr sz="1600" spc="-65" dirty="0">
                <a:cs typeface="Tahoma"/>
              </a:rPr>
              <a:t> </a:t>
            </a:r>
            <a:r>
              <a:rPr sz="1600" spc="30" dirty="0">
                <a:cs typeface="Tahoma"/>
              </a:rPr>
              <a:t>step</a:t>
            </a:r>
            <a:r>
              <a:rPr sz="1600" spc="-75" dirty="0">
                <a:cs typeface="Tahoma"/>
              </a:rPr>
              <a:t> </a:t>
            </a:r>
            <a:r>
              <a:rPr sz="1600" spc="50" dirty="0">
                <a:cs typeface="Tahoma"/>
              </a:rPr>
              <a:t>on</a:t>
            </a:r>
            <a:r>
              <a:rPr sz="1600" spc="-55" dirty="0">
                <a:cs typeface="Tahoma"/>
              </a:rPr>
              <a:t> </a:t>
            </a:r>
            <a:r>
              <a:rPr sz="1600" spc="20" dirty="0">
                <a:cs typeface="Tahoma"/>
              </a:rPr>
              <a:t>the</a:t>
            </a:r>
            <a:r>
              <a:rPr sz="1600" spc="-65" dirty="0">
                <a:cs typeface="Tahoma"/>
              </a:rPr>
              <a:t> </a:t>
            </a:r>
            <a:r>
              <a:rPr sz="1600" spc="20" dirty="0">
                <a:cs typeface="Tahoma"/>
              </a:rPr>
              <a:t>timeline.</a:t>
            </a:r>
            <a:endParaRPr sz="1600" dirty="0">
              <a:cs typeface="Tahoma"/>
            </a:endParaRPr>
          </a:p>
          <a:p>
            <a:pPr marL="12700">
              <a:lnSpc>
                <a:spcPts val="1370"/>
              </a:lnSpc>
              <a:spcBef>
                <a:spcPts val="865"/>
              </a:spcBef>
            </a:pPr>
            <a:r>
              <a:rPr sz="1600" spc="25" dirty="0">
                <a:cs typeface="Tahoma"/>
              </a:rPr>
              <a:t>Each</a:t>
            </a:r>
            <a:r>
              <a:rPr sz="1600" spc="-65" dirty="0">
                <a:cs typeface="Tahoma"/>
              </a:rPr>
              <a:t> </a:t>
            </a:r>
            <a:r>
              <a:rPr sz="1600" spc="25" dirty="0">
                <a:cs typeface="Tahoma"/>
              </a:rPr>
              <a:t>timestep</a:t>
            </a:r>
            <a:r>
              <a:rPr sz="1600" spc="-65" dirty="0">
                <a:cs typeface="Tahoma"/>
              </a:rPr>
              <a:t> </a:t>
            </a:r>
            <a:r>
              <a:rPr sz="1600" spc="25" dirty="0">
                <a:cs typeface="Tahoma"/>
              </a:rPr>
              <a:t>in</a:t>
            </a:r>
            <a:r>
              <a:rPr sz="1600" spc="-65" dirty="0">
                <a:cs typeface="Tahoma"/>
              </a:rPr>
              <a:t> </a:t>
            </a:r>
            <a:r>
              <a:rPr sz="1600" spc="5" dirty="0">
                <a:cs typeface="Tahoma"/>
              </a:rPr>
              <a:t>this</a:t>
            </a:r>
            <a:r>
              <a:rPr sz="1600" spc="-80" dirty="0">
                <a:cs typeface="Tahoma"/>
              </a:rPr>
              <a:t> </a:t>
            </a:r>
            <a:r>
              <a:rPr sz="1600" spc="20" dirty="0">
                <a:cs typeface="Tahoma"/>
              </a:rPr>
              <a:t>case</a:t>
            </a:r>
            <a:r>
              <a:rPr sz="1600" spc="-45" dirty="0">
                <a:cs typeface="Tahoma"/>
              </a:rPr>
              <a:t> </a:t>
            </a:r>
            <a:r>
              <a:rPr sz="1600" spc="5" dirty="0">
                <a:cs typeface="Tahoma"/>
              </a:rPr>
              <a:t>takes</a:t>
            </a:r>
            <a:r>
              <a:rPr sz="1600" spc="-75" dirty="0">
                <a:cs typeface="Tahoma"/>
              </a:rPr>
              <a:t> </a:t>
            </a:r>
            <a:r>
              <a:rPr sz="1600" dirty="0">
                <a:cs typeface="Tahoma"/>
              </a:rPr>
              <a:t>less,</a:t>
            </a:r>
            <a:r>
              <a:rPr sz="1600" spc="-85" dirty="0">
                <a:cs typeface="Tahoma"/>
              </a:rPr>
              <a:t> </a:t>
            </a:r>
            <a:r>
              <a:rPr sz="1600" spc="25" dirty="0">
                <a:cs typeface="Tahoma"/>
              </a:rPr>
              <a:t>since</a:t>
            </a:r>
            <a:r>
              <a:rPr sz="1600" spc="-50" dirty="0">
                <a:cs typeface="Tahoma"/>
              </a:rPr>
              <a:t> </a:t>
            </a:r>
            <a:r>
              <a:rPr sz="1600" spc="25" dirty="0">
                <a:cs typeface="Tahoma"/>
              </a:rPr>
              <a:t>we</a:t>
            </a:r>
            <a:r>
              <a:rPr sz="1600" spc="-65" dirty="0">
                <a:cs typeface="Tahoma"/>
              </a:rPr>
              <a:t> </a:t>
            </a:r>
            <a:r>
              <a:rPr sz="1600" spc="10" dirty="0">
                <a:cs typeface="Tahoma"/>
              </a:rPr>
              <a:t>are</a:t>
            </a:r>
            <a:r>
              <a:rPr sz="1600" spc="-60" dirty="0">
                <a:cs typeface="Tahoma"/>
              </a:rPr>
              <a:t> </a:t>
            </a:r>
            <a:r>
              <a:rPr sz="1600" spc="35" dirty="0">
                <a:cs typeface="Tahoma"/>
              </a:rPr>
              <a:t>working</a:t>
            </a:r>
            <a:r>
              <a:rPr sz="1600" spc="-50" dirty="0">
                <a:cs typeface="Tahoma"/>
              </a:rPr>
              <a:t> </a:t>
            </a:r>
            <a:r>
              <a:rPr sz="1600" spc="50" dirty="0">
                <a:cs typeface="Tahoma"/>
              </a:rPr>
              <a:t>on</a:t>
            </a:r>
            <a:r>
              <a:rPr sz="1600" spc="-65" dirty="0">
                <a:cs typeface="Tahoma"/>
              </a:rPr>
              <a:t> </a:t>
            </a:r>
            <a:r>
              <a:rPr sz="1600" spc="10" dirty="0">
                <a:cs typeface="Tahoma"/>
              </a:rPr>
              <a:t>a</a:t>
            </a:r>
            <a:r>
              <a:rPr sz="1600" spc="-70" dirty="0">
                <a:cs typeface="Tahoma"/>
              </a:rPr>
              <a:t> </a:t>
            </a:r>
            <a:r>
              <a:rPr sz="1600" spc="20" dirty="0">
                <a:cs typeface="Tahoma"/>
              </a:rPr>
              <a:t>small</a:t>
            </a:r>
            <a:r>
              <a:rPr sz="1600" spc="-40" dirty="0">
                <a:cs typeface="Tahoma"/>
              </a:rPr>
              <a:t> </a:t>
            </a:r>
            <a:r>
              <a:rPr sz="1600" spc="20" dirty="0">
                <a:cs typeface="Tahoma"/>
              </a:rPr>
              <a:t>microbatch.</a:t>
            </a:r>
            <a:r>
              <a:rPr sz="1600" spc="-120" dirty="0">
                <a:cs typeface="Tahoma"/>
              </a:rPr>
              <a:t> </a:t>
            </a:r>
            <a:r>
              <a:rPr sz="1600" spc="10" dirty="0">
                <a:cs typeface="Tahoma"/>
              </a:rPr>
              <a:t>The</a:t>
            </a:r>
            <a:r>
              <a:rPr sz="1600" spc="-60" dirty="0">
                <a:cs typeface="Tahoma"/>
              </a:rPr>
              <a:t> </a:t>
            </a:r>
            <a:r>
              <a:rPr sz="1600" spc="25" dirty="0">
                <a:cs typeface="Tahoma"/>
              </a:rPr>
              <a:t>gradients</a:t>
            </a:r>
            <a:r>
              <a:rPr sz="1600" spc="-60" dirty="0">
                <a:cs typeface="Tahoma"/>
              </a:rPr>
              <a:t> </a:t>
            </a:r>
            <a:r>
              <a:rPr sz="1600" spc="10" dirty="0">
                <a:cs typeface="Tahoma"/>
              </a:rPr>
              <a:t>for</a:t>
            </a:r>
            <a:r>
              <a:rPr sz="1600" spc="-60" dirty="0">
                <a:cs typeface="Tahoma"/>
              </a:rPr>
              <a:t> </a:t>
            </a:r>
            <a:r>
              <a:rPr sz="1600" spc="30" dirty="0">
                <a:cs typeface="Tahoma"/>
              </a:rPr>
              <a:t>each</a:t>
            </a:r>
            <a:r>
              <a:rPr sz="1600" spc="-40" dirty="0">
                <a:cs typeface="Tahoma"/>
              </a:rPr>
              <a:t> </a:t>
            </a:r>
            <a:r>
              <a:rPr sz="1600" spc="30" dirty="0">
                <a:cs typeface="Tahoma"/>
              </a:rPr>
              <a:t>microbatch</a:t>
            </a:r>
            <a:r>
              <a:rPr sz="1600" spc="-55" dirty="0">
                <a:cs typeface="Tahoma"/>
              </a:rPr>
              <a:t> </a:t>
            </a:r>
            <a:r>
              <a:rPr sz="1600" spc="10" dirty="0">
                <a:cs typeface="Tahoma"/>
              </a:rPr>
              <a:t>is</a:t>
            </a:r>
            <a:r>
              <a:rPr sz="1600" spc="-70" dirty="0">
                <a:cs typeface="Tahoma"/>
              </a:rPr>
              <a:t> </a:t>
            </a:r>
            <a:r>
              <a:rPr sz="1600" spc="30" dirty="0">
                <a:cs typeface="Tahoma"/>
              </a:rPr>
              <a:t>accumulated</a:t>
            </a:r>
            <a:endParaRPr sz="1600" dirty="0">
              <a:cs typeface="Tahoma"/>
            </a:endParaRPr>
          </a:p>
          <a:p>
            <a:pPr marL="12700">
              <a:lnSpc>
                <a:spcPts val="1370"/>
              </a:lnSpc>
            </a:pPr>
            <a:r>
              <a:rPr sz="1600" spc="-30" dirty="0">
                <a:cs typeface="Tahoma"/>
              </a:rPr>
              <a:t>(</a:t>
            </a:r>
            <a:r>
              <a:rPr sz="1600" b="1" spc="-30" dirty="0">
                <a:cs typeface="Tahoma"/>
              </a:rPr>
              <a:t>gradient</a:t>
            </a:r>
            <a:r>
              <a:rPr sz="1600" b="1" spc="-90" dirty="0">
                <a:cs typeface="Tahoma"/>
              </a:rPr>
              <a:t> </a:t>
            </a:r>
            <a:r>
              <a:rPr sz="1600" b="1" spc="-40" dirty="0">
                <a:cs typeface="Tahoma"/>
              </a:rPr>
              <a:t>accumulation</a:t>
            </a:r>
            <a:r>
              <a:rPr sz="1600" spc="-40" dirty="0">
                <a:cs typeface="Tahoma"/>
              </a:rPr>
              <a:t>)</a:t>
            </a:r>
            <a:r>
              <a:rPr sz="1600" spc="-65" dirty="0">
                <a:cs typeface="Tahoma"/>
              </a:rPr>
              <a:t> </a:t>
            </a:r>
            <a:r>
              <a:rPr sz="1600" spc="40" dirty="0">
                <a:cs typeface="Tahoma"/>
              </a:rPr>
              <a:t>and</a:t>
            </a:r>
            <a:r>
              <a:rPr sz="1600" spc="-65" dirty="0">
                <a:cs typeface="Tahoma"/>
              </a:rPr>
              <a:t> </a:t>
            </a:r>
            <a:r>
              <a:rPr sz="1600" spc="20" dirty="0">
                <a:cs typeface="Tahoma"/>
              </a:rPr>
              <a:t>then</a:t>
            </a:r>
            <a:r>
              <a:rPr sz="1600" spc="-60" dirty="0">
                <a:cs typeface="Tahoma"/>
              </a:rPr>
              <a:t> </a:t>
            </a:r>
            <a:r>
              <a:rPr sz="1600" spc="25" dirty="0">
                <a:cs typeface="Tahoma"/>
              </a:rPr>
              <a:t>we</a:t>
            </a:r>
            <a:r>
              <a:rPr sz="1600" spc="-70" dirty="0">
                <a:cs typeface="Tahoma"/>
              </a:rPr>
              <a:t> </a:t>
            </a:r>
            <a:r>
              <a:rPr sz="1600" spc="25" dirty="0">
                <a:cs typeface="Tahoma"/>
              </a:rPr>
              <a:t>can</a:t>
            </a:r>
            <a:r>
              <a:rPr sz="1600" spc="-65" dirty="0">
                <a:cs typeface="Tahoma"/>
              </a:rPr>
              <a:t> </a:t>
            </a:r>
            <a:r>
              <a:rPr sz="1600" spc="15" dirty="0">
                <a:cs typeface="Tahoma"/>
              </a:rPr>
              <a:t>run</a:t>
            </a:r>
            <a:r>
              <a:rPr sz="1600" spc="-50" dirty="0">
                <a:cs typeface="Tahoma"/>
              </a:rPr>
              <a:t> </a:t>
            </a:r>
            <a:r>
              <a:rPr sz="1600" spc="20" dirty="0">
                <a:cs typeface="Tahoma"/>
              </a:rPr>
              <a:t>the</a:t>
            </a:r>
            <a:r>
              <a:rPr sz="1600" spc="-85" dirty="0">
                <a:cs typeface="Tahoma"/>
              </a:rPr>
              <a:t> </a:t>
            </a:r>
            <a:r>
              <a:rPr sz="1600" spc="30" dirty="0">
                <a:cs typeface="Tahoma"/>
              </a:rPr>
              <a:t>optimizer</a:t>
            </a:r>
            <a:r>
              <a:rPr sz="1600" spc="-45" dirty="0">
                <a:cs typeface="Tahoma"/>
              </a:rPr>
              <a:t> </a:t>
            </a:r>
            <a:r>
              <a:rPr sz="1600" spc="30" dirty="0">
                <a:cs typeface="Tahoma"/>
              </a:rPr>
              <a:t>to</a:t>
            </a:r>
            <a:r>
              <a:rPr sz="1600" spc="-85" dirty="0">
                <a:cs typeface="Tahoma"/>
              </a:rPr>
              <a:t> </a:t>
            </a:r>
            <a:r>
              <a:rPr sz="1600" spc="40" dirty="0">
                <a:cs typeface="Tahoma"/>
              </a:rPr>
              <a:t>update</a:t>
            </a:r>
            <a:r>
              <a:rPr sz="1600" spc="-55" dirty="0">
                <a:cs typeface="Tahoma"/>
              </a:rPr>
              <a:t> </a:t>
            </a:r>
            <a:r>
              <a:rPr sz="1600" spc="20" dirty="0">
                <a:cs typeface="Tahoma"/>
              </a:rPr>
              <a:t>the</a:t>
            </a:r>
            <a:r>
              <a:rPr sz="1600" spc="-85" dirty="0">
                <a:cs typeface="Tahoma"/>
              </a:rPr>
              <a:t> </a:t>
            </a:r>
            <a:r>
              <a:rPr sz="1600" spc="10" dirty="0">
                <a:cs typeface="Tahoma"/>
              </a:rPr>
              <a:t>weights.</a:t>
            </a:r>
            <a:endParaRPr sz="1600" dirty="0">
              <a:cs typeface="Tahoma"/>
            </a:endParaRPr>
          </a:p>
        </p:txBody>
      </p:sp>
      <p:sp>
        <p:nvSpPr>
          <p:cNvPr id="19" name="object 19"/>
          <p:cNvSpPr txBox="1"/>
          <p:nvPr/>
        </p:nvSpPr>
        <p:spPr>
          <a:xfrm>
            <a:off x="668144" y="5097833"/>
            <a:ext cx="10874373" cy="505267"/>
          </a:xfrm>
          <a:prstGeom prst="rect">
            <a:avLst/>
          </a:prstGeom>
        </p:spPr>
        <p:txBody>
          <a:bodyPr vert="horz" wrap="square" lIns="0" tIns="12700" rIns="0" bIns="0" rtlCol="0">
            <a:spAutoFit/>
          </a:bodyPr>
          <a:lstStyle/>
          <a:p>
            <a:pPr marL="12700">
              <a:lnSpc>
                <a:spcPct val="100000"/>
              </a:lnSpc>
              <a:spcBef>
                <a:spcPts val="100"/>
              </a:spcBef>
            </a:pPr>
            <a:r>
              <a:rPr sz="1600" spc="40" dirty="0">
                <a:cs typeface="Tahoma"/>
              </a:rPr>
              <a:t>We</a:t>
            </a:r>
            <a:r>
              <a:rPr sz="1600" spc="-65" dirty="0">
                <a:cs typeface="Tahoma"/>
              </a:rPr>
              <a:t> </a:t>
            </a:r>
            <a:r>
              <a:rPr sz="1600" spc="10" dirty="0">
                <a:cs typeface="Tahoma"/>
              </a:rPr>
              <a:t>still</a:t>
            </a:r>
            <a:r>
              <a:rPr sz="1600" spc="-75" dirty="0">
                <a:cs typeface="Tahoma"/>
              </a:rPr>
              <a:t> </a:t>
            </a:r>
            <a:r>
              <a:rPr sz="1600" spc="15" dirty="0">
                <a:cs typeface="Tahoma"/>
              </a:rPr>
              <a:t>have</a:t>
            </a:r>
            <a:r>
              <a:rPr sz="1600" spc="-65" dirty="0">
                <a:cs typeface="Tahoma"/>
              </a:rPr>
              <a:t> </a:t>
            </a:r>
            <a:r>
              <a:rPr sz="1600" spc="20" dirty="0">
                <a:cs typeface="Tahoma"/>
              </a:rPr>
              <a:t>timesteps</a:t>
            </a:r>
            <a:r>
              <a:rPr sz="1600" spc="-55" dirty="0">
                <a:cs typeface="Tahoma"/>
              </a:rPr>
              <a:t> </a:t>
            </a:r>
            <a:r>
              <a:rPr sz="1600" spc="25" dirty="0">
                <a:cs typeface="Tahoma"/>
              </a:rPr>
              <a:t>in</a:t>
            </a:r>
            <a:r>
              <a:rPr sz="1600" spc="-70" dirty="0">
                <a:cs typeface="Tahoma"/>
              </a:rPr>
              <a:t> </a:t>
            </a:r>
            <a:r>
              <a:rPr sz="1600" spc="25" dirty="0">
                <a:cs typeface="Tahoma"/>
              </a:rPr>
              <a:t>which</a:t>
            </a:r>
            <a:r>
              <a:rPr sz="1600" spc="-60" dirty="0">
                <a:cs typeface="Tahoma"/>
              </a:rPr>
              <a:t> </a:t>
            </a:r>
            <a:r>
              <a:rPr sz="1600" spc="25" dirty="0">
                <a:cs typeface="Tahoma"/>
              </a:rPr>
              <a:t>not</a:t>
            </a:r>
            <a:r>
              <a:rPr sz="1600" spc="-75" dirty="0">
                <a:cs typeface="Tahoma"/>
              </a:rPr>
              <a:t> </a:t>
            </a:r>
            <a:r>
              <a:rPr sz="1600" spc="20" dirty="0">
                <a:cs typeface="Tahoma"/>
              </a:rPr>
              <a:t>all</a:t>
            </a:r>
            <a:r>
              <a:rPr sz="1600" spc="-75" dirty="0">
                <a:cs typeface="Tahoma"/>
              </a:rPr>
              <a:t> </a:t>
            </a:r>
            <a:r>
              <a:rPr sz="1600" spc="55" dirty="0">
                <a:cs typeface="Tahoma"/>
              </a:rPr>
              <a:t>GPUs</a:t>
            </a:r>
            <a:r>
              <a:rPr sz="1600" spc="-60" dirty="0">
                <a:cs typeface="Tahoma"/>
              </a:rPr>
              <a:t> </a:t>
            </a:r>
            <a:r>
              <a:rPr sz="1600" spc="10" dirty="0">
                <a:cs typeface="Tahoma"/>
              </a:rPr>
              <a:t>are</a:t>
            </a:r>
            <a:r>
              <a:rPr sz="1600" spc="-65" dirty="0">
                <a:cs typeface="Tahoma"/>
              </a:rPr>
              <a:t> </a:t>
            </a:r>
            <a:r>
              <a:rPr sz="1600" spc="35" dirty="0">
                <a:cs typeface="Tahoma"/>
              </a:rPr>
              <a:t>working</a:t>
            </a:r>
            <a:r>
              <a:rPr sz="1600" spc="-55" dirty="0">
                <a:cs typeface="Tahoma"/>
              </a:rPr>
              <a:t> </a:t>
            </a:r>
            <a:r>
              <a:rPr sz="1600" spc="20" dirty="0">
                <a:cs typeface="Tahoma"/>
              </a:rPr>
              <a:t>(called</a:t>
            </a:r>
            <a:r>
              <a:rPr sz="1600" spc="-65" dirty="0">
                <a:cs typeface="Tahoma"/>
              </a:rPr>
              <a:t> </a:t>
            </a:r>
            <a:r>
              <a:rPr sz="1600" spc="15" dirty="0">
                <a:cs typeface="Tahoma"/>
              </a:rPr>
              <a:t>“bubbles”).</a:t>
            </a:r>
            <a:r>
              <a:rPr sz="1600" spc="-140" dirty="0">
                <a:cs typeface="Tahoma"/>
              </a:rPr>
              <a:t> </a:t>
            </a:r>
            <a:r>
              <a:rPr sz="1600" spc="-30" dirty="0">
                <a:cs typeface="Tahoma"/>
              </a:rPr>
              <a:t>To</a:t>
            </a:r>
            <a:r>
              <a:rPr sz="1600" spc="-50" dirty="0">
                <a:cs typeface="Tahoma"/>
              </a:rPr>
              <a:t> </a:t>
            </a:r>
            <a:r>
              <a:rPr sz="1600" spc="40" dirty="0">
                <a:cs typeface="Tahoma"/>
              </a:rPr>
              <a:t>avoid</a:t>
            </a:r>
            <a:r>
              <a:rPr sz="1600" spc="-70" dirty="0">
                <a:cs typeface="Tahoma"/>
              </a:rPr>
              <a:t> </a:t>
            </a:r>
            <a:r>
              <a:rPr sz="1600" spc="45" dirty="0">
                <a:cs typeface="Tahoma"/>
              </a:rPr>
              <a:t>bubbling,</a:t>
            </a:r>
            <a:r>
              <a:rPr sz="1600" spc="-105" dirty="0">
                <a:cs typeface="Tahoma"/>
              </a:rPr>
              <a:t> </a:t>
            </a:r>
            <a:r>
              <a:rPr sz="1600" spc="25" dirty="0">
                <a:cs typeface="Tahoma"/>
              </a:rPr>
              <a:t>we</a:t>
            </a:r>
            <a:r>
              <a:rPr sz="1600" spc="-70" dirty="0">
                <a:cs typeface="Tahoma"/>
              </a:rPr>
              <a:t> </a:t>
            </a:r>
            <a:r>
              <a:rPr sz="1600" spc="25" dirty="0">
                <a:cs typeface="Tahoma"/>
              </a:rPr>
              <a:t>can</a:t>
            </a:r>
            <a:r>
              <a:rPr sz="1600" spc="-75" dirty="0">
                <a:cs typeface="Tahoma"/>
              </a:rPr>
              <a:t> </a:t>
            </a:r>
            <a:r>
              <a:rPr sz="1600" spc="20" dirty="0">
                <a:cs typeface="Tahoma"/>
              </a:rPr>
              <a:t>increase</a:t>
            </a:r>
            <a:r>
              <a:rPr sz="1600" spc="-35" dirty="0">
                <a:cs typeface="Tahoma"/>
              </a:rPr>
              <a:t> </a:t>
            </a:r>
            <a:r>
              <a:rPr sz="1600" spc="15" dirty="0">
                <a:cs typeface="Tahoma"/>
              </a:rPr>
              <a:t>the</a:t>
            </a:r>
            <a:r>
              <a:rPr sz="1600" spc="-70" dirty="0">
                <a:cs typeface="Tahoma"/>
              </a:rPr>
              <a:t> </a:t>
            </a:r>
            <a:r>
              <a:rPr sz="1600" spc="15" dirty="0">
                <a:cs typeface="Tahoma"/>
              </a:rPr>
              <a:t>size</a:t>
            </a:r>
            <a:r>
              <a:rPr sz="1600" spc="-65" dirty="0">
                <a:cs typeface="Tahoma"/>
              </a:rPr>
              <a:t> </a:t>
            </a:r>
            <a:r>
              <a:rPr sz="1600" spc="25" dirty="0">
                <a:cs typeface="Tahoma"/>
              </a:rPr>
              <a:t>of</a:t>
            </a:r>
            <a:r>
              <a:rPr sz="1600" spc="-5" dirty="0">
                <a:cs typeface="Tahoma"/>
              </a:rPr>
              <a:t> </a:t>
            </a:r>
            <a:r>
              <a:rPr sz="1600" spc="15" dirty="0">
                <a:cs typeface="Tahoma"/>
              </a:rPr>
              <a:t>the</a:t>
            </a:r>
            <a:r>
              <a:rPr sz="1600" spc="-75" dirty="0">
                <a:cs typeface="Tahoma"/>
              </a:rPr>
              <a:t> </a:t>
            </a:r>
            <a:r>
              <a:rPr sz="1600" spc="25" dirty="0">
                <a:cs typeface="Tahoma"/>
              </a:rPr>
              <a:t>batch</a:t>
            </a:r>
            <a:endParaRPr sz="1600" dirty="0">
              <a:cs typeface="Tahom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DCE922-7CB2-7967-8B42-9C94D2EBF230}"/>
              </a:ext>
            </a:extLst>
          </p:cNvPr>
          <p:cNvSpPr>
            <a:spLocks noGrp="1"/>
          </p:cNvSpPr>
          <p:nvPr>
            <p:ph idx="1"/>
          </p:nvPr>
        </p:nvSpPr>
        <p:spPr>
          <a:xfrm>
            <a:off x="4455269" y="3256383"/>
            <a:ext cx="7057847" cy="396551"/>
          </a:xfrm>
        </p:spPr>
        <p:txBody>
          <a:bodyPr>
            <a:normAutofit fontScale="92500" lnSpcReduction="20000"/>
          </a:bodyPr>
          <a:lstStyle/>
          <a:p>
            <a:r>
              <a:rPr lang="en-IN" b="1" dirty="0">
                <a:solidFill>
                  <a:srgbClr val="161A3E"/>
                </a:solidFill>
              </a:rPr>
              <a:t>Block Attention in </a:t>
            </a:r>
            <a:r>
              <a:rPr lang="en-IN" b="1" dirty="0" err="1">
                <a:solidFill>
                  <a:srgbClr val="161A3E"/>
                </a:solidFill>
              </a:rPr>
              <a:t>xformers</a:t>
            </a:r>
            <a:endParaRPr lang="en-IN" b="1" dirty="0">
              <a:solidFill>
                <a:srgbClr val="161A3E"/>
              </a:solidFill>
            </a:endParaRPr>
          </a:p>
        </p:txBody>
      </p:sp>
      <p:sp>
        <p:nvSpPr>
          <p:cNvPr id="3" name="Title 2">
            <a:extLst>
              <a:ext uri="{FF2B5EF4-FFF2-40B4-BE49-F238E27FC236}">
                <a16:creationId xmlns:a16="http://schemas.microsoft.com/office/drawing/2014/main" id="{2F3F5CFC-5EB5-A248-3627-537EC64DE422}"/>
              </a:ext>
            </a:extLst>
          </p:cNvPr>
          <p:cNvSpPr>
            <a:spLocks noGrp="1"/>
          </p:cNvSpPr>
          <p:nvPr>
            <p:ph type="title"/>
          </p:nvPr>
        </p:nvSpPr>
        <p:spPr/>
        <p:txBody>
          <a:bodyPr/>
          <a:lstStyle/>
          <a:p>
            <a:r>
              <a:rPr lang="en-US" dirty="0"/>
              <a:t>Understanding the Mistral model’s code</a:t>
            </a:r>
            <a:endParaRPr lang="en-IN" dirty="0"/>
          </a:p>
        </p:txBody>
      </p:sp>
    </p:spTree>
    <p:extLst>
      <p:ext uri="{BB962C8B-B14F-4D97-AF65-F5344CB8AC3E}">
        <p14:creationId xmlns:p14="http://schemas.microsoft.com/office/powerpoint/2010/main" val="40109358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4218" y="599379"/>
            <a:ext cx="10858970" cy="634109"/>
          </a:xfrm>
          <a:prstGeom prst="rect">
            <a:avLst/>
          </a:prstGeom>
        </p:spPr>
        <p:txBody>
          <a:bodyPr vert="horz" lIns="0" tIns="0" rIns="0" bIns="0" rtlCol="0" anchor="ctr">
            <a:normAutofit/>
          </a:bodyPr>
          <a:lstStyle/>
          <a:p>
            <a:r>
              <a:rPr dirty="0">
                <a:latin typeface="+mn-lt"/>
              </a:rPr>
              <a:t>Optimizing </a:t>
            </a:r>
            <a:r>
              <a:rPr lang="en-US" dirty="0">
                <a:latin typeface="+mn-lt"/>
              </a:rPr>
              <a:t>I</a:t>
            </a:r>
            <a:r>
              <a:rPr dirty="0">
                <a:latin typeface="+mn-lt"/>
              </a:rPr>
              <a:t>nference with </a:t>
            </a:r>
            <a:r>
              <a:rPr lang="en-US" dirty="0">
                <a:latin typeface="+mn-lt"/>
              </a:rPr>
              <a:t>M</a:t>
            </a:r>
            <a:r>
              <a:rPr dirty="0">
                <a:latin typeface="+mn-lt"/>
              </a:rPr>
              <a:t>ultiple </a:t>
            </a:r>
            <a:r>
              <a:rPr lang="en-US" dirty="0">
                <a:latin typeface="+mn-lt"/>
              </a:rPr>
              <a:t>P</a:t>
            </a:r>
            <a:r>
              <a:rPr dirty="0">
                <a:latin typeface="+mn-lt"/>
              </a:rPr>
              <a:t>rompts</a:t>
            </a:r>
          </a:p>
        </p:txBody>
      </p:sp>
      <p:sp>
        <p:nvSpPr>
          <p:cNvPr id="3" name="object 3"/>
          <p:cNvSpPr txBox="1"/>
          <p:nvPr/>
        </p:nvSpPr>
        <p:spPr>
          <a:xfrm>
            <a:off x="674222" y="1670123"/>
            <a:ext cx="10858966" cy="3264996"/>
          </a:xfrm>
          <a:prstGeom prst="rect">
            <a:avLst/>
          </a:prstGeom>
        </p:spPr>
        <p:txBody>
          <a:bodyPr vert="horz" wrap="square" lIns="0" tIns="33020" rIns="0" bIns="0" rtlCol="0">
            <a:spAutoFit/>
          </a:bodyPr>
          <a:lstStyle/>
          <a:p>
            <a:pPr marL="12700" marR="5080">
              <a:spcBef>
                <a:spcPts val="600"/>
              </a:spcBef>
              <a:spcAft>
                <a:spcPts val="600"/>
              </a:spcAft>
            </a:pPr>
            <a:r>
              <a:rPr sz="1600" spc="15" dirty="0">
                <a:cs typeface="Tahoma"/>
              </a:rPr>
              <a:t>Imagine</a:t>
            </a:r>
            <a:r>
              <a:rPr sz="1600" spc="-50" dirty="0">
                <a:cs typeface="Tahoma"/>
              </a:rPr>
              <a:t> </a:t>
            </a:r>
            <a:r>
              <a:rPr sz="1600" spc="30" dirty="0">
                <a:cs typeface="Tahoma"/>
              </a:rPr>
              <a:t>you</a:t>
            </a:r>
            <a:r>
              <a:rPr sz="1600" spc="-60" dirty="0">
                <a:cs typeface="Tahoma"/>
              </a:rPr>
              <a:t> </a:t>
            </a:r>
            <a:r>
              <a:rPr sz="1600" spc="10" dirty="0">
                <a:cs typeface="Tahoma"/>
              </a:rPr>
              <a:t>are</a:t>
            </a:r>
            <a:r>
              <a:rPr sz="1600" spc="-65" dirty="0">
                <a:cs typeface="Tahoma"/>
              </a:rPr>
              <a:t> </a:t>
            </a:r>
            <a:r>
              <a:rPr sz="1600" spc="30" dirty="0">
                <a:cs typeface="Tahoma"/>
              </a:rPr>
              <a:t>running</a:t>
            </a:r>
            <a:r>
              <a:rPr sz="1600" spc="-50" dirty="0">
                <a:cs typeface="Tahoma"/>
              </a:rPr>
              <a:t> </a:t>
            </a:r>
            <a:r>
              <a:rPr sz="1600" spc="15" dirty="0">
                <a:cs typeface="Tahoma"/>
              </a:rPr>
              <a:t>an</a:t>
            </a:r>
            <a:r>
              <a:rPr sz="1600" spc="-85" dirty="0">
                <a:cs typeface="Tahoma"/>
              </a:rPr>
              <a:t> </a:t>
            </a:r>
            <a:r>
              <a:rPr sz="1600" spc="-15" dirty="0">
                <a:cs typeface="Tahoma"/>
              </a:rPr>
              <a:t>AI</a:t>
            </a:r>
            <a:r>
              <a:rPr sz="1600" spc="-75" dirty="0">
                <a:cs typeface="Tahoma"/>
              </a:rPr>
              <a:t> </a:t>
            </a:r>
            <a:r>
              <a:rPr sz="1600" spc="40" dirty="0">
                <a:cs typeface="Tahoma"/>
              </a:rPr>
              <a:t>company</a:t>
            </a:r>
            <a:r>
              <a:rPr sz="1600" spc="-45" dirty="0">
                <a:cs typeface="Tahoma"/>
              </a:rPr>
              <a:t> </a:t>
            </a:r>
            <a:r>
              <a:rPr sz="1600" spc="45" dirty="0">
                <a:cs typeface="Tahoma"/>
              </a:rPr>
              <a:t>providing</a:t>
            </a:r>
            <a:r>
              <a:rPr sz="1600" spc="-55" dirty="0">
                <a:cs typeface="Tahoma"/>
              </a:rPr>
              <a:t> </a:t>
            </a:r>
            <a:r>
              <a:rPr sz="1600" spc="55" dirty="0">
                <a:cs typeface="Tahoma"/>
              </a:rPr>
              <a:t>LLM</a:t>
            </a:r>
            <a:r>
              <a:rPr sz="1600" spc="-80" dirty="0">
                <a:cs typeface="Tahoma"/>
              </a:rPr>
              <a:t> </a:t>
            </a:r>
            <a:r>
              <a:rPr sz="1600" spc="20" dirty="0">
                <a:cs typeface="Tahoma"/>
              </a:rPr>
              <a:t>inference</a:t>
            </a:r>
            <a:r>
              <a:rPr sz="1600" spc="-35" dirty="0">
                <a:cs typeface="Tahoma"/>
              </a:rPr>
              <a:t> </a:t>
            </a:r>
            <a:r>
              <a:rPr sz="1600" spc="10" dirty="0">
                <a:cs typeface="Tahoma"/>
              </a:rPr>
              <a:t>service:</a:t>
            </a:r>
            <a:r>
              <a:rPr sz="1600" spc="-50" dirty="0">
                <a:cs typeface="Tahoma"/>
              </a:rPr>
              <a:t> </a:t>
            </a:r>
            <a:r>
              <a:rPr sz="1600" spc="30" dirty="0">
                <a:cs typeface="Tahoma"/>
              </a:rPr>
              <a:t>you</a:t>
            </a:r>
            <a:r>
              <a:rPr sz="1600" spc="-70" dirty="0">
                <a:cs typeface="Tahoma"/>
              </a:rPr>
              <a:t> </a:t>
            </a:r>
            <a:r>
              <a:rPr sz="1600" spc="15" dirty="0">
                <a:cs typeface="Tahoma"/>
              </a:rPr>
              <a:t>have</a:t>
            </a:r>
            <a:r>
              <a:rPr sz="1600" spc="-55" dirty="0">
                <a:cs typeface="Tahoma"/>
              </a:rPr>
              <a:t> </a:t>
            </a:r>
            <a:r>
              <a:rPr sz="1600" spc="15" dirty="0">
                <a:cs typeface="Tahoma"/>
              </a:rPr>
              <a:t>many</a:t>
            </a:r>
            <a:r>
              <a:rPr sz="1600" spc="-60" dirty="0">
                <a:cs typeface="Tahoma"/>
              </a:rPr>
              <a:t> </a:t>
            </a:r>
            <a:r>
              <a:rPr sz="1600" spc="20" dirty="0">
                <a:cs typeface="Tahoma"/>
              </a:rPr>
              <a:t>customers</a:t>
            </a:r>
            <a:r>
              <a:rPr sz="1600" spc="-45" dirty="0">
                <a:cs typeface="Tahoma"/>
              </a:rPr>
              <a:t> </a:t>
            </a:r>
            <a:r>
              <a:rPr sz="1600" spc="-10" dirty="0">
                <a:cs typeface="Tahoma"/>
              </a:rPr>
              <a:t>that</a:t>
            </a:r>
            <a:r>
              <a:rPr sz="1600" spc="-80" dirty="0">
                <a:cs typeface="Tahoma"/>
              </a:rPr>
              <a:t> </a:t>
            </a:r>
            <a:r>
              <a:rPr sz="1600" spc="40" dirty="0">
                <a:cs typeface="Tahoma"/>
              </a:rPr>
              <a:t>send</a:t>
            </a:r>
            <a:r>
              <a:rPr sz="1600" spc="-55" dirty="0">
                <a:cs typeface="Tahoma"/>
              </a:rPr>
              <a:t> </a:t>
            </a:r>
            <a:r>
              <a:rPr sz="1600" spc="15" dirty="0">
                <a:cs typeface="Tahoma"/>
              </a:rPr>
              <a:t>their</a:t>
            </a:r>
            <a:r>
              <a:rPr sz="1600" spc="-70" dirty="0">
                <a:cs typeface="Tahoma"/>
              </a:rPr>
              <a:t> </a:t>
            </a:r>
            <a:r>
              <a:rPr sz="1600" spc="35" dirty="0">
                <a:cs typeface="Tahoma"/>
              </a:rPr>
              <a:t>prompts</a:t>
            </a:r>
            <a:r>
              <a:rPr sz="1600" spc="-40" dirty="0">
                <a:cs typeface="Tahoma"/>
              </a:rPr>
              <a:t> </a:t>
            </a:r>
            <a:r>
              <a:rPr sz="1600" spc="40" dirty="0">
                <a:cs typeface="Tahoma"/>
              </a:rPr>
              <a:t>and</a:t>
            </a:r>
            <a:r>
              <a:rPr sz="1600" spc="-70" dirty="0">
                <a:cs typeface="Tahoma"/>
              </a:rPr>
              <a:t> </a:t>
            </a:r>
            <a:r>
              <a:rPr sz="1600" spc="10" dirty="0">
                <a:cs typeface="Tahoma"/>
              </a:rPr>
              <a:t>want</a:t>
            </a:r>
            <a:r>
              <a:rPr sz="1600" spc="-70" dirty="0">
                <a:cs typeface="Tahoma"/>
              </a:rPr>
              <a:t> </a:t>
            </a:r>
            <a:r>
              <a:rPr sz="1600" spc="30" dirty="0">
                <a:cs typeface="Tahoma"/>
              </a:rPr>
              <a:t>to</a:t>
            </a:r>
            <a:r>
              <a:rPr sz="1600" spc="-85" dirty="0">
                <a:cs typeface="Tahoma"/>
              </a:rPr>
              <a:t> </a:t>
            </a:r>
            <a:r>
              <a:rPr sz="1600" spc="15" dirty="0">
                <a:cs typeface="Tahoma"/>
              </a:rPr>
              <a:t>run </a:t>
            </a:r>
            <a:r>
              <a:rPr sz="1600" spc="-360" dirty="0">
                <a:cs typeface="Tahoma"/>
              </a:rPr>
              <a:t> </a:t>
            </a:r>
            <a:r>
              <a:rPr sz="1600" spc="20" dirty="0">
                <a:cs typeface="Tahoma"/>
              </a:rPr>
              <a:t>inference</a:t>
            </a:r>
            <a:r>
              <a:rPr sz="1600" spc="-55" dirty="0">
                <a:cs typeface="Tahoma"/>
              </a:rPr>
              <a:t> </a:t>
            </a:r>
            <a:r>
              <a:rPr sz="1600" spc="50" dirty="0">
                <a:cs typeface="Tahoma"/>
              </a:rPr>
              <a:t>on</a:t>
            </a:r>
            <a:r>
              <a:rPr sz="1600" spc="-65" dirty="0">
                <a:cs typeface="Tahoma"/>
              </a:rPr>
              <a:t> </a:t>
            </a:r>
            <a:r>
              <a:rPr sz="1600" spc="20" dirty="0">
                <a:cs typeface="Tahoma"/>
              </a:rPr>
              <a:t>your</a:t>
            </a:r>
            <a:r>
              <a:rPr sz="1600" spc="-65" dirty="0">
                <a:cs typeface="Tahoma"/>
              </a:rPr>
              <a:t> </a:t>
            </a:r>
            <a:r>
              <a:rPr sz="1600" spc="35" dirty="0">
                <a:cs typeface="Tahoma"/>
              </a:rPr>
              <a:t>models.</a:t>
            </a:r>
            <a:r>
              <a:rPr sz="1600" spc="-90" dirty="0">
                <a:cs typeface="Tahoma"/>
              </a:rPr>
              <a:t> </a:t>
            </a:r>
            <a:r>
              <a:rPr sz="1600" spc="25" dirty="0">
                <a:cs typeface="Tahoma"/>
              </a:rPr>
              <a:t>Each</a:t>
            </a:r>
            <a:r>
              <a:rPr sz="1600" spc="-65" dirty="0">
                <a:cs typeface="Tahoma"/>
              </a:rPr>
              <a:t> </a:t>
            </a:r>
            <a:r>
              <a:rPr sz="1600" spc="40" dirty="0">
                <a:cs typeface="Tahoma"/>
              </a:rPr>
              <a:t>prompt</a:t>
            </a:r>
            <a:r>
              <a:rPr sz="1600" spc="-50" dirty="0">
                <a:cs typeface="Tahoma"/>
              </a:rPr>
              <a:t> </a:t>
            </a:r>
            <a:r>
              <a:rPr sz="1600" spc="10" dirty="0">
                <a:cs typeface="Tahoma"/>
              </a:rPr>
              <a:t>may</a:t>
            </a:r>
            <a:r>
              <a:rPr sz="1600" spc="-60" dirty="0">
                <a:cs typeface="Tahoma"/>
              </a:rPr>
              <a:t> </a:t>
            </a:r>
            <a:r>
              <a:rPr sz="1600" spc="15" dirty="0">
                <a:cs typeface="Tahoma"/>
              </a:rPr>
              <a:t>have</a:t>
            </a:r>
            <a:r>
              <a:rPr sz="1600" spc="-75" dirty="0">
                <a:cs typeface="Tahoma"/>
              </a:rPr>
              <a:t> </a:t>
            </a:r>
            <a:r>
              <a:rPr sz="1600" spc="10" dirty="0">
                <a:cs typeface="Tahoma"/>
              </a:rPr>
              <a:t>a</a:t>
            </a:r>
            <a:r>
              <a:rPr sz="1600" spc="-75" dirty="0">
                <a:cs typeface="Tahoma"/>
              </a:rPr>
              <a:t> </a:t>
            </a:r>
            <a:r>
              <a:rPr sz="1600" spc="10" dirty="0">
                <a:cs typeface="Tahoma"/>
              </a:rPr>
              <a:t>different</a:t>
            </a:r>
            <a:r>
              <a:rPr sz="1600" spc="-65" dirty="0">
                <a:cs typeface="Tahoma"/>
              </a:rPr>
              <a:t> </a:t>
            </a:r>
            <a:r>
              <a:rPr sz="1600" spc="15" dirty="0">
                <a:cs typeface="Tahoma"/>
              </a:rPr>
              <a:t>lengths.</a:t>
            </a:r>
            <a:r>
              <a:rPr sz="1600" spc="-85" dirty="0">
                <a:cs typeface="Tahoma"/>
              </a:rPr>
              <a:t> </a:t>
            </a:r>
            <a:r>
              <a:rPr sz="1600" spc="20" dirty="0">
                <a:cs typeface="Tahoma"/>
              </a:rPr>
              <a:t>For</a:t>
            </a:r>
            <a:r>
              <a:rPr sz="1600" spc="-65" dirty="0">
                <a:cs typeface="Tahoma"/>
              </a:rPr>
              <a:t> </a:t>
            </a:r>
            <a:r>
              <a:rPr sz="1600" spc="10" dirty="0">
                <a:cs typeface="Tahoma"/>
              </a:rPr>
              <a:t>simplicity,</a:t>
            </a:r>
            <a:r>
              <a:rPr sz="1600" spc="-85" dirty="0">
                <a:cs typeface="Tahoma"/>
              </a:rPr>
              <a:t> </a:t>
            </a:r>
            <a:r>
              <a:rPr sz="1600" spc="45" dirty="0">
                <a:cs typeface="Tahoma"/>
              </a:rPr>
              <a:t>suppose</a:t>
            </a:r>
            <a:r>
              <a:rPr sz="1600" spc="-35" dirty="0">
                <a:cs typeface="Tahoma"/>
              </a:rPr>
              <a:t> </a:t>
            </a:r>
            <a:r>
              <a:rPr sz="1600" spc="-10" dirty="0">
                <a:cs typeface="Tahoma"/>
              </a:rPr>
              <a:t>that</a:t>
            </a:r>
            <a:r>
              <a:rPr sz="1600" spc="-80" dirty="0">
                <a:cs typeface="Tahoma"/>
              </a:rPr>
              <a:t> </a:t>
            </a:r>
            <a:r>
              <a:rPr sz="1600" spc="30" dirty="0">
                <a:cs typeface="Tahoma"/>
              </a:rPr>
              <a:t>each</a:t>
            </a:r>
            <a:r>
              <a:rPr sz="1600" spc="-70" dirty="0">
                <a:cs typeface="Tahoma"/>
              </a:rPr>
              <a:t> </a:t>
            </a:r>
            <a:r>
              <a:rPr sz="1600" spc="40" dirty="0">
                <a:cs typeface="Tahoma"/>
              </a:rPr>
              <a:t>word</a:t>
            </a:r>
            <a:r>
              <a:rPr sz="1600" spc="-70" dirty="0">
                <a:cs typeface="Tahoma"/>
              </a:rPr>
              <a:t> </a:t>
            </a:r>
            <a:r>
              <a:rPr sz="1600" spc="10" dirty="0">
                <a:cs typeface="Tahoma"/>
              </a:rPr>
              <a:t>is</a:t>
            </a:r>
            <a:r>
              <a:rPr sz="1600" spc="-70" dirty="0">
                <a:cs typeface="Tahoma"/>
              </a:rPr>
              <a:t> </a:t>
            </a:r>
            <a:r>
              <a:rPr sz="1600" spc="10" dirty="0">
                <a:cs typeface="Tahoma"/>
              </a:rPr>
              <a:t>a</a:t>
            </a:r>
            <a:r>
              <a:rPr sz="1600" spc="-75" dirty="0">
                <a:cs typeface="Tahoma"/>
              </a:rPr>
              <a:t> </a:t>
            </a:r>
            <a:r>
              <a:rPr sz="1600" spc="10" dirty="0">
                <a:cs typeface="Tahoma"/>
              </a:rPr>
              <a:t>token.</a:t>
            </a:r>
            <a:endParaRPr sz="1600" dirty="0">
              <a:cs typeface="Tahoma"/>
            </a:endParaRPr>
          </a:p>
          <a:p>
            <a:pPr marL="12700">
              <a:spcBef>
                <a:spcPts val="600"/>
              </a:spcBef>
              <a:spcAft>
                <a:spcPts val="600"/>
              </a:spcAft>
            </a:pPr>
            <a:r>
              <a:rPr sz="1600" spc="130" dirty="0">
                <a:cs typeface="Tahoma"/>
              </a:rPr>
              <a:t>C</a:t>
            </a:r>
            <a:r>
              <a:rPr sz="1600" spc="55" dirty="0">
                <a:cs typeface="Tahoma"/>
              </a:rPr>
              <a:t>o</a:t>
            </a:r>
            <a:r>
              <a:rPr sz="1600" spc="50" dirty="0">
                <a:cs typeface="Tahoma"/>
              </a:rPr>
              <a:t>n</a:t>
            </a:r>
            <a:r>
              <a:rPr sz="1600" spc="-15" dirty="0">
                <a:cs typeface="Tahoma"/>
              </a:rPr>
              <a:t>s</a:t>
            </a:r>
            <a:r>
              <a:rPr sz="1600" spc="45" dirty="0">
                <a:cs typeface="Tahoma"/>
              </a:rPr>
              <a:t>ider</a:t>
            </a:r>
            <a:r>
              <a:rPr sz="1600" spc="-60" dirty="0">
                <a:cs typeface="Tahoma"/>
              </a:rPr>
              <a:t> </a:t>
            </a:r>
            <a:r>
              <a:rPr sz="1600" spc="20" dirty="0">
                <a:cs typeface="Tahoma"/>
              </a:rPr>
              <a:t>the</a:t>
            </a:r>
            <a:r>
              <a:rPr sz="1600" spc="-95" dirty="0">
                <a:cs typeface="Tahoma"/>
              </a:rPr>
              <a:t> </a:t>
            </a:r>
            <a:r>
              <a:rPr sz="1600" spc="-40" dirty="0">
                <a:cs typeface="Tahoma"/>
              </a:rPr>
              <a:t>f</a:t>
            </a:r>
            <a:r>
              <a:rPr sz="1600" spc="75" dirty="0">
                <a:cs typeface="Tahoma"/>
              </a:rPr>
              <a:t>o</a:t>
            </a:r>
            <a:r>
              <a:rPr sz="1600" spc="20" dirty="0">
                <a:cs typeface="Tahoma"/>
              </a:rPr>
              <a:t>l</a:t>
            </a:r>
            <a:r>
              <a:rPr sz="1600" spc="30" dirty="0">
                <a:cs typeface="Tahoma"/>
              </a:rPr>
              <a:t>l</a:t>
            </a:r>
            <a:r>
              <a:rPr sz="1600" spc="65" dirty="0">
                <a:cs typeface="Tahoma"/>
              </a:rPr>
              <a:t>o</a:t>
            </a:r>
            <a:r>
              <a:rPr sz="1600" spc="30" dirty="0">
                <a:cs typeface="Tahoma"/>
              </a:rPr>
              <a:t>win</a:t>
            </a:r>
            <a:r>
              <a:rPr sz="1600" spc="40" dirty="0">
                <a:cs typeface="Tahoma"/>
              </a:rPr>
              <a:t>g</a:t>
            </a:r>
            <a:r>
              <a:rPr sz="1600" spc="-60" dirty="0">
                <a:cs typeface="Tahoma"/>
              </a:rPr>
              <a:t> </a:t>
            </a:r>
            <a:r>
              <a:rPr sz="1600" spc="90" dirty="0">
                <a:cs typeface="Tahoma"/>
              </a:rPr>
              <a:t>p</a:t>
            </a:r>
            <a:r>
              <a:rPr sz="1600" spc="-30" dirty="0">
                <a:cs typeface="Tahoma"/>
              </a:rPr>
              <a:t>r</a:t>
            </a:r>
            <a:r>
              <a:rPr sz="1600" spc="50" dirty="0">
                <a:cs typeface="Tahoma"/>
              </a:rPr>
              <a:t>o</a:t>
            </a:r>
            <a:r>
              <a:rPr sz="1600" spc="70" dirty="0">
                <a:cs typeface="Tahoma"/>
              </a:rPr>
              <a:t>m</a:t>
            </a:r>
            <a:r>
              <a:rPr sz="1600" spc="90" dirty="0">
                <a:cs typeface="Tahoma"/>
              </a:rPr>
              <a:t>p</a:t>
            </a:r>
            <a:r>
              <a:rPr sz="1600" spc="-30" dirty="0">
                <a:cs typeface="Tahoma"/>
              </a:rPr>
              <a:t>ts:</a:t>
            </a:r>
            <a:endParaRPr sz="1600" dirty="0">
              <a:cs typeface="Tahoma"/>
            </a:endParaRPr>
          </a:p>
          <a:p>
            <a:pPr marL="12700">
              <a:spcBef>
                <a:spcPts val="600"/>
              </a:spcBef>
              <a:spcAft>
                <a:spcPts val="600"/>
              </a:spcAft>
            </a:pPr>
            <a:r>
              <a:rPr sz="1600" b="1" spc="-75" dirty="0">
                <a:cs typeface="Tahoma"/>
              </a:rPr>
              <a:t>P</a:t>
            </a:r>
            <a:r>
              <a:rPr sz="1600" b="1" spc="-70" dirty="0">
                <a:cs typeface="Tahoma"/>
              </a:rPr>
              <a:t>r</a:t>
            </a:r>
            <a:r>
              <a:rPr sz="1600" b="1" spc="-10" dirty="0">
                <a:cs typeface="Tahoma"/>
              </a:rPr>
              <a:t>o</a:t>
            </a:r>
            <a:r>
              <a:rPr sz="1600" b="1" spc="-25" dirty="0">
                <a:cs typeface="Tahoma"/>
              </a:rPr>
              <a:t>m</a:t>
            </a:r>
            <a:r>
              <a:rPr sz="1600" b="1" spc="30" dirty="0">
                <a:cs typeface="Tahoma"/>
              </a:rPr>
              <a:t>p</a:t>
            </a:r>
            <a:r>
              <a:rPr sz="1600" b="1" spc="-55" dirty="0">
                <a:cs typeface="Tahoma"/>
              </a:rPr>
              <a:t>t </a:t>
            </a:r>
            <a:r>
              <a:rPr sz="1600" b="1" spc="15" dirty="0">
                <a:cs typeface="Tahoma"/>
              </a:rPr>
              <a:t>1</a:t>
            </a:r>
            <a:r>
              <a:rPr sz="1600" spc="-65" dirty="0">
                <a:cs typeface="Tahoma"/>
              </a:rPr>
              <a:t>:</a:t>
            </a:r>
            <a:r>
              <a:rPr sz="1600" spc="-75" dirty="0">
                <a:cs typeface="Tahoma"/>
              </a:rPr>
              <a:t> </a:t>
            </a:r>
            <a:r>
              <a:rPr sz="1600" spc="5" dirty="0">
                <a:cs typeface="Tahoma"/>
              </a:rPr>
              <a:t>“</a:t>
            </a:r>
            <a:r>
              <a:rPr sz="1600" spc="50" dirty="0">
                <a:cs typeface="Tahoma"/>
              </a:rPr>
              <a:t>W</a:t>
            </a:r>
            <a:r>
              <a:rPr sz="1600" dirty="0">
                <a:cs typeface="Tahoma"/>
              </a:rPr>
              <a:t>rit</a:t>
            </a:r>
            <a:r>
              <a:rPr sz="1600" spc="50" dirty="0">
                <a:cs typeface="Tahoma"/>
              </a:rPr>
              <a:t>e</a:t>
            </a:r>
            <a:r>
              <a:rPr sz="1600" spc="-90" dirty="0">
                <a:cs typeface="Tahoma"/>
              </a:rPr>
              <a:t> </a:t>
            </a:r>
            <a:r>
              <a:rPr sz="1600" spc="10" dirty="0">
                <a:cs typeface="Tahoma"/>
              </a:rPr>
              <a:t>a</a:t>
            </a:r>
            <a:r>
              <a:rPr sz="1600" spc="-80" dirty="0">
                <a:cs typeface="Tahoma"/>
              </a:rPr>
              <a:t> </a:t>
            </a:r>
            <a:r>
              <a:rPr sz="1600" spc="85" dirty="0">
                <a:cs typeface="Tahoma"/>
              </a:rPr>
              <a:t>p</a:t>
            </a:r>
            <a:r>
              <a:rPr sz="1600" spc="65" dirty="0">
                <a:cs typeface="Tahoma"/>
              </a:rPr>
              <a:t>o</a:t>
            </a:r>
            <a:r>
              <a:rPr sz="1600" spc="60" dirty="0">
                <a:cs typeface="Tahoma"/>
              </a:rPr>
              <a:t>e</a:t>
            </a:r>
            <a:r>
              <a:rPr sz="1600" spc="45" dirty="0">
                <a:cs typeface="Tahoma"/>
              </a:rPr>
              <a:t>m</a:t>
            </a:r>
            <a:r>
              <a:rPr sz="1600" spc="-20" dirty="0">
                <a:cs typeface="Tahoma"/>
              </a:rPr>
              <a:t>”</a:t>
            </a:r>
            <a:r>
              <a:rPr sz="1600" spc="-50" dirty="0">
                <a:cs typeface="Tahoma"/>
              </a:rPr>
              <a:t> </a:t>
            </a:r>
            <a:r>
              <a:rPr sz="1600" spc="-30" dirty="0">
                <a:cs typeface="Tahoma"/>
              </a:rPr>
              <a:t>(3</a:t>
            </a:r>
            <a:r>
              <a:rPr sz="1600" spc="-75" dirty="0">
                <a:cs typeface="Tahoma"/>
              </a:rPr>
              <a:t> </a:t>
            </a:r>
            <a:r>
              <a:rPr sz="1600" spc="-25" dirty="0">
                <a:cs typeface="Tahoma"/>
              </a:rPr>
              <a:t>t</a:t>
            </a:r>
            <a:r>
              <a:rPr sz="1600" spc="45" dirty="0">
                <a:cs typeface="Tahoma"/>
              </a:rPr>
              <a:t>o</a:t>
            </a:r>
            <a:r>
              <a:rPr sz="1600" spc="20" dirty="0">
                <a:cs typeface="Tahoma"/>
              </a:rPr>
              <a:t>k</a:t>
            </a:r>
            <a:r>
              <a:rPr sz="1600" spc="40" dirty="0">
                <a:cs typeface="Tahoma"/>
              </a:rPr>
              <a:t>e</a:t>
            </a:r>
            <a:r>
              <a:rPr sz="1600" spc="35" dirty="0">
                <a:cs typeface="Tahoma"/>
              </a:rPr>
              <a:t>n</a:t>
            </a:r>
            <a:r>
              <a:rPr sz="1600" spc="-10" dirty="0">
                <a:cs typeface="Tahoma"/>
              </a:rPr>
              <a:t>s</a:t>
            </a:r>
            <a:r>
              <a:rPr sz="1600" spc="-100" dirty="0">
                <a:cs typeface="Tahoma"/>
              </a:rPr>
              <a:t>)</a:t>
            </a:r>
            <a:endParaRPr sz="1600" dirty="0">
              <a:cs typeface="Tahoma"/>
            </a:endParaRPr>
          </a:p>
          <a:p>
            <a:pPr marL="12700">
              <a:spcBef>
                <a:spcPts val="600"/>
              </a:spcBef>
              <a:spcAft>
                <a:spcPts val="600"/>
              </a:spcAft>
            </a:pPr>
            <a:r>
              <a:rPr sz="1600" b="1" spc="-75" dirty="0">
                <a:cs typeface="Tahoma"/>
              </a:rPr>
              <a:t>P</a:t>
            </a:r>
            <a:r>
              <a:rPr sz="1600" b="1" spc="-70" dirty="0">
                <a:cs typeface="Tahoma"/>
              </a:rPr>
              <a:t>r</a:t>
            </a:r>
            <a:r>
              <a:rPr sz="1600" b="1" spc="-10" dirty="0">
                <a:cs typeface="Tahoma"/>
              </a:rPr>
              <a:t>o</a:t>
            </a:r>
            <a:r>
              <a:rPr sz="1600" b="1" spc="-25" dirty="0">
                <a:cs typeface="Tahoma"/>
              </a:rPr>
              <a:t>m</a:t>
            </a:r>
            <a:r>
              <a:rPr sz="1600" b="1" spc="30" dirty="0">
                <a:cs typeface="Tahoma"/>
              </a:rPr>
              <a:t>p</a:t>
            </a:r>
            <a:r>
              <a:rPr sz="1600" b="1" spc="-55" dirty="0">
                <a:cs typeface="Tahoma"/>
              </a:rPr>
              <a:t>t </a:t>
            </a:r>
            <a:r>
              <a:rPr sz="1600" b="1" spc="15" dirty="0">
                <a:cs typeface="Tahoma"/>
              </a:rPr>
              <a:t>2</a:t>
            </a:r>
            <a:r>
              <a:rPr sz="1600" spc="-65" dirty="0">
                <a:cs typeface="Tahoma"/>
              </a:rPr>
              <a:t>:</a:t>
            </a:r>
            <a:r>
              <a:rPr sz="1600" spc="-75" dirty="0">
                <a:cs typeface="Tahoma"/>
              </a:rPr>
              <a:t> </a:t>
            </a:r>
            <a:r>
              <a:rPr sz="1600" spc="5" dirty="0">
                <a:cs typeface="Tahoma"/>
              </a:rPr>
              <a:t>“</a:t>
            </a:r>
            <a:r>
              <a:rPr sz="1600" spc="50" dirty="0">
                <a:cs typeface="Tahoma"/>
              </a:rPr>
              <a:t>W</a:t>
            </a:r>
            <a:r>
              <a:rPr sz="1600" dirty="0">
                <a:cs typeface="Tahoma"/>
              </a:rPr>
              <a:t>rit</a:t>
            </a:r>
            <a:r>
              <a:rPr sz="1600" spc="50" dirty="0">
                <a:cs typeface="Tahoma"/>
              </a:rPr>
              <a:t>e</a:t>
            </a:r>
            <a:r>
              <a:rPr sz="1600" spc="-90" dirty="0">
                <a:cs typeface="Tahoma"/>
              </a:rPr>
              <a:t> </a:t>
            </a:r>
            <a:r>
              <a:rPr sz="1600" spc="10" dirty="0">
                <a:cs typeface="Tahoma"/>
              </a:rPr>
              <a:t>a</a:t>
            </a:r>
            <a:r>
              <a:rPr sz="1600" spc="-80" dirty="0">
                <a:cs typeface="Tahoma"/>
              </a:rPr>
              <a:t> </a:t>
            </a:r>
            <a:r>
              <a:rPr sz="1600" spc="25" dirty="0">
                <a:cs typeface="Tahoma"/>
              </a:rPr>
              <a:t>h</a:t>
            </a:r>
            <a:r>
              <a:rPr sz="1600" spc="5" dirty="0">
                <a:cs typeface="Tahoma"/>
              </a:rPr>
              <a:t>i</a:t>
            </a:r>
            <a:r>
              <a:rPr sz="1600" spc="10" dirty="0">
                <a:cs typeface="Tahoma"/>
              </a:rPr>
              <a:t>s</a:t>
            </a:r>
            <a:r>
              <a:rPr sz="1600" spc="-25" dirty="0">
                <a:cs typeface="Tahoma"/>
              </a:rPr>
              <a:t>t</a:t>
            </a:r>
            <a:r>
              <a:rPr sz="1600" spc="30" dirty="0">
                <a:cs typeface="Tahoma"/>
              </a:rPr>
              <a:t>orica</a:t>
            </a:r>
            <a:r>
              <a:rPr sz="1600" spc="25" dirty="0">
                <a:cs typeface="Tahoma"/>
              </a:rPr>
              <a:t>l</a:t>
            </a:r>
            <a:r>
              <a:rPr sz="1600" spc="-55" dirty="0">
                <a:cs typeface="Tahoma"/>
              </a:rPr>
              <a:t> </a:t>
            </a:r>
            <a:r>
              <a:rPr sz="1600" spc="30" dirty="0">
                <a:cs typeface="Tahoma"/>
              </a:rPr>
              <a:t>novel</a:t>
            </a:r>
            <a:r>
              <a:rPr sz="1600" spc="-20" dirty="0">
                <a:cs typeface="Tahoma"/>
              </a:rPr>
              <a:t>”</a:t>
            </a:r>
            <a:r>
              <a:rPr sz="1600" spc="-75" dirty="0">
                <a:cs typeface="Tahoma"/>
              </a:rPr>
              <a:t> </a:t>
            </a:r>
            <a:r>
              <a:rPr sz="1600" spc="-30" dirty="0">
                <a:cs typeface="Tahoma"/>
              </a:rPr>
              <a:t>(4</a:t>
            </a:r>
            <a:r>
              <a:rPr sz="1600" spc="-65" dirty="0">
                <a:cs typeface="Tahoma"/>
              </a:rPr>
              <a:t> </a:t>
            </a:r>
            <a:r>
              <a:rPr sz="1600" spc="-25" dirty="0">
                <a:cs typeface="Tahoma"/>
              </a:rPr>
              <a:t>t</a:t>
            </a:r>
            <a:r>
              <a:rPr sz="1600" spc="45" dirty="0">
                <a:cs typeface="Tahoma"/>
              </a:rPr>
              <a:t>o</a:t>
            </a:r>
            <a:r>
              <a:rPr sz="1600" spc="20" dirty="0">
                <a:cs typeface="Tahoma"/>
              </a:rPr>
              <a:t>k</a:t>
            </a:r>
            <a:r>
              <a:rPr sz="1600" spc="40" dirty="0">
                <a:cs typeface="Tahoma"/>
              </a:rPr>
              <a:t>e</a:t>
            </a:r>
            <a:r>
              <a:rPr sz="1600" spc="35" dirty="0">
                <a:cs typeface="Tahoma"/>
              </a:rPr>
              <a:t>n</a:t>
            </a:r>
            <a:r>
              <a:rPr sz="1600" spc="-10" dirty="0">
                <a:cs typeface="Tahoma"/>
              </a:rPr>
              <a:t>s</a:t>
            </a:r>
            <a:r>
              <a:rPr sz="1600" spc="-100" dirty="0">
                <a:cs typeface="Tahoma"/>
              </a:rPr>
              <a:t>)</a:t>
            </a:r>
            <a:endParaRPr sz="1600" dirty="0">
              <a:cs typeface="Tahoma"/>
            </a:endParaRPr>
          </a:p>
          <a:p>
            <a:pPr marL="12700">
              <a:spcBef>
                <a:spcPts val="600"/>
              </a:spcBef>
              <a:spcAft>
                <a:spcPts val="600"/>
              </a:spcAft>
            </a:pPr>
            <a:r>
              <a:rPr sz="1600" b="1" spc="-75" dirty="0">
                <a:cs typeface="Tahoma"/>
              </a:rPr>
              <a:t>P</a:t>
            </a:r>
            <a:r>
              <a:rPr sz="1600" b="1" spc="-70" dirty="0">
                <a:cs typeface="Tahoma"/>
              </a:rPr>
              <a:t>r</a:t>
            </a:r>
            <a:r>
              <a:rPr sz="1600" b="1" spc="-10" dirty="0">
                <a:cs typeface="Tahoma"/>
              </a:rPr>
              <a:t>o</a:t>
            </a:r>
            <a:r>
              <a:rPr sz="1600" b="1" spc="-25" dirty="0">
                <a:cs typeface="Tahoma"/>
              </a:rPr>
              <a:t>m</a:t>
            </a:r>
            <a:r>
              <a:rPr sz="1600" b="1" spc="30" dirty="0">
                <a:cs typeface="Tahoma"/>
              </a:rPr>
              <a:t>p</a:t>
            </a:r>
            <a:r>
              <a:rPr sz="1600" b="1" spc="-55" dirty="0">
                <a:cs typeface="Tahoma"/>
              </a:rPr>
              <a:t>t </a:t>
            </a:r>
            <a:r>
              <a:rPr sz="1600" b="1" spc="15" dirty="0">
                <a:cs typeface="Tahoma"/>
              </a:rPr>
              <a:t>3</a:t>
            </a:r>
            <a:r>
              <a:rPr sz="1600" spc="-65" dirty="0">
                <a:cs typeface="Tahoma"/>
              </a:rPr>
              <a:t>:</a:t>
            </a:r>
            <a:r>
              <a:rPr sz="1600" spc="-75" dirty="0">
                <a:cs typeface="Tahoma"/>
              </a:rPr>
              <a:t> </a:t>
            </a:r>
            <a:r>
              <a:rPr sz="1600" spc="5" dirty="0">
                <a:cs typeface="Tahoma"/>
              </a:rPr>
              <a:t>“</a:t>
            </a:r>
            <a:r>
              <a:rPr sz="1600" spc="-140" dirty="0">
                <a:cs typeface="Tahoma"/>
              </a:rPr>
              <a:t>T</a:t>
            </a:r>
            <a:r>
              <a:rPr sz="1600" spc="55" dirty="0">
                <a:cs typeface="Tahoma"/>
              </a:rPr>
              <a:t>e</a:t>
            </a:r>
            <a:r>
              <a:rPr sz="1600" spc="20" dirty="0">
                <a:cs typeface="Tahoma"/>
              </a:rPr>
              <a:t>l</a:t>
            </a:r>
            <a:r>
              <a:rPr sz="1600" spc="25" dirty="0">
                <a:cs typeface="Tahoma"/>
              </a:rPr>
              <a:t>l</a:t>
            </a:r>
            <a:r>
              <a:rPr sz="1600" spc="-75" dirty="0">
                <a:cs typeface="Tahoma"/>
              </a:rPr>
              <a:t> </a:t>
            </a:r>
            <a:r>
              <a:rPr sz="1600" spc="40" dirty="0">
                <a:cs typeface="Tahoma"/>
              </a:rPr>
              <a:t>m</a:t>
            </a:r>
            <a:r>
              <a:rPr sz="1600" spc="50" dirty="0">
                <a:cs typeface="Tahoma"/>
              </a:rPr>
              <a:t>e</a:t>
            </a:r>
            <a:r>
              <a:rPr sz="1600" spc="-70" dirty="0">
                <a:cs typeface="Tahoma"/>
              </a:rPr>
              <a:t> </a:t>
            </a:r>
            <a:r>
              <a:rPr sz="1600" spc="10" dirty="0">
                <a:cs typeface="Tahoma"/>
              </a:rPr>
              <a:t>a</a:t>
            </a:r>
            <a:r>
              <a:rPr sz="1600" spc="-80" dirty="0">
                <a:cs typeface="Tahoma"/>
              </a:rPr>
              <a:t> </a:t>
            </a:r>
            <a:r>
              <a:rPr sz="1600" spc="-40" dirty="0">
                <a:cs typeface="Tahoma"/>
              </a:rPr>
              <a:t>f</a:t>
            </a:r>
            <a:r>
              <a:rPr sz="1600" spc="10" dirty="0">
                <a:cs typeface="Tahoma"/>
              </a:rPr>
              <a:t>unn</a:t>
            </a:r>
            <a:r>
              <a:rPr sz="1600" spc="15" dirty="0">
                <a:cs typeface="Tahoma"/>
              </a:rPr>
              <a:t>y</a:t>
            </a:r>
            <a:r>
              <a:rPr sz="1600" spc="-55" dirty="0">
                <a:cs typeface="Tahoma"/>
              </a:rPr>
              <a:t> </a:t>
            </a:r>
            <a:r>
              <a:rPr sz="1600" spc="15" dirty="0">
                <a:cs typeface="Tahoma"/>
              </a:rPr>
              <a:t>jo</a:t>
            </a:r>
            <a:r>
              <a:rPr sz="1600" spc="-10" dirty="0">
                <a:cs typeface="Tahoma"/>
              </a:rPr>
              <a:t>k</a:t>
            </a:r>
            <a:r>
              <a:rPr sz="1600" spc="15" dirty="0">
                <a:cs typeface="Tahoma"/>
              </a:rPr>
              <a:t>e”</a:t>
            </a:r>
            <a:r>
              <a:rPr sz="1600" spc="-75" dirty="0">
                <a:cs typeface="Tahoma"/>
              </a:rPr>
              <a:t> </a:t>
            </a:r>
            <a:r>
              <a:rPr sz="1600" spc="-30" dirty="0">
                <a:cs typeface="Tahoma"/>
              </a:rPr>
              <a:t>(5</a:t>
            </a:r>
            <a:r>
              <a:rPr sz="1600" spc="-65" dirty="0">
                <a:cs typeface="Tahoma"/>
              </a:rPr>
              <a:t> </a:t>
            </a:r>
            <a:r>
              <a:rPr sz="1600" spc="-25" dirty="0">
                <a:cs typeface="Tahoma"/>
              </a:rPr>
              <a:t>t</a:t>
            </a:r>
            <a:r>
              <a:rPr sz="1600" spc="45" dirty="0">
                <a:cs typeface="Tahoma"/>
              </a:rPr>
              <a:t>o</a:t>
            </a:r>
            <a:r>
              <a:rPr sz="1600" spc="20" dirty="0">
                <a:cs typeface="Tahoma"/>
              </a:rPr>
              <a:t>k</a:t>
            </a:r>
            <a:r>
              <a:rPr sz="1600" spc="40" dirty="0">
                <a:cs typeface="Tahoma"/>
              </a:rPr>
              <a:t>e</a:t>
            </a:r>
            <a:r>
              <a:rPr sz="1600" spc="35" dirty="0">
                <a:cs typeface="Tahoma"/>
              </a:rPr>
              <a:t>n</a:t>
            </a:r>
            <a:r>
              <a:rPr sz="1600" spc="-10" dirty="0">
                <a:cs typeface="Tahoma"/>
              </a:rPr>
              <a:t>s</a:t>
            </a:r>
            <a:r>
              <a:rPr sz="1600" spc="-100" dirty="0">
                <a:cs typeface="Tahoma"/>
              </a:rPr>
              <a:t>)</a:t>
            </a:r>
            <a:endParaRPr sz="1600" dirty="0">
              <a:cs typeface="Tahoma"/>
            </a:endParaRPr>
          </a:p>
          <a:p>
            <a:pPr marL="12700" marR="76835">
              <a:spcBef>
                <a:spcPts val="600"/>
              </a:spcBef>
              <a:spcAft>
                <a:spcPts val="600"/>
              </a:spcAft>
            </a:pPr>
            <a:r>
              <a:rPr sz="1600" spc="-85" dirty="0">
                <a:cs typeface="Tahoma"/>
              </a:rPr>
              <a:t>If</a:t>
            </a:r>
            <a:r>
              <a:rPr sz="1600" spc="-45" dirty="0">
                <a:cs typeface="Tahoma"/>
              </a:rPr>
              <a:t> </a:t>
            </a:r>
            <a:r>
              <a:rPr sz="1600" spc="25" dirty="0">
                <a:cs typeface="Tahoma"/>
              </a:rPr>
              <a:t>we</a:t>
            </a:r>
            <a:r>
              <a:rPr sz="1600" spc="-70" dirty="0">
                <a:cs typeface="Tahoma"/>
              </a:rPr>
              <a:t> </a:t>
            </a:r>
            <a:r>
              <a:rPr sz="1600" dirty="0">
                <a:cs typeface="Tahoma"/>
              </a:rPr>
              <a:t>want</a:t>
            </a:r>
            <a:r>
              <a:rPr sz="1600" spc="-75" dirty="0">
                <a:cs typeface="Tahoma"/>
              </a:rPr>
              <a:t> </a:t>
            </a:r>
            <a:r>
              <a:rPr sz="1600" spc="30" dirty="0">
                <a:cs typeface="Tahoma"/>
              </a:rPr>
              <a:t>to</a:t>
            </a:r>
            <a:r>
              <a:rPr sz="1600" spc="-85" dirty="0">
                <a:cs typeface="Tahoma"/>
              </a:rPr>
              <a:t> </a:t>
            </a:r>
            <a:r>
              <a:rPr sz="1600" dirty="0">
                <a:cs typeface="Tahoma"/>
              </a:rPr>
              <a:t>fully</a:t>
            </a:r>
            <a:r>
              <a:rPr sz="1600" spc="-60" dirty="0">
                <a:cs typeface="Tahoma"/>
              </a:rPr>
              <a:t> </a:t>
            </a:r>
            <a:r>
              <a:rPr sz="1600" spc="30" dirty="0">
                <a:cs typeface="Tahoma"/>
              </a:rPr>
              <a:t>exploit</a:t>
            </a:r>
            <a:r>
              <a:rPr sz="1600" spc="-60" dirty="0">
                <a:cs typeface="Tahoma"/>
              </a:rPr>
              <a:t> </a:t>
            </a:r>
            <a:r>
              <a:rPr sz="1600" spc="35" dirty="0">
                <a:cs typeface="Tahoma"/>
              </a:rPr>
              <a:t>our</a:t>
            </a:r>
            <a:r>
              <a:rPr sz="1600" spc="-65" dirty="0">
                <a:cs typeface="Tahoma"/>
              </a:rPr>
              <a:t> </a:t>
            </a:r>
            <a:r>
              <a:rPr sz="1600" spc="35" dirty="0">
                <a:cs typeface="Tahoma"/>
              </a:rPr>
              <a:t>GPU,</a:t>
            </a:r>
            <a:r>
              <a:rPr sz="1600" spc="-110" dirty="0">
                <a:cs typeface="Tahoma"/>
              </a:rPr>
              <a:t> </a:t>
            </a:r>
            <a:r>
              <a:rPr sz="1600" spc="25" dirty="0">
                <a:cs typeface="Tahoma"/>
              </a:rPr>
              <a:t>we</a:t>
            </a:r>
            <a:r>
              <a:rPr sz="1600" spc="-70" dirty="0">
                <a:cs typeface="Tahoma"/>
              </a:rPr>
              <a:t> </a:t>
            </a:r>
            <a:r>
              <a:rPr sz="1600" spc="40" dirty="0">
                <a:cs typeface="Tahoma"/>
              </a:rPr>
              <a:t>should</a:t>
            </a:r>
            <a:r>
              <a:rPr sz="1600" spc="-45" dirty="0">
                <a:cs typeface="Tahoma"/>
              </a:rPr>
              <a:t> </a:t>
            </a:r>
            <a:r>
              <a:rPr sz="1600" spc="30" dirty="0">
                <a:cs typeface="Tahoma"/>
              </a:rPr>
              <a:t>put</a:t>
            </a:r>
            <a:r>
              <a:rPr sz="1600" spc="-75" dirty="0">
                <a:cs typeface="Tahoma"/>
              </a:rPr>
              <a:t> </a:t>
            </a:r>
            <a:r>
              <a:rPr sz="1600" spc="15" dirty="0">
                <a:cs typeface="Tahoma"/>
              </a:rPr>
              <a:t>all</a:t>
            </a:r>
            <a:r>
              <a:rPr sz="1600" spc="-70" dirty="0">
                <a:cs typeface="Tahoma"/>
              </a:rPr>
              <a:t> </a:t>
            </a:r>
            <a:r>
              <a:rPr sz="1600" spc="20" dirty="0">
                <a:cs typeface="Tahoma"/>
              </a:rPr>
              <a:t>the</a:t>
            </a:r>
            <a:r>
              <a:rPr sz="1600" spc="-75" dirty="0">
                <a:cs typeface="Tahoma"/>
              </a:rPr>
              <a:t> </a:t>
            </a:r>
            <a:r>
              <a:rPr sz="1600" spc="35" dirty="0">
                <a:cs typeface="Tahoma"/>
              </a:rPr>
              <a:t>prompts</a:t>
            </a:r>
            <a:r>
              <a:rPr sz="1600" spc="-40" dirty="0">
                <a:cs typeface="Tahoma"/>
              </a:rPr>
              <a:t> </a:t>
            </a:r>
            <a:r>
              <a:rPr sz="1600" spc="25" dirty="0">
                <a:cs typeface="Tahoma"/>
              </a:rPr>
              <a:t>in</a:t>
            </a:r>
            <a:r>
              <a:rPr sz="1600" spc="-70" dirty="0">
                <a:cs typeface="Tahoma"/>
              </a:rPr>
              <a:t> </a:t>
            </a:r>
            <a:r>
              <a:rPr sz="1600" spc="10" dirty="0">
                <a:cs typeface="Tahoma"/>
              </a:rPr>
              <a:t>a</a:t>
            </a:r>
            <a:r>
              <a:rPr sz="1600" spc="-80" dirty="0">
                <a:cs typeface="Tahoma"/>
              </a:rPr>
              <a:t> </a:t>
            </a:r>
            <a:r>
              <a:rPr sz="1600" spc="15" dirty="0">
                <a:cs typeface="Tahoma"/>
              </a:rPr>
              <a:t>batch,</a:t>
            </a:r>
            <a:r>
              <a:rPr sz="1600" spc="-120" dirty="0">
                <a:cs typeface="Tahoma"/>
              </a:rPr>
              <a:t> </a:t>
            </a:r>
            <a:r>
              <a:rPr sz="1600" spc="30" dirty="0">
                <a:cs typeface="Tahoma"/>
              </a:rPr>
              <a:t>but</a:t>
            </a:r>
            <a:r>
              <a:rPr sz="1600" spc="-75" dirty="0">
                <a:cs typeface="Tahoma"/>
              </a:rPr>
              <a:t> </a:t>
            </a:r>
            <a:r>
              <a:rPr sz="1600" spc="25" dirty="0">
                <a:cs typeface="Tahoma"/>
              </a:rPr>
              <a:t>since</a:t>
            </a:r>
            <a:r>
              <a:rPr sz="1600" spc="-65" dirty="0">
                <a:cs typeface="Tahoma"/>
              </a:rPr>
              <a:t> </a:t>
            </a:r>
            <a:r>
              <a:rPr sz="1600" spc="10" dirty="0">
                <a:cs typeface="Tahoma"/>
              </a:rPr>
              <a:t>they</a:t>
            </a:r>
            <a:r>
              <a:rPr sz="1600" spc="-70" dirty="0">
                <a:cs typeface="Tahoma"/>
              </a:rPr>
              <a:t> </a:t>
            </a:r>
            <a:r>
              <a:rPr sz="1600" spc="15" dirty="0">
                <a:cs typeface="Tahoma"/>
              </a:rPr>
              <a:t>have</a:t>
            </a:r>
            <a:r>
              <a:rPr sz="1600" spc="-70" dirty="0">
                <a:cs typeface="Tahoma"/>
              </a:rPr>
              <a:t> </a:t>
            </a:r>
            <a:r>
              <a:rPr sz="1600" spc="10" dirty="0">
                <a:cs typeface="Tahoma"/>
              </a:rPr>
              <a:t>different</a:t>
            </a:r>
            <a:r>
              <a:rPr sz="1600" spc="-60" dirty="0">
                <a:cs typeface="Tahoma"/>
              </a:rPr>
              <a:t> </a:t>
            </a:r>
            <a:r>
              <a:rPr sz="1600" spc="15" dirty="0">
                <a:cs typeface="Tahoma"/>
              </a:rPr>
              <a:t>lengths,</a:t>
            </a:r>
            <a:r>
              <a:rPr sz="1600" spc="-90" dirty="0">
                <a:cs typeface="Tahoma"/>
              </a:rPr>
              <a:t> </a:t>
            </a:r>
            <a:r>
              <a:rPr sz="1600" spc="25" dirty="0">
                <a:cs typeface="Tahoma"/>
              </a:rPr>
              <a:t>we</a:t>
            </a:r>
            <a:r>
              <a:rPr sz="1600" spc="-70" dirty="0">
                <a:cs typeface="Tahoma"/>
              </a:rPr>
              <a:t> </a:t>
            </a:r>
            <a:r>
              <a:rPr sz="1600" spc="15" dirty="0">
                <a:cs typeface="Tahoma"/>
              </a:rPr>
              <a:t>have</a:t>
            </a:r>
            <a:r>
              <a:rPr sz="1600" spc="-20" dirty="0">
                <a:cs typeface="Tahoma"/>
              </a:rPr>
              <a:t> </a:t>
            </a:r>
            <a:r>
              <a:rPr sz="1600" spc="30" dirty="0">
                <a:cs typeface="Tahoma"/>
              </a:rPr>
              <a:t>to</a:t>
            </a:r>
            <a:r>
              <a:rPr sz="1600" spc="-80" dirty="0">
                <a:cs typeface="Tahoma"/>
              </a:rPr>
              <a:t> </a:t>
            </a:r>
            <a:r>
              <a:rPr sz="1600" spc="65" dirty="0">
                <a:cs typeface="Tahoma"/>
              </a:rPr>
              <a:t>pad</a:t>
            </a:r>
            <a:r>
              <a:rPr sz="1600" spc="-70" dirty="0">
                <a:cs typeface="Tahoma"/>
              </a:rPr>
              <a:t> </a:t>
            </a:r>
            <a:r>
              <a:rPr sz="1600" spc="25" dirty="0">
                <a:cs typeface="Tahoma"/>
              </a:rPr>
              <a:t>them</a:t>
            </a:r>
            <a:r>
              <a:rPr sz="1600" spc="-80" dirty="0">
                <a:cs typeface="Tahoma"/>
              </a:rPr>
              <a:t> </a:t>
            </a:r>
            <a:r>
              <a:rPr sz="1600" spc="10" dirty="0">
                <a:cs typeface="Tahoma"/>
              </a:rPr>
              <a:t>with </a:t>
            </a:r>
            <a:r>
              <a:rPr sz="1600" spc="-360" dirty="0">
                <a:cs typeface="Tahoma"/>
              </a:rPr>
              <a:t> </a:t>
            </a:r>
            <a:r>
              <a:rPr sz="1600" spc="10" dirty="0">
                <a:cs typeface="Tahoma"/>
              </a:rPr>
              <a:t>a</a:t>
            </a:r>
            <a:r>
              <a:rPr sz="1600" spc="-75" dirty="0">
                <a:cs typeface="Tahoma"/>
              </a:rPr>
              <a:t> </a:t>
            </a:r>
            <a:r>
              <a:rPr sz="1600" spc="-10" dirty="0">
                <a:cs typeface="Tahoma"/>
              </a:rPr>
              <a:t>[PAD]</a:t>
            </a:r>
            <a:r>
              <a:rPr sz="1600" spc="-60" dirty="0">
                <a:cs typeface="Tahoma"/>
              </a:rPr>
              <a:t> </a:t>
            </a:r>
            <a:r>
              <a:rPr sz="1600" spc="10" dirty="0">
                <a:cs typeface="Tahoma"/>
              </a:rPr>
              <a:t>token,</a:t>
            </a:r>
            <a:r>
              <a:rPr sz="1600" spc="-110" dirty="0">
                <a:cs typeface="Tahoma"/>
              </a:rPr>
              <a:t> </a:t>
            </a:r>
            <a:r>
              <a:rPr sz="1600" spc="40" dirty="0">
                <a:cs typeface="Tahoma"/>
              </a:rPr>
              <a:t>and</a:t>
            </a:r>
            <a:r>
              <a:rPr sz="1600" spc="-75" dirty="0">
                <a:cs typeface="Tahoma"/>
              </a:rPr>
              <a:t> </a:t>
            </a:r>
            <a:r>
              <a:rPr sz="1600" spc="25" dirty="0">
                <a:cs typeface="Tahoma"/>
              </a:rPr>
              <a:t>when</a:t>
            </a:r>
            <a:r>
              <a:rPr sz="1600" spc="-65" dirty="0">
                <a:cs typeface="Tahoma"/>
              </a:rPr>
              <a:t> </a:t>
            </a:r>
            <a:r>
              <a:rPr sz="1600" spc="15" dirty="0">
                <a:cs typeface="Tahoma"/>
              </a:rPr>
              <a:t>the</a:t>
            </a:r>
            <a:r>
              <a:rPr sz="1600" spc="-70" dirty="0">
                <a:cs typeface="Tahoma"/>
              </a:rPr>
              <a:t> </a:t>
            </a:r>
            <a:r>
              <a:rPr sz="1600" spc="60" dirty="0">
                <a:cs typeface="Tahoma"/>
              </a:rPr>
              <a:t>model</a:t>
            </a:r>
            <a:r>
              <a:rPr sz="1600" spc="-65" dirty="0">
                <a:cs typeface="Tahoma"/>
              </a:rPr>
              <a:t> </a:t>
            </a:r>
            <a:r>
              <a:rPr sz="1600" spc="45" dirty="0">
                <a:cs typeface="Tahoma"/>
              </a:rPr>
              <a:t>produces</a:t>
            </a:r>
            <a:r>
              <a:rPr sz="1600" spc="-40" dirty="0">
                <a:cs typeface="Tahoma"/>
              </a:rPr>
              <a:t> </a:t>
            </a:r>
            <a:r>
              <a:rPr sz="1600" spc="15" dirty="0">
                <a:cs typeface="Tahoma"/>
              </a:rPr>
              <a:t>the</a:t>
            </a:r>
            <a:r>
              <a:rPr sz="1600" spc="-70" dirty="0">
                <a:cs typeface="Tahoma"/>
              </a:rPr>
              <a:t> </a:t>
            </a:r>
            <a:r>
              <a:rPr sz="1600" spc="15" dirty="0">
                <a:cs typeface="Tahoma"/>
              </a:rPr>
              <a:t>output,</a:t>
            </a:r>
            <a:r>
              <a:rPr sz="1600" spc="-105" dirty="0">
                <a:cs typeface="Tahoma"/>
              </a:rPr>
              <a:t> </a:t>
            </a:r>
            <a:r>
              <a:rPr sz="1600" spc="25" dirty="0">
                <a:cs typeface="Tahoma"/>
              </a:rPr>
              <a:t>we</a:t>
            </a:r>
            <a:r>
              <a:rPr sz="1600" spc="-70" dirty="0">
                <a:cs typeface="Tahoma"/>
              </a:rPr>
              <a:t> </a:t>
            </a:r>
            <a:r>
              <a:rPr sz="1600" spc="40" dirty="0">
                <a:cs typeface="Tahoma"/>
              </a:rPr>
              <a:t>should</a:t>
            </a:r>
            <a:r>
              <a:rPr sz="1600" spc="-45" dirty="0">
                <a:cs typeface="Tahoma"/>
              </a:rPr>
              <a:t> </a:t>
            </a:r>
            <a:r>
              <a:rPr sz="1600" spc="30" dirty="0">
                <a:cs typeface="Tahoma"/>
              </a:rPr>
              <a:t>only</a:t>
            </a:r>
            <a:r>
              <a:rPr sz="1600" spc="-70" dirty="0">
                <a:cs typeface="Tahoma"/>
              </a:rPr>
              <a:t> </a:t>
            </a:r>
            <a:r>
              <a:rPr sz="1600" spc="50" dirty="0">
                <a:cs typeface="Tahoma"/>
              </a:rPr>
              <a:t>look</a:t>
            </a:r>
            <a:r>
              <a:rPr sz="1600" spc="-60" dirty="0">
                <a:cs typeface="Tahoma"/>
              </a:rPr>
              <a:t> </a:t>
            </a:r>
            <a:r>
              <a:rPr sz="1600" spc="-15" dirty="0">
                <a:cs typeface="Tahoma"/>
              </a:rPr>
              <a:t>at</a:t>
            </a:r>
            <a:r>
              <a:rPr sz="1600" spc="-70" dirty="0">
                <a:cs typeface="Tahoma"/>
              </a:rPr>
              <a:t> </a:t>
            </a:r>
            <a:r>
              <a:rPr sz="1600" spc="15" dirty="0">
                <a:cs typeface="Tahoma"/>
              </a:rPr>
              <a:t>the</a:t>
            </a:r>
            <a:r>
              <a:rPr sz="1600" spc="-70" dirty="0">
                <a:cs typeface="Tahoma"/>
              </a:rPr>
              <a:t> </a:t>
            </a:r>
            <a:r>
              <a:rPr sz="1600" spc="25" dirty="0">
                <a:cs typeface="Tahoma"/>
              </a:rPr>
              <a:t>output</a:t>
            </a:r>
            <a:r>
              <a:rPr sz="1600" spc="-75" dirty="0">
                <a:cs typeface="Tahoma"/>
              </a:rPr>
              <a:t> </a:t>
            </a:r>
            <a:r>
              <a:rPr sz="1600" spc="45" dirty="0">
                <a:cs typeface="Tahoma"/>
              </a:rPr>
              <a:t>corresponding</a:t>
            </a:r>
            <a:r>
              <a:rPr sz="1600" spc="-30" dirty="0">
                <a:cs typeface="Tahoma"/>
              </a:rPr>
              <a:t> </a:t>
            </a:r>
            <a:r>
              <a:rPr sz="1600" spc="30" dirty="0">
                <a:cs typeface="Tahoma"/>
              </a:rPr>
              <a:t>to</a:t>
            </a:r>
            <a:r>
              <a:rPr sz="1600" spc="-65" dirty="0">
                <a:cs typeface="Tahoma"/>
              </a:rPr>
              <a:t> </a:t>
            </a:r>
            <a:r>
              <a:rPr sz="1600" spc="20" dirty="0">
                <a:cs typeface="Tahoma"/>
              </a:rPr>
              <a:t>the</a:t>
            </a:r>
            <a:r>
              <a:rPr sz="1600" spc="-75" dirty="0">
                <a:cs typeface="Tahoma"/>
              </a:rPr>
              <a:t> </a:t>
            </a:r>
            <a:r>
              <a:rPr sz="1600" dirty="0">
                <a:cs typeface="Tahoma"/>
              </a:rPr>
              <a:t>last</a:t>
            </a:r>
            <a:r>
              <a:rPr sz="1600" spc="-70" dirty="0">
                <a:cs typeface="Tahoma"/>
              </a:rPr>
              <a:t> </a:t>
            </a:r>
            <a:r>
              <a:rPr sz="1600" spc="45" dirty="0">
                <a:cs typeface="Tahoma"/>
              </a:rPr>
              <a:t>non-padding</a:t>
            </a:r>
            <a:r>
              <a:rPr sz="1600" spc="-55" dirty="0">
                <a:cs typeface="Tahoma"/>
              </a:rPr>
              <a:t> </a:t>
            </a:r>
            <a:r>
              <a:rPr sz="1600" spc="10" dirty="0">
                <a:cs typeface="Tahoma"/>
              </a:rPr>
              <a:t>token, </a:t>
            </a:r>
            <a:r>
              <a:rPr sz="1600" spc="15" dirty="0">
                <a:cs typeface="Tahoma"/>
              </a:rPr>
              <a:t> </a:t>
            </a:r>
            <a:r>
              <a:rPr sz="1600" spc="35" dirty="0">
                <a:cs typeface="Tahoma"/>
              </a:rPr>
              <a:t>discarding</a:t>
            </a:r>
            <a:r>
              <a:rPr sz="1600" spc="-60" dirty="0">
                <a:cs typeface="Tahoma"/>
              </a:rPr>
              <a:t> </a:t>
            </a:r>
            <a:r>
              <a:rPr sz="1600" spc="5" dirty="0">
                <a:cs typeface="Tahoma"/>
              </a:rPr>
              <a:t>any</a:t>
            </a:r>
            <a:r>
              <a:rPr sz="1600" spc="-80" dirty="0">
                <a:cs typeface="Tahoma"/>
              </a:rPr>
              <a:t> </a:t>
            </a:r>
            <a:r>
              <a:rPr sz="1600" dirty="0">
                <a:cs typeface="Tahoma"/>
              </a:rPr>
              <a:t>future</a:t>
            </a:r>
            <a:r>
              <a:rPr sz="1600" spc="-70" dirty="0">
                <a:cs typeface="Tahoma"/>
              </a:rPr>
              <a:t> </a:t>
            </a:r>
            <a:r>
              <a:rPr sz="1600" spc="5" dirty="0">
                <a:cs typeface="Tahoma"/>
              </a:rPr>
              <a:t>tokens.</a:t>
            </a:r>
            <a:endParaRPr sz="1600" dirty="0">
              <a:cs typeface="Tahoma"/>
            </a:endParaRPr>
          </a:p>
        </p:txBody>
      </p:sp>
      <p:graphicFrame>
        <p:nvGraphicFramePr>
          <p:cNvPr id="4" name="object 4"/>
          <p:cNvGraphicFramePr>
            <a:graphicFrameLocks noGrp="1"/>
          </p:cNvGraphicFramePr>
          <p:nvPr>
            <p:extLst>
              <p:ext uri="{D42A27DB-BD31-4B8C-83A1-F6EECF244321}">
                <p14:modId xmlns:p14="http://schemas.microsoft.com/office/powerpoint/2010/main" val="1969371552"/>
              </p:ext>
            </p:extLst>
          </p:nvPr>
        </p:nvGraphicFramePr>
        <p:xfrm>
          <a:off x="664887" y="5110435"/>
          <a:ext cx="3530598" cy="871219"/>
        </p:xfrm>
        <a:graphic>
          <a:graphicData uri="http://schemas.openxmlformats.org/drawingml/2006/table">
            <a:tbl>
              <a:tblPr firstRow="1" bandRow="1">
                <a:tableStyleId>{2D5ABB26-0587-4C30-8999-92F81FD0307C}</a:tableStyleId>
              </a:tblPr>
              <a:tblGrid>
                <a:gridCol w="706120">
                  <a:extLst>
                    <a:ext uri="{9D8B030D-6E8A-4147-A177-3AD203B41FA5}">
                      <a16:colId xmlns:a16="http://schemas.microsoft.com/office/drawing/2014/main" val="20000"/>
                    </a:ext>
                  </a:extLst>
                </a:gridCol>
                <a:gridCol w="706120">
                  <a:extLst>
                    <a:ext uri="{9D8B030D-6E8A-4147-A177-3AD203B41FA5}">
                      <a16:colId xmlns:a16="http://schemas.microsoft.com/office/drawing/2014/main" val="20001"/>
                    </a:ext>
                  </a:extLst>
                </a:gridCol>
                <a:gridCol w="706120">
                  <a:extLst>
                    <a:ext uri="{9D8B030D-6E8A-4147-A177-3AD203B41FA5}">
                      <a16:colId xmlns:a16="http://schemas.microsoft.com/office/drawing/2014/main" val="20002"/>
                    </a:ext>
                  </a:extLst>
                </a:gridCol>
                <a:gridCol w="706119">
                  <a:extLst>
                    <a:ext uri="{9D8B030D-6E8A-4147-A177-3AD203B41FA5}">
                      <a16:colId xmlns:a16="http://schemas.microsoft.com/office/drawing/2014/main" val="20003"/>
                    </a:ext>
                  </a:extLst>
                </a:gridCol>
                <a:gridCol w="706119">
                  <a:extLst>
                    <a:ext uri="{9D8B030D-6E8A-4147-A177-3AD203B41FA5}">
                      <a16:colId xmlns:a16="http://schemas.microsoft.com/office/drawing/2014/main" val="20004"/>
                    </a:ext>
                  </a:extLst>
                </a:gridCol>
              </a:tblGrid>
              <a:tr h="290449">
                <a:tc>
                  <a:txBody>
                    <a:bodyPr/>
                    <a:lstStyle/>
                    <a:p>
                      <a:pPr marL="635" algn="ctr">
                        <a:lnSpc>
                          <a:spcPct val="100000"/>
                        </a:lnSpc>
                        <a:spcBef>
                          <a:spcPts val="495"/>
                        </a:spcBef>
                      </a:pPr>
                      <a:r>
                        <a:rPr sz="1000" spc="20" dirty="0">
                          <a:latin typeface="Tahoma"/>
                          <a:cs typeface="Tahoma"/>
                        </a:rPr>
                        <a:t>Write</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495"/>
                        </a:spcBef>
                      </a:pPr>
                      <a:r>
                        <a:rPr sz="1000" dirty="0">
                          <a:latin typeface="Tahoma"/>
                          <a:cs typeface="Tahoma"/>
                        </a:rPr>
                        <a:t>a</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495"/>
                        </a:spcBef>
                      </a:pPr>
                      <a:r>
                        <a:rPr sz="1000" spc="50" dirty="0">
                          <a:latin typeface="Tahoma"/>
                          <a:cs typeface="Tahoma"/>
                        </a:rPr>
                        <a:t>poem</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495"/>
                        </a:spcBef>
                      </a:pPr>
                      <a:r>
                        <a:rPr sz="1000" b="1" spc="-45" dirty="0">
                          <a:latin typeface="Tahoma"/>
                          <a:cs typeface="Tahoma"/>
                        </a:rPr>
                        <a:t>[PAD]</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495"/>
                        </a:spcBef>
                      </a:pPr>
                      <a:r>
                        <a:rPr sz="1000" b="1" spc="-45" dirty="0">
                          <a:latin typeface="Tahoma"/>
                          <a:cs typeface="Tahoma"/>
                        </a:rPr>
                        <a:t>[PAD]</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0"/>
                  </a:ext>
                </a:extLst>
              </a:tr>
              <a:tr h="290322">
                <a:tc>
                  <a:txBody>
                    <a:bodyPr/>
                    <a:lstStyle/>
                    <a:p>
                      <a:pPr marL="635" algn="ctr">
                        <a:lnSpc>
                          <a:spcPct val="100000"/>
                        </a:lnSpc>
                        <a:spcBef>
                          <a:spcPts val="495"/>
                        </a:spcBef>
                      </a:pPr>
                      <a:r>
                        <a:rPr sz="1000" spc="20" dirty="0">
                          <a:latin typeface="Tahoma"/>
                          <a:cs typeface="Tahoma"/>
                        </a:rPr>
                        <a:t>Write</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495"/>
                        </a:spcBef>
                      </a:pPr>
                      <a:r>
                        <a:rPr sz="1000" dirty="0">
                          <a:latin typeface="Tahoma"/>
                          <a:cs typeface="Tahoma"/>
                        </a:rPr>
                        <a:t>a</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495"/>
                        </a:spcBef>
                      </a:pPr>
                      <a:r>
                        <a:rPr sz="1000" spc="15" dirty="0">
                          <a:latin typeface="Tahoma"/>
                          <a:cs typeface="Tahoma"/>
                        </a:rPr>
                        <a:t>historical</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495"/>
                        </a:spcBef>
                      </a:pPr>
                      <a:r>
                        <a:rPr sz="1000" spc="20" dirty="0">
                          <a:latin typeface="Tahoma"/>
                          <a:cs typeface="Tahoma"/>
                        </a:rPr>
                        <a:t>novel</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495"/>
                        </a:spcBef>
                      </a:pPr>
                      <a:r>
                        <a:rPr sz="1000" b="1" spc="-45" dirty="0">
                          <a:latin typeface="Tahoma"/>
                          <a:cs typeface="Tahoma"/>
                        </a:rPr>
                        <a:t>[PAD]</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1"/>
                  </a:ext>
                </a:extLst>
              </a:tr>
              <a:tr h="290448">
                <a:tc>
                  <a:txBody>
                    <a:bodyPr/>
                    <a:lstStyle/>
                    <a:p>
                      <a:pPr algn="ctr">
                        <a:lnSpc>
                          <a:spcPct val="100000"/>
                        </a:lnSpc>
                        <a:spcBef>
                          <a:spcPts val="495"/>
                        </a:spcBef>
                      </a:pPr>
                      <a:r>
                        <a:rPr sz="1000" spc="15" dirty="0">
                          <a:latin typeface="Tahoma"/>
                          <a:cs typeface="Tahoma"/>
                        </a:rPr>
                        <a:t>Tell</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495"/>
                        </a:spcBef>
                      </a:pPr>
                      <a:r>
                        <a:rPr sz="1000" spc="30" dirty="0">
                          <a:latin typeface="Tahoma"/>
                          <a:cs typeface="Tahoma"/>
                        </a:rPr>
                        <a:t>me</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495"/>
                        </a:spcBef>
                      </a:pPr>
                      <a:r>
                        <a:rPr sz="1000" dirty="0">
                          <a:latin typeface="Tahoma"/>
                          <a:cs typeface="Tahoma"/>
                        </a:rPr>
                        <a:t>a</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495"/>
                        </a:spcBef>
                      </a:pPr>
                      <a:r>
                        <a:rPr sz="1000" dirty="0">
                          <a:latin typeface="Tahoma"/>
                          <a:cs typeface="Tahoma"/>
                        </a:rPr>
                        <a:t>funny</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1905" algn="ctr">
                        <a:lnSpc>
                          <a:spcPct val="100000"/>
                        </a:lnSpc>
                        <a:spcBef>
                          <a:spcPts val="495"/>
                        </a:spcBef>
                      </a:pPr>
                      <a:r>
                        <a:rPr sz="1000" spc="20" dirty="0">
                          <a:latin typeface="Tahoma"/>
                          <a:cs typeface="Tahoma"/>
                        </a:rPr>
                        <a:t>joke</a:t>
                      </a:r>
                      <a:endParaRPr sz="1000" dirty="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2"/>
                  </a:ext>
                </a:extLst>
              </a:tr>
            </a:tbl>
          </a:graphicData>
        </a:graphic>
      </p:graphicFrame>
      <p:sp>
        <p:nvSpPr>
          <p:cNvPr id="5" name="object 5"/>
          <p:cNvSpPr/>
          <p:nvPr/>
        </p:nvSpPr>
        <p:spPr>
          <a:xfrm>
            <a:off x="4195485" y="5490229"/>
            <a:ext cx="345974" cy="114300"/>
          </a:xfrm>
          <a:custGeom>
            <a:avLst/>
            <a:gdLst/>
            <a:ahLst/>
            <a:cxnLst/>
            <a:rect l="l" t="t" r="r" b="b"/>
            <a:pathLst>
              <a:path w="479425" h="114300">
                <a:moveTo>
                  <a:pt x="364871" y="0"/>
                </a:moveTo>
                <a:lnTo>
                  <a:pt x="364871" y="114300"/>
                </a:lnTo>
                <a:lnTo>
                  <a:pt x="441071" y="76200"/>
                </a:lnTo>
                <a:lnTo>
                  <a:pt x="383921" y="76200"/>
                </a:lnTo>
                <a:lnTo>
                  <a:pt x="383921" y="38100"/>
                </a:lnTo>
                <a:lnTo>
                  <a:pt x="441071" y="38100"/>
                </a:lnTo>
                <a:lnTo>
                  <a:pt x="364871" y="0"/>
                </a:lnTo>
                <a:close/>
              </a:path>
              <a:path w="479425" h="114300">
                <a:moveTo>
                  <a:pt x="364871" y="38100"/>
                </a:moveTo>
                <a:lnTo>
                  <a:pt x="0" y="38100"/>
                </a:lnTo>
                <a:lnTo>
                  <a:pt x="0" y="76200"/>
                </a:lnTo>
                <a:lnTo>
                  <a:pt x="364871" y="76200"/>
                </a:lnTo>
                <a:lnTo>
                  <a:pt x="364871" y="38100"/>
                </a:lnTo>
                <a:close/>
              </a:path>
              <a:path w="479425" h="114300">
                <a:moveTo>
                  <a:pt x="441071" y="38100"/>
                </a:moveTo>
                <a:lnTo>
                  <a:pt x="383921" y="38100"/>
                </a:lnTo>
                <a:lnTo>
                  <a:pt x="383921" y="76200"/>
                </a:lnTo>
                <a:lnTo>
                  <a:pt x="441071" y="76200"/>
                </a:lnTo>
                <a:lnTo>
                  <a:pt x="479171" y="57150"/>
                </a:lnTo>
                <a:lnTo>
                  <a:pt x="441071" y="38100"/>
                </a:lnTo>
                <a:close/>
              </a:path>
            </a:pathLst>
          </a:custGeom>
          <a:solidFill>
            <a:srgbClr val="ED7660"/>
          </a:solidFill>
        </p:spPr>
        <p:txBody>
          <a:bodyPr wrap="square" lIns="0" tIns="0" rIns="0" bIns="0" rtlCol="0"/>
          <a:lstStyle/>
          <a:p>
            <a:endParaRPr/>
          </a:p>
        </p:txBody>
      </p:sp>
      <p:sp>
        <p:nvSpPr>
          <p:cNvPr id="6" name="object 6"/>
          <p:cNvSpPr txBox="1"/>
          <p:nvPr/>
        </p:nvSpPr>
        <p:spPr>
          <a:xfrm>
            <a:off x="4541333" y="5147329"/>
            <a:ext cx="957580" cy="541815"/>
          </a:xfrm>
          <a:prstGeom prst="rect">
            <a:avLst/>
          </a:prstGeom>
          <a:solidFill>
            <a:srgbClr val="ED7660"/>
          </a:solidFill>
          <a:ln w="12700">
            <a:solidFill>
              <a:srgbClr val="632D23"/>
            </a:solidFill>
          </a:ln>
        </p:spPr>
        <p:txBody>
          <a:bodyPr vert="horz" wrap="square" lIns="0" tIns="3175" rIns="0" bIns="0" rtlCol="0">
            <a:spAutoFit/>
          </a:bodyPr>
          <a:lstStyle/>
          <a:p>
            <a:pPr>
              <a:lnSpc>
                <a:spcPct val="100000"/>
              </a:lnSpc>
              <a:spcBef>
                <a:spcPts val="25"/>
              </a:spcBef>
            </a:pPr>
            <a:endParaRPr sz="1700">
              <a:cs typeface="Times New Roman"/>
            </a:endParaRPr>
          </a:p>
          <a:p>
            <a:pPr marL="260350">
              <a:lnSpc>
                <a:spcPct val="100000"/>
              </a:lnSpc>
            </a:pPr>
            <a:r>
              <a:rPr sz="1800" spc="70" dirty="0">
                <a:solidFill>
                  <a:srgbClr val="FFFFFF"/>
                </a:solidFill>
                <a:cs typeface="Tahoma"/>
              </a:rPr>
              <a:t>LLM</a:t>
            </a:r>
            <a:endParaRPr sz="1800">
              <a:cs typeface="Tahoma"/>
            </a:endParaRPr>
          </a:p>
        </p:txBody>
      </p:sp>
      <p:graphicFrame>
        <p:nvGraphicFramePr>
          <p:cNvPr id="7" name="object 7"/>
          <p:cNvGraphicFramePr>
            <a:graphicFrameLocks noGrp="1"/>
          </p:cNvGraphicFramePr>
          <p:nvPr>
            <p:extLst>
              <p:ext uri="{D42A27DB-BD31-4B8C-83A1-F6EECF244321}">
                <p14:modId xmlns:p14="http://schemas.microsoft.com/office/powerpoint/2010/main" val="1204830539"/>
              </p:ext>
            </p:extLst>
          </p:nvPr>
        </p:nvGraphicFramePr>
        <p:xfrm>
          <a:off x="5844761" y="5103896"/>
          <a:ext cx="3530598" cy="871219"/>
        </p:xfrm>
        <a:graphic>
          <a:graphicData uri="http://schemas.openxmlformats.org/drawingml/2006/table">
            <a:tbl>
              <a:tblPr firstRow="1" bandRow="1">
                <a:tableStyleId>{2D5ABB26-0587-4C30-8999-92F81FD0307C}</a:tableStyleId>
              </a:tblPr>
              <a:tblGrid>
                <a:gridCol w="706120">
                  <a:extLst>
                    <a:ext uri="{9D8B030D-6E8A-4147-A177-3AD203B41FA5}">
                      <a16:colId xmlns:a16="http://schemas.microsoft.com/office/drawing/2014/main" val="20000"/>
                    </a:ext>
                  </a:extLst>
                </a:gridCol>
                <a:gridCol w="706120">
                  <a:extLst>
                    <a:ext uri="{9D8B030D-6E8A-4147-A177-3AD203B41FA5}">
                      <a16:colId xmlns:a16="http://schemas.microsoft.com/office/drawing/2014/main" val="20001"/>
                    </a:ext>
                  </a:extLst>
                </a:gridCol>
                <a:gridCol w="706120">
                  <a:extLst>
                    <a:ext uri="{9D8B030D-6E8A-4147-A177-3AD203B41FA5}">
                      <a16:colId xmlns:a16="http://schemas.microsoft.com/office/drawing/2014/main" val="20002"/>
                    </a:ext>
                  </a:extLst>
                </a:gridCol>
                <a:gridCol w="706119">
                  <a:extLst>
                    <a:ext uri="{9D8B030D-6E8A-4147-A177-3AD203B41FA5}">
                      <a16:colId xmlns:a16="http://schemas.microsoft.com/office/drawing/2014/main" val="20003"/>
                    </a:ext>
                  </a:extLst>
                </a:gridCol>
                <a:gridCol w="706119">
                  <a:extLst>
                    <a:ext uri="{9D8B030D-6E8A-4147-A177-3AD203B41FA5}">
                      <a16:colId xmlns:a16="http://schemas.microsoft.com/office/drawing/2014/main" val="20004"/>
                    </a:ext>
                  </a:extLst>
                </a:gridCol>
              </a:tblGrid>
              <a:tr h="290449">
                <a:tc>
                  <a:txBody>
                    <a:bodyPr/>
                    <a:lstStyle/>
                    <a:p>
                      <a:pPr marR="109855" algn="r">
                        <a:lnSpc>
                          <a:spcPct val="100000"/>
                        </a:lnSpc>
                        <a:spcBef>
                          <a:spcPts val="495"/>
                        </a:spcBef>
                      </a:pPr>
                      <a:r>
                        <a:rPr sz="1000" spc="25" dirty="0">
                          <a:latin typeface="Tahoma"/>
                          <a:cs typeface="Tahoma"/>
                        </a:rPr>
                        <a:t>TOK1_1</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495"/>
                        </a:spcBef>
                      </a:pPr>
                      <a:r>
                        <a:rPr sz="1000" spc="25" dirty="0">
                          <a:latin typeface="Tahoma"/>
                          <a:cs typeface="Tahoma"/>
                        </a:rPr>
                        <a:t>TOK1_2</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495"/>
                        </a:spcBef>
                      </a:pPr>
                      <a:r>
                        <a:rPr sz="1000" b="1" spc="-15" dirty="0">
                          <a:latin typeface="Tahoma"/>
                          <a:cs typeface="Tahoma"/>
                        </a:rPr>
                        <a:t>TOK1_3</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495"/>
                        </a:spcBef>
                      </a:pPr>
                      <a:r>
                        <a:rPr sz="1000" spc="25" dirty="0">
                          <a:latin typeface="Tahoma"/>
                          <a:cs typeface="Tahoma"/>
                        </a:rPr>
                        <a:t>TOK1_4</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118745">
                        <a:lnSpc>
                          <a:spcPct val="100000"/>
                        </a:lnSpc>
                        <a:spcBef>
                          <a:spcPts val="495"/>
                        </a:spcBef>
                      </a:pPr>
                      <a:r>
                        <a:rPr sz="1000" spc="25" dirty="0">
                          <a:latin typeface="Tahoma"/>
                          <a:cs typeface="Tahoma"/>
                        </a:rPr>
                        <a:t>TOK1_5</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0"/>
                  </a:ext>
                </a:extLst>
              </a:tr>
              <a:tr h="290322">
                <a:tc>
                  <a:txBody>
                    <a:bodyPr/>
                    <a:lstStyle/>
                    <a:p>
                      <a:pPr marR="109855" algn="r">
                        <a:lnSpc>
                          <a:spcPct val="100000"/>
                        </a:lnSpc>
                        <a:spcBef>
                          <a:spcPts val="495"/>
                        </a:spcBef>
                      </a:pPr>
                      <a:r>
                        <a:rPr sz="1000" spc="25" dirty="0">
                          <a:latin typeface="Tahoma"/>
                          <a:cs typeface="Tahoma"/>
                        </a:rPr>
                        <a:t>TOK2_1</a:t>
                      </a:r>
                      <a:endParaRPr sz="1000" dirty="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495"/>
                        </a:spcBef>
                      </a:pPr>
                      <a:r>
                        <a:rPr sz="1000" spc="25" dirty="0">
                          <a:latin typeface="Tahoma"/>
                          <a:cs typeface="Tahoma"/>
                        </a:rPr>
                        <a:t>TOK2_2</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495"/>
                        </a:spcBef>
                      </a:pPr>
                      <a:r>
                        <a:rPr sz="1000" spc="25" dirty="0">
                          <a:latin typeface="Tahoma"/>
                          <a:cs typeface="Tahoma"/>
                        </a:rPr>
                        <a:t>TOK2_3</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495"/>
                        </a:spcBef>
                      </a:pPr>
                      <a:r>
                        <a:rPr sz="1000" b="1" spc="-15" dirty="0">
                          <a:latin typeface="Tahoma"/>
                          <a:cs typeface="Tahoma"/>
                        </a:rPr>
                        <a:t>TOK2_4</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118745">
                        <a:lnSpc>
                          <a:spcPct val="100000"/>
                        </a:lnSpc>
                        <a:spcBef>
                          <a:spcPts val="495"/>
                        </a:spcBef>
                      </a:pPr>
                      <a:r>
                        <a:rPr sz="1000" spc="25" dirty="0">
                          <a:latin typeface="Tahoma"/>
                          <a:cs typeface="Tahoma"/>
                        </a:rPr>
                        <a:t>TOK2_5</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1"/>
                  </a:ext>
                </a:extLst>
              </a:tr>
              <a:tr h="290448">
                <a:tc>
                  <a:txBody>
                    <a:bodyPr/>
                    <a:lstStyle/>
                    <a:p>
                      <a:pPr marR="109220" algn="r">
                        <a:lnSpc>
                          <a:spcPct val="100000"/>
                        </a:lnSpc>
                        <a:spcBef>
                          <a:spcPts val="495"/>
                        </a:spcBef>
                      </a:pPr>
                      <a:r>
                        <a:rPr sz="1000" spc="25" dirty="0">
                          <a:latin typeface="Tahoma"/>
                          <a:cs typeface="Tahoma"/>
                        </a:rPr>
                        <a:t>TOK3_1</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495"/>
                        </a:spcBef>
                      </a:pPr>
                      <a:r>
                        <a:rPr sz="1000" spc="25" dirty="0">
                          <a:latin typeface="Tahoma"/>
                          <a:cs typeface="Tahoma"/>
                        </a:rPr>
                        <a:t>TOK3_2</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1270" algn="ctr">
                        <a:lnSpc>
                          <a:spcPct val="100000"/>
                        </a:lnSpc>
                        <a:spcBef>
                          <a:spcPts val="495"/>
                        </a:spcBef>
                      </a:pPr>
                      <a:r>
                        <a:rPr sz="1000" spc="25" dirty="0">
                          <a:latin typeface="Tahoma"/>
                          <a:cs typeface="Tahoma"/>
                        </a:rPr>
                        <a:t>TOK3_3</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1270" algn="ctr">
                        <a:lnSpc>
                          <a:spcPct val="100000"/>
                        </a:lnSpc>
                        <a:spcBef>
                          <a:spcPts val="495"/>
                        </a:spcBef>
                      </a:pPr>
                      <a:r>
                        <a:rPr sz="1000" spc="25" dirty="0">
                          <a:latin typeface="Tahoma"/>
                          <a:cs typeface="Tahoma"/>
                        </a:rPr>
                        <a:t>TOK3_4</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103505">
                        <a:lnSpc>
                          <a:spcPct val="100000"/>
                        </a:lnSpc>
                        <a:spcBef>
                          <a:spcPts val="495"/>
                        </a:spcBef>
                      </a:pPr>
                      <a:r>
                        <a:rPr sz="1000" b="1" spc="-15" dirty="0">
                          <a:latin typeface="Tahoma"/>
                          <a:cs typeface="Tahoma"/>
                        </a:rPr>
                        <a:t>TOK3_5</a:t>
                      </a:r>
                      <a:endParaRPr sz="1000" dirty="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2"/>
                  </a:ext>
                </a:extLst>
              </a:tr>
            </a:tbl>
          </a:graphicData>
        </a:graphic>
      </p:graphicFrame>
      <p:sp>
        <p:nvSpPr>
          <p:cNvPr id="8" name="object 8"/>
          <p:cNvSpPr/>
          <p:nvPr/>
        </p:nvSpPr>
        <p:spPr>
          <a:xfrm>
            <a:off x="5499166" y="5490229"/>
            <a:ext cx="345595" cy="114300"/>
          </a:xfrm>
          <a:custGeom>
            <a:avLst/>
            <a:gdLst/>
            <a:ahLst/>
            <a:cxnLst/>
            <a:rect l="l" t="t" r="r" b="b"/>
            <a:pathLst>
              <a:path w="497839" h="114300">
                <a:moveTo>
                  <a:pt x="383413" y="0"/>
                </a:moveTo>
                <a:lnTo>
                  <a:pt x="383413" y="114300"/>
                </a:lnTo>
                <a:lnTo>
                  <a:pt x="459613" y="76200"/>
                </a:lnTo>
                <a:lnTo>
                  <a:pt x="402463" y="76200"/>
                </a:lnTo>
                <a:lnTo>
                  <a:pt x="402463" y="38100"/>
                </a:lnTo>
                <a:lnTo>
                  <a:pt x="459613" y="38100"/>
                </a:lnTo>
                <a:lnTo>
                  <a:pt x="383413" y="0"/>
                </a:lnTo>
                <a:close/>
              </a:path>
              <a:path w="497839" h="114300">
                <a:moveTo>
                  <a:pt x="383413" y="38100"/>
                </a:moveTo>
                <a:lnTo>
                  <a:pt x="0" y="38100"/>
                </a:lnTo>
                <a:lnTo>
                  <a:pt x="0" y="76200"/>
                </a:lnTo>
                <a:lnTo>
                  <a:pt x="383413" y="76200"/>
                </a:lnTo>
                <a:lnTo>
                  <a:pt x="383413" y="38100"/>
                </a:lnTo>
                <a:close/>
              </a:path>
              <a:path w="497839" h="114300">
                <a:moveTo>
                  <a:pt x="459613" y="38100"/>
                </a:moveTo>
                <a:lnTo>
                  <a:pt x="402463" y="38100"/>
                </a:lnTo>
                <a:lnTo>
                  <a:pt x="402463" y="76200"/>
                </a:lnTo>
                <a:lnTo>
                  <a:pt x="459613" y="76200"/>
                </a:lnTo>
                <a:lnTo>
                  <a:pt x="497713" y="57150"/>
                </a:lnTo>
                <a:lnTo>
                  <a:pt x="459613" y="38100"/>
                </a:lnTo>
                <a:close/>
              </a:path>
            </a:pathLst>
          </a:custGeom>
          <a:solidFill>
            <a:srgbClr val="ED7660"/>
          </a:solidFill>
        </p:spPr>
        <p:txBody>
          <a:bodyPr wrap="square" lIns="0" tIns="0" rIns="0" bIns="0" rtlCol="0"/>
          <a:lstStyle/>
          <a:p>
            <a:endParaRPr/>
          </a:p>
        </p:txBody>
      </p:sp>
      <p:sp>
        <p:nvSpPr>
          <p:cNvPr id="9" name="object 9"/>
          <p:cNvSpPr/>
          <p:nvPr/>
        </p:nvSpPr>
        <p:spPr>
          <a:xfrm>
            <a:off x="9375359" y="5493885"/>
            <a:ext cx="305842" cy="114300"/>
          </a:xfrm>
          <a:custGeom>
            <a:avLst/>
            <a:gdLst/>
            <a:ahLst/>
            <a:cxnLst/>
            <a:rect l="l" t="t" r="r" b="b"/>
            <a:pathLst>
              <a:path w="526415" h="114300">
                <a:moveTo>
                  <a:pt x="411734" y="0"/>
                </a:moveTo>
                <a:lnTo>
                  <a:pt x="411734" y="114300"/>
                </a:lnTo>
                <a:lnTo>
                  <a:pt x="487934" y="76200"/>
                </a:lnTo>
                <a:lnTo>
                  <a:pt x="430784" y="76200"/>
                </a:lnTo>
                <a:lnTo>
                  <a:pt x="430784" y="38100"/>
                </a:lnTo>
                <a:lnTo>
                  <a:pt x="487934" y="38100"/>
                </a:lnTo>
                <a:lnTo>
                  <a:pt x="411734" y="0"/>
                </a:lnTo>
                <a:close/>
              </a:path>
              <a:path w="526415" h="114300">
                <a:moveTo>
                  <a:pt x="411734" y="38100"/>
                </a:moveTo>
                <a:lnTo>
                  <a:pt x="0" y="38100"/>
                </a:lnTo>
                <a:lnTo>
                  <a:pt x="0" y="76200"/>
                </a:lnTo>
                <a:lnTo>
                  <a:pt x="411734" y="76200"/>
                </a:lnTo>
                <a:lnTo>
                  <a:pt x="411734" y="38100"/>
                </a:lnTo>
                <a:close/>
              </a:path>
              <a:path w="526415" h="114300">
                <a:moveTo>
                  <a:pt x="487934" y="38100"/>
                </a:moveTo>
                <a:lnTo>
                  <a:pt x="430784" y="38100"/>
                </a:lnTo>
                <a:lnTo>
                  <a:pt x="430784" y="76200"/>
                </a:lnTo>
                <a:lnTo>
                  <a:pt x="487934" y="76200"/>
                </a:lnTo>
                <a:lnTo>
                  <a:pt x="526034" y="57150"/>
                </a:lnTo>
                <a:lnTo>
                  <a:pt x="487934" y="38100"/>
                </a:lnTo>
                <a:close/>
              </a:path>
            </a:pathLst>
          </a:custGeom>
          <a:solidFill>
            <a:srgbClr val="ED7660"/>
          </a:solidFill>
        </p:spPr>
        <p:txBody>
          <a:bodyPr wrap="square" lIns="0" tIns="0" rIns="0" bIns="0" rtlCol="0"/>
          <a:lstStyle/>
          <a:p>
            <a:endParaRPr/>
          </a:p>
        </p:txBody>
      </p:sp>
      <p:sp>
        <p:nvSpPr>
          <p:cNvPr id="10" name="object 10"/>
          <p:cNvSpPr txBox="1"/>
          <p:nvPr/>
        </p:nvSpPr>
        <p:spPr>
          <a:xfrm>
            <a:off x="9681201" y="5390750"/>
            <a:ext cx="1842656" cy="255198"/>
          </a:xfrm>
          <a:prstGeom prst="rect">
            <a:avLst/>
          </a:prstGeom>
          <a:solidFill>
            <a:srgbClr val="ED7660"/>
          </a:solidFill>
          <a:ln w="12700">
            <a:solidFill>
              <a:srgbClr val="632D23"/>
            </a:solidFill>
          </a:ln>
        </p:spPr>
        <p:txBody>
          <a:bodyPr vert="horz" wrap="square" lIns="0" tIns="69850" rIns="0" bIns="0" rtlCol="0">
            <a:spAutoFit/>
          </a:bodyPr>
          <a:lstStyle/>
          <a:p>
            <a:pPr marL="131445">
              <a:lnSpc>
                <a:spcPct val="100000"/>
              </a:lnSpc>
              <a:spcBef>
                <a:spcPts val="550"/>
              </a:spcBef>
            </a:pPr>
            <a:r>
              <a:rPr sz="1200" spc="25" dirty="0">
                <a:solidFill>
                  <a:srgbClr val="FFFFFF"/>
                </a:solidFill>
                <a:cs typeface="Tahoma"/>
              </a:rPr>
              <a:t>Lin</a:t>
            </a:r>
            <a:r>
              <a:rPr sz="1200" spc="15" dirty="0">
                <a:solidFill>
                  <a:srgbClr val="FFFFFF"/>
                </a:solidFill>
                <a:cs typeface="Tahoma"/>
              </a:rPr>
              <a:t>e</a:t>
            </a:r>
            <a:r>
              <a:rPr sz="1200" spc="5" dirty="0">
                <a:solidFill>
                  <a:srgbClr val="FFFFFF"/>
                </a:solidFill>
                <a:cs typeface="Tahoma"/>
              </a:rPr>
              <a:t>a</a:t>
            </a:r>
            <a:r>
              <a:rPr sz="1200" spc="-5" dirty="0">
                <a:solidFill>
                  <a:srgbClr val="FFFFFF"/>
                </a:solidFill>
                <a:cs typeface="Tahoma"/>
              </a:rPr>
              <a:t>r</a:t>
            </a:r>
            <a:r>
              <a:rPr sz="1200" spc="-55" dirty="0">
                <a:solidFill>
                  <a:srgbClr val="FFFFFF"/>
                </a:solidFill>
                <a:cs typeface="Tahoma"/>
              </a:rPr>
              <a:t> </a:t>
            </a:r>
            <a:r>
              <a:rPr sz="1200" spc="10" dirty="0">
                <a:solidFill>
                  <a:srgbClr val="FFFFFF"/>
                </a:solidFill>
                <a:cs typeface="Tahoma"/>
              </a:rPr>
              <a:t>L</a:t>
            </a:r>
            <a:r>
              <a:rPr sz="1200" spc="5" dirty="0">
                <a:solidFill>
                  <a:srgbClr val="FFFFFF"/>
                </a:solidFill>
                <a:cs typeface="Tahoma"/>
              </a:rPr>
              <a:t>a</a:t>
            </a:r>
            <a:r>
              <a:rPr sz="1200" spc="10" dirty="0">
                <a:solidFill>
                  <a:srgbClr val="FFFFFF"/>
                </a:solidFill>
                <a:cs typeface="Tahoma"/>
              </a:rPr>
              <a:t>yer</a:t>
            </a:r>
            <a:r>
              <a:rPr sz="1200" spc="-65" dirty="0">
                <a:solidFill>
                  <a:srgbClr val="FFFFFF"/>
                </a:solidFill>
                <a:cs typeface="Tahoma"/>
              </a:rPr>
              <a:t> </a:t>
            </a:r>
            <a:r>
              <a:rPr sz="1200" spc="-75" dirty="0">
                <a:solidFill>
                  <a:srgbClr val="FFFFFF"/>
                </a:solidFill>
                <a:cs typeface="Tahoma"/>
              </a:rPr>
              <a:t>+</a:t>
            </a:r>
            <a:r>
              <a:rPr sz="1200" spc="-85" dirty="0">
                <a:solidFill>
                  <a:srgbClr val="FFFFFF"/>
                </a:solidFill>
                <a:cs typeface="Tahoma"/>
              </a:rPr>
              <a:t> </a:t>
            </a:r>
            <a:r>
              <a:rPr sz="1200" dirty="0">
                <a:solidFill>
                  <a:srgbClr val="FFFFFF"/>
                </a:solidFill>
                <a:cs typeface="Tahoma"/>
              </a:rPr>
              <a:t>S</a:t>
            </a:r>
            <a:r>
              <a:rPr sz="1200" spc="30" dirty="0">
                <a:solidFill>
                  <a:srgbClr val="FFFFFF"/>
                </a:solidFill>
                <a:cs typeface="Tahoma"/>
              </a:rPr>
              <a:t>o</a:t>
            </a:r>
            <a:r>
              <a:rPr sz="1200" spc="-5" dirty="0">
                <a:solidFill>
                  <a:srgbClr val="FFFFFF"/>
                </a:solidFill>
                <a:cs typeface="Tahoma"/>
              </a:rPr>
              <a:t>f</a:t>
            </a:r>
            <a:r>
              <a:rPr sz="1200" spc="-25" dirty="0">
                <a:solidFill>
                  <a:srgbClr val="FFFFFF"/>
                </a:solidFill>
                <a:cs typeface="Tahoma"/>
              </a:rPr>
              <a:t>t</a:t>
            </a:r>
            <a:r>
              <a:rPr sz="1200" spc="45" dirty="0">
                <a:solidFill>
                  <a:srgbClr val="FFFFFF"/>
                </a:solidFill>
                <a:cs typeface="Tahoma"/>
              </a:rPr>
              <a:t>m</a:t>
            </a:r>
            <a:r>
              <a:rPr sz="1200" spc="5" dirty="0">
                <a:solidFill>
                  <a:srgbClr val="FFFFFF"/>
                </a:solidFill>
                <a:cs typeface="Tahoma"/>
              </a:rPr>
              <a:t>a</a:t>
            </a:r>
            <a:r>
              <a:rPr sz="1200" spc="-15" dirty="0">
                <a:solidFill>
                  <a:srgbClr val="FFFFFF"/>
                </a:solidFill>
                <a:cs typeface="Tahoma"/>
              </a:rPr>
              <a:t>x</a:t>
            </a:r>
            <a:endParaRPr sz="1200" dirty="0">
              <a:cs typeface="Tahoma"/>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740562756"/>
              </p:ext>
            </p:extLst>
          </p:nvPr>
        </p:nvGraphicFramePr>
        <p:xfrm>
          <a:off x="664887" y="3489785"/>
          <a:ext cx="3444875" cy="1854197"/>
        </p:xfrm>
        <a:graphic>
          <a:graphicData uri="http://schemas.openxmlformats.org/drawingml/2006/table">
            <a:tbl>
              <a:tblPr firstRow="1" bandRow="1">
                <a:tableStyleId>{2D5ABB26-0587-4C30-8999-92F81FD0307C}</a:tableStyleId>
              </a:tblPr>
              <a:tblGrid>
                <a:gridCol w="688975">
                  <a:extLst>
                    <a:ext uri="{9D8B030D-6E8A-4147-A177-3AD203B41FA5}">
                      <a16:colId xmlns:a16="http://schemas.microsoft.com/office/drawing/2014/main" val="20000"/>
                    </a:ext>
                  </a:extLst>
                </a:gridCol>
                <a:gridCol w="688975">
                  <a:extLst>
                    <a:ext uri="{9D8B030D-6E8A-4147-A177-3AD203B41FA5}">
                      <a16:colId xmlns:a16="http://schemas.microsoft.com/office/drawing/2014/main" val="20001"/>
                    </a:ext>
                  </a:extLst>
                </a:gridCol>
                <a:gridCol w="688975">
                  <a:extLst>
                    <a:ext uri="{9D8B030D-6E8A-4147-A177-3AD203B41FA5}">
                      <a16:colId xmlns:a16="http://schemas.microsoft.com/office/drawing/2014/main" val="20002"/>
                    </a:ext>
                  </a:extLst>
                </a:gridCol>
                <a:gridCol w="688975">
                  <a:extLst>
                    <a:ext uri="{9D8B030D-6E8A-4147-A177-3AD203B41FA5}">
                      <a16:colId xmlns:a16="http://schemas.microsoft.com/office/drawing/2014/main" val="20003"/>
                    </a:ext>
                  </a:extLst>
                </a:gridCol>
                <a:gridCol w="688975">
                  <a:extLst>
                    <a:ext uri="{9D8B030D-6E8A-4147-A177-3AD203B41FA5}">
                      <a16:colId xmlns:a16="http://schemas.microsoft.com/office/drawing/2014/main" val="20004"/>
                    </a:ext>
                  </a:extLst>
                </a:gridCol>
              </a:tblGrid>
              <a:tr h="370840">
                <a:tc>
                  <a:txBody>
                    <a:bodyPr/>
                    <a:lstStyle/>
                    <a:p>
                      <a:pPr algn="ctr">
                        <a:lnSpc>
                          <a:spcPct val="100000"/>
                        </a:lnSpc>
                        <a:spcBef>
                          <a:spcPts val="780"/>
                        </a:spcBef>
                      </a:pPr>
                      <a:r>
                        <a:rPr sz="1050" dirty="0">
                          <a:latin typeface="Tahoma"/>
                          <a:cs typeface="Tahoma"/>
                        </a:rPr>
                        <a:t>0</a:t>
                      </a:r>
                      <a:endParaRPr sz="1050">
                        <a:latin typeface="Tahoma"/>
                        <a:cs typeface="Tahoma"/>
                      </a:endParaRPr>
                    </a:p>
                  </a:txBody>
                  <a:tcPr marL="0" marR="0" marT="990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R="22225" algn="ctr">
                        <a:lnSpc>
                          <a:spcPct val="100000"/>
                        </a:lnSpc>
                        <a:spcBef>
                          <a:spcPts val="780"/>
                        </a:spcBef>
                      </a:pPr>
                      <a:r>
                        <a:rPr sz="1050" dirty="0">
                          <a:solidFill>
                            <a:srgbClr val="E23717"/>
                          </a:solidFill>
                          <a:latin typeface="Cambria Math"/>
                          <a:cs typeface="Cambria Math"/>
                        </a:rPr>
                        <a:t>−∞</a:t>
                      </a:r>
                      <a:endParaRPr sz="1050">
                        <a:latin typeface="Cambria Math"/>
                        <a:cs typeface="Cambria Math"/>
                      </a:endParaRPr>
                    </a:p>
                  </a:txBody>
                  <a:tcPr marL="0" marR="0" marT="990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R="22225" algn="ctr">
                        <a:lnSpc>
                          <a:spcPct val="100000"/>
                        </a:lnSpc>
                        <a:spcBef>
                          <a:spcPts val="780"/>
                        </a:spcBef>
                      </a:pPr>
                      <a:r>
                        <a:rPr sz="1050" dirty="0">
                          <a:solidFill>
                            <a:srgbClr val="E23717"/>
                          </a:solidFill>
                          <a:latin typeface="Cambria Math"/>
                          <a:cs typeface="Cambria Math"/>
                        </a:rPr>
                        <a:t>−∞</a:t>
                      </a:r>
                      <a:endParaRPr sz="1050">
                        <a:latin typeface="Cambria Math"/>
                        <a:cs typeface="Cambria Math"/>
                      </a:endParaRPr>
                    </a:p>
                  </a:txBody>
                  <a:tcPr marL="0" marR="0" marT="990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R="22225" algn="ctr">
                        <a:lnSpc>
                          <a:spcPct val="100000"/>
                        </a:lnSpc>
                        <a:spcBef>
                          <a:spcPts val="780"/>
                        </a:spcBef>
                      </a:pPr>
                      <a:r>
                        <a:rPr sz="1050" dirty="0">
                          <a:solidFill>
                            <a:srgbClr val="E23717"/>
                          </a:solidFill>
                          <a:latin typeface="Cambria Math"/>
                          <a:cs typeface="Cambria Math"/>
                        </a:rPr>
                        <a:t>−∞</a:t>
                      </a:r>
                      <a:endParaRPr sz="1050">
                        <a:latin typeface="Cambria Math"/>
                        <a:cs typeface="Cambria Math"/>
                      </a:endParaRPr>
                    </a:p>
                  </a:txBody>
                  <a:tcPr marL="0" marR="0" marT="990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R="22225" algn="ctr">
                        <a:lnSpc>
                          <a:spcPct val="100000"/>
                        </a:lnSpc>
                        <a:spcBef>
                          <a:spcPts val="780"/>
                        </a:spcBef>
                      </a:pPr>
                      <a:r>
                        <a:rPr sz="1050" dirty="0">
                          <a:solidFill>
                            <a:srgbClr val="E23717"/>
                          </a:solidFill>
                          <a:latin typeface="Cambria Math"/>
                          <a:cs typeface="Cambria Math"/>
                        </a:rPr>
                        <a:t>−∞</a:t>
                      </a:r>
                      <a:endParaRPr sz="1050">
                        <a:latin typeface="Cambria Math"/>
                        <a:cs typeface="Cambria Math"/>
                      </a:endParaRPr>
                    </a:p>
                  </a:txBody>
                  <a:tcPr marL="0" marR="0" marT="990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0"/>
                  </a:ext>
                </a:extLst>
              </a:tr>
              <a:tr h="370839">
                <a:tc>
                  <a:txBody>
                    <a:bodyPr/>
                    <a:lstStyle/>
                    <a:p>
                      <a:pPr algn="ctr">
                        <a:lnSpc>
                          <a:spcPct val="100000"/>
                        </a:lnSpc>
                        <a:spcBef>
                          <a:spcPts val="780"/>
                        </a:spcBef>
                      </a:pPr>
                      <a:r>
                        <a:rPr sz="1050" dirty="0">
                          <a:latin typeface="Tahoma"/>
                          <a:cs typeface="Tahoma"/>
                        </a:rPr>
                        <a:t>0</a:t>
                      </a:r>
                      <a:endParaRPr sz="1050">
                        <a:latin typeface="Tahoma"/>
                        <a:cs typeface="Tahoma"/>
                      </a:endParaRPr>
                    </a:p>
                  </a:txBody>
                  <a:tcPr marL="0" marR="0" marT="990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780"/>
                        </a:spcBef>
                      </a:pPr>
                      <a:r>
                        <a:rPr sz="1050" dirty="0">
                          <a:latin typeface="Tahoma"/>
                          <a:cs typeface="Tahoma"/>
                        </a:rPr>
                        <a:t>0</a:t>
                      </a:r>
                      <a:endParaRPr sz="1050">
                        <a:latin typeface="Tahoma"/>
                        <a:cs typeface="Tahoma"/>
                      </a:endParaRPr>
                    </a:p>
                  </a:txBody>
                  <a:tcPr marL="0" marR="0" marT="990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R="22225" algn="ctr">
                        <a:lnSpc>
                          <a:spcPct val="100000"/>
                        </a:lnSpc>
                        <a:spcBef>
                          <a:spcPts val="780"/>
                        </a:spcBef>
                      </a:pPr>
                      <a:r>
                        <a:rPr sz="1050" dirty="0">
                          <a:solidFill>
                            <a:srgbClr val="E23717"/>
                          </a:solidFill>
                          <a:latin typeface="Cambria Math"/>
                          <a:cs typeface="Cambria Math"/>
                        </a:rPr>
                        <a:t>−∞</a:t>
                      </a:r>
                      <a:endParaRPr sz="1050">
                        <a:latin typeface="Cambria Math"/>
                        <a:cs typeface="Cambria Math"/>
                      </a:endParaRPr>
                    </a:p>
                  </a:txBody>
                  <a:tcPr marL="0" marR="0" marT="990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R="22225" algn="ctr">
                        <a:lnSpc>
                          <a:spcPct val="100000"/>
                        </a:lnSpc>
                        <a:spcBef>
                          <a:spcPts val="780"/>
                        </a:spcBef>
                      </a:pPr>
                      <a:r>
                        <a:rPr sz="1050" dirty="0">
                          <a:solidFill>
                            <a:srgbClr val="E23717"/>
                          </a:solidFill>
                          <a:latin typeface="Cambria Math"/>
                          <a:cs typeface="Cambria Math"/>
                        </a:rPr>
                        <a:t>−∞</a:t>
                      </a:r>
                      <a:endParaRPr sz="1050">
                        <a:latin typeface="Cambria Math"/>
                        <a:cs typeface="Cambria Math"/>
                      </a:endParaRPr>
                    </a:p>
                  </a:txBody>
                  <a:tcPr marL="0" marR="0" marT="990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R="22225" algn="ctr">
                        <a:lnSpc>
                          <a:spcPct val="100000"/>
                        </a:lnSpc>
                        <a:spcBef>
                          <a:spcPts val="780"/>
                        </a:spcBef>
                      </a:pPr>
                      <a:r>
                        <a:rPr sz="1050" dirty="0">
                          <a:solidFill>
                            <a:srgbClr val="E23717"/>
                          </a:solidFill>
                          <a:latin typeface="Cambria Math"/>
                          <a:cs typeface="Cambria Math"/>
                        </a:rPr>
                        <a:t>−∞</a:t>
                      </a:r>
                      <a:endParaRPr sz="1050">
                        <a:latin typeface="Cambria Math"/>
                        <a:cs typeface="Cambria Math"/>
                      </a:endParaRPr>
                    </a:p>
                  </a:txBody>
                  <a:tcPr marL="0" marR="0" marT="990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1"/>
                  </a:ext>
                </a:extLst>
              </a:tr>
              <a:tr h="370839">
                <a:tc>
                  <a:txBody>
                    <a:bodyPr/>
                    <a:lstStyle/>
                    <a:p>
                      <a:pPr algn="ctr">
                        <a:lnSpc>
                          <a:spcPct val="100000"/>
                        </a:lnSpc>
                        <a:spcBef>
                          <a:spcPts val="780"/>
                        </a:spcBef>
                      </a:pPr>
                      <a:r>
                        <a:rPr sz="1050" dirty="0">
                          <a:latin typeface="Tahoma"/>
                          <a:cs typeface="Tahoma"/>
                        </a:rPr>
                        <a:t>0</a:t>
                      </a:r>
                      <a:endParaRPr sz="1050">
                        <a:latin typeface="Tahoma"/>
                        <a:cs typeface="Tahoma"/>
                      </a:endParaRPr>
                    </a:p>
                  </a:txBody>
                  <a:tcPr marL="0" marR="0" marT="990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780"/>
                        </a:spcBef>
                      </a:pPr>
                      <a:r>
                        <a:rPr sz="1050" dirty="0">
                          <a:latin typeface="Tahoma"/>
                          <a:cs typeface="Tahoma"/>
                        </a:rPr>
                        <a:t>0</a:t>
                      </a:r>
                      <a:endParaRPr sz="1050">
                        <a:latin typeface="Tahoma"/>
                        <a:cs typeface="Tahoma"/>
                      </a:endParaRPr>
                    </a:p>
                  </a:txBody>
                  <a:tcPr marL="0" marR="0" marT="990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780"/>
                        </a:spcBef>
                      </a:pPr>
                      <a:r>
                        <a:rPr sz="1050" dirty="0">
                          <a:latin typeface="Tahoma"/>
                          <a:cs typeface="Tahoma"/>
                        </a:rPr>
                        <a:t>0</a:t>
                      </a:r>
                      <a:endParaRPr sz="1050">
                        <a:latin typeface="Tahoma"/>
                        <a:cs typeface="Tahoma"/>
                      </a:endParaRPr>
                    </a:p>
                  </a:txBody>
                  <a:tcPr marL="0" marR="0" marT="990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R="22225" algn="ctr">
                        <a:lnSpc>
                          <a:spcPct val="100000"/>
                        </a:lnSpc>
                        <a:spcBef>
                          <a:spcPts val="780"/>
                        </a:spcBef>
                      </a:pPr>
                      <a:r>
                        <a:rPr sz="1050" dirty="0">
                          <a:solidFill>
                            <a:srgbClr val="E23717"/>
                          </a:solidFill>
                          <a:latin typeface="Cambria Math"/>
                          <a:cs typeface="Cambria Math"/>
                        </a:rPr>
                        <a:t>−∞</a:t>
                      </a:r>
                      <a:endParaRPr sz="1050" dirty="0">
                        <a:latin typeface="Cambria Math"/>
                        <a:cs typeface="Cambria Math"/>
                      </a:endParaRPr>
                    </a:p>
                  </a:txBody>
                  <a:tcPr marL="0" marR="0" marT="990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R="22225" algn="ctr">
                        <a:lnSpc>
                          <a:spcPct val="100000"/>
                        </a:lnSpc>
                        <a:spcBef>
                          <a:spcPts val="780"/>
                        </a:spcBef>
                      </a:pPr>
                      <a:r>
                        <a:rPr sz="1050" dirty="0">
                          <a:solidFill>
                            <a:srgbClr val="E23717"/>
                          </a:solidFill>
                          <a:latin typeface="Cambria Math"/>
                          <a:cs typeface="Cambria Math"/>
                        </a:rPr>
                        <a:t>−∞</a:t>
                      </a:r>
                      <a:endParaRPr sz="1050">
                        <a:latin typeface="Cambria Math"/>
                        <a:cs typeface="Cambria Math"/>
                      </a:endParaRPr>
                    </a:p>
                  </a:txBody>
                  <a:tcPr marL="0" marR="0" marT="990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2"/>
                  </a:ext>
                </a:extLst>
              </a:tr>
              <a:tr h="370840">
                <a:tc>
                  <a:txBody>
                    <a:bodyPr/>
                    <a:lstStyle/>
                    <a:p>
                      <a:pPr algn="ctr">
                        <a:lnSpc>
                          <a:spcPct val="100000"/>
                        </a:lnSpc>
                        <a:spcBef>
                          <a:spcPts val="780"/>
                        </a:spcBef>
                      </a:pPr>
                      <a:r>
                        <a:rPr sz="1050" dirty="0">
                          <a:latin typeface="Tahoma"/>
                          <a:cs typeface="Tahoma"/>
                        </a:rPr>
                        <a:t>0</a:t>
                      </a:r>
                      <a:endParaRPr sz="1050">
                        <a:latin typeface="Tahoma"/>
                        <a:cs typeface="Tahoma"/>
                      </a:endParaRPr>
                    </a:p>
                  </a:txBody>
                  <a:tcPr marL="0" marR="0" marT="990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780"/>
                        </a:spcBef>
                      </a:pPr>
                      <a:r>
                        <a:rPr sz="1050" dirty="0">
                          <a:latin typeface="Tahoma"/>
                          <a:cs typeface="Tahoma"/>
                        </a:rPr>
                        <a:t>0</a:t>
                      </a:r>
                      <a:endParaRPr sz="1050">
                        <a:latin typeface="Tahoma"/>
                        <a:cs typeface="Tahoma"/>
                      </a:endParaRPr>
                    </a:p>
                  </a:txBody>
                  <a:tcPr marL="0" marR="0" marT="990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780"/>
                        </a:spcBef>
                      </a:pPr>
                      <a:r>
                        <a:rPr sz="1050" dirty="0">
                          <a:latin typeface="Tahoma"/>
                          <a:cs typeface="Tahoma"/>
                        </a:rPr>
                        <a:t>0</a:t>
                      </a:r>
                    </a:p>
                  </a:txBody>
                  <a:tcPr marL="0" marR="0" marT="990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780"/>
                        </a:spcBef>
                      </a:pPr>
                      <a:r>
                        <a:rPr sz="1050" dirty="0">
                          <a:latin typeface="Tahoma"/>
                          <a:cs typeface="Tahoma"/>
                        </a:rPr>
                        <a:t>0</a:t>
                      </a:r>
                      <a:endParaRPr sz="1050">
                        <a:latin typeface="Tahoma"/>
                        <a:cs typeface="Tahoma"/>
                      </a:endParaRPr>
                    </a:p>
                  </a:txBody>
                  <a:tcPr marL="0" marR="0" marT="990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R="22225" algn="ctr">
                        <a:lnSpc>
                          <a:spcPct val="100000"/>
                        </a:lnSpc>
                        <a:spcBef>
                          <a:spcPts val="780"/>
                        </a:spcBef>
                      </a:pPr>
                      <a:r>
                        <a:rPr sz="1050" dirty="0">
                          <a:solidFill>
                            <a:srgbClr val="E23717"/>
                          </a:solidFill>
                          <a:latin typeface="Cambria Math"/>
                          <a:cs typeface="Cambria Math"/>
                        </a:rPr>
                        <a:t>−∞</a:t>
                      </a:r>
                      <a:endParaRPr sz="1050">
                        <a:latin typeface="Cambria Math"/>
                        <a:cs typeface="Cambria Math"/>
                      </a:endParaRPr>
                    </a:p>
                  </a:txBody>
                  <a:tcPr marL="0" marR="0" marT="990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3"/>
                  </a:ext>
                </a:extLst>
              </a:tr>
              <a:tr h="370839">
                <a:tc>
                  <a:txBody>
                    <a:bodyPr/>
                    <a:lstStyle/>
                    <a:p>
                      <a:pPr algn="ctr">
                        <a:lnSpc>
                          <a:spcPct val="100000"/>
                        </a:lnSpc>
                        <a:spcBef>
                          <a:spcPts val="785"/>
                        </a:spcBef>
                      </a:pPr>
                      <a:r>
                        <a:rPr sz="1050" dirty="0">
                          <a:latin typeface="Tahoma"/>
                          <a:cs typeface="Tahoma"/>
                        </a:rPr>
                        <a:t>0</a:t>
                      </a:r>
                      <a:endParaRPr sz="1050">
                        <a:latin typeface="Tahoma"/>
                        <a:cs typeface="Tahoma"/>
                      </a:endParaRPr>
                    </a:p>
                  </a:txBody>
                  <a:tcPr marL="0" marR="0" marT="996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785"/>
                        </a:spcBef>
                      </a:pPr>
                      <a:r>
                        <a:rPr sz="1050" dirty="0">
                          <a:latin typeface="Tahoma"/>
                          <a:cs typeface="Tahoma"/>
                        </a:rPr>
                        <a:t>0</a:t>
                      </a:r>
                      <a:endParaRPr sz="1050">
                        <a:latin typeface="Tahoma"/>
                        <a:cs typeface="Tahoma"/>
                      </a:endParaRPr>
                    </a:p>
                  </a:txBody>
                  <a:tcPr marL="0" marR="0" marT="996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785"/>
                        </a:spcBef>
                      </a:pPr>
                      <a:r>
                        <a:rPr sz="1050" dirty="0">
                          <a:latin typeface="Tahoma"/>
                          <a:cs typeface="Tahoma"/>
                        </a:rPr>
                        <a:t>0</a:t>
                      </a:r>
                    </a:p>
                  </a:txBody>
                  <a:tcPr marL="0" marR="0" marT="996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785"/>
                        </a:spcBef>
                      </a:pPr>
                      <a:r>
                        <a:rPr sz="1050" dirty="0">
                          <a:latin typeface="Tahoma"/>
                          <a:cs typeface="Tahoma"/>
                        </a:rPr>
                        <a:t>0</a:t>
                      </a:r>
                      <a:endParaRPr sz="1050">
                        <a:latin typeface="Tahoma"/>
                        <a:cs typeface="Tahoma"/>
                      </a:endParaRPr>
                    </a:p>
                  </a:txBody>
                  <a:tcPr marL="0" marR="0" marT="996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785"/>
                        </a:spcBef>
                      </a:pPr>
                      <a:r>
                        <a:rPr sz="1050" dirty="0">
                          <a:latin typeface="Tahoma"/>
                          <a:cs typeface="Tahoma"/>
                        </a:rPr>
                        <a:t>0</a:t>
                      </a:r>
                    </a:p>
                  </a:txBody>
                  <a:tcPr marL="0" marR="0" marT="996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4"/>
                  </a:ext>
                </a:extLst>
              </a:tr>
            </a:tbl>
          </a:graphicData>
        </a:graphic>
      </p:graphicFrame>
      <p:sp>
        <p:nvSpPr>
          <p:cNvPr id="4" name="object 4"/>
          <p:cNvSpPr txBox="1"/>
          <p:nvPr/>
        </p:nvSpPr>
        <p:spPr>
          <a:xfrm>
            <a:off x="618236" y="2856687"/>
            <a:ext cx="10914952" cy="1172116"/>
          </a:xfrm>
          <a:prstGeom prst="rect">
            <a:avLst/>
          </a:prstGeom>
        </p:spPr>
        <p:txBody>
          <a:bodyPr vert="horz" wrap="square" lIns="0" tIns="12700" rIns="0" bIns="0" rtlCol="0">
            <a:spAutoFit/>
          </a:bodyPr>
          <a:lstStyle/>
          <a:p>
            <a:pPr marL="12700">
              <a:lnSpc>
                <a:spcPts val="1370"/>
              </a:lnSpc>
              <a:spcBef>
                <a:spcPts val="100"/>
              </a:spcBef>
            </a:pPr>
            <a:r>
              <a:rPr sz="1600" spc="-30" dirty="0">
                <a:cs typeface="Tahoma"/>
              </a:rPr>
              <a:t>To</a:t>
            </a:r>
            <a:r>
              <a:rPr sz="1600" spc="-60" dirty="0">
                <a:cs typeface="Tahoma"/>
              </a:rPr>
              <a:t> </a:t>
            </a:r>
            <a:r>
              <a:rPr sz="1600" spc="20" dirty="0">
                <a:cs typeface="Tahoma"/>
              </a:rPr>
              <a:t>select</a:t>
            </a:r>
            <a:r>
              <a:rPr sz="1600" spc="-50" dirty="0">
                <a:cs typeface="Tahoma"/>
              </a:rPr>
              <a:t> </a:t>
            </a:r>
            <a:r>
              <a:rPr sz="1600" spc="20" dirty="0">
                <a:cs typeface="Tahoma"/>
              </a:rPr>
              <a:t>the</a:t>
            </a:r>
            <a:r>
              <a:rPr sz="1600" spc="-70" dirty="0">
                <a:cs typeface="Tahoma"/>
              </a:rPr>
              <a:t> </a:t>
            </a:r>
            <a:r>
              <a:rPr sz="1600" dirty="0">
                <a:cs typeface="Tahoma"/>
              </a:rPr>
              <a:t>next</a:t>
            </a:r>
            <a:r>
              <a:rPr sz="1600" spc="-65" dirty="0">
                <a:cs typeface="Tahoma"/>
              </a:rPr>
              <a:t> </a:t>
            </a:r>
            <a:r>
              <a:rPr sz="1600" spc="25" dirty="0">
                <a:cs typeface="Tahoma"/>
              </a:rPr>
              <a:t>token</a:t>
            </a:r>
            <a:r>
              <a:rPr sz="1600" spc="-60" dirty="0">
                <a:cs typeface="Tahoma"/>
              </a:rPr>
              <a:t> </a:t>
            </a:r>
            <a:r>
              <a:rPr sz="1600" spc="30" dirty="0">
                <a:cs typeface="Tahoma"/>
              </a:rPr>
              <a:t>to</a:t>
            </a:r>
            <a:r>
              <a:rPr sz="1600" spc="-65" dirty="0">
                <a:cs typeface="Tahoma"/>
              </a:rPr>
              <a:t> </a:t>
            </a:r>
            <a:r>
              <a:rPr sz="1600" spc="15" dirty="0">
                <a:cs typeface="Tahoma"/>
              </a:rPr>
              <a:t>generate,</a:t>
            </a:r>
            <a:r>
              <a:rPr sz="1600" spc="-80" dirty="0">
                <a:cs typeface="Tahoma"/>
              </a:rPr>
              <a:t> </a:t>
            </a:r>
            <a:r>
              <a:rPr sz="1600" spc="25" dirty="0">
                <a:cs typeface="Tahoma"/>
              </a:rPr>
              <a:t>we</a:t>
            </a:r>
            <a:r>
              <a:rPr sz="1600" spc="-60" dirty="0">
                <a:cs typeface="Tahoma"/>
              </a:rPr>
              <a:t> </a:t>
            </a:r>
            <a:r>
              <a:rPr sz="1600" spc="15" dirty="0">
                <a:cs typeface="Tahoma"/>
              </a:rPr>
              <a:t>will</a:t>
            </a:r>
            <a:r>
              <a:rPr sz="1600" spc="-65" dirty="0">
                <a:cs typeface="Tahoma"/>
              </a:rPr>
              <a:t> </a:t>
            </a:r>
            <a:r>
              <a:rPr sz="1600" spc="35" dirty="0">
                <a:cs typeface="Tahoma"/>
              </a:rPr>
              <a:t>check</a:t>
            </a:r>
            <a:r>
              <a:rPr sz="1600" spc="-60" dirty="0">
                <a:cs typeface="Tahoma"/>
              </a:rPr>
              <a:t> </a:t>
            </a:r>
            <a:r>
              <a:rPr sz="1600" spc="20" dirty="0">
                <a:cs typeface="Tahoma"/>
              </a:rPr>
              <a:t>the</a:t>
            </a:r>
            <a:r>
              <a:rPr sz="1600" spc="-80" dirty="0">
                <a:cs typeface="Tahoma"/>
              </a:rPr>
              <a:t> </a:t>
            </a:r>
            <a:r>
              <a:rPr sz="1600" spc="60" dirty="0">
                <a:cs typeface="Tahoma"/>
              </a:rPr>
              <a:t>embedding</a:t>
            </a:r>
            <a:r>
              <a:rPr sz="1600" spc="-55" dirty="0">
                <a:cs typeface="Tahoma"/>
              </a:rPr>
              <a:t> </a:t>
            </a:r>
            <a:r>
              <a:rPr sz="1600" spc="40" dirty="0">
                <a:cs typeface="Tahoma"/>
              </a:rPr>
              <a:t>corresponding</a:t>
            </a:r>
            <a:r>
              <a:rPr sz="1600" spc="-10" dirty="0">
                <a:cs typeface="Tahoma"/>
              </a:rPr>
              <a:t> </a:t>
            </a:r>
            <a:r>
              <a:rPr sz="1600" spc="30" dirty="0">
                <a:cs typeface="Tahoma"/>
              </a:rPr>
              <a:t>to</a:t>
            </a:r>
            <a:r>
              <a:rPr sz="1600" spc="-80" dirty="0">
                <a:cs typeface="Tahoma"/>
              </a:rPr>
              <a:t> </a:t>
            </a:r>
            <a:r>
              <a:rPr sz="1600" spc="20" dirty="0">
                <a:cs typeface="Tahoma"/>
              </a:rPr>
              <a:t>the</a:t>
            </a:r>
            <a:r>
              <a:rPr sz="1600" spc="-70" dirty="0">
                <a:cs typeface="Tahoma"/>
              </a:rPr>
              <a:t> </a:t>
            </a:r>
            <a:r>
              <a:rPr sz="1600" spc="-5" dirty="0">
                <a:cs typeface="Tahoma"/>
              </a:rPr>
              <a:t>last</a:t>
            </a:r>
            <a:r>
              <a:rPr sz="1600" spc="-60" dirty="0">
                <a:cs typeface="Tahoma"/>
              </a:rPr>
              <a:t> </a:t>
            </a:r>
            <a:r>
              <a:rPr sz="1600" spc="45" dirty="0">
                <a:cs typeface="Tahoma"/>
              </a:rPr>
              <a:t>non-padding</a:t>
            </a:r>
            <a:r>
              <a:rPr sz="1600" spc="-45" dirty="0">
                <a:cs typeface="Tahoma"/>
              </a:rPr>
              <a:t> </a:t>
            </a:r>
            <a:r>
              <a:rPr sz="1600" spc="10" dirty="0">
                <a:cs typeface="Tahoma"/>
              </a:rPr>
              <a:t>token,</a:t>
            </a:r>
            <a:r>
              <a:rPr sz="1600" spc="-95" dirty="0">
                <a:cs typeface="Tahoma"/>
              </a:rPr>
              <a:t> </a:t>
            </a:r>
            <a:r>
              <a:rPr sz="1600" spc="20" dirty="0">
                <a:cs typeface="Tahoma"/>
              </a:rPr>
              <a:t>which</a:t>
            </a:r>
            <a:r>
              <a:rPr sz="1600" spc="-55" dirty="0">
                <a:cs typeface="Tahoma"/>
              </a:rPr>
              <a:t> </a:t>
            </a:r>
            <a:r>
              <a:rPr sz="1600" spc="5" dirty="0">
                <a:cs typeface="Tahoma"/>
              </a:rPr>
              <a:t>are</a:t>
            </a:r>
            <a:r>
              <a:rPr sz="1600" spc="-55" dirty="0">
                <a:cs typeface="Tahoma"/>
              </a:rPr>
              <a:t> </a:t>
            </a:r>
            <a:r>
              <a:rPr sz="1600" spc="40" dirty="0">
                <a:cs typeface="Tahoma"/>
              </a:rPr>
              <a:t>highlighted</a:t>
            </a:r>
            <a:r>
              <a:rPr sz="1600" spc="-55" dirty="0">
                <a:cs typeface="Tahoma"/>
              </a:rPr>
              <a:t> </a:t>
            </a:r>
            <a:r>
              <a:rPr sz="1600" spc="25" dirty="0">
                <a:cs typeface="Tahoma"/>
              </a:rPr>
              <a:t>in</a:t>
            </a:r>
            <a:endParaRPr sz="1600" dirty="0">
              <a:cs typeface="Tahoma"/>
            </a:endParaRPr>
          </a:p>
          <a:p>
            <a:pPr marL="12700">
              <a:lnSpc>
                <a:spcPts val="1370"/>
              </a:lnSpc>
            </a:pPr>
            <a:r>
              <a:rPr sz="1600" spc="15" dirty="0">
                <a:cs typeface="Tahoma"/>
              </a:rPr>
              <a:t>the</a:t>
            </a:r>
            <a:r>
              <a:rPr sz="1600" spc="-70" dirty="0">
                <a:cs typeface="Tahoma"/>
              </a:rPr>
              <a:t> </a:t>
            </a:r>
            <a:r>
              <a:rPr sz="1600" spc="25" dirty="0">
                <a:cs typeface="Tahoma"/>
              </a:rPr>
              <a:t>output</a:t>
            </a:r>
            <a:r>
              <a:rPr sz="1600" spc="-75" dirty="0">
                <a:cs typeface="Tahoma"/>
              </a:rPr>
              <a:t> </a:t>
            </a:r>
            <a:r>
              <a:rPr sz="1600" spc="25" dirty="0">
                <a:cs typeface="Tahoma"/>
              </a:rPr>
              <a:t>above.</a:t>
            </a:r>
            <a:r>
              <a:rPr sz="1600" spc="-110" dirty="0">
                <a:cs typeface="Tahoma"/>
              </a:rPr>
              <a:t> </a:t>
            </a:r>
            <a:r>
              <a:rPr sz="1600" spc="30" dirty="0">
                <a:cs typeface="Tahoma"/>
              </a:rPr>
              <a:t>Because</a:t>
            </a:r>
            <a:r>
              <a:rPr sz="1600" spc="-50" dirty="0">
                <a:cs typeface="Tahoma"/>
              </a:rPr>
              <a:t> </a:t>
            </a:r>
            <a:r>
              <a:rPr sz="1600" spc="35" dirty="0">
                <a:cs typeface="Tahoma"/>
              </a:rPr>
              <a:t>our</a:t>
            </a:r>
            <a:r>
              <a:rPr sz="1600" spc="-60" dirty="0">
                <a:cs typeface="Tahoma"/>
              </a:rPr>
              <a:t> </a:t>
            </a:r>
            <a:r>
              <a:rPr sz="1600" spc="50" dirty="0">
                <a:cs typeface="Tahoma"/>
              </a:rPr>
              <a:t>modal</a:t>
            </a:r>
            <a:r>
              <a:rPr sz="1600" spc="-65" dirty="0">
                <a:cs typeface="Tahoma"/>
              </a:rPr>
              <a:t> </a:t>
            </a:r>
            <a:r>
              <a:rPr sz="1600" spc="10" dirty="0">
                <a:cs typeface="Tahoma"/>
              </a:rPr>
              <a:t>is</a:t>
            </a:r>
            <a:r>
              <a:rPr sz="1600" spc="-65" dirty="0">
                <a:cs typeface="Tahoma"/>
              </a:rPr>
              <a:t> </a:t>
            </a:r>
            <a:r>
              <a:rPr sz="1600" spc="15" dirty="0">
                <a:cs typeface="Tahoma"/>
              </a:rPr>
              <a:t>an</a:t>
            </a:r>
            <a:r>
              <a:rPr sz="1600" spc="-70" dirty="0">
                <a:cs typeface="Tahoma"/>
              </a:rPr>
              <a:t> </a:t>
            </a:r>
            <a:r>
              <a:rPr sz="1600" spc="25" dirty="0">
                <a:cs typeface="Tahoma"/>
              </a:rPr>
              <a:t>LLM,</a:t>
            </a:r>
            <a:r>
              <a:rPr sz="1600" spc="-105" dirty="0">
                <a:cs typeface="Tahoma"/>
              </a:rPr>
              <a:t> </a:t>
            </a:r>
            <a:r>
              <a:rPr sz="1600" spc="25" dirty="0">
                <a:cs typeface="Tahoma"/>
              </a:rPr>
              <a:t>we</a:t>
            </a:r>
            <a:r>
              <a:rPr sz="1600" spc="-70" dirty="0">
                <a:cs typeface="Tahoma"/>
              </a:rPr>
              <a:t> </a:t>
            </a:r>
            <a:r>
              <a:rPr sz="1600" spc="15" dirty="0">
                <a:cs typeface="Tahoma"/>
              </a:rPr>
              <a:t>will</a:t>
            </a:r>
            <a:r>
              <a:rPr sz="1600" spc="-75" dirty="0">
                <a:cs typeface="Tahoma"/>
              </a:rPr>
              <a:t> </a:t>
            </a:r>
            <a:r>
              <a:rPr sz="1600" spc="35" dirty="0">
                <a:cs typeface="Tahoma"/>
              </a:rPr>
              <a:t>apply</a:t>
            </a:r>
            <a:r>
              <a:rPr sz="1600" spc="-60" dirty="0">
                <a:cs typeface="Tahoma"/>
              </a:rPr>
              <a:t> </a:t>
            </a:r>
            <a:r>
              <a:rPr sz="1600" spc="10" dirty="0">
                <a:cs typeface="Tahoma"/>
              </a:rPr>
              <a:t>a</a:t>
            </a:r>
            <a:r>
              <a:rPr sz="1600" spc="-70" dirty="0">
                <a:cs typeface="Tahoma"/>
              </a:rPr>
              <a:t> </a:t>
            </a:r>
            <a:r>
              <a:rPr sz="1600" spc="15" dirty="0">
                <a:cs typeface="Tahoma"/>
              </a:rPr>
              <a:t>causal</a:t>
            </a:r>
            <a:r>
              <a:rPr sz="1600" spc="-50" dirty="0">
                <a:cs typeface="Tahoma"/>
              </a:rPr>
              <a:t> </a:t>
            </a:r>
            <a:r>
              <a:rPr sz="1600" dirty="0">
                <a:cs typeface="Tahoma"/>
              </a:rPr>
              <a:t>mask.</a:t>
            </a:r>
            <a:r>
              <a:rPr sz="1600" spc="-120" dirty="0">
                <a:cs typeface="Tahoma"/>
              </a:rPr>
              <a:t> </a:t>
            </a:r>
            <a:r>
              <a:rPr sz="1600" dirty="0">
                <a:cs typeface="Tahoma"/>
              </a:rPr>
              <a:t>This</a:t>
            </a:r>
            <a:r>
              <a:rPr sz="1600" spc="-55" dirty="0">
                <a:cs typeface="Tahoma"/>
              </a:rPr>
              <a:t> </a:t>
            </a:r>
            <a:r>
              <a:rPr sz="1600" spc="10" dirty="0">
                <a:cs typeface="Tahoma"/>
              </a:rPr>
              <a:t>mask</a:t>
            </a:r>
            <a:r>
              <a:rPr sz="1600" spc="-55" dirty="0">
                <a:cs typeface="Tahoma"/>
              </a:rPr>
              <a:t> </a:t>
            </a:r>
            <a:r>
              <a:rPr sz="1600" spc="15" dirty="0">
                <a:cs typeface="Tahoma"/>
              </a:rPr>
              <a:t>works</a:t>
            </a:r>
            <a:r>
              <a:rPr sz="1600" spc="-55" dirty="0">
                <a:cs typeface="Tahoma"/>
              </a:rPr>
              <a:t> </a:t>
            </a:r>
            <a:r>
              <a:rPr sz="1600" spc="15" dirty="0">
                <a:cs typeface="Tahoma"/>
              </a:rPr>
              <a:t>fine</a:t>
            </a:r>
            <a:r>
              <a:rPr sz="1600" spc="-65" dirty="0">
                <a:cs typeface="Tahoma"/>
              </a:rPr>
              <a:t> </a:t>
            </a:r>
            <a:r>
              <a:rPr sz="1600" spc="10" dirty="0">
                <a:cs typeface="Tahoma"/>
              </a:rPr>
              <a:t>for</a:t>
            </a:r>
            <a:r>
              <a:rPr sz="1600" spc="-55" dirty="0">
                <a:cs typeface="Tahoma"/>
              </a:rPr>
              <a:t> </a:t>
            </a:r>
            <a:r>
              <a:rPr sz="1600" spc="20" dirty="0">
                <a:cs typeface="Tahoma"/>
              </a:rPr>
              <a:t>all</a:t>
            </a:r>
            <a:r>
              <a:rPr sz="1600" spc="-75" dirty="0">
                <a:cs typeface="Tahoma"/>
              </a:rPr>
              <a:t> </a:t>
            </a:r>
            <a:r>
              <a:rPr sz="1600" spc="15" dirty="0">
                <a:cs typeface="Tahoma"/>
              </a:rPr>
              <a:t>the</a:t>
            </a:r>
            <a:r>
              <a:rPr sz="1600" spc="-70" dirty="0">
                <a:cs typeface="Tahoma"/>
              </a:rPr>
              <a:t> </a:t>
            </a:r>
            <a:r>
              <a:rPr sz="1600" spc="15" dirty="0">
                <a:cs typeface="Tahoma"/>
              </a:rPr>
              <a:t>three</a:t>
            </a:r>
            <a:r>
              <a:rPr sz="1600" spc="-65" dirty="0">
                <a:cs typeface="Tahoma"/>
              </a:rPr>
              <a:t> </a:t>
            </a:r>
            <a:r>
              <a:rPr sz="1600" spc="25" dirty="0">
                <a:cs typeface="Tahoma"/>
              </a:rPr>
              <a:t>sequences.</a:t>
            </a:r>
            <a:endParaRPr sz="1600" dirty="0">
              <a:cs typeface="Tahoma"/>
            </a:endParaRPr>
          </a:p>
          <a:p>
            <a:pPr marL="3632200">
              <a:lnSpc>
                <a:spcPct val="100000"/>
              </a:lnSpc>
              <a:spcBef>
                <a:spcPts val="1045"/>
              </a:spcBef>
            </a:pPr>
            <a:r>
              <a:rPr sz="1600" spc="40" dirty="0">
                <a:cs typeface="Tahoma"/>
              </a:rPr>
              <a:t>We</a:t>
            </a:r>
            <a:r>
              <a:rPr sz="1600" spc="-70" dirty="0">
                <a:cs typeface="Tahoma"/>
              </a:rPr>
              <a:t> </a:t>
            </a:r>
            <a:r>
              <a:rPr sz="1600" b="1" spc="-30" dirty="0">
                <a:cs typeface="Tahoma"/>
              </a:rPr>
              <a:t>cannot</a:t>
            </a:r>
            <a:r>
              <a:rPr sz="1600" b="1" spc="-65" dirty="0">
                <a:cs typeface="Tahoma"/>
              </a:rPr>
              <a:t> </a:t>
            </a:r>
            <a:r>
              <a:rPr sz="1600" spc="20" dirty="0">
                <a:cs typeface="Tahoma"/>
              </a:rPr>
              <a:t>use</a:t>
            </a:r>
            <a:r>
              <a:rPr sz="1600" spc="-70" dirty="0">
                <a:cs typeface="Tahoma"/>
              </a:rPr>
              <a:t> </a:t>
            </a:r>
            <a:r>
              <a:rPr sz="1600" spc="10" dirty="0">
                <a:cs typeface="Tahoma"/>
              </a:rPr>
              <a:t>a</a:t>
            </a:r>
            <a:r>
              <a:rPr sz="1600" spc="-80" dirty="0">
                <a:cs typeface="Tahoma"/>
              </a:rPr>
              <a:t> </a:t>
            </a:r>
            <a:r>
              <a:rPr sz="1600" spc="10" dirty="0">
                <a:cs typeface="Tahoma"/>
              </a:rPr>
              <a:t>different</a:t>
            </a:r>
            <a:r>
              <a:rPr sz="1600" spc="-65" dirty="0">
                <a:cs typeface="Tahoma"/>
              </a:rPr>
              <a:t> </a:t>
            </a:r>
            <a:r>
              <a:rPr sz="1600" spc="10" dirty="0">
                <a:cs typeface="Tahoma"/>
              </a:rPr>
              <a:t>mask</a:t>
            </a:r>
            <a:r>
              <a:rPr sz="1600" spc="-50" dirty="0">
                <a:cs typeface="Tahoma"/>
              </a:rPr>
              <a:t> </a:t>
            </a:r>
            <a:r>
              <a:rPr sz="1600" spc="15" dirty="0">
                <a:cs typeface="Tahoma"/>
              </a:rPr>
              <a:t>for</a:t>
            </a:r>
            <a:r>
              <a:rPr sz="1600" spc="-70" dirty="0">
                <a:cs typeface="Tahoma"/>
              </a:rPr>
              <a:t> </a:t>
            </a:r>
            <a:r>
              <a:rPr sz="1600" spc="25" dirty="0">
                <a:cs typeface="Tahoma"/>
              </a:rPr>
              <a:t>each</a:t>
            </a:r>
            <a:r>
              <a:rPr sz="1600" spc="-70" dirty="0">
                <a:cs typeface="Tahoma"/>
              </a:rPr>
              <a:t> </a:t>
            </a:r>
            <a:r>
              <a:rPr sz="1600" spc="25" dirty="0">
                <a:cs typeface="Tahoma"/>
              </a:rPr>
              <a:t>prompt,</a:t>
            </a:r>
            <a:r>
              <a:rPr sz="1600" spc="-90" dirty="0">
                <a:cs typeface="Tahoma"/>
              </a:rPr>
              <a:t> </a:t>
            </a:r>
            <a:r>
              <a:rPr sz="1600" spc="35" dirty="0">
                <a:cs typeface="Tahoma"/>
              </a:rPr>
              <a:t>because</a:t>
            </a:r>
            <a:r>
              <a:rPr sz="1600" spc="-65" dirty="0">
                <a:cs typeface="Tahoma"/>
              </a:rPr>
              <a:t> </a:t>
            </a:r>
            <a:r>
              <a:rPr sz="1600" spc="20" dirty="0">
                <a:cs typeface="Tahoma"/>
              </a:rPr>
              <a:t>all</a:t>
            </a:r>
            <a:r>
              <a:rPr sz="1600" spc="-75" dirty="0">
                <a:cs typeface="Tahoma"/>
              </a:rPr>
              <a:t> </a:t>
            </a:r>
            <a:r>
              <a:rPr sz="1600" spc="20" dirty="0">
                <a:cs typeface="Tahoma"/>
              </a:rPr>
              <a:t>the</a:t>
            </a:r>
            <a:r>
              <a:rPr sz="1600" spc="-90" dirty="0">
                <a:cs typeface="Tahoma"/>
              </a:rPr>
              <a:t> </a:t>
            </a:r>
            <a:r>
              <a:rPr sz="1600" spc="35" dirty="0">
                <a:cs typeface="Tahoma"/>
              </a:rPr>
              <a:t>prompts</a:t>
            </a:r>
            <a:endParaRPr sz="1600" dirty="0">
              <a:cs typeface="Tahoma"/>
            </a:endParaRPr>
          </a:p>
          <a:p>
            <a:pPr marL="3632200">
              <a:lnSpc>
                <a:spcPct val="100000"/>
              </a:lnSpc>
            </a:pPr>
            <a:r>
              <a:rPr sz="1600" spc="10" dirty="0">
                <a:cs typeface="Tahoma"/>
              </a:rPr>
              <a:t>are</a:t>
            </a:r>
            <a:r>
              <a:rPr sz="1600" spc="-70" dirty="0">
                <a:cs typeface="Tahoma"/>
              </a:rPr>
              <a:t> </a:t>
            </a:r>
            <a:r>
              <a:rPr sz="1600" spc="25" dirty="0">
                <a:cs typeface="Tahoma"/>
              </a:rPr>
              <a:t>of</a:t>
            </a:r>
            <a:r>
              <a:rPr sz="1600" spc="-50" dirty="0">
                <a:cs typeface="Tahoma"/>
              </a:rPr>
              <a:t> </a:t>
            </a:r>
            <a:r>
              <a:rPr sz="1600" spc="15" dirty="0">
                <a:cs typeface="Tahoma"/>
              </a:rPr>
              <a:t>the</a:t>
            </a:r>
            <a:r>
              <a:rPr sz="1600" spc="-70" dirty="0">
                <a:cs typeface="Tahoma"/>
              </a:rPr>
              <a:t> </a:t>
            </a:r>
            <a:r>
              <a:rPr sz="1600" spc="20" dirty="0">
                <a:cs typeface="Tahoma"/>
              </a:rPr>
              <a:t>same</a:t>
            </a:r>
            <a:r>
              <a:rPr sz="1600" spc="-55" dirty="0">
                <a:cs typeface="Tahoma"/>
              </a:rPr>
              <a:t> </a:t>
            </a:r>
            <a:r>
              <a:rPr sz="1600" spc="20" dirty="0">
                <a:cs typeface="Tahoma"/>
              </a:rPr>
              <a:t>length,</a:t>
            </a:r>
            <a:r>
              <a:rPr sz="1600" spc="-100" dirty="0">
                <a:cs typeface="Tahoma"/>
              </a:rPr>
              <a:t> </a:t>
            </a:r>
            <a:r>
              <a:rPr sz="1600" spc="35" dirty="0">
                <a:cs typeface="Tahoma"/>
              </a:rPr>
              <a:t>so</a:t>
            </a:r>
            <a:r>
              <a:rPr sz="1600" spc="-60" dirty="0">
                <a:cs typeface="Tahoma"/>
              </a:rPr>
              <a:t> </a:t>
            </a:r>
            <a:r>
              <a:rPr sz="1600" spc="15" dirty="0">
                <a:cs typeface="Tahoma"/>
              </a:rPr>
              <a:t>the</a:t>
            </a:r>
            <a:r>
              <a:rPr sz="1600" spc="-75" dirty="0">
                <a:cs typeface="Tahoma"/>
              </a:rPr>
              <a:t> </a:t>
            </a:r>
            <a:r>
              <a:rPr sz="1600" spc="10" dirty="0">
                <a:cs typeface="Tahoma"/>
              </a:rPr>
              <a:t>mask</a:t>
            </a:r>
            <a:r>
              <a:rPr sz="1600" spc="-65" dirty="0">
                <a:cs typeface="Tahoma"/>
              </a:rPr>
              <a:t> </a:t>
            </a:r>
            <a:r>
              <a:rPr sz="1600" spc="5" dirty="0">
                <a:cs typeface="Tahoma"/>
              </a:rPr>
              <a:t>must</a:t>
            </a:r>
            <a:r>
              <a:rPr sz="1600" spc="-60" dirty="0">
                <a:cs typeface="Tahoma"/>
              </a:rPr>
              <a:t> </a:t>
            </a:r>
            <a:r>
              <a:rPr sz="1600" spc="75" dirty="0">
                <a:cs typeface="Tahoma"/>
              </a:rPr>
              <a:t>be</a:t>
            </a:r>
            <a:r>
              <a:rPr sz="1600" spc="-75" dirty="0">
                <a:cs typeface="Tahoma"/>
              </a:rPr>
              <a:t> </a:t>
            </a:r>
            <a:r>
              <a:rPr sz="1600" spc="15" dirty="0">
                <a:cs typeface="Tahoma"/>
              </a:rPr>
              <a:t>5x5</a:t>
            </a:r>
            <a:r>
              <a:rPr sz="1600" spc="-65" dirty="0">
                <a:cs typeface="Tahoma"/>
              </a:rPr>
              <a:t> </a:t>
            </a:r>
            <a:r>
              <a:rPr sz="1600" spc="10" dirty="0">
                <a:cs typeface="Tahoma"/>
              </a:rPr>
              <a:t>for</a:t>
            </a:r>
            <a:r>
              <a:rPr sz="1600" spc="-60" dirty="0">
                <a:cs typeface="Tahoma"/>
              </a:rPr>
              <a:t> </a:t>
            </a:r>
            <a:r>
              <a:rPr sz="1600" spc="30" dirty="0">
                <a:cs typeface="Tahoma"/>
              </a:rPr>
              <a:t>each</a:t>
            </a:r>
            <a:r>
              <a:rPr sz="1600" spc="-70" dirty="0">
                <a:cs typeface="Tahoma"/>
              </a:rPr>
              <a:t> </a:t>
            </a:r>
            <a:r>
              <a:rPr sz="1600" spc="35" dirty="0">
                <a:cs typeface="Tahoma"/>
              </a:rPr>
              <a:t>prompt!</a:t>
            </a:r>
            <a:endParaRPr sz="1600" dirty="0">
              <a:cs typeface="Tahoma"/>
            </a:endParaRPr>
          </a:p>
        </p:txBody>
      </p:sp>
      <p:sp>
        <p:nvSpPr>
          <p:cNvPr id="5" name="object 5"/>
          <p:cNvSpPr txBox="1"/>
          <p:nvPr/>
        </p:nvSpPr>
        <p:spPr>
          <a:xfrm>
            <a:off x="4237990" y="4763261"/>
            <a:ext cx="7295198" cy="505267"/>
          </a:xfrm>
          <a:prstGeom prst="rect">
            <a:avLst/>
          </a:prstGeom>
        </p:spPr>
        <p:txBody>
          <a:bodyPr vert="horz" wrap="square" lIns="0" tIns="12700" rIns="0" bIns="0" rtlCol="0">
            <a:spAutoFit/>
          </a:bodyPr>
          <a:lstStyle/>
          <a:p>
            <a:pPr marL="12700">
              <a:lnSpc>
                <a:spcPct val="100000"/>
              </a:lnSpc>
              <a:spcBef>
                <a:spcPts val="100"/>
              </a:spcBef>
            </a:pPr>
            <a:r>
              <a:rPr sz="1600" b="1" spc="-35" dirty="0">
                <a:cs typeface="Tahoma"/>
              </a:rPr>
              <a:t>The</a:t>
            </a:r>
            <a:r>
              <a:rPr sz="1600" b="1" spc="-65" dirty="0">
                <a:cs typeface="Tahoma"/>
              </a:rPr>
              <a:t> </a:t>
            </a:r>
            <a:r>
              <a:rPr sz="1600" b="1" spc="-5" dirty="0">
                <a:cs typeface="Tahoma"/>
              </a:rPr>
              <a:t>problem</a:t>
            </a:r>
            <a:r>
              <a:rPr sz="1600" b="1" spc="-60" dirty="0">
                <a:cs typeface="Tahoma"/>
              </a:rPr>
              <a:t> </a:t>
            </a:r>
            <a:r>
              <a:rPr sz="1600" b="1" spc="-25" dirty="0">
                <a:cs typeface="Tahoma"/>
              </a:rPr>
              <a:t>here</a:t>
            </a:r>
            <a:r>
              <a:rPr sz="1600" b="1" spc="-70" dirty="0">
                <a:cs typeface="Tahoma"/>
              </a:rPr>
              <a:t> </a:t>
            </a:r>
            <a:r>
              <a:rPr sz="1600" b="1" spc="-30" dirty="0">
                <a:cs typeface="Tahoma"/>
              </a:rPr>
              <a:t>is</a:t>
            </a:r>
            <a:r>
              <a:rPr sz="1600" b="1" spc="-70" dirty="0">
                <a:cs typeface="Tahoma"/>
              </a:rPr>
              <a:t> </a:t>
            </a:r>
            <a:r>
              <a:rPr sz="1600" b="1" spc="-50" dirty="0">
                <a:cs typeface="Tahoma"/>
              </a:rPr>
              <a:t>that </a:t>
            </a:r>
            <a:r>
              <a:rPr sz="1600" b="1" spc="-15" dirty="0">
                <a:cs typeface="Tahoma"/>
              </a:rPr>
              <a:t>we</a:t>
            </a:r>
            <a:r>
              <a:rPr sz="1600" b="1" spc="-50" dirty="0">
                <a:cs typeface="Tahoma"/>
              </a:rPr>
              <a:t> </a:t>
            </a:r>
            <a:r>
              <a:rPr sz="1600" b="1" spc="-35" dirty="0">
                <a:cs typeface="Tahoma"/>
              </a:rPr>
              <a:t>are</a:t>
            </a:r>
            <a:r>
              <a:rPr sz="1600" b="1" spc="-70" dirty="0">
                <a:cs typeface="Tahoma"/>
              </a:rPr>
              <a:t> </a:t>
            </a:r>
            <a:r>
              <a:rPr sz="1600" b="1" spc="-25" dirty="0">
                <a:cs typeface="Tahoma"/>
              </a:rPr>
              <a:t>calculating</a:t>
            </a:r>
            <a:r>
              <a:rPr sz="1600" b="1" spc="-65" dirty="0">
                <a:cs typeface="Tahoma"/>
              </a:rPr>
              <a:t> </a:t>
            </a:r>
            <a:r>
              <a:rPr sz="1600" b="1" spc="-40" dirty="0">
                <a:cs typeface="Tahoma"/>
              </a:rPr>
              <a:t>a</a:t>
            </a:r>
            <a:r>
              <a:rPr sz="1600" b="1" spc="-60" dirty="0">
                <a:cs typeface="Tahoma"/>
              </a:rPr>
              <a:t> </a:t>
            </a:r>
            <a:r>
              <a:rPr sz="1600" b="1" spc="-15" dirty="0">
                <a:cs typeface="Tahoma"/>
              </a:rPr>
              <a:t>lot</a:t>
            </a:r>
            <a:r>
              <a:rPr sz="1600" b="1" spc="-40" dirty="0">
                <a:cs typeface="Tahoma"/>
              </a:rPr>
              <a:t> </a:t>
            </a:r>
            <a:r>
              <a:rPr sz="1600" b="1" spc="-5" dirty="0">
                <a:cs typeface="Tahoma"/>
              </a:rPr>
              <a:t>of</a:t>
            </a:r>
            <a:r>
              <a:rPr sz="1600" b="1" spc="-25" dirty="0">
                <a:cs typeface="Tahoma"/>
              </a:rPr>
              <a:t> </a:t>
            </a:r>
            <a:r>
              <a:rPr sz="1600" b="1" spc="-5" dirty="0">
                <a:cs typeface="Tahoma"/>
              </a:rPr>
              <a:t>dot</a:t>
            </a:r>
            <a:r>
              <a:rPr sz="1600" b="1" spc="-40" dirty="0">
                <a:cs typeface="Tahoma"/>
              </a:rPr>
              <a:t> </a:t>
            </a:r>
            <a:r>
              <a:rPr sz="1600" b="1" spc="-20" dirty="0">
                <a:cs typeface="Tahoma"/>
              </a:rPr>
              <a:t>products,</a:t>
            </a:r>
            <a:r>
              <a:rPr sz="1600" b="1" spc="-80" dirty="0">
                <a:cs typeface="Tahoma"/>
              </a:rPr>
              <a:t> </a:t>
            </a:r>
            <a:r>
              <a:rPr sz="1600" b="1" spc="-15" dirty="0">
                <a:cs typeface="Tahoma"/>
              </a:rPr>
              <a:t>especially</a:t>
            </a:r>
            <a:r>
              <a:rPr sz="1600" b="1" spc="-80" dirty="0">
                <a:cs typeface="Tahoma"/>
              </a:rPr>
              <a:t> </a:t>
            </a:r>
            <a:r>
              <a:rPr sz="1600" b="1" spc="-20" dirty="0">
                <a:cs typeface="Tahoma"/>
              </a:rPr>
              <a:t>for</a:t>
            </a:r>
            <a:r>
              <a:rPr sz="1600" b="1" spc="-40" dirty="0">
                <a:cs typeface="Tahoma"/>
              </a:rPr>
              <a:t> </a:t>
            </a:r>
            <a:r>
              <a:rPr sz="1600" b="1" spc="-30" dirty="0">
                <a:cs typeface="Tahoma"/>
              </a:rPr>
              <a:t>the</a:t>
            </a:r>
            <a:r>
              <a:rPr sz="1600" b="1" spc="-55" dirty="0">
                <a:cs typeface="Tahoma"/>
              </a:rPr>
              <a:t> </a:t>
            </a:r>
            <a:r>
              <a:rPr sz="1600" b="1" spc="-40" dirty="0">
                <a:cs typeface="Tahoma"/>
              </a:rPr>
              <a:t>first</a:t>
            </a:r>
            <a:endParaRPr sz="1600" dirty="0">
              <a:cs typeface="Tahoma"/>
            </a:endParaRPr>
          </a:p>
          <a:p>
            <a:pPr marL="12700">
              <a:lnSpc>
                <a:spcPct val="100000"/>
              </a:lnSpc>
            </a:pPr>
            <a:r>
              <a:rPr sz="1600" b="1" spc="-15" dirty="0">
                <a:cs typeface="Tahoma"/>
              </a:rPr>
              <a:t>and</a:t>
            </a:r>
            <a:r>
              <a:rPr sz="1600" b="1" spc="-75" dirty="0">
                <a:cs typeface="Tahoma"/>
              </a:rPr>
              <a:t> </a:t>
            </a:r>
            <a:r>
              <a:rPr sz="1600" b="1" spc="-30" dirty="0">
                <a:cs typeface="Tahoma"/>
              </a:rPr>
              <a:t>the</a:t>
            </a:r>
            <a:r>
              <a:rPr sz="1600" b="1" spc="-45" dirty="0">
                <a:cs typeface="Tahoma"/>
              </a:rPr>
              <a:t> </a:t>
            </a:r>
            <a:r>
              <a:rPr sz="1600" b="1" spc="-15" dirty="0">
                <a:cs typeface="Tahoma"/>
              </a:rPr>
              <a:t>second</a:t>
            </a:r>
            <a:r>
              <a:rPr sz="1600" b="1" spc="-60" dirty="0">
                <a:cs typeface="Tahoma"/>
              </a:rPr>
              <a:t> </a:t>
            </a:r>
            <a:r>
              <a:rPr sz="1600" b="1" spc="-15" dirty="0">
                <a:cs typeface="Tahoma"/>
              </a:rPr>
              <a:t>prompt</a:t>
            </a:r>
            <a:r>
              <a:rPr sz="1600" b="1" spc="-50" dirty="0">
                <a:cs typeface="Tahoma"/>
              </a:rPr>
              <a:t> that</a:t>
            </a:r>
            <a:r>
              <a:rPr sz="1600" b="1" spc="-55" dirty="0">
                <a:cs typeface="Tahoma"/>
              </a:rPr>
              <a:t> </a:t>
            </a:r>
            <a:r>
              <a:rPr sz="1600" b="1" spc="-15" dirty="0">
                <a:cs typeface="Tahoma"/>
              </a:rPr>
              <a:t>will</a:t>
            </a:r>
            <a:r>
              <a:rPr sz="1600" b="1" spc="-45" dirty="0">
                <a:cs typeface="Tahoma"/>
              </a:rPr>
              <a:t> </a:t>
            </a:r>
            <a:r>
              <a:rPr sz="1600" b="1" spc="-25" dirty="0">
                <a:cs typeface="Tahoma"/>
              </a:rPr>
              <a:t>not</a:t>
            </a:r>
            <a:r>
              <a:rPr sz="1600" b="1" spc="-45" dirty="0">
                <a:cs typeface="Tahoma"/>
              </a:rPr>
              <a:t> </a:t>
            </a:r>
            <a:r>
              <a:rPr sz="1600" b="1" spc="15" dirty="0">
                <a:cs typeface="Tahoma"/>
              </a:rPr>
              <a:t>be</a:t>
            </a:r>
            <a:r>
              <a:rPr sz="1600" b="1" spc="-55" dirty="0">
                <a:cs typeface="Tahoma"/>
              </a:rPr>
              <a:t> </a:t>
            </a:r>
            <a:r>
              <a:rPr sz="1600" b="1" spc="-10" dirty="0">
                <a:cs typeface="Tahoma"/>
              </a:rPr>
              <a:t>used!</a:t>
            </a:r>
            <a:r>
              <a:rPr sz="1600" b="1" spc="-75" dirty="0">
                <a:cs typeface="Tahoma"/>
              </a:rPr>
              <a:t> </a:t>
            </a:r>
            <a:r>
              <a:rPr sz="1600" b="1" spc="-40" dirty="0">
                <a:cs typeface="Tahoma"/>
              </a:rPr>
              <a:t>Let’s</a:t>
            </a:r>
            <a:r>
              <a:rPr sz="1600" b="1" spc="-50" dirty="0">
                <a:cs typeface="Tahoma"/>
              </a:rPr>
              <a:t> </a:t>
            </a:r>
            <a:r>
              <a:rPr sz="1600" b="1" spc="-20" dirty="0">
                <a:cs typeface="Tahoma"/>
              </a:rPr>
              <a:t>see</a:t>
            </a:r>
            <a:r>
              <a:rPr sz="1600" b="1" spc="-60" dirty="0">
                <a:cs typeface="Tahoma"/>
              </a:rPr>
              <a:t> </a:t>
            </a:r>
            <a:r>
              <a:rPr sz="1600" b="1" spc="-35" dirty="0">
                <a:cs typeface="Tahoma"/>
              </a:rPr>
              <a:t>with</a:t>
            </a:r>
            <a:r>
              <a:rPr sz="1600" b="1" spc="-45" dirty="0">
                <a:cs typeface="Tahoma"/>
              </a:rPr>
              <a:t> </a:t>
            </a:r>
            <a:r>
              <a:rPr sz="1600" b="1" spc="-35" dirty="0">
                <a:cs typeface="Tahoma"/>
              </a:rPr>
              <a:t>an</a:t>
            </a:r>
            <a:r>
              <a:rPr sz="1600" b="1" spc="-70" dirty="0">
                <a:cs typeface="Tahoma"/>
              </a:rPr>
              <a:t> </a:t>
            </a:r>
            <a:r>
              <a:rPr sz="1600" b="1" spc="-15" dirty="0">
                <a:cs typeface="Tahoma"/>
              </a:rPr>
              <a:t>example.</a:t>
            </a:r>
            <a:endParaRPr sz="1600" dirty="0">
              <a:cs typeface="Tahoma"/>
            </a:endParaRPr>
          </a:p>
        </p:txBody>
      </p:sp>
      <p:graphicFrame>
        <p:nvGraphicFramePr>
          <p:cNvPr id="6" name="object 6"/>
          <p:cNvGraphicFramePr>
            <a:graphicFrameLocks noGrp="1"/>
          </p:cNvGraphicFramePr>
          <p:nvPr>
            <p:extLst>
              <p:ext uri="{D42A27DB-BD31-4B8C-83A1-F6EECF244321}">
                <p14:modId xmlns:p14="http://schemas.microsoft.com/office/powerpoint/2010/main" val="4068072400"/>
              </p:ext>
            </p:extLst>
          </p:nvPr>
        </p:nvGraphicFramePr>
        <p:xfrm>
          <a:off x="654654" y="1653981"/>
          <a:ext cx="3530598" cy="871219"/>
        </p:xfrm>
        <a:graphic>
          <a:graphicData uri="http://schemas.openxmlformats.org/drawingml/2006/table">
            <a:tbl>
              <a:tblPr firstRow="1" bandRow="1">
                <a:tableStyleId>{2D5ABB26-0587-4C30-8999-92F81FD0307C}</a:tableStyleId>
              </a:tblPr>
              <a:tblGrid>
                <a:gridCol w="706120">
                  <a:extLst>
                    <a:ext uri="{9D8B030D-6E8A-4147-A177-3AD203B41FA5}">
                      <a16:colId xmlns:a16="http://schemas.microsoft.com/office/drawing/2014/main" val="20000"/>
                    </a:ext>
                  </a:extLst>
                </a:gridCol>
                <a:gridCol w="706120">
                  <a:extLst>
                    <a:ext uri="{9D8B030D-6E8A-4147-A177-3AD203B41FA5}">
                      <a16:colId xmlns:a16="http://schemas.microsoft.com/office/drawing/2014/main" val="20001"/>
                    </a:ext>
                  </a:extLst>
                </a:gridCol>
                <a:gridCol w="706120">
                  <a:extLst>
                    <a:ext uri="{9D8B030D-6E8A-4147-A177-3AD203B41FA5}">
                      <a16:colId xmlns:a16="http://schemas.microsoft.com/office/drawing/2014/main" val="20002"/>
                    </a:ext>
                  </a:extLst>
                </a:gridCol>
                <a:gridCol w="706119">
                  <a:extLst>
                    <a:ext uri="{9D8B030D-6E8A-4147-A177-3AD203B41FA5}">
                      <a16:colId xmlns:a16="http://schemas.microsoft.com/office/drawing/2014/main" val="20003"/>
                    </a:ext>
                  </a:extLst>
                </a:gridCol>
                <a:gridCol w="706119">
                  <a:extLst>
                    <a:ext uri="{9D8B030D-6E8A-4147-A177-3AD203B41FA5}">
                      <a16:colId xmlns:a16="http://schemas.microsoft.com/office/drawing/2014/main" val="20004"/>
                    </a:ext>
                  </a:extLst>
                </a:gridCol>
              </a:tblGrid>
              <a:tr h="290448">
                <a:tc>
                  <a:txBody>
                    <a:bodyPr/>
                    <a:lstStyle/>
                    <a:p>
                      <a:pPr marL="635" algn="ctr">
                        <a:lnSpc>
                          <a:spcPct val="100000"/>
                        </a:lnSpc>
                        <a:spcBef>
                          <a:spcPts val="495"/>
                        </a:spcBef>
                      </a:pPr>
                      <a:r>
                        <a:rPr sz="1000" spc="20" dirty="0">
                          <a:latin typeface="Tahoma"/>
                          <a:cs typeface="Tahoma"/>
                        </a:rPr>
                        <a:t>Write</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495"/>
                        </a:spcBef>
                      </a:pPr>
                      <a:r>
                        <a:rPr sz="1000" dirty="0">
                          <a:latin typeface="Tahoma"/>
                          <a:cs typeface="Tahoma"/>
                        </a:rPr>
                        <a:t>a</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495"/>
                        </a:spcBef>
                      </a:pPr>
                      <a:r>
                        <a:rPr sz="1000" spc="50" dirty="0">
                          <a:latin typeface="Tahoma"/>
                          <a:cs typeface="Tahoma"/>
                        </a:rPr>
                        <a:t>poem</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495"/>
                        </a:spcBef>
                      </a:pPr>
                      <a:r>
                        <a:rPr sz="1000" b="1" spc="-45" dirty="0">
                          <a:latin typeface="Tahoma"/>
                          <a:cs typeface="Tahoma"/>
                        </a:rPr>
                        <a:t>[PAD]</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495"/>
                        </a:spcBef>
                      </a:pPr>
                      <a:r>
                        <a:rPr sz="1000" b="1" spc="-45" dirty="0">
                          <a:latin typeface="Tahoma"/>
                          <a:cs typeface="Tahoma"/>
                        </a:rPr>
                        <a:t>[PAD]</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0"/>
                  </a:ext>
                </a:extLst>
              </a:tr>
              <a:tr h="290322">
                <a:tc>
                  <a:txBody>
                    <a:bodyPr/>
                    <a:lstStyle/>
                    <a:p>
                      <a:pPr marL="635" algn="ctr">
                        <a:lnSpc>
                          <a:spcPct val="100000"/>
                        </a:lnSpc>
                        <a:spcBef>
                          <a:spcPts val="495"/>
                        </a:spcBef>
                      </a:pPr>
                      <a:r>
                        <a:rPr sz="1000" spc="20" dirty="0">
                          <a:latin typeface="Tahoma"/>
                          <a:cs typeface="Tahoma"/>
                        </a:rPr>
                        <a:t>Write</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495"/>
                        </a:spcBef>
                      </a:pPr>
                      <a:r>
                        <a:rPr sz="1000" dirty="0">
                          <a:latin typeface="Tahoma"/>
                          <a:cs typeface="Tahoma"/>
                        </a:rPr>
                        <a:t>a</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495"/>
                        </a:spcBef>
                      </a:pPr>
                      <a:r>
                        <a:rPr sz="1000" spc="15" dirty="0">
                          <a:latin typeface="Tahoma"/>
                          <a:cs typeface="Tahoma"/>
                        </a:rPr>
                        <a:t>historical</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495"/>
                        </a:spcBef>
                      </a:pPr>
                      <a:r>
                        <a:rPr sz="1000" spc="20" dirty="0">
                          <a:latin typeface="Tahoma"/>
                          <a:cs typeface="Tahoma"/>
                        </a:rPr>
                        <a:t>novel</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495"/>
                        </a:spcBef>
                      </a:pPr>
                      <a:r>
                        <a:rPr sz="1000" b="1" spc="-45" dirty="0">
                          <a:latin typeface="Tahoma"/>
                          <a:cs typeface="Tahoma"/>
                        </a:rPr>
                        <a:t>[PAD]</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1"/>
                  </a:ext>
                </a:extLst>
              </a:tr>
              <a:tr h="290449">
                <a:tc>
                  <a:txBody>
                    <a:bodyPr/>
                    <a:lstStyle/>
                    <a:p>
                      <a:pPr algn="ctr">
                        <a:lnSpc>
                          <a:spcPct val="100000"/>
                        </a:lnSpc>
                        <a:spcBef>
                          <a:spcPts val="495"/>
                        </a:spcBef>
                      </a:pPr>
                      <a:r>
                        <a:rPr sz="1000" spc="10" dirty="0">
                          <a:latin typeface="Tahoma"/>
                          <a:cs typeface="Tahoma"/>
                        </a:rPr>
                        <a:t>Tell</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495"/>
                        </a:spcBef>
                      </a:pPr>
                      <a:r>
                        <a:rPr sz="1000" spc="35" dirty="0">
                          <a:latin typeface="Tahoma"/>
                          <a:cs typeface="Tahoma"/>
                        </a:rPr>
                        <a:t>me</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495"/>
                        </a:spcBef>
                      </a:pPr>
                      <a:r>
                        <a:rPr sz="1000" dirty="0">
                          <a:latin typeface="Tahoma"/>
                          <a:cs typeface="Tahoma"/>
                        </a:rPr>
                        <a:t>a</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495"/>
                        </a:spcBef>
                      </a:pPr>
                      <a:r>
                        <a:rPr sz="1000" spc="-5" dirty="0">
                          <a:latin typeface="Tahoma"/>
                          <a:cs typeface="Tahoma"/>
                        </a:rPr>
                        <a:t>funny</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1270" algn="ctr">
                        <a:lnSpc>
                          <a:spcPct val="100000"/>
                        </a:lnSpc>
                        <a:spcBef>
                          <a:spcPts val="495"/>
                        </a:spcBef>
                      </a:pPr>
                      <a:r>
                        <a:rPr sz="1000" spc="20" dirty="0">
                          <a:latin typeface="Tahoma"/>
                          <a:cs typeface="Tahoma"/>
                        </a:rPr>
                        <a:t>joke</a:t>
                      </a:r>
                      <a:endParaRPr sz="1000" dirty="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2"/>
                  </a:ext>
                </a:extLst>
              </a:tr>
            </a:tbl>
          </a:graphicData>
        </a:graphic>
      </p:graphicFrame>
      <p:sp>
        <p:nvSpPr>
          <p:cNvPr id="7" name="object 7"/>
          <p:cNvSpPr/>
          <p:nvPr/>
        </p:nvSpPr>
        <p:spPr>
          <a:xfrm>
            <a:off x="4183336" y="2070929"/>
            <a:ext cx="286031" cy="114300"/>
          </a:xfrm>
          <a:custGeom>
            <a:avLst/>
            <a:gdLst/>
            <a:ahLst/>
            <a:cxnLst/>
            <a:rect l="l" t="t" r="r" b="b"/>
            <a:pathLst>
              <a:path w="479425" h="114300">
                <a:moveTo>
                  <a:pt x="364871" y="0"/>
                </a:moveTo>
                <a:lnTo>
                  <a:pt x="364871" y="114300"/>
                </a:lnTo>
                <a:lnTo>
                  <a:pt x="441071" y="76200"/>
                </a:lnTo>
                <a:lnTo>
                  <a:pt x="383921" y="76200"/>
                </a:lnTo>
                <a:lnTo>
                  <a:pt x="383921" y="38100"/>
                </a:lnTo>
                <a:lnTo>
                  <a:pt x="441071" y="38100"/>
                </a:lnTo>
                <a:lnTo>
                  <a:pt x="364871" y="0"/>
                </a:lnTo>
                <a:close/>
              </a:path>
              <a:path w="479425" h="114300">
                <a:moveTo>
                  <a:pt x="364871" y="38100"/>
                </a:moveTo>
                <a:lnTo>
                  <a:pt x="0" y="38100"/>
                </a:lnTo>
                <a:lnTo>
                  <a:pt x="0" y="76200"/>
                </a:lnTo>
                <a:lnTo>
                  <a:pt x="364871" y="76200"/>
                </a:lnTo>
                <a:lnTo>
                  <a:pt x="364871" y="38100"/>
                </a:lnTo>
                <a:close/>
              </a:path>
              <a:path w="479425" h="114300">
                <a:moveTo>
                  <a:pt x="441071" y="38100"/>
                </a:moveTo>
                <a:lnTo>
                  <a:pt x="383921" y="38100"/>
                </a:lnTo>
                <a:lnTo>
                  <a:pt x="383921" y="76200"/>
                </a:lnTo>
                <a:lnTo>
                  <a:pt x="441071" y="76200"/>
                </a:lnTo>
                <a:lnTo>
                  <a:pt x="479171" y="57150"/>
                </a:lnTo>
                <a:lnTo>
                  <a:pt x="441071" y="38100"/>
                </a:lnTo>
                <a:close/>
              </a:path>
            </a:pathLst>
          </a:custGeom>
          <a:solidFill>
            <a:srgbClr val="ED7660"/>
          </a:solidFill>
        </p:spPr>
        <p:txBody>
          <a:bodyPr wrap="square" lIns="0" tIns="0" rIns="0" bIns="0" rtlCol="0"/>
          <a:lstStyle/>
          <a:p>
            <a:endParaRPr/>
          </a:p>
        </p:txBody>
      </p:sp>
      <p:sp>
        <p:nvSpPr>
          <p:cNvPr id="8" name="object 8"/>
          <p:cNvSpPr txBox="1"/>
          <p:nvPr/>
        </p:nvSpPr>
        <p:spPr>
          <a:xfrm>
            <a:off x="4476019" y="1738883"/>
            <a:ext cx="957580" cy="530273"/>
          </a:xfrm>
          <a:prstGeom prst="rect">
            <a:avLst/>
          </a:prstGeom>
          <a:solidFill>
            <a:srgbClr val="ED7660"/>
          </a:solidFill>
          <a:ln w="12700">
            <a:solidFill>
              <a:srgbClr val="632D23"/>
            </a:solidFill>
          </a:ln>
        </p:spPr>
        <p:txBody>
          <a:bodyPr vert="horz" wrap="square" lIns="0" tIns="250825" rIns="0" bIns="0" rtlCol="0">
            <a:spAutoFit/>
          </a:bodyPr>
          <a:lstStyle/>
          <a:p>
            <a:pPr marL="260350">
              <a:lnSpc>
                <a:spcPct val="100000"/>
              </a:lnSpc>
              <a:spcBef>
                <a:spcPts val="1975"/>
              </a:spcBef>
            </a:pPr>
            <a:r>
              <a:rPr sz="1800" spc="70" dirty="0">
                <a:solidFill>
                  <a:srgbClr val="FFFFFF"/>
                </a:solidFill>
                <a:cs typeface="Tahoma"/>
              </a:rPr>
              <a:t>LLM</a:t>
            </a:r>
            <a:endParaRPr sz="1800" dirty="0">
              <a:cs typeface="Tahoma"/>
            </a:endParaRPr>
          </a:p>
        </p:txBody>
      </p:sp>
      <p:graphicFrame>
        <p:nvGraphicFramePr>
          <p:cNvPr id="9" name="object 9"/>
          <p:cNvGraphicFramePr>
            <a:graphicFrameLocks noGrp="1"/>
          </p:cNvGraphicFramePr>
          <p:nvPr>
            <p:extLst>
              <p:ext uri="{D42A27DB-BD31-4B8C-83A1-F6EECF244321}">
                <p14:modId xmlns:p14="http://schemas.microsoft.com/office/powerpoint/2010/main" val="2629839562"/>
              </p:ext>
            </p:extLst>
          </p:nvPr>
        </p:nvGraphicFramePr>
        <p:xfrm>
          <a:off x="5775792" y="1695069"/>
          <a:ext cx="3530598" cy="871219"/>
        </p:xfrm>
        <a:graphic>
          <a:graphicData uri="http://schemas.openxmlformats.org/drawingml/2006/table">
            <a:tbl>
              <a:tblPr firstRow="1" bandRow="1">
                <a:tableStyleId>{2D5ABB26-0587-4C30-8999-92F81FD0307C}</a:tableStyleId>
              </a:tblPr>
              <a:tblGrid>
                <a:gridCol w="706120">
                  <a:extLst>
                    <a:ext uri="{9D8B030D-6E8A-4147-A177-3AD203B41FA5}">
                      <a16:colId xmlns:a16="http://schemas.microsoft.com/office/drawing/2014/main" val="20000"/>
                    </a:ext>
                  </a:extLst>
                </a:gridCol>
                <a:gridCol w="706120">
                  <a:extLst>
                    <a:ext uri="{9D8B030D-6E8A-4147-A177-3AD203B41FA5}">
                      <a16:colId xmlns:a16="http://schemas.microsoft.com/office/drawing/2014/main" val="20001"/>
                    </a:ext>
                  </a:extLst>
                </a:gridCol>
                <a:gridCol w="706120">
                  <a:extLst>
                    <a:ext uri="{9D8B030D-6E8A-4147-A177-3AD203B41FA5}">
                      <a16:colId xmlns:a16="http://schemas.microsoft.com/office/drawing/2014/main" val="20002"/>
                    </a:ext>
                  </a:extLst>
                </a:gridCol>
                <a:gridCol w="706119">
                  <a:extLst>
                    <a:ext uri="{9D8B030D-6E8A-4147-A177-3AD203B41FA5}">
                      <a16:colId xmlns:a16="http://schemas.microsoft.com/office/drawing/2014/main" val="20003"/>
                    </a:ext>
                  </a:extLst>
                </a:gridCol>
                <a:gridCol w="706119">
                  <a:extLst>
                    <a:ext uri="{9D8B030D-6E8A-4147-A177-3AD203B41FA5}">
                      <a16:colId xmlns:a16="http://schemas.microsoft.com/office/drawing/2014/main" val="20004"/>
                    </a:ext>
                  </a:extLst>
                </a:gridCol>
              </a:tblGrid>
              <a:tr h="290448">
                <a:tc>
                  <a:txBody>
                    <a:bodyPr/>
                    <a:lstStyle/>
                    <a:p>
                      <a:pPr marR="109855" algn="r">
                        <a:lnSpc>
                          <a:spcPct val="100000"/>
                        </a:lnSpc>
                        <a:spcBef>
                          <a:spcPts val="495"/>
                        </a:spcBef>
                      </a:pPr>
                      <a:r>
                        <a:rPr sz="1000" spc="25" dirty="0">
                          <a:latin typeface="Tahoma"/>
                          <a:cs typeface="Tahoma"/>
                        </a:rPr>
                        <a:t>TOK1_1</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495"/>
                        </a:spcBef>
                      </a:pPr>
                      <a:r>
                        <a:rPr sz="1000" spc="25" dirty="0">
                          <a:latin typeface="Tahoma"/>
                          <a:cs typeface="Tahoma"/>
                        </a:rPr>
                        <a:t>TOK1_2</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495"/>
                        </a:spcBef>
                      </a:pPr>
                      <a:r>
                        <a:rPr sz="1000" b="1" spc="-15" dirty="0">
                          <a:latin typeface="Tahoma"/>
                          <a:cs typeface="Tahoma"/>
                        </a:rPr>
                        <a:t>TOK1_3</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495"/>
                        </a:spcBef>
                      </a:pPr>
                      <a:r>
                        <a:rPr sz="1000" spc="25" dirty="0">
                          <a:latin typeface="Tahoma"/>
                          <a:cs typeface="Tahoma"/>
                        </a:rPr>
                        <a:t>TOK1_4</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118745">
                        <a:lnSpc>
                          <a:spcPct val="100000"/>
                        </a:lnSpc>
                        <a:spcBef>
                          <a:spcPts val="495"/>
                        </a:spcBef>
                      </a:pPr>
                      <a:r>
                        <a:rPr sz="1000" spc="25" dirty="0">
                          <a:latin typeface="Tahoma"/>
                          <a:cs typeface="Tahoma"/>
                        </a:rPr>
                        <a:t>TOK1_5</a:t>
                      </a:r>
                      <a:endParaRPr sz="1000" dirty="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0"/>
                  </a:ext>
                </a:extLst>
              </a:tr>
              <a:tr h="290322">
                <a:tc>
                  <a:txBody>
                    <a:bodyPr/>
                    <a:lstStyle/>
                    <a:p>
                      <a:pPr marR="109855" algn="r">
                        <a:lnSpc>
                          <a:spcPct val="100000"/>
                        </a:lnSpc>
                        <a:spcBef>
                          <a:spcPts val="495"/>
                        </a:spcBef>
                      </a:pPr>
                      <a:r>
                        <a:rPr sz="1000" spc="25" dirty="0">
                          <a:latin typeface="Tahoma"/>
                          <a:cs typeface="Tahoma"/>
                        </a:rPr>
                        <a:t>TOK2_1</a:t>
                      </a:r>
                      <a:endParaRPr sz="1000" dirty="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495"/>
                        </a:spcBef>
                      </a:pPr>
                      <a:r>
                        <a:rPr sz="1000" spc="25" dirty="0">
                          <a:latin typeface="Tahoma"/>
                          <a:cs typeface="Tahoma"/>
                        </a:rPr>
                        <a:t>TOK2_2</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495"/>
                        </a:spcBef>
                      </a:pPr>
                      <a:r>
                        <a:rPr sz="1000" spc="25" dirty="0">
                          <a:latin typeface="Tahoma"/>
                          <a:cs typeface="Tahoma"/>
                        </a:rPr>
                        <a:t>TOK2_3</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495"/>
                        </a:spcBef>
                      </a:pPr>
                      <a:r>
                        <a:rPr sz="1000" b="1" spc="-15" dirty="0">
                          <a:latin typeface="Tahoma"/>
                          <a:cs typeface="Tahoma"/>
                        </a:rPr>
                        <a:t>TOK2_4</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118745">
                        <a:lnSpc>
                          <a:spcPct val="100000"/>
                        </a:lnSpc>
                        <a:spcBef>
                          <a:spcPts val="495"/>
                        </a:spcBef>
                      </a:pPr>
                      <a:r>
                        <a:rPr sz="1000" spc="25" dirty="0">
                          <a:latin typeface="Tahoma"/>
                          <a:cs typeface="Tahoma"/>
                        </a:rPr>
                        <a:t>TOK2_5</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1"/>
                  </a:ext>
                </a:extLst>
              </a:tr>
              <a:tr h="290449">
                <a:tc>
                  <a:txBody>
                    <a:bodyPr/>
                    <a:lstStyle/>
                    <a:p>
                      <a:pPr marR="109855" algn="r">
                        <a:lnSpc>
                          <a:spcPct val="100000"/>
                        </a:lnSpc>
                        <a:spcBef>
                          <a:spcPts val="495"/>
                        </a:spcBef>
                      </a:pPr>
                      <a:r>
                        <a:rPr sz="1000" spc="25" dirty="0">
                          <a:latin typeface="Tahoma"/>
                          <a:cs typeface="Tahoma"/>
                        </a:rPr>
                        <a:t>TOK3_1</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495"/>
                        </a:spcBef>
                      </a:pPr>
                      <a:r>
                        <a:rPr sz="1000" spc="25" dirty="0">
                          <a:latin typeface="Tahoma"/>
                          <a:cs typeface="Tahoma"/>
                        </a:rPr>
                        <a:t>TOK3_2</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495"/>
                        </a:spcBef>
                      </a:pPr>
                      <a:r>
                        <a:rPr sz="1000" spc="25" dirty="0">
                          <a:latin typeface="Tahoma"/>
                          <a:cs typeface="Tahoma"/>
                        </a:rPr>
                        <a:t>TOK3_3</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635" algn="ctr">
                        <a:lnSpc>
                          <a:spcPct val="100000"/>
                        </a:lnSpc>
                        <a:spcBef>
                          <a:spcPts val="495"/>
                        </a:spcBef>
                      </a:pPr>
                      <a:r>
                        <a:rPr sz="1000" spc="25" dirty="0">
                          <a:latin typeface="Tahoma"/>
                          <a:cs typeface="Tahoma"/>
                        </a:rPr>
                        <a:t>TOK3_4</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103505">
                        <a:lnSpc>
                          <a:spcPct val="100000"/>
                        </a:lnSpc>
                        <a:spcBef>
                          <a:spcPts val="495"/>
                        </a:spcBef>
                      </a:pPr>
                      <a:r>
                        <a:rPr sz="1000" b="1" spc="-15" dirty="0">
                          <a:latin typeface="Tahoma"/>
                          <a:cs typeface="Tahoma"/>
                        </a:rPr>
                        <a:t>TOK3_5</a:t>
                      </a:r>
                      <a:endParaRPr sz="1000" dirty="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extLst>
                  <a:ext uri="{0D108BD9-81ED-4DB2-BD59-A6C34878D82A}">
                    <a16:rowId xmlns:a16="http://schemas.microsoft.com/office/drawing/2014/main" val="10002"/>
                  </a:ext>
                </a:extLst>
              </a:tr>
            </a:tbl>
          </a:graphicData>
        </a:graphic>
      </p:graphicFrame>
      <p:sp>
        <p:nvSpPr>
          <p:cNvPr id="10" name="object 10"/>
          <p:cNvSpPr/>
          <p:nvPr/>
        </p:nvSpPr>
        <p:spPr>
          <a:xfrm>
            <a:off x="5452511" y="2080260"/>
            <a:ext cx="323136" cy="114300"/>
          </a:xfrm>
          <a:custGeom>
            <a:avLst/>
            <a:gdLst/>
            <a:ahLst/>
            <a:cxnLst/>
            <a:rect l="l" t="t" r="r" b="b"/>
            <a:pathLst>
              <a:path w="497839" h="114300">
                <a:moveTo>
                  <a:pt x="383413" y="0"/>
                </a:moveTo>
                <a:lnTo>
                  <a:pt x="383413" y="114300"/>
                </a:lnTo>
                <a:lnTo>
                  <a:pt x="459613" y="76200"/>
                </a:lnTo>
                <a:lnTo>
                  <a:pt x="402463" y="76200"/>
                </a:lnTo>
                <a:lnTo>
                  <a:pt x="402463" y="38100"/>
                </a:lnTo>
                <a:lnTo>
                  <a:pt x="459613" y="38100"/>
                </a:lnTo>
                <a:lnTo>
                  <a:pt x="383413" y="0"/>
                </a:lnTo>
                <a:close/>
              </a:path>
              <a:path w="497839" h="114300">
                <a:moveTo>
                  <a:pt x="383413" y="38100"/>
                </a:moveTo>
                <a:lnTo>
                  <a:pt x="0" y="38100"/>
                </a:lnTo>
                <a:lnTo>
                  <a:pt x="0" y="76200"/>
                </a:lnTo>
                <a:lnTo>
                  <a:pt x="383413" y="76200"/>
                </a:lnTo>
                <a:lnTo>
                  <a:pt x="383413" y="38100"/>
                </a:lnTo>
                <a:close/>
              </a:path>
              <a:path w="497839" h="114300">
                <a:moveTo>
                  <a:pt x="459613" y="38100"/>
                </a:moveTo>
                <a:lnTo>
                  <a:pt x="402463" y="38100"/>
                </a:lnTo>
                <a:lnTo>
                  <a:pt x="402463" y="76200"/>
                </a:lnTo>
                <a:lnTo>
                  <a:pt x="459613" y="76200"/>
                </a:lnTo>
                <a:lnTo>
                  <a:pt x="497713" y="57150"/>
                </a:lnTo>
                <a:lnTo>
                  <a:pt x="459613" y="38100"/>
                </a:lnTo>
                <a:close/>
              </a:path>
            </a:pathLst>
          </a:custGeom>
          <a:solidFill>
            <a:srgbClr val="ED7660"/>
          </a:solidFill>
        </p:spPr>
        <p:txBody>
          <a:bodyPr wrap="square" lIns="0" tIns="0" rIns="0" bIns="0" rtlCol="0"/>
          <a:lstStyle/>
          <a:p>
            <a:endParaRPr/>
          </a:p>
        </p:txBody>
      </p:sp>
      <p:sp>
        <p:nvSpPr>
          <p:cNvPr id="11" name="object 11"/>
          <p:cNvSpPr/>
          <p:nvPr/>
        </p:nvSpPr>
        <p:spPr>
          <a:xfrm>
            <a:off x="9295355" y="2080260"/>
            <a:ext cx="353228" cy="114300"/>
          </a:xfrm>
          <a:custGeom>
            <a:avLst/>
            <a:gdLst/>
            <a:ahLst/>
            <a:cxnLst/>
            <a:rect l="l" t="t" r="r" b="b"/>
            <a:pathLst>
              <a:path w="526415" h="114300">
                <a:moveTo>
                  <a:pt x="411734" y="0"/>
                </a:moveTo>
                <a:lnTo>
                  <a:pt x="411734" y="114300"/>
                </a:lnTo>
                <a:lnTo>
                  <a:pt x="487934" y="76200"/>
                </a:lnTo>
                <a:lnTo>
                  <a:pt x="430784" y="76200"/>
                </a:lnTo>
                <a:lnTo>
                  <a:pt x="430784" y="38100"/>
                </a:lnTo>
                <a:lnTo>
                  <a:pt x="487934" y="38100"/>
                </a:lnTo>
                <a:lnTo>
                  <a:pt x="411734" y="0"/>
                </a:lnTo>
                <a:close/>
              </a:path>
              <a:path w="526415" h="114300">
                <a:moveTo>
                  <a:pt x="411734" y="38100"/>
                </a:moveTo>
                <a:lnTo>
                  <a:pt x="0" y="38100"/>
                </a:lnTo>
                <a:lnTo>
                  <a:pt x="0" y="76200"/>
                </a:lnTo>
                <a:lnTo>
                  <a:pt x="411734" y="76200"/>
                </a:lnTo>
                <a:lnTo>
                  <a:pt x="411734" y="38100"/>
                </a:lnTo>
                <a:close/>
              </a:path>
              <a:path w="526415" h="114300">
                <a:moveTo>
                  <a:pt x="487934" y="38100"/>
                </a:moveTo>
                <a:lnTo>
                  <a:pt x="430784" y="38100"/>
                </a:lnTo>
                <a:lnTo>
                  <a:pt x="430784" y="76200"/>
                </a:lnTo>
                <a:lnTo>
                  <a:pt x="487934" y="76200"/>
                </a:lnTo>
                <a:lnTo>
                  <a:pt x="526034" y="57150"/>
                </a:lnTo>
                <a:lnTo>
                  <a:pt x="487934" y="38100"/>
                </a:lnTo>
                <a:close/>
              </a:path>
            </a:pathLst>
          </a:custGeom>
          <a:solidFill>
            <a:srgbClr val="ED7660"/>
          </a:solidFill>
        </p:spPr>
        <p:txBody>
          <a:bodyPr wrap="square" lIns="0" tIns="0" rIns="0" bIns="0" rtlCol="0"/>
          <a:lstStyle/>
          <a:p>
            <a:endParaRPr/>
          </a:p>
        </p:txBody>
      </p:sp>
      <p:sp>
        <p:nvSpPr>
          <p:cNvPr id="12" name="object 12"/>
          <p:cNvSpPr txBox="1"/>
          <p:nvPr/>
        </p:nvSpPr>
        <p:spPr>
          <a:xfrm>
            <a:off x="9671081" y="1967483"/>
            <a:ext cx="1839595" cy="256480"/>
          </a:xfrm>
          <a:prstGeom prst="rect">
            <a:avLst/>
          </a:prstGeom>
          <a:solidFill>
            <a:srgbClr val="ED7660"/>
          </a:solidFill>
          <a:ln w="12700">
            <a:solidFill>
              <a:srgbClr val="632D23"/>
            </a:solidFill>
          </a:ln>
        </p:spPr>
        <p:txBody>
          <a:bodyPr vert="horz" wrap="square" lIns="0" tIns="71120" rIns="0" bIns="0" rtlCol="0">
            <a:spAutoFit/>
          </a:bodyPr>
          <a:lstStyle/>
          <a:p>
            <a:pPr marL="131445">
              <a:lnSpc>
                <a:spcPct val="100000"/>
              </a:lnSpc>
              <a:spcBef>
                <a:spcPts val="560"/>
              </a:spcBef>
            </a:pPr>
            <a:r>
              <a:rPr sz="1200" spc="25" dirty="0">
                <a:solidFill>
                  <a:srgbClr val="FFFFFF"/>
                </a:solidFill>
                <a:cs typeface="Tahoma"/>
              </a:rPr>
              <a:t>Lin</a:t>
            </a:r>
            <a:r>
              <a:rPr sz="1200" spc="15" dirty="0">
                <a:solidFill>
                  <a:srgbClr val="FFFFFF"/>
                </a:solidFill>
                <a:cs typeface="Tahoma"/>
              </a:rPr>
              <a:t>e</a:t>
            </a:r>
            <a:r>
              <a:rPr sz="1200" spc="5" dirty="0">
                <a:solidFill>
                  <a:srgbClr val="FFFFFF"/>
                </a:solidFill>
                <a:cs typeface="Tahoma"/>
              </a:rPr>
              <a:t>a</a:t>
            </a:r>
            <a:r>
              <a:rPr sz="1200" spc="-5" dirty="0">
                <a:solidFill>
                  <a:srgbClr val="FFFFFF"/>
                </a:solidFill>
                <a:cs typeface="Tahoma"/>
              </a:rPr>
              <a:t>r</a:t>
            </a:r>
            <a:r>
              <a:rPr sz="1200" spc="-55" dirty="0">
                <a:solidFill>
                  <a:srgbClr val="FFFFFF"/>
                </a:solidFill>
                <a:cs typeface="Tahoma"/>
              </a:rPr>
              <a:t> </a:t>
            </a:r>
            <a:r>
              <a:rPr sz="1200" spc="10" dirty="0">
                <a:solidFill>
                  <a:srgbClr val="FFFFFF"/>
                </a:solidFill>
                <a:cs typeface="Tahoma"/>
              </a:rPr>
              <a:t>L</a:t>
            </a:r>
            <a:r>
              <a:rPr sz="1200" spc="5" dirty="0">
                <a:solidFill>
                  <a:srgbClr val="FFFFFF"/>
                </a:solidFill>
                <a:cs typeface="Tahoma"/>
              </a:rPr>
              <a:t>a</a:t>
            </a:r>
            <a:r>
              <a:rPr sz="1200" spc="10" dirty="0">
                <a:solidFill>
                  <a:srgbClr val="FFFFFF"/>
                </a:solidFill>
                <a:cs typeface="Tahoma"/>
              </a:rPr>
              <a:t>yer</a:t>
            </a:r>
            <a:r>
              <a:rPr sz="1200" spc="-65" dirty="0">
                <a:solidFill>
                  <a:srgbClr val="FFFFFF"/>
                </a:solidFill>
                <a:cs typeface="Tahoma"/>
              </a:rPr>
              <a:t> </a:t>
            </a:r>
            <a:r>
              <a:rPr sz="1200" spc="-75" dirty="0">
                <a:solidFill>
                  <a:srgbClr val="FFFFFF"/>
                </a:solidFill>
                <a:cs typeface="Tahoma"/>
              </a:rPr>
              <a:t>+</a:t>
            </a:r>
            <a:r>
              <a:rPr sz="1200" spc="-85" dirty="0">
                <a:solidFill>
                  <a:srgbClr val="FFFFFF"/>
                </a:solidFill>
                <a:cs typeface="Tahoma"/>
              </a:rPr>
              <a:t> </a:t>
            </a:r>
            <a:r>
              <a:rPr sz="1200" dirty="0">
                <a:solidFill>
                  <a:srgbClr val="FFFFFF"/>
                </a:solidFill>
                <a:cs typeface="Tahoma"/>
              </a:rPr>
              <a:t>S</a:t>
            </a:r>
            <a:r>
              <a:rPr sz="1200" spc="30" dirty="0">
                <a:solidFill>
                  <a:srgbClr val="FFFFFF"/>
                </a:solidFill>
                <a:cs typeface="Tahoma"/>
              </a:rPr>
              <a:t>o</a:t>
            </a:r>
            <a:r>
              <a:rPr sz="1200" spc="-5" dirty="0">
                <a:solidFill>
                  <a:srgbClr val="FFFFFF"/>
                </a:solidFill>
                <a:cs typeface="Tahoma"/>
              </a:rPr>
              <a:t>f</a:t>
            </a:r>
            <a:r>
              <a:rPr sz="1200" spc="-25" dirty="0">
                <a:solidFill>
                  <a:srgbClr val="FFFFFF"/>
                </a:solidFill>
                <a:cs typeface="Tahoma"/>
              </a:rPr>
              <a:t>t</a:t>
            </a:r>
            <a:r>
              <a:rPr sz="1200" spc="45" dirty="0">
                <a:solidFill>
                  <a:srgbClr val="FFFFFF"/>
                </a:solidFill>
                <a:cs typeface="Tahoma"/>
              </a:rPr>
              <a:t>m</a:t>
            </a:r>
            <a:r>
              <a:rPr sz="1200" spc="5" dirty="0">
                <a:solidFill>
                  <a:srgbClr val="FFFFFF"/>
                </a:solidFill>
                <a:cs typeface="Tahoma"/>
              </a:rPr>
              <a:t>a</a:t>
            </a:r>
            <a:r>
              <a:rPr sz="1200" spc="-15" dirty="0">
                <a:solidFill>
                  <a:srgbClr val="FFFFFF"/>
                </a:solidFill>
                <a:cs typeface="Tahoma"/>
              </a:rPr>
              <a:t>x</a:t>
            </a:r>
            <a:endParaRPr sz="1200" dirty="0">
              <a:cs typeface="Tahoma"/>
            </a:endParaRPr>
          </a:p>
        </p:txBody>
      </p:sp>
      <p:sp>
        <p:nvSpPr>
          <p:cNvPr id="15" name="object 2">
            <a:extLst>
              <a:ext uri="{FF2B5EF4-FFF2-40B4-BE49-F238E27FC236}">
                <a16:creationId xmlns:a16="http://schemas.microsoft.com/office/drawing/2014/main" id="{266DFBE1-EA54-DF90-0470-B0EA796A9B72}"/>
              </a:ext>
            </a:extLst>
          </p:cNvPr>
          <p:cNvSpPr txBox="1">
            <a:spLocks noGrp="1"/>
          </p:cNvSpPr>
          <p:nvPr>
            <p:ph type="title"/>
          </p:nvPr>
        </p:nvSpPr>
        <p:spPr>
          <a:xfrm>
            <a:off x="674218" y="599379"/>
            <a:ext cx="10858970" cy="634109"/>
          </a:xfrm>
          <a:prstGeom prst="rect">
            <a:avLst/>
          </a:prstGeom>
        </p:spPr>
        <p:txBody>
          <a:bodyPr vert="horz" lIns="0" tIns="0" rIns="0" bIns="0" rtlCol="0" anchor="ctr">
            <a:normAutofit/>
          </a:bodyPr>
          <a:lstStyle/>
          <a:p>
            <a:r>
              <a:rPr dirty="0">
                <a:latin typeface="+mn-lt"/>
              </a:rPr>
              <a:t>Optimizing </a:t>
            </a:r>
            <a:r>
              <a:rPr lang="en-US" dirty="0">
                <a:latin typeface="+mn-lt"/>
              </a:rPr>
              <a:t>I</a:t>
            </a:r>
            <a:r>
              <a:rPr dirty="0">
                <a:latin typeface="+mn-lt"/>
              </a:rPr>
              <a:t>nference with </a:t>
            </a:r>
            <a:r>
              <a:rPr lang="en-US" dirty="0">
                <a:latin typeface="+mn-lt"/>
              </a:rPr>
              <a:t>M</a:t>
            </a:r>
            <a:r>
              <a:rPr dirty="0">
                <a:latin typeface="+mn-lt"/>
              </a:rPr>
              <a:t>ultiple </a:t>
            </a:r>
            <a:r>
              <a:rPr lang="en-US" dirty="0">
                <a:latin typeface="+mn-lt"/>
              </a:rPr>
              <a:t>P</a:t>
            </a:r>
            <a:r>
              <a:rPr dirty="0">
                <a:latin typeface="+mn-lt"/>
              </a:rPr>
              <a:t>rompts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4147133305"/>
              </p:ext>
            </p:extLst>
          </p:nvPr>
        </p:nvGraphicFramePr>
        <p:xfrm>
          <a:off x="666883" y="2044153"/>
          <a:ext cx="3108958" cy="3134992"/>
        </p:xfrm>
        <a:graphic>
          <a:graphicData uri="http://schemas.openxmlformats.org/drawingml/2006/table">
            <a:tbl>
              <a:tblPr firstRow="1" bandRow="1">
                <a:tableStyleId>{2D5ABB26-0587-4C30-8999-92F81FD0307C}</a:tableStyleId>
              </a:tblPr>
              <a:tblGrid>
                <a:gridCol w="495934">
                  <a:extLst>
                    <a:ext uri="{9D8B030D-6E8A-4147-A177-3AD203B41FA5}">
                      <a16:colId xmlns:a16="http://schemas.microsoft.com/office/drawing/2014/main" val="20000"/>
                    </a:ext>
                  </a:extLst>
                </a:gridCol>
                <a:gridCol w="522604">
                  <a:extLst>
                    <a:ext uri="{9D8B030D-6E8A-4147-A177-3AD203B41FA5}">
                      <a16:colId xmlns:a16="http://schemas.microsoft.com/office/drawing/2014/main" val="20001"/>
                    </a:ext>
                  </a:extLst>
                </a:gridCol>
                <a:gridCol w="522605">
                  <a:extLst>
                    <a:ext uri="{9D8B030D-6E8A-4147-A177-3AD203B41FA5}">
                      <a16:colId xmlns:a16="http://schemas.microsoft.com/office/drawing/2014/main" val="20002"/>
                    </a:ext>
                  </a:extLst>
                </a:gridCol>
                <a:gridCol w="522605">
                  <a:extLst>
                    <a:ext uri="{9D8B030D-6E8A-4147-A177-3AD203B41FA5}">
                      <a16:colId xmlns:a16="http://schemas.microsoft.com/office/drawing/2014/main" val="20003"/>
                    </a:ext>
                  </a:extLst>
                </a:gridCol>
                <a:gridCol w="488429">
                  <a:extLst>
                    <a:ext uri="{9D8B030D-6E8A-4147-A177-3AD203B41FA5}">
                      <a16:colId xmlns:a16="http://schemas.microsoft.com/office/drawing/2014/main" val="20004"/>
                    </a:ext>
                  </a:extLst>
                </a:gridCol>
                <a:gridCol w="556781">
                  <a:extLst>
                    <a:ext uri="{9D8B030D-6E8A-4147-A177-3AD203B41FA5}">
                      <a16:colId xmlns:a16="http://schemas.microsoft.com/office/drawing/2014/main" val="20005"/>
                    </a:ext>
                  </a:extLst>
                </a:gridCol>
              </a:tblGrid>
              <a:tr h="522478">
                <a:tc>
                  <a:txBody>
                    <a:bodyPr/>
                    <a:lstStyle/>
                    <a:p>
                      <a:pPr>
                        <a:lnSpc>
                          <a:spcPct val="100000"/>
                        </a:lnSpc>
                      </a:pPr>
                      <a:endParaRPr sz="11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algn="ctr">
                        <a:lnSpc>
                          <a:spcPct val="100000"/>
                        </a:lnSpc>
                        <a:spcBef>
                          <a:spcPts val="5"/>
                        </a:spcBef>
                      </a:pPr>
                      <a:r>
                        <a:rPr sz="600" b="1" spc="-40" dirty="0">
                          <a:latin typeface="Tahoma"/>
                          <a:cs typeface="Tahoma"/>
                        </a:rPr>
                        <a:t>WRITE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1270" algn="ctr">
                        <a:lnSpc>
                          <a:spcPct val="100000"/>
                        </a:lnSpc>
                        <a:spcBef>
                          <a:spcPts val="5"/>
                        </a:spcBef>
                      </a:pPr>
                      <a:r>
                        <a:rPr sz="600" b="1" dirty="0">
                          <a:latin typeface="Tahoma"/>
                          <a:cs typeface="Tahoma"/>
                        </a:rPr>
                        <a:t>A</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algn="ctr">
                        <a:lnSpc>
                          <a:spcPct val="100000"/>
                        </a:lnSpc>
                        <a:spcBef>
                          <a:spcPts val="5"/>
                        </a:spcBef>
                      </a:pPr>
                      <a:r>
                        <a:rPr sz="600" b="1" spc="15" dirty="0">
                          <a:latin typeface="Tahoma"/>
                          <a:cs typeface="Tahoma"/>
                        </a:rPr>
                        <a:t>POEM</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algn="ctr">
                        <a:lnSpc>
                          <a:spcPct val="100000"/>
                        </a:lnSpc>
                        <a:spcBef>
                          <a:spcPts val="5"/>
                        </a:spcBef>
                      </a:pPr>
                      <a:r>
                        <a:rPr sz="600" b="1" spc="-25" dirty="0">
                          <a:latin typeface="Tahoma"/>
                          <a:cs typeface="Tahoma"/>
                        </a:rPr>
                        <a:t>[PAD]</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algn="ctr">
                        <a:lnSpc>
                          <a:spcPct val="100000"/>
                        </a:lnSpc>
                        <a:spcBef>
                          <a:spcPts val="5"/>
                        </a:spcBef>
                      </a:pPr>
                      <a:r>
                        <a:rPr sz="600" b="1" spc="-25" dirty="0">
                          <a:latin typeface="Tahoma"/>
                          <a:cs typeface="Tahoma"/>
                        </a:rPr>
                        <a:t>[PAD]</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extLst>
                  <a:ext uri="{0D108BD9-81ED-4DB2-BD59-A6C34878D82A}">
                    <a16:rowId xmlns:a16="http://schemas.microsoft.com/office/drawing/2014/main" val="10000"/>
                  </a:ext>
                </a:extLst>
              </a:tr>
              <a:tr h="522477">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algn="ctr">
                        <a:lnSpc>
                          <a:spcPct val="100000"/>
                        </a:lnSpc>
                        <a:spcBef>
                          <a:spcPts val="5"/>
                        </a:spcBef>
                      </a:pPr>
                      <a:r>
                        <a:rPr sz="600" b="1" spc="-40" dirty="0">
                          <a:latin typeface="Tahoma"/>
                          <a:cs typeface="Tahoma"/>
                        </a:rPr>
                        <a:t>WRITE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5"/>
                        </a:spcBef>
                      </a:pPr>
                      <a:endParaRPr sz="1250">
                        <a:latin typeface="Times New Roman"/>
                        <a:cs typeface="Times New Roman"/>
                      </a:endParaRPr>
                    </a:p>
                    <a:p>
                      <a:pPr algn="ctr">
                        <a:lnSpc>
                          <a:spcPct val="100000"/>
                        </a:lnSpc>
                        <a:spcBef>
                          <a:spcPts val="5"/>
                        </a:spcBef>
                      </a:pPr>
                      <a:r>
                        <a:rPr sz="1000" spc="10" dirty="0">
                          <a:latin typeface="Tahoma"/>
                          <a:cs typeface="Tahoma"/>
                        </a:rPr>
                        <a:t>0.268</a:t>
                      </a:r>
                      <a:endParaRPr sz="1000">
                        <a:latin typeface="Tahoma"/>
                        <a:cs typeface="Tahoma"/>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5"/>
                        </a:spcBef>
                      </a:pPr>
                      <a:endParaRPr sz="1150">
                        <a:latin typeface="Times New Roman"/>
                        <a:cs typeface="Times New Roman"/>
                      </a:endParaRPr>
                    </a:p>
                    <a:p>
                      <a:pPr marR="23495" algn="ctr">
                        <a:lnSpc>
                          <a:spcPct val="100000"/>
                        </a:lnSpc>
                      </a:pPr>
                      <a:r>
                        <a:rPr sz="1050" dirty="0">
                          <a:latin typeface="Cambria Math"/>
                          <a:cs typeface="Cambria Math"/>
                        </a:rPr>
                        <a:t>−∞</a:t>
                      </a:r>
                      <a:endParaRPr sz="1050">
                        <a:latin typeface="Cambria Math"/>
                        <a:cs typeface="Cambria Math"/>
                      </a:endParaRPr>
                    </a:p>
                  </a:txBody>
                  <a:tcPr marL="0" marR="0" marT="69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5"/>
                        </a:spcBef>
                      </a:pPr>
                      <a:endParaRPr sz="1150">
                        <a:latin typeface="Times New Roman"/>
                        <a:cs typeface="Times New Roman"/>
                      </a:endParaRPr>
                    </a:p>
                    <a:p>
                      <a:pPr marR="22860" algn="ctr">
                        <a:lnSpc>
                          <a:spcPct val="100000"/>
                        </a:lnSpc>
                      </a:pPr>
                      <a:r>
                        <a:rPr sz="1050" dirty="0">
                          <a:latin typeface="Cambria Math"/>
                          <a:cs typeface="Cambria Math"/>
                        </a:rPr>
                        <a:t>−∞</a:t>
                      </a:r>
                      <a:endParaRPr sz="1050">
                        <a:latin typeface="Cambria Math"/>
                        <a:cs typeface="Cambria Math"/>
                      </a:endParaRPr>
                    </a:p>
                  </a:txBody>
                  <a:tcPr marL="0" marR="0" marT="69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5"/>
                        </a:spcBef>
                      </a:pPr>
                      <a:endParaRPr sz="1150">
                        <a:latin typeface="Times New Roman"/>
                        <a:cs typeface="Times New Roman"/>
                      </a:endParaRPr>
                    </a:p>
                    <a:p>
                      <a:pPr marR="22860" algn="ctr">
                        <a:lnSpc>
                          <a:spcPct val="100000"/>
                        </a:lnSpc>
                      </a:pPr>
                      <a:r>
                        <a:rPr sz="1050" dirty="0">
                          <a:latin typeface="Cambria Math"/>
                          <a:cs typeface="Cambria Math"/>
                        </a:rPr>
                        <a:t>−∞</a:t>
                      </a:r>
                      <a:endParaRPr sz="1050">
                        <a:latin typeface="Cambria Math"/>
                        <a:cs typeface="Cambria Math"/>
                      </a:endParaRPr>
                    </a:p>
                  </a:txBody>
                  <a:tcPr marL="0" marR="0" marT="69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5"/>
                        </a:spcBef>
                      </a:pPr>
                      <a:endParaRPr sz="1150">
                        <a:latin typeface="Times New Roman"/>
                        <a:cs typeface="Times New Roman"/>
                      </a:endParaRPr>
                    </a:p>
                    <a:p>
                      <a:pPr marR="22860" algn="ctr">
                        <a:lnSpc>
                          <a:spcPct val="100000"/>
                        </a:lnSpc>
                      </a:pPr>
                      <a:r>
                        <a:rPr sz="1050" dirty="0">
                          <a:latin typeface="Cambria Math"/>
                          <a:cs typeface="Cambria Math"/>
                        </a:rPr>
                        <a:t>−∞</a:t>
                      </a:r>
                      <a:endParaRPr sz="1050">
                        <a:latin typeface="Cambria Math"/>
                        <a:cs typeface="Cambria Math"/>
                      </a:endParaRPr>
                    </a:p>
                  </a:txBody>
                  <a:tcPr marL="0" marR="0" marT="69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1"/>
                  </a:ext>
                </a:extLst>
              </a:tr>
              <a:tr h="522605">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635" algn="ctr">
                        <a:lnSpc>
                          <a:spcPct val="100000"/>
                        </a:lnSpc>
                      </a:pPr>
                      <a:r>
                        <a:rPr sz="600" b="1" dirty="0">
                          <a:latin typeface="Tahoma"/>
                          <a:cs typeface="Tahoma"/>
                        </a:rPr>
                        <a:t>A</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5"/>
                        </a:spcBef>
                      </a:pPr>
                      <a:endParaRPr sz="1250">
                        <a:latin typeface="Times New Roman"/>
                        <a:cs typeface="Times New Roman"/>
                      </a:endParaRPr>
                    </a:p>
                    <a:p>
                      <a:pPr algn="ctr">
                        <a:lnSpc>
                          <a:spcPct val="100000"/>
                        </a:lnSpc>
                        <a:spcBef>
                          <a:spcPts val="5"/>
                        </a:spcBef>
                      </a:pPr>
                      <a:r>
                        <a:rPr sz="1000" spc="10" dirty="0">
                          <a:latin typeface="Tahoma"/>
                          <a:cs typeface="Tahoma"/>
                        </a:rPr>
                        <a:t>0.124</a:t>
                      </a:r>
                      <a:endParaRPr sz="1000">
                        <a:latin typeface="Tahoma"/>
                        <a:cs typeface="Tahoma"/>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
                        </a:spcBef>
                      </a:pPr>
                      <a:endParaRPr sz="1250">
                        <a:latin typeface="Times New Roman"/>
                        <a:cs typeface="Times New Roman"/>
                      </a:endParaRPr>
                    </a:p>
                    <a:p>
                      <a:pPr algn="ctr">
                        <a:lnSpc>
                          <a:spcPct val="100000"/>
                        </a:lnSpc>
                        <a:spcBef>
                          <a:spcPts val="5"/>
                        </a:spcBef>
                      </a:pPr>
                      <a:r>
                        <a:rPr sz="1000" spc="10" dirty="0">
                          <a:latin typeface="Tahoma"/>
                          <a:cs typeface="Tahoma"/>
                        </a:rPr>
                        <a:t>0.278</a:t>
                      </a:r>
                      <a:endParaRPr sz="1000">
                        <a:latin typeface="Tahoma"/>
                        <a:cs typeface="Tahoma"/>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pPr>
                      <a:endParaRPr sz="1200">
                        <a:latin typeface="Times New Roman"/>
                        <a:cs typeface="Times New Roman"/>
                      </a:endParaRPr>
                    </a:p>
                    <a:p>
                      <a:pPr marR="22860" algn="ctr">
                        <a:lnSpc>
                          <a:spcPct val="100000"/>
                        </a:lnSpc>
                      </a:pPr>
                      <a:r>
                        <a:rPr sz="1050" dirty="0">
                          <a:latin typeface="Cambria Math"/>
                          <a:cs typeface="Cambria Math"/>
                        </a:rPr>
                        <a:t>−∞</a:t>
                      </a:r>
                      <a:endParaRPr sz="1050">
                        <a:latin typeface="Cambria Math"/>
                        <a:cs typeface="Cambria Math"/>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pPr>
                      <a:endParaRPr sz="1200">
                        <a:latin typeface="Times New Roman"/>
                        <a:cs typeface="Times New Roman"/>
                      </a:endParaRPr>
                    </a:p>
                    <a:p>
                      <a:pPr marR="22860" algn="ctr">
                        <a:lnSpc>
                          <a:spcPct val="100000"/>
                        </a:lnSpc>
                      </a:pPr>
                      <a:r>
                        <a:rPr sz="1050" dirty="0">
                          <a:latin typeface="Cambria Math"/>
                          <a:cs typeface="Cambria Math"/>
                        </a:rPr>
                        <a:t>−∞</a:t>
                      </a:r>
                      <a:endParaRPr sz="1050">
                        <a:latin typeface="Cambria Math"/>
                        <a:cs typeface="Cambria Math"/>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pPr>
                      <a:endParaRPr sz="1200">
                        <a:latin typeface="Times New Roman"/>
                        <a:cs typeface="Times New Roman"/>
                      </a:endParaRPr>
                    </a:p>
                    <a:p>
                      <a:pPr marR="22860" algn="ctr">
                        <a:lnSpc>
                          <a:spcPct val="100000"/>
                        </a:lnSpc>
                      </a:pPr>
                      <a:r>
                        <a:rPr sz="1050" dirty="0">
                          <a:latin typeface="Cambria Math"/>
                          <a:cs typeface="Cambria Math"/>
                        </a:rPr>
                        <a:t>−∞</a:t>
                      </a:r>
                      <a:endParaRPr sz="1050">
                        <a:latin typeface="Cambria Math"/>
                        <a:cs typeface="Cambria Math"/>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2"/>
                  </a:ext>
                </a:extLst>
              </a:tr>
              <a:tr h="522477">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spc="15" dirty="0">
                          <a:latin typeface="Tahoma"/>
                          <a:cs typeface="Tahoma"/>
                        </a:rPr>
                        <a:t>POEM</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0.147</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0.132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spc="10" dirty="0">
                          <a:latin typeface="Tahoma"/>
                          <a:cs typeface="Tahoma"/>
                        </a:rPr>
                        <a:t>0.262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5"/>
                        </a:spcBef>
                      </a:pPr>
                      <a:endParaRPr sz="1150">
                        <a:latin typeface="Times New Roman"/>
                        <a:cs typeface="Times New Roman"/>
                      </a:endParaRPr>
                    </a:p>
                    <a:p>
                      <a:pPr marR="22860" algn="ctr">
                        <a:lnSpc>
                          <a:spcPct val="100000"/>
                        </a:lnSpc>
                      </a:pPr>
                      <a:r>
                        <a:rPr sz="1050" dirty="0">
                          <a:latin typeface="Cambria Math"/>
                          <a:cs typeface="Cambria Math"/>
                        </a:rPr>
                        <a:t>−∞</a:t>
                      </a:r>
                      <a:endParaRPr sz="1050">
                        <a:latin typeface="Cambria Math"/>
                        <a:cs typeface="Cambria Math"/>
                      </a:endParaRPr>
                    </a:p>
                  </a:txBody>
                  <a:tcPr marL="0" marR="0" marT="69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5"/>
                        </a:spcBef>
                      </a:pPr>
                      <a:endParaRPr sz="1150">
                        <a:latin typeface="Times New Roman"/>
                        <a:cs typeface="Times New Roman"/>
                      </a:endParaRPr>
                    </a:p>
                    <a:p>
                      <a:pPr marR="22860" algn="ctr">
                        <a:lnSpc>
                          <a:spcPct val="100000"/>
                        </a:lnSpc>
                      </a:pPr>
                      <a:r>
                        <a:rPr sz="1050" dirty="0">
                          <a:latin typeface="Cambria Math"/>
                          <a:cs typeface="Cambria Math"/>
                        </a:rPr>
                        <a:t>−∞</a:t>
                      </a:r>
                      <a:endParaRPr sz="1050">
                        <a:latin typeface="Cambria Math"/>
                        <a:cs typeface="Cambria Math"/>
                      </a:endParaRPr>
                    </a:p>
                  </a:txBody>
                  <a:tcPr marL="0" marR="0" marT="69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3"/>
                  </a:ext>
                </a:extLst>
              </a:tr>
              <a:tr h="522478">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spc="-25" dirty="0">
                          <a:latin typeface="Tahoma"/>
                          <a:cs typeface="Tahoma"/>
                        </a:rPr>
                        <a:t>[PAD]</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dirty="0">
                        <a:latin typeface="Times New Roman"/>
                        <a:cs typeface="Times New Roman"/>
                      </a:endParaRPr>
                    </a:p>
                    <a:p>
                      <a:pPr algn="ctr">
                        <a:lnSpc>
                          <a:spcPct val="100000"/>
                        </a:lnSpc>
                      </a:pPr>
                      <a:r>
                        <a:rPr sz="1000" b="1" dirty="0">
                          <a:solidFill>
                            <a:srgbClr val="E23717"/>
                          </a:solidFill>
                          <a:latin typeface="Tahoma"/>
                          <a:cs typeface="Tahoma"/>
                        </a:rPr>
                        <a:t>0.210</a:t>
                      </a:r>
                      <a:endParaRPr sz="1000" dirty="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b="1" dirty="0">
                          <a:solidFill>
                            <a:srgbClr val="E23717"/>
                          </a:solidFill>
                          <a:latin typeface="Tahoma"/>
                          <a:cs typeface="Tahoma"/>
                        </a:rPr>
                        <a:t>0.128</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b="1" dirty="0">
                          <a:solidFill>
                            <a:srgbClr val="E23717"/>
                          </a:solidFill>
                          <a:latin typeface="Tahoma"/>
                          <a:cs typeface="Tahoma"/>
                        </a:rPr>
                        <a:t>0.206</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b="1" dirty="0">
                          <a:solidFill>
                            <a:srgbClr val="E23717"/>
                          </a:solidFill>
                          <a:latin typeface="Tahoma"/>
                          <a:cs typeface="Tahoma"/>
                        </a:rPr>
                        <a:t>0.212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2225" algn="ctr">
                        <a:lnSpc>
                          <a:spcPct val="100000"/>
                        </a:lnSpc>
                        <a:spcBef>
                          <a:spcPts val="5"/>
                        </a:spcBef>
                      </a:pPr>
                      <a:r>
                        <a:rPr sz="1000" spc="-10" dirty="0">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4"/>
                  </a:ext>
                </a:extLst>
              </a:tr>
              <a:tr h="522477">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spcBef>
                          <a:spcPts val="5"/>
                        </a:spcBef>
                      </a:pPr>
                      <a:r>
                        <a:rPr sz="600" b="1" spc="-25" dirty="0">
                          <a:latin typeface="Tahoma"/>
                          <a:cs typeface="Tahoma"/>
                        </a:rPr>
                        <a:t>[PAD]</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b="1" dirty="0">
                          <a:solidFill>
                            <a:srgbClr val="E23717"/>
                          </a:solidFill>
                          <a:latin typeface="Tahoma"/>
                          <a:cs typeface="Tahoma"/>
                        </a:rPr>
                        <a:t>0.146</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b="1" dirty="0">
                          <a:solidFill>
                            <a:srgbClr val="E23717"/>
                          </a:solidFill>
                          <a:latin typeface="Tahoma"/>
                          <a:cs typeface="Tahoma"/>
                        </a:rPr>
                        <a:t>0.158</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b="1" dirty="0">
                          <a:solidFill>
                            <a:srgbClr val="E23717"/>
                          </a:solidFill>
                          <a:latin typeface="Tahoma"/>
                          <a:cs typeface="Tahoma"/>
                        </a:rPr>
                        <a:t>0.152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b="1" dirty="0">
                          <a:solidFill>
                            <a:srgbClr val="E23717"/>
                          </a:solidFill>
                          <a:latin typeface="Tahoma"/>
                          <a:cs typeface="Tahoma"/>
                        </a:rPr>
                        <a:t>0.143</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dirty="0">
                        <a:latin typeface="Times New Roman"/>
                        <a:cs typeface="Times New Roman"/>
                      </a:endParaRPr>
                    </a:p>
                    <a:p>
                      <a:pPr algn="ctr">
                        <a:lnSpc>
                          <a:spcPct val="100000"/>
                        </a:lnSpc>
                      </a:pPr>
                      <a:r>
                        <a:rPr sz="1000" b="1" dirty="0">
                          <a:solidFill>
                            <a:srgbClr val="E23717"/>
                          </a:solidFill>
                          <a:latin typeface="Tahoma"/>
                          <a:cs typeface="Tahoma"/>
                        </a:rPr>
                        <a:t>0.227</a:t>
                      </a:r>
                      <a:endParaRPr sz="1000" dirty="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5"/>
                  </a:ext>
                </a:extLst>
              </a:tr>
            </a:tbl>
          </a:graphicData>
        </a:graphic>
      </p:graphicFrame>
      <p:graphicFrame>
        <p:nvGraphicFramePr>
          <p:cNvPr id="4" name="object 4"/>
          <p:cNvGraphicFramePr>
            <a:graphicFrameLocks noGrp="1"/>
          </p:cNvGraphicFramePr>
          <p:nvPr>
            <p:extLst>
              <p:ext uri="{D42A27DB-BD31-4B8C-83A1-F6EECF244321}">
                <p14:modId xmlns:p14="http://schemas.microsoft.com/office/powerpoint/2010/main" val="2546085578"/>
              </p:ext>
            </p:extLst>
          </p:nvPr>
        </p:nvGraphicFramePr>
        <p:xfrm>
          <a:off x="4554213" y="2044153"/>
          <a:ext cx="3108958" cy="3134992"/>
        </p:xfrm>
        <a:graphic>
          <a:graphicData uri="http://schemas.openxmlformats.org/drawingml/2006/table">
            <a:tbl>
              <a:tblPr firstRow="1" bandRow="1">
                <a:tableStyleId>{2D5ABB26-0587-4C30-8999-92F81FD0307C}</a:tableStyleId>
              </a:tblPr>
              <a:tblGrid>
                <a:gridCol w="495934">
                  <a:extLst>
                    <a:ext uri="{9D8B030D-6E8A-4147-A177-3AD203B41FA5}">
                      <a16:colId xmlns:a16="http://schemas.microsoft.com/office/drawing/2014/main" val="20000"/>
                    </a:ext>
                  </a:extLst>
                </a:gridCol>
                <a:gridCol w="522604">
                  <a:extLst>
                    <a:ext uri="{9D8B030D-6E8A-4147-A177-3AD203B41FA5}">
                      <a16:colId xmlns:a16="http://schemas.microsoft.com/office/drawing/2014/main" val="20001"/>
                    </a:ext>
                  </a:extLst>
                </a:gridCol>
                <a:gridCol w="522605">
                  <a:extLst>
                    <a:ext uri="{9D8B030D-6E8A-4147-A177-3AD203B41FA5}">
                      <a16:colId xmlns:a16="http://schemas.microsoft.com/office/drawing/2014/main" val="20002"/>
                    </a:ext>
                  </a:extLst>
                </a:gridCol>
                <a:gridCol w="522605">
                  <a:extLst>
                    <a:ext uri="{9D8B030D-6E8A-4147-A177-3AD203B41FA5}">
                      <a16:colId xmlns:a16="http://schemas.microsoft.com/office/drawing/2014/main" val="20003"/>
                    </a:ext>
                  </a:extLst>
                </a:gridCol>
                <a:gridCol w="522605">
                  <a:extLst>
                    <a:ext uri="{9D8B030D-6E8A-4147-A177-3AD203B41FA5}">
                      <a16:colId xmlns:a16="http://schemas.microsoft.com/office/drawing/2014/main" val="20004"/>
                    </a:ext>
                  </a:extLst>
                </a:gridCol>
                <a:gridCol w="522605">
                  <a:extLst>
                    <a:ext uri="{9D8B030D-6E8A-4147-A177-3AD203B41FA5}">
                      <a16:colId xmlns:a16="http://schemas.microsoft.com/office/drawing/2014/main" val="20005"/>
                    </a:ext>
                  </a:extLst>
                </a:gridCol>
              </a:tblGrid>
              <a:tr h="522478">
                <a:tc>
                  <a:txBody>
                    <a:bodyPr/>
                    <a:lstStyle/>
                    <a:p>
                      <a:pPr>
                        <a:lnSpc>
                          <a:spcPct val="100000"/>
                        </a:lnSpc>
                      </a:pPr>
                      <a:endParaRPr sz="11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139700">
                        <a:lnSpc>
                          <a:spcPct val="100000"/>
                        </a:lnSpc>
                        <a:spcBef>
                          <a:spcPts val="5"/>
                        </a:spcBef>
                      </a:pPr>
                      <a:r>
                        <a:rPr sz="600" b="1" spc="-40" dirty="0">
                          <a:latin typeface="Tahoma"/>
                          <a:cs typeface="Tahoma"/>
                        </a:rPr>
                        <a:t>WRITE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2540" algn="ctr">
                        <a:lnSpc>
                          <a:spcPct val="100000"/>
                        </a:lnSpc>
                        <a:spcBef>
                          <a:spcPts val="5"/>
                        </a:spcBef>
                      </a:pPr>
                      <a:r>
                        <a:rPr sz="600" b="1" dirty="0">
                          <a:latin typeface="Tahoma"/>
                          <a:cs typeface="Tahoma"/>
                        </a:rPr>
                        <a:t>A</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marL="187325" marR="97155" indent="-82550">
                        <a:lnSpc>
                          <a:spcPct val="100000"/>
                        </a:lnSpc>
                        <a:spcBef>
                          <a:spcPts val="509"/>
                        </a:spcBef>
                      </a:pPr>
                      <a:r>
                        <a:rPr sz="600" b="1" spc="-5" dirty="0">
                          <a:latin typeface="Tahoma"/>
                          <a:cs typeface="Tahoma"/>
                        </a:rPr>
                        <a:t>H</a:t>
                      </a:r>
                      <a:r>
                        <a:rPr sz="600" b="1" dirty="0">
                          <a:latin typeface="Tahoma"/>
                          <a:cs typeface="Tahoma"/>
                        </a:rPr>
                        <a:t>I</a:t>
                      </a:r>
                      <a:r>
                        <a:rPr sz="600" b="1" spc="5" dirty="0">
                          <a:latin typeface="Tahoma"/>
                          <a:cs typeface="Tahoma"/>
                        </a:rPr>
                        <a:t>S</a:t>
                      </a:r>
                      <a:r>
                        <a:rPr sz="600" b="1" dirty="0">
                          <a:latin typeface="Tahoma"/>
                          <a:cs typeface="Tahoma"/>
                        </a:rPr>
                        <a:t>TO</a:t>
                      </a:r>
                      <a:r>
                        <a:rPr sz="600" b="1" spc="-5" dirty="0">
                          <a:latin typeface="Tahoma"/>
                          <a:cs typeface="Tahoma"/>
                        </a:rPr>
                        <a:t>RI  </a:t>
                      </a:r>
                      <a:r>
                        <a:rPr sz="600" b="1" dirty="0">
                          <a:latin typeface="Tahoma"/>
                          <a:cs typeface="Tahoma"/>
                        </a:rPr>
                        <a:t>CAL</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635" algn="ctr">
                        <a:lnSpc>
                          <a:spcPct val="100000"/>
                        </a:lnSpc>
                        <a:spcBef>
                          <a:spcPts val="5"/>
                        </a:spcBef>
                      </a:pPr>
                      <a:r>
                        <a:rPr sz="600" b="1" dirty="0">
                          <a:latin typeface="Tahoma"/>
                          <a:cs typeface="Tahoma"/>
                        </a:rPr>
                        <a:t>NOVEL</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algn="ctr">
                        <a:lnSpc>
                          <a:spcPct val="100000"/>
                        </a:lnSpc>
                        <a:spcBef>
                          <a:spcPts val="5"/>
                        </a:spcBef>
                      </a:pPr>
                      <a:r>
                        <a:rPr sz="600" b="1" spc="-25" dirty="0">
                          <a:latin typeface="Tahoma"/>
                          <a:cs typeface="Tahoma"/>
                        </a:rPr>
                        <a:t>[PAD]</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extLst>
                  <a:ext uri="{0D108BD9-81ED-4DB2-BD59-A6C34878D82A}">
                    <a16:rowId xmlns:a16="http://schemas.microsoft.com/office/drawing/2014/main" val="10000"/>
                  </a:ext>
                </a:extLst>
              </a:tr>
              <a:tr h="522477">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algn="ctr">
                        <a:lnSpc>
                          <a:spcPct val="100000"/>
                        </a:lnSpc>
                        <a:spcBef>
                          <a:spcPts val="5"/>
                        </a:spcBef>
                      </a:pPr>
                      <a:r>
                        <a:rPr sz="600" b="1" spc="-40" dirty="0">
                          <a:latin typeface="Tahoma"/>
                          <a:cs typeface="Tahoma"/>
                        </a:rPr>
                        <a:t>WRITE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5"/>
                        </a:spcBef>
                      </a:pPr>
                      <a:endParaRPr sz="1250">
                        <a:latin typeface="Times New Roman"/>
                        <a:cs typeface="Times New Roman"/>
                      </a:endParaRPr>
                    </a:p>
                    <a:p>
                      <a:pPr marL="98425">
                        <a:lnSpc>
                          <a:spcPct val="100000"/>
                        </a:lnSpc>
                        <a:spcBef>
                          <a:spcPts val="5"/>
                        </a:spcBef>
                      </a:pPr>
                      <a:r>
                        <a:rPr sz="1000" spc="10" dirty="0">
                          <a:latin typeface="Tahoma"/>
                          <a:cs typeface="Tahoma"/>
                        </a:rPr>
                        <a:t>0.268</a:t>
                      </a:r>
                      <a:endParaRPr sz="1000">
                        <a:latin typeface="Tahoma"/>
                        <a:cs typeface="Tahoma"/>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5"/>
                        </a:spcBef>
                      </a:pPr>
                      <a:endParaRPr sz="1150">
                        <a:latin typeface="Times New Roman"/>
                        <a:cs typeface="Times New Roman"/>
                      </a:endParaRPr>
                    </a:p>
                    <a:p>
                      <a:pPr marR="22225" algn="ctr">
                        <a:lnSpc>
                          <a:spcPct val="100000"/>
                        </a:lnSpc>
                      </a:pPr>
                      <a:r>
                        <a:rPr sz="1050" dirty="0">
                          <a:latin typeface="Cambria Math"/>
                          <a:cs typeface="Cambria Math"/>
                        </a:rPr>
                        <a:t>−∞</a:t>
                      </a:r>
                      <a:endParaRPr sz="1050">
                        <a:latin typeface="Cambria Math"/>
                        <a:cs typeface="Cambria Math"/>
                      </a:endParaRPr>
                    </a:p>
                  </a:txBody>
                  <a:tcPr marL="0" marR="0" marT="69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5"/>
                        </a:spcBef>
                      </a:pPr>
                      <a:endParaRPr sz="1150" dirty="0">
                        <a:latin typeface="Times New Roman"/>
                        <a:cs typeface="Times New Roman"/>
                      </a:endParaRPr>
                    </a:p>
                    <a:p>
                      <a:pPr marL="138430">
                        <a:lnSpc>
                          <a:spcPct val="100000"/>
                        </a:lnSpc>
                      </a:pPr>
                      <a:r>
                        <a:rPr sz="1050" dirty="0">
                          <a:latin typeface="Cambria Math"/>
                          <a:cs typeface="Cambria Math"/>
                        </a:rPr>
                        <a:t>−∞</a:t>
                      </a:r>
                    </a:p>
                  </a:txBody>
                  <a:tcPr marL="0" marR="0" marT="69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5"/>
                        </a:spcBef>
                      </a:pPr>
                      <a:endParaRPr sz="1150">
                        <a:latin typeface="Times New Roman"/>
                        <a:cs typeface="Times New Roman"/>
                      </a:endParaRPr>
                    </a:p>
                    <a:p>
                      <a:pPr marR="22225" algn="ctr">
                        <a:lnSpc>
                          <a:spcPct val="100000"/>
                        </a:lnSpc>
                      </a:pPr>
                      <a:r>
                        <a:rPr sz="1050" dirty="0">
                          <a:latin typeface="Cambria Math"/>
                          <a:cs typeface="Cambria Math"/>
                        </a:rPr>
                        <a:t>−∞</a:t>
                      </a:r>
                      <a:endParaRPr sz="1050">
                        <a:latin typeface="Cambria Math"/>
                        <a:cs typeface="Cambria Math"/>
                      </a:endParaRPr>
                    </a:p>
                  </a:txBody>
                  <a:tcPr marL="0" marR="0" marT="69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5"/>
                        </a:spcBef>
                      </a:pPr>
                      <a:endParaRPr sz="1150">
                        <a:latin typeface="Times New Roman"/>
                        <a:cs typeface="Times New Roman"/>
                      </a:endParaRPr>
                    </a:p>
                    <a:p>
                      <a:pPr marR="22225" algn="ctr">
                        <a:lnSpc>
                          <a:spcPct val="100000"/>
                        </a:lnSpc>
                      </a:pPr>
                      <a:r>
                        <a:rPr sz="1050" dirty="0">
                          <a:latin typeface="Cambria Math"/>
                          <a:cs typeface="Cambria Math"/>
                        </a:rPr>
                        <a:t>−∞</a:t>
                      </a:r>
                      <a:endParaRPr sz="1050">
                        <a:latin typeface="Cambria Math"/>
                        <a:cs typeface="Cambria Math"/>
                      </a:endParaRPr>
                    </a:p>
                  </a:txBody>
                  <a:tcPr marL="0" marR="0" marT="69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1"/>
                  </a:ext>
                </a:extLst>
              </a:tr>
              <a:tr h="522605">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1270" algn="ctr">
                        <a:lnSpc>
                          <a:spcPct val="100000"/>
                        </a:lnSpc>
                      </a:pPr>
                      <a:r>
                        <a:rPr sz="600" b="1" dirty="0">
                          <a:latin typeface="Tahoma"/>
                          <a:cs typeface="Tahoma"/>
                        </a:rPr>
                        <a:t>A</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5"/>
                        </a:spcBef>
                      </a:pPr>
                      <a:endParaRPr sz="1250">
                        <a:latin typeface="Times New Roman"/>
                        <a:cs typeface="Times New Roman"/>
                      </a:endParaRPr>
                    </a:p>
                    <a:p>
                      <a:pPr marL="98425">
                        <a:lnSpc>
                          <a:spcPct val="100000"/>
                        </a:lnSpc>
                        <a:spcBef>
                          <a:spcPts val="5"/>
                        </a:spcBef>
                      </a:pPr>
                      <a:r>
                        <a:rPr sz="1000" spc="10" dirty="0">
                          <a:latin typeface="Tahoma"/>
                          <a:cs typeface="Tahoma"/>
                        </a:rPr>
                        <a:t>0.124</a:t>
                      </a:r>
                      <a:endParaRPr sz="1000">
                        <a:latin typeface="Tahoma"/>
                        <a:cs typeface="Tahoma"/>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
                        </a:spcBef>
                      </a:pPr>
                      <a:endParaRPr sz="1250">
                        <a:latin typeface="Times New Roman"/>
                        <a:cs typeface="Times New Roman"/>
                      </a:endParaRPr>
                    </a:p>
                    <a:p>
                      <a:pPr marL="635" algn="ctr">
                        <a:lnSpc>
                          <a:spcPct val="100000"/>
                        </a:lnSpc>
                        <a:spcBef>
                          <a:spcPts val="5"/>
                        </a:spcBef>
                      </a:pPr>
                      <a:r>
                        <a:rPr sz="1000" spc="10" dirty="0">
                          <a:latin typeface="Tahoma"/>
                          <a:cs typeface="Tahoma"/>
                        </a:rPr>
                        <a:t>0.278</a:t>
                      </a:r>
                      <a:endParaRPr sz="1000">
                        <a:latin typeface="Tahoma"/>
                        <a:cs typeface="Tahoma"/>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pPr>
                      <a:endParaRPr sz="1200">
                        <a:latin typeface="Times New Roman"/>
                        <a:cs typeface="Times New Roman"/>
                      </a:endParaRPr>
                    </a:p>
                    <a:p>
                      <a:pPr marL="138430">
                        <a:lnSpc>
                          <a:spcPct val="100000"/>
                        </a:lnSpc>
                      </a:pPr>
                      <a:r>
                        <a:rPr sz="1050" dirty="0">
                          <a:latin typeface="Cambria Math"/>
                          <a:cs typeface="Cambria Math"/>
                        </a:rPr>
                        <a:t>−∞</a:t>
                      </a:r>
                      <a:endParaRPr sz="1050">
                        <a:latin typeface="Cambria Math"/>
                        <a:cs typeface="Cambria Math"/>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pPr>
                      <a:endParaRPr sz="1200">
                        <a:latin typeface="Times New Roman"/>
                        <a:cs typeface="Times New Roman"/>
                      </a:endParaRPr>
                    </a:p>
                    <a:p>
                      <a:pPr marR="22225" algn="ctr">
                        <a:lnSpc>
                          <a:spcPct val="100000"/>
                        </a:lnSpc>
                      </a:pPr>
                      <a:r>
                        <a:rPr sz="1050" dirty="0">
                          <a:latin typeface="Cambria Math"/>
                          <a:cs typeface="Cambria Math"/>
                        </a:rPr>
                        <a:t>−∞</a:t>
                      </a:r>
                      <a:endParaRPr sz="1050">
                        <a:latin typeface="Cambria Math"/>
                        <a:cs typeface="Cambria Math"/>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pPr>
                      <a:endParaRPr sz="1200">
                        <a:latin typeface="Times New Roman"/>
                        <a:cs typeface="Times New Roman"/>
                      </a:endParaRPr>
                    </a:p>
                    <a:p>
                      <a:pPr marR="22225" algn="ctr">
                        <a:lnSpc>
                          <a:spcPct val="100000"/>
                        </a:lnSpc>
                      </a:pPr>
                      <a:r>
                        <a:rPr sz="1050" dirty="0">
                          <a:latin typeface="Cambria Math"/>
                          <a:cs typeface="Cambria Math"/>
                        </a:rPr>
                        <a:t>−∞</a:t>
                      </a:r>
                      <a:endParaRPr sz="1050">
                        <a:latin typeface="Cambria Math"/>
                        <a:cs typeface="Cambria Math"/>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2"/>
                  </a:ext>
                </a:extLst>
              </a:tr>
              <a:tr h="522477">
                <a:tc>
                  <a:txBody>
                    <a:bodyPr/>
                    <a:lstStyle/>
                    <a:p>
                      <a:pPr>
                        <a:lnSpc>
                          <a:spcPct val="100000"/>
                        </a:lnSpc>
                      </a:pPr>
                      <a:endParaRPr sz="700">
                        <a:latin typeface="Times New Roman"/>
                        <a:cs typeface="Times New Roman"/>
                      </a:endParaRPr>
                    </a:p>
                    <a:p>
                      <a:pPr marL="173355" marR="82550" indent="-81280">
                        <a:lnSpc>
                          <a:spcPct val="100000"/>
                        </a:lnSpc>
                        <a:spcBef>
                          <a:spcPts val="515"/>
                        </a:spcBef>
                      </a:pPr>
                      <a:r>
                        <a:rPr sz="600" b="1" spc="-5" dirty="0">
                          <a:latin typeface="Tahoma"/>
                          <a:cs typeface="Tahoma"/>
                        </a:rPr>
                        <a:t>H</a:t>
                      </a:r>
                      <a:r>
                        <a:rPr sz="600" b="1" dirty="0">
                          <a:latin typeface="Tahoma"/>
                          <a:cs typeface="Tahoma"/>
                        </a:rPr>
                        <a:t>I</a:t>
                      </a:r>
                      <a:r>
                        <a:rPr sz="600" b="1" spc="5" dirty="0">
                          <a:latin typeface="Tahoma"/>
                          <a:cs typeface="Tahoma"/>
                        </a:rPr>
                        <a:t>S</a:t>
                      </a:r>
                      <a:r>
                        <a:rPr sz="600" b="1" dirty="0">
                          <a:latin typeface="Tahoma"/>
                          <a:cs typeface="Tahoma"/>
                        </a:rPr>
                        <a:t>TO</a:t>
                      </a:r>
                      <a:r>
                        <a:rPr sz="600" b="1" spc="-5" dirty="0">
                          <a:latin typeface="Tahoma"/>
                          <a:cs typeface="Tahoma"/>
                        </a:rPr>
                        <a:t>RI  </a:t>
                      </a:r>
                      <a:r>
                        <a:rPr sz="600" b="1" dirty="0">
                          <a:latin typeface="Tahoma"/>
                          <a:cs typeface="Tahoma"/>
                        </a:rPr>
                        <a:t>CAL</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marL="98425">
                        <a:lnSpc>
                          <a:spcPct val="100000"/>
                        </a:lnSpc>
                      </a:pPr>
                      <a:r>
                        <a:rPr sz="1000" spc="10" dirty="0">
                          <a:latin typeface="Tahoma"/>
                          <a:cs typeface="Tahoma"/>
                        </a:rPr>
                        <a:t>0.147</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635" algn="ctr">
                        <a:lnSpc>
                          <a:spcPct val="100000"/>
                        </a:lnSpc>
                      </a:pPr>
                      <a:r>
                        <a:rPr sz="1000" spc="10" dirty="0">
                          <a:latin typeface="Tahoma"/>
                          <a:cs typeface="Tahoma"/>
                        </a:rPr>
                        <a:t>0.132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R="89535" algn="r">
                        <a:lnSpc>
                          <a:spcPct val="100000"/>
                        </a:lnSpc>
                      </a:pPr>
                      <a:r>
                        <a:rPr sz="1000" spc="10" dirty="0">
                          <a:latin typeface="Tahoma"/>
                          <a:cs typeface="Tahoma"/>
                        </a:rPr>
                        <a:t>0.262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5"/>
                        </a:spcBef>
                      </a:pPr>
                      <a:endParaRPr sz="1150">
                        <a:latin typeface="Times New Roman"/>
                        <a:cs typeface="Times New Roman"/>
                      </a:endParaRPr>
                    </a:p>
                    <a:p>
                      <a:pPr marR="22225" algn="ctr">
                        <a:lnSpc>
                          <a:spcPct val="100000"/>
                        </a:lnSpc>
                      </a:pPr>
                      <a:r>
                        <a:rPr sz="1050" dirty="0">
                          <a:latin typeface="Cambria Math"/>
                          <a:cs typeface="Cambria Math"/>
                        </a:rPr>
                        <a:t>−∞</a:t>
                      </a:r>
                      <a:endParaRPr sz="1050">
                        <a:latin typeface="Cambria Math"/>
                        <a:cs typeface="Cambria Math"/>
                      </a:endParaRPr>
                    </a:p>
                  </a:txBody>
                  <a:tcPr marL="0" marR="0" marT="69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5"/>
                        </a:spcBef>
                      </a:pPr>
                      <a:endParaRPr sz="1150">
                        <a:latin typeface="Times New Roman"/>
                        <a:cs typeface="Times New Roman"/>
                      </a:endParaRPr>
                    </a:p>
                    <a:p>
                      <a:pPr marR="22225" algn="ctr">
                        <a:lnSpc>
                          <a:spcPct val="100000"/>
                        </a:lnSpc>
                      </a:pPr>
                      <a:r>
                        <a:rPr sz="1050" dirty="0">
                          <a:latin typeface="Cambria Math"/>
                          <a:cs typeface="Cambria Math"/>
                        </a:rPr>
                        <a:t>−∞</a:t>
                      </a:r>
                      <a:endParaRPr sz="1050">
                        <a:latin typeface="Cambria Math"/>
                        <a:cs typeface="Cambria Math"/>
                      </a:endParaRPr>
                    </a:p>
                  </a:txBody>
                  <a:tcPr marL="0" marR="0" marT="69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3"/>
                  </a:ext>
                </a:extLst>
              </a:tr>
              <a:tr h="522478">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pPr>
                      <a:r>
                        <a:rPr sz="600" b="1" dirty="0">
                          <a:latin typeface="Tahoma"/>
                          <a:cs typeface="Tahoma"/>
                        </a:rPr>
                        <a:t>NOVEL</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marL="98425">
                        <a:lnSpc>
                          <a:spcPct val="100000"/>
                        </a:lnSpc>
                      </a:pPr>
                      <a:r>
                        <a:rPr sz="1000" spc="10" dirty="0">
                          <a:latin typeface="Tahoma"/>
                          <a:cs typeface="Tahoma"/>
                        </a:rPr>
                        <a:t>0.210</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635" algn="ctr">
                        <a:lnSpc>
                          <a:spcPct val="100000"/>
                        </a:lnSpc>
                      </a:pPr>
                      <a:r>
                        <a:rPr sz="1000" spc="10" dirty="0">
                          <a:latin typeface="Tahoma"/>
                          <a:cs typeface="Tahoma"/>
                        </a:rPr>
                        <a:t>0.128</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R="89535" algn="r">
                        <a:lnSpc>
                          <a:spcPct val="100000"/>
                        </a:lnSpc>
                      </a:pPr>
                      <a:r>
                        <a:rPr sz="1000" spc="10" dirty="0">
                          <a:latin typeface="Tahoma"/>
                          <a:cs typeface="Tahoma"/>
                        </a:rPr>
                        <a:t>0.206</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635" algn="ctr">
                        <a:lnSpc>
                          <a:spcPct val="100000"/>
                        </a:lnSpc>
                      </a:pPr>
                      <a:r>
                        <a:rPr sz="1000" spc="10" dirty="0">
                          <a:latin typeface="Tahoma"/>
                          <a:cs typeface="Tahoma"/>
                        </a:rPr>
                        <a:t>0.212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1590" algn="ctr">
                        <a:lnSpc>
                          <a:spcPct val="100000"/>
                        </a:lnSpc>
                        <a:spcBef>
                          <a:spcPts val="5"/>
                        </a:spcBef>
                      </a:pPr>
                      <a:r>
                        <a:rPr sz="1000" spc="-10" dirty="0">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4"/>
                  </a:ext>
                </a:extLst>
              </a:tr>
              <a:tr h="522477">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algn="ctr">
                        <a:lnSpc>
                          <a:spcPct val="100000"/>
                        </a:lnSpc>
                        <a:spcBef>
                          <a:spcPts val="5"/>
                        </a:spcBef>
                      </a:pPr>
                      <a:r>
                        <a:rPr sz="600" b="1" spc="-25" dirty="0">
                          <a:latin typeface="Tahoma"/>
                          <a:cs typeface="Tahoma"/>
                        </a:rPr>
                        <a:t>[PAD]</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marL="76835">
                        <a:lnSpc>
                          <a:spcPct val="100000"/>
                        </a:lnSpc>
                      </a:pPr>
                      <a:r>
                        <a:rPr sz="1000" b="1" dirty="0">
                          <a:solidFill>
                            <a:srgbClr val="E23717"/>
                          </a:solidFill>
                          <a:latin typeface="Tahoma"/>
                          <a:cs typeface="Tahoma"/>
                        </a:rPr>
                        <a:t>0.146</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b="1" dirty="0">
                          <a:solidFill>
                            <a:srgbClr val="E23717"/>
                          </a:solidFill>
                          <a:latin typeface="Tahoma"/>
                          <a:cs typeface="Tahoma"/>
                        </a:rPr>
                        <a:t>0.158</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R="70485" algn="r">
                        <a:lnSpc>
                          <a:spcPct val="100000"/>
                        </a:lnSpc>
                      </a:pPr>
                      <a:r>
                        <a:rPr sz="1000" b="1" dirty="0">
                          <a:solidFill>
                            <a:srgbClr val="E23717"/>
                          </a:solidFill>
                          <a:latin typeface="Tahoma"/>
                          <a:cs typeface="Tahoma"/>
                        </a:rPr>
                        <a:t>0.152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algn="ctr">
                        <a:lnSpc>
                          <a:spcPct val="100000"/>
                        </a:lnSpc>
                      </a:pPr>
                      <a:r>
                        <a:rPr sz="1000" b="1" dirty="0">
                          <a:solidFill>
                            <a:srgbClr val="E23717"/>
                          </a:solidFill>
                          <a:latin typeface="Tahoma"/>
                          <a:cs typeface="Tahoma"/>
                        </a:rPr>
                        <a:t>0.143</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dirty="0">
                        <a:latin typeface="Times New Roman"/>
                        <a:cs typeface="Times New Roman"/>
                      </a:endParaRPr>
                    </a:p>
                    <a:p>
                      <a:pPr algn="ctr">
                        <a:lnSpc>
                          <a:spcPct val="100000"/>
                        </a:lnSpc>
                      </a:pPr>
                      <a:r>
                        <a:rPr sz="1000" b="1" dirty="0">
                          <a:solidFill>
                            <a:srgbClr val="E23717"/>
                          </a:solidFill>
                          <a:latin typeface="Tahoma"/>
                          <a:cs typeface="Tahoma"/>
                        </a:rPr>
                        <a:t>0.227</a:t>
                      </a:r>
                      <a:endParaRPr sz="1000" dirty="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5"/>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4073817425"/>
              </p:ext>
            </p:extLst>
          </p:nvPr>
        </p:nvGraphicFramePr>
        <p:xfrm>
          <a:off x="8432211" y="2044153"/>
          <a:ext cx="3108958" cy="3134992"/>
        </p:xfrm>
        <a:graphic>
          <a:graphicData uri="http://schemas.openxmlformats.org/drawingml/2006/table">
            <a:tbl>
              <a:tblPr firstRow="1" bandRow="1">
                <a:tableStyleId>{2D5ABB26-0587-4C30-8999-92F81FD0307C}</a:tableStyleId>
              </a:tblPr>
              <a:tblGrid>
                <a:gridCol w="495934">
                  <a:extLst>
                    <a:ext uri="{9D8B030D-6E8A-4147-A177-3AD203B41FA5}">
                      <a16:colId xmlns:a16="http://schemas.microsoft.com/office/drawing/2014/main" val="20000"/>
                    </a:ext>
                  </a:extLst>
                </a:gridCol>
                <a:gridCol w="522604">
                  <a:extLst>
                    <a:ext uri="{9D8B030D-6E8A-4147-A177-3AD203B41FA5}">
                      <a16:colId xmlns:a16="http://schemas.microsoft.com/office/drawing/2014/main" val="20001"/>
                    </a:ext>
                  </a:extLst>
                </a:gridCol>
                <a:gridCol w="522605">
                  <a:extLst>
                    <a:ext uri="{9D8B030D-6E8A-4147-A177-3AD203B41FA5}">
                      <a16:colId xmlns:a16="http://schemas.microsoft.com/office/drawing/2014/main" val="20002"/>
                    </a:ext>
                  </a:extLst>
                </a:gridCol>
                <a:gridCol w="522605">
                  <a:extLst>
                    <a:ext uri="{9D8B030D-6E8A-4147-A177-3AD203B41FA5}">
                      <a16:colId xmlns:a16="http://schemas.microsoft.com/office/drawing/2014/main" val="20003"/>
                    </a:ext>
                  </a:extLst>
                </a:gridCol>
                <a:gridCol w="522605">
                  <a:extLst>
                    <a:ext uri="{9D8B030D-6E8A-4147-A177-3AD203B41FA5}">
                      <a16:colId xmlns:a16="http://schemas.microsoft.com/office/drawing/2014/main" val="20004"/>
                    </a:ext>
                  </a:extLst>
                </a:gridCol>
                <a:gridCol w="522605">
                  <a:extLst>
                    <a:ext uri="{9D8B030D-6E8A-4147-A177-3AD203B41FA5}">
                      <a16:colId xmlns:a16="http://schemas.microsoft.com/office/drawing/2014/main" val="20005"/>
                    </a:ext>
                  </a:extLst>
                </a:gridCol>
              </a:tblGrid>
              <a:tr h="522478">
                <a:tc>
                  <a:txBody>
                    <a:bodyPr/>
                    <a:lstStyle/>
                    <a:p>
                      <a:pPr>
                        <a:lnSpc>
                          <a:spcPct val="100000"/>
                        </a:lnSpc>
                      </a:pPr>
                      <a:endParaRPr sz="11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1270" algn="ctr">
                        <a:lnSpc>
                          <a:spcPct val="100000"/>
                        </a:lnSpc>
                        <a:spcBef>
                          <a:spcPts val="5"/>
                        </a:spcBef>
                      </a:pPr>
                      <a:r>
                        <a:rPr sz="600" b="1" spc="-25" dirty="0">
                          <a:latin typeface="Tahoma"/>
                          <a:cs typeface="Tahoma"/>
                        </a:rPr>
                        <a:t>TELL</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3175" algn="ctr">
                        <a:lnSpc>
                          <a:spcPct val="100000"/>
                        </a:lnSpc>
                        <a:spcBef>
                          <a:spcPts val="5"/>
                        </a:spcBef>
                      </a:pPr>
                      <a:r>
                        <a:rPr sz="600" b="1" spc="15" dirty="0">
                          <a:latin typeface="Tahoma"/>
                          <a:cs typeface="Tahoma"/>
                        </a:rPr>
                        <a:t>ME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3175" algn="ctr">
                        <a:lnSpc>
                          <a:spcPct val="100000"/>
                        </a:lnSpc>
                        <a:spcBef>
                          <a:spcPts val="5"/>
                        </a:spcBef>
                      </a:pPr>
                      <a:r>
                        <a:rPr sz="600" b="1" dirty="0">
                          <a:latin typeface="Tahoma"/>
                          <a:cs typeface="Tahoma"/>
                        </a:rPr>
                        <a:t>A</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dirty="0">
                        <a:latin typeface="Times New Roman"/>
                        <a:cs typeface="Times New Roman"/>
                      </a:endParaRPr>
                    </a:p>
                    <a:p>
                      <a:pPr>
                        <a:lnSpc>
                          <a:spcPct val="100000"/>
                        </a:lnSpc>
                        <a:spcBef>
                          <a:spcPts val="5"/>
                        </a:spcBef>
                      </a:pPr>
                      <a:endParaRPr sz="750" dirty="0">
                        <a:latin typeface="Times New Roman"/>
                        <a:cs typeface="Times New Roman"/>
                      </a:endParaRPr>
                    </a:p>
                    <a:p>
                      <a:pPr marL="1270" algn="ctr">
                        <a:lnSpc>
                          <a:spcPct val="100000"/>
                        </a:lnSpc>
                        <a:spcBef>
                          <a:spcPts val="5"/>
                        </a:spcBef>
                      </a:pPr>
                      <a:r>
                        <a:rPr sz="600" b="1" spc="5" dirty="0">
                          <a:latin typeface="Tahoma"/>
                          <a:cs typeface="Tahoma"/>
                        </a:rPr>
                        <a:t>FUNNY</a:t>
                      </a:r>
                      <a:endParaRPr sz="600" dirty="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L="1270" algn="ctr">
                        <a:lnSpc>
                          <a:spcPct val="100000"/>
                        </a:lnSpc>
                        <a:spcBef>
                          <a:spcPts val="5"/>
                        </a:spcBef>
                      </a:pPr>
                      <a:r>
                        <a:rPr sz="600" b="1" spc="10" dirty="0">
                          <a:latin typeface="Tahoma"/>
                          <a:cs typeface="Tahoma"/>
                        </a:rPr>
                        <a:t>JOKE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extLst>
                  <a:ext uri="{0D108BD9-81ED-4DB2-BD59-A6C34878D82A}">
                    <a16:rowId xmlns:a16="http://schemas.microsoft.com/office/drawing/2014/main" val="10000"/>
                  </a:ext>
                </a:extLst>
              </a:tr>
              <a:tr h="522477">
                <a:tc>
                  <a:txBody>
                    <a:bodyPr/>
                    <a:lstStyle/>
                    <a:p>
                      <a:pPr>
                        <a:lnSpc>
                          <a:spcPct val="100000"/>
                        </a:lnSpc>
                      </a:pPr>
                      <a:endParaRPr sz="700">
                        <a:latin typeface="Times New Roman"/>
                        <a:cs typeface="Times New Roman"/>
                      </a:endParaRPr>
                    </a:p>
                    <a:p>
                      <a:pPr>
                        <a:lnSpc>
                          <a:spcPct val="100000"/>
                        </a:lnSpc>
                        <a:spcBef>
                          <a:spcPts val="5"/>
                        </a:spcBef>
                      </a:pPr>
                      <a:endParaRPr sz="750">
                        <a:latin typeface="Times New Roman"/>
                        <a:cs typeface="Times New Roman"/>
                      </a:endParaRPr>
                    </a:p>
                    <a:p>
                      <a:pPr marR="154305" algn="r">
                        <a:lnSpc>
                          <a:spcPct val="100000"/>
                        </a:lnSpc>
                        <a:spcBef>
                          <a:spcPts val="5"/>
                        </a:spcBef>
                      </a:pPr>
                      <a:r>
                        <a:rPr sz="600" b="1" spc="-25" dirty="0">
                          <a:latin typeface="Tahoma"/>
                          <a:cs typeface="Tahoma"/>
                        </a:rPr>
                        <a:t>TELL</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5"/>
                        </a:spcBef>
                      </a:pPr>
                      <a:endParaRPr sz="1250">
                        <a:latin typeface="Times New Roman"/>
                        <a:cs typeface="Times New Roman"/>
                      </a:endParaRPr>
                    </a:p>
                    <a:p>
                      <a:pPr marL="1905" algn="ctr">
                        <a:lnSpc>
                          <a:spcPct val="100000"/>
                        </a:lnSpc>
                        <a:spcBef>
                          <a:spcPts val="5"/>
                        </a:spcBef>
                      </a:pPr>
                      <a:r>
                        <a:rPr sz="1000" spc="10" dirty="0">
                          <a:latin typeface="Tahoma"/>
                          <a:cs typeface="Tahoma"/>
                        </a:rPr>
                        <a:t>0.268</a:t>
                      </a:r>
                      <a:endParaRPr sz="1000">
                        <a:latin typeface="Tahoma"/>
                        <a:cs typeface="Tahoma"/>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5"/>
                        </a:spcBef>
                      </a:pPr>
                      <a:endParaRPr sz="1150">
                        <a:latin typeface="Times New Roman"/>
                        <a:cs typeface="Times New Roman"/>
                      </a:endParaRPr>
                    </a:p>
                    <a:p>
                      <a:pPr marR="20955" algn="ctr">
                        <a:lnSpc>
                          <a:spcPct val="100000"/>
                        </a:lnSpc>
                      </a:pPr>
                      <a:r>
                        <a:rPr sz="1050" dirty="0">
                          <a:latin typeface="Cambria Math"/>
                          <a:cs typeface="Cambria Math"/>
                        </a:rPr>
                        <a:t>−∞</a:t>
                      </a:r>
                      <a:endParaRPr sz="1050">
                        <a:latin typeface="Cambria Math"/>
                        <a:cs typeface="Cambria Math"/>
                      </a:endParaRPr>
                    </a:p>
                  </a:txBody>
                  <a:tcPr marL="0" marR="0" marT="69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5"/>
                        </a:spcBef>
                      </a:pPr>
                      <a:endParaRPr sz="1150">
                        <a:latin typeface="Times New Roman"/>
                        <a:cs typeface="Times New Roman"/>
                      </a:endParaRPr>
                    </a:p>
                    <a:p>
                      <a:pPr marR="20955" algn="ctr">
                        <a:lnSpc>
                          <a:spcPct val="100000"/>
                        </a:lnSpc>
                      </a:pPr>
                      <a:r>
                        <a:rPr sz="1050" dirty="0">
                          <a:latin typeface="Cambria Math"/>
                          <a:cs typeface="Cambria Math"/>
                        </a:rPr>
                        <a:t>−∞</a:t>
                      </a:r>
                      <a:endParaRPr sz="1050">
                        <a:latin typeface="Cambria Math"/>
                        <a:cs typeface="Cambria Math"/>
                      </a:endParaRPr>
                    </a:p>
                  </a:txBody>
                  <a:tcPr marL="0" marR="0" marT="69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5"/>
                        </a:spcBef>
                      </a:pPr>
                      <a:endParaRPr sz="1150">
                        <a:latin typeface="Times New Roman"/>
                        <a:cs typeface="Times New Roman"/>
                      </a:endParaRPr>
                    </a:p>
                    <a:p>
                      <a:pPr marR="20955" algn="ctr">
                        <a:lnSpc>
                          <a:spcPct val="100000"/>
                        </a:lnSpc>
                      </a:pPr>
                      <a:r>
                        <a:rPr sz="1050" dirty="0">
                          <a:latin typeface="Cambria Math"/>
                          <a:cs typeface="Cambria Math"/>
                        </a:rPr>
                        <a:t>−∞</a:t>
                      </a:r>
                      <a:endParaRPr sz="1050">
                        <a:latin typeface="Cambria Math"/>
                        <a:cs typeface="Cambria Math"/>
                      </a:endParaRPr>
                    </a:p>
                  </a:txBody>
                  <a:tcPr marL="0" marR="0" marT="69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5"/>
                        </a:spcBef>
                      </a:pPr>
                      <a:endParaRPr sz="1150">
                        <a:latin typeface="Times New Roman"/>
                        <a:cs typeface="Times New Roman"/>
                      </a:endParaRPr>
                    </a:p>
                    <a:p>
                      <a:pPr marR="20955" algn="ctr">
                        <a:lnSpc>
                          <a:spcPct val="100000"/>
                        </a:lnSpc>
                      </a:pPr>
                      <a:r>
                        <a:rPr sz="1050" dirty="0">
                          <a:latin typeface="Cambria Math"/>
                          <a:cs typeface="Cambria Math"/>
                        </a:rPr>
                        <a:t>−∞</a:t>
                      </a:r>
                      <a:endParaRPr sz="1050">
                        <a:latin typeface="Cambria Math"/>
                        <a:cs typeface="Cambria Math"/>
                      </a:endParaRPr>
                    </a:p>
                  </a:txBody>
                  <a:tcPr marL="0" marR="0" marT="69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1"/>
                  </a:ext>
                </a:extLst>
              </a:tr>
              <a:tr h="522605">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2540" algn="ctr">
                        <a:lnSpc>
                          <a:spcPct val="100000"/>
                        </a:lnSpc>
                      </a:pPr>
                      <a:r>
                        <a:rPr sz="600" b="1" spc="15" dirty="0">
                          <a:latin typeface="Tahoma"/>
                          <a:cs typeface="Tahoma"/>
                        </a:rPr>
                        <a:t>ME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5"/>
                        </a:spcBef>
                      </a:pPr>
                      <a:endParaRPr sz="1250">
                        <a:latin typeface="Times New Roman"/>
                        <a:cs typeface="Times New Roman"/>
                      </a:endParaRPr>
                    </a:p>
                    <a:p>
                      <a:pPr marL="1905" algn="ctr">
                        <a:lnSpc>
                          <a:spcPct val="100000"/>
                        </a:lnSpc>
                        <a:spcBef>
                          <a:spcPts val="5"/>
                        </a:spcBef>
                      </a:pPr>
                      <a:r>
                        <a:rPr sz="1000" spc="10" dirty="0">
                          <a:latin typeface="Tahoma"/>
                          <a:cs typeface="Tahoma"/>
                        </a:rPr>
                        <a:t>0.124</a:t>
                      </a:r>
                      <a:endParaRPr sz="1000">
                        <a:latin typeface="Tahoma"/>
                        <a:cs typeface="Tahoma"/>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
                        </a:spcBef>
                      </a:pPr>
                      <a:endParaRPr sz="1250" dirty="0">
                        <a:latin typeface="Times New Roman"/>
                        <a:cs typeface="Times New Roman"/>
                      </a:endParaRPr>
                    </a:p>
                    <a:p>
                      <a:pPr marL="1270" algn="ctr">
                        <a:lnSpc>
                          <a:spcPct val="100000"/>
                        </a:lnSpc>
                        <a:spcBef>
                          <a:spcPts val="5"/>
                        </a:spcBef>
                      </a:pPr>
                      <a:r>
                        <a:rPr sz="1000" spc="10" dirty="0">
                          <a:latin typeface="Tahoma"/>
                          <a:cs typeface="Tahoma"/>
                        </a:rPr>
                        <a:t>0.278</a:t>
                      </a:r>
                      <a:endParaRPr sz="1000" dirty="0">
                        <a:latin typeface="Tahoma"/>
                        <a:cs typeface="Tahoma"/>
                      </a:endParaRPr>
                    </a:p>
                  </a:txBody>
                  <a:tcPr marL="0" marR="0" marT="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pPr>
                      <a:endParaRPr sz="1200" dirty="0">
                        <a:latin typeface="Times New Roman"/>
                        <a:cs typeface="Times New Roman"/>
                      </a:endParaRPr>
                    </a:p>
                    <a:p>
                      <a:pPr marR="20955" algn="ctr">
                        <a:lnSpc>
                          <a:spcPct val="100000"/>
                        </a:lnSpc>
                      </a:pPr>
                      <a:r>
                        <a:rPr sz="1050" dirty="0">
                          <a:latin typeface="Cambria Math"/>
                          <a:cs typeface="Cambria Math"/>
                        </a:rPr>
                        <a:t>−∞</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pPr>
                      <a:endParaRPr sz="1200">
                        <a:latin typeface="Times New Roman"/>
                        <a:cs typeface="Times New Roman"/>
                      </a:endParaRPr>
                    </a:p>
                    <a:p>
                      <a:pPr marR="20955" algn="ctr">
                        <a:lnSpc>
                          <a:spcPct val="100000"/>
                        </a:lnSpc>
                      </a:pPr>
                      <a:r>
                        <a:rPr sz="1050" dirty="0">
                          <a:latin typeface="Cambria Math"/>
                          <a:cs typeface="Cambria Math"/>
                        </a:rPr>
                        <a:t>−∞</a:t>
                      </a:r>
                      <a:endParaRPr sz="1050">
                        <a:latin typeface="Cambria Math"/>
                        <a:cs typeface="Cambria Math"/>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pPr>
                      <a:endParaRPr sz="1200">
                        <a:latin typeface="Times New Roman"/>
                        <a:cs typeface="Times New Roman"/>
                      </a:endParaRPr>
                    </a:p>
                    <a:p>
                      <a:pPr marR="20955" algn="ctr">
                        <a:lnSpc>
                          <a:spcPct val="100000"/>
                        </a:lnSpc>
                      </a:pPr>
                      <a:r>
                        <a:rPr sz="1050" dirty="0">
                          <a:latin typeface="Cambria Math"/>
                          <a:cs typeface="Cambria Math"/>
                        </a:rPr>
                        <a:t>−∞</a:t>
                      </a:r>
                      <a:endParaRPr sz="1050">
                        <a:latin typeface="Cambria Math"/>
                        <a:cs typeface="Cambria Math"/>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2"/>
                  </a:ext>
                </a:extLst>
              </a:tr>
              <a:tr h="522477">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L="2540" algn="ctr">
                        <a:lnSpc>
                          <a:spcPct val="100000"/>
                        </a:lnSpc>
                      </a:pPr>
                      <a:r>
                        <a:rPr sz="600" b="1" dirty="0">
                          <a:latin typeface="Tahoma"/>
                          <a:cs typeface="Tahoma"/>
                        </a:rPr>
                        <a:t>A</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marL="1905" algn="ctr">
                        <a:lnSpc>
                          <a:spcPct val="100000"/>
                        </a:lnSpc>
                      </a:pPr>
                      <a:r>
                        <a:rPr sz="1000" spc="10" dirty="0">
                          <a:latin typeface="Tahoma"/>
                          <a:cs typeface="Tahoma"/>
                        </a:rPr>
                        <a:t>0.147</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0.132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905" algn="ctr">
                        <a:lnSpc>
                          <a:spcPct val="100000"/>
                        </a:lnSpc>
                      </a:pPr>
                      <a:r>
                        <a:rPr sz="1000" spc="10" dirty="0">
                          <a:latin typeface="Tahoma"/>
                          <a:cs typeface="Tahoma"/>
                        </a:rPr>
                        <a:t>0.262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5"/>
                        </a:spcBef>
                      </a:pPr>
                      <a:endParaRPr sz="1150">
                        <a:latin typeface="Times New Roman"/>
                        <a:cs typeface="Times New Roman"/>
                      </a:endParaRPr>
                    </a:p>
                    <a:p>
                      <a:pPr marR="20955" algn="ctr">
                        <a:lnSpc>
                          <a:spcPct val="100000"/>
                        </a:lnSpc>
                      </a:pPr>
                      <a:r>
                        <a:rPr sz="1050" dirty="0">
                          <a:latin typeface="Cambria Math"/>
                          <a:cs typeface="Cambria Math"/>
                        </a:rPr>
                        <a:t>−∞</a:t>
                      </a:r>
                      <a:endParaRPr sz="1050">
                        <a:latin typeface="Cambria Math"/>
                        <a:cs typeface="Cambria Math"/>
                      </a:endParaRPr>
                    </a:p>
                  </a:txBody>
                  <a:tcPr marL="0" marR="0" marT="69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55"/>
                        </a:spcBef>
                      </a:pPr>
                      <a:endParaRPr sz="1150">
                        <a:latin typeface="Times New Roman"/>
                        <a:cs typeface="Times New Roman"/>
                      </a:endParaRPr>
                    </a:p>
                    <a:p>
                      <a:pPr marR="20955" algn="ctr">
                        <a:lnSpc>
                          <a:spcPct val="100000"/>
                        </a:lnSpc>
                      </a:pPr>
                      <a:r>
                        <a:rPr sz="1050" dirty="0">
                          <a:latin typeface="Cambria Math"/>
                          <a:cs typeface="Cambria Math"/>
                        </a:rPr>
                        <a:t>−∞</a:t>
                      </a:r>
                      <a:endParaRPr sz="1050">
                        <a:latin typeface="Cambria Math"/>
                        <a:cs typeface="Cambria Math"/>
                      </a:endParaRPr>
                    </a:p>
                  </a:txBody>
                  <a:tcPr marL="0" marR="0" marT="69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3"/>
                  </a:ext>
                </a:extLst>
              </a:tr>
              <a:tr h="522478">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R="102870" algn="r">
                        <a:lnSpc>
                          <a:spcPct val="100000"/>
                        </a:lnSpc>
                      </a:pPr>
                      <a:r>
                        <a:rPr sz="600" b="1" spc="5" dirty="0">
                          <a:latin typeface="Tahoma"/>
                          <a:cs typeface="Tahoma"/>
                        </a:rPr>
                        <a:t>FUNNY</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marL="1905" algn="ctr">
                        <a:lnSpc>
                          <a:spcPct val="100000"/>
                        </a:lnSpc>
                      </a:pPr>
                      <a:r>
                        <a:rPr sz="1000" spc="10" dirty="0">
                          <a:latin typeface="Tahoma"/>
                          <a:cs typeface="Tahoma"/>
                        </a:rPr>
                        <a:t>0.210</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0.128</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905" algn="ctr">
                        <a:lnSpc>
                          <a:spcPct val="100000"/>
                        </a:lnSpc>
                      </a:pPr>
                      <a:r>
                        <a:rPr sz="1000" spc="10" dirty="0">
                          <a:latin typeface="Tahoma"/>
                          <a:cs typeface="Tahoma"/>
                        </a:rPr>
                        <a:t>0.206</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905" algn="ctr">
                        <a:lnSpc>
                          <a:spcPct val="100000"/>
                        </a:lnSpc>
                      </a:pPr>
                      <a:r>
                        <a:rPr sz="1000" spc="10" dirty="0">
                          <a:latin typeface="Tahoma"/>
                          <a:cs typeface="Tahoma"/>
                        </a:rPr>
                        <a:t>0.212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sz="1250">
                        <a:latin typeface="Times New Roman"/>
                        <a:cs typeface="Times New Roman"/>
                      </a:endParaRPr>
                    </a:p>
                    <a:p>
                      <a:pPr marR="20320" algn="ctr">
                        <a:lnSpc>
                          <a:spcPct val="100000"/>
                        </a:lnSpc>
                        <a:spcBef>
                          <a:spcPts val="5"/>
                        </a:spcBef>
                      </a:pPr>
                      <a:r>
                        <a:rPr sz="1000" spc="-10" dirty="0">
                          <a:latin typeface="Cambria Math"/>
                          <a:cs typeface="Cambria Math"/>
                        </a:rPr>
                        <a:t>−∞</a:t>
                      </a:r>
                      <a:endParaRPr sz="1000">
                        <a:latin typeface="Cambria Math"/>
                        <a:cs typeface="Cambria Math"/>
                      </a:endParaRP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4"/>
                  </a:ext>
                </a:extLst>
              </a:tr>
              <a:tr h="522477">
                <a:tc>
                  <a:txBody>
                    <a:bodyPr/>
                    <a:lstStyle/>
                    <a:p>
                      <a:pPr>
                        <a:lnSpc>
                          <a:spcPct val="100000"/>
                        </a:lnSpc>
                      </a:pPr>
                      <a:endParaRPr sz="700">
                        <a:latin typeface="Times New Roman"/>
                        <a:cs typeface="Times New Roman"/>
                      </a:endParaRPr>
                    </a:p>
                    <a:p>
                      <a:pPr>
                        <a:lnSpc>
                          <a:spcPct val="100000"/>
                        </a:lnSpc>
                        <a:spcBef>
                          <a:spcPts val="10"/>
                        </a:spcBef>
                      </a:pPr>
                      <a:endParaRPr sz="750">
                        <a:latin typeface="Times New Roman"/>
                        <a:cs typeface="Times New Roman"/>
                      </a:endParaRPr>
                    </a:p>
                    <a:p>
                      <a:pPr marR="136525" algn="r">
                        <a:lnSpc>
                          <a:spcPct val="100000"/>
                        </a:lnSpc>
                        <a:spcBef>
                          <a:spcPts val="5"/>
                        </a:spcBef>
                      </a:pPr>
                      <a:r>
                        <a:rPr sz="600" b="1" spc="10" dirty="0">
                          <a:latin typeface="Tahoma"/>
                          <a:cs typeface="Tahoma"/>
                        </a:rPr>
                        <a:t>JOKE</a:t>
                      </a:r>
                      <a:endParaRPr sz="6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BE71"/>
                    </a:solidFill>
                  </a:tcPr>
                </a:tc>
                <a:tc>
                  <a:txBody>
                    <a:bodyPr/>
                    <a:lstStyle/>
                    <a:p>
                      <a:pPr>
                        <a:lnSpc>
                          <a:spcPct val="100000"/>
                        </a:lnSpc>
                        <a:spcBef>
                          <a:spcPts val="10"/>
                        </a:spcBef>
                      </a:pPr>
                      <a:endParaRPr sz="1250">
                        <a:latin typeface="Times New Roman"/>
                        <a:cs typeface="Times New Roman"/>
                      </a:endParaRPr>
                    </a:p>
                    <a:p>
                      <a:pPr marL="1905" algn="ctr">
                        <a:lnSpc>
                          <a:spcPct val="100000"/>
                        </a:lnSpc>
                      </a:pPr>
                      <a:r>
                        <a:rPr sz="1000" spc="10" dirty="0">
                          <a:latin typeface="Tahoma"/>
                          <a:cs typeface="Tahoma"/>
                        </a:rPr>
                        <a:t>0.146</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270" algn="ctr">
                        <a:lnSpc>
                          <a:spcPct val="100000"/>
                        </a:lnSpc>
                      </a:pPr>
                      <a:r>
                        <a:rPr sz="1000" spc="10" dirty="0">
                          <a:latin typeface="Tahoma"/>
                          <a:cs typeface="Tahoma"/>
                        </a:rPr>
                        <a:t>0.158</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905" algn="ctr">
                        <a:lnSpc>
                          <a:spcPct val="100000"/>
                        </a:lnSpc>
                      </a:pPr>
                      <a:r>
                        <a:rPr sz="1000" spc="10" dirty="0">
                          <a:latin typeface="Tahoma"/>
                          <a:cs typeface="Tahoma"/>
                        </a:rPr>
                        <a:t>0.152</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a:latin typeface="Times New Roman"/>
                        <a:cs typeface="Times New Roman"/>
                      </a:endParaRPr>
                    </a:p>
                    <a:p>
                      <a:pPr marL="1905" algn="ctr">
                        <a:lnSpc>
                          <a:spcPct val="100000"/>
                        </a:lnSpc>
                      </a:pPr>
                      <a:r>
                        <a:rPr sz="1000" spc="10" dirty="0">
                          <a:latin typeface="Tahoma"/>
                          <a:cs typeface="Tahoma"/>
                        </a:rPr>
                        <a:t>0.143</a:t>
                      </a:r>
                      <a:endParaRPr sz="100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10"/>
                        </a:spcBef>
                      </a:pPr>
                      <a:endParaRPr sz="1250" dirty="0">
                        <a:latin typeface="Times New Roman"/>
                        <a:cs typeface="Times New Roman"/>
                      </a:endParaRPr>
                    </a:p>
                    <a:p>
                      <a:pPr marL="2540" algn="ctr">
                        <a:lnSpc>
                          <a:spcPct val="100000"/>
                        </a:lnSpc>
                      </a:pPr>
                      <a:r>
                        <a:rPr sz="1000" spc="10" dirty="0">
                          <a:latin typeface="Tahoma"/>
                          <a:cs typeface="Tahoma"/>
                        </a:rPr>
                        <a:t>0.227</a:t>
                      </a:r>
                      <a:endParaRPr sz="1000" dirty="0">
                        <a:latin typeface="Tahoma"/>
                        <a:cs typeface="Tahoma"/>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5"/>
                  </a:ext>
                </a:extLst>
              </a:tr>
            </a:tbl>
          </a:graphicData>
        </a:graphic>
      </p:graphicFrame>
      <p:sp>
        <p:nvSpPr>
          <p:cNvPr id="6" name="object 6"/>
          <p:cNvSpPr txBox="1"/>
          <p:nvPr/>
        </p:nvSpPr>
        <p:spPr>
          <a:xfrm>
            <a:off x="676214" y="1674619"/>
            <a:ext cx="4790409" cy="259045"/>
          </a:xfrm>
          <a:prstGeom prst="rect">
            <a:avLst/>
          </a:prstGeom>
        </p:spPr>
        <p:txBody>
          <a:bodyPr vert="horz" wrap="square" lIns="0" tIns="12700" rIns="0" bIns="0" rtlCol="0">
            <a:spAutoFit/>
          </a:bodyPr>
          <a:lstStyle/>
          <a:p>
            <a:pPr marL="12700">
              <a:lnSpc>
                <a:spcPct val="100000"/>
              </a:lnSpc>
              <a:spcBef>
                <a:spcPts val="100"/>
              </a:spcBef>
            </a:pPr>
            <a:r>
              <a:rPr sz="1600" spc="55" dirty="0">
                <a:cs typeface="Tahoma"/>
              </a:rPr>
              <a:t>All</a:t>
            </a:r>
            <a:r>
              <a:rPr sz="1600" spc="-75" dirty="0">
                <a:cs typeface="Tahoma"/>
              </a:rPr>
              <a:t> </a:t>
            </a:r>
            <a:r>
              <a:rPr sz="1600" spc="15" dirty="0">
                <a:cs typeface="Tahoma"/>
              </a:rPr>
              <a:t>the</a:t>
            </a:r>
            <a:r>
              <a:rPr sz="1600" spc="-70" dirty="0">
                <a:cs typeface="Tahoma"/>
              </a:rPr>
              <a:t> </a:t>
            </a:r>
            <a:r>
              <a:rPr sz="1600" spc="15" dirty="0">
                <a:cs typeface="Tahoma"/>
              </a:rPr>
              <a:t>useless</a:t>
            </a:r>
            <a:r>
              <a:rPr sz="1600" spc="-35" dirty="0">
                <a:cs typeface="Tahoma"/>
              </a:rPr>
              <a:t> </a:t>
            </a:r>
            <a:r>
              <a:rPr sz="1600" spc="30" dirty="0">
                <a:cs typeface="Tahoma"/>
              </a:rPr>
              <a:t>dot-products</a:t>
            </a:r>
            <a:r>
              <a:rPr sz="1600" spc="-65" dirty="0">
                <a:cs typeface="Tahoma"/>
              </a:rPr>
              <a:t> </a:t>
            </a:r>
            <a:r>
              <a:rPr sz="1600" spc="10" dirty="0">
                <a:cs typeface="Tahoma"/>
              </a:rPr>
              <a:t>are</a:t>
            </a:r>
            <a:r>
              <a:rPr sz="1600" spc="-65" dirty="0">
                <a:cs typeface="Tahoma"/>
              </a:rPr>
              <a:t> </a:t>
            </a:r>
            <a:r>
              <a:rPr sz="1600" spc="40" dirty="0">
                <a:cs typeface="Tahoma"/>
              </a:rPr>
              <a:t>highlighted</a:t>
            </a:r>
            <a:r>
              <a:rPr sz="1600" spc="-55" dirty="0">
                <a:cs typeface="Tahoma"/>
              </a:rPr>
              <a:t> </a:t>
            </a:r>
            <a:r>
              <a:rPr sz="1600" spc="25" dirty="0">
                <a:cs typeface="Tahoma"/>
              </a:rPr>
              <a:t>in</a:t>
            </a:r>
            <a:r>
              <a:rPr sz="1600" spc="-55" dirty="0">
                <a:cs typeface="Tahoma"/>
              </a:rPr>
              <a:t> </a:t>
            </a:r>
            <a:r>
              <a:rPr sz="1600" spc="15" dirty="0">
                <a:solidFill>
                  <a:srgbClr val="E23717"/>
                </a:solidFill>
                <a:cs typeface="Tahoma"/>
              </a:rPr>
              <a:t>red</a:t>
            </a:r>
            <a:r>
              <a:rPr sz="1600" spc="15" dirty="0">
                <a:cs typeface="Tahoma"/>
              </a:rPr>
              <a:t>.</a:t>
            </a:r>
            <a:endParaRPr sz="1600" dirty="0">
              <a:cs typeface="Tahoma"/>
            </a:endParaRPr>
          </a:p>
        </p:txBody>
      </p:sp>
      <p:sp>
        <p:nvSpPr>
          <p:cNvPr id="7" name="object 7"/>
          <p:cNvSpPr txBox="1"/>
          <p:nvPr/>
        </p:nvSpPr>
        <p:spPr>
          <a:xfrm>
            <a:off x="667996" y="5590440"/>
            <a:ext cx="10865192" cy="505267"/>
          </a:xfrm>
          <a:prstGeom prst="rect">
            <a:avLst/>
          </a:prstGeom>
        </p:spPr>
        <p:txBody>
          <a:bodyPr vert="horz" wrap="square" lIns="0" tIns="12700" rIns="0" bIns="0" rtlCol="0">
            <a:spAutoFit/>
          </a:bodyPr>
          <a:lstStyle/>
          <a:p>
            <a:pPr marL="12700" marR="5080" algn="just">
              <a:lnSpc>
                <a:spcPct val="100000"/>
              </a:lnSpc>
              <a:spcBef>
                <a:spcPts val="100"/>
              </a:spcBef>
            </a:pPr>
            <a:r>
              <a:rPr sz="1600" spc="10" dirty="0">
                <a:cs typeface="Tahoma"/>
              </a:rPr>
              <a:t>There</a:t>
            </a:r>
            <a:r>
              <a:rPr sz="1600" spc="-50" dirty="0">
                <a:cs typeface="Tahoma"/>
              </a:rPr>
              <a:t> </a:t>
            </a:r>
            <a:r>
              <a:rPr sz="1600" spc="10" dirty="0">
                <a:cs typeface="Tahoma"/>
              </a:rPr>
              <a:t>is</a:t>
            </a:r>
            <a:r>
              <a:rPr sz="1600" spc="-65" dirty="0">
                <a:cs typeface="Tahoma"/>
              </a:rPr>
              <a:t> </a:t>
            </a:r>
            <a:r>
              <a:rPr sz="1600" spc="25" dirty="0">
                <a:cs typeface="Tahoma"/>
              </a:rPr>
              <a:t>also</a:t>
            </a:r>
            <a:r>
              <a:rPr sz="1600" spc="-60" dirty="0">
                <a:cs typeface="Tahoma"/>
              </a:rPr>
              <a:t> </a:t>
            </a:r>
            <a:r>
              <a:rPr sz="1600" spc="15" dirty="0">
                <a:cs typeface="Tahoma"/>
              </a:rPr>
              <a:t>the</a:t>
            </a:r>
            <a:r>
              <a:rPr sz="1600" spc="-70" dirty="0">
                <a:cs typeface="Tahoma"/>
              </a:rPr>
              <a:t> </a:t>
            </a:r>
            <a:r>
              <a:rPr sz="1600" spc="50" dirty="0">
                <a:cs typeface="Tahoma"/>
              </a:rPr>
              <a:t>problem</a:t>
            </a:r>
            <a:r>
              <a:rPr sz="1600" spc="-55" dirty="0">
                <a:cs typeface="Tahoma"/>
              </a:rPr>
              <a:t> </a:t>
            </a:r>
            <a:r>
              <a:rPr sz="1600" spc="25" dirty="0">
                <a:cs typeface="Tahoma"/>
              </a:rPr>
              <a:t>of</a:t>
            </a:r>
            <a:r>
              <a:rPr sz="1600" spc="-45" dirty="0">
                <a:cs typeface="Tahoma"/>
              </a:rPr>
              <a:t> </a:t>
            </a:r>
            <a:r>
              <a:rPr sz="1600" spc="15" dirty="0">
                <a:cs typeface="Tahoma"/>
              </a:rPr>
              <a:t>the</a:t>
            </a:r>
            <a:r>
              <a:rPr sz="1600" spc="-65" dirty="0">
                <a:cs typeface="Tahoma"/>
              </a:rPr>
              <a:t> </a:t>
            </a:r>
            <a:r>
              <a:rPr sz="1600" spc="20" dirty="0">
                <a:cs typeface="Tahoma"/>
              </a:rPr>
              <a:t>KV-Cache:</a:t>
            </a:r>
            <a:r>
              <a:rPr sz="1600" spc="-65" dirty="0">
                <a:cs typeface="Tahoma"/>
              </a:rPr>
              <a:t> </a:t>
            </a:r>
            <a:r>
              <a:rPr sz="1600" spc="30" dirty="0">
                <a:cs typeface="Tahoma"/>
              </a:rPr>
              <a:t>each</a:t>
            </a:r>
            <a:r>
              <a:rPr sz="1600" spc="-65" dirty="0">
                <a:cs typeface="Tahoma"/>
              </a:rPr>
              <a:t> </a:t>
            </a:r>
            <a:r>
              <a:rPr sz="1600" spc="40" dirty="0">
                <a:cs typeface="Tahoma"/>
              </a:rPr>
              <a:t>prompt</a:t>
            </a:r>
            <a:r>
              <a:rPr sz="1600" spc="-45" dirty="0">
                <a:cs typeface="Tahoma"/>
              </a:rPr>
              <a:t> </a:t>
            </a:r>
            <a:r>
              <a:rPr sz="1600" spc="10" dirty="0">
                <a:cs typeface="Tahoma"/>
              </a:rPr>
              <a:t>may</a:t>
            </a:r>
            <a:r>
              <a:rPr sz="1600" spc="-60" dirty="0">
                <a:cs typeface="Tahoma"/>
              </a:rPr>
              <a:t> </a:t>
            </a:r>
            <a:r>
              <a:rPr sz="1600" spc="15" dirty="0">
                <a:cs typeface="Tahoma"/>
              </a:rPr>
              <a:t>have</a:t>
            </a:r>
            <a:r>
              <a:rPr sz="1600" spc="-60" dirty="0">
                <a:cs typeface="Tahoma"/>
              </a:rPr>
              <a:t> </a:t>
            </a:r>
            <a:r>
              <a:rPr sz="1600" spc="10" dirty="0">
                <a:cs typeface="Tahoma"/>
              </a:rPr>
              <a:t>a</a:t>
            </a:r>
            <a:r>
              <a:rPr sz="1600" spc="-75" dirty="0">
                <a:cs typeface="Tahoma"/>
              </a:rPr>
              <a:t> </a:t>
            </a:r>
            <a:r>
              <a:rPr sz="1600" spc="10" dirty="0">
                <a:cs typeface="Tahoma"/>
              </a:rPr>
              <a:t>different</a:t>
            </a:r>
            <a:r>
              <a:rPr sz="1600" spc="-55" dirty="0">
                <a:cs typeface="Tahoma"/>
              </a:rPr>
              <a:t> </a:t>
            </a:r>
            <a:r>
              <a:rPr sz="1600" spc="30" dirty="0">
                <a:cs typeface="Tahoma"/>
              </a:rPr>
              <a:t>KV-Cache</a:t>
            </a:r>
            <a:r>
              <a:rPr sz="1600" spc="-70" dirty="0">
                <a:cs typeface="Tahoma"/>
              </a:rPr>
              <a:t> </a:t>
            </a:r>
            <a:r>
              <a:rPr sz="1600" spc="15" dirty="0">
                <a:cs typeface="Tahoma"/>
              </a:rPr>
              <a:t>size </a:t>
            </a:r>
            <a:r>
              <a:rPr sz="1600" spc="-365" dirty="0">
                <a:cs typeface="Tahoma"/>
              </a:rPr>
              <a:t> </a:t>
            </a:r>
            <a:r>
              <a:rPr sz="1600" spc="20" dirty="0">
                <a:cs typeface="Tahoma"/>
              </a:rPr>
              <a:t>(imagine</a:t>
            </a:r>
            <a:r>
              <a:rPr sz="1600" spc="-50" dirty="0">
                <a:cs typeface="Tahoma"/>
              </a:rPr>
              <a:t> </a:t>
            </a:r>
            <a:r>
              <a:rPr sz="1600" spc="50" dirty="0">
                <a:cs typeface="Tahoma"/>
              </a:rPr>
              <a:t>one</a:t>
            </a:r>
            <a:r>
              <a:rPr sz="1600" spc="-65" dirty="0">
                <a:cs typeface="Tahoma"/>
              </a:rPr>
              <a:t> </a:t>
            </a:r>
            <a:r>
              <a:rPr sz="1600" spc="40" dirty="0">
                <a:cs typeface="Tahoma"/>
              </a:rPr>
              <a:t>prompt</a:t>
            </a:r>
            <a:r>
              <a:rPr sz="1600" spc="-45" dirty="0">
                <a:cs typeface="Tahoma"/>
              </a:rPr>
              <a:t> </a:t>
            </a:r>
            <a:r>
              <a:rPr sz="1600" spc="10" dirty="0">
                <a:cs typeface="Tahoma"/>
              </a:rPr>
              <a:t>with</a:t>
            </a:r>
            <a:r>
              <a:rPr sz="1600" spc="-75" dirty="0">
                <a:cs typeface="Tahoma"/>
              </a:rPr>
              <a:t> </a:t>
            </a:r>
            <a:r>
              <a:rPr sz="1600" spc="30" dirty="0">
                <a:cs typeface="Tahoma"/>
              </a:rPr>
              <a:t>only</a:t>
            </a:r>
            <a:r>
              <a:rPr sz="1600" spc="-70" dirty="0">
                <a:cs typeface="Tahoma"/>
              </a:rPr>
              <a:t> </a:t>
            </a:r>
            <a:r>
              <a:rPr sz="1600" spc="35" dirty="0">
                <a:cs typeface="Tahoma"/>
              </a:rPr>
              <a:t>10</a:t>
            </a:r>
            <a:r>
              <a:rPr sz="1600" spc="-60" dirty="0">
                <a:cs typeface="Tahoma"/>
              </a:rPr>
              <a:t> </a:t>
            </a:r>
            <a:r>
              <a:rPr sz="1600" spc="20" dirty="0">
                <a:cs typeface="Tahoma"/>
              </a:rPr>
              <a:t>tokens</a:t>
            </a:r>
            <a:r>
              <a:rPr sz="1600" spc="-50" dirty="0">
                <a:cs typeface="Tahoma"/>
              </a:rPr>
              <a:t> </a:t>
            </a:r>
            <a:r>
              <a:rPr sz="1600" spc="40" dirty="0">
                <a:cs typeface="Tahoma"/>
              </a:rPr>
              <a:t>and</a:t>
            </a:r>
            <a:r>
              <a:rPr sz="1600" spc="-75" dirty="0">
                <a:cs typeface="Tahoma"/>
              </a:rPr>
              <a:t> </a:t>
            </a:r>
            <a:r>
              <a:rPr sz="1600" spc="20" dirty="0">
                <a:cs typeface="Tahoma"/>
              </a:rPr>
              <a:t>another</a:t>
            </a:r>
            <a:r>
              <a:rPr sz="1600" spc="-65" dirty="0">
                <a:cs typeface="Tahoma"/>
              </a:rPr>
              <a:t> </a:t>
            </a:r>
            <a:r>
              <a:rPr sz="1600" spc="50" dirty="0">
                <a:cs typeface="Tahoma"/>
              </a:rPr>
              <a:t>one</a:t>
            </a:r>
            <a:r>
              <a:rPr sz="1600" spc="-65" dirty="0">
                <a:cs typeface="Tahoma"/>
              </a:rPr>
              <a:t> </a:t>
            </a:r>
            <a:r>
              <a:rPr sz="1600" spc="10" dirty="0">
                <a:cs typeface="Tahoma"/>
              </a:rPr>
              <a:t>with</a:t>
            </a:r>
            <a:r>
              <a:rPr sz="1600" spc="-90" dirty="0">
                <a:cs typeface="Tahoma"/>
              </a:rPr>
              <a:t> </a:t>
            </a:r>
            <a:r>
              <a:rPr sz="1600" spc="35" dirty="0">
                <a:cs typeface="Tahoma"/>
              </a:rPr>
              <a:t>500</a:t>
            </a:r>
            <a:r>
              <a:rPr sz="1600" spc="-60" dirty="0">
                <a:cs typeface="Tahoma"/>
              </a:rPr>
              <a:t> </a:t>
            </a:r>
            <a:r>
              <a:rPr sz="1600" spc="-10" dirty="0">
                <a:cs typeface="Tahoma"/>
              </a:rPr>
              <a:t>tokens!).</a:t>
            </a:r>
            <a:r>
              <a:rPr sz="1600" spc="-55" dirty="0">
                <a:cs typeface="Tahoma"/>
              </a:rPr>
              <a:t> </a:t>
            </a:r>
            <a:r>
              <a:rPr sz="1600" b="1" spc="-30" dirty="0">
                <a:cs typeface="Tahoma"/>
              </a:rPr>
              <a:t>We</a:t>
            </a:r>
            <a:r>
              <a:rPr sz="1600" b="1" spc="-45" dirty="0">
                <a:cs typeface="Tahoma"/>
              </a:rPr>
              <a:t> </a:t>
            </a:r>
            <a:r>
              <a:rPr sz="1600" b="1" spc="-50" dirty="0">
                <a:cs typeface="Tahoma"/>
              </a:rPr>
              <a:t>must</a:t>
            </a:r>
            <a:r>
              <a:rPr sz="1600" b="1" spc="-30" dirty="0">
                <a:cs typeface="Tahoma"/>
              </a:rPr>
              <a:t> </a:t>
            </a:r>
            <a:r>
              <a:rPr sz="1600" b="1" spc="-10" dirty="0">
                <a:cs typeface="Tahoma"/>
              </a:rPr>
              <a:t>find </a:t>
            </a:r>
            <a:r>
              <a:rPr sz="1600" b="1" spc="-5" dirty="0">
                <a:cs typeface="Tahoma"/>
              </a:rPr>
              <a:t> </a:t>
            </a:r>
            <a:r>
              <a:rPr sz="1600" b="1" spc="-40" dirty="0">
                <a:cs typeface="Tahoma"/>
              </a:rPr>
              <a:t>a</a:t>
            </a:r>
            <a:r>
              <a:rPr sz="1600" b="1" spc="-65" dirty="0">
                <a:cs typeface="Tahoma"/>
              </a:rPr>
              <a:t> </a:t>
            </a:r>
            <a:r>
              <a:rPr sz="1600" b="1" spc="-30" dirty="0">
                <a:cs typeface="Tahoma"/>
              </a:rPr>
              <a:t>better</a:t>
            </a:r>
            <a:r>
              <a:rPr sz="1600" b="1" spc="-60" dirty="0">
                <a:cs typeface="Tahoma"/>
              </a:rPr>
              <a:t> </a:t>
            </a:r>
            <a:r>
              <a:rPr sz="1600" b="1" spc="-20" dirty="0">
                <a:cs typeface="Tahoma"/>
              </a:rPr>
              <a:t>solution!</a:t>
            </a:r>
            <a:endParaRPr sz="1600" dirty="0">
              <a:cs typeface="Tahoma"/>
            </a:endParaRPr>
          </a:p>
        </p:txBody>
      </p:sp>
      <p:sp>
        <p:nvSpPr>
          <p:cNvPr id="10" name="object 2">
            <a:extLst>
              <a:ext uri="{FF2B5EF4-FFF2-40B4-BE49-F238E27FC236}">
                <a16:creationId xmlns:a16="http://schemas.microsoft.com/office/drawing/2014/main" id="{5020EC54-66B0-B2EE-DF46-656CEC6E0B8A}"/>
              </a:ext>
            </a:extLst>
          </p:cNvPr>
          <p:cNvSpPr txBox="1">
            <a:spLocks noGrp="1"/>
          </p:cNvSpPr>
          <p:nvPr>
            <p:ph type="title"/>
          </p:nvPr>
        </p:nvSpPr>
        <p:spPr>
          <a:xfrm>
            <a:off x="674218" y="599379"/>
            <a:ext cx="10858970" cy="634109"/>
          </a:xfrm>
          <a:prstGeom prst="rect">
            <a:avLst/>
          </a:prstGeom>
        </p:spPr>
        <p:txBody>
          <a:bodyPr vert="horz" lIns="0" tIns="0" rIns="0" bIns="0" rtlCol="0" anchor="ctr">
            <a:normAutofit/>
          </a:bodyPr>
          <a:lstStyle/>
          <a:p>
            <a:r>
              <a:rPr dirty="0">
                <a:latin typeface="+mn-lt"/>
              </a:rPr>
              <a:t>Optimizing </a:t>
            </a:r>
            <a:r>
              <a:rPr lang="en-US" dirty="0">
                <a:latin typeface="+mn-lt"/>
              </a:rPr>
              <a:t>I</a:t>
            </a:r>
            <a:r>
              <a:rPr dirty="0">
                <a:latin typeface="+mn-lt"/>
              </a:rPr>
              <a:t>nference with </a:t>
            </a:r>
            <a:r>
              <a:rPr lang="en-US" dirty="0">
                <a:latin typeface="+mn-lt"/>
              </a:rPr>
              <a:t>M</a:t>
            </a:r>
            <a:r>
              <a:rPr dirty="0">
                <a:latin typeface="+mn-lt"/>
              </a:rPr>
              <a:t>ultiple </a:t>
            </a:r>
            <a:r>
              <a:rPr lang="en-US" dirty="0">
                <a:latin typeface="+mn-lt"/>
              </a:rPr>
              <a:t>P</a:t>
            </a:r>
            <a:r>
              <a:rPr dirty="0">
                <a:latin typeface="+mn-lt"/>
              </a:rPr>
              <a:t>rompts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8144" y="601462"/>
            <a:ext cx="10865044" cy="632026"/>
          </a:xfrm>
          <a:prstGeom prst="rect">
            <a:avLst/>
          </a:prstGeom>
        </p:spPr>
        <p:txBody>
          <a:bodyPr vert="horz" lIns="0" tIns="0" rIns="0" bIns="0" rtlCol="0" anchor="ctr">
            <a:normAutofit/>
          </a:bodyPr>
          <a:lstStyle/>
          <a:p>
            <a:r>
              <a:rPr dirty="0">
                <a:latin typeface="+mn-lt"/>
              </a:rPr>
              <a:t>Combining </a:t>
            </a:r>
            <a:r>
              <a:rPr lang="en-US" dirty="0">
                <a:latin typeface="+mn-lt"/>
              </a:rPr>
              <a:t>M</a:t>
            </a:r>
            <a:r>
              <a:rPr dirty="0">
                <a:latin typeface="+mn-lt"/>
              </a:rPr>
              <a:t>ultiple </a:t>
            </a:r>
            <a:r>
              <a:rPr lang="en-US" dirty="0">
                <a:latin typeface="+mn-lt"/>
              </a:rPr>
              <a:t>P</a:t>
            </a:r>
            <a:r>
              <a:rPr dirty="0">
                <a:latin typeface="+mn-lt"/>
              </a:rPr>
              <a:t>rompts </a:t>
            </a:r>
            <a:r>
              <a:rPr lang="en-US" dirty="0">
                <a:latin typeface="+mn-lt"/>
              </a:rPr>
              <a:t>I</a:t>
            </a:r>
            <a:r>
              <a:rPr dirty="0">
                <a:latin typeface="+mn-lt"/>
              </a:rPr>
              <a:t>nto </a:t>
            </a:r>
            <a:r>
              <a:rPr lang="en-US" dirty="0">
                <a:latin typeface="+mn-lt"/>
              </a:rPr>
              <a:t>A</a:t>
            </a:r>
            <a:r>
              <a:rPr dirty="0">
                <a:latin typeface="+mn-lt"/>
              </a:rPr>
              <a:t> </a:t>
            </a:r>
            <a:r>
              <a:rPr lang="en-US" dirty="0">
                <a:latin typeface="+mn-lt"/>
              </a:rPr>
              <a:t>S</a:t>
            </a:r>
            <a:r>
              <a:rPr dirty="0">
                <a:latin typeface="+mn-lt"/>
              </a:rPr>
              <a:t>ingle</a:t>
            </a:r>
            <a:r>
              <a:rPr lang="en-US" dirty="0">
                <a:latin typeface="+mn-lt"/>
              </a:rPr>
              <a:t> S</a:t>
            </a:r>
            <a:r>
              <a:rPr dirty="0">
                <a:latin typeface="+mn-lt"/>
              </a:rPr>
              <a:t>equence</a:t>
            </a:r>
          </a:p>
        </p:txBody>
      </p:sp>
      <p:sp>
        <p:nvSpPr>
          <p:cNvPr id="3" name="object 3"/>
          <p:cNvSpPr txBox="1"/>
          <p:nvPr/>
        </p:nvSpPr>
        <p:spPr>
          <a:xfrm>
            <a:off x="677475" y="1667563"/>
            <a:ext cx="10865044" cy="505267"/>
          </a:xfrm>
          <a:prstGeom prst="rect">
            <a:avLst/>
          </a:prstGeom>
        </p:spPr>
        <p:txBody>
          <a:bodyPr vert="horz" wrap="square" lIns="0" tIns="12700" rIns="0" bIns="0" rtlCol="0">
            <a:spAutoFit/>
          </a:bodyPr>
          <a:lstStyle/>
          <a:p>
            <a:pPr marL="12700">
              <a:spcBef>
                <a:spcPts val="600"/>
              </a:spcBef>
              <a:spcAft>
                <a:spcPts val="600"/>
              </a:spcAft>
            </a:pPr>
            <a:r>
              <a:rPr sz="1600" spc="10" dirty="0">
                <a:cs typeface="Tahoma"/>
              </a:rPr>
              <a:t>The</a:t>
            </a:r>
            <a:r>
              <a:rPr sz="1600" spc="-65" dirty="0">
                <a:cs typeface="Tahoma"/>
              </a:rPr>
              <a:t> </a:t>
            </a:r>
            <a:r>
              <a:rPr sz="1600" spc="25" dirty="0">
                <a:cs typeface="Tahoma"/>
              </a:rPr>
              <a:t>solution</a:t>
            </a:r>
            <a:r>
              <a:rPr sz="1600" spc="-50" dirty="0">
                <a:cs typeface="Tahoma"/>
              </a:rPr>
              <a:t> </a:t>
            </a:r>
            <a:r>
              <a:rPr sz="1600" spc="10" dirty="0">
                <a:cs typeface="Tahoma"/>
              </a:rPr>
              <a:t>is</a:t>
            </a:r>
            <a:r>
              <a:rPr sz="1600" spc="-65" dirty="0">
                <a:cs typeface="Tahoma"/>
              </a:rPr>
              <a:t> </a:t>
            </a:r>
            <a:r>
              <a:rPr sz="1600" spc="30" dirty="0">
                <a:cs typeface="Tahoma"/>
              </a:rPr>
              <a:t>to</a:t>
            </a:r>
            <a:r>
              <a:rPr sz="1600" spc="-80" dirty="0">
                <a:cs typeface="Tahoma"/>
              </a:rPr>
              <a:t> </a:t>
            </a:r>
            <a:r>
              <a:rPr sz="1600" spc="50" dirty="0">
                <a:cs typeface="Tahoma"/>
              </a:rPr>
              <a:t>combine</a:t>
            </a:r>
            <a:r>
              <a:rPr sz="1600" spc="-65" dirty="0">
                <a:cs typeface="Tahoma"/>
              </a:rPr>
              <a:t> </a:t>
            </a:r>
            <a:r>
              <a:rPr sz="1600" spc="20" dirty="0">
                <a:cs typeface="Tahoma"/>
              </a:rPr>
              <a:t>all</a:t>
            </a:r>
            <a:r>
              <a:rPr sz="1600" spc="-65" dirty="0">
                <a:cs typeface="Tahoma"/>
              </a:rPr>
              <a:t> </a:t>
            </a:r>
            <a:r>
              <a:rPr sz="1600" spc="15" dirty="0">
                <a:cs typeface="Tahoma"/>
              </a:rPr>
              <a:t>the</a:t>
            </a:r>
            <a:r>
              <a:rPr sz="1600" spc="-85" dirty="0">
                <a:cs typeface="Tahoma"/>
              </a:rPr>
              <a:t> </a:t>
            </a:r>
            <a:r>
              <a:rPr sz="1600" spc="20" dirty="0">
                <a:cs typeface="Tahoma"/>
              </a:rPr>
              <a:t>tokens</a:t>
            </a:r>
            <a:r>
              <a:rPr sz="1600" spc="-50" dirty="0">
                <a:cs typeface="Tahoma"/>
              </a:rPr>
              <a:t> </a:t>
            </a:r>
            <a:r>
              <a:rPr sz="1600" spc="25" dirty="0">
                <a:cs typeface="Tahoma"/>
              </a:rPr>
              <a:t>of</a:t>
            </a:r>
            <a:r>
              <a:rPr sz="1600" spc="-45" dirty="0">
                <a:cs typeface="Tahoma"/>
              </a:rPr>
              <a:t> </a:t>
            </a:r>
            <a:r>
              <a:rPr sz="1600" spc="20" dirty="0">
                <a:cs typeface="Tahoma"/>
              </a:rPr>
              <a:t>all</a:t>
            </a:r>
            <a:r>
              <a:rPr sz="1600" spc="-75" dirty="0">
                <a:cs typeface="Tahoma"/>
              </a:rPr>
              <a:t> </a:t>
            </a:r>
            <a:r>
              <a:rPr sz="1600" spc="15" dirty="0">
                <a:cs typeface="Tahoma"/>
              </a:rPr>
              <a:t>the</a:t>
            </a:r>
            <a:r>
              <a:rPr sz="1600" spc="-65" dirty="0">
                <a:cs typeface="Tahoma"/>
              </a:rPr>
              <a:t> </a:t>
            </a:r>
            <a:r>
              <a:rPr sz="1600" spc="35" dirty="0">
                <a:cs typeface="Tahoma"/>
              </a:rPr>
              <a:t>prompts</a:t>
            </a:r>
            <a:r>
              <a:rPr sz="1600" spc="-40" dirty="0">
                <a:cs typeface="Tahoma"/>
              </a:rPr>
              <a:t> </a:t>
            </a:r>
            <a:r>
              <a:rPr sz="1600" spc="25" dirty="0">
                <a:cs typeface="Tahoma"/>
              </a:rPr>
              <a:t>into</a:t>
            </a:r>
            <a:r>
              <a:rPr sz="1600" spc="-70" dirty="0">
                <a:cs typeface="Tahoma"/>
              </a:rPr>
              <a:t> </a:t>
            </a:r>
            <a:r>
              <a:rPr sz="1600" spc="10" dirty="0">
                <a:cs typeface="Tahoma"/>
              </a:rPr>
              <a:t>a</a:t>
            </a:r>
            <a:r>
              <a:rPr sz="1600" spc="-70" dirty="0">
                <a:cs typeface="Tahoma"/>
              </a:rPr>
              <a:t> </a:t>
            </a:r>
            <a:r>
              <a:rPr sz="1600" spc="35" dirty="0">
                <a:cs typeface="Tahoma"/>
              </a:rPr>
              <a:t>single</a:t>
            </a:r>
            <a:r>
              <a:rPr sz="1600" spc="-55" dirty="0">
                <a:cs typeface="Tahoma"/>
              </a:rPr>
              <a:t> </a:t>
            </a:r>
            <a:r>
              <a:rPr sz="1600" spc="40" dirty="0">
                <a:cs typeface="Tahoma"/>
              </a:rPr>
              <a:t>sequence</a:t>
            </a:r>
            <a:r>
              <a:rPr sz="1600" spc="-40" dirty="0">
                <a:cs typeface="Tahoma"/>
              </a:rPr>
              <a:t> </a:t>
            </a:r>
            <a:r>
              <a:rPr sz="1600" spc="40" dirty="0">
                <a:cs typeface="Tahoma"/>
              </a:rPr>
              <a:t>and</a:t>
            </a:r>
            <a:r>
              <a:rPr sz="1600" spc="-70" dirty="0">
                <a:cs typeface="Tahoma"/>
              </a:rPr>
              <a:t> </a:t>
            </a:r>
            <a:r>
              <a:rPr sz="1600" spc="45" dirty="0">
                <a:cs typeface="Tahoma"/>
              </a:rPr>
              <a:t>keep</a:t>
            </a:r>
            <a:r>
              <a:rPr sz="1600" spc="-65" dirty="0">
                <a:cs typeface="Tahoma"/>
              </a:rPr>
              <a:t> </a:t>
            </a:r>
            <a:r>
              <a:rPr sz="1600" spc="5" dirty="0">
                <a:cs typeface="Tahoma"/>
              </a:rPr>
              <a:t>track</a:t>
            </a:r>
            <a:r>
              <a:rPr sz="1600" spc="-70" dirty="0">
                <a:cs typeface="Tahoma"/>
              </a:rPr>
              <a:t> </a:t>
            </a:r>
            <a:r>
              <a:rPr sz="1600" spc="25" dirty="0">
                <a:cs typeface="Tahoma"/>
              </a:rPr>
              <a:t>of</a:t>
            </a:r>
            <a:r>
              <a:rPr sz="1600" spc="-40" dirty="0">
                <a:cs typeface="Tahoma"/>
              </a:rPr>
              <a:t> </a:t>
            </a:r>
            <a:r>
              <a:rPr sz="1600" spc="15" dirty="0">
                <a:cs typeface="Tahoma"/>
              </a:rPr>
              <a:t>the</a:t>
            </a:r>
            <a:r>
              <a:rPr sz="1600" spc="-70" dirty="0">
                <a:cs typeface="Tahoma"/>
              </a:rPr>
              <a:t> </a:t>
            </a:r>
            <a:r>
              <a:rPr sz="1600" spc="30" dirty="0">
                <a:cs typeface="Tahoma"/>
              </a:rPr>
              <a:t>length</a:t>
            </a:r>
            <a:r>
              <a:rPr sz="1600" spc="-70" dirty="0">
                <a:cs typeface="Tahoma"/>
              </a:rPr>
              <a:t> </a:t>
            </a:r>
            <a:r>
              <a:rPr sz="1600" spc="20" dirty="0">
                <a:cs typeface="Tahoma"/>
              </a:rPr>
              <a:t>of</a:t>
            </a:r>
            <a:r>
              <a:rPr sz="1600" spc="-45" dirty="0">
                <a:cs typeface="Tahoma"/>
              </a:rPr>
              <a:t> </a:t>
            </a:r>
            <a:r>
              <a:rPr sz="1600" spc="30" dirty="0">
                <a:cs typeface="Tahoma"/>
              </a:rPr>
              <a:t>each</a:t>
            </a:r>
            <a:r>
              <a:rPr sz="1600" spc="-60" dirty="0">
                <a:cs typeface="Tahoma"/>
              </a:rPr>
              <a:t> </a:t>
            </a:r>
            <a:r>
              <a:rPr sz="1600" spc="45" dirty="0">
                <a:cs typeface="Tahoma"/>
              </a:rPr>
              <a:t>prompt</a:t>
            </a:r>
            <a:r>
              <a:rPr sz="1600" spc="-45" dirty="0">
                <a:cs typeface="Tahoma"/>
              </a:rPr>
              <a:t> </a:t>
            </a:r>
            <a:r>
              <a:rPr sz="1600" spc="25" dirty="0">
                <a:cs typeface="Tahoma"/>
              </a:rPr>
              <a:t>when</a:t>
            </a:r>
            <a:r>
              <a:rPr sz="1600" spc="-65" dirty="0">
                <a:cs typeface="Tahoma"/>
              </a:rPr>
              <a:t> </a:t>
            </a:r>
            <a:r>
              <a:rPr sz="1600" spc="25" dirty="0">
                <a:cs typeface="Tahoma"/>
              </a:rPr>
              <a:t>we</a:t>
            </a:r>
            <a:r>
              <a:rPr lang="en-US" sz="1600" dirty="0">
                <a:cs typeface="Tahoma"/>
              </a:rPr>
              <a:t> </a:t>
            </a:r>
            <a:r>
              <a:rPr sz="1600" spc="25" dirty="0">
                <a:cs typeface="Tahoma"/>
              </a:rPr>
              <a:t>c</a:t>
            </a:r>
            <a:r>
              <a:rPr sz="1600" spc="20" dirty="0">
                <a:cs typeface="Tahoma"/>
              </a:rPr>
              <a:t>a</a:t>
            </a:r>
            <a:r>
              <a:rPr sz="1600" spc="25" dirty="0">
                <a:cs typeface="Tahoma"/>
              </a:rPr>
              <a:t>l</a:t>
            </a:r>
            <a:r>
              <a:rPr sz="1600" spc="45" dirty="0">
                <a:cs typeface="Tahoma"/>
              </a:rPr>
              <a:t>c</a:t>
            </a:r>
            <a:r>
              <a:rPr sz="1600" spc="35" dirty="0">
                <a:cs typeface="Tahoma"/>
              </a:rPr>
              <a:t>u</a:t>
            </a:r>
            <a:r>
              <a:rPr sz="1600" spc="5" dirty="0">
                <a:cs typeface="Tahoma"/>
              </a:rPr>
              <a:t>l</a:t>
            </a:r>
            <a:r>
              <a:rPr sz="1600" spc="-10" dirty="0">
                <a:cs typeface="Tahoma"/>
              </a:rPr>
              <a:t>a</a:t>
            </a:r>
            <a:r>
              <a:rPr sz="1600" spc="15" dirty="0">
                <a:cs typeface="Tahoma"/>
              </a:rPr>
              <a:t>te</a:t>
            </a:r>
            <a:r>
              <a:rPr sz="1600" spc="-75" dirty="0">
                <a:cs typeface="Tahoma"/>
              </a:rPr>
              <a:t> </a:t>
            </a:r>
            <a:r>
              <a:rPr sz="1600" dirty="0">
                <a:cs typeface="Tahoma"/>
              </a:rPr>
              <a:t>th</a:t>
            </a:r>
            <a:r>
              <a:rPr sz="1600" spc="55" dirty="0">
                <a:cs typeface="Tahoma"/>
              </a:rPr>
              <a:t>e</a:t>
            </a:r>
            <a:r>
              <a:rPr sz="1600" spc="-80" dirty="0">
                <a:cs typeface="Tahoma"/>
              </a:rPr>
              <a:t> </a:t>
            </a:r>
            <a:r>
              <a:rPr sz="1600" spc="55" dirty="0">
                <a:cs typeface="Tahoma"/>
              </a:rPr>
              <a:t>o</a:t>
            </a:r>
            <a:r>
              <a:rPr sz="1600" spc="45" dirty="0">
                <a:cs typeface="Tahoma"/>
              </a:rPr>
              <a:t>u</a:t>
            </a:r>
            <a:r>
              <a:rPr sz="1600" spc="30" dirty="0">
                <a:cs typeface="Tahoma"/>
              </a:rPr>
              <a:t>t</a:t>
            </a:r>
            <a:r>
              <a:rPr sz="1600" spc="40" dirty="0">
                <a:cs typeface="Tahoma"/>
              </a:rPr>
              <a:t>p</a:t>
            </a:r>
            <a:r>
              <a:rPr sz="1600" spc="-20" dirty="0">
                <a:cs typeface="Tahoma"/>
              </a:rPr>
              <a:t>ut.</a:t>
            </a:r>
            <a:endParaRPr sz="1600" dirty="0">
              <a:cs typeface="Tahoma"/>
            </a:endParaRPr>
          </a:p>
        </p:txBody>
      </p:sp>
      <p:graphicFrame>
        <p:nvGraphicFramePr>
          <p:cNvPr id="4" name="object 4"/>
          <p:cNvGraphicFramePr>
            <a:graphicFrameLocks noGrp="1"/>
          </p:cNvGraphicFramePr>
          <p:nvPr>
            <p:extLst>
              <p:ext uri="{D42A27DB-BD31-4B8C-83A1-F6EECF244321}">
                <p14:modId xmlns:p14="http://schemas.microsoft.com/office/powerpoint/2010/main" val="1539809976"/>
              </p:ext>
            </p:extLst>
          </p:nvPr>
        </p:nvGraphicFramePr>
        <p:xfrm>
          <a:off x="1680213" y="2461744"/>
          <a:ext cx="8831574" cy="290322"/>
        </p:xfrm>
        <a:graphic>
          <a:graphicData uri="http://schemas.openxmlformats.org/drawingml/2006/table">
            <a:tbl>
              <a:tblPr firstRow="1" bandRow="1">
                <a:tableStyleId>{2D5ABB26-0587-4C30-8999-92F81FD0307C}</a:tableStyleId>
              </a:tblPr>
              <a:tblGrid>
                <a:gridCol w="735965">
                  <a:extLst>
                    <a:ext uri="{9D8B030D-6E8A-4147-A177-3AD203B41FA5}">
                      <a16:colId xmlns:a16="http://schemas.microsoft.com/office/drawing/2014/main" val="20000"/>
                    </a:ext>
                  </a:extLst>
                </a:gridCol>
                <a:gridCol w="735965">
                  <a:extLst>
                    <a:ext uri="{9D8B030D-6E8A-4147-A177-3AD203B41FA5}">
                      <a16:colId xmlns:a16="http://schemas.microsoft.com/office/drawing/2014/main" val="20001"/>
                    </a:ext>
                  </a:extLst>
                </a:gridCol>
                <a:gridCol w="735965">
                  <a:extLst>
                    <a:ext uri="{9D8B030D-6E8A-4147-A177-3AD203B41FA5}">
                      <a16:colId xmlns:a16="http://schemas.microsoft.com/office/drawing/2014/main" val="20002"/>
                    </a:ext>
                  </a:extLst>
                </a:gridCol>
                <a:gridCol w="735964">
                  <a:extLst>
                    <a:ext uri="{9D8B030D-6E8A-4147-A177-3AD203B41FA5}">
                      <a16:colId xmlns:a16="http://schemas.microsoft.com/office/drawing/2014/main" val="20003"/>
                    </a:ext>
                  </a:extLst>
                </a:gridCol>
                <a:gridCol w="735964">
                  <a:extLst>
                    <a:ext uri="{9D8B030D-6E8A-4147-A177-3AD203B41FA5}">
                      <a16:colId xmlns:a16="http://schemas.microsoft.com/office/drawing/2014/main" val="20004"/>
                    </a:ext>
                  </a:extLst>
                </a:gridCol>
                <a:gridCol w="735964">
                  <a:extLst>
                    <a:ext uri="{9D8B030D-6E8A-4147-A177-3AD203B41FA5}">
                      <a16:colId xmlns:a16="http://schemas.microsoft.com/office/drawing/2014/main" val="20005"/>
                    </a:ext>
                  </a:extLst>
                </a:gridCol>
                <a:gridCol w="735964">
                  <a:extLst>
                    <a:ext uri="{9D8B030D-6E8A-4147-A177-3AD203B41FA5}">
                      <a16:colId xmlns:a16="http://schemas.microsoft.com/office/drawing/2014/main" val="20006"/>
                    </a:ext>
                  </a:extLst>
                </a:gridCol>
                <a:gridCol w="735964">
                  <a:extLst>
                    <a:ext uri="{9D8B030D-6E8A-4147-A177-3AD203B41FA5}">
                      <a16:colId xmlns:a16="http://schemas.microsoft.com/office/drawing/2014/main" val="20007"/>
                    </a:ext>
                  </a:extLst>
                </a:gridCol>
                <a:gridCol w="735964">
                  <a:extLst>
                    <a:ext uri="{9D8B030D-6E8A-4147-A177-3AD203B41FA5}">
                      <a16:colId xmlns:a16="http://schemas.microsoft.com/office/drawing/2014/main" val="20008"/>
                    </a:ext>
                  </a:extLst>
                </a:gridCol>
                <a:gridCol w="735965">
                  <a:extLst>
                    <a:ext uri="{9D8B030D-6E8A-4147-A177-3AD203B41FA5}">
                      <a16:colId xmlns:a16="http://schemas.microsoft.com/office/drawing/2014/main" val="20009"/>
                    </a:ext>
                  </a:extLst>
                </a:gridCol>
                <a:gridCol w="735965">
                  <a:extLst>
                    <a:ext uri="{9D8B030D-6E8A-4147-A177-3AD203B41FA5}">
                      <a16:colId xmlns:a16="http://schemas.microsoft.com/office/drawing/2014/main" val="20010"/>
                    </a:ext>
                  </a:extLst>
                </a:gridCol>
                <a:gridCol w="735965">
                  <a:extLst>
                    <a:ext uri="{9D8B030D-6E8A-4147-A177-3AD203B41FA5}">
                      <a16:colId xmlns:a16="http://schemas.microsoft.com/office/drawing/2014/main" val="20011"/>
                    </a:ext>
                  </a:extLst>
                </a:gridCol>
              </a:tblGrid>
              <a:tr h="290322">
                <a:tc>
                  <a:txBody>
                    <a:bodyPr/>
                    <a:lstStyle/>
                    <a:p>
                      <a:pPr marL="212090">
                        <a:lnSpc>
                          <a:spcPct val="100000"/>
                        </a:lnSpc>
                        <a:spcBef>
                          <a:spcPts val="495"/>
                        </a:spcBef>
                      </a:pPr>
                      <a:r>
                        <a:rPr sz="1000" spc="20" dirty="0">
                          <a:latin typeface="Tahoma"/>
                          <a:cs typeface="Tahoma"/>
                        </a:rPr>
                        <a:t>Write</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gn="ctr">
                        <a:lnSpc>
                          <a:spcPct val="100000"/>
                        </a:lnSpc>
                        <a:spcBef>
                          <a:spcPts val="495"/>
                        </a:spcBef>
                      </a:pPr>
                      <a:r>
                        <a:rPr sz="1000" dirty="0">
                          <a:latin typeface="Tahoma"/>
                          <a:cs typeface="Tahoma"/>
                        </a:rPr>
                        <a:t>a</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196850">
                        <a:lnSpc>
                          <a:spcPct val="100000"/>
                        </a:lnSpc>
                        <a:spcBef>
                          <a:spcPts val="495"/>
                        </a:spcBef>
                      </a:pPr>
                      <a:r>
                        <a:rPr sz="1000" spc="50" dirty="0">
                          <a:latin typeface="Tahoma"/>
                          <a:cs typeface="Tahoma"/>
                        </a:rPr>
                        <a:t>poem</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212725">
                        <a:lnSpc>
                          <a:spcPct val="100000"/>
                        </a:lnSpc>
                        <a:spcBef>
                          <a:spcPts val="495"/>
                        </a:spcBef>
                      </a:pPr>
                      <a:r>
                        <a:rPr sz="1000" spc="20" dirty="0">
                          <a:latin typeface="Tahoma"/>
                          <a:cs typeface="Tahoma"/>
                        </a:rPr>
                        <a:t>Write</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marL="635" algn="ctr">
                        <a:lnSpc>
                          <a:spcPct val="100000"/>
                        </a:lnSpc>
                        <a:spcBef>
                          <a:spcPts val="495"/>
                        </a:spcBef>
                      </a:pPr>
                      <a:r>
                        <a:rPr sz="1000" dirty="0">
                          <a:latin typeface="Tahoma"/>
                          <a:cs typeface="Tahoma"/>
                        </a:rPr>
                        <a:t>a</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marL="109220">
                        <a:lnSpc>
                          <a:spcPct val="100000"/>
                        </a:lnSpc>
                        <a:spcBef>
                          <a:spcPts val="495"/>
                        </a:spcBef>
                      </a:pPr>
                      <a:r>
                        <a:rPr sz="1000" spc="15" dirty="0">
                          <a:latin typeface="Tahoma"/>
                          <a:cs typeface="Tahoma"/>
                        </a:rPr>
                        <a:t>historical</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marL="211454">
                        <a:lnSpc>
                          <a:spcPct val="100000"/>
                        </a:lnSpc>
                        <a:spcBef>
                          <a:spcPts val="495"/>
                        </a:spcBef>
                      </a:pPr>
                      <a:r>
                        <a:rPr sz="1000" spc="20" dirty="0">
                          <a:latin typeface="Tahoma"/>
                          <a:cs typeface="Tahoma"/>
                        </a:rPr>
                        <a:t>novel</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algn="ctr">
                        <a:lnSpc>
                          <a:spcPct val="100000"/>
                        </a:lnSpc>
                        <a:spcBef>
                          <a:spcPts val="495"/>
                        </a:spcBef>
                      </a:pPr>
                      <a:r>
                        <a:rPr sz="1000" spc="10" dirty="0">
                          <a:latin typeface="Tahoma"/>
                          <a:cs typeface="Tahoma"/>
                        </a:rPr>
                        <a:t>Tell</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marL="1270" algn="ctr">
                        <a:lnSpc>
                          <a:spcPct val="100000"/>
                        </a:lnSpc>
                        <a:spcBef>
                          <a:spcPts val="495"/>
                        </a:spcBef>
                      </a:pPr>
                      <a:r>
                        <a:rPr sz="1000" spc="35" dirty="0">
                          <a:latin typeface="Tahoma"/>
                          <a:cs typeface="Tahoma"/>
                        </a:rPr>
                        <a:t>me</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marL="1905" algn="ctr">
                        <a:lnSpc>
                          <a:spcPct val="100000"/>
                        </a:lnSpc>
                        <a:spcBef>
                          <a:spcPts val="495"/>
                        </a:spcBef>
                      </a:pPr>
                      <a:r>
                        <a:rPr sz="1000" dirty="0">
                          <a:latin typeface="Tahoma"/>
                          <a:cs typeface="Tahoma"/>
                        </a:rPr>
                        <a:t>a</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marL="210185">
                        <a:lnSpc>
                          <a:spcPct val="100000"/>
                        </a:lnSpc>
                        <a:spcBef>
                          <a:spcPts val="495"/>
                        </a:spcBef>
                      </a:pPr>
                      <a:r>
                        <a:rPr sz="1000" spc="-5" dirty="0">
                          <a:latin typeface="Tahoma"/>
                          <a:cs typeface="Tahoma"/>
                        </a:rPr>
                        <a:t>funny</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marL="246379">
                        <a:lnSpc>
                          <a:spcPct val="100000"/>
                        </a:lnSpc>
                        <a:spcBef>
                          <a:spcPts val="495"/>
                        </a:spcBef>
                      </a:pPr>
                      <a:r>
                        <a:rPr sz="1000" spc="20" dirty="0">
                          <a:latin typeface="Tahoma"/>
                          <a:cs typeface="Tahoma"/>
                        </a:rPr>
                        <a:t>joke</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extLst>
                  <a:ext uri="{0D108BD9-81ED-4DB2-BD59-A6C34878D82A}">
                    <a16:rowId xmlns:a16="http://schemas.microsoft.com/office/drawing/2014/main" val="10000"/>
                  </a:ext>
                </a:extLst>
              </a:tr>
            </a:tbl>
          </a:graphicData>
        </a:graphic>
      </p:graphicFrame>
      <p:sp>
        <p:nvSpPr>
          <p:cNvPr id="5" name="object 5"/>
          <p:cNvSpPr/>
          <p:nvPr/>
        </p:nvSpPr>
        <p:spPr>
          <a:xfrm>
            <a:off x="6045583" y="2758797"/>
            <a:ext cx="114300" cy="381635"/>
          </a:xfrm>
          <a:custGeom>
            <a:avLst/>
            <a:gdLst/>
            <a:ahLst/>
            <a:cxnLst/>
            <a:rect l="l" t="t" r="r" b="b"/>
            <a:pathLst>
              <a:path w="114300" h="381635">
                <a:moveTo>
                  <a:pt x="38100" y="267208"/>
                </a:moveTo>
                <a:lnTo>
                  <a:pt x="0" y="267208"/>
                </a:lnTo>
                <a:lnTo>
                  <a:pt x="57150" y="381508"/>
                </a:lnTo>
                <a:lnTo>
                  <a:pt x="104775" y="286258"/>
                </a:lnTo>
                <a:lnTo>
                  <a:pt x="38100" y="286258"/>
                </a:lnTo>
                <a:lnTo>
                  <a:pt x="38100" y="267208"/>
                </a:lnTo>
                <a:close/>
              </a:path>
              <a:path w="114300" h="381635">
                <a:moveTo>
                  <a:pt x="76200" y="0"/>
                </a:moveTo>
                <a:lnTo>
                  <a:pt x="38100" y="0"/>
                </a:lnTo>
                <a:lnTo>
                  <a:pt x="38100" y="286258"/>
                </a:lnTo>
                <a:lnTo>
                  <a:pt x="76200" y="286258"/>
                </a:lnTo>
                <a:lnTo>
                  <a:pt x="76200" y="0"/>
                </a:lnTo>
                <a:close/>
              </a:path>
              <a:path w="114300" h="381635">
                <a:moveTo>
                  <a:pt x="114300" y="267208"/>
                </a:moveTo>
                <a:lnTo>
                  <a:pt x="76200" y="267208"/>
                </a:lnTo>
                <a:lnTo>
                  <a:pt x="76200" y="286258"/>
                </a:lnTo>
                <a:lnTo>
                  <a:pt x="104775" y="286258"/>
                </a:lnTo>
                <a:lnTo>
                  <a:pt x="114300" y="267208"/>
                </a:lnTo>
                <a:close/>
              </a:path>
            </a:pathLst>
          </a:custGeom>
          <a:solidFill>
            <a:srgbClr val="ED7660"/>
          </a:solidFill>
        </p:spPr>
        <p:txBody>
          <a:bodyPr wrap="square" lIns="0" tIns="0" rIns="0" bIns="0" rtlCol="0"/>
          <a:lstStyle/>
          <a:p>
            <a:endParaRPr/>
          </a:p>
        </p:txBody>
      </p:sp>
      <p:sp>
        <p:nvSpPr>
          <p:cNvPr id="6" name="object 6"/>
          <p:cNvSpPr txBox="1"/>
          <p:nvPr/>
        </p:nvSpPr>
        <p:spPr>
          <a:xfrm>
            <a:off x="5623436" y="3140559"/>
            <a:ext cx="957580" cy="529632"/>
          </a:xfrm>
          <a:prstGeom prst="rect">
            <a:avLst/>
          </a:prstGeom>
          <a:solidFill>
            <a:srgbClr val="ED7660"/>
          </a:solidFill>
          <a:ln w="12700">
            <a:solidFill>
              <a:srgbClr val="632D23"/>
            </a:solidFill>
          </a:ln>
        </p:spPr>
        <p:txBody>
          <a:bodyPr vert="horz" wrap="square" lIns="0" tIns="250190" rIns="0" bIns="0" rtlCol="0">
            <a:spAutoFit/>
          </a:bodyPr>
          <a:lstStyle/>
          <a:p>
            <a:pPr marL="260985">
              <a:lnSpc>
                <a:spcPct val="100000"/>
              </a:lnSpc>
              <a:spcBef>
                <a:spcPts val="1970"/>
              </a:spcBef>
            </a:pPr>
            <a:r>
              <a:rPr sz="1800" spc="70" dirty="0">
                <a:solidFill>
                  <a:srgbClr val="FFFFFF"/>
                </a:solidFill>
                <a:cs typeface="Tahoma"/>
              </a:rPr>
              <a:t>LLM</a:t>
            </a:r>
            <a:endParaRPr sz="1800">
              <a:cs typeface="Tahoma"/>
            </a:endParaRPr>
          </a:p>
        </p:txBody>
      </p:sp>
      <p:graphicFrame>
        <p:nvGraphicFramePr>
          <p:cNvPr id="7" name="object 7"/>
          <p:cNvGraphicFramePr>
            <a:graphicFrameLocks noGrp="1"/>
          </p:cNvGraphicFramePr>
          <p:nvPr>
            <p:extLst>
              <p:ext uri="{D42A27DB-BD31-4B8C-83A1-F6EECF244321}">
                <p14:modId xmlns:p14="http://schemas.microsoft.com/office/powerpoint/2010/main" val="2790223589"/>
              </p:ext>
            </p:extLst>
          </p:nvPr>
        </p:nvGraphicFramePr>
        <p:xfrm>
          <a:off x="1680213" y="4310991"/>
          <a:ext cx="8831574" cy="290449"/>
        </p:xfrm>
        <a:graphic>
          <a:graphicData uri="http://schemas.openxmlformats.org/drawingml/2006/table">
            <a:tbl>
              <a:tblPr firstRow="1" bandRow="1">
                <a:tableStyleId>{2D5ABB26-0587-4C30-8999-92F81FD0307C}</a:tableStyleId>
              </a:tblPr>
              <a:tblGrid>
                <a:gridCol w="735965">
                  <a:extLst>
                    <a:ext uri="{9D8B030D-6E8A-4147-A177-3AD203B41FA5}">
                      <a16:colId xmlns:a16="http://schemas.microsoft.com/office/drawing/2014/main" val="20000"/>
                    </a:ext>
                  </a:extLst>
                </a:gridCol>
                <a:gridCol w="735965">
                  <a:extLst>
                    <a:ext uri="{9D8B030D-6E8A-4147-A177-3AD203B41FA5}">
                      <a16:colId xmlns:a16="http://schemas.microsoft.com/office/drawing/2014/main" val="20001"/>
                    </a:ext>
                  </a:extLst>
                </a:gridCol>
                <a:gridCol w="735965">
                  <a:extLst>
                    <a:ext uri="{9D8B030D-6E8A-4147-A177-3AD203B41FA5}">
                      <a16:colId xmlns:a16="http://schemas.microsoft.com/office/drawing/2014/main" val="20002"/>
                    </a:ext>
                  </a:extLst>
                </a:gridCol>
                <a:gridCol w="735964">
                  <a:extLst>
                    <a:ext uri="{9D8B030D-6E8A-4147-A177-3AD203B41FA5}">
                      <a16:colId xmlns:a16="http://schemas.microsoft.com/office/drawing/2014/main" val="20003"/>
                    </a:ext>
                  </a:extLst>
                </a:gridCol>
                <a:gridCol w="735964">
                  <a:extLst>
                    <a:ext uri="{9D8B030D-6E8A-4147-A177-3AD203B41FA5}">
                      <a16:colId xmlns:a16="http://schemas.microsoft.com/office/drawing/2014/main" val="20004"/>
                    </a:ext>
                  </a:extLst>
                </a:gridCol>
                <a:gridCol w="735964">
                  <a:extLst>
                    <a:ext uri="{9D8B030D-6E8A-4147-A177-3AD203B41FA5}">
                      <a16:colId xmlns:a16="http://schemas.microsoft.com/office/drawing/2014/main" val="20005"/>
                    </a:ext>
                  </a:extLst>
                </a:gridCol>
                <a:gridCol w="735964">
                  <a:extLst>
                    <a:ext uri="{9D8B030D-6E8A-4147-A177-3AD203B41FA5}">
                      <a16:colId xmlns:a16="http://schemas.microsoft.com/office/drawing/2014/main" val="20006"/>
                    </a:ext>
                  </a:extLst>
                </a:gridCol>
                <a:gridCol w="735964">
                  <a:extLst>
                    <a:ext uri="{9D8B030D-6E8A-4147-A177-3AD203B41FA5}">
                      <a16:colId xmlns:a16="http://schemas.microsoft.com/office/drawing/2014/main" val="20007"/>
                    </a:ext>
                  </a:extLst>
                </a:gridCol>
                <a:gridCol w="735964">
                  <a:extLst>
                    <a:ext uri="{9D8B030D-6E8A-4147-A177-3AD203B41FA5}">
                      <a16:colId xmlns:a16="http://schemas.microsoft.com/office/drawing/2014/main" val="20008"/>
                    </a:ext>
                  </a:extLst>
                </a:gridCol>
                <a:gridCol w="735965">
                  <a:extLst>
                    <a:ext uri="{9D8B030D-6E8A-4147-A177-3AD203B41FA5}">
                      <a16:colId xmlns:a16="http://schemas.microsoft.com/office/drawing/2014/main" val="20009"/>
                    </a:ext>
                  </a:extLst>
                </a:gridCol>
                <a:gridCol w="735965">
                  <a:extLst>
                    <a:ext uri="{9D8B030D-6E8A-4147-A177-3AD203B41FA5}">
                      <a16:colId xmlns:a16="http://schemas.microsoft.com/office/drawing/2014/main" val="20010"/>
                    </a:ext>
                  </a:extLst>
                </a:gridCol>
                <a:gridCol w="735965">
                  <a:extLst>
                    <a:ext uri="{9D8B030D-6E8A-4147-A177-3AD203B41FA5}">
                      <a16:colId xmlns:a16="http://schemas.microsoft.com/office/drawing/2014/main" val="20011"/>
                    </a:ext>
                  </a:extLst>
                </a:gridCol>
              </a:tblGrid>
              <a:tr h="290449">
                <a:tc>
                  <a:txBody>
                    <a:bodyPr/>
                    <a:lstStyle/>
                    <a:p>
                      <a:pPr marL="132715">
                        <a:lnSpc>
                          <a:spcPct val="100000"/>
                        </a:lnSpc>
                        <a:spcBef>
                          <a:spcPts val="495"/>
                        </a:spcBef>
                      </a:pPr>
                      <a:r>
                        <a:rPr sz="1000" spc="25" dirty="0">
                          <a:latin typeface="Tahoma"/>
                          <a:cs typeface="Tahoma"/>
                        </a:rPr>
                        <a:t>TOK1_1</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132715">
                        <a:lnSpc>
                          <a:spcPct val="100000"/>
                        </a:lnSpc>
                        <a:spcBef>
                          <a:spcPts val="495"/>
                        </a:spcBef>
                      </a:pPr>
                      <a:r>
                        <a:rPr sz="1000" spc="25" dirty="0">
                          <a:latin typeface="Tahoma"/>
                          <a:cs typeface="Tahoma"/>
                        </a:rPr>
                        <a:t>TOK1_2</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117475">
                        <a:lnSpc>
                          <a:spcPct val="100000"/>
                        </a:lnSpc>
                        <a:spcBef>
                          <a:spcPts val="495"/>
                        </a:spcBef>
                      </a:pPr>
                      <a:r>
                        <a:rPr sz="1000" b="1" spc="-15" dirty="0">
                          <a:latin typeface="Tahoma"/>
                          <a:cs typeface="Tahoma"/>
                        </a:rPr>
                        <a:t>TOK1_3</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L="133350">
                        <a:lnSpc>
                          <a:spcPct val="100000"/>
                        </a:lnSpc>
                        <a:spcBef>
                          <a:spcPts val="495"/>
                        </a:spcBef>
                      </a:pPr>
                      <a:r>
                        <a:rPr sz="1000" spc="25" dirty="0">
                          <a:latin typeface="Tahoma"/>
                          <a:cs typeface="Tahoma"/>
                        </a:rPr>
                        <a:t>TOK2_1</a:t>
                      </a:r>
                      <a:endParaRPr sz="1000" dirty="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marL="133350">
                        <a:lnSpc>
                          <a:spcPct val="100000"/>
                        </a:lnSpc>
                        <a:spcBef>
                          <a:spcPts val="495"/>
                        </a:spcBef>
                      </a:pPr>
                      <a:r>
                        <a:rPr sz="1000" spc="25" dirty="0">
                          <a:latin typeface="Tahoma"/>
                          <a:cs typeface="Tahoma"/>
                        </a:rPr>
                        <a:t>TOK2_2</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marL="133350">
                        <a:lnSpc>
                          <a:spcPct val="100000"/>
                        </a:lnSpc>
                        <a:spcBef>
                          <a:spcPts val="495"/>
                        </a:spcBef>
                      </a:pPr>
                      <a:r>
                        <a:rPr sz="1000" spc="25" dirty="0">
                          <a:latin typeface="Tahoma"/>
                          <a:cs typeface="Tahoma"/>
                        </a:rPr>
                        <a:t>TOK2_3</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marL="118110">
                        <a:lnSpc>
                          <a:spcPct val="100000"/>
                        </a:lnSpc>
                        <a:spcBef>
                          <a:spcPts val="495"/>
                        </a:spcBef>
                      </a:pPr>
                      <a:r>
                        <a:rPr sz="1000" b="1" spc="-15" dirty="0">
                          <a:latin typeface="Tahoma"/>
                          <a:cs typeface="Tahoma"/>
                        </a:rPr>
                        <a:t>TOK2_4</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marL="133350">
                        <a:lnSpc>
                          <a:spcPct val="100000"/>
                        </a:lnSpc>
                        <a:spcBef>
                          <a:spcPts val="495"/>
                        </a:spcBef>
                      </a:pPr>
                      <a:r>
                        <a:rPr sz="1000" spc="25" dirty="0">
                          <a:latin typeface="Tahoma"/>
                          <a:cs typeface="Tahoma"/>
                        </a:rPr>
                        <a:t>TOK3_1</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marL="133350">
                        <a:lnSpc>
                          <a:spcPct val="100000"/>
                        </a:lnSpc>
                        <a:spcBef>
                          <a:spcPts val="495"/>
                        </a:spcBef>
                      </a:pPr>
                      <a:r>
                        <a:rPr sz="1000" spc="25" dirty="0">
                          <a:latin typeface="Tahoma"/>
                          <a:cs typeface="Tahoma"/>
                        </a:rPr>
                        <a:t>TOK3_2</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marL="133350">
                        <a:lnSpc>
                          <a:spcPct val="100000"/>
                        </a:lnSpc>
                        <a:spcBef>
                          <a:spcPts val="495"/>
                        </a:spcBef>
                      </a:pPr>
                      <a:r>
                        <a:rPr sz="1000" spc="25" dirty="0">
                          <a:latin typeface="Tahoma"/>
                          <a:cs typeface="Tahoma"/>
                        </a:rPr>
                        <a:t>TOK3_3</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marL="133985">
                        <a:lnSpc>
                          <a:spcPct val="100000"/>
                        </a:lnSpc>
                        <a:spcBef>
                          <a:spcPts val="495"/>
                        </a:spcBef>
                      </a:pPr>
                      <a:r>
                        <a:rPr sz="1000" spc="25" dirty="0">
                          <a:latin typeface="Tahoma"/>
                          <a:cs typeface="Tahoma"/>
                        </a:rPr>
                        <a:t>TOK3_4</a:t>
                      </a:r>
                      <a:endParaRPr sz="100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marL="118745">
                        <a:lnSpc>
                          <a:spcPct val="100000"/>
                        </a:lnSpc>
                        <a:spcBef>
                          <a:spcPts val="495"/>
                        </a:spcBef>
                      </a:pPr>
                      <a:r>
                        <a:rPr sz="1000" b="1" spc="-15" dirty="0">
                          <a:latin typeface="Tahoma"/>
                          <a:cs typeface="Tahoma"/>
                        </a:rPr>
                        <a:t>TOK3_5</a:t>
                      </a:r>
                      <a:endParaRPr sz="1000" dirty="0">
                        <a:latin typeface="Tahoma"/>
                        <a:cs typeface="Tahoma"/>
                      </a:endParaRPr>
                    </a:p>
                  </a:txBody>
                  <a:tcPr marL="0" marR="0" marT="628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extLst>
                  <a:ext uri="{0D108BD9-81ED-4DB2-BD59-A6C34878D82A}">
                    <a16:rowId xmlns:a16="http://schemas.microsoft.com/office/drawing/2014/main" val="10000"/>
                  </a:ext>
                </a:extLst>
              </a:tr>
            </a:tbl>
          </a:graphicData>
        </a:graphic>
      </p:graphicFrame>
      <p:sp>
        <p:nvSpPr>
          <p:cNvPr id="8" name="object 8"/>
          <p:cNvSpPr/>
          <p:nvPr/>
        </p:nvSpPr>
        <p:spPr>
          <a:xfrm>
            <a:off x="6045583" y="3936850"/>
            <a:ext cx="114300" cy="381635"/>
          </a:xfrm>
          <a:custGeom>
            <a:avLst/>
            <a:gdLst/>
            <a:ahLst/>
            <a:cxnLst/>
            <a:rect l="l" t="t" r="r" b="b"/>
            <a:pathLst>
              <a:path w="114300" h="381635">
                <a:moveTo>
                  <a:pt x="38100" y="267207"/>
                </a:moveTo>
                <a:lnTo>
                  <a:pt x="0" y="267207"/>
                </a:lnTo>
                <a:lnTo>
                  <a:pt x="57150" y="381507"/>
                </a:lnTo>
                <a:lnTo>
                  <a:pt x="104775" y="286257"/>
                </a:lnTo>
                <a:lnTo>
                  <a:pt x="38100" y="286257"/>
                </a:lnTo>
                <a:lnTo>
                  <a:pt x="38100" y="267207"/>
                </a:lnTo>
                <a:close/>
              </a:path>
              <a:path w="114300" h="381635">
                <a:moveTo>
                  <a:pt x="76200" y="0"/>
                </a:moveTo>
                <a:lnTo>
                  <a:pt x="38100" y="0"/>
                </a:lnTo>
                <a:lnTo>
                  <a:pt x="38100" y="286257"/>
                </a:lnTo>
                <a:lnTo>
                  <a:pt x="76200" y="286257"/>
                </a:lnTo>
                <a:lnTo>
                  <a:pt x="76200" y="0"/>
                </a:lnTo>
                <a:close/>
              </a:path>
              <a:path w="114300" h="381635">
                <a:moveTo>
                  <a:pt x="114300" y="267207"/>
                </a:moveTo>
                <a:lnTo>
                  <a:pt x="76200" y="267207"/>
                </a:lnTo>
                <a:lnTo>
                  <a:pt x="76200" y="286257"/>
                </a:lnTo>
                <a:lnTo>
                  <a:pt x="104775" y="286257"/>
                </a:lnTo>
                <a:lnTo>
                  <a:pt x="114300" y="267207"/>
                </a:lnTo>
                <a:close/>
              </a:path>
            </a:pathLst>
          </a:custGeom>
          <a:solidFill>
            <a:srgbClr val="ED7660"/>
          </a:solidFill>
        </p:spPr>
        <p:txBody>
          <a:bodyPr wrap="square" lIns="0" tIns="0" rIns="0" bIns="0" rtlCol="0"/>
          <a:lstStyle/>
          <a:p>
            <a:endParaRPr/>
          </a:p>
        </p:txBody>
      </p:sp>
      <p:sp>
        <p:nvSpPr>
          <p:cNvPr id="9" name="object 9"/>
          <p:cNvSpPr txBox="1"/>
          <p:nvPr/>
        </p:nvSpPr>
        <p:spPr>
          <a:xfrm>
            <a:off x="5199763" y="5065371"/>
            <a:ext cx="1804670" cy="201978"/>
          </a:xfrm>
          <a:prstGeom prst="rect">
            <a:avLst/>
          </a:prstGeom>
          <a:solidFill>
            <a:srgbClr val="ED7660"/>
          </a:solidFill>
          <a:ln w="12700">
            <a:solidFill>
              <a:srgbClr val="632D23"/>
            </a:solidFill>
          </a:ln>
        </p:spPr>
        <p:txBody>
          <a:bodyPr vert="horz" wrap="square" lIns="0" tIns="17145" rIns="0" bIns="0" rtlCol="0">
            <a:spAutoFit/>
          </a:bodyPr>
          <a:lstStyle/>
          <a:p>
            <a:pPr marL="113664">
              <a:lnSpc>
                <a:spcPct val="100000"/>
              </a:lnSpc>
              <a:spcBef>
                <a:spcPts val="135"/>
              </a:spcBef>
            </a:pPr>
            <a:r>
              <a:rPr sz="1200" spc="20" dirty="0">
                <a:solidFill>
                  <a:srgbClr val="FFFFFF"/>
                </a:solidFill>
                <a:cs typeface="Tahoma"/>
              </a:rPr>
              <a:t>Li</a:t>
            </a:r>
            <a:r>
              <a:rPr sz="1200" spc="25" dirty="0">
                <a:solidFill>
                  <a:srgbClr val="FFFFFF"/>
                </a:solidFill>
                <a:cs typeface="Tahoma"/>
              </a:rPr>
              <a:t>n</a:t>
            </a:r>
            <a:r>
              <a:rPr sz="1200" spc="35" dirty="0">
                <a:solidFill>
                  <a:srgbClr val="FFFFFF"/>
                </a:solidFill>
                <a:cs typeface="Tahoma"/>
              </a:rPr>
              <a:t>e</a:t>
            </a:r>
            <a:r>
              <a:rPr sz="1200" dirty="0">
                <a:solidFill>
                  <a:srgbClr val="FFFFFF"/>
                </a:solidFill>
                <a:cs typeface="Tahoma"/>
              </a:rPr>
              <a:t>ar</a:t>
            </a:r>
            <a:r>
              <a:rPr sz="1200" spc="-55" dirty="0">
                <a:solidFill>
                  <a:srgbClr val="FFFFFF"/>
                </a:solidFill>
                <a:cs typeface="Tahoma"/>
              </a:rPr>
              <a:t> </a:t>
            </a:r>
            <a:r>
              <a:rPr sz="1200" spc="10" dirty="0">
                <a:solidFill>
                  <a:srgbClr val="FFFFFF"/>
                </a:solidFill>
                <a:cs typeface="Tahoma"/>
              </a:rPr>
              <a:t>L</a:t>
            </a:r>
            <a:r>
              <a:rPr sz="1200" dirty="0">
                <a:solidFill>
                  <a:srgbClr val="FFFFFF"/>
                </a:solidFill>
                <a:cs typeface="Tahoma"/>
              </a:rPr>
              <a:t>a</a:t>
            </a:r>
            <a:r>
              <a:rPr sz="1200" spc="15" dirty="0">
                <a:solidFill>
                  <a:srgbClr val="FFFFFF"/>
                </a:solidFill>
                <a:cs typeface="Tahoma"/>
              </a:rPr>
              <a:t>yer</a:t>
            </a:r>
            <a:r>
              <a:rPr sz="1200" spc="-70" dirty="0">
                <a:solidFill>
                  <a:srgbClr val="FFFFFF"/>
                </a:solidFill>
                <a:cs typeface="Tahoma"/>
              </a:rPr>
              <a:t> </a:t>
            </a:r>
            <a:r>
              <a:rPr sz="1200" spc="-75" dirty="0">
                <a:solidFill>
                  <a:srgbClr val="FFFFFF"/>
                </a:solidFill>
                <a:cs typeface="Tahoma"/>
              </a:rPr>
              <a:t>+</a:t>
            </a:r>
            <a:r>
              <a:rPr sz="1200" spc="-85" dirty="0">
                <a:solidFill>
                  <a:srgbClr val="FFFFFF"/>
                </a:solidFill>
                <a:cs typeface="Tahoma"/>
              </a:rPr>
              <a:t> </a:t>
            </a:r>
            <a:r>
              <a:rPr sz="1200" spc="-5" dirty="0">
                <a:solidFill>
                  <a:srgbClr val="FFFFFF"/>
                </a:solidFill>
                <a:cs typeface="Tahoma"/>
              </a:rPr>
              <a:t>S</a:t>
            </a:r>
            <a:r>
              <a:rPr sz="1200" spc="35" dirty="0">
                <a:solidFill>
                  <a:srgbClr val="FFFFFF"/>
                </a:solidFill>
                <a:cs typeface="Tahoma"/>
              </a:rPr>
              <a:t>o</a:t>
            </a:r>
            <a:r>
              <a:rPr sz="1200" spc="-5" dirty="0">
                <a:solidFill>
                  <a:srgbClr val="FFFFFF"/>
                </a:solidFill>
                <a:cs typeface="Tahoma"/>
              </a:rPr>
              <a:t>f</a:t>
            </a:r>
            <a:r>
              <a:rPr sz="1200" spc="15" dirty="0">
                <a:solidFill>
                  <a:srgbClr val="FFFFFF"/>
                </a:solidFill>
                <a:cs typeface="Tahoma"/>
              </a:rPr>
              <a:t>tm</a:t>
            </a:r>
            <a:r>
              <a:rPr sz="1200" dirty="0">
                <a:solidFill>
                  <a:srgbClr val="FFFFFF"/>
                </a:solidFill>
                <a:cs typeface="Tahoma"/>
              </a:rPr>
              <a:t>a</a:t>
            </a:r>
            <a:r>
              <a:rPr sz="1200" spc="-15" dirty="0">
                <a:solidFill>
                  <a:srgbClr val="FFFFFF"/>
                </a:solidFill>
                <a:cs typeface="Tahoma"/>
              </a:rPr>
              <a:t>x</a:t>
            </a:r>
            <a:endParaRPr sz="1200">
              <a:cs typeface="Tahoma"/>
            </a:endParaRPr>
          </a:p>
        </p:txBody>
      </p:sp>
      <p:sp>
        <p:nvSpPr>
          <p:cNvPr id="10" name="object 10"/>
          <p:cNvSpPr/>
          <p:nvPr/>
        </p:nvSpPr>
        <p:spPr>
          <a:xfrm>
            <a:off x="6045583" y="4608933"/>
            <a:ext cx="114300" cy="458470"/>
          </a:xfrm>
          <a:custGeom>
            <a:avLst/>
            <a:gdLst/>
            <a:ahLst/>
            <a:cxnLst/>
            <a:rect l="l" t="t" r="r" b="b"/>
            <a:pathLst>
              <a:path w="114300" h="458470">
                <a:moveTo>
                  <a:pt x="38100" y="344043"/>
                </a:moveTo>
                <a:lnTo>
                  <a:pt x="0" y="344043"/>
                </a:lnTo>
                <a:lnTo>
                  <a:pt x="57150" y="458343"/>
                </a:lnTo>
                <a:lnTo>
                  <a:pt x="104775" y="363093"/>
                </a:lnTo>
                <a:lnTo>
                  <a:pt x="38100" y="363093"/>
                </a:lnTo>
                <a:lnTo>
                  <a:pt x="38100" y="344043"/>
                </a:lnTo>
                <a:close/>
              </a:path>
              <a:path w="114300" h="458470">
                <a:moveTo>
                  <a:pt x="76200" y="0"/>
                </a:moveTo>
                <a:lnTo>
                  <a:pt x="38100" y="0"/>
                </a:lnTo>
                <a:lnTo>
                  <a:pt x="38100" y="363093"/>
                </a:lnTo>
                <a:lnTo>
                  <a:pt x="76200" y="363093"/>
                </a:lnTo>
                <a:lnTo>
                  <a:pt x="76200" y="0"/>
                </a:lnTo>
                <a:close/>
              </a:path>
              <a:path w="114300" h="458470">
                <a:moveTo>
                  <a:pt x="114300" y="344043"/>
                </a:moveTo>
                <a:lnTo>
                  <a:pt x="76200" y="344043"/>
                </a:lnTo>
                <a:lnTo>
                  <a:pt x="76200" y="363093"/>
                </a:lnTo>
                <a:lnTo>
                  <a:pt x="104775" y="363093"/>
                </a:lnTo>
                <a:lnTo>
                  <a:pt x="114300" y="344043"/>
                </a:lnTo>
                <a:close/>
              </a:path>
            </a:pathLst>
          </a:custGeom>
          <a:solidFill>
            <a:srgbClr val="ED7660"/>
          </a:solidFill>
        </p:spPr>
        <p:txBody>
          <a:bodyPr wrap="square" lIns="0" tIns="0" rIns="0" bIns="0" rtlCol="0"/>
          <a:lstStyle/>
          <a:p>
            <a:endParaRPr/>
          </a:p>
        </p:txBody>
      </p:sp>
      <p:sp>
        <p:nvSpPr>
          <p:cNvPr id="11" name="object 11"/>
          <p:cNvSpPr txBox="1"/>
          <p:nvPr/>
        </p:nvSpPr>
        <p:spPr>
          <a:xfrm>
            <a:off x="668144" y="5587216"/>
            <a:ext cx="10865043" cy="505267"/>
          </a:xfrm>
          <a:prstGeom prst="rect">
            <a:avLst/>
          </a:prstGeom>
        </p:spPr>
        <p:txBody>
          <a:bodyPr vert="horz" wrap="square" lIns="0" tIns="12700" rIns="0" bIns="0" rtlCol="0">
            <a:spAutoFit/>
          </a:bodyPr>
          <a:lstStyle/>
          <a:p>
            <a:pPr marL="12700">
              <a:lnSpc>
                <a:spcPct val="100000"/>
              </a:lnSpc>
              <a:spcBef>
                <a:spcPts val="100"/>
              </a:spcBef>
            </a:pPr>
            <a:r>
              <a:rPr sz="1600" spc="5" dirty="0">
                <a:cs typeface="Tahoma"/>
              </a:rPr>
              <a:t>You</a:t>
            </a:r>
            <a:r>
              <a:rPr sz="1600" spc="-65" dirty="0">
                <a:cs typeface="Tahoma"/>
              </a:rPr>
              <a:t> </a:t>
            </a:r>
            <a:r>
              <a:rPr sz="1600" spc="10" dirty="0">
                <a:cs typeface="Tahoma"/>
              </a:rPr>
              <a:t>may</a:t>
            </a:r>
            <a:r>
              <a:rPr sz="1600" spc="-55" dirty="0">
                <a:cs typeface="Tahoma"/>
              </a:rPr>
              <a:t> </a:t>
            </a:r>
            <a:r>
              <a:rPr sz="1600" spc="75" dirty="0">
                <a:cs typeface="Tahoma"/>
              </a:rPr>
              <a:t>be</a:t>
            </a:r>
            <a:r>
              <a:rPr sz="1600" spc="-65" dirty="0">
                <a:cs typeface="Tahoma"/>
              </a:rPr>
              <a:t> </a:t>
            </a:r>
            <a:r>
              <a:rPr sz="1600" spc="30" dirty="0">
                <a:cs typeface="Tahoma"/>
              </a:rPr>
              <a:t>wondering:</a:t>
            </a:r>
            <a:r>
              <a:rPr sz="1600" spc="-45" dirty="0">
                <a:cs typeface="Tahoma"/>
              </a:rPr>
              <a:t> </a:t>
            </a:r>
            <a:r>
              <a:rPr sz="1600" spc="35" dirty="0">
                <a:cs typeface="Tahoma"/>
              </a:rPr>
              <a:t>how</a:t>
            </a:r>
            <a:r>
              <a:rPr sz="1600" spc="-55" dirty="0">
                <a:cs typeface="Tahoma"/>
              </a:rPr>
              <a:t> </a:t>
            </a:r>
            <a:r>
              <a:rPr sz="1600" spc="90" dirty="0">
                <a:cs typeface="Tahoma"/>
              </a:rPr>
              <a:t>do</a:t>
            </a:r>
            <a:r>
              <a:rPr sz="1600" spc="-65" dirty="0">
                <a:cs typeface="Tahoma"/>
              </a:rPr>
              <a:t> </a:t>
            </a:r>
            <a:r>
              <a:rPr sz="1600" spc="25" dirty="0">
                <a:cs typeface="Tahoma"/>
              </a:rPr>
              <a:t>we</a:t>
            </a:r>
            <a:r>
              <a:rPr sz="1600" spc="-65" dirty="0">
                <a:cs typeface="Tahoma"/>
              </a:rPr>
              <a:t> </a:t>
            </a:r>
            <a:r>
              <a:rPr sz="1600" spc="50" dirty="0">
                <a:cs typeface="Tahoma"/>
              </a:rPr>
              <a:t>build</a:t>
            </a:r>
            <a:r>
              <a:rPr sz="1600" spc="-80" dirty="0">
                <a:cs typeface="Tahoma"/>
              </a:rPr>
              <a:t> </a:t>
            </a:r>
            <a:r>
              <a:rPr sz="1600" spc="15" dirty="0">
                <a:cs typeface="Tahoma"/>
              </a:rPr>
              <a:t>an</a:t>
            </a:r>
            <a:r>
              <a:rPr sz="1600" spc="-60" dirty="0">
                <a:cs typeface="Tahoma"/>
              </a:rPr>
              <a:t> </a:t>
            </a:r>
            <a:r>
              <a:rPr sz="1600" spc="10" dirty="0">
                <a:cs typeface="Tahoma"/>
              </a:rPr>
              <a:t>attention</a:t>
            </a:r>
            <a:r>
              <a:rPr sz="1600" spc="-80" dirty="0">
                <a:cs typeface="Tahoma"/>
              </a:rPr>
              <a:t> </a:t>
            </a:r>
            <a:r>
              <a:rPr sz="1600" spc="10" dirty="0">
                <a:cs typeface="Tahoma"/>
              </a:rPr>
              <a:t>mask</a:t>
            </a:r>
            <a:r>
              <a:rPr sz="1600" spc="-55" dirty="0">
                <a:cs typeface="Tahoma"/>
              </a:rPr>
              <a:t> </a:t>
            </a:r>
            <a:r>
              <a:rPr sz="1600" spc="10" dirty="0">
                <a:cs typeface="Tahoma"/>
              </a:rPr>
              <a:t>for</a:t>
            </a:r>
            <a:r>
              <a:rPr sz="1600" spc="-45" dirty="0">
                <a:cs typeface="Tahoma"/>
              </a:rPr>
              <a:t> </a:t>
            </a:r>
            <a:r>
              <a:rPr sz="1600" spc="20" dirty="0">
                <a:cs typeface="Tahoma"/>
              </a:rPr>
              <a:t>such</a:t>
            </a:r>
            <a:r>
              <a:rPr sz="1600" spc="-60" dirty="0">
                <a:cs typeface="Tahoma"/>
              </a:rPr>
              <a:t> </a:t>
            </a:r>
            <a:r>
              <a:rPr sz="1600" spc="10" dirty="0">
                <a:cs typeface="Tahoma"/>
              </a:rPr>
              <a:t>a</a:t>
            </a:r>
            <a:r>
              <a:rPr sz="1600" spc="-70" dirty="0">
                <a:cs typeface="Tahoma"/>
              </a:rPr>
              <a:t> </a:t>
            </a:r>
            <a:r>
              <a:rPr sz="1600" spc="35" dirty="0">
                <a:cs typeface="Tahoma"/>
              </a:rPr>
              <a:t>sequence?</a:t>
            </a:r>
            <a:r>
              <a:rPr sz="1600" spc="-35" dirty="0">
                <a:cs typeface="Tahoma"/>
              </a:rPr>
              <a:t> </a:t>
            </a:r>
            <a:r>
              <a:rPr sz="1600" spc="30" dirty="0">
                <a:cs typeface="Tahoma"/>
              </a:rPr>
              <a:t>Simple!</a:t>
            </a:r>
            <a:r>
              <a:rPr sz="1600" spc="-55" dirty="0">
                <a:cs typeface="Tahoma"/>
              </a:rPr>
              <a:t> </a:t>
            </a:r>
            <a:r>
              <a:rPr sz="1600" spc="40" dirty="0">
                <a:cs typeface="Tahoma"/>
              </a:rPr>
              <a:t>We</a:t>
            </a:r>
            <a:r>
              <a:rPr sz="1600" spc="-65" dirty="0">
                <a:cs typeface="Tahoma"/>
              </a:rPr>
              <a:t> </a:t>
            </a:r>
            <a:r>
              <a:rPr sz="1600" spc="20" dirty="0">
                <a:cs typeface="Tahoma"/>
              </a:rPr>
              <a:t>use</a:t>
            </a:r>
            <a:r>
              <a:rPr sz="1600" spc="-15" dirty="0">
                <a:cs typeface="Tahoma"/>
              </a:rPr>
              <a:t> </a:t>
            </a:r>
            <a:r>
              <a:rPr sz="1600" b="1" spc="-30" dirty="0">
                <a:cs typeface="Tahoma"/>
              </a:rPr>
              <a:t>xformers</a:t>
            </a:r>
            <a:r>
              <a:rPr sz="1600" b="1" spc="-45" dirty="0">
                <a:cs typeface="Tahoma"/>
              </a:rPr>
              <a:t> </a:t>
            </a:r>
            <a:r>
              <a:rPr sz="1600" b="1" spc="-15" dirty="0">
                <a:cs typeface="Tahoma"/>
              </a:rPr>
              <a:t>BlockDiagonalCausalMask</a:t>
            </a:r>
            <a:r>
              <a:rPr sz="1600" spc="-15" dirty="0">
                <a:cs typeface="Tahoma"/>
              </a:rPr>
              <a:t>!</a:t>
            </a:r>
            <a:endParaRPr sz="1600" dirty="0">
              <a:cs typeface="Tahoma"/>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8144" y="593531"/>
            <a:ext cx="10865044" cy="639957"/>
          </a:xfrm>
          <a:prstGeom prst="rect">
            <a:avLst/>
          </a:prstGeom>
        </p:spPr>
        <p:txBody>
          <a:bodyPr vert="horz" lIns="0" tIns="0" rIns="0" bIns="0" rtlCol="0" anchor="ctr">
            <a:normAutofit/>
          </a:bodyPr>
          <a:lstStyle/>
          <a:p>
            <a:r>
              <a:rPr lang="en-IN">
                <a:latin typeface="+mn-lt"/>
              </a:rPr>
              <a:t>xformers BlockDiagonalCausalMask</a:t>
            </a:r>
            <a:endParaRPr lang="en-IN" dirty="0">
              <a:latin typeface="+mn-lt"/>
            </a:endParaRPr>
          </a:p>
        </p:txBody>
      </p:sp>
      <p:graphicFrame>
        <p:nvGraphicFramePr>
          <p:cNvPr id="3" name="object 3"/>
          <p:cNvGraphicFramePr>
            <a:graphicFrameLocks noGrp="1"/>
          </p:cNvGraphicFramePr>
          <p:nvPr>
            <p:extLst>
              <p:ext uri="{D42A27DB-BD31-4B8C-83A1-F6EECF244321}">
                <p14:modId xmlns:p14="http://schemas.microsoft.com/office/powerpoint/2010/main" val="3904006777"/>
              </p:ext>
            </p:extLst>
          </p:nvPr>
        </p:nvGraphicFramePr>
        <p:xfrm>
          <a:off x="4722724" y="1669038"/>
          <a:ext cx="6809914" cy="4423854"/>
        </p:xfrm>
        <a:graphic>
          <a:graphicData uri="http://schemas.openxmlformats.org/drawingml/2006/table">
            <a:tbl>
              <a:tblPr firstRow="1" bandRow="1">
                <a:tableStyleId>{2D5ABB26-0587-4C30-8999-92F81FD0307C}</a:tableStyleId>
              </a:tblPr>
              <a:tblGrid>
                <a:gridCol w="498803">
                  <a:extLst>
                    <a:ext uri="{9D8B030D-6E8A-4147-A177-3AD203B41FA5}">
                      <a16:colId xmlns:a16="http://schemas.microsoft.com/office/drawing/2014/main" val="20000"/>
                    </a:ext>
                  </a:extLst>
                </a:gridCol>
                <a:gridCol w="525926">
                  <a:extLst>
                    <a:ext uri="{9D8B030D-6E8A-4147-A177-3AD203B41FA5}">
                      <a16:colId xmlns:a16="http://schemas.microsoft.com/office/drawing/2014/main" val="20001"/>
                    </a:ext>
                  </a:extLst>
                </a:gridCol>
                <a:gridCol w="525926">
                  <a:extLst>
                    <a:ext uri="{9D8B030D-6E8A-4147-A177-3AD203B41FA5}">
                      <a16:colId xmlns:a16="http://schemas.microsoft.com/office/drawing/2014/main" val="20002"/>
                    </a:ext>
                  </a:extLst>
                </a:gridCol>
                <a:gridCol w="525925">
                  <a:extLst>
                    <a:ext uri="{9D8B030D-6E8A-4147-A177-3AD203B41FA5}">
                      <a16:colId xmlns:a16="http://schemas.microsoft.com/office/drawing/2014/main" val="20003"/>
                    </a:ext>
                  </a:extLst>
                </a:gridCol>
                <a:gridCol w="525926">
                  <a:extLst>
                    <a:ext uri="{9D8B030D-6E8A-4147-A177-3AD203B41FA5}">
                      <a16:colId xmlns:a16="http://schemas.microsoft.com/office/drawing/2014/main" val="20004"/>
                    </a:ext>
                  </a:extLst>
                </a:gridCol>
                <a:gridCol w="525926">
                  <a:extLst>
                    <a:ext uri="{9D8B030D-6E8A-4147-A177-3AD203B41FA5}">
                      <a16:colId xmlns:a16="http://schemas.microsoft.com/office/drawing/2014/main" val="20005"/>
                    </a:ext>
                  </a:extLst>
                </a:gridCol>
                <a:gridCol w="525926">
                  <a:extLst>
                    <a:ext uri="{9D8B030D-6E8A-4147-A177-3AD203B41FA5}">
                      <a16:colId xmlns:a16="http://schemas.microsoft.com/office/drawing/2014/main" val="20006"/>
                    </a:ext>
                  </a:extLst>
                </a:gridCol>
                <a:gridCol w="525926">
                  <a:extLst>
                    <a:ext uri="{9D8B030D-6E8A-4147-A177-3AD203B41FA5}">
                      <a16:colId xmlns:a16="http://schemas.microsoft.com/office/drawing/2014/main" val="20007"/>
                    </a:ext>
                  </a:extLst>
                </a:gridCol>
                <a:gridCol w="525926">
                  <a:extLst>
                    <a:ext uri="{9D8B030D-6E8A-4147-A177-3AD203B41FA5}">
                      <a16:colId xmlns:a16="http://schemas.microsoft.com/office/drawing/2014/main" val="20008"/>
                    </a:ext>
                  </a:extLst>
                </a:gridCol>
                <a:gridCol w="525926">
                  <a:extLst>
                    <a:ext uri="{9D8B030D-6E8A-4147-A177-3AD203B41FA5}">
                      <a16:colId xmlns:a16="http://schemas.microsoft.com/office/drawing/2014/main" val="20009"/>
                    </a:ext>
                  </a:extLst>
                </a:gridCol>
                <a:gridCol w="525926">
                  <a:extLst>
                    <a:ext uri="{9D8B030D-6E8A-4147-A177-3AD203B41FA5}">
                      <a16:colId xmlns:a16="http://schemas.microsoft.com/office/drawing/2014/main" val="20010"/>
                    </a:ext>
                  </a:extLst>
                </a:gridCol>
                <a:gridCol w="525926">
                  <a:extLst>
                    <a:ext uri="{9D8B030D-6E8A-4147-A177-3AD203B41FA5}">
                      <a16:colId xmlns:a16="http://schemas.microsoft.com/office/drawing/2014/main" val="20011"/>
                    </a:ext>
                  </a:extLst>
                </a:gridCol>
                <a:gridCol w="525926">
                  <a:extLst>
                    <a:ext uri="{9D8B030D-6E8A-4147-A177-3AD203B41FA5}">
                      <a16:colId xmlns:a16="http://schemas.microsoft.com/office/drawing/2014/main" val="20012"/>
                    </a:ext>
                  </a:extLst>
                </a:gridCol>
              </a:tblGrid>
              <a:tr h="333750">
                <a:tc>
                  <a:txBody>
                    <a:bodyPr/>
                    <a:lstStyle/>
                    <a:p>
                      <a:pPr>
                        <a:lnSpc>
                          <a:spcPct val="100000"/>
                        </a:lnSpc>
                      </a:pPr>
                      <a:endParaRPr lang="en-IN" sz="11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a:lnSpc>
                          <a:spcPct val="100000"/>
                        </a:lnSpc>
                        <a:spcBef>
                          <a:spcPts val="50"/>
                        </a:spcBef>
                      </a:pPr>
                      <a:endParaRPr lang="en-IN" sz="750">
                        <a:latin typeface="Times New Roman"/>
                        <a:cs typeface="Times New Roman"/>
                      </a:endParaRPr>
                    </a:p>
                    <a:p>
                      <a:pPr marL="113664">
                        <a:lnSpc>
                          <a:spcPct val="100000"/>
                        </a:lnSpc>
                      </a:pPr>
                      <a:r>
                        <a:rPr lang="en-IN" sz="800" b="1" spc="-15">
                          <a:latin typeface="Tahoma"/>
                          <a:cs typeface="Tahoma"/>
                        </a:rPr>
                        <a:t>Write</a:t>
                      </a:r>
                      <a:endParaRPr lang="en-IN" sz="800">
                        <a:latin typeface="Tahoma"/>
                        <a:cs typeface="Tahoma"/>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spcBef>
                          <a:spcPts val="50"/>
                        </a:spcBef>
                      </a:pPr>
                      <a:endParaRPr lang="en-IN" sz="750">
                        <a:latin typeface="Times New Roman"/>
                        <a:cs typeface="Times New Roman"/>
                      </a:endParaRPr>
                    </a:p>
                    <a:p>
                      <a:pPr algn="ctr">
                        <a:lnSpc>
                          <a:spcPct val="100000"/>
                        </a:lnSpc>
                      </a:pPr>
                      <a:r>
                        <a:rPr lang="en-IN" sz="800" b="1">
                          <a:latin typeface="Tahoma"/>
                          <a:cs typeface="Tahoma"/>
                        </a:rPr>
                        <a:t>a</a:t>
                      </a:r>
                      <a:endParaRPr lang="en-IN" sz="800">
                        <a:latin typeface="Tahoma"/>
                        <a:cs typeface="Tahoma"/>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spcBef>
                          <a:spcPts val="50"/>
                        </a:spcBef>
                      </a:pPr>
                      <a:endParaRPr lang="en-IN" sz="750">
                        <a:latin typeface="Times New Roman"/>
                        <a:cs typeface="Times New Roman"/>
                      </a:endParaRPr>
                    </a:p>
                    <a:p>
                      <a:pPr algn="ctr">
                        <a:lnSpc>
                          <a:spcPct val="100000"/>
                        </a:lnSpc>
                      </a:pPr>
                      <a:r>
                        <a:rPr lang="en-IN" sz="800" b="1">
                          <a:latin typeface="Tahoma"/>
                          <a:cs typeface="Tahoma"/>
                        </a:rPr>
                        <a:t>poem</a:t>
                      </a:r>
                      <a:endParaRPr lang="en-IN" sz="800">
                        <a:latin typeface="Tahoma"/>
                        <a:cs typeface="Tahoma"/>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spcBef>
                          <a:spcPts val="50"/>
                        </a:spcBef>
                      </a:pPr>
                      <a:endParaRPr lang="en-IN" sz="750">
                        <a:latin typeface="Times New Roman"/>
                        <a:cs typeface="Times New Roman"/>
                      </a:endParaRPr>
                    </a:p>
                    <a:p>
                      <a:pPr algn="ctr">
                        <a:lnSpc>
                          <a:spcPct val="100000"/>
                        </a:lnSpc>
                      </a:pPr>
                      <a:r>
                        <a:rPr lang="en-IN" sz="800" b="1" spc="-15">
                          <a:latin typeface="Tahoma"/>
                          <a:cs typeface="Tahoma"/>
                        </a:rPr>
                        <a:t>Write</a:t>
                      </a:r>
                      <a:endParaRPr lang="en-IN" sz="800">
                        <a:latin typeface="Tahoma"/>
                        <a:cs typeface="Tahoma"/>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a:lnSpc>
                          <a:spcPct val="100000"/>
                        </a:lnSpc>
                        <a:spcBef>
                          <a:spcPts val="50"/>
                        </a:spcBef>
                      </a:pPr>
                      <a:endParaRPr lang="en-IN" sz="750">
                        <a:latin typeface="Times New Roman"/>
                        <a:cs typeface="Times New Roman"/>
                      </a:endParaRPr>
                    </a:p>
                    <a:p>
                      <a:pPr algn="ctr">
                        <a:lnSpc>
                          <a:spcPct val="100000"/>
                        </a:lnSpc>
                      </a:pPr>
                      <a:r>
                        <a:rPr lang="en-IN" sz="800" b="1">
                          <a:latin typeface="Tahoma"/>
                          <a:cs typeface="Tahoma"/>
                        </a:rPr>
                        <a:t>a</a:t>
                      </a:r>
                      <a:endParaRPr lang="en-IN" sz="800">
                        <a:latin typeface="Tahoma"/>
                        <a:cs typeface="Tahoma"/>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marL="182245" marR="87630" indent="-88900">
                        <a:lnSpc>
                          <a:spcPct val="100000"/>
                        </a:lnSpc>
                        <a:spcBef>
                          <a:spcPts val="434"/>
                        </a:spcBef>
                      </a:pPr>
                      <a:r>
                        <a:rPr lang="en-IN" sz="800" b="1" spc="-5">
                          <a:latin typeface="Tahoma"/>
                          <a:cs typeface="Tahoma"/>
                        </a:rPr>
                        <a:t>h</a:t>
                      </a:r>
                      <a:r>
                        <a:rPr lang="en-IN" sz="800" b="1">
                          <a:latin typeface="Tahoma"/>
                          <a:cs typeface="Tahoma"/>
                        </a:rPr>
                        <a:t>i</a:t>
                      </a:r>
                      <a:r>
                        <a:rPr lang="en-IN" sz="800" b="1" spc="5">
                          <a:latin typeface="Tahoma"/>
                          <a:cs typeface="Tahoma"/>
                        </a:rPr>
                        <a:t>s</a:t>
                      </a:r>
                      <a:r>
                        <a:rPr lang="en-IN" sz="800" b="1" spc="-5">
                          <a:latin typeface="Tahoma"/>
                          <a:cs typeface="Tahoma"/>
                        </a:rPr>
                        <a:t>to</a:t>
                      </a:r>
                      <a:r>
                        <a:rPr lang="en-IN" sz="800" b="1">
                          <a:latin typeface="Tahoma"/>
                          <a:cs typeface="Tahoma"/>
                        </a:rPr>
                        <a:t>ri  </a:t>
                      </a:r>
                      <a:r>
                        <a:rPr lang="en-IN" sz="800" b="1" spc="-15">
                          <a:latin typeface="Tahoma"/>
                          <a:cs typeface="Tahoma"/>
                        </a:rPr>
                        <a:t>cal</a:t>
                      </a:r>
                      <a:endParaRPr lang="en-IN" sz="800">
                        <a:latin typeface="Tahoma"/>
                        <a:cs typeface="Tahoma"/>
                      </a:endParaRPr>
                    </a:p>
                  </a:txBody>
                  <a:tcPr marL="0" marR="0" marT="5524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a:lnSpc>
                          <a:spcPct val="100000"/>
                        </a:lnSpc>
                        <a:spcBef>
                          <a:spcPts val="50"/>
                        </a:spcBef>
                      </a:pPr>
                      <a:endParaRPr lang="en-IN" sz="750">
                        <a:latin typeface="Times New Roman"/>
                        <a:cs typeface="Times New Roman"/>
                      </a:endParaRPr>
                    </a:p>
                    <a:p>
                      <a:pPr algn="ctr">
                        <a:lnSpc>
                          <a:spcPct val="100000"/>
                        </a:lnSpc>
                      </a:pPr>
                      <a:r>
                        <a:rPr lang="en-IN" sz="800" b="1" spc="-5">
                          <a:latin typeface="Tahoma"/>
                          <a:cs typeface="Tahoma"/>
                        </a:rPr>
                        <a:t>novel</a:t>
                      </a:r>
                      <a:endParaRPr lang="en-IN" sz="800">
                        <a:latin typeface="Tahoma"/>
                        <a:cs typeface="Tahoma"/>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a:lnSpc>
                          <a:spcPct val="100000"/>
                        </a:lnSpc>
                        <a:spcBef>
                          <a:spcPts val="50"/>
                        </a:spcBef>
                      </a:pPr>
                      <a:endParaRPr lang="en-IN" sz="750">
                        <a:latin typeface="Times New Roman"/>
                        <a:cs typeface="Times New Roman"/>
                      </a:endParaRPr>
                    </a:p>
                    <a:p>
                      <a:pPr marR="154305" algn="r">
                        <a:lnSpc>
                          <a:spcPct val="100000"/>
                        </a:lnSpc>
                      </a:pPr>
                      <a:r>
                        <a:rPr lang="en-IN" sz="800" b="1" spc="-10">
                          <a:latin typeface="Tahoma"/>
                          <a:cs typeface="Tahoma"/>
                        </a:rPr>
                        <a:t>Tell</a:t>
                      </a:r>
                      <a:endParaRPr lang="en-IN" sz="800">
                        <a:latin typeface="Tahoma"/>
                        <a:cs typeface="Tahoma"/>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a:lnSpc>
                          <a:spcPct val="100000"/>
                        </a:lnSpc>
                        <a:spcBef>
                          <a:spcPts val="50"/>
                        </a:spcBef>
                      </a:pPr>
                      <a:endParaRPr lang="en-IN" sz="750">
                        <a:latin typeface="Times New Roman"/>
                        <a:cs typeface="Times New Roman"/>
                      </a:endParaRPr>
                    </a:p>
                    <a:p>
                      <a:pPr marR="166370" algn="r">
                        <a:lnSpc>
                          <a:spcPct val="100000"/>
                        </a:lnSpc>
                      </a:pPr>
                      <a:r>
                        <a:rPr lang="en-IN" sz="800" b="1" spc="-10">
                          <a:latin typeface="Tahoma"/>
                          <a:cs typeface="Tahoma"/>
                        </a:rPr>
                        <a:t>me</a:t>
                      </a:r>
                      <a:endParaRPr lang="en-IN" sz="800">
                        <a:latin typeface="Tahoma"/>
                        <a:cs typeface="Tahoma"/>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a:lnSpc>
                          <a:spcPct val="100000"/>
                        </a:lnSpc>
                        <a:spcBef>
                          <a:spcPts val="50"/>
                        </a:spcBef>
                      </a:pPr>
                      <a:endParaRPr lang="en-IN" sz="750">
                        <a:latin typeface="Times New Roman"/>
                        <a:cs typeface="Times New Roman"/>
                      </a:endParaRPr>
                    </a:p>
                    <a:p>
                      <a:pPr algn="ctr">
                        <a:lnSpc>
                          <a:spcPct val="100000"/>
                        </a:lnSpc>
                      </a:pPr>
                      <a:r>
                        <a:rPr lang="en-IN" sz="800" b="1">
                          <a:latin typeface="Tahoma"/>
                          <a:cs typeface="Tahoma"/>
                        </a:rPr>
                        <a:t>a</a:t>
                      </a:r>
                      <a:endParaRPr lang="en-IN" sz="800">
                        <a:latin typeface="Tahoma"/>
                        <a:cs typeface="Tahoma"/>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a:lnSpc>
                          <a:spcPct val="100000"/>
                        </a:lnSpc>
                        <a:spcBef>
                          <a:spcPts val="50"/>
                        </a:spcBef>
                      </a:pPr>
                      <a:endParaRPr lang="en-IN" sz="750">
                        <a:latin typeface="Times New Roman"/>
                        <a:cs typeface="Times New Roman"/>
                      </a:endParaRPr>
                    </a:p>
                    <a:p>
                      <a:pPr algn="ctr">
                        <a:lnSpc>
                          <a:spcPct val="100000"/>
                        </a:lnSpc>
                      </a:pPr>
                      <a:r>
                        <a:rPr lang="en-IN" sz="800" b="1" spc="-20">
                          <a:latin typeface="Tahoma"/>
                          <a:cs typeface="Tahoma"/>
                        </a:rPr>
                        <a:t>Funny</a:t>
                      </a:r>
                      <a:endParaRPr lang="en-IN" sz="800" dirty="0">
                        <a:latin typeface="Tahoma"/>
                        <a:cs typeface="Tahoma"/>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a:lnSpc>
                          <a:spcPct val="100000"/>
                        </a:lnSpc>
                        <a:spcBef>
                          <a:spcPts val="50"/>
                        </a:spcBef>
                      </a:pPr>
                      <a:endParaRPr lang="en-IN" sz="750">
                        <a:latin typeface="Times New Roman"/>
                        <a:cs typeface="Times New Roman"/>
                      </a:endParaRPr>
                    </a:p>
                    <a:p>
                      <a:pPr marL="635" algn="ctr">
                        <a:lnSpc>
                          <a:spcPct val="100000"/>
                        </a:lnSpc>
                      </a:pPr>
                      <a:r>
                        <a:rPr lang="en-IN" sz="800" b="1" spc="-15">
                          <a:latin typeface="Tahoma"/>
                          <a:cs typeface="Tahoma"/>
                        </a:rPr>
                        <a:t>joke</a:t>
                      </a:r>
                      <a:endParaRPr lang="en-IN" sz="800">
                        <a:latin typeface="Tahoma"/>
                        <a:cs typeface="Tahoma"/>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extLst>
                  <a:ext uri="{0D108BD9-81ED-4DB2-BD59-A6C34878D82A}">
                    <a16:rowId xmlns:a16="http://schemas.microsoft.com/office/drawing/2014/main" val="10000"/>
                  </a:ext>
                </a:extLst>
              </a:tr>
              <a:tr h="333867">
                <a:tc>
                  <a:txBody>
                    <a:bodyPr/>
                    <a:lstStyle/>
                    <a:p>
                      <a:pPr>
                        <a:lnSpc>
                          <a:spcPct val="100000"/>
                        </a:lnSpc>
                        <a:spcBef>
                          <a:spcPts val="50"/>
                        </a:spcBef>
                      </a:pPr>
                      <a:endParaRPr lang="en-IN" sz="750">
                        <a:latin typeface="Times New Roman"/>
                        <a:cs typeface="Times New Roman"/>
                      </a:endParaRPr>
                    </a:p>
                    <a:p>
                      <a:pPr algn="ctr">
                        <a:lnSpc>
                          <a:spcPct val="100000"/>
                        </a:lnSpc>
                      </a:pPr>
                      <a:r>
                        <a:rPr lang="en-IN" sz="800" b="1" spc="-15">
                          <a:latin typeface="Tahoma"/>
                          <a:cs typeface="Tahoma"/>
                        </a:rPr>
                        <a:t>Write</a:t>
                      </a:r>
                      <a:endParaRPr lang="en-IN" sz="800">
                        <a:latin typeface="Tahoma"/>
                        <a:cs typeface="Tahoma"/>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spcBef>
                          <a:spcPts val="20"/>
                        </a:spcBef>
                      </a:pPr>
                      <a:endParaRPr lang="en-IN" sz="800">
                        <a:latin typeface="Times New Roman"/>
                        <a:cs typeface="Times New Roman"/>
                      </a:endParaRPr>
                    </a:p>
                    <a:p>
                      <a:pPr algn="ctr">
                        <a:lnSpc>
                          <a:spcPct val="100000"/>
                        </a:lnSpc>
                      </a:pPr>
                      <a:r>
                        <a:rPr lang="en-IN" sz="800">
                          <a:latin typeface="Tahoma"/>
                          <a:cs typeface="Tahoma"/>
                        </a:rPr>
                        <a:t>0</a:t>
                      </a: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R="2413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R="2413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R="2413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3495"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3495"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3495"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153035" algn="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153035" algn="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286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2860" algn="ctr">
                        <a:lnSpc>
                          <a:spcPct val="100000"/>
                        </a:lnSpc>
                        <a:spcBef>
                          <a:spcPts val="745"/>
                        </a:spcBef>
                      </a:pPr>
                      <a:r>
                        <a:rPr lang="en-IN" sz="1050">
                          <a:solidFill>
                            <a:srgbClr val="E23717"/>
                          </a:solidFill>
                          <a:latin typeface="Cambria Math"/>
                          <a:cs typeface="Cambria Math"/>
                        </a:rPr>
                        <a:t>−∞</a:t>
                      </a:r>
                      <a:endParaRPr lang="en-IN" sz="1050" dirty="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286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1"/>
                  </a:ext>
                </a:extLst>
              </a:tr>
              <a:tr h="333750">
                <a:tc>
                  <a:txBody>
                    <a:bodyPr/>
                    <a:lstStyle/>
                    <a:p>
                      <a:pPr>
                        <a:lnSpc>
                          <a:spcPct val="100000"/>
                        </a:lnSpc>
                        <a:spcBef>
                          <a:spcPts val="50"/>
                        </a:spcBef>
                      </a:pPr>
                      <a:endParaRPr lang="en-IN" sz="750">
                        <a:latin typeface="Times New Roman"/>
                        <a:cs typeface="Times New Roman"/>
                      </a:endParaRPr>
                    </a:p>
                    <a:p>
                      <a:pPr marL="635" algn="ctr">
                        <a:lnSpc>
                          <a:spcPct val="100000"/>
                        </a:lnSpc>
                        <a:spcBef>
                          <a:spcPts val="5"/>
                        </a:spcBef>
                      </a:pPr>
                      <a:r>
                        <a:rPr lang="en-IN" sz="800" b="1">
                          <a:latin typeface="Tahoma"/>
                          <a:cs typeface="Tahoma"/>
                        </a:rPr>
                        <a:t>a</a:t>
                      </a:r>
                      <a:endParaRPr lang="en-IN" sz="800">
                        <a:latin typeface="Tahoma"/>
                        <a:cs typeface="Tahoma"/>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spcBef>
                          <a:spcPts val="20"/>
                        </a:spcBef>
                      </a:pPr>
                      <a:endParaRPr lang="en-IN" sz="800">
                        <a:latin typeface="Times New Roman"/>
                        <a:cs typeface="Times New Roman"/>
                      </a:endParaRPr>
                    </a:p>
                    <a:p>
                      <a:pPr algn="ctr">
                        <a:lnSpc>
                          <a:spcPct val="100000"/>
                        </a:lnSpc>
                      </a:pPr>
                      <a:r>
                        <a:rPr lang="en-IN" sz="800">
                          <a:latin typeface="Tahoma"/>
                          <a:cs typeface="Tahoma"/>
                        </a:rPr>
                        <a:t>0</a:t>
                      </a: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spcBef>
                          <a:spcPts val="20"/>
                        </a:spcBef>
                      </a:pPr>
                      <a:endParaRPr lang="en-IN" sz="800">
                        <a:latin typeface="Times New Roman"/>
                        <a:cs typeface="Times New Roman"/>
                      </a:endParaRPr>
                    </a:p>
                    <a:p>
                      <a:pPr algn="ctr">
                        <a:lnSpc>
                          <a:spcPct val="100000"/>
                        </a:lnSpc>
                      </a:pPr>
                      <a:r>
                        <a:rPr lang="en-IN" sz="800">
                          <a:latin typeface="Tahoma"/>
                          <a:cs typeface="Tahoma"/>
                        </a:rPr>
                        <a:t>0</a:t>
                      </a: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R="24130" algn="ctr">
                        <a:lnSpc>
                          <a:spcPct val="100000"/>
                        </a:lnSpc>
                        <a:spcBef>
                          <a:spcPts val="740"/>
                        </a:spcBef>
                      </a:pPr>
                      <a:r>
                        <a:rPr lang="en-IN" sz="1050" spc="5">
                          <a:solidFill>
                            <a:srgbClr val="E23717"/>
                          </a:solidFill>
                          <a:latin typeface="Cambria Math"/>
                          <a:cs typeface="Cambria Math"/>
                        </a:rPr>
                        <a:t>−∞</a:t>
                      </a:r>
                      <a:endParaRPr lang="en-IN" sz="1050">
                        <a:latin typeface="Cambria Math"/>
                        <a:cs typeface="Cambria Math"/>
                      </a:endParaRPr>
                    </a:p>
                  </a:txBody>
                  <a:tcPr marL="0" marR="0" marT="939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R="24130" algn="ctr">
                        <a:lnSpc>
                          <a:spcPct val="100000"/>
                        </a:lnSpc>
                        <a:spcBef>
                          <a:spcPts val="740"/>
                        </a:spcBef>
                      </a:pPr>
                      <a:r>
                        <a:rPr lang="en-IN" sz="1050" spc="5">
                          <a:solidFill>
                            <a:srgbClr val="E23717"/>
                          </a:solidFill>
                          <a:latin typeface="Cambria Math"/>
                          <a:cs typeface="Cambria Math"/>
                        </a:rPr>
                        <a:t>−∞</a:t>
                      </a:r>
                      <a:endParaRPr lang="en-IN" sz="1050">
                        <a:latin typeface="Cambria Math"/>
                        <a:cs typeface="Cambria Math"/>
                      </a:endParaRPr>
                    </a:p>
                  </a:txBody>
                  <a:tcPr marL="0" marR="0" marT="939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3495" algn="ctr">
                        <a:lnSpc>
                          <a:spcPct val="100000"/>
                        </a:lnSpc>
                        <a:spcBef>
                          <a:spcPts val="740"/>
                        </a:spcBef>
                      </a:pPr>
                      <a:r>
                        <a:rPr lang="en-IN" sz="1050" spc="5">
                          <a:solidFill>
                            <a:srgbClr val="E23717"/>
                          </a:solidFill>
                          <a:latin typeface="Cambria Math"/>
                          <a:cs typeface="Cambria Math"/>
                        </a:rPr>
                        <a:t>−∞</a:t>
                      </a:r>
                      <a:endParaRPr lang="en-IN" sz="1050">
                        <a:latin typeface="Cambria Math"/>
                        <a:cs typeface="Cambria Math"/>
                      </a:endParaRPr>
                    </a:p>
                  </a:txBody>
                  <a:tcPr marL="0" marR="0" marT="939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3495" algn="ctr">
                        <a:lnSpc>
                          <a:spcPct val="100000"/>
                        </a:lnSpc>
                        <a:spcBef>
                          <a:spcPts val="740"/>
                        </a:spcBef>
                      </a:pPr>
                      <a:r>
                        <a:rPr lang="en-IN" sz="1050" spc="5">
                          <a:solidFill>
                            <a:srgbClr val="E23717"/>
                          </a:solidFill>
                          <a:latin typeface="Cambria Math"/>
                          <a:cs typeface="Cambria Math"/>
                        </a:rPr>
                        <a:t>−∞</a:t>
                      </a:r>
                      <a:endParaRPr lang="en-IN" sz="1050">
                        <a:latin typeface="Cambria Math"/>
                        <a:cs typeface="Cambria Math"/>
                      </a:endParaRPr>
                    </a:p>
                  </a:txBody>
                  <a:tcPr marL="0" marR="0" marT="939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2860" algn="ctr">
                        <a:lnSpc>
                          <a:spcPct val="100000"/>
                        </a:lnSpc>
                        <a:spcBef>
                          <a:spcPts val="740"/>
                        </a:spcBef>
                      </a:pPr>
                      <a:r>
                        <a:rPr lang="en-IN" sz="1050" spc="5">
                          <a:solidFill>
                            <a:srgbClr val="E23717"/>
                          </a:solidFill>
                          <a:latin typeface="Cambria Math"/>
                          <a:cs typeface="Cambria Math"/>
                        </a:rPr>
                        <a:t>−∞</a:t>
                      </a:r>
                      <a:endParaRPr lang="en-IN" sz="1050">
                        <a:latin typeface="Cambria Math"/>
                        <a:cs typeface="Cambria Math"/>
                      </a:endParaRPr>
                    </a:p>
                  </a:txBody>
                  <a:tcPr marL="0" marR="0" marT="939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152400" algn="r">
                        <a:lnSpc>
                          <a:spcPct val="100000"/>
                        </a:lnSpc>
                        <a:spcBef>
                          <a:spcPts val="740"/>
                        </a:spcBef>
                      </a:pPr>
                      <a:r>
                        <a:rPr lang="en-IN" sz="1050" spc="5">
                          <a:solidFill>
                            <a:srgbClr val="E23717"/>
                          </a:solidFill>
                          <a:latin typeface="Cambria Math"/>
                          <a:cs typeface="Cambria Math"/>
                        </a:rPr>
                        <a:t>−∞</a:t>
                      </a:r>
                      <a:endParaRPr lang="en-IN" sz="1050">
                        <a:latin typeface="Cambria Math"/>
                        <a:cs typeface="Cambria Math"/>
                      </a:endParaRPr>
                    </a:p>
                  </a:txBody>
                  <a:tcPr marL="0" marR="0" marT="939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152400" algn="r">
                        <a:lnSpc>
                          <a:spcPct val="100000"/>
                        </a:lnSpc>
                        <a:spcBef>
                          <a:spcPts val="740"/>
                        </a:spcBef>
                      </a:pPr>
                      <a:r>
                        <a:rPr lang="en-IN" sz="1050" spc="5">
                          <a:solidFill>
                            <a:srgbClr val="E23717"/>
                          </a:solidFill>
                          <a:latin typeface="Cambria Math"/>
                          <a:cs typeface="Cambria Math"/>
                        </a:rPr>
                        <a:t>−∞</a:t>
                      </a:r>
                      <a:endParaRPr lang="en-IN" sz="1050">
                        <a:latin typeface="Cambria Math"/>
                        <a:cs typeface="Cambria Math"/>
                      </a:endParaRPr>
                    </a:p>
                  </a:txBody>
                  <a:tcPr marL="0" marR="0" marT="939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2860" algn="ctr">
                        <a:lnSpc>
                          <a:spcPct val="100000"/>
                        </a:lnSpc>
                        <a:spcBef>
                          <a:spcPts val="740"/>
                        </a:spcBef>
                      </a:pPr>
                      <a:r>
                        <a:rPr lang="en-IN" sz="1050" spc="5">
                          <a:solidFill>
                            <a:srgbClr val="E23717"/>
                          </a:solidFill>
                          <a:latin typeface="Cambria Math"/>
                          <a:cs typeface="Cambria Math"/>
                        </a:rPr>
                        <a:t>−∞</a:t>
                      </a:r>
                      <a:endParaRPr lang="en-IN" sz="1050">
                        <a:latin typeface="Cambria Math"/>
                        <a:cs typeface="Cambria Math"/>
                      </a:endParaRPr>
                    </a:p>
                  </a:txBody>
                  <a:tcPr marL="0" marR="0" marT="939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2860" algn="ctr">
                        <a:lnSpc>
                          <a:spcPct val="100000"/>
                        </a:lnSpc>
                        <a:spcBef>
                          <a:spcPts val="740"/>
                        </a:spcBef>
                      </a:pPr>
                      <a:r>
                        <a:rPr lang="en-IN" sz="1050" spc="5">
                          <a:solidFill>
                            <a:srgbClr val="E23717"/>
                          </a:solidFill>
                          <a:latin typeface="Cambria Math"/>
                          <a:cs typeface="Cambria Math"/>
                        </a:rPr>
                        <a:t>−∞</a:t>
                      </a:r>
                      <a:endParaRPr lang="en-IN" sz="1050">
                        <a:latin typeface="Cambria Math"/>
                        <a:cs typeface="Cambria Math"/>
                      </a:endParaRPr>
                    </a:p>
                  </a:txBody>
                  <a:tcPr marL="0" marR="0" marT="939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2225" algn="ctr">
                        <a:lnSpc>
                          <a:spcPct val="100000"/>
                        </a:lnSpc>
                        <a:spcBef>
                          <a:spcPts val="740"/>
                        </a:spcBef>
                      </a:pPr>
                      <a:r>
                        <a:rPr lang="en-IN" sz="1050" spc="5">
                          <a:solidFill>
                            <a:srgbClr val="E23717"/>
                          </a:solidFill>
                          <a:latin typeface="Cambria Math"/>
                          <a:cs typeface="Cambria Math"/>
                        </a:rPr>
                        <a:t>−∞</a:t>
                      </a:r>
                      <a:endParaRPr lang="en-IN" sz="1050">
                        <a:latin typeface="Cambria Math"/>
                        <a:cs typeface="Cambria Math"/>
                      </a:endParaRPr>
                    </a:p>
                  </a:txBody>
                  <a:tcPr marL="0" marR="0" marT="939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2"/>
                  </a:ext>
                </a:extLst>
              </a:tr>
              <a:tr h="333867">
                <a:tc>
                  <a:txBody>
                    <a:bodyPr/>
                    <a:lstStyle/>
                    <a:p>
                      <a:pPr>
                        <a:lnSpc>
                          <a:spcPct val="100000"/>
                        </a:lnSpc>
                        <a:spcBef>
                          <a:spcPts val="50"/>
                        </a:spcBef>
                      </a:pPr>
                      <a:endParaRPr lang="en-IN" sz="750">
                        <a:latin typeface="Times New Roman"/>
                        <a:cs typeface="Times New Roman"/>
                      </a:endParaRPr>
                    </a:p>
                    <a:p>
                      <a:pPr marL="635" algn="ctr">
                        <a:lnSpc>
                          <a:spcPct val="100000"/>
                        </a:lnSpc>
                        <a:spcBef>
                          <a:spcPts val="5"/>
                        </a:spcBef>
                      </a:pPr>
                      <a:r>
                        <a:rPr lang="en-IN" sz="800" b="1">
                          <a:latin typeface="Tahoma"/>
                          <a:cs typeface="Tahoma"/>
                        </a:rPr>
                        <a:t>poem</a:t>
                      </a:r>
                      <a:endParaRPr lang="en-IN" sz="800">
                        <a:latin typeface="Tahoma"/>
                        <a:cs typeface="Tahoma"/>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spcBef>
                          <a:spcPts val="20"/>
                        </a:spcBef>
                      </a:pPr>
                      <a:endParaRPr lang="en-IN" sz="800">
                        <a:latin typeface="Times New Roman"/>
                        <a:cs typeface="Times New Roman"/>
                      </a:endParaRPr>
                    </a:p>
                    <a:p>
                      <a:pPr algn="ctr">
                        <a:lnSpc>
                          <a:spcPct val="100000"/>
                        </a:lnSpc>
                      </a:pPr>
                      <a:r>
                        <a:rPr lang="en-IN" sz="800">
                          <a:latin typeface="Tahoma"/>
                          <a:cs typeface="Tahoma"/>
                        </a:rPr>
                        <a:t>0</a:t>
                      </a: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spcBef>
                          <a:spcPts val="20"/>
                        </a:spcBef>
                      </a:pPr>
                      <a:endParaRPr lang="en-IN" sz="800">
                        <a:latin typeface="Times New Roman"/>
                        <a:cs typeface="Times New Roman"/>
                      </a:endParaRPr>
                    </a:p>
                    <a:p>
                      <a:pPr algn="ctr">
                        <a:lnSpc>
                          <a:spcPct val="100000"/>
                        </a:lnSpc>
                      </a:pPr>
                      <a:r>
                        <a:rPr lang="en-IN" sz="800">
                          <a:latin typeface="Tahoma"/>
                          <a:cs typeface="Tahoma"/>
                        </a:rPr>
                        <a:t>0</a:t>
                      </a: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a:lnSpc>
                          <a:spcPct val="100000"/>
                        </a:lnSpc>
                        <a:spcBef>
                          <a:spcPts val="20"/>
                        </a:spcBef>
                      </a:pPr>
                      <a:endParaRPr lang="en-IN" sz="800">
                        <a:latin typeface="Times New Roman"/>
                        <a:cs typeface="Times New Roman"/>
                      </a:endParaRPr>
                    </a:p>
                    <a:p>
                      <a:pPr algn="ctr">
                        <a:lnSpc>
                          <a:spcPct val="100000"/>
                        </a:lnSpc>
                      </a:pPr>
                      <a:r>
                        <a:rPr lang="en-IN" sz="800">
                          <a:latin typeface="Tahoma"/>
                          <a:cs typeface="Tahoma"/>
                        </a:rPr>
                        <a:t>0</a:t>
                      </a: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BEBEA"/>
                    </a:solidFill>
                  </a:tcPr>
                </a:tc>
                <a:tc>
                  <a:txBody>
                    <a:bodyPr/>
                    <a:lstStyle/>
                    <a:p>
                      <a:pPr marR="2413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3495"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3495"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3495"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153035" algn="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153035" algn="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2860" algn="ctr">
                        <a:lnSpc>
                          <a:spcPct val="100000"/>
                        </a:lnSpc>
                        <a:spcBef>
                          <a:spcPts val="745"/>
                        </a:spcBef>
                      </a:pPr>
                      <a:r>
                        <a:rPr lang="en-IN" sz="1050" dirty="0">
                          <a:solidFill>
                            <a:srgbClr val="E23717"/>
                          </a:solidFill>
                          <a:latin typeface="Cambria Math"/>
                          <a:cs typeface="Cambria Math"/>
                        </a:rPr>
                        <a:t>−∞</a:t>
                      </a:r>
                      <a:endParaRPr lang="en-IN" sz="1050" dirty="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286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286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3"/>
                  </a:ext>
                </a:extLst>
              </a:tr>
              <a:tr h="333750">
                <a:tc>
                  <a:txBody>
                    <a:bodyPr/>
                    <a:lstStyle/>
                    <a:p>
                      <a:pPr>
                        <a:lnSpc>
                          <a:spcPct val="100000"/>
                        </a:lnSpc>
                        <a:spcBef>
                          <a:spcPts val="55"/>
                        </a:spcBef>
                      </a:pPr>
                      <a:endParaRPr lang="en-IN" sz="750">
                        <a:latin typeface="Times New Roman"/>
                        <a:cs typeface="Times New Roman"/>
                      </a:endParaRPr>
                    </a:p>
                    <a:p>
                      <a:pPr algn="ctr">
                        <a:lnSpc>
                          <a:spcPct val="100000"/>
                        </a:lnSpc>
                      </a:pPr>
                      <a:r>
                        <a:rPr lang="en-IN" sz="800" b="1" spc="-15">
                          <a:latin typeface="Tahoma"/>
                          <a:cs typeface="Tahoma"/>
                        </a:rPr>
                        <a:t>Write</a:t>
                      </a:r>
                      <a:endParaRPr lang="en-IN" sz="800">
                        <a:latin typeface="Tahoma"/>
                        <a:cs typeface="Tahoma"/>
                      </a:endParaRPr>
                    </a:p>
                  </a:txBody>
                  <a:tcPr marL="0" marR="0" marT="69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marL="128905">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4130" algn="ctr">
                        <a:lnSpc>
                          <a:spcPct val="100000"/>
                        </a:lnSpc>
                        <a:spcBef>
                          <a:spcPts val="745"/>
                        </a:spcBef>
                      </a:pPr>
                      <a:r>
                        <a:rPr lang="en-IN" sz="1050">
                          <a:solidFill>
                            <a:srgbClr val="E23717"/>
                          </a:solidFill>
                          <a:latin typeface="Cambria Math"/>
                          <a:cs typeface="Cambria Math"/>
                        </a:rPr>
                        <a:t>−∞</a:t>
                      </a:r>
                      <a:endParaRPr lang="en-IN" sz="1050" dirty="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413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lang="en-IN" sz="800">
                        <a:latin typeface="Times New Roman"/>
                        <a:cs typeface="Times New Roman"/>
                      </a:endParaRPr>
                    </a:p>
                    <a:p>
                      <a:pPr algn="ctr">
                        <a:lnSpc>
                          <a:spcPct val="100000"/>
                        </a:lnSpc>
                      </a:pPr>
                      <a:r>
                        <a:rPr lang="en-IN" sz="800">
                          <a:latin typeface="Tahoma"/>
                          <a:cs typeface="Tahoma"/>
                        </a:rPr>
                        <a:t>0</a:t>
                      </a: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marR="23495"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marR="23495"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marR="23495"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marR="153035" algn="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153035" algn="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286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286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286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4"/>
                  </a:ext>
                </a:extLst>
              </a:tr>
              <a:tr h="333867">
                <a:tc>
                  <a:txBody>
                    <a:bodyPr/>
                    <a:lstStyle/>
                    <a:p>
                      <a:pPr>
                        <a:lnSpc>
                          <a:spcPct val="100000"/>
                        </a:lnSpc>
                      </a:pPr>
                      <a:endParaRPr lang="en-IN" sz="800">
                        <a:latin typeface="Times New Roman"/>
                        <a:cs typeface="Times New Roman"/>
                      </a:endParaRPr>
                    </a:p>
                    <a:p>
                      <a:pPr marL="635" algn="ctr">
                        <a:lnSpc>
                          <a:spcPct val="100000"/>
                        </a:lnSpc>
                      </a:pPr>
                      <a:r>
                        <a:rPr lang="en-IN" sz="800" b="1">
                          <a:latin typeface="Tahoma"/>
                          <a:cs typeface="Tahoma"/>
                        </a:rPr>
                        <a:t>a</a:t>
                      </a:r>
                      <a:endParaRPr lang="en-IN" sz="8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marL="128905">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413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413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lang="en-IN" sz="800">
                        <a:latin typeface="Times New Roman"/>
                        <a:cs typeface="Times New Roman"/>
                      </a:endParaRPr>
                    </a:p>
                    <a:p>
                      <a:pPr algn="ctr">
                        <a:lnSpc>
                          <a:spcPct val="100000"/>
                        </a:lnSpc>
                        <a:spcBef>
                          <a:spcPts val="5"/>
                        </a:spcBef>
                      </a:pPr>
                      <a:r>
                        <a:rPr lang="en-IN" sz="800">
                          <a:latin typeface="Tahoma"/>
                          <a:cs typeface="Tahoma"/>
                        </a:rPr>
                        <a:t>0</a:t>
                      </a: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a:lnSpc>
                          <a:spcPct val="100000"/>
                        </a:lnSpc>
                        <a:spcBef>
                          <a:spcPts val="20"/>
                        </a:spcBef>
                      </a:pPr>
                      <a:endParaRPr lang="en-IN" sz="800">
                        <a:latin typeface="Times New Roman"/>
                        <a:cs typeface="Times New Roman"/>
                      </a:endParaRPr>
                    </a:p>
                    <a:p>
                      <a:pPr algn="ctr">
                        <a:lnSpc>
                          <a:spcPct val="100000"/>
                        </a:lnSpc>
                        <a:spcBef>
                          <a:spcPts val="5"/>
                        </a:spcBef>
                      </a:pPr>
                      <a:r>
                        <a:rPr lang="en-IN" sz="800">
                          <a:latin typeface="Tahoma"/>
                          <a:cs typeface="Tahoma"/>
                        </a:rPr>
                        <a:t>0</a:t>
                      </a: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marR="23495"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marR="23495"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marR="153035" algn="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153035" algn="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286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286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286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5"/>
                  </a:ext>
                </a:extLst>
              </a:tr>
              <a:tr h="418166">
                <a:tc>
                  <a:txBody>
                    <a:bodyPr/>
                    <a:lstStyle/>
                    <a:p>
                      <a:pPr marL="154305" marR="90170" indent="-58419">
                        <a:lnSpc>
                          <a:spcPct val="100000"/>
                        </a:lnSpc>
                        <a:spcBef>
                          <a:spcPts val="434"/>
                        </a:spcBef>
                      </a:pPr>
                      <a:r>
                        <a:rPr lang="en-IN" sz="800" b="1" spc="-5">
                          <a:latin typeface="Tahoma"/>
                          <a:cs typeface="Tahoma"/>
                        </a:rPr>
                        <a:t>h</a:t>
                      </a:r>
                      <a:r>
                        <a:rPr lang="en-IN" sz="800" b="1">
                          <a:latin typeface="Tahoma"/>
                          <a:cs typeface="Tahoma"/>
                        </a:rPr>
                        <a:t>i</a:t>
                      </a:r>
                      <a:r>
                        <a:rPr lang="en-IN" sz="800" b="1" spc="5">
                          <a:latin typeface="Tahoma"/>
                          <a:cs typeface="Tahoma"/>
                        </a:rPr>
                        <a:t>s</a:t>
                      </a:r>
                      <a:r>
                        <a:rPr lang="en-IN" sz="800" b="1" spc="-5">
                          <a:latin typeface="Tahoma"/>
                          <a:cs typeface="Tahoma"/>
                        </a:rPr>
                        <a:t>to</a:t>
                      </a:r>
                      <a:r>
                        <a:rPr lang="en-IN" sz="800" b="1">
                          <a:latin typeface="Tahoma"/>
                          <a:cs typeface="Tahoma"/>
                        </a:rPr>
                        <a:t>r  </a:t>
                      </a:r>
                      <a:r>
                        <a:rPr lang="en-IN" sz="800" b="1" spc="-15">
                          <a:latin typeface="Tahoma"/>
                          <a:cs typeface="Tahoma"/>
                        </a:rPr>
                        <a:t>ical</a:t>
                      </a:r>
                      <a:endParaRPr lang="en-IN" sz="800">
                        <a:latin typeface="Tahoma"/>
                        <a:cs typeface="Tahoma"/>
                      </a:endParaRPr>
                    </a:p>
                  </a:txBody>
                  <a:tcPr marL="0" marR="0" marT="5524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marL="128905">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413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413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lang="en-IN" sz="800">
                        <a:latin typeface="Times New Roman"/>
                        <a:cs typeface="Times New Roman"/>
                      </a:endParaRPr>
                    </a:p>
                    <a:p>
                      <a:pPr algn="ctr">
                        <a:lnSpc>
                          <a:spcPct val="100000"/>
                        </a:lnSpc>
                      </a:pPr>
                      <a:r>
                        <a:rPr lang="en-IN" sz="800">
                          <a:latin typeface="Tahoma"/>
                          <a:cs typeface="Tahoma"/>
                        </a:rPr>
                        <a:t>0</a:t>
                      </a: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a:lnSpc>
                          <a:spcPct val="100000"/>
                        </a:lnSpc>
                        <a:spcBef>
                          <a:spcPts val="25"/>
                        </a:spcBef>
                      </a:pPr>
                      <a:endParaRPr lang="en-IN" sz="800">
                        <a:latin typeface="Times New Roman"/>
                        <a:cs typeface="Times New Roman"/>
                      </a:endParaRPr>
                    </a:p>
                    <a:p>
                      <a:pPr algn="ctr">
                        <a:lnSpc>
                          <a:spcPct val="100000"/>
                        </a:lnSpc>
                      </a:pPr>
                      <a:r>
                        <a:rPr lang="en-IN" sz="800">
                          <a:latin typeface="Tahoma"/>
                          <a:cs typeface="Tahoma"/>
                        </a:rPr>
                        <a:t>0</a:t>
                      </a: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a:lnSpc>
                          <a:spcPct val="100000"/>
                        </a:lnSpc>
                        <a:spcBef>
                          <a:spcPts val="25"/>
                        </a:spcBef>
                      </a:pPr>
                      <a:endParaRPr lang="en-IN" sz="800">
                        <a:latin typeface="Times New Roman"/>
                        <a:cs typeface="Times New Roman"/>
                      </a:endParaRPr>
                    </a:p>
                    <a:p>
                      <a:pPr algn="ctr">
                        <a:lnSpc>
                          <a:spcPct val="100000"/>
                        </a:lnSpc>
                      </a:pPr>
                      <a:r>
                        <a:rPr lang="en-IN" sz="800">
                          <a:latin typeface="Tahoma"/>
                          <a:cs typeface="Tahoma"/>
                        </a:rPr>
                        <a:t>0</a:t>
                      </a: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marR="23495"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marR="153035" algn="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153035" algn="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286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286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286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6"/>
                  </a:ext>
                </a:extLst>
              </a:tr>
              <a:tr h="333750">
                <a:tc>
                  <a:txBody>
                    <a:bodyPr/>
                    <a:lstStyle/>
                    <a:p>
                      <a:pPr>
                        <a:lnSpc>
                          <a:spcPct val="100000"/>
                        </a:lnSpc>
                      </a:pPr>
                      <a:endParaRPr lang="en-IN" sz="800">
                        <a:latin typeface="Times New Roman"/>
                        <a:cs typeface="Times New Roman"/>
                      </a:endParaRPr>
                    </a:p>
                    <a:p>
                      <a:pPr algn="ctr">
                        <a:lnSpc>
                          <a:spcPct val="100000"/>
                        </a:lnSpc>
                      </a:pPr>
                      <a:r>
                        <a:rPr lang="en-IN" sz="800" b="1" spc="-5">
                          <a:latin typeface="Tahoma"/>
                          <a:cs typeface="Tahoma"/>
                        </a:rPr>
                        <a:t>novel</a:t>
                      </a:r>
                      <a:endParaRPr lang="en-IN" sz="8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marL="128905">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413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413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0"/>
                        </a:spcBef>
                      </a:pPr>
                      <a:endParaRPr lang="en-IN" sz="800">
                        <a:latin typeface="Times New Roman"/>
                        <a:cs typeface="Times New Roman"/>
                      </a:endParaRPr>
                    </a:p>
                    <a:p>
                      <a:pPr algn="ctr">
                        <a:lnSpc>
                          <a:spcPct val="100000"/>
                        </a:lnSpc>
                        <a:spcBef>
                          <a:spcPts val="5"/>
                        </a:spcBef>
                      </a:pPr>
                      <a:r>
                        <a:rPr lang="en-IN" sz="800">
                          <a:latin typeface="Tahoma"/>
                          <a:cs typeface="Tahoma"/>
                        </a:rPr>
                        <a:t>0</a:t>
                      </a: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a:lnSpc>
                          <a:spcPct val="100000"/>
                        </a:lnSpc>
                        <a:spcBef>
                          <a:spcPts val="20"/>
                        </a:spcBef>
                      </a:pPr>
                      <a:endParaRPr lang="en-IN" sz="800">
                        <a:latin typeface="Times New Roman"/>
                        <a:cs typeface="Times New Roman"/>
                      </a:endParaRPr>
                    </a:p>
                    <a:p>
                      <a:pPr algn="ctr">
                        <a:lnSpc>
                          <a:spcPct val="100000"/>
                        </a:lnSpc>
                        <a:spcBef>
                          <a:spcPts val="5"/>
                        </a:spcBef>
                      </a:pPr>
                      <a:r>
                        <a:rPr lang="en-IN" sz="800">
                          <a:latin typeface="Tahoma"/>
                          <a:cs typeface="Tahoma"/>
                        </a:rPr>
                        <a:t>0</a:t>
                      </a: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a:lnSpc>
                          <a:spcPct val="100000"/>
                        </a:lnSpc>
                        <a:spcBef>
                          <a:spcPts val="20"/>
                        </a:spcBef>
                      </a:pPr>
                      <a:endParaRPr lang="en-IN" sz="800">
                        <a:latin typeface="Times New Roman"/>
                        <a:cs typeface="Times New Roman"/>
                      </a:endParaRPr>
                    </a:p>
                    <a:p>
                      <a:pPr algn="ctr">
                        <a:lnSpc>
                          <a:spcPct val="100000"/>
                        </a:lnSpc>
                        <a:spcBef>
                          <a:spcPts val="5"/>
                        </a:spcBef>
                      </a:pPr>
                      <a:r>
                        <a:rPr lang="en-IN" sz="800">
                          <a:latin typeface="Tahoma"/>
                          <a:cs typeface="Tahoma"/>
                        </a:rPr>
                        <a:t>0</a:t>
                      </a: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a:lnSpc>
                          <a:spcPct val="100000"/>
                        </a:lnSpc>
                        <a:spcBef>
                          <a:spcPts val="20"/>
                        </a:spcBef>
                      </a:pPr>
                      <a:endParaRPr lang="en-IN" sz="800">
                        <a:latin typeface="Times New Roman"/>
                        <a:cs typeface="Times New Roman"/>
                      </a:endParaRPr>
                    </a:p>
                    <a:p>
                      <a:pPr algn="ctr">
                        <a:lnSpc>
                          <a:spcPct val="100000"/>
                        </a:lnSpc>
                        <a:spcBef>
                          <a:spcPts val="5"/>
                        </a:spcBef>
                      </a:pPr>
                      <a:r>
                        <a:rPr lang="en-IN" sz="800">
                          <a:latin typeface="Tahoma"/>
                          <a:cs typeface="Tahoma"/>
                        </a:rPr>
                        <a:t>0</a:t>
                      </a:r>
                    </a:p>
                  </a:txBody>
                  <a:tcPr marL="0" marR="0" marT="25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D4A0"/>
                    </a:solidFill>
                  </a:tcPr>
                </a:tc>
                <a:tc>
                  <a:txBody>
                    <a:bodyPr/>
                    <a:lstStyle/>
                    <a:p>
                      <a:pPr marR="153035" algn="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153035" algn="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286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286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286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extLst>
                  <a:ext uri="{0D108BD9-81ED-4DB2-BD59-A6C34878D82A}">
                    <a16:rowId xmlns:a16="http://schemas.microsoft.com/office/drawing/2014/main" val="10007"/>
                  </a:ext>
                </a:extLst>
              </a:tr>
              <a:tr h="333867">
                <a:tc>
                  <a:txBody>
                    <a:bodyPr/>
                    <a:lstStyle/>
                    <a:p>
                      <a:pPr>
                        <a:lnSpc>
                          <a:spcPct val="100000"/>
                        </a:lnSpc>
                      </a:pPr>
                      <a:endParaRPr lang="en-IN" sz="800">
                        <a:latin typeface="Times New Roman"/>
                        <a:cs typeface="Times New Roman"/>
                      </a:endParaRPr>
                    </a:p>
                    <a:p>
                      <a:pPr algn="ctr">
                        <a:lnSpc>
                          <a:spcPct val="100000"/>
                        </a:lnSpc>
                      </a:pPr>
                      <a:r>
                        <a:rPr lang="en-IN" sz="800" b="1" spc="-10">
                          <a:latin typeface="Tahoma"/>
                          <a:cs typeface="Tahoma"/>
                        </a:rPr>
                        <a:t>Tell</a:t>
                      </a:r>
                      <a:endParaRPr lang="en-IN" sz="8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marL="128905">
                        <a:lnSpc>
                          <a:spcPct val="100000"/>
                        </a:lnSpc>
                        <a:spcBef>
                          <a:spcPts val="750"/>
                        </a:spcBef>
                      </a:pPr>
                      <a:r>
                        <a:rPr lang="en-IN" sz="1050">
                          <a:solidFill>
                            <a:srgbClr val="E23717"/>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4130" algn="ctr">
                        <a:lnSpc>
                          <a:spcPct val="100000"/>
                        </a:lnSpc>
                        <a:spcBef>
                          <a:spcPts val="750"/>
                        </a:spcBef>
                      </a:pPr>
                      <a:r>
                        <a:rPr lang="en-IN" sz="1050">
                          <a:solidFill>
                            <a:srgbClr val="E23717"/>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4130" algn="ctr">
                        <a:lnSpc>
                          <a:spcPct val="100000"/>
                        </a:lnSpc>
                        <a:spcBef>
                          <a:spcPts val="750"/>
                        </a:spcBef>
                      </a:pPr>
                      <a:r>
                        <a:rPr lang="en-IN" sz="1050">
                          <a:solidFill>
                            <a:srgbClr val="E23717"/>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4130" algn="ctr">
                        <a:lnSpc>
                          <a:spcPct val="100000"/>
                        </a:lnSpc>
                        <a:spcBef>
                          <a:spcPts val="750"/>
                        </a:spcBef>
                      </a:pPr>
                      <a:r>
                        <a:rPr lang="en-IN" sz="1050">
                          <a:solidFill>
                            <a:srgbClr val="E23717"/>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3495" algn="ctr">
                        <a:lnSpc>
                          <a:spcPct val="100000"/>
                        </a:lnSpc>
                        <a:spcBef>
                          <a:spcPts val="750"/>
                        </a:spcBef>
                      </a:pPr>
                      <a:r>
                        <a:rPr lang="en-IN" sz="1050">
                          <a:solidFill>
                            <a:srgbClr val="E23717"/>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3495" algn="ctr">
                        <a:lnSpc>
                          <a:spcPct val="100000"/>
                        </a:lnSpc>
                        <a:spcBef>
                          <a:spcPts val="750"/>
                        </a:spcBef>
                      </a:pPr>
                      <a:r>
                        <a:rPr lang="en-IN" sz="1050">
                          <a:solidFill>
                            <a:srgbClr val="E23717"/>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3495" algn="ctr">
                        <a:lnSpc>
                          <a:spcPct val="100000"/>
                        </a:lnSpc>
                        <a:spcBef>
                          <a:spcPts val="750"/>
                        </a:spcBef>
                      </a:pPr>
                      <a:r>
                        <a:rPr lang="en-IN" sz="1050">
                          <a:solidFill>
                            <a:srgbClr val="E23717"/>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lang="en-IN" sz="800">
                        <a:latin typeface="Times New Roman"/>
                        <a:cs typeface="Times New Roman"/>
                      </a:endParaRPr>
                    </a:p>
                    <a:p>
                      <a:pPr algn="ctr">
                        <a:lnSpc>
                          <a:spcPct val="100000"/>
                        </a:lnSpc>
                      </a:pPr>
                      <a:r>
                        <a:rPr lang="en-IN" sz="800">
                          <a:solidFill>
                            <a:srgbClr val="FFFFFF"/>
                          </a:solidFill>
                          <a:latin typeface="Tahoma"/>
                          <a:cs typeface="Tahoma"/>
                        </a:rPr>
                        <a:t>0</a:t>
                      </a:r>
                      <a:endParaRPr lang="en-IN" sz="800">
                        <a:latin typeface="Tahoma"/>
                        <a:cs typeface="Tahoma"/>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marR="153035" algn="r">
                        <a:lnSpc>
                          <a:spcPct val="100000"/>
                        </a:lnSpc>
                        <a:spcBef>
                          <a:spcPts val="750"/>
                        </a:spcBef>
                      </a:pPr>
                      <a:r>
                        <a:rPr lang="en-IN" sz="1050">
                          <a:solidFill>
                            <a:srgbClr val="FFFFFF"/>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marR="22860" algn="ctr">
                        <a:lnSpc>
                          <a:spcPct val="100000"/>
                        </a:lnSpc>
                        <a:spcBef>
                          <a:spcPts val="750"/>
                        </a:spcBef>
                      </a:pPr>
                      <a:r>
                        <a:rPr lang="en-IN" sz="1050">
                          <a:solidFill>
                            <a:srgbClr val="FFFFFF"/>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marR="22860" algn="ctr">
                        <a:lnSpc>
                          <a:spcPct val="100000"/>
                        </a:lnSpc>
                        <a:spcBef>
                          <a:spcPts val="750"/>
                        </a:spcBef>
                      </a:pPr>
                      <a:r>
                        <a:rPr lang="en-IN" sz="1050">
                          <a:solidFill>
                            <a:srgbClr val="FFFFFF"/>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marR="22860" algn="ctr">
                        <a:lnSpc>
                          <a:spcPct val="100000"/>
                        </a:lnSpc>
                        <a:spcBef>
                          <a:spcPts val="750"/>
                        </a:spcBef>
                      </a:pPr>
                      <a:r>
                        <a:rPr lang="en-IN" sz="1050">
                          <a:solidFill>
                            <a:srgbClr val="FFFFFF"/>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extLst>
                  <a:ext uri="{0D108BD9-81ED-4DB2-BD59-A6C34878D82A}">
                    <a16:rowId xmlns:a16="http://schemas.microsoft.com/office/drawing/2014/main" val="10008"/>
                  </a:ext>
                </a:extLst>
              </a:tr>
              <a:tr h="333749">
                <a:tc>
                  <a:txBody>
                    <a:bodyPr/>
                    <a:lstStyle/>
                    <a:p>
                      <a:pPr>
                        <a:lnSpc>
                          <a:spcPct val="100000"/>
                        </a:lnSpc>
                      </a:pPr>
                      <a:endParaRPr lang="en-IN" sz="800">
                        <a:latin typeface="Times New Roman"/>
                        <a:cs typeface="Times New Roman"/>
                      </a:endParaRPr>
                    </a:p>
                    <a:p>
                      <a:pPr marL="635" algn="ctr">
                        <a:lnSpc>
                          <a:spcPct val="100000"/>
                        </a:lnSpc>
                      </a:pPr>
                      <a:r>
                        <a:rPr lang="en-IN" sz="800" b="1" spc="-10">
                          <a:latin typeface="Tahoma"/>
                          <a:cs typeface="Tahoma"/>
                        </a:rPr>
                        <a:t>me</a:t>
                      </a:r>
                      <a:endParaRPr lang="en-IN" sz="8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marL="128905">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413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413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413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3495"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3495"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3495"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lang="en-IN" sz="800">
                        <a:latin typeface="Times New Roman"/>
                        <a:cs typeface="Times New Roman"/>
                      </a:endParaRPr>
                    </a:p>
                    <a:p>
                      <a:pPr algn="ctr">
                        <a:lnSpc>
                          <a:spcPct val="100000"/>
                        </a:lnSpc>
                      </a:pPr>
                      <a:r>
                        <a:rPr lang="en-IN" sz="800">
                          <a:solidFill>
                            <a:srgbClr val="FFFFFF"/>
                          </a:solidFill>
                          <a:latin typeface="Tahoma"/>
                          <a:cs typeface="Tahoma"/>
                        </a:rPr>
                        <a:t>0</a:t>
                      </a:r>
                      <a:endParaRPr lang="en-IN" sz="800">
                        <a:latin typeface="Tahoma"/>
                        <a:cs typeface="Tahoma"/>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a:lnSpc>
                          <a:spcPct val="100000"/>
                        </a:lnSpc>
                        <a:spcBef>
                          <a:spcPts val="25"/>
                        </a:spcBef>
                      </a:pPr>
                      <a:endParaRPr lang="en-IN" sz="800">
                        <a:latin typeface="Times New Roman"/>
                        <a:cs typeface="Times New Roman"/>
                      </a:endParaRPr>
                    </a:p>
                    <a:p>
                      <a:pPr algn="ctr">
                        <a:lnSpc>
                          <a:spcPct val="100000"/>
                        </a:lnSpc>
                      </a:pPr>
                      <a:r>
                        <a:rPr lang="en-IN" sz="800">
                          <a:solidFill>
                            <a:srgbClr val="FFFFFF"/>
                          </a:solidFill>
                          <a:latin typeface="Tahoma"/>
                          <a:cs typeface="Tahoma"/>
                        </a:rPr>
                        <a:t>0</a:t>
                      </a:r>
                      <a:endParaRPr lang="en-IN" sz="800">
                        <a:latin typeface="Tahoma"/>
                        <a:cs typeface="Tahoma"/>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marR="22860" algn="ctr">
                        <a:lnSpc>
                          <a:spcPct val="100000"/>
                        </a:lnSpc>
                        <a:spcBef>
                          <a:spcPts val="745"/>
                        </a:spcBef>
                      </a:pPr>
                      <a:r>
                        <a:rPr lang="en-IN" sz="1050">
                          <a:solidFill>
                            <a:srgbClr val="FFFFFF"/>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marR="22860" algn="ctr">
                        <a:lnSpc>
                          <a:spcPct val="100000"/>
                        </a:lnSpc>
                        <a:spcBef>
                          <a:spcPts val="745"/>
                        </a:spcBef>
                      </a:pPr>
                      <a:r>
                        <a:rPr lang="en-IN" sz="1050">
                          <a:solidFill>
                            <a:srgbClr val="FFFFFF"/>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marR="22860" algn="ctr">
                        <a:lnSpc>
                          <a:spcPct val="100000"/>
                        </a:lnSpc>
                        <a:spcBef>
                          <a:spcPts val="745"/>
                        </a:spcBef>
                      </a:pPr>
                      <a:r>
                        <a:rPr lang="en-IN" sz="1050">
                          <a:solidFill>
                            <a:srgbClr val="FFFFFF"/>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extLst>
                  <a:ext uri="{0D108BD9-81ED-4DB2-BD59-A6C34878D82A}">
                    <a16:rowId xmlns:a16="http://schemas.microsoft.com/office/drawing/2014/main" val="10009"/>
                  </a:ext>
                </a:extLst>
              </a:tr>
              <a:tr h="333843">
                <a:tc>
                  <a:txBody>
                    <a:bodyPr/>
                    <a:lstStyle/>
                    <a:p>
                      <a:pPr>
                        <a:lnSpc>
                          <a:spcPct val="100000"/>
                        </a:lnSpc>
                      </a:pPr>
                      <a:endParaRPr lang="en-IN" sz="800">
                        <a:latin typeface="Times New Roman"/>
                        <a:cs typeface="Times New Roman"/>
                      </a:endParaRPr>
                    </a:p>
                    <a:p>
                      <a:pPr marL="635" algn="ctr">
                        <a:lnSpc>
                          <a:spcPct val="100000"/>
                        </a:lnSpc>
                      </a:pPr>
                      <a:r>
                        <a:rPr lang="en-IN" sz="800" b="1">
                          <a:latin typeface="Tahoma"/>
                          <a:cs typeface="Tahoma"/>
                        </a:rPr>
                        <a:t>a</a:t>
                      </a:r>
                      <a:endParaRPr lang="en-IN" sz="8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marL="128905">
                        <a:lnSpc>
                          <a:spcPct val="100000"/>
                        </a:lnSpc>
                        <a:spcBef>
                          <a:spcPts val="750"/>
                        </a:spcBef>
                      </a:pPr>
                      <a:r>
                        <a:rPr lang="en-IN" sz="1050">
                          <a:solidFill>
                            <a:srgbClr val="E23717"/>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4130" algn="ctr">
                        <a:lnSpc>
                          <a:spcPct val="100000"/>
                        </a:lnSpc>
                        <a:spcBef>
                          <a:spcPts val="750"/>
                        </a:spcBef>
                      </a:pPr>
                      <a:r>
                        <a:rPr lang="en-IN" sz="1050">
                          <a:solidFill>
                            <a:srgbClr val="E23717"/>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4130" algn="ctr">
                        <a:lnSpc>
                          <a:spcPct val="100000"/>
                        </a:lnSpc>
                        <a:spcBef>
                          <a:spcPts val="750"/>
                        </a:spcBef>
                      </a:pPr>
                      <a:r>
                        <a:rPr lang="en-IN" sz="1050">
                          <a:solidFill>
                            <a:srgbClr val="E23717"/>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4130" algn="ctr">
                        <a:lnSpc>
                          <a:spcPct val="100000"/>
                        </a:lnSpc>
                        <a:spcBef>
                          <a:spcPts val="750"/>
                        </a:spcBef>
                      </a:pPr>
                      <a:r>
                        <a:rPr lang="en-IN" sz="1050">
                          <a:solidFill>
                            <a:srgbClr val="E23717"/>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3495" algn="ctr">
                        <a:lnSpc>
                          <a:spcPct val="100000"/>
                        </a:lnSpc>
                        <a:spcBef>
                          <a:spcPts val="750"/>
                        </a:spcBef>
                      </a:pPr>
                      <a:r>
                        <a:rPr lang="en-IN" sz="1050">
                          <a:solidFill>
                            <a:srgbClr val="E23717"/>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3495" algn="ctr">
                        <a:lnSpc>
                          <a:spcPct val="100000"/>
                        </a:lnSpc>
                        <a:spcBef>
                          <a:spcPts val="750"/>
                        </a:spcBef>
                      </a:pPr>
                      <a:r>
                        <a:rPr lang="en-IN" sz="1050">
                          <a:solidFill>
                            <a:srgbClr val="E23717"/>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3495" algn="ctr">
                        <a:lnSpc>
                          <a:spcPct val="100000"/>
                        </a:lnSpc>
                        <a:spcBef>
                          <a:spcPts val="750"/>
                        </a:spcBef>
                      </a:pPr>
                      <a:r>
                        <a:rPr lang="en-IN" sz="1050">
                          <a:solidFill>
                            <a:srgbClr val="E23717"/>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lang="en-IN" sz="800">
                        <a:latin typeface="Times New Roman"/>
                        <a:cs typeface="Times New Roman"/>
                      </a:endParaRPr>
                    </a:p>
                    <a:p>
                      <a:pPr algn="ctr">
                        <a:lnSpc>
                          <a:spcPct val="100000"/>
                        </a:lnSpc>
                      </a:pPr>
                      <a:r>
                        <a:rPr lang="en-IN" sz="800">
                          <a:solidFill>
                            <a:srgbClr val="FFFFFF"/>
                          </a:solidFill>
                          <a:latin typeface="Tahoma"/>
                          <a:cs typeface="Tahoma"/>
                        </a:rPr>
                        <a:t>0</a:t>
                      </a:r>
                      <a:endParaRPr lang="en-IN" sz="800">
                        <a:latin typeface="Tahoma"/>
                        <a:cs typeface="Tahoma"/>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a:lnSpc>
                          <a:spcPct val="100000"/>
                        </a:lnSpc>
                        <a:spcBef>
                          <a:spcPts val="25"/>
                        </a:spcBef>
                      </a:pPr>
                      <a:endParaRPr lang="en-IN" sz="800">
                        <a:latin typeface="Times New Roman"/>
                        <a:cs typeface="Times New Roman"/>
                      </a:endParaRPr>
                    </a:p>
                    <a:p>
                      <a:pPr algn="ctr">
                        <a:lnSpc>
                          <a:spcPct val="100000"/>
                        </a:lnSpc>
                      </a:pPr>
                      <a:r>
                        <a:rPr lang="en-IN" sz="800">
                          <a:solidFill>
                            <a:srgbClr val="FFFFFF"/>
                          </a:solidFill>
                          <a:latin typeface="Tahoma"/>
                          <a:cs typeface="Tahoma"/>
                        </a:rPr>
                        <a:t>0</a:t>
                      </a:r>
                      <a:endParaRPr lang="en-IN" sz="800">
                        <a:latin typeface="Tahoma"/>
                        <a:cs typeface="Tahoma"/>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a:lnSpc>
                          <a:spcPct val="100000"/>
                        </a:lnSpc>
                        <a:spcBef>
                          <a:spcPts val="25"/>
                        </a:spcBef>
                      </a:pPr>
                      <a:endParaRPr lang="en-IN" sz="800">
                        <a:latin typeface="Times New Roman"/>
                        <a:cs typeface="Times New Roman"/>
                      </a:endParaRPr>
                    </a:p>
                    <a:p>
                      <a:pPr algn="ctr">
                        <a:lnSpc>
                          <a:spcPct val="100000"/>
                        </a:lnSpc>
                      </a:pPr>
                      <a:r>
                        <a:rPr lang="en-IN" sz="800">
                          <a:solidFill>
                            <a:srgbClr val="FFFFFF"/>
                          </a:solidFill>
                          <a:latin typeface="Tahoma"/>
                          <a:cs typeface="Tahoma"/>
                        </a:rPr>
                        <a:t>0</a:t>
                      </a:r>
                      <a:endParaRPr lang="en-IN" sz="800">
                        <a:latin typeface="Tahoma"/>
                        <a:cs typeface="Tahoma"/>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marR="22860" algn="ctr">
                        <a:lnSpc>
                          <a:spcPct val="100000"/>
                        </a:lnSpc>
                        <a:spcBef>
                          <a:spcPts val="750"/>
                        </a:spcBef>
                      </a:pPr>
                      <a:r>
                        <a:rPr lang="en-IN" sz="1050">
                          <a:solidFill>
                            <a:srgbClr val="FFFFFF"/>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marR="22860" algn="ctr">
                        <a:lnSpc>
                          <a:spcPct val="100000"/>
                        </a:lnSpc>
                        <a:spcBef>
                          <a:spcPts val="750"/>
                        </a:spcBef>
                      </a:pPr>
                      <a:r>
                        <a:rPr lang="en-IN" sz="1050">
                          <a:solidFill>
                            <a:srgbClr val="FFFFFF"/>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extLst>
                  <a:ext uri="{0D108BD9-81ED-4DB2-BD59-A6C34878D82A}">
                    <a16:rowId xmlns:a16="http://schemas.microsoft.com/office/drawing/2014/main" val="10010"/>
                  </a:ext>
                </a:extLst>
              </a:tr>
              <a:tr h="333808">
                <a:tc>
                  <a:txBody>
                    <a:bodyPr/>
                    <a:lstStyle/>
                    <a:p>
                      <a:pPr>
                        <a:lnSpc>
                          <a:spcPct val="100000"/>
                        </a:lnSpc>
                      </a:pPr>
                      <a:endParaRPr lang="en-IN" sz="800">
                        <a:latin typeface="Times New Roman"/>
                        <a:cs typeface="Times New Roman"/>
                      </a:endParaRPr>
                    </a:p>
                    <a:p>
                      <a:pPr algn="ctr">
                        <a:lnSpc>
                          <a:spcPct val="100000"/>
                        </a:lnSpc>
                      </a:pPr>
                      <a:r>
                        <a:rPr lang="en-IN" sz="800" b="1" spc="-20">
                          <a:latin typeface="Tahoma"/>
                          <a:cs typeface="Tahoma"/>
                        </a:rPr>
                        <a:t>funny</a:t>
                      </a:r>
                      <a:endParaRPr lang="en-IN" sz="8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marL="128905">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413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413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4130"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3495"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3495"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3495" algn="ctr">
                        <a:lnSpc>
                          <a:spcPct val="100000"/>
                        </a:lnSpc>
                        <a:spcBef>
                          <a:spcPts val="745"/>
                        </a:spcBef>
                      </a:pPr>
                      <a:r>
                        <a:rPr lang="en-IN" sz="1050">
                          <a:solidFill>
                            <a:srgbClr val="E23717"/>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lang="en-IN" sz="800">
                        <a:latin typeface="Times New Roman"/>
                        <a:cs typeface="Times New Roman"/>
                      </a:endParaRPr>
                    </a:p>
                    <a:p>
                      <a:pPr algn="ctr">
                        <a:lnSpc>
                          <a:spcPct val="100000"/>
                        </a:lnSpc>
                      </a:pPr>
                      <a:r>
                        <a:rPr lang="en-IN" sz="800">
                          <a:solidFill>
                            <a:srgbClr val="FFFFFF"/>
                          </a:solidFill>
                          <a:latin typeface="Tahoma"/>
                          <a:cs typeface="Tahoma"/>
                        </a:rPr>
                        <a:t>0</a:t>
                      </a:r>
                      <a:endParaRPr lang="en-IN" sz="800">
                        <a:latin typeface="Tahoma"/>
                        <a:cs typeface="Tahoma"/>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a:lnSpc>
                          <a:spcPct val="100000"/>
                        </a:lnSpc>
                        <a:spcBef>
                          <a:spcPts val="25"/>
                        </a:spcBef>
                      </a:pPr>
                      <a:endParaRPr lang="en-IN" sz="800">
                        <a:latin typeface="Times New Roman"/>
                        <a:cs typeface="Times New Roman"/>
                      </a:endParaRPr>
                    </a:p>
                    <a:p>
                      <a:pPr algn="ctr">
                        <a:lnSpc>
                          <a:spcPct val="100000"/>
                        </a:lnSpc>
                      </a:pPr>
                      <a:r>
                        <a:rPr lang="en-IN" sz="800">
                          <a:solidFill>
                            <a:srgbClr val="FFFFFF"/>
                          </a:solidFill>
                          <a:latin typeface="Tahoma"/>
                          <a:cs typeface="Tahoma"/>
                        </a:rPr>
                        <a:t>0</a:t>
                      </a:r>
                      <a:endParaRPr lang="en-IN" sz="800">
                        <a:latin typeface="Tahoma"/>
                        <a:cs typeface="Tahoma"/>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a:lnSpc>
                          <a:spcPct val="100000"/>
                        </a:lnSpc>
                        <a:spcBef>
                          <a:spcPts val="25"/>
                        </a:spcBef>
                      </a:pPr>
                      <a:endParaRPr lang="en-IN" sz="800">
                        <a:latin typeface="Times New Roman"/>
                        <a:cs typeface="Times New Roman"/>
                      </a:endParaRPr>
                    </a:p>
                    <a:p>
                      <a:pPr algn="ctr">
                        <a:lnSpc>
                          <a:spcPct val="100000"/>
                        </a:lnSpc>
                      </a:pPr>
                      <a:r>
                        <a:rPr lang="en-IN" sz="800">
                          <a:solidFill>
                            <a:srgbClr val="FFFFFF"/>
                          </a:solidFill>
                          <a:latin typeface="Tahoma"/>
                          <a:cs typeface="Tahoma"/>
                        </a:rPr>
                        <a:t>0</a:t>
                      </a:r>
                      <a:endParaRPr lang="en-IN" sz="800">
                        <a:latin typeface="Tahoma"/>
                        <a:cs typeface="Tahoma"/>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a:lnSpc>
                          <a:spcPct val="100000"/>
                        </a:lnSpc>
                        <a:spcBef>
                          <a:spcPts val="25"/>
                        </a:spcBef>
                      </a:pPr>
                      <a:endParaRPr lang="en-IN" sz="800">
                        <a:latin typeface="Times New Roman"/>
                        <a:cs typeface="Times New Roman"/>
                      </a:endParaRPr>
                    </a:p>
                    <a:p>
                      <a:pPr algn="ctr">
                        <a:lnSpc>
                          <a:spcPct val="100000"/>
                        </a:lnSpc>
                      </a:pPr>
                      <a:r>
                        <a:rPr lang="en-IN" sz="800">
                          <a:solidFill>
                            <a:srgbClr val="FFFFFF"/>
                          </a:solidFill>
                          <a:latin typeface="Tahoma"/>
                          <a:cs typeface="Tahoma"/>
                        </a:rPr>
                        <a:t>0</a:t>
                      </a:r>
                      <a:endParaRPr lang="en-IN" sz="800">
                        <a:latin typeface="Tahoma"/>
                        <a:cs typeface="Tahoma"/>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marR="22860" algn="ctr">
                        <a:lnSpc>
                          <a:spcPct val="100000"/>
                        </a:lnSpc>
                        <a:spcBef>
                          <a:spcPts val="745"/>
                        </a:spcBef>
                      </a:pPr>
                      <a:r>
                        <a:rPr lang="en-IN" sz="1050">
                          <a:solidFill>
                            <a:srgbClr val="FFFFFF"/>
                          </a:solidFill>
                          <a:latin typeface="Cambria Math"/>
                          <a:cs typeface="Cambria Math"/>
                        </a:rPr>
                        <a:t>−∞</a:t>
                      </a:r>
                      <a:endParaRPr lang="en-IN" sz="1050">
                        <a:latin typeface="Cambria Math"/>
                        <a:cs typeface="Cambria Math"/>
                      </a:endParaRPr>
                    </a:p>
                  </a:txBody>
                  <a:tcPr marL="0" marR="0" marT="946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extLst>
                  <a:ext uri="{0D108BD9-81ED-4DB2-BD59-A6C34878D82A}">
                    <a16:rowId xmlns:a16="http://schemas.microsoft.com/office/drawing/2014/main" val="10011"/>
                  </a:ext>
                </a:extLst>
              </a:tr>
              <a:tr h="333820">
                <a:tc>
                  <a:txBody>
                    <a:bodyPr/>
                    <a:lstStyle/>
                    <a:p>
                      <a:pPr>
                        <a:lnSpc>
                          <a:spcPct val="100000"/>
                        </a:lnSpc>
                      </a:pPr>
                      <a:endParaRPr lang="en-IN" sz="800">
                        <a:latin typeface="Times New Roman"/>
                        <a:cs typeface="Times New Roman"/>
                      </a:endParaRPr>
                    </a:p>
                    <a:p>
                      <a:pPr algn="ctr">
                        <a:lnSpc>
                          <a:spcPct val="100000"/>
                        </a:lnSpc>
                      </a:pPr>
                      <a:r>
                        <a:rPr lang="en-IN" sz="800" b="1" spc="-15">
                          <a:latin typeface="Tahoma"/>
                          <a:cs typeface="Tahoma"/>
                        </a:rPr>
                        <a:t>joke</a:t>
                      </a:r>
                      <a:endParaRPr lang="en-IN" sz="800">
                        <a:latin typeface="Tahoma"/>
                        <a:cs typeface="Tahoma"/>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marL="128905">
                        <a:lnSpc>
                          <a:spcPct val="100000"/>
                        </a:lnSpc>
                        <a:spcBef>
                          <a:spcPts val="750"/>
                        </a:spcBef>
                      </a:pPr>
                      <a:r>
                        <a:rPr lang="en-IN" sz="1050">
                          <a:solidFill>
                            <a:srgbClr val="E23717"/>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4130" algn="ctr">
                        <a:lnSpc>
                          <a:spcPct val="100000"/>
                        </a:lnSpc>
                        <a:spcBef>
                          <a:spcPts val="750"/>
                        </a:spcBef>
                      </a:pPr>
                      <a:r>
                        <a:rPr lang="en-IN" sz="1050">
                          <a:solidFill>
                            <a:srgbClr val="E23717"/>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4130" algn="ctr">
                        <a:lnSpc>
                          <a:spcPct val="100000"/>
                        </a:lnSpc>
                        <a:spcBef>
                          <a:spcPts val="750"/>
                        </a:spcBef>
                      </a:pPr>
                      <a:r>
                        <a:rPr lang="en-IN" sz="1050">
                          <a:solidFill>
                            <a:srgbClr val="E23717"/>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4130" algn="ctr">
                        <a:lnSpc>
                          <a:spcPct val="100000"/>
                        </a:lnSpc>
                        <a:spcBef>
                          <a:spcPts val="750"/>
                        </a:spcBef>
                      </a:pPr>
                      <a:r>
                        <a:rPr lang="en-IN" sz="1050">
                          <a:solidFill>
                            <a:srgbClr val="E23717"/>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3495" algn="ctr">
                        <a:lnSpc>
                          <a:spcPct val="100000"/>
                        </a:lnSpc>
                        <a:spcBef>
                          <a:spcPts val="750"/>
                        </a:spcBef>
                      </a:pPr>
                      <a:r>
                        <a:rPr lang="en-IN" sz="1050">
                          <a:solidFill>
                            <a:srgbClr val="E23717"/>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3495" algn="ctr">
                        <a:lnSpc>
                          <a:spcPct val="100000"/>
                        </a:lnSpc>
                        <a:spcBef>
                          <a:spcPts val="750"/>
                        </a:spcBef>
                      </a:pPr>
                      <a:r>
                        <a:rPr lang="en-IN" sz="1050">
                          <a:solidFill>
                            <a:srgbClr val="E23717"/>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marR="23495" algn="ctr">
                        <a:lnSpc>
                          <a:spcPct val="100000"/>
                        </a:lnSpc>
                        <a:spcBef>
                          <a:spcPts val="750"/>
                        </a:spcBef>
                      </a:pPr>
                      <a:r>
                        <a:rPr lang="en-IN" sz="1050">
                          <a:solidFill>
                            <a:srgbClr val="E23717"/>
                          </a:solidFill>
                          <a:latin typeface="Cambria Math"/>
                          <a:cs typeface="Cambria Math"/>
                        </a:rPr>
                        <a:t>−∞</a:t>
                      </a:r>
                      <a:endParaRPr lang="en-IN" sz="1050">
                        <a:latin typeface="Cambria Math"/>
                        <a:cs typeface="Cambria Math"/>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F5F1"/>
                    </a:solidFill>
                  </a:tcPr>
                </a:tc>
                <a:tc>
                  <a:txBody>
                    <a:bodyPr/>
                    <a:lstStyle/>
                    <a:p>
                      <a:pPr>
                        <a:lnSpc>
                          <a:spcPct val="100000"/>
                        </a:lnSpc>
                        <a:spcBef>
                          <a:spcPts val="25"/>
                        </a:spcBef>
                      </a:pPr>
                      <a:endParaRPr lang="en-IN" sz="800">
                        <a:latin typeface="Times New Roman"/>
                        <a:cs typeface="Times New Roman"/>
                      </a:endParaRPr>
                    </a:p>
                    <a:p>
                      <a:pPr algn="ctr">
                        <a:lnSpc>
                          <a:spcPct val="100000"/>
                        </a:lnSpc>
                      </a:pPr>
                      <a:r>
                        <a:rPr lang="en-IN" sz="800">
                          <a:solidFill>
                            <a:srgbClr val="FFFFFF"/>
                          </a:solidFill>
                          <a:latin typeface="Tahoma"/>
                          <a:cs typeface="Tahoma"/>
                        </a:rPr>
                        <a:t>0</a:t>
                      </a:r>
                      <a:endParaRPr lang="en-IN" sz="800">
                        <a:latin typeface="Tahoma"/>
                        <a:cs typeface="Tahoma"/>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a:lnSpc>
                          <a:spcPct val="100000"/>
                        </a:lnSpc>
                        <a:spcBef>
                          <a:spcPts val="25"/>
                        </a:spcBef>
                      </a:pPr>
                      <a:endParaRPr lang="en-IN" sz="800">
                        <a:latin typeface="Times New Roman"/>
                        <a:cs typeface="Times New Roman"/>
                      </a:endParaRPr>
                    </a:p>
                    <a:p>
                      <a:pPr algn="ctr">
                        <a:lnSpc>
                          <a:spcPct val="100000"/>
                        </a:lnSpc>
                      </a:pPr>
                      <a:r>
                        <a:rPr lang="en-IN" sz="800">
                          <a:solidFill>
                            <a:srgbClr val="FFFFFF"/>
                          </a:solidFill>
                          <a:latin typeface="Tahoma"/>
                          <a:cs typeface="Tahoma"/>
                        </a:rPr>
                        <a:t>0</a:t>
                      </a:r>
                      <a:endParaRPr lang="en-IN" sz="800">
                        <a:latin typeface="Tahoma"/>
                        <a:cs typeface="Tahoma"/>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a:lnSpc>
                          <a:spcPct val="100000"/>
                        </a:lnSpc>
                        <a:spcBef>
                          <a:spcPts val="25"/>
                        </a:spcBef>
                      </a:pPr>
                      <a:endParaRPr lang="en-IN" sz="800">
                        <a:latin typeface="Times New Roman"/>
                        <a:cs typeface="Times New Roman"/>
                      </a:endParaRPr>
                    </a:p>
                    <a:p>
                      <a:pPr algn="ctr">
                        <a:lnSpc>
                          <a:spcPct val="100000"/>
                        </a:lnSpc>
                      </a:pPr>
                      <a:r>
                        <a:rPr lang="en-IN" sz="800">
                          <a:solidFill>
                            <a:srgbClr val="FFFFFF"/>
                          </a:solidFill>
                          <a:latin typeface="Tahoma"/>
                          <a:cs typeface="Tahoma"/>
                        </a:rPr>
                        <a:t>0</a:t>
                      </a:r>
                      <a:endParaRPr lang="en-IN" sz="800" dirty="0">
                        <a:latin typeface="Tahoma"/>
                        <a:cs typeface="Tahoma"/>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a:lnSpc>
                          <a:spcPct val="100000"/>
                        </a:lnSpc>
                        <a:spcBef>
                          <a:spcPts val="25"/>
                        </a:spcBef>
                      </a:pPr>
                      <a:endParaRPr lang="en-IN" sz="800">
                        <a:latin typeface="Times New Roman"/>
                        <a:cs typeface="Times New Roman"/>
                      </a:endParaRPr>
                    </a:p>
                    <a:p>
                      <a:pPr algn="ctr">
                        <a:lnSpc>
                          <a:spcPct val="100000"/>
                        </a:lnSpc>
                      </a:pPr>
                      <a:r>
                        <a:rPr lang="en-IN" sz="800">
                          <a:solidFill>
                            <a:srgbClr val="FFFFFF"/>
                          </a:solidFill>
                          <a:latin typeface="Tahoma"/>
                          <a:cs typeface="Tahoma"/>
                        </a:rPr>
                        <a:t>0</a:t>
                      </a:r>
                      <a:endParaRPr lang="en-IN" sz="800">
                        <a:latin typeface="Tahoma"/>
                        <a:cs typeface="Tahoma"/>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tc>
                  <a:txBody>
                    <a:bodyPr/>
                    <a:lstStyle/>
                    <a:p>
                      <a:pPr>
                        <a:lnSpc>
                          <a:spcPct val="100000"/>
                        </a:lnSpc>
                        <a:spcBef>
                          <a:spcPts val="25"/>
                        </a:spcBef>
                      </a:pPr>
                      <a:endParaRPr lang="en-IN" sz="800" dirty="0">
                        <a:latin typeface="Times New Roman"/>
                        <a:cs typeface="Times New Roman"/>
                      </a:endParaRPr>
                    </a:p>
                    <a:p>
                      <a:pPr marL="635" algn="ctr">
                        <a:lnSpc>
                          <a:spcPct val="100000"/>
                        </a:lnSpc>
                      </a:pPr>
                      <a:r>
                        <a:rPr lang="en-IN" sz="800" dirty="0">
                          <a:solidFill>
                            <a:srgbClr val="FFFFFF"/>
                          </a:solidFill>
                          <a:latin typeface="Tahoma"/>
                          <a:cs typeface="Tahoma"/>
                        </a:rPr>
                        <a:t>0</a:t>
                      </a:r>
                      <a:endParaRPr lang="en-IN" sz="800" dirty="0">
                        <a:latin typeface="Tahoma"/>
                        <a:cs typeface="Tahoma"/>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7000"/>
                    </a:solidFill>
                  </a:tcPr>
                </a:tc>
                <a:extLst>
                  <a:ext uri="{0D108BD9-81ED-4DB2-BD59-A6C34878D82A}">
                    <a16:rowId xmlns:a16="http://schemas.microsoft.com/office/drawing/2014/main" val="10012"/>
                  </a:ext>
                </a:extLst>
              </a:tr>
            </a:tbl>
          </a:graphicData>
        </a:graphic>
      </p:graphicFrame>
      <p:sp>
        <p:nvSpPr>
          <p:cNvPr id="4" name="object 4"/>
          <p:cNvSpPr txBox="1"/>
          <p:nvPr/>
        </p:nvSpPr>
        <p:spPr>
          <a:xfrm>
            <a:off x="668695" y="1673327"/>
            <a:ext cx="3977950" cy="751488"/>
          </a:xfrm>
          <a:prstGeom prst="rect">
            <a:avLst/>
          </a:prstGeom>
        </p:spPr>
        <p:txBody>
          <a:bodyPr vert="horz" wrap="square" lIns="0" tIns="12700" rIns="0" bIns="0" rtlCol="0">
            <a:spAutoFit/>
          </a:bodyPr>
          <a:lstStyle/>
          <a:p>
            <a:pPr marL="12700" marR="5080">
              <a:lnSpc>
                <a:spcPct val="100000"/>
              </a:lnSpc>
              <a:spcBef>
                <a:spcPts val="100"/>
              </a:spcBef>
            </a:pPr>
            <a:r>
              <a:rPr lang="en-US" sz="1600" spc="10" dirty="0">
                <a:cs typeface="Tahoma"/>
              </a:rPr>
              <a:t>The</a:t>
            </a:r>
            <a:r>
              <a:rPr lang="en-US" sz="1600" spc="-70" dirty="0">
                <a:cs typeface="Tahoma"/>
              </a:rPr>
              <a:t> </a:t>
            </a:r>
            <a:r>
              <a:rPr lang="en-US" sz="1600" spc="10" dirty="0">
                <a:cs typeface="Tahoma"/>
              </a:rPr>
              <a:t>mask</a:t>
            </a:r>
            <a:r>
              <a:rPr lang="en-US" sz="1600" spc="-50" dirty="0">
                <a:cs typeface="Tahoma"/>
              </a:rPr>
              <a:t> </a:t>
            </a:r>
            <a:r>
              <a:rPr lang="en-US" sz="1600" spc="10" dirty="0">
                <a:cs typeface="Tahoma"/>
              </a:rPr>
              <a:t>may</a:t>
            </a:r>
            <a:r>
              <a:rPr lang="en-US" sz="1600" spc="-70" dirty="0">
                <a:cs typeface="Tahoma"/>
              </a:rPr>
              <a:t> </a:t>
            </a:r>
            <a:r>
              <a:rPr lang="en-US" sz="1600" spc="75" dirty="0">
                <a:cs typeface="Tahoma"/>
              </a:rPr>
              <a:t>be</a:t>
            </a:r>
            <a:r>
              <a:rPr lang="en-US" sz="1600" spc="-70" dirty="0">
                <a:cs typeface="Tahoma"/>
              </a:rPr>
              <a:t> </a:t>
            </a:r>
            <a:r>
              <a:rPr lang="en-US" sz="1600" spc="10" dirty="0">
                <a:cs typeface="Tahoma"/>
              </a:rPr>
              <a:t>different</a:t>
            </a:r>
            <a:r>
              <a:rPr lang="en-US" sz="1600" spc="-65" dirty="0">
                <a:cs typeface="Tahoma"/>
              </a:rPr>
              <a:t> </a:t>
            </a:r>
            <a:r>
              <a:rPr lang="en-US" sz="1600" spc="25" dirty="0">
                <a:cs typeface="Tahoma"/>
              </a:rPr>
              <a:t>in</a:t>
            </a:r>
            <a:r>
              <a:rPr lang="en-US" sz="1600" spc="-70" dirty="0">
                <a:cs typeface="Tahoma"/>
              </a:rPr>
              <a:t> </a:t>
            </a:r>
            <a:r>
              <a:rPr lang="en-US" sz="1600" spc="20" dirty="0">
                <a:cs typeface="Tahoma"/>
              </a:rPr>
              <a:t>case</a:t>
            </a:r>
            <a:r>
              <a:rPr lang="en-US" sz="1600" spc="-50" dirty="0">
                <a:cs typeface="Tahoma"/>
              </a:rPr>
              <a:t> </a:t>
            </a:r>
            <a:r>
              <a:rPr lang="en-US" sz="1600" spc="25" dirty="0">
                <a:cs typeface="Tahoma"/>
              </a:rPr>
              <a:t>we</a:t>
            </a:r>
            <a:r>
              <a:rPr lang="en-US" sz="1600" spc="-70" dirty="0">
                <a:cs typeface="Tahoma"/>
              </a:rPr>
              <a:t> </a:t>
            </a:r>
            <a:r>
              <a:rPr lang="en-US" sz="1600" spc="20" dirty="0">
                <a:cs typeface="Tahoma"/>
              </a:rPr>
              <a:t>use</a:t>
            </a:r>
            <a:r>
              <a:rPr lang="en-US" sz="1600" spc="-70" dirty="0">
                <a:cs typeface="Tahoma"/>
              </a:rPr>
              <a:t> </a:t>
            </a:r>
            <a:r>
              <a:rPr lang="en-US" sz="1600" spc="40" dirty="0">
                <a:cs typeface="Tahoma"/>
              </a:rPr>
              <a:t>Sliding</a:t>
            </a:r>
            <a:r>
              <a:rPr lang="en-US" sz="1600" spc="-70" dirty="0">
                <a:cs typeface="Tahoma"/>
              </a:rPr>
              <a:t> </a:t>
            </a:r>
            <a:r>
              <a:rPr lang="en-US" sz="1600" spc="50" dirty="0">
                <a:cs typeface="Tahoma"/>
              </a:rPr>
              <a:t>Window </a:t>
            </a:r>
            <a:r>
              <a:rPr lang="en-US" sz="1600" spc="-360" dirty="0">
                <a:cs typeface="Tahoma"/>
              </a:rPr>
              <a:t> </a:t>
            </a:r>
            <a:r>
              <a:rPr lang="en-US" sz="1600" spc="20" dirty="0">
                <a:cs typeface="Tahoma"/>
              </a:rPr>
              <a:t>Attention.</a:t>
            </a:r>
            <a:endParaRPr lang="en-US" sz="1600" dirty="0">
              <a:cs typeface="Tahoma"/>
            </a:endParaRPr>
          </a:p>
          <a:p>
            <a:pPr marL="12700">
              <a:lnSpc>
                <a:spcPct val="100000"/>
              </a:lnSpc>
            </a:pPr>
            <a:r>
              <a:rPr lang="en-US" sz="1600" b="1" spc="-80" dirty="0">
                <a:cs typeface="Tahoma"/>
              </a:rPr>
              <a:t>L</a:t>
            </a:r>
            <a:r>
              <a:rPr lang="en-US" sz="1600" b="1" spc="-35" dirty="0">
                <a:cs typeface="Tahoma"/>
              </a:rPr>
              <a:t>e</a:t>
            </a:r>
            <a:r>
              <a:rPr lang="en-US" sz="1600" b="1" dirty="0">
                <a:cs typeface="Tahoma"/>
              </a:rPr>
              <a:t>t</a:t>
            </a:r>
            <a:r>
              <a:rPr lang="en-US" sz="1600" b="1" spc="-30" dirty="0">
                <a:cs typeface="Tahoma"/>
              </a:rPr>
              <a:t>’</a:t>
            </a:r>
            <a:r>
              <a:rPr lang="en-US" sz="1600" b="1" spc="-50" dirty="0">
                <a:cs typeface="Tahoma"/>
              </a:rPr>
              <a:t>s</a:t>
            </a:r>
            <a:r>
              <a:rPr lang="en-US" sz="1600" b="1" spc="-55" dirty="0">
                <a:cs typeface="Tahoma"/>
              </a:rPr>
              <a:t> </a:t>
            </a:r>
            <a:r>
              <a:rPr lang="en-US" sz="1600" b="1" spc="-40" dirty="0">
                <a:cs typeface="Tahoma"/>
              </a:rPr>
              <a:t>h</a:t>
            </a:r>
            <a:r>
              <a:rPr lang="en-US" sz="1600" b="1" spc="-35" dirty="0">
                <a:cs typeface="Tahoma"/>
              </a:rPr>
              <a:t>a</a:t>
            </a:r>
            <a:r>
              <a:rPr lang="en-US" sz="1600" b="1" spc="-5" dirty="0">
                <a:cs typeface="Tahoma"/>
              </a:rPr>
              <a:t>ve</a:t>
            </a:r>
            <a:r>
              <a:rPr lang="en-US" sz="1600" b="1" spc="-85" dirty="0">
                <a:cs typeface="Tahoma"/>
              </a:rPr>
              <a:t> </a:t>
            </a:r>
            <a:r>
              <a:rPr lang="en-US" sz="1600" b="1" spc="-40" dirty="0">
                <a:cs typeface="Tahoma"/>
              </a:rPr>
              <a:t>a</a:t>
            </a:r>
            <a:r>
              <a:rPr lang="en-US" sz="1600" b="1" spc="-65" dirty="0">
                <a:cs typeface="Tahoma"/>
              </a:rPr>
              <a:t> </a:t>
            </a:r>
            <a:r>
              <a:rPr lang="en-US" sz="1600" b="1" spc="10" dirty="0">
                <a:cs typeface="Tahoma"/>
              </a:rPr>
              <a:t>lo</a:t>
            </a:r>
            <a:r>
              <a:rPr lang="en-US" sz="1600" b="1" dirty="0">
                <a:cs typeface="Tahoma"/>
              </a:rPr>
              <a:t>o</a:t>
            </a:r>
            <a:r>
              <a:rPr lang="en-US" sz="1600" b="1" spc="-10" dirty="0">
                <a:cs typeface="Tahoma"/>
              </a:rPr>
              <a:t>k</a:t>
            </a:r>
            <a:r>
              <a:rPr lang="en-US" sz="1600" b="1" spc="-40" dirty="0">
                <a:cs typeface="Tahoma"/>
              </a:rPr>
              <a:t> </a:t>
            </a:r>
            <a:r>
              <a:rPr lang="en-US" sz="1600" b="1" spc="-50" dirty="0">
                <a:cs typeface="Tahoma"/>
              </a:rPr>
              <a:t>a</a:t>
            </a:r>
            <a:r>
              <a:rPr lang="en-US" sz="1600" b="1" spc="-55" dirty="0">
                <a:cs typeface="Tahoma"/>
              </a:rPr>
              <a:t>t </a:t>
            </a:r>
            <a:r>
              <a:rPr lang="en-US" sz="1600" b="1" spc="-30" dirty="0">
                <a:cs typeface="Tahoma"/>
              </a:rPr>
              <a:t>the</a:t>
            </a:r>
            <a:r>
              <a:rPr lang="en-US" sz="1600" b="1" spc="-65" dirty="0">
                <a:cs typeface="Tahoma"/>
              </a:rPr>
              <a:t> </a:t>
            </a:r>
            <a:r>
              <a:rPr lang="en-US" sz="1600" b="1" spc="-35" dirty="0">
                <a:cs typeface="Tahoma"/>
              </a:rPr>
              <a:t>c</a:t>
            </a:r>
            <a:r>
              <a:rPr lang="en-US" sz="1600" b="1" spc="10" dirty="0">
                <a:cs typeface="Tahoma"/>
              </a:rPr>
              <a:t>o</a:t>
            </a:r>
            <a:r>
              <a:rPr lang="en-US" sz="1600" b="1" spc="15" dirty="0">
                <a:cs typeface="Tahoma"/>
              </a:rPr>
              <a:t>de!</a:t>
            </a:r>
            <a:endParaRPr lang="en-US" sz="1600" dirty="0">
              <a:cs typeface="Tahoma"/>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p>
          <a:p>
            <a:pPr algn="ctr"/>
            <a:r>
              <a:rPr lang="en-US" sz="2000" b="1" i="1" dirty="0">
                <a:latin typeface="Calibri" panose="020F0502020204030204" pitchFamily="34" charset="0"/>
              </a:rPr>
              <a:t>(Q&amp;A)</a:t>
            </a:r>
            <a:endParaRPr lang="en-IN" sz="6600" b="1" i="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7531</TotalTime>
  <Words>7321</Words>
  <Application>Microsoft Office PowerPoint</Application>
  <PresentationFormat>Widescreen</PresentationFormat>
  <Paragraphs>2977</Paragraphs>
  <Slides>68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68</vt:i4>
      </vt:variant>
    </vt:vector>
  </HeadingPairs>
  <TitlesOfParts>
    <vt:vector size="76" baseType="lpstr">
      <vt:lpstr>Arial</vt:lpstr>
      <vt:lpstr>Arial MT</vt:lpstr>
      <vt:lpstr>Calibri</vt:lpstr>
      <vt:lpstr>Cambria Math</vt:lpstr>
      <vt:lpstr>Tahoma</vt:lpstr>
      <vt:lpstr>Times New Roman</vt:lpstr>
      <vt:lpstr>Verdana</vt:lpstr>
      <vt:lpstr>BIA Template</vt:lpstr>
      <vt:lpstr>PowerPoint Presentation</vt:lpstr>
      <vt:lpstr>Agenda</vt:lpstr>
      <vt:lpstr>Transformer vs Mistral (7 B &amp; 8 × 7 B)</vt:lpstr>
      <vt:lpstr>Model Hyper-Parameters</vt:lpstr>
      <vt:lpstr>Self-Attention</vt:lpstr>
      <vt:lpstr>Causal Mask</vt:lpstr>
      <vt:lpstr>Sliding-Window Attention</vt:lpstr>
      <vt:lpstr>Sliding Window Attention: Takeaways</vt:lpstr>
      <vt:lpstr>Receptive field in CNNs</vt:lpstr>
      <vt:lpstr>Sliding Window Attention: Information Flow (1)</vt:lpstr>
      <vt:lpstr>Sliding Window Attention: Information Flow (2)</vt:lpstr>
      <vt:lpstr>Sliding Window Attention: Information Flow (3)</vt:lpstr>
      <vt:lpstr>Sliding Window Attention: Information Flow (4)</vt:lpstr>
      <vt:lpstr>Sliding Window Attention: Information Flow (5)</vt:lpstr>
      <vt:lpstr>Sliding Window Attention: Information Flow (5)</vt:lpstr>
      <vt:lpstr>Next Token Prediction Task</vt:lpstr>
      <vt:lpstr>Next Token Prediction Task</vt:lpstr>
      <vt:lpstr>Next Token Prediction Task</vt:lpstr>
      <vt:lpstr>Next Token Prediction Task</vt:lpstr>
      <vt:lpstr>Next Token Prediction Task</vt:lpstr>
      <vt:lpstr>Next Token Prediction Task</vt:lpstr>
      <vt:lpstr>Next Token Prediction Task</vt:lpstr>
      <vt:lpstr>Next Token Prediction Task</vt:lpstr>
      <vt:lpstr>Next Token Prediction Task</vt:lpstr>
      <vt:lpstr>Next Token Prediction Task</vt:lpstr>
      <vt:lpstr>Next Token Prediction Task: the motivation  behind the KV cache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Rolling Buffer Cache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Pre-fill and chunking</vt:lpstr>
      <vt:lpstr>Pre-fill and chunking: first chunk</vt:lpstr>
      <vt:lpstr>Pre-fill and chunking: second chunk</vt:lpstr>
      <vt:lpstr>Pre-fill and chunking: code reference</vt:lpstr>
      <vt:lpstr>Pre-fill and chunking: last chunk</vt:lpstr>
      <vt:lpstr>Mixture of Experts: An Introduction</vt:lpstr>
      <vt:lpstr>Mistral 8x7B: Expert Feed-Forward Layers</vt:lpstr>
      <vt:lpstr>Mistral 8x7B : The Gating Function</vt:lpstr>
      <vt:lpstr>Mixture-of-Experts: why soft-max after the top-k gate?</vt:lpstr>
      <vt:lpstr>Model Sharding</vt:lpstr>
      <vt:lpstr>Pipeline Parallelism</vt:lpstr>
      <vt:lpstr>Pipeline Parallelism: The Problem</vt:lpstr>
      <vt:lpstr>Pipeline Parallelism: The Solution</vt:lpstr>
      <vt:lpstr>Understanding the Mistral model’s code</vt:lpstr>
      <vt:lpstr>Optimizing Inference with Multiple Prompts</vt:lpstr>
      <vt:lpstr>Optimizing Inference with Multiple Prompts</vt:lpstr>
      <vt:lpstr>Optimizing Inference with Multiple Prompts</vt:lpstr>
      <vt:lpstr>Combining Multiple Prompts Into A Single Sequence</vt:lpstr>
      <vt:lpstr>xformers BlockDiagonalCausalMask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Simon Nadar</cp:lastModifiedBy>
  <cp:revision>2550</cp:revision>
  <dcterms:created xsi:type="dcterms:W3CDTF">2020-12-23T13:36:00Z</dcterms:created>
  <dcterms:modified xsi:type="dcterms:W3CDTF">2025-05-23T16:09:04Z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