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39"/>
  </p:notesMasterIdLst>
  <p:sldIdLst>
    <p:sldId id="256" r:id="rId2"/>
    <p:sldId id="674" r:id="rId3"/>
    <p:sldId id="717" r:id="rId4"/>
    <p:sldId id="718" r:id="rId5"/>
    <p:sldId id="716" r:id="rId6"/>
    <p:sldId id="719" r:id="rId7"/>
    <p:sldId id="721" r:id="rId8"/>
    <p:sldId id="722" r:id="rId9"/>
    <p:sldId id="724" r:id="rId10"/>
    <p:sldId id="725" r:id="rId11"/>
    <p:sldId id="726" r:id="rId12"/>
    <p:sldId id="727" r:id="rId13"/>
    <p:sldId id="728" r:id="rId14"/>
    <p:sldId id="729" r:id="rId15"/>
    <p:sldId id="731" r:id="rId16"/>
    <p:sldId id="730" r:id="rId17"/>
    <p:sldId id="732" r:id="rId18"/>
    <p:sldId id="733" r:id="rId19"/>
    <p:sldId id="734" r:id="rId20"/>
    <p:sldId id="735" r:id="rId21"/>
    <p:sldId id="737" r:id="rId22"/>
    <p:sldId id="738" r:id="rId23"/>
    <p:sldId id="739" r:id="rId24"/>
    <p:sldId id="740" r:id="rId25"/>
    <p:sldId id="741" r:id="rId26"/>
    <p:sldId id="742" r:id="rId27"/>
    <p:sldId id="743" r:id="rId28"/>
    <p:sldId id="744" r:id="rId29"/>
    <p:sldId id="745" r:id="rId30"/>
    <p:sldId id="746" r:id="rId31"/>
    <p:sldId id="747" r:id="rId32"/>
    <p:sldId id="748" r:id="rId33"/>
    <p:sldId id="749" r:id="rId34"/>
    <p:sldId id="750" r:id="rId35"/>
    <p:sldId id="751" r:id="rId36"/>
    <p:sldId id="752" r:id="rId37"/>
    <p:sldId id="303"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orient="horz" pos="1049" userDrawn="1">
          <p15:clr>
            <a:srgbClr val="A4A3A4"/>
          </p15:clr>
        </p15:guide>
        <p15:guide id="3" orient="horz" pos="3838" userDrawn="1">
          <p15:clr>
            <a:srgbClr val="A4A3A4"/>
          </p15:clr>
        </p15:guide>
        <p15:guide id="4" orient="horz" pos="368" userDrawn="1">
          <p15:clr>
            <a:srgbClr val="A4A3A4"/>
          </p15:clr>
        </p15:guide>
        <p15:guide id="5" orient="horz" pos="777" userDrawn="1">
          <p15:clr>
            <a:srgbClr val="A4A3A4"/>
          </p15:clr>
        </p15:guide>
        <p15:guide id="6" pos="3840" userDrawn="1">
          <p15:clr>
            <a:srgbClr val="A4A3A4"/>
          </p15:clr>
        </p15:guide>
        <p15:guide id="7" pos="415" userDrawn="1">
          <p15:clr>
            <a:srgbClr val="A4A3A4"/>
          </p15:clr>
        </p15:guide>
        <p15:guide id="8" pos="726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1A3E"/>
    <a:srgbClr val="333F50"/>
    <a:srgbClr val="8497B0"/>
    <a:srgbClr val="8FAADC"/>
    <a:srgbClr val="2F5597"/>
    <a:srgbClr val="626CC7"/>
    <a:srgbClr val="323B8D"/>
    <a:srgbClr val="21275D"/>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015" autoAdjust="0"/>
    <p:restoredTop sz="93447" autoAdjust="0"/>
  </p:normalViewPr>
  <p:slideViewPr>
    <p:cSldViewPr snapToGrid="0">
      <p:cViewPr varScale="1">
        <p:scale>
          <a:sx n="100" d="100"/>
          <a:sy n="100" d="100"/>
        </p:scale>
        <p:origin x="528" y="72"/>
      </p:cViewPr>
      <p:guideLst>
        <p:guide orient="horz" pos="2160"/>
        <p:guide orient="horz" pos="1049"/>
        <p:guide orient="horz" pos="3838"/>
        <p:guide orient="horz" pos="368"/>
        <p:guide orient="horz" pos="777"/>
        <p:guide pos="3840"/>
        <p:guide pos="415"/>
        <p:guide pos="7265"/>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23-05-2025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5" name="Title 1">
            <a:extLst>
              <a:ext uri="{FF2B5EF4-FFF2-40B4-BE49-F238E27FC236}">
                <a16:creationId xmlns:a16="http://schemas.microsoft.com/office/drawing/2014/main" id="{F169BDF6-EA32-8D15-7297-96F5B8F6EF09}"/>
              </a:ext>
            </a:extLst>
          </p:cNvPr>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59999280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
        <p:nvSpPr>
          <p:cNvPr id="5" name="Title 1">
            <a:extLst>
              <a:ext uri="{FF2B5EF4-FFF2-40B4-BE49-F238E27FC236}">
                <a16:creationId xmlns:a16="http://schemas.microsoft.com/office/drawing/2014/main" id="{8AA7827E-D2A7-AA00-8D40-7B76E978D014}"/>
              </a:ext>
            </a:extLst>
          </p:cNvPr>
          <p:cNvSpPr>
            <a:spLocks noGrp="1"/>
          </p:cNvSpPr>
          <p:nvPr>
            <p:ph type="title"/>
          </p:nvPr>
        </p:nvSpPr>
        <p:spPr>
          <a:xfrm>
            <a:off x="838202" y="2049670"/>
            <a:ext cx="2743200" cy="2562226"/>
          </a:xfrm>
        </p:spPr>
        <p:txBody>
          <a:bodyPr/>
          <a:lstStyle>
            <a:lvl1pPr>
              <a:defRPr>
                <a:solidFill>
                  <a:srgbClr val="161A3E"/>
                </a:solidFill>
              </a:defRPr>
            </a:lvl1pPr>
          </a:lstStyle>
          <a:p>
            <a:r>
              <a:rPr lang="en-US" dirty="0"/>
              <a:t>Click to edit Master title style</a:t>
            </a:r>
          </a:p>
        </p:txBody>
      </p:sp>
    </p:spTree>
    <p:extLst>
      <p:ext uri="{BB962C8B-B14F-4D97-AF65-F5344CB8AC3E}">
        <p14:creationId xmlns:p14="http://schemas.microsoft.com/office/powerpoint/2010/main" val="64553904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huggingface.co/Qwen/Qwen2.5-7B/raw/main/tokenizer.json"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latin typeface="Calibri" panose="020F0502020204030204" pitchFamily="34" charset="0"/>
              </a:rPr>
              <a:t>Tokenizers</a:t>
            </a:r>
          </a:p>
        </p:txBody>
      </p:sp>
      <p:sp>
        <p:nvSpPr>
          <p:cNvPr id="3" name="TextBox 2">
            <a:extLst>
              <a:ext uri="{FF2B5EF4-FFF2-40B4-BE49-F238E27FC236}">
                <a16:creationId xmlns:a16="http://schemas.microsoft.com/office/drawing/2014/main" id="{EE9EDF6E-619B-5937-F0B8-C620A5B550AB}"/>
              </a:ext>
            </a:extLst>
          </p:cNvPr>
          <p:cNvSpPr txBox="1"/>
          <p:nvPr/>
        </p:nvSpPr>
        <p:spPr>
          <a:xfrm>
            <a:off x="2662334" y="3741576"/>
            <a:ext cx="6867331" cy="369332"/>
          </a:xfrm>
          <a:prstGeom prst="rect">
            <a:avLst/>
          </a:prstGeom>
          <a:noFill/>
        </p:spPr>
        <p:txBody>
          <a:bodyPr wrap="square" rtlCol="0">
            <a:spAutoFit/>
          </a:bodyPr>
          <a:lstStyle/>
          <a:p>
            <a:pPr algn="ctr"/>
            <a:r>
              <a:rPr lang="en-US" b="1" i="1" dirty="0">
                <a:solidFill>
                  <a:schemeClr val="bg1"/>
                </a:solidFill>
              </a:rPr>
              <a:t>UNDERSTAND &amp; CREATE LLM FROM THE GROUND UP</a:t>
            </a:r>
            <a:endParaRPr lang="en-IN" b="1" i="1" dirty="0">
              <a:solidFill>
                <a:schemeClr val="bg1"/>
              </a:solidFill>
            </a:endParaRP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IN" dirty="0"/>
              <a:t>Agenda</a:t>
            </a:r>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b="1" dirty="0">
                <a:solidFill>
                  <a:srgbClr val="161A3E"/>
                </a:solidFill>
              </a:rPr>
              <a:t>Tokenization fundamentals </a:t>
            </a:r>
            <a:r>
              <a:rPr lang="en-US" dirty="0">
                <a:solidFill>
                  <a:srgbClr val="161A3E"/>
                </a:solidFill>
              </a:rPr>
              <a:t>– vocab design, compute cost</a:t>
            </a:r>
          </a:p>
          <a:p>
            <a:pPr lvl="0"/>
            <a:r>
              <a:rPr lang="en-US" b="1" dirty="0">
                <a:solidFill>
                  <a:srgbClr val="161A3E"/>
                </a:solidFill>
              </a:rPr>
              <a:t>Self-attention inside the Transformer </a:t>
            </a:r>
            <a:r>
              <a:rPr lang="en-US" dirty="0">
                <a:solidFill>
                  <a:srgbClr val="161A3E"/>
                </a:solidFill>
              </a:rPr>
              <a:t>– Q · Kᵀ/√d, multi-head</a:t>
            </a:r>
          </a:p>
          <a:p>
            <a:pPr lvl="0"/>
            <a:r>
              <a:rPr lang="en-US" b="1" dirty="0">
                <a:solidFill>
                  <a:srgbClr val="161A3E"/>
                </a:solidFill>
              </a:rPr>
              <a:t>Full vs PEFT fine-tuning </a:t>
            </a:r>
            <a:r>
              <a:rPr lang="en-US" dirty="0">
                <a:solidFill>
                  <a:srgbClr val="161A3E"/>
                </a:solidFill>
              </a:rPr>
              <a:t>– </a:t>
            </a:r>
            <a:r>
              <a:rPr lang="en-US" dirty="0" err="1">
                <a:solidFill>
                  <a:srgbClr val="161A3E"/>
                </a:solidFill>
              </a:rPr>
              <a:t>LoRA</a:t>
            </a:r>
            <a:r>
              <a:rPr lang="en-US" dirty="0">
                <a:solidFill>
                  <a:srgbClr val="161A3E"/>
                </a:solidFill>
              </a:rPr>
              <a:t>, Prefix, Q-</a:t>
            </a:r>
            <a:r>
              <a:rPr lang="en-US" dirty="0" err="1">
                <a:solidFill>
                  <a:srgbClr val="161A3E"/>
                </a:solidFill>
              </a:rPr>
              <a:t>LoRA</a:t>
            </a:r>
            <a:r>
              <a:rPr lang="en-US" dirty="0">
                <a:solidFill>
                  <a:srgbClr val="161A3E"/>
                </a:solidFill>
              </a:rPr>
              <a:t> trade-offs</a:t>
            </a:r>
          </a:p>
          <a:p>
            <a:pPr lvl="0"/>
            <a:r>
              <a:rPr lang="en-US" b="1" dirty="0">
                <a:solidFill>
                  <a:srgbClr val="161A3E"/>
                </a:solidFill>
              </a:rPr>
              <a:t>Alignment pipelines – RLHF &amp; DPO</a:t>
            </a:r>
            <a:r>
              <a:rPr lang="en-US" dirty="0">
                <a:solidFill>
                  <a:srgbClr val="161A3E"/>
                </a:solidFill>
              </a:rPr>
              <a:t> – how we keep models helpful</a:t>
            </a:r>
          </a:p>
          <a:p>
            <a:r>
              <a:rPr lang="en-US" b="1" dirty="0">
                <a:solidFill>
                  <a:srgbClr val="161A3E"/>
                </a:solidFill>
              </a:rPr>
              <a:t>Recap + Q&amp;A / Hands-on next steps</a:t>
            </a:r>
            <a:endParaRPr lang="en-US" dirty="0">
              <a:solidFill>
                <a:srgbClr val="161A3E"/>
              </a:solidFill>
            </a:endParaRPr>
          </a:p>
        </p:txBody>
      </p:sp>
    </p:spTree>
    <p:extLst>
      <p:ext uri="{BB962C8B-B14F-4D97-AF65-F5344CB8AC3E}">
        <p14:creationId xmlns:p14="http://schemas.microsoft.com/office/powerpoint/2010/main" val="2272459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28FE1-1EE8-3849-9256-CA3773231364}"/>
              </a:ext>
            </a:extLst>
          </p:cNvPr>
          <p:cNvSpPr>
            <a:spLocks noGrp="1"/>
          </p:cNvSpPr>
          <p:nvPr>
            <p:ph type="title"/>
          </p:nvPr>
        </p:nvSpPr>
        <p:spPr/>
        <p:txBody>
          <a:bodyPr/>
          <a:lstStyle/>
          <a:p>
            <a:r>
              <a:rPr lang="en-IN" dirty="0"/>
              <a:t>What We’ll Achieve Together</a:t>
            </a:r>
          </a:p>
        </p:txBody>
      </p:sp>
      <p:sp>
        <p:nvSpPr>
          <p:cNvPr id="3" name="Content Placeholder 2">
            <a:extLst>
              <a:ext uri="{FF2B5EF4-FFF2-40B4-BE49-F238E27FC236}">
                <a16:creationId xmlns:a16="http://schemas.microsoft.com/office/drawing/2014/main" id="{D2DFA412-0DDF-219D-2324-EE2F6E0EBC53}"/>
              </a:ext>
            </a:extLst>
          </p:cNvPr>
          <p:cNvSpPr>
            <a:spLocks noGrp="1"/>
          </p:cNvSpPr>
          <p:nvPr>
            <p:ph idx="1"/>
          </p:nvPr>
        </p:nvSpPr>
        <p:spPr/>
        <p:txBody>
          <a:bodyPr>
            <a:normAutofit/>
          </a:bodyPr>
          <a:lstStyle/>
          <a:p>
            <a:r>
              <a:rPr lang="en-US" sz="2400" b="1" dirty="0">
                <a:solidFill>
                  <a:srgbClr val="161A3E"/>
                </a:solidFill>
              </a:rPr>
              <a:t>Build intuition for tokenizers </a:t>
            </a:r>
            <a:r>
              <a:rPr lang="en-US" sz="2400" dirty="0">
                <a:solidFill>
                  <a:srgbClr val="161A3E"/>
                </a:solidFill>
              </a:rPr>
              <a:t>– see how raw text becomes model-ready tokens in milliseconds.</a:t>
            </a:r>
          </a:p>
          <a:p>
            <a:r>
              <a:rPr lang="en-US" sz="2400" b="1" dirty="0">
                <a:solidFill>
                  <a:srgbClr val="161A3E"/>
                </a:solidFill>
              </a:rPr>
              <a:t>Hands-on walkthrough </a:t>
            </a:r>
            <a:r>
              <a:rPr lang="en-US" sz="2400" dirty="0">
                <a:solidFill>
                  <a:srgbClr val="161A3E"/>
                </a:solidFill>
              </a:rPr>
              <a:t>– run a live demo that tokenizes and embeds a short paragraph.</a:t>
            </a:r>
          </a:p>
          <a:p>
            <a:r>
              <a:rPr lang="en-US" sz="2400" b="1" dirty="0">
                <a:solidFill>
                  <a:srgbClr val="161A3E"/>
                </a:solidFill>
              </a:rPr>
              <a:t>Link theory to practice </a:t>
            </a:r>
            <a:r>
              <a:rPr lang="en-US" sz="2400" dirty="0">
                <a:solidFill>
                  <a:srgbClr val="161A3E"/>
                </a:solidFill>
              </a:rPr>
              <a:t>– map each step to the Transformer blocks we meet next.</a:t>
            </a:r>
          </a:p>
          <a:p>
            <a:r>
              <a:rPr lang="en-US" sz="2400" b="1" dirty="0">
                <a:solidFill>
                  <a:srgbClr val="161A3E"/>
                </a:solidFill>
              </a:rPr>
              <a:t>Take-away cheat-sheet </a:t>
            </a:r>
            <a:r>
              <a:rPr lang="en-US" sz="2400" dirty="0">
                <a:solidFill>
                  <a:srgbClr val="161A3E"/>
                </a:solidFill>
              </a:rPr>
              <a:t>– leave with a one-page reference you can reuse in any LLM project.</a:t>
            </a:r>
            <a:endParaRPr lang="en-IN" sz="2400" dirty="0">
              <a:solidFill>
                <a:srgbClr val="161A3E"/>
              </a:solidFill>
            </a:endParaRPr>
          </a:p>
        </p:txBody>
      </p:sp>
    </p:spTree>
    <p:extLst>
      <p:ext uri="{BB962C8B-B14F-4D97-AF65-F5344CB8AC3E}">
        <p14:creationId xmlns:p14="http://schemas.microsoft.com/office/powerpoint/2010/main" val="2938772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A6F88-F759-62C6-C292-2B6E833270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4067A6-73DE-90D3-C3AD-93CB94AFF64F}"/>
              </a:ext>
            </a:extLst>
          </p:cNvPr>
          <p:cNvSpPr>
            <a:spLocks noGrp="1"/>
          </p:cNvSpPr>
          <p:nvPr>
            <p:ph type="title"/>
          </p:nvPr>
        </p:nvSpPr>
        <p:spPr>
          <a:xfrm>
            <a:off x="669552" y="594335"/>
            <a:ext cx="10863635" cy="639153"/>
          </a:xfrm>
        </p:spPr>
        <p:txBody>
          <a:bodyPr/>
          <a:lstStyle/>
          <a:p>
            <a:r>
              <a:rPr lang="en-IN" dirty="0"/>
              <a:t>How We’ll Get There</a:t>
            </a:r>
          </a:p>
        </p:txBody>
      </p:sp>
      <p:sp>
        <p:nvSpPr>
          <p:cNvPr id="3" name="Content Placeholder 2">
            <a:extLst>
              <a:ext uri="{FF2B5EF4-FFF2-40B4-BE49-F238E27FC236}">
                <a16:creationId xmlns:a16="http://schemas.microsoft.com/office/drawing/2014/main" id="{4B25F755-0873-091A-0ACD-CDCFA38A7AD6}"/>
              </a:ext>
            </a:extLst>
          </p:cNvPr>
          <p:cNvSpPr>
            <a:spLocks noGrp="1"/>
          </p:cNvSpPr>
          <p:nvPr>
            <p:ph idx="1"/>
          </p:nvPr>
        </p:nvSpPr>
        <p:spPr>
          <a:xfrm>
            <a:off x="669553" y="1665743"/>
            <a:ext cx="10863634" cy="4427081"/>
          </a:xfrm>
        </p:spPr>
        <p:txBody>
          <a:bodyPr>
            <a:normAutofit/>
          </a:bodyPr>
          <a:lstStyle/>
          <a:p>
            <a:r>
              <a:rPr lang="en-US" sz="2400" b="1" dirty="0">
                <a:solidFill>
                  <a:srgbClr val="161A3E"/>
                </a:solidFill>
              </a:rPr>
              <a:t>Build intuition for tokenizers </a:t>
            </a:r>
            <a:r>
              <a:rPr lang="en-US" sz="2400" dirty="0">
                <a:solidFill>
                  <a:srgbClr val="161A3E"/>
                </a:solidFill>
              </a:rPr>
              <a:t>– see how raw text becomes model-ready tokens in milliseconds.</a:t>
            </a:r>
          </a:p>
          <a:p>
            <a:r>
              <a:rPr lang="en-US" sz="2400" b="1" dirty="0">
                <a:solidFill>
                  <a:srgbClr val="161A3E"/>
                </a:solidFill>
              </a:rPr>
              <a:t>Hands-on walkthrough </a:t>
            </a:r>
            <a:r>
              <a:rPr lang="en-US" sz="2400" dirty="0">
                <a:solidFill>
                  <a:srgbClr val="161A3E"/>
                </a:solidFill>
              </a:rPr>
              <a:t>– run a live demo that tokenizes and embeds a short paragraph.</a:t>
            </a:r>
          </a:p>
          <a:p>
            <a:r>
              <a:rPr lang="en-US" sz="2400" b="1" dirty="0">
                <a:solidFill>
                  <a:srgbClr val="161A3E"/>
                </a:solidFill>
              </a:rPr>
              <a:t>Link theory to practice </a:t>
            </a:r>
            <a:r>
              <a:rPr lang="en-US" sz="2400" dirty="0">
                <a:solidFill>
                  <a:srgbClr val="161A3E"/>
                </a:solidFill>
              </a:rPr>
              <a:t>– map each step to the Transformer blocks we meet next.</a:t>
            </a:r>
          </a:p>
          <a:p>
            <a:r>
              <a:rPr lang="en-US" sz="2400" b="1" dirty="0">
                <a:solidFill>
                  <a:srgbClr val="161A3E"/>
                </a:solidFill>
              </a:rPr>
              <a:t>Take-away cheat-sheet </a:t>
            </a:r>
            <a:r>
              <a:rPr lang="en-US" sz="2400" dirty="0">
                <a:solidFill>
                  <a:srgbClr val="161A3E"/>
                </a:solidFill>
              </a:rPr>
              <a:t>– leave with a one-page reference you can reuse in any LLM project.</a:t>
            </a:r>
            <a:endParaRPr lang="en-IN" sz="2400" dirty="0">
              <a:solidFill>
                <a:srgbClr val="161A3E"/>
              </a:solidFill>
            </a:endParaRPr>
          </a:p>
        </p:txBody>
      </p:sp>
    </p:spTree>
    <p:extLst>
      <p:ext uri="{BB962C8B-B14F-4D97-AF65-F5344CB8AC3E}">
        <p14:creationId xmlns:p14="http://schemas.microsoft.com/office/powerpoint/2010/main" val="985477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B87F4-D475-2185-0FC6-5A2CB9AA8664}"/>
              </a:ext>
            </a:extLst>
          </p:cNvPr>
          <p:cNvSpPr>
            <a:spLocks noGrp="1"/>
          </p:cNvSpPr>
          <p:nvPr>
            <p:ph type="title"/>
          </p:nvPr>
        </p:nvSpPr>
        <p:spPr>
          <a:xfrm>
            <a:off x="669552" y="594335"/>
            <a:ext cx="10863635" cy="639153"/>
          </a:xfrm>
        </p:spPr>
        <p:txBody>
          <a:bodyPr>
            <a:normAutofit/>
          </a:bodyPr>
          <a:lstStyle/>
          <a:p>
            <a:r>
              <a:rPr lang="en-US" spc="-40" dirty="0">
                <a:solidFill>
                  <a:srgbClr val="161A3E"/>
                </a:solidFill>
              </a:rPr>
              <a:t>Key Concepts We’ll Build On</a:t>
            </a:r>
            <a:endParaRPr lang="en-IN" dirty="0"/>
          </a:p>
        </p:txBody>
      </p:sp>
      <p:graphicFrame>
        <p:nvGraphicFramePr>
          <p:cNvPr id="4" name="Table 3">
            <a:extLst>
              <a:ext uri="{FF2B5EF4-FFF2-40B4-BE49-F238E27FC236}">
                <a16:creationId xmlns:a16="http://schemas.microsoft.com/office/drawing/2014/main" id="{0A7153E5-DC04-9D73-C900-46791C47C82C}"/>
              </a:ext>
            </a:extLst>
          </p:cNvPr>
          <p:cNvGraphicFramePr>
            <a:graphicFrameLocks noGrp="1"/>
          </p:cNvGraphicFramePr>
          <p:nvPr>
            <p:extLst>
              <p:ext uri="{D42A27DB-BD31-4B8C-83A1-F6EECF244321}">
                <p14:modId xmlns:p14="http://schemas.microsoft.com/office/powerpoint/2010/main" val="1558873536"/>
              </p:ext>
            </p:extLst>
          </p:nvPr>
        </p:nvGraphicFramePr>
        <p:xfrm>
          <a:off x="669552" y="1663647"/>
          <a:ext cx="10863636" cy="4429177"/>
        </p:xfrm>
        <a:graphic>
          <a:graphicData uri="http://schemas.openxmlformats.org/drawingml/2006/table">
            <a:tbl>
              <a:tblPr/>
              <a:tblGrid>
                <a:gridCol w="5431818">
                  <a:extLst>
                    <a:ext uri="{9D8B030D-6E8A-4147-A177-3AD203B41FA5}">
                      <a16:colId xmlns:a16="http://schemas.microsoft.com/office/drawing/2014/main" val="703802873"/>
                    </a:ext>
                  </a:extLst>
                </a:gridCol>
                <a:gridCol w="5431818">
                  <a:extLst>
                    <a:ext uri="{9D8B030D-6E8A-4147-A177-3AD203B41FA5}">
                      <a16:colId xmlns:a16="http://schemas.microsoft.com/office/drawing/2014/main" val="2772861621"/>
                    </a:ext>
                  </a:extLst>
                </a:gridCol>
              </a:tblGrid>
              <a:tr h="466229">
                <a:tc>
                  <a:txBody>
                    <a:bodyPr/>
                    <a:lstStyle/>
                    <a:p>
                      <a:r>
                        <a:rPr lang="en-IN"/>
                        <a:t>Concept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dirty="0"/>
                        <a:t>Why it matters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1056863585"/>
                  </a:ext>
                </a:extLst>
              </a:tr>
              <a:tr h="815901">
                <a:tc>
                  <a:txBody>
                    <a:bodyPr/>
                    <a:lstStyle/>
                    <a:p>
                      <a:r>
                        <a:rPr lang="en-IN" b="1" dirty="0"/>
                        <a:t>Point → Vector → High-Dimensional Vector</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These are the numerical building blocks that allow text to be represented inside a 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1620668"/>
                  </a:ext>
                </a:extLst>
              </a:tr>
              <a:tr h="1165573">
                <a:tc>
                  <a:txBody>
                    <a:bodyPr/>
                    <a:lstStyle/>
                    <a:p>
                      <a:r>
                        <a:rPr lang="en-IN" b="1"/>
                        <a:t>Large Language Models (LLMs)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AI systems that read, write, and reason in natural language—powering chat interfaces and text-generation tools.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29338665"/>
                  </a:ext>
                </a:extLst>
              </a:tr>
              <a:tr h="1165573">
                <a:tc>
                  <a:txBody>
                    <a:bodyPr/>
                    <a:lstStyle/>
                    <a:p>
                      <a:r>
                        <a:rPr lang="en-US" b="1"/>
                        <a:t>What an LLM actually does</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Takes your prompt, turns it into vectors, predicts the next tokens, and streams the result back as readable 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6605578"/>
                  </a:ext>
                </a:extLst>
              </a:tr>
              <a:tr h="815901">
                <a:tc>
                  <a:txBody>
                    <a:bodyPr/>
                    <a:lstStyle/>
                    <a:p>
                      <a:r>
                        <a:rPr lang="en-IN" b="1"/>
                        <a:t>Well-known LLM families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GPT (ChatGPT), Claude, Gemini, DeepSeek, Qwen, Grok, Llama.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53242436"/>
                  </a:ext>
                </a:extLst>
              </a:tr>
            </a:tbl>
          </a:graphicData>
        </a:graphic>
      </p:graphicFrame>
    </p:spTree>
    <p:extLst>
      <p:ext uri="{BB962C8B-B14F-4D97-AF65-F5344CB8AC3E}">
        <p14:creationId xmlns:p14="http://schemas.microsoft.com/office/powerpoint/2010/main" val="2843383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1AD21-1388-FD27-D867-978D9AD4625C}"/>
              </a:ext>
            </a:extLst>
          </p:cNvPr>
          <p:cNvSpPr>
            <a:spLocks noGrp="1"/>
          </p:cNvSpPr>
          <p:nvPr>
            <p:ph type="title"/>
          </p:nvPr>
        </p:nvSpPr>
        <p:spPr>
          <a:xfrm>
            <a:off x="669552" y="594335"/>
            <a:ext cx="10863635" cy="639153"/>
          </a:xfrm>
        </p:spPr>
        <p:txBody>
          <a:bodyPr/>
          <a:lstStyle/>
          <a:p>
            <a:r>
              <a:rPr lang="en-US" dirty="0"/>
              <a:t>How an LLM Generates Text</a:t>
            </a:r>
            <a:endParaRPr lang="en-IN" dirty="0"/>
          </a:p>
        </p:txBody>
      </p:sp>
      <p:sp>
        <p:nvSpPr>
          <p:cNvPr id="3" name="Content Placeholder 2">
            <a:extLst>
              <a:ext uri="{FF2B5EF4-FFF2-40B4-BE49-F238E27FC236}">
                <a16:creationId xmlns:a16="http://schemas.microsoft.com/office/drawing/2014/main" id="{A8C13B71-6000-6847-D076-AB2234715789}"/>
              </a:ext>
            </a:extLst>
          </p:cNvPr>
          <p:cNvSpPr>
            <a:spLocks noGrp="1"/>
          </p:cNvSpPr>
          <p:nvPr>
            <p:ph idx="1"/>
          </p:nvPr>
        </p:nvSpPr>
        <p:spPr>
          <a:xfrm>
            <a:off x="669553" y="1665743"/>
            <a:ext cx="10863634" cy="4427081"/>
          </a:xfrm>
        </p:spPr>
        <p:txBody>
          <a:bodyPr>
            <a:normAutofit/>
          </a:bodyPr>
          <a:lstStyle/>
          <a:p>
            <a:pPr marL="457200" indent="-457200">
              <a:buFont typeface="+mj-lt"/>
              <a:buAutoNum type="arabicPeriod"/>
            </a:pPr>
            <a:r>
              <a:rPr lang="en-US" sz="2400" b="1" dirty="0">
                <a:solidFill>
                  <a:schemeClr val="tx1"/>
                </a:solidFill>
              </a:rPr>
              <a:t>Tokenize the prompt </a:t>
            </a:r>
            <a:r>
              <a:rPr lang="en-US" sz="2400" dirty="0">
                <a:solidFill>
                  <a:schemeClr val="tx1"/>
                </a:solidFill>
              </a:rPr>
              <a:t>– break the input string into tokens and turn them into numerical IDs.</a:t>
            </a:r>
          </a:p>
          <a:p>
            <a:pPr marL="457200" indent="-457200">
              <a:buFont typeface="+mj-lt"/>
              <a:buAutoNum type="arabicPeriod"/>
            </a:pPr>
            <a:r>
              <a:rPr lang="en-US" sz="2400" b="1" dirty="0">
                <a:solidFill>
                  <a:schemeClr val="tx1"/>
                </a:solidFill>
              </a:rPr>
              <a:t>Embed &amp; analyze context </a:t>
            </a:r>
            <a:r>
              <a:rPr lang="en-US" sz="2400" dirty="0">
                <a:solidFill>
                  <a:schemeClr val="tx1"/>
                </a:solidFill>
              </a:rPr>
              <a:t>– feed those IDs through Transformer layers that capture meaning and relationships.</a:t>
            </a:r>
          </a:p>
          <a:p>
            <a:pPr marL="457200" indent="-457200">
              <a:buFont typeface="+mj-lt"/>
              <a:buAutoNum type="arabicPeriod"/>
            </a:pPr>
            <a:r>
              <a:rPr lang="en-US" sz="2400" b="1" dirty="0">
                <a:solidFill>
                  <a:schemeClr val="tx1"/>
                </a:solidFill>
              </a:rPr>
              <a:t>Score the vocabulary </a:t>
            </a:r>
            <a:r>
              <a:rPr lang="en-US" sz="2400" dirty="0">
                <a:solidFill>
                  <a:schemeClr val="tx1"/>
                </a:solidFill>
              </a:rPr>
              <a:t>– compute a probability for every token in the vocab (SoftMax distribution).</a:t>
            </a:r>
          </a:p>
          <a:p>
            <a:pPr marL="457200" indent="-457200">
              <a:buFont typeface="+mj-lt"/>
              <a:buAutoNum type="arabicPeriod"/>
            </a:pPr>
            <a:r>
              <a:rPr lang="en-US" sz="2400" b="1" dirty="0">
                <a:solidFill>
                  <a:schemeClr val="tx1"/>
                </a:solidFill>
              </a:rPr>
              <a:t>Pick the next token </a:t>
            </a:r>
            <a:r>
              <a:rPr lang="en-US" sz="2400" dirty="0">
                <a:solidFill>
                  <a:schemeClr val="tx1"/>
                </a:solidFill>
              </a:rPr>
              <a:t>– choose the highest-probability token (greedy) or sample from the top-k / nucleus set.</a:t>
            </a:r>
          </a:p>
          <a:p>
            <a:pPr marL="457200" indent="-457200">
              <a:buFont typeface="+mj-lt"/>
              <a:buAutoNum type="arabicPeriod"/>
            </a:pPr>
            <a:r>
              <a:rPr lang="en-US" sz="2400" b="1" dirty="0">
                <a:solidFill>
                  <a:schemeClr val="tx1"/>
                </a:solidFill>
              </a:rPr>
              <a:t>Loop</a:t>
            </a:r>
            <a:r>
              <a:rPr lang="en-US" sz="2400" dirty="0">
                <a:solidFill>
                  <a:schemeClr val="tx1"/>
                </a:solidFill>
              </a:rPr>
              <a:t> – append the chosen token to the prompt and repeat until a stop condition is met.</a:t>
            </a:r>
            <a:endParaRPr lang="en-IN" sz="2400" dirty="0">
              <a:solidFill>
                <a:schemeClr val="tx1"/>
              </a:solidFill>
            </a:endParaRPr>
          </a:p>
        </p:txBody>
      </p:sp>
    </p:spTree>
    <p:extLst>
      <p:ext uri="{BB962C8B-B14F-4D97-AF65-F5344CB8AC3E}">
        <p14:creationId xmlns:p14="http://schemas.microsoft.com/office/powerpoint/2010/main" val="8965689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A11A3-EC28-1CB3-51FF-81AE27623E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74E4BE-6E75-02CF-A8CD-86FC9696A270}"/>
              </a:ext>
            </a:extLst>
          </p:cNvPr>
          <p:cNvSpPr>
            <a:spLocks noGrp="1"/>
          </p:cNvSpPr>
          <p:nvPr>
            <p:ph type="title"/>
          </p:nvPr>
        </p:nvSpPr>
        <p:spPr>
          <a:xfrm>
            <a:off x="669550" y="594335"/>
            <a:ext cx="10863638" cy="639153"/>
          </a:xfrm>
        </p:spPr>
        <p:txBody>
          <a:bodyPr anchor="ctr">
            <a:normAutofit/>
          </a:bodyPr>
          <a:lstStyle/>
          <a:p>
            <a:r>
              <a:rPr lang="en-US" dirty="0"/>
              <a:t>Worked Example: Next-Word Prediction</a:t>
            </a:r>
            <a:endParaRPr lang="en-IN" dirty="0"/>
          </a:p>
        </p:txBody>
      </p:sp>
      <p:sp>
        <p:nvSpPr>
          <p:cNvPr id="3" name="Content Placeholder 2">
            <a:extLst>
              <a:ext uri="{FF2B5EF4-FFF2-40B4-BE49-F238E27FC236}">
                <a16:creationId xmlns:a16="http://schemas.microsoft.com/office/drawing/2014/main" id="{9A6A4EBA-5D2C-18C4-556E-469227609CD5}"/>
              </a:ext>
            </a:extLst>
          </p:cNvPr>
          <p:cNvSpPr>
            <a:spLocks noGrp="1"/>
          </p:cNvSpPr>
          <p:nvPr>
            <p:ph sz="half" idx="1"/>
          </p:nvPr>
        </p:nvSpPr>
        <p:spPr>
          <a:xfrm>
            <a:off x="668371" y="1670345"/>
            <a:ext cx="5417119" cy="4422480"/>
          </a:xfrm>
        </p:spPr>
        <p:txBody>
          <a:bodyPr>
            <a:normAutofit/>
          </a:bodyPr>
          <a:lstStyle/>
          <a:p>
            <a:pPr marL="0" marR="0" lvl="0" indent="0" defTabSz="914400" rtl="0" eaLnBrk="0" fontAlgn="base" latinLnBrk="0" hangingPunct="0">
              <a:spcBef>
                <a:spcPts val="600"/>
              </a:spcBef>
              <a:spcAft>
                <a:spcPts val="600"/>
              </a:spcAft>
              <a:buClrTx/>
              <a:buSzTx/>
              <a:buFontTx/>
              <a:buNone/>
              <a:tabLst/>
            </a:pPr>
            <a:r>
              <a:rPr kumimoji="0" lang="en-US" altLang="en-US" sz="2400" b="1" i="0" u="none" strike="noStrike" cap="none" normalizeH="0" baseline="0" dirty="0">
                <a:ln>
                  <a:noFill/>
                </a:ln>
                <a:effectLst/>
              </a:rPr>
              <a:t>Prompt (input)</a:t>
            </a:r>
            <a:endParaRPr kumimoji="0" lang="en-US" altLang="en-US" sz="2400" b="0" i="0" u="none" strike="noStrike" cap="none" normalizeH="0" baseline="0" dirty="0">
              <a:ln>
                <a:noFill/>
              </a:ln>
              <a:effectLst/>
            </a:endParaRPr>
          </a:p>
          <a:p>
            <a:pPr marL="0" marR="0" lvl="0" indent="0" defTabSz="914400" rtl="0" eaLnBrk="0" fontAlgn="base" latinLnBrk="0" hangingPunct="0">
              <a:spcBef>
                <a:spcPts val="600"/>
              </a:spcBef>
              <a:spcAft>
                <a:spcPts val="600"/>
              </a:spcAft>
              <a:buClrTx/>
              <a:buSzTx/>
              <a:buFontTx/>
              <a:buNone/>
              <a:tabLst/>
            </a:pPr>
            <a:r>
              <a:rPr lang="en-US" altLang="en-US" sz="2400" dirty="0"/>
              <a:t>|</a:t>
            </a:r>
            <a:r>
              <a:rPr lang="en-US" altLang="en-US" sz="2400" i="1" dirty="0"/>
              <a:t>   </a:t>
            </a:r>
            <a:r>
              <a:rPr kumimoji="0" lang="en-US" altLang="en-US" sz="2400" b="0" i="1" u="none" strike="noStrike" cap="none" normalizeH="0" baseline="0" dirty="0">
                <a:ln>
                  <a:noFill/>
                </a:ln>
                <a:effectLst/>
              </a:rPr>
              <a:t>“The sun is shining, and the sky is ☐”</a:t>
            </a:r>
            <a:endParaRPr kumimoji="0" lang="en-US" altLang="en-US" sz="2400" b="0" i="0" u="none" strike="noStrike" cap="none" normalizeH="0" baseline="0" dirty="0">
              <a:ln>
                <a:noFill/>
              </a:ln>
              <a:effectLst/>
            </a:endParaRPr>
          </a:p>
          <a:p>
            <a:pPr marL="0" marR="0" lvl="0" indent="0" defTabSz="914400" rtl="0" eaLnBrk="0" fontAlgn="base" latinLnBrk="0" hangingPunct="0">
              <a:spcBef>
                <a:spcPts val="600"/>
              </a:spcBef>
              <a:spcAft>
                <a:spcPts val="600"/>
              </a:spcAft>
              <a:buClrTx/>
              <a:buSzTx/>
              <a:buFontTx/>
              <a:buNone/>
              <a:tabLst/>
            </a:pPr>
            <a:r>
              <a:rPr kumimoji="0" lang="en-US" altLang="en-US" sz="2400" b="1" i="0" u="none" strike="noStrike" cap="none" normalizeH="0" baseline="0" dirty="0">
                <a:ln>
                  <a:noFill/>
                </a:ln>
                <a:effectLst/>
              </a:rPr>
              <a:t>Model output (top candidates)</a:t>
            </a:r>
            <a:endParaRPr lang="en-US" altLang="en-US" sz="2400" b="1" dirty="0"/>
          </a:p>
        </p:txBody>
      </p:sp>
      <p:graphicFrame>
        <p:nvGraphicFramePr>
          <p:cNvPr id="4" name="Table 3">
            <a:extLst>
              <a:ext uri="{FF2B5EF4-FFF2-40B4-BE49-F238E27FC236}">
                <a16:creationId xmlns:a16="http://schemas.microsoft.com/office/drawing/2014/main" id="{F799EF47-BC73-751A-B6C1-243FF32D1669}"/>
              </a:ext>
            </a:extLst>
          </p:cNvPr>
          <p:cNvGraphicFramePr>
            <a:graphicFrameLocks noGrp="1"/>
          </p:cNvGraphicFramePr>
          <p:nvPr>
            <p:extLst>
              <p:ext uri="{D42A27DB-BD31-4B8C-83A1-F6EECF244321}">
                <p14:modId xmlns:p14="http://schemas.microsoft.com/office/powerpoint/2010/main" val="672298710"/>
              </p:ext>
            </p:extLst>
          </p:nvPr>
        </p:nvGraphicFramePr>
        <p:xfrm>
          <a:off x="6085490" y="1665287"/>
          <a:ext cx="5427624" cy="4427538"/>
        </p:xfrm>
        <a:graphic>
          <a:graphicData uri="http://schemas.openxmlformats.org/drawingml/2006/table">
            <a:tbl>
              <a:tblPr firstRow="1" bandRow="1"/>
              <a:tblGrid>
                <a:gridCol w="2688638">
                  <a:extLst>
                    <a:ext uri="{9D8B030D-6E8A-4147-A177-3AD203B41FA5}">
                      <a16:colId xmlns:a16="http://schemas.microsoft.com/office/drawing/2014/main" val="959486371"/>
                    </a:ext>
                  </a:extLst>
                </a:gridCol>
                <a:gridCol w="2738986">
                  <a:extLst>
                    <a:ext uri="{9D8B030D-6E8A-4147-A177-3AD203B41FA5}">
                      <a16:colId xmlns:a16="http://schemas.microsoft.com/office/drawing/2014/main" val="1940366061"/>
                    </a:ext>
                  </a:extLst>
                </a:gridCol>
              </a:tblGrid>
              <a:tr h="737923">
                <a:tc>
                  <a:txBody>
                    <a:bodyPr/>
                    <a:lstStyle/>
                    <a:p>
                      <a:pPr algn="ctr"/>
                      <a:r>
                        <a:rPr lang="en-IN" sz="2400"/>
                        <a:t>Candidate</a:t>
                      </a:r>
                    </a:p>
                  </a:txBody>
                  <a:tcPr marL="166646" marR="166646" marT="83323" marB="833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algn="ctr"/>
                      <a:r>
                        <a:rPr lang="en-IN" sz="2400" dirty="0"/>
                        <a:t>Probability</a:t>
                      </a:r>
                    </a:p>
                  </a:txBody>
                  <a:tcPr marL="166646" marR="166646" marT="83323" marB="833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3377443779"/>
                  </a:ext>
                </a:extLst>
              </a:tr>
              <a:tr h="737923">
                <a:tc>
                  <a:txBody>
                    <a:bodyPr/>
                    <a:lstStyle/>
                    <a:p>
                      <a:pPr algn="ctr"/>
                      <a:r>
                        <a:rPr lang="en-IN" sz="2400" b="1"/>
                        <a:t>blue</a:t>
                      </a:r>
                      <a:endParaRPr lang="en-IN" sz="2400"/>
                    </a:p>
                  </a:txBody>
                  <a:tcPr marL="166646" marR="166646" marT="83323" marB="833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b="1"/>
                        <a:t>0.60</a:t>
                      </a:r>
                      <a:endParaRPr lang="en-IN" sz="2400"/>
                    </a:p>
                  </a:txBody>
                  <a:tcPr marL="166646" marR="166646" marT="83323" marB="833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7278490"/>
                  </a:ext>
                </a:extLst>
              </a:tr>
              <a:tr h="737923">
                <a:tc>
                  <a:txBody>
                    <a:bodyPr/>
                    <a:lstStyle/>
                    <a:p>
                      <a:pPr algn="ctr"/>
                      <a:r>
                        <a:rPr lang="en-IN" sz="2400" dirty="0"/>
                        <a:t>clear</a:t>
                      </a:r>
                    </a:p>
                  </a:txBody>
                  <a:tcPr marL="166646" marR="166646" marT="83323" marB="833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a:t>0.18</a:t>
                      </a:r>
                    </a:p>
                  </a:txBody>
                  <a:tcPr marL="166646" marR="166646" marT="83323" marB="833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33595002"/>
                  </a:ext>
                </a:extLst>
              </a:tr>
              <a:tr h="737923">
                <a:tc>
                  <a:txBody>
                    <a:bodyPr/>
                    <a:lstStyle/>
                    <a:p>
                      <a:pPr algn="ctr"/>
                      <a:r>
                        <a:rPr lang="en-IN" sz="2400"/>
                        <a:t>cloudy</a:t>
                      </a:r>
                    </a:p>
                  </a:txBody>
                  <a:tcPr marL="166646" marR="166646" marT="83323" marB="833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a:t>0.11</a:t>
                      </a:r>
                    </a:p>
                  </a:txBody>
                  <a:tcPr marL="166646" marR="166646" marT="83323" marB="833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4015581"/>
                  </a:ext>
                </a:extLst>
              </a:tr>
              <a:tr h="737923">
                <a:tc>
                  <a:txBody>
                    <a:bodyPr/>
                    <a:lstStyle/>
                    <a:p>
                      <a:pPr algn="ctr"/>
                      <a:r>
                        <a:rPr lang="en-IN" sz="2400"/>
                        <a:t>bright</a:t>
                      </a:r>
                    </a:p>
                  </a:txBody>
                  <a:tcPr marL="166646" marR="166646" marT="83323" marB="833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a:t>0.04</a:t>
                      </a:r>
                    </a:p>
                  </a:txBody>
                  <a:tcPr marL="166646" marR="166646" marT="83323" marB="833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7190699"/>
                  </a:ext>
                </a:extLst>
              </a:tr>
              <a:tr h="737923">
                <a:tc>
                  <a:txBody>
                    <a:bodyPr/>
                    <a:lstStyle/>
                    <a:p>
                      <a:pPr algn="ctr"/>
                      <a:r>
                        <a:rPr lang="en-IN" sz="2400"/>
                        <a:t>…</a:t>
                      </a:r>
                    </a:p>
                  </a:txBody>
                  <a:tcPr marL="166646" marR="166646" marT="83323" marB="833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dirty="0"/>
                        <a:t>…</a:t>
                      </a:r>
                    </a:p>
                  </a:txBody>
                  <a:tcPr marL="166646" marR="166646" marT="83323" marB="833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0990101"/>
                  </a:ext>
                </a:extLst>
              </a:tr>
            </a:tbl>
          </a:graphicData>
        </a:graphic>
      </p:graphicFrame>
    </p:spTree>
    <p:extLst>
      <p:ext uri="{BB962C8B-B14F-4D97-AF65-F5344CB8AC3E}">
        <p14:creationId xmlns:p14="http://schemas.microsoft.com/office/powerpoint/2010/main" val="1773144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C0835-C9FA-E176-17BC-CAACBE24A0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28AA33-83AB-D1B0-5394-EA8591DF51CC}"/>
              </a:ext>
            </a:extLst>
          </p:cNvPr>
          <p:cNvSpPr>
            <a:spLocks noGrp="1"/>
          </p:cNvSpPr>
          <p:nvPr>
            <p:ph type="title"/>
          </p:nvPr>
        </p:nvSpPr>
        <p:spPr>
          <a:xfrm>
            <a:off x="669550" y="594335"/>
            <a:ext cx="10863638" cy="639153"/>
          </a:xfrm>
        </p:spPr>
        <p:txBody>
          <a:bodyPr anchor="ctr">
            <a:normAutofit/>
          </a:bodyPr>
          <a:lstStyle/>
          <a:p>
            <a:r>
              <a:rPr lang="en-US" dirty="0"/>
              <a:t>Strategies (</a:t>
            </a:r>
            <a:r>
              <a:rPr lang="en-US" b="1" dirty="0"/>
              <a:t>How the Model Picks the Next Token</a:t>
            </a:r>
            <a:r>
              <a:rPr lang="en-US" dirty="0"/>
              <a:t>)</a:t>
            </a:r>
            <a:endParaRPr lang="en-IN" dirty="0"/>
          </a:p>
        </p:txBody>
      </p:sp>
      <p:graphicFrame>
        <p:nvGraphicFramePr>
          <p:cNvPr id="8" name="Table 7">
            <a:extLst>
              <a:ext uri="{FF2B5EF4-FFF2-40B4-BE49-F238E27FC236}">
                <a16:creationId xmlns:a16="http://schemas.microsoft.com/office/drawing/2014/main" id="{3FF7E6A3-1E8C-EB0F-6254-7D30632F6970}"/>
              </a:ext>
            </a:extLst>
          </p:cNvPr>
          <p:cNvGraphicFramePr>
            <a:graphicFrameLocks noGrp="1"/>
          </p:cNvGraphicFramePr>
          <p:nvPr>
            <p:extLst>
              <p:ext uri="{D42A27DB-BD31-4B8C-83A1-F6EECF244321}">
                <p14:modId xmlns:p14="http://schemas.microsoft.com/office/powerpoint/2010/main" val="2784426051"/>
              </p:ext>
            </p:extLst>
          </p:nvPr>
        </p:nvGraphicFramePr>
        <p:xfrm>
          <a:off x="670118" y="1664653"/>
          <a:ext cx="10863068" cy="2966628"/>
        </p:xfrm>
        <a:graphic>
          <a:graphicData uri="http://schemas.openxmlformats.org/drawingml/2006/table">
            <a:tbl>
              <a:tblPr/>
              <a:tblGrid>
                <a:gridCol w="2715767">
                  <a:extLst>
                    <a:ext uri="{9D8B030D-6E8A-4147-A177-3AD203B41FA5}">
                      <a16:colId xmlns:a16="http://schemas.microsoft.com/office/drawing/2014/main" val="3592980930"/>
                    </a:ext>
                  </a:extLst>
                </a:gridCol>
                <a:gridCol w="2715767">
                  <a:extLst>
                    <a:ext uri="{9D8B030D-6E8A-4147-A177-3AD203B41FA5}">
                      <a16:colId xmlns:a16="http://schemas.microsoft.com/office/drawing/2014/main" val="2932657701"/>
                    </a:ext>
                  </a:extLst>
                </a:gridCol>
                <a:gridCol w="2715767">
                  <a:extLst>
                    <a:ext uri="{9D8B030D-6E8A-4147-A177-3AD203B41FA5}">
                      <a16:colId xmlns:a16="http://schemas.microsoft.com/office/drawing/2014/main" val="734803356"/>
                    </a:ext>
                  </a:extLst>
                </a:gridCol>
                <a:gridCol w="2715767">
                  <a:extLst>
                    <a:ext uri="{9D8B030D-6E8A-4147-A177-3AD203B41FA5}">
                      <a16:colId xmlns:a16="http://schemas.microsoft.com/office/drawing/2014/main" val="3156618676"/>
                    </a:ext>
                  </a:extLst>
                </a:gridCol>
              </a:tblGrid>
              <a:tr h="273630">
                <a:tc>
                  <a:txBody>
                    <a:bodyPr/>
                    <a:lstStyle/>
                    <a:p>
                      <a:r>
                        <a:rPr lang="en-IN" sz="1600"/>
                        <a:t>Strategy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sz="1600"/>
                        <a:t>Core idea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sz="1600"/>
                        <a:t>Example output*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sz="1600"/>
                        <a:t>When you’d use 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20513276"/>
                  </a:ext>
                </a:extLst>
              </a:tr>
              <a:tr h="684076">
                <a:tc>
                  <a:txBody>
                    <a:bodyPr/>
                    <a:lstStyle/>
                    <a:p>
                      <a:r>
                        <a:rPr lang="en-IN" sz="1600" b="1"/>
                        <a:t>Greedy</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t>Always take the single highest-probability token.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i="1"/>
                        <a:t>Prompt:</a:t>
                      </a:r>
                      <a:r>
                        <a:rPr lang="en-US" sz="1600"/>
                        <a:t> “The sun is shining and the sky is …” → </a:t>
                      </a:r>
                      <a:r>
                        <a:rPr lang="en-US" sz="1600" b="1"/>
                        <a:t>blue</a:t>
                      </a:r>
                      <a:endParaRPr lang="en-US"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a:t>Factual answers, code, step-by-step instructions.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0599441"/>
                  </a:ext>
                </a:extLst>
              </a:tr>
              <a:tr h="684076">
                <a:tc>
                  <a:txBody>
                    <a:bodyPr/>
                    <a:lstStyle/>
                    <a:p>
                      <a:r>
                        <a:rPr lang="en-IN" sz="1600" b="1"/>
                        <a:t>Random (pure)</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a:t>Sample from the full probability distribution.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a:t>Same prompt → </a:t>
                      </a:r>
                      <a:r>
                        <a:rPr lang="en-US" sz="1600" b="1"/>
                        <a:t>cloudy</a:t>
                      </a:r>
                      <a:r>
                        <a:rPr lang="en-US" sz="1600"/>
                        <a:t> (could be any word, even unlikely)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a:t>Brainstorming demos, AI games, creativity showcases.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2280166"/>
                  </a:ext>
                </a:extLst>
              </a:tr>
              <a:tr h="478853">
                <a:tc>
                  <a:txBody>
                    <a:bodyPr/>
                    <a:lstStyle/>
                    <a:p>
                      <a:r>
                        <a:rPr lang="en-IN" sz="1600" b="1"/>
                        <a:t>Top-k sampling</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a:t>Restrict to the </a:t>
                      </a:r>
                      <a:r>
                        <a:rPr lang="en-US" sz="1600" i="1"/>
                        <a:t>k</a:t>
                      </a:r>
                      <a:r>
                        <a:rPr lang="en-US" sz="1600"/>
                        <a:t> most-likely tokens, then sample.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a:t>With </a:t>
                      </a:r>
                      <a:r>
                        <a:rPr lang="en-US" sz="1600" i="1"/>
                        <a:t>k = 3</a:t>
                      </a:r>
                      <a:r>
                        <a:rPr lang="en-US" sz="1600"/>
                        <a:t>: {blue, clear, cloudy} → </a:t>
                      </a:r>
                      <a:r>
                        <a:rPr lang="en-US" sz="1600" b="1"/>
                        <a:t>clear</a:t>
                      </a:r>
                      <a:endParaRPr lang="en-US"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a:t>Chat, story-telling, marketing copy.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0350474"/>
                  </a:ext>
                </a:extLst>
              </a:tr>
              <a:tr h="684076">
                <a:tc>
                  <a:txBody>
                    <a:bodyPr/>
                    <a:lstStyle/>
                    <a:p>
                      <a:r>
                        <a:rPr lang="en-IN" sz="1600" b="1"/>
                        <a:t>Temperature</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a:t>Scale logits before soft-max (</a:t>
                      </a:r>
                      <a:r>
                        <a:rPr lang="en-IN" sz="1600" i="1"/>
                        <a:t>T</a:t>
                      </a:r>
                      <a:r>
                        <a:rPr lang="en-IN" sz="1600"/>
                        <a:t>↑ = flatter distribution).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i="1"/>
                        <a:t>T = 1.0</a:t>
                      </a:r>
                      <a:r>
                        <a:rPr lang="en-US" sz="1600"/>
                        <a:t> may yield </a:t>
                      </a:r>
                      <a:r>
                        <a:rPr lang="en-US" sz="1600" b="1"/>
                        <a:t>azure</a:t>
                      </a:r>
                      <a:r>
                        <a:rPr lang="en-US" sz="1600"/>
                        <a:t>; </a:t>
                      </a:r>
                      <a:r>
                        <a:rPr lang="en-US" sz="1600" i="1"/>
                        <a:t>T = 0.2</a:t>
                      </a:r>
                      <a:r>
                        <a:rPr lang="en-US" sz="1600"/>
                        <a:t> stays at </a:t>
                      </a:r>
                      <a:r>
                        <a:rPr lang="en-US" sz="1600" b="1"/>
                        <a:t>blue</a:t>
                      </a:r>
                      <a:endParaRPr lang="en-US"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t>Fine-tuning creativity without changing </a:t>
                      </a:r>
                      <a:r>
                        <a:rPr lang="en-US" sz="1600" i="1" dirty="0"/>
                        <a:t>k</a:t>
                      </a:r>
                      <a:r>
                        <a:rPr lang="en-US" sz="16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0792754"/>
                  </a:ext>
                </a:extLst>
              </a:tr>
            </a:tbl>
          </a:graphicData>
        </a:graphic>
      </p:graphicFrame>
      <p:sp>
        <p:nvSpPr>
          <p:cNvPr id="9" name="TextBox 8">
            <a:extLst>
              <a:ext uri="{FF2B5EF4-FFF2-40B4-BE49-F238E27FC236}">
                <a16:creationId xmlns:a16="http://schemas.microsoft.com/office/drawing/2014/main" id="{664F7802-4F4C-B77B-F9FD-78C469BBE37A}"/>
              </a:ext>
            </a:extLst>
          </p:cNvPr>
          <p:cNvSpPr txBox="1"/>
          <p:nvPr/>
        </p:nvSpPr>
        <p:spPr>
          <a:xfrm>
            <a:off x="658813" y="4550851"/>
            <a:ext cx="10874375" cy="1541974"/>
          </a:xfrm>
          <a:prstGeom prst="rect">
            <a:avLst/>
          </a:prstGeom>
        </p:spPr>
        <p:txBody>
          <a:bodyPr wrap="square" rtlCol="0">
            <a:spAutoFit/>
          </a:bodyPr>
          <a:lstStyle/>
          <a:p>
            <a:endParaRPr lang="en-IN" dirty="0"/>
          </a:p>
        </p:txBody>
      </p:sp>
      <p:sp>
        <p:nvSpPr>
          <p:cNvPr id="12" name="Rectangle 2">
            <a:extLst>
              <a:ext uri="{FF2B5EF4-FFF2-40B4-BE49-F238E27FC236}">
                <a16:creationId xmlns:a16="http://schemas.microsoft.com/office/drawing/2014/main" id="{4A123FF0-1761-20ED-8188-859546D66043}"/>
              </a:ext>
            </a:extLst>
          </p:cNvPr>
          <p:cNvSpPr>
            <a:spLocks noGrp="1" noChangeArrowheads="1"/>
          </p:cNvSpPr>
          <p:nvPr>
            <p:ph sz="half" idx="1"/>
          </p:nvPr>
        </p:nvSpPr>
        <p:spPr bwMode="auto">
          <a:xfrm>
            <a:off x="679075" y="4677869"/>
            <a:ext cx="10874375" cy="1354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ts val="600"/>
              </a:spcBef>
              <a:spcAft>
                <a:spcPts val="600"/>
              </a:spcAft>
              <a:buClrTx/>
              <a:buSzTx/>
              <a:buFontTx/>
              <a:buNone/>
              <a:tabLst/>
            </a:pPr>
            <a:r>
              <a:rPr kumimoji="0" lang="en-US" altLang="en-US" sz="1800" b="0" i="0" u="none" strike="noStrike" cap="none" normalizeH="0" baseline="0" dirty="0">
                <a:ln>
                  <a:noFill/>
                </a:ln>
                <a:solidFill>
                  <a:schemeClr val="tx1"/>
                </a:solidFill>
                <a:effectLst/>
                <a:latin typeface="+mn-lt"/>
              </a:rPr>
              <a:t>*All examples use the prompt fragment </a:t>
            </a:r>
            <a:r>
              <a:rPr kumimoji="0" lang="en-US" altLang="en-US" sz="1800" b="1" i="0" u="none" strike="noStrike" cap="none" normalizeH="0" baseline="0" dirty="0">
                <a:ln>
                  <a:noFill/>
                </a:ln>
                <a:solidFill>
                  <a:schemeClr val="tx1"/>
                </a:solidFill>
                <a:effectLst/>
                <a:latin typeface="+mn-lt"/>
              </a:rPr>
              <a:t>“… and the sky is ☐”</a:t>
            </a:r>
            <a:r>
              <a:rPr kumimoji="0" lang="en-US" altLang="en-US" sz="1800" b="0" i="0" u="none" strike="noStrike" cap="none" normalizeH="0" baseline="0" dirty="0">
                <a:ln>
                  <a:noFill/>
                </a:ln>
                <a:solidFill>
                  <a:schemeClr val="tx1"/>
                </a:solidFill>
                <a:effectLst/>
                <a:latin typeface="+mn-lt"/>
              </a:rPr>
              <a:t> to keep them comparable.</a:t>
            </a:r>
          </a:p>
          <a:p>
            <a:pPr marL="0" marR="0" lvl="0" indent="0" algn="l" defTabSz="914400" rtl="0" eaLnBrk="0" fontAlgn="base" latinLnBrk="0" hangingPunct="0">
              <a:lnSpc>
                <a:spcPct val="100000"/>
              </a:lnSpc>
              <a:spcBef>
                <a:spcPts val="600"/>
              </a:spcBef>
              <a:spcAft>
                <a:spcPts val="600"/>
              </a:spcAft>
              <a:buClrTx/>
              <a:buSzTx/>
              <a:buFontTx/>
              <a:buNone/>
              <a:tabLst/>
            </a:pPr>
            <a:r>
              <a:rPr kumimoji="0" lang="en-US" altLang="en-US" sz="1800" b="1" i="0" u="none" strike="noStrike" cap="none" normalizeH="0" baseline="0" dirty="0">
                <a:ln>
                  <a:noFill/>
                </a:ln>
                <a:solidFill>
                  <a:schemeClr val="tx1"/>
                </a:solidFill>
                <a:effectLst/>
                <a:latin typeface="+mn-lt"/>
              </a:rPr>
              <a:t>Rule of thumb:</a:t>
            </a:r>
            <a:br>
              <a:rPr kumimoji="0" lang="en-US" altLang="en-US" sz="1800" b="0" i="0" u="none" strike="noStrike" cap="none" normalizeH="0" baseline="0" dirty="0">
                <a:ln>
                  <a:noFill/>
                </a:ln>
                <a:solidFill>
                  <a:schemeClr val="tx1"/>
                </a:solidFill>
                <a:effectLst/>
                <a:latin typeface="+mn-lt"/>
              </a:rPr>
            </a:br>
            <a:r>
              <a:rPr kumimoji="0" lang="en-US" altLang="en-US" sz="1800" b="0" i="0" u="none" strike="noStrike" cap="none" normalizeH="0" baseline="0" dirty="0">
                <a:ln>
                  <a:noFill/>
                </a:ln>
                <a:solidFill>
                  <a:schemeClr val="tx1"/>
                </a:solidFill>
                <a:effectLst/>
                <a:latin typeface="+mn-lt"/>
              </a:rPr>
              <a:t>|  Lower randomness (Greedy, low </a:t>
            </a:r>
            <a:r>
              <a:rPr kumimoji="0" lang="en-US" altLang="en-US" sz="1800" b="0" i="1" u="none" strike="noStrike" cap="none" normalizeH="0" baseline="0" dirty="0">
                <a:ln>
                  <a:noFill/>
                </a:ln>
                <a:solidFill>
                  <a:schemeClr val="tx1"/>
                </a:solidFill>
                <a:effectLst/>
                <a:latin typeface="+mn-lt"/>
              </a:rPr>
              <a:t>T</a:t>
            </a:r>
            <a:r>
              <a:rPr kumimoji="0" lang="en-US" altLang="en-US" sz="1800" b="0" i="0" u="none" strike="noStrike" cap="none" normalizeH="0" baseline="0" dirty="0">
                <a:ln>
                  <a:noFill/>
                </a:ln>
                <a:solidFill>
                  <a:schemeClr val="tx1"/>
                </a:solidFill>
                <a:effectLst/>
                <a:latin typeface="+mn-lt"/>
              </a:rPr>
              <a:t>) → predictable &amp; precise.</a:t>
            </a:r>
            <a:br>
              <a:rPr kumimoji="0" lang="en-US" altLang="en-US" sz="1800" b="0" i="0" u="none" strike="noStrike" cap="none" normalizeH="0" baseline="0" dirty="0">
                <a:ln>
                  <a:noFill/>
                </a:ln>
                <a:solidFill>
                  <a:schemeClr val="tx1"/>
                </a:solidFill>
                <a:effectLst/>
                <a:latin typeface="+mn-lt"/>
              </a:rPr>
            </a:br>
            <a:r>
              <a:rPr kumimoji="0" lang="en-US" altLang="en-US" sz="1800" b="0" i="0" u="none" strike="noStrike" cap="none" normalizeH="0" baseline="0" dirty="0">
                <a:ln>
                  <a:noFill/>
                </a:ln>
                <a:solidFill>
                  <a:schemeClr val="tx1"/>
                </a:solidFill>
                <a:effectLst/>
                <a:latin typeface="+mn-lt"/>
              </a:rPr>
              <a:t>|  Higher randomness (Random, large </a:t>
            </a:r>
            <a:r>
              <a:rPr kumimoji="0" lang="en-US" altLang="en-US" sz="1800" b="0" i="1" u="none" strike="noStrike" cap="none" normalizeH="0" baseline="0" dirty="0">
                <a:ln>
                  <a:noFill/>
                </a:ln>
                <a:solidFill>
                  <a:schemeClr val="tx1"/>
                </a:solidFill>
                <a:effectLst/>
                <a:latin typeface="+mn-lt"/>
              </a:rPr>
              <a:t>k</a:t>
            </a:r>
            <a:r>
              <a:rPr kumimoji="0" lang="en-US" altLang="en-US" sz="1800" b="0" i="0" u="none" strike="noStrike" cap="none" normalizeH="0" baseline="0" dirty="0">
                <a:ln>
                  <a:noFill/>
                </a:ln>
                <a:solidFill>
                  <a:schemeClr val="tx1"/>
                </a:solidFill>
                <a:effectLst/>
                <a:latin typeface="+mn-lt"/>
              </a:rPr>
              <a:t>, high </a:t>
            </a:r>
            <a:r>
              <a:rPr kumimoji="0" lang="en-US" altLang="en-US" sz="1800" b="0" i="1" u="none" strike="noStrike" cap="none" normalizeH="0" baseline="0" dirty="0">
                <a:ln>
                  <a:noFill/>
                </a:ln>
                <a:solidFill>
                  <a:schemeClr val="tx1"/>
                </a:solidFill>
                <a:effectLst/>
                <a:latin typeface="+mn-lt"/>
              </a:rPr>
              <a:t>T</a:t>
            </a:r>
            <a:r>
              <a:rPr kumimoji="0" lang="en-US" altLang="en-US" sz="1800" b="0" i="0" u="none" strike="noStrike" cap="none" normalizeH="0" baseline="0" dirty="0">
                <a:ln>
                  <a:noFill/>
                </a:ln>
                <a:solidFill>
                  <a:schemeClr val="tx1"/>
                </a:solidFill>
                <a:effectLst/>
                <a:latin typeface="+mn-lt"/>
              </a:rPr>
              <a:t>) → creative &amp; surprising.</a:t>
            </a:r>
          </a:p>
        </p:txBody>
      </p:sp>
    </p:spTree>
    <p:extLst>
      <p:ext uri="{BB962C8B-B14F-4D97-AF65-F5344CB8AC3E}">
        <p14:creationId xmlns:p14="http://schemas.microsoft.com/office/powerpoint/2010/main" val="24824652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A16C9-2150-E883-6B76-5899CC9E8F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B8BE2A-EAE9-183E-2930-6FC3624E5742}"/>
              </a:ext>
            </a:extLst>
          </p:cNvPr>
          <p:cNvSpPr>
            <a:spLocks noGrp="1"/>
          </p:cNvSpPr>
          <p:nvPr>
            <p:ph type="title"/>
          </p:nvPr>
        </p:nvSpPr>
        <p:spPr>
          <a:xfrm>
            <a:off x="669552" y="594335"/>
            <a:ext cx="10863635" cy="639153"/>
          </a:xfrm>
        </p:spPr>
        <p:txBody>
          <a:bodyPr/>
          <a:lstStyle/>
          <a:p>
            <a:r>
              <a:rPr lang="en-US" dirty="0"/>
              <a:t>Anything Can Be a Token</a:t>
            </a:r>
            <a:endParaRPr lang="en-IN" dirty="0"/>
          </a:p>
        </p:txBody>
      </p:sp>
      <p:sp>
        <p:nvSpPr>
          <p:cNvPr id="3" name="Content Placeholder 2">
            <a:extLst>
              <a:ext uri="{FF2B5EF4-FFF2-40B4-BE49-F238E27FC236}">
                <a16:creationId xmlns:a16="http://schemas.microsoft.com/office/drawing/2014/main" id="{85709B71-B04F-CF58-FA47-B8AD73E4E8A8}"/>
              </a:ext>
            </a:extLst>
          </p:cNvPr>
          <p:cNvSpPr>
            <a:spLocks noGrp="1"/>
          </p:cNvSpPr>
          <p:nvPr>
            <p:ph idx="1"/>
          </p:nvPr>
        </p:nvSpPr>
        <p:spPr>
          <a:xfrm>
            <a:off x="669553" y="1665743"/>
            <a:ext cx="10863634" cy="4427081"/>
          </a:xfrm>
        </p:spPr>
        <p:txBody>
          <a:bodyPr>
            <a:normAutofit/>
          </a:bodyPr>
          <a:lstStyle/>
          <a:p>
            <a:pPr marL="0" indent="0">
              <a:buNone/>
            </a:pPr>
            <a:r>
              <a:rPr lang="en-US" sz="2400" dirty="0">
                <a:solidFill>
                  <a:schemeClr val="tx1"/>
                </a:solidFill>
                <a:latin typeface="+mn-lt"/>
              </a:rPr>
              <a:t>Anything can be embedded as a token that AI can generate (predict based on preceding text): </a:t>
            </a:r>
          </a:p>
          <a:p>
            <a:r>
              <a:rPr lang="en-IN" sz="2400" dirty="0">
                <a:solidFill>
                  <a:schemeClr val="tx1"/>
                </a:solidFill>
                <a:latin typeface="+mn-lt"/>
              </a:rPr>
              <a:t>Word – </a:t>
            </a:r>
            <a:r>
              <a:rPr lang="en-IN" sz="2400" i="1" dirty="0">
                <a:solidFill>
                  <a:schemeClr val="tx1"/>
                </a:solidFill>
                <a:highlight>
                  <a:srgbClr val="C0C0C0"/>
                </a:highlight>
                <a:latin typeface="+mn-lt"/>
              </a:rPr>
              <a:t>car</a:t>
            </a:r>
          </a:p>
          <a:p>
            <a:r>
              <a:rPr lang="en-IN" sz="2400" dirty="0">
                <a:solidFill>
                  <a:schemeClr val="tx1"/>
                </a:solidFill>
                <a:latin typeface="+mn-lt"/>
              </a:rPr>
              <a:t>Letter – </a:t>
            </a:r>
            <a:r>
              <a:rPr lang="en-IN" sz="2400" i="1" dirty="0">
                <a:solidFill>
                  <a:schemeClr val="tx1"/>
                </a:solidFill>
                <a:highlight>
                  <a:srgbClr val="C0C0C0"/>
                </a:highlight>
                <a:latin typeface="+mn-lt"/>
              </a:rPr>
              <a:t>b</a:t>
            </a:r>
          </a:p>
          <a:p>
            <a:r>
              <a:rPr lang="en-IN" sz="2400" dirty="0">
                <a:solidFill>
                  <a:schemeClr val="tx1"/>
                </a:solidFill>
                <a:latin typeface="+mn-lt"/>
              </a:rPr>
              <a:t>Number – </a:t>
            </a:r>
            <a:r>
              <a:rPr lang="en-IN" sz="2400" i="1" dirty="0">
                <a:solidFill>
                  <a:schemeClr val="tx1"/>
                </a:solidFill>
                <a:highlight>
                  <a:srgbClr val="C0C0C0"/>
                </a:highlight>
                <a:latin typeface="+mn-lt"/>
              </a:rPr>
              <a:t>123</a:t>
            </a:r>
          </a:p>
          <a:p>
            <a:r>
              <a:rPr lang="en-IN" sz="2400" dirty="0">
                <a:solidFill>
                  <a:schemeClr val="tx1"/>
                </a:solidFill>
                <a:latin typeface="+mn-lt"/>
              </a:rPr>
              <a:t>Emoji – </a:t>
            </a:r>
            <a:r>
              <a:rPr lang="en-IN" sz="2400" i="1" dirty="0">
                <a:solidFill>
                  <a:schemeClr val="tx1"/>
                </a:solidFill>
                <a:highlight>
                  <a:srgbClr val="C0C0C0"/>
                </a:highlight>
                <a:latin typeface="+mn-lt"/>
              </a:rPr>
              <a:t>🌲</a:t>
            </a:r>
          </a:p>
          <a:p>
            <a:r>
              <a:rPr lang="en-IN" sz="2400" dirty="0">
                <a:solidFill>
                  <a:schemeClr val="tx1"/>
                </a:solidFill>
                <a:latin typeface="+mn-lt"/>
              </a:rPr>
              <a:t>Chinese character – </a:t>
            </a:r>
            <a:r>
              <a:rPr lang="ja-JP" altLang="en-US" sz="2400" i="1" dirty="0">
                <a:solidFill>
                  <a:schemeClr val="tx1"/>
                </a:solidFill>
                <a:highlight>
                  <a:srgbClr val="C0C0C0"/>
                </a:highlight>
                <a:latin typeface="+mn-lt"/>
              </a:rPr>
              <a:t>车</a:t>
            </a:r>
            <a:endParaRPr lang="en-US" altLang="ja-JP" sz="2400" i="1" dirty="0">
              <a:solidFill>
                <a:schemeClr val="tx1"/>
              </a:solidFill>
              <a:highlight>
                <a:srgbClr val="C0C0C0"/>
              </a:highlight>
              <a:latin typeface="+mn-lt"/>
            </a:endParaRPr>
          </a:p>
          <a:p>
            <a:r>
              <a:rPr lang="en-IN" sz="2400" dirty="0">
                <a:solidFill>
                  <a:schemeClr val="tx1"/>
                </a:solidFill>
                <a:latin typeface="+mn-lt"/>
              </a:rPr>
              <a:t>Sentence – </a:t>
            </a:r>
            <a:r>
              <a:rPr lang="en-IN" sz="2400" i="1" dirty="0">
                <a:solidFill>
                  <a:schemeClr val="tx1"/>
                </a:solidFill>
                <a:highlight>
                  <a:srgbClr val="C0C0C0"/>
                </a:highlight>
                <a:latin typeface="+mn-lt"/>
              </a:rPr>
              <a:t>The sun rises in the east.</a:t>
            </a:r>
          </a:p>
          <a:p>
            <a:r>
              <a:rPr lang="en-IN" sz="2400" dirty="0">
                <a:solidFill>
                  <a:schemeClr val="tx1"/>
                </a:solidFill>
                <a:latin typeface="+mn-lt"/>
              </a:rPr>
              <a:t>Chinese sentence – </a:t>
            </a:r>
            <a:r>
              <a:rPr lang="ja-JP" altLang="en-US" sz="2400" i="1" dirty="0">
                <a:solidFill>
                  <a:schemeClr val="tx1"/>
                </a:solidFill>
                <a:highlight>
                  <a:srgbClr val="C0C0C0"/>
                </a:highlight>
                <a:latin typeface="+mn-lt"/>
              </a:rPr>
              <a:t>你好</a:t>
            </a:r>
            <a:r>
              <a:rPr lang="ja-JP" altLang="en-US" sz="2400" dirty="0">
                <a:solidFill>
                  <a:schemeClr val="tx1"/>
                </a:solidFill>
                <a:latin typeface="+mn-lt"/>
              </a:rPr>
              <a:t> </a:t>
            </a:r>
            <a:r>
              <a:rPr lang="en-US" altLang="ja-JP" sz="2400" dirty="0">
                <a:solidFill>
                  <a:schemeClr val="tx1"/>
                </a:solidFill>
                <a:latin typeface="+mn-lt"/>
              </a:rPr>
              <a:t>(</a:t>
            </a:r>
            <a:r>
              <a:rPr lang="en-IN" sz="2400" dirty="0" err="1">
                <a:solidFill>
                  <a:schemeClr val="tx1"/>
                </a:solidFill>
                <a:latin typeface="+mn-lt"/>
              </a:rPr>
              <a:t>nǐ</a:t>
            </a:r>
            <a:r>
              <a:rPr lang="en-IN" sz="2400" dirty="0">
                <a:solidFill>
                  <a:schemeClr val="tx1"/>
                </a:solidFill>
                <a:latin typeface="+mn-lt"/>
              </a:rPr>
              <a:t> </a:t>
            </a:r>
            <a:r>
              <a:rPr lang="en-IN" sz="2400" dirty="0" err="1">
                <a:solidFill>
                  <a:schemeClr val="tx1"/>
                </a:solidFill>
                <a:latin typeface="+mn-lt"/>
              </a:rPr>
              <a:t>hǎo</a:t>
            </a:r>
            <a:r>
              <a:rPr lang="en-IN" sz="2400" dirty="0">
                <a:solidFill>
                  <a:schemeClr val="tx1"/>
                </a:solidFill>
                <a:latin typeface="+mn-lt"/>
              </a:rPr>
              <a:t>)</a:t>
            </a:r>
          </a:p>
          <a:p>
            <a:r>
              <a:rPr lang="en-IN" sz="2400" dirty="0">
                <a:solidFill>
                  <a:schemeClr val="tx1"/>
                </a:solidFill>
                <a:latin typeface="+mn-lt"/>
              </a:rPr>
              <a:t>Arbitrary string – </a:t>
            </a:r>
            <a:r>
              <a:rPr lang="en-IN" sz="2400" i="1" dirty="0">
                <a:solidFill>
                  <a:schemeClr val="tx1"/>
                </a:solidFill>
                <a:highlight>
                  <a:srgbClr val="C0C0C0"/>
                </a:highlight>
                <a:latin typeface="+mn-lt"/>
              </a:rPr>
              <a:t>A1B2$3]!FDC3!@#</a:t>
            </a:r>
          </a:p>
        </p:txBody>
      </p:sp>
    </p:spTree>
    <p:extLst>
      <p:ext uri="{BB962C8B-B14F-4D97-AF65-F5344CB8AC3E}">
        <p14:creationId xmlns:p14="http://schemas.microsoft.com/office/powerpoint/2010/main" val="28329225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69A24-0123-B65C-2B78-E851262B79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2D0415-6C13-998E-1BC7-09F539E39327}"/>
              </a:ext>
            </a:extLst>
          </p:cNvPr>
          <p:cNvSpPr>
            <a:spLocks noGrp="1"/>
          </p:cNvSpPr>
          <p:nvPr>
            <p:ph type="title"/>
          </p:nvPr>
        </p:nvSpPr>
        <p:spPr>
          <a:xfrm>
            <a:off x="669552" y="594335"/>
            <a:ext cx="10863635" cy="639153"/>
          </a:xfrm>
        </p:spPr>
        <p:txBody>
          <a:bodyPr/>
          <a:lstStyle/>
          <a:p>
            <a:r>
              <a:rPr lang="en-US" dirty="0"/>
              <a:t>Token Example and What Model Learns</a:t>
            </a:r>
            <a:endParaRPr lang="en-IN" dirty="0"/>
          </a:p>
        </p:txBody>
      </p:sp>
      <p:sp>
        <p:nvSpPr>
          <p:cNvPr id="3" name="Content Placeholder 2">
            <a:extLst>
              <a:ext uri="{FF2B5EF4-FFF2-40B4-BE49-F238E27FC236}">
                <a16:creationId xmlns:a16="http://schemas.microsoft.com/office/drawing/2014/main" id="{1223DC02-D498-CE12-1B92-574AEC74090A}"/>
              </a:ext>
            </a:extLst>
          </p:cNvPr>
          <p:cNvSpPr>
            <a:spLocks noGrp="1"/>
          </p:cNvSpPr>
          <p:nvPr>
            <p:ph idx="1"/>
          </p:nvPr>
        </p:nvSpPr>
        <p:spPr>
          <a:xfrm>
            <a:off x="669553" y="1665743"/>
            <a:ext cx="10863634" cy="4427081"/>
          </a:xfrm>
        </p:spPr>
        <p:txBody>
          <a:bodyPr>
            <a:noAutofit/>
          </a:bodyPr>
          <a:lstStyle/>
          <a:p>
            <a:pPr>
              <a:buFont typeface="Wingdings" panose="05000000000000000000" pitchFamily="2" charset="2"/>
              <a:buChar char="§"/>
            </a:pPr>
            <a:r>
              <a:rPr lang="en-US" sz="2400" b="1" dirty="0">
                <a:solidFill>
                  <a:schemeClr val="tx1"/>
                </a:solidFill>
                <a:latin typeface="+mn-lt"/>
              </a:rPr>
              <a:t>Word-token example: </a:t>
            </a:r>
            <a:r>
              <a:rPr lang="en-US" sz="2400" i="1" dirty="0">
                <a:solidFill>
                  <a:schemeClr val="tx1"/>
                </a:solidFill>
                <a:latin typeface="+mj-lt"/>
              </a:rPr>
              <a:t>car</a:t>
            </a:r>
          </a:p>
          <a:p>
            <a:pPr lvl="1"/>
            <a:r>
              <a:rPr lang="en-US" sz="2000" dirty="0" err="1">
                <a:solidFill>
                  <a:schemeClr val="tx1"/>
                </a:solidFill>
              </a:rPr>
              <a:t>Recognised</a:t>
            </a:r>
            <a:r>
              <a:rPr lang="en-US" sz="2000" dirty="0">
                <a:solidFill>
                  <a:schemeClr val="tx1"/>
                </a:solidFill>
              </a:rPr>
              <a:t> as a </a:t>
            </a:r>
            <a:r>
              <a:rPr lang="en-US" sz="2000" b="1" dirty="0">
                <a:solidFill>
                  <a:schemeClr val="tx1"/>
                </a:solidFill>
              </a:rPr>
              <a:t>vehicle</a:t>
            </a:r>
            <a:endParaRPr lang="en-US" sz="2000" dirty="0">
              <a:solidFill>
                <a:schemeClr val="tx1"/>
              </a:solidFill>
            </a:endParaRPr>
          </a:p>
          <a:p>
            <a:pPr lvl="1"/>
            <a:r>
              <a:rPr lang="en-US" sz="2000" dirty="0">
                <a:solidFill>
                  <a:schemeClr val="tx1"/>
                </a:solidFill>
              </a:rPr>
              <a:t>Associated with </a:t>
            </a:r>
            <a:r>
              <a:rPr lang="en-US" sz="2000" b="1" dirty="0">
                <a:solidFill>
                  <a:schemeClr val="tx1"/>
                </a:solidFill>
              </a:rPr>
              <a:t>four wheels</a:t>
            </a:r>
            <a:endParaRPr lang="en-US" sz="2000" dirty="0">
              <a:solidFill>
                <a:schemeClr val="tx1"/>
              </a:solidFill>
            </a:endParaRPr>
          </a:p>
          <a:p>
            <a:pPr lvl="1"/>
            <a:r>
              <a:rPr lang="en-US" sz="2000" dirty="0">
                <a:solidFill>
                  <a:schemeClr val="tx1"/>
                </a:solidFill>
              </a:rPr>
              <a:t>People </a:t>
            </a:r>
            <a:r>
              <a:rPr lang="en-US" sz="2000" b="1" dirty="0">
                <a:solidFill>
                  <a:schemeClr val="tx1"/>
                </a:solidFill>
              </a:rPr>
              <a:t>drive</a:t>
            </a:r>
            <a:r>
              <a:rPr lang="en-US" sz="2000" dirty="0">
                <a:solidFill>
                  <a:schemeClr val="tx1"/>
                </a:solidFill>
              </a:rPr>
              <a:t> it</a:t>
            </a:r>
          </a:p>
          <a:p>
            <a:pPr lvl="1"/>
            <a:r>
              <a:rPr lang="en-US" sz="2000" dirty="0">
                <a:solidFill>
                  <a:schemeClr val="tx1"/>
                </a:solidFill>
              </a:rPr>
              <a:t>Used for </a:t>
            </a:r>
            <a:r>
              <a:rPr lang="en-US" sz="2000" b="1" dirty="0">
                <a:solidFill>
                  <a:schemeClr val="tx1"/>
                </a:solidFill>
              </a:rPr>
              <a:t>transportation</a:t>
            </a:r>
            <a:endParaRPr lang="en-US" sz="2000" dirty="0">
              <a:solidFill>
                <a:schemeClr val="tx1"/>
              </a:solidFill>
            </a:endParaRPr>
          </a:p>
          <a:p>
            <a:pPr marL="0" indent="0">
              <a:buNone/>
            </a:pPr>
            <a:endParaRPr lang="en-US" sz="2400" dirty="0">
              <a:solidFill>
                <a:schemeClr val="tx1"/>
              </a:solidFill>
              <a:latin typeface="+mn-lt"/>
            </a:endParaRPr>
          </a:p>
          <a:p>
            <a:pPr>
              <a:buFont typeface="Wingdings" panose="05000000000000000000" pitchFamily="2" charset="2"/>
              <a:buChar char="§"/>
            </a:pPr>
            <a:r>
              <a:rPr lang="en-US" sz="2400" b="1" dirty="0">
                <a:solidFill>
                  <a:schemeClr val="tx1"/>
                </a:solidFill>
                <a:latin typeface="+mn-lt"/>
              </a:rPr>
              <a:t>Character-token example: </a:t>
            </a:r>
            <a:r>
              <a:rPr lang="en-US" sz="2400" i="1" dirty="0">
                <a:solidFill>
                  <a:schemeClr val="tx1"/>
                </a:solidFill>
                <a:latin typeface="+mj-lt"/>
              </a:rPr>
              <a:t>b</a:t>
            </a:r>
          </a:p>
          <a:p>
            <a:pPr lvl="1"/>
            <a:r>
              <a:rPr lang="en-US" sz="2000" dirty="0">
                <a:solidFill>
                  <a:schemeClr val="tx1"/>
                </a:solidFill>
              </a:rPr>
              <a:t>Second letter of the English alphabet</a:t>
            </a:r>
          </a:p>
          <a:p>
            <a:pPr lvl="1"/>
            <a:r>
              <a:rPr lang="en-US" sz="2000" dirty="0">
                <a:solidFill>
                  <a:schemeClr val="tx1"/>
                </a:solidFill>
              </a:rPr>
              <a:t>Starts words like book, bird</a:t>
            </a:r>
          </a:p>
          <a:p>
            <a:pPr lvl="1"/>
            <a:r>
              <a:rPr lang="en-US" sz="2000" dirty="0">
                <a:solidFill>
                  <a:schemeClr val="tx1"/>
                </a:solidFill>
              </a:rPr>
              <a:t>Appears in spelling, acronyms, and codes</a:t>
            </a:r>
            <a:endParaRPr lang="en-US" sz="2000" dirty="0">
              <a:solidFill>
                <a:schemeClr val="tx1"/>
              </a:solidFill>
              <a:latin typeface="+mn-lt"/>
            </a:endParaRPr>
          </a:p>
        </p:txBody>
      </p:sp>
    </p:spTree>
    <p:extLst>
      <p:ext uri="{BB962C8B-B14F-4D97-AF65-F5344CB8AC3E}">
        <p14:creationId xmlns:p14="http://schemas.microsoft.com/office/powerpoint/2010/main" val="24957586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0F0D7-7BE3-9645-3EAD-E124D9FF1F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067520-69BA-C4B1-F279-8599E897E8C8}"/>
              </a:ext>
            </a:extLst>
          </p:cNvPr>
          <p:cNvSpPr>
            <a:spLocks noGrp="1"/>
          </p:cNvSpPr>
          <p:nvPr>
            <p:ph type="title"/>
          </p:nvPr>
        </p:nvSpPr>
        <p:spPr>
          <a:xfrm>
            <a:off x="669552" y="594335"/>
            <a:ext cx="10863635" cy="639153"/>
          </a:xfrm>
        </p:spPr>
        <p:txBody>
          <a:bodyPr/>
          <a:lstStyle/>
          <a:p>
            <a:r>
              <a:rPr lang="en-US" dirty="0"/>
              <a:t>Cont..</a:t>
            </a:r>
            <a:endParaRPr lang="en-IN" dirty="0"/>
          </a:p>
        </p:txBody>
      </p:sp>
      <p:sp>
        <p:nvSpPr>
          <p:cNvPr id="3" name="Content Placeholder 2">
            <a:extLst>
              <a:ext uri="{FF2B5EF4-FFF2-40B4-BE49-F238E27FC236}">
                <a16:creationId xmlns:a16="http://schemas.microsoft.com/office/drawing/2014/main" id="{4F7230F3-3B95-E18E-236C-84F8B8BE3735}"/>
              </a:ext>
            </a:extLst>
          </p:cNvPr>
          <p:cNvSpPr>
            <a:spLocks noGrp="1"/>
          </p:cNvSpPr>
          <p:nvPr>
            <p:ph idx="1"/>
          </p:nvPr>
        </p:nvSpPr>
        <p:spPr>
          <a:xfrm>
            <a:off x="669553" y="1665743"/>
            <a:ext cx="10863634" cy="4427081"/>
          </a:xfrm>
        </p:spPr>
        <p:txBody>
          <a:bodyPr>
            <a:noAutofit/>
          </a:bodyPr>
          <a:lstStyle/>
          <a:p>
            <a:pPr>
              <a:buFont typeface="Wingdings" panose="05000000000000000000" pitchFamily="2" charset="2"/>
              <a:buChar char="§"/>
            </a:pPr>
            <a:r>
              <a:rPr lang="en-US" sz="2400" b="1" dirty="0">
                <a:solidFill>
                  <a:schemeClr val="tx1"/>
                </a:solidFill>
                <a:latin typeface="+mn-lt"/>
              </a:rPr>
              <a:t>Number-token example: </a:t>
            </a:r>
            <a:r>
              <a:rPr lang="en-US" sz="2400" i="1" dirty="0">
                <a:solidFill>
                  <a:schemeClr val="tx1"/>
                </a:solidFill>
                <a:latin typeface="+mj-lt"/>
              </a:rPr>
              <a:t>123</a:t>
            </a:r>
          </a:p>
          <a:p>
            <a:pPr lvl="1"/>
            <a:r>
              <a:rPr lang="en-US" sz="2000" dirty="0">
                <a:solidFill>
                  <a:schemeClr val="tx1"/>
                </a:solidFill>
              </a:rPr>
              <a:t>Represents a specific quantity</a:t>
            </a:r>
          </a:p>
          <a:p>
            <a:pPr lvl="1"/>
            <a:r>
              <a:rPr lang="en-US" sz="2000" dirty="0">
                <a:solidFill>
                  <a:schemeClr val="tx1"/>
                </a:solidFill>
              </a:rPr>
              <a:t>Fits counting sequences (1-10) &amp; </a:t>
            </a:r>
            <a:r>
              <a:rPr lang="en-US" sz="2000" dirty="0" err="1">
                <a:solidFill>
                  <a:schemeClr val="tx1"/>
                </a:solidFill>
              </a:rPr>
              <a:t>maths</a:t>
            </a:r>
            <a:r>
              <a:rPr lang="en-US" sz="2000" dirty="0">
                <a:solidFill>
                  <a:schemeClr val="tx1"/>
                </a:solidFill>
              </a:rPr>
              <a:t> rules</a:t>
            </a:r>
          </a:p>
          <a:p>
            <a:pPr lvl="1"/>
            <a:r>
              <a:rPr lang="en-US" sz="2000" dirty="0">
                <a:solidFill>
                  <a:schemeClr val="tx1"/>
                </a:solidFill>
              </a:rPr>
              <a:t>Seen in dates, IDs, measurements</a:t>
            </a:r>
          </a:p>
          <a:p>
            <a:pPr marL="457200" lvl="1" indent="0">
              <a:buNone/>
            </a:pPr>
            <a:endParaRPr lang="en-US" sz="2400" dirty="0">
              <a:solidFill>
                <a:schemeClr val="tx1"/>
              </a:solidFill>
              <a:latin typeface="+mn-lt"/>
            </a:endParaRPr>
          </a:p>
          <a:p>
            <a:pPr>
              <a:buFont typeface="Wingdings" panose="05000000000000000000" pitchFamily="2" charset="2"/>
              <a:buChar char="§"/>
            </a:pPr>
            <a:r>
              <a:rPr lang="en-US" sz="2400" b="1" dirty="0">
                <a:solidFill>
                  <a:schemeClr val="tx1"/>
                </a:solidFill>
                <a:latin typeface="+mn-lt"/>
              </a:rPr>
              <a:t>Emoji-token example: </a:t>
            </a:r>
            <a:r>
              <a:rPr lang="en-US" sz="2400" i="1" dirty="0">
                <a:solidFill>
                  <a:schemeClr val="tx1"/>
                </a:solidFill>
                <a:latin typeface="+mj-lt"/>
              </a:rPr>
              <a:t>🌲</a:t>
            </a:r>
          </a:p>
          <a:p>
            <a:pPr lvl="1"/>
            <a:r>
              <a:rPr lang="en-US" sz="2000" dirty="0" err="1">
                <a:solidFill>
                  <a:schemeClr val="tx1"/>
                </a:solidFill>
              </a:rPr>
              <a:t>Categorised</a:t>
            </a:r>
            <a:r>
              <a:rPr lang="en-US" sz="2000" dirty="0">
                <a:solidFill>
                  <a:schemeClr val="tx1"/>
                </a:solidFill>
              </a:rPr>
              <a:t> as an emoji</a:t>
            </a:r>
          </a:p>
          <a:p>
            <a:pPr lvl="1"/>
            <a:r>
              <a:rPr lang="en-US" sz="2000" dirty="0" err="1">
                <a:solidFill>
                  <a:schemeClr val="tx1"/>
                </a:solidFill>
              </a:rPr>
              <a:t>Symbolises</a:t>
            </a:r>
            <a:r>
              <a:rPr lang="en-US" sz="2000" dirty="0">
                <a:solidFill>
                  <a:schemeClr val="tx1"/>
                </a:solidFill>
              </a:rPr>
              <a:t> tree / forest / nature</a:t>
            </a:r>
          </a:p>
          <a:p>
            <a:pPr lvl="1"/>
            <a:r>
              <a:rPr lang="en-US" sz="2000" dirty="0">
                <a:solidFill>
                  <a:schemeClr val="tx1"/>
                </a:solidFill>
              </a:rPr>
              <a:t>Adds tone or context in informal text</a:t>
            </a:r>
            <a:endParaRPr lang="en-US" sz="2000" dirty="0">
              <a:solidFill>
                <a:schemeClr val="tx1"/>
              </a:solidFill>
              <a:latin typeface="+mn-lt"/>
            </a:endParaRPr>
          </a:p>
        </p:txBody>
      </p:sp>
    </p:spTree>
    <p:extLst>
      <p:ext uri="{BB962C8B-B14F-4D97-AF65-F5344CB8AC3E}">
        <p14:creationId xmlns:p14="http://schemas.microsoft.com/office/powerpoint/2010/main" val="23094061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15865-EFD1-04ED-26FD-6ACE2B6A5F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51AE1-57B3-B4C1-B5D2-8CAB57935B68}"/>
              </a:ext>
            </a:extLst>
          </p:cNvPr>
          <p:cNvSpPr>
            <a:spLocks noGrp="1"/>
          </p:cNvSpPr>
          <p:nvPr>
            <p:ph type="title"/>
          </p:nvPr>
        </p:nvSpPr>
        <p:spPr>
          <a:xfrm>
            <a:off x="669552" y="594335"/>
            <a:ext cx="10863635" cy="639153"/>
          </a:xfrm>
        </p:spPr>
        <p:txBody>
          <a:bodyPr/>
          <a:lstStyle/>
          <a:p>
            <a:r>
              <a:rPr lang="en-US" dirty="0"/>
              <a:t>Cont..</a:t>
            </a:r>
            <a:endParaRPr lang="en-IN" dirty="0"/>
          </a:p>
        </p:txBody>
      </p:sp>
      <p:sp>
        <p:nvSpPr>
          <p:cNvPr id="3" name="Content Placeholder 2">
            <a:extLst>
              <a:ext uri="{FF2B5EF4-FFF2-40B4-BE49-F238E27FC236}">
                <a16:creationId xmlns:a16="http://schemas.microsoft.com/office/drawing/2014/main" id="{A7061C1F-8166-A446-C7E2-38CF4C5F5F52}"/>
              </a:ext>
            </a:extLst>
          </p:cNvPr>
          <p:cNvSpPr>
            <a:spLocks noGrp="1"/>
          </p:cNvSpPr>
          <p:nvPr>
            <p:ph idx="1"/>
          </p:nvPr>
        </p:nvSpPr>
        <p:spPr>
          <a:xfrm>
            <a:off x="669553" y="1665743"/>
            <a:ext cx="10863634" cy="4427081"/>
          </a:xfrm>
        </p:spPr>
        <p:txBody>
          <a:bodyPr>
            <a:noAutofit/>
          </a:bodyPr>
          <a:lstStyle/>
          <a:p>
            <a:pPr>
              <a:buFont typeface="Wingdings" panose="05000000000000000000" pitchFamily="2" charset="2"/>
              <a:buChar char="§"/>
            </a:pPr>
            <a:r>
              <a:rPr lang="en-US" sz="2400" b="1" dirty="0">
                <a:solidFill>
                  <a:schemeClr val="tx1"/>
                </a:solidFill>
                <a:latin typeface="+mn-lt"/>
              </a:rPr>
              <a:t>Sentence token: </a:t>
            </a:r>
            <a:r>
              <a:rPr lang="en-US" sz="2400" i="1" dirty="0">
                <a:solidFill>
                  <a:schemeClr val="tx1"/>
                </a:solidFill>
                <a:latin typeface="+mj-lt"/>
              </a:rPr>
              <a:t>“The sun rises in the east.”</a:t>
            </a:r>
          </a:p>
          <a:p>
            <a:pPr lvl="1"/>
            <a:r>
              <a:rPr lang="en-US" sz="2000" dirty="0">
                <a:solidFill>
                  <a:schemeClr val="tx1"/>
                </a:solidFill>
              </a:rPr>
              <a:t>States a daily natural fact</a:t>
            </a:r>
          </a:p>
          <a:p>
            <a:pPr lvl="1"/>
            <a:r>
              <a:rPr lang="en-US" sz="2000" dirty="0">
                <a:solidFill>
                  <a:schemeClr val="tx1"/>
                </a:solidFill>
              </a:rPr>
              <a:t>Subject + verb + prepositional phrase</a:t>
            </a:r>
          </a:p>
          <a:p>
            <a:pPr lvl="1"/>
            <a:r>
              <a:rPr lang="en-US" sz="2000" dirty="0">
                <a:solidFill>
                  <a:schemeClr val="tx1"/>
                </a:solidFill>
              </a:rPr>
              <a:t>Can be used literally or metaphorically</a:t>
            </a:r>
          </a:p>
          <a:p>
            <a:pPr marL="457200" lvl="1" indent="0">
              <a:buNone/>
            </a:pPr>
            <a:endParaRPr lang="en-US" sz="2400" dirty="0">
              <a:solidFill>
                <a:schemeClr val="tx1"/>
              </a:solidFill>
              <a:latin typeface="+mn-lt"/>
            </a:endParaRPr>
          </a:p>
          <a:p>
            <a:pPr>
              <a:buFont typeface="Wingdings" panose="05000000000000000000" pitchFamily="2" charset="2"/>
              <a:buChar char="§"/>
            </a:pPr>
            <a:r>
              <a:rPr lang="en-US" sz="2400" b="1" dirty="0">
                <a:solidFill>
                  <a:schemeClr val="tx1"/>
                </a:solidFill>
                <a:latin typeface="+mn-lt"/>
              </a:rPr>
              <a:t>Chinese-sentence token: </a:t>
            </a:r>
            <a:r>
              <a:rPr lang="ja-JP" altLang="en-US" sz="2000" i="1" dirty="0">
                <a:solidFill>
                  <a:schemeClr val="tx1"/>
                </a:solidFill>
                <a:latin typeface="+mj-lt"/>
              </a:rPr>
              <a:t>“我们在学人工智能” </a:t>
            </a:r>
            <a:r>
              <a:rPr lang="en-US" altLang="ja-JP" sz="2000" i="1" dirty="0">
                <a:solidFill>
                  <a:schemeClr val="tx1"/>
                </a:solidFill>
                <a:latin typeface="+mj-lt"/>
              </a:rPr>
              <a:t>(“</a:t>
            </a:r>
            <a:r>
              <a:rPr lang="en-US" sz="2000" i="1" dirty="0">
                <a:solidFill>
                  <a:schemeClr val="tx1"/>
                </a:solidFill>
                <a:latin typeface="+mj-lt"/>
              </a:rPr>
              <a:t>We are studying AI.”)</a:t>
            </a:r>
            <a:endParaRPr lang="en-US" sz="2400" i="1" dirty="0">
              <a:solidFill>
                <a:schemeClr val="tx1"/>
              </a:solidFill>
              <a:latin typeface="+mj-lt"/>
            </a:endParaRPr>
          </a:p>
          <a:p>
            <a:pPr lvl="1"/>
            <a:r>
              <a:rPr lang="en-US" sz="2000" dirty="0">
                <a:solidFill>
                  <a:schemeClr val="tx1"/>
                </a:solidFill>
              </a:rPr>
              <a:t>Chinese syntax &amp; tense</a:t>
            </a:r>
          </a:p>
          <a:p>
            <a:pPr lvl="1"/>
            <a:r>
              <a:rPr lang="en-US" sz="2000" dirty="0">
                <a:solidFill>
                  <a:schemeClr val="tx1"/>
                </a:solidFill>
              </a:rPr>
              <a:t>Describes an ongoing action</a:t>
            </a:r>
          </a:p>
          <a:p>
            <a:pPr lvl="1"/>
            <a:r>
              <a:rPr lang="en-US" sz="2000" dirty="0">
                <a:solidFill>
                  <a:schemeClr val="tx1"/>
                </a:solidFill>
              </a:rPr>
              <a:t>Returned when context asks what someone is doing</a:t>
            </a:r>
          </a:p>
        </p:txBody>
      </p:sp>
    </p:spTree>
    <p:extLst>
      <p:ext uri="{BB962C8B-B14F-4D97-AF65-F5344CB8AC3E}">
        <p14:creationId xmlns:p14="http://schemas.microsoft.com/office/powerpoint/2010/main" val="35004882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73B4F-CC56-D713-B907-37F14D8FB1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313E68-A825-9F08-1AE7-034421532A58}"/>
              </a:ext>
            </a:extLst>
          </p:cNvPr>
          <p:cNvSpPr>
            <a:spLocks noGrp="1"/>
          </p:cNvSpPr>
          <p:nvPr>
            <p:ph type="title"/>
          </p:nvPr>
        </p:nvSpPr>
        <p:spPr>
          <a:xfrm>
            <a:off x="669552" y="594335"/>
            <a:ext cx="10863635" cy="639153"/>
          </a:xfrm>
        </p:spPr>
        <p:txBody>
          <a:bodyPr/>
          <a:lstStyle/>
          <a:p>
            <a:r>
              <a:rPr lang="en-US" dirty="0"/>
              <a:t>Cont..</a:t>
            </a:r>
            <a:endParaRPr lang="en-IN" dirty="0"/>
          </a:p>
        </p:txBody>
      </p:sp>
      <p:sp>
        <p:nvSpPr>
          <p:cNvPr id="3" name="Content Placeholder 2">
            <a:extLst>
              <a:ext uri="{FF2B5EF4-FFF2-40B4-BE49-F238E27FC236}">
                <a16:creationId xmlns:a16="http://schemas.microsoft.com/office/drawing/2014/main" id="{AFEAC14A-34BC-51E8-D271-AC9886EFBC5D}"/>
              </a:ext>
            </a:extLst>
          </p:cNvPr>
          <p:cNvSpPr>
            <a:spLocks noGrp="1"/>
          </p:cNvSpPr>
          <p:nvPr>
            <p:ph idx="1"/>
          </p:nvPr>
        </p:nvSpPr>
        <p:spPr>
          <a:xfrm>
            <a:off x="669553" y="1665743"/>
            <a:ext cx="10863634" cy="4427081"/>
          </a:xfrm>
        </p:spPr>
        <p:txBody>
          <a:bodyPr>
            <a:noAutofit/>
          </a:bodyPr>
          <a:lstStyle/>
          <a:p>
            <a:pPr>
              <a:spcBef>
                <a:spcPts val="0"/>
              </a:spcBef>
              <a:buFont typeface="Wingdings" panose="05000000000000000000" pitchFamily="2" charset="2"/>
              <a:buChar char="§"/>
            </a:pPr>
            <a:r>
              <a:rPr lang="en-US" sz="2400" b="1" dirty="0">
                <a:solidFill>
                  <a:schemeClr val="tx1"/>
                </a:solidFill>
                <a:latin typeface="+mn-lt"/>
              </a:rPr>
              <a:t>Sentence token: </a:t>
            </a:r>
            <a:r>
              <a:rPr lang="en-US" sz="2400" i="1" dirty="0">
                <a:solidFill>
                  <a:schemeClr val="tx1"/>
                </a:solidFill>
                <a:latin typeface="+mj-lt"/>
              </a:rPr>
              <a:t>“The sun rises in the east.”</a:t>
            </a:r>
          </a:p>
          <a:p>
            <a:pPr lvl="1">
              <a:spcBef>
                <a:spcPts val="0"/>
              </a:spcBef>
            </a:pPr>
            <a:r>
              <a:rPr lang="en-US" sz="2000" dirty="0">
                <a:solidFill>
                  <a:schemeClr val="tx1"/>
                </a:solidFill>
              </a:rPr>
              <a:t>States a daily natural fact</a:t>
            </a:r>
          </a:p>
          <a:p>
            <a:pPr lvl="1">
              <a:spcBef>
                <a:spcPts val="0"/>
              </a:spcBef>
            </a:pPr>
            <a:r>
              <a:rPr lang="en-US" sz="2000" dirty="0">
                <a:solidFill>
                  <a:schemeClr val="tx1"/>
                </a:solidFill>
              </a:rPr>
              <a:t>Subject + verb + prepositional phrase</a:t>
            </a:r>
          </a:p>
          <a:p>
            <a:pPr lvl="1">
              <a:spcBef>
                <a:spcPts val="0"/>
              </a:spcBef>
            </a:pPr>
            <a:r>
              <a:rPr lang="en-US" sz="2000" dirty="0">
                <a:solidFill>
                  <a:schemeClr val="tx1"/>
                </a:solidFill>
              </a:rPr>
              <a:t>Can be used literally or metaphorically</a:t>
            </a:r>
          </a:p>
          <a:p>
            <a:pPr marL="457200" lvl="1" indent="0">
              <a:spcBef>
                <a:spcPts val="0"/>
              </a:spcBef>
              <a:buNone/>
            </a:pPr>
            <a:endParaRPr lang="en-US" dirty="0">
              <a:solidFill>
                <a:schemeClr val="tx1"/>
              </a:solidFill>
              <a:latin typeface="+mn-lt"/>
            </a:endParaRPr>
          </a:p>
          <a:p>
            <a:pPr>
              <a:spcBef>
                <a:spcPts val="0"/>
              </a:spcBef>
              <a:buFont typeface="Wingdings" panose="05000000000000000000" pitchFamily="2" charset="2"/>
              <a:buChar char="§"/>
            </a:pPr>
            <a:r>
              <a:rPr lang="en-US" sz="2400" b="1" dirty="0">
                <a:solidFill>
                  <a:schemeClr val="tx1"/>
                </a:solidFill>
                <a:latin typeface="+mn-lt"/>
              </a:rPr>
              <a:t>Chinese-sentence token: </a:t>
            </a:r>
            <a:r>
              <a:rPr lang="ja-JP" altLang="en-US" sz="2000" i="1" dirty="0">
                <a:solidFill>
                  <a:schemeClr val="tx1"/>
                </a:solidFill>
                <a:latin typeface="+mj-lt"/>
              </a:rPr>
              <a:t>“我们在学人工智能” </a:t>
            </a:r>
            <a:r>
              <a:rPr lang="en-US" altLang="ja-JP" sz="2000" i="1" dirty="0">
                <a:solidFill>
                  <a:schemeClr val="tx1"/>
                </a:solidFill>
                <a:latin typeface="+mj-lt"/>
              </a:rPr>
              <a:t>(“</a:t>
            </a:r>
            <a:r>
              <a:rPr lang="en-US" sz="2000" i="1" dirty="0">
                <a:solidFill>
                  <a:schemeClr val="tx1"/>
                </a:solidFill>
                <a:latin typeface="+mj-lt"/>
              </a:rPr>
              <a:t>We are studying AI.”)</a:t>
            </a:r>
            <a:endParaRPr lang="en-US" sz="2400" i="1" dirty="0">
              <a:solidFill>
                <a:schemeClr val="tx1"/>
              </a:solidFill>
              <a:latin typeface="+mj-lt"/>
            </a:endParaRPr>
          </a:p>
          <a:p>
            <a:pPr lvl="1">
              <a:spcBef>
                <a:spcPts val="0"/>
              </a:spcBef>
            </a:pPr>
            <a:r>
              <a:rPr lang="en-US" sz="2000" dirty="0">
                <a:solidFill>
                  <a:schemeClr val="tx1"/>
                </a:solidFill>
              </a:rPr>
              <a:t>Chinese syntax &amp; tense</a:t>
            </a:r>
          </a:p>
          <a:p>
            <a:pPr lvl="1">
              <a:spcBef>
                <a:spcPts val="0"/>
              </a:spcBef>
            </a:pPr>
            <a:r>
              <a:rPr lang="en-US" sz="2000" dirty="0">
                <a:solidFill>
                  <a:schemeClr val="tx1"/>
                </a:solidFill>
              </a:rPr>
              <a:t>Describes an ongoing action</a:t>
            </a:r>
          </a:p>
          <a:p>
            <a:pPr lvl="1">
              <a:spcBef>
                <a:spcPts val="0"/>
              </a:spcBef>
            </a:pPr>
            <a:r>
              <a:rPr lang="en-US" sz="2000" dirty="0">
                <a:solidFill>
                  <a:schemeClr val="tx1"/>
                </a:solidFill>
              </a:rPr>
              <a:t>Returned when context asks what someone is doing</a:t>
            </a:r>
          </a:p>
          <a:p>
            <a:pPr marL="457200" lvl="1" indent="0">
              <a:spcBef>
                <a:spcPts val="0"/>
              </a:spcBef>
              <a:buNone/>
            </a:pPr>
            <a:endParaRPr lang="en-US" sz="2000" dirty="0">
              <a:solidFill>
                <a:schemeClr val="tx1"/>
              </a:solidFill>
            </a:endParaRPr>
          </a:p>
          <a:p>
            <a:pPr>
              <a:spcBef>
                <a:spcPts val="0"/>
              </a:spcBef>
              <a:buFont typeface="Wingdings" panose="05000000000000000000" pitchFamily="2" charset="2"/>
              <a:buChar char="§"/>
            </a:pPr>
            <a:r>
              <a:rPr lang="en-US" sz="2400" b="1" dirty="0">
                <a:solidFill>
                  <a:schemeClr val="tx1"/>
                </a:solidFill>
                <a:latin typeface="+mn-lt"/>
              </a:rPr>
              <a:t>Arbitrary-string token: </a:t>
            </a:r>
            <a:r>
              <a:rPr lang="en-IN" altLang="ja-JP" sz="2000" i="1" dirty="0">
                <a:solidFill>
                  <a:schemeClr val="tx1"/>
                </a:solidFill>
                <a:latin typeface="+mj-lt"/>
              </a:rPr>
              <a:t>A1B2$3]!FDC3!@#</a:t>
            </a:r>
            <a:endParaRPr lang="en-US" sz="2400" i="1" dirty="0">
              <a:solidFill>
                <a:schemeClr val="tx1"/>
              </a:solidFill>
              <a:latin typeface="+mj-lt"/>
            </a:endParaRPr>
          </a:p>
          <a:p>
            <a:pPr lvl="1">
              <a:spcBef>
                <a:spcPts val="0"/>
              </a:spcBef>
            </a:pPr>
            <a:r>
              <a:rPr lang="en-US" sz="2000" dirty="0">
                <a:solidFill>
                  <a:schemeClr val="tx1"/>
                </a:solidFill>
              </a:rPr>
              <a:t>Mixed letters, numbers, symbols</a:t>
            </a:r>
          </a:p>
          <a:p>
            <a:pPr lvl="1">
              <a:spcBef>
                <a:spcPts val="0"/>
              </a:spcBef>
            </a:pPr>
            <a:r>
              <a:rPr lang="en-US" sz="2000" dirty="0">
                <a:solidFill>
                  <a:schemeClr val="tx1"/>
                </a:solidFill>
              </a:rPr>
              <a:t>Rare in normal prose; may be a code or password</a:t>
            </a:r>
          </a:p>
          <a:p>
            <a:pPr lvl="1">
              <a:spcBef>
                <a:spcPts val="0"/>
              </a:spcBef>
            </a:pPr>
            <a:r>
              <a:rPr lang="en-US" sz="2000" dirty="0">
                <a:solidFill>
                  <a:schemeClr val="tx1"/>
                </a:solidFill>
              </a:rPr>
              <a:t>Low semantic meaning → shows tokenizers must still map everything</a:t>
            </a:r>
          </a:p>
        </p:txBody>
      </p:sp>
    </p:spTree>
    <p:extLst>
      <p:ext uri="{BB962C8B-B14F-4D97-AF65-F5344CB8AC3E}">
        <p14:creationId xmlns:p14="http://schemas.microsoft.com/office/powerpoint/2010/main" val="8342400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AEAE-3829-D725-69E8-D272F5AB7E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66260D-FD78-BACD-133B-63DA4C2E96C4}"/>
              </a:ext>
            </a:extLst>
          </p:cNvPr>
          <p:cNvSpPr>
            <a:spLocks noGrp="1"/>
          </p:cNvSpPr>
          <p:nvPr>
            <p:ph type="title"/>
          </p:nvPr>
        </p:nvSpPr>
        <p:spPr>
          <a:xfrm>
            <a:off x="669552" y="594335"/>
            <a:ext cx="10863635" cy="639153"/>
          </a:xfrm>
        </p:spPr>
        <p:txBody>
          <a:bodyPr/>
          <a:lstStyle/>
          <a:p>
            <a:r>
              <a:rPr lang="en-US" dirty="0"/>
              <a:t>Choosing Token Granularity</a:t>
            </a:r>
            <a:endParaRPr lang="en-IN" dirty="0"/>
          </a:p>
        </p:txBody>
      </p:sp>
      <p:sp>
        <p:nvSpPr>
          <p:cNvPr id="3" name="Content Placeholder 2">
            <a:extLst>
              <a:ext uri="{FF2B5EF4-FFF2-40B4-BE49-F238E27FC236}">
                <a16:creationId xmlns:a16="http://schemas.microsoft.com/office/drawing/2014/main" id="{78EF893F-8B8F-FEA0-CC3C-5C2CDAD44807}"/>
              </a:ext>
            </a:extLst>
          </p:cNvPr>
          <p:cNvSpPr>
            <a:spLocks noGrp="1"/>
          </p:cNvSpPr>
          <p:nvPr>
            <p:ph idx="1"/>
          </p:nvPr>
        </p:nvSpPr>
        <p:spPr>
          <a:xfrm>
            <a:off x="669553" y="1665743"/>
            <a:ext cx="10863634" cy="4427081"/>
          </a:xfrm>
        </p:spPr>
        <p:txBody>
          <a:bodyPr>
            <a:noAutofit/>
          </a:bodyPr>
          <a:lstStyle/>
          <a:p>
            <a:pPr marL="0" indent="0">
              <a:spcBef>
                <a:spcPts val="600"/>
              </a:spcBef>
              <a:spcAft>
                <a:spcPts val="600"/>
              </a:spcAft>
              <a:buNone/>
            </a:pPr>
            <a:r>
              <a:rPr lang="en-US" sz="2400" dirty="0">
                <a:solidFill>
                  <a:schemeClr val="tx1"/>
                </a:solidFill>
                <a:latin typeface="+mn-lt"/>
              </a:rPr>
              <a:t>The question here is, which way of tokenizing is best:</a:t>
            </a:r>
          </a:p>
          <a:p>
            <a:pPr marL="0" indent="0">
              <a:spcBef>
                <a:spcPts val="600"/>
              </a:spcBef>
              <a:spcAft>
                <a:spcPts val="600"/>
              </a:spcAft>
              <a:buNone/>
            </a:pPr>
            <a:r>
              <a:rPr lang="en-US" sz="2400" b="1" dirty="0">
                <a:solidFill>
                  <a:schemeClr val="tx1"/>
                </a:solidFill>
                <a:latin typeface="+mn-lt"/>
              </a:rPr>
              <a:t>Prompt:</a:t>
            </a:r>
            <a:r>
              <a:rPr lang="en-US" sz="2400" dirty="0">
                <a:solidFill>
                  <a:schemeClr val="tx1"/>
                </a:solidFill>
                <a:latin typeface="+mn-lt"/>
              </a:rPr>
              <a:t> </a:t>
            </a:r>
            <a:r>
              <a:rPr lang="en-US" sz="2400" i="1" dirty="0">
                <a:solidFill>
                  <a:schemeClr val="tx1"/>
                </a:solidFill>
                <a:latin typeface="+mj-lt"/>
              </a:rPr>
              <a:t>“The cat is sleeping”</a:t>
            </a:r>
          </a:p>
          <a:p>
            <a:pPr marL="0" indent="0">
              <a:spcBef>
                <a:spcPts val="600"/>
              </a:spcBef>
              <a:spcAft>
                <a:spcPts val="600"/>
              </a:spcAft>
              <a:buNone/>
            </a:pPr>
            <a:endParaRPr lang="en-US" sz="2400" dirty="0">
              <a:solidFill>
                <a:schemeClr val="tx1"/>
              </a:solidFill>
              <a:latin typeface="+mn-lt"/>
            </a:endParaRPr>
          </a:p>
          <a:p>
            <a:pPr marL="0" indent="0">
              <a:spcBef>
                <a:spcPts val="600"/>
              </a:spcBef>
              <a:spcAft>
                <a:spcPts val="600"/>
              </a:spcAft>
              <a:buNone/>
            </a:pPr>
            <a:endParaRPr lang="en-US" sz="2400" dirty="0">
              <a:solidFill>
                <a:schemeClr val="tx1"/>
              </a:solidFill>
              <a:latin typeface="+mn-lt"/>
            </a:endParaRPr>
          </a:p>
          <a:p>
            <a:pPr marL="0" indent="0">
              <a:spcBef>
                <a:spcPts val="600"/>
              </a:spcBef>
              <a:spcAft>
                <a:spcPts val="600"/>
              </a:spcAft>
              <a:buNone/>
            </a:pPr>
            <a:endParaRPr lang="en-US" sz="2400" dirty="0">
              <a:solidFill>
                <a:schemeClr val="tx1"/>
              </a:solidFill>
              <a:latin typeface="+mn-lt"/>
            </a:endParaRPr>
          </a:p>
          <a:p>
            <a:pPr marL="0" indent="0">
              <a:spcBef>
                <a:spcPts val="600"/>
              </a:spcBef>
              <a:spcAft>
                <a:spcPts val="600"/>
              </a:spcAft>
              <a:buNone/>
            </a:pPr>
            <a:endParaRPr lang="en-US" sz="2400" dirty="0">
              <a:solidFill>
                <a:schemeClr val="tx1"/>
              </a:solidFill>
              <a:latin typeface="+mn-lt"/>
            </a:endParaRPr>
          </a:p>
          <a:p>
            <a:pPr marL="0" indent="0">
              <a:spcBef>
                <a:spcPts val="600"/>
              </a:spcBef>
              <a:spcAft>
                <a:spcPts val="600"/>
              </a:spcAft>
              <a:buNone/>
            </a:pPr>
            <a:r>
              <a:rPr lang="en-US" sz="2000" b="1" dirty="0">
                <a:solidFill>
                  <a:schemeClr val="tx1"/>
                </a:solidFill>
                <a:latin typeface="+mn-lt"/>
              </a:rPr>
              <a:t>Take-away: </a:t>
            </a:r>
            <a:r>
              <a:rPr lang="en-US" sz="2000" dirty="0">
                <a:solidFill>
                  <a:schemeClr val="tx1"/>
                </a:solidFill>
                <a:latin typeface="+mn-lt"/>
              </a:rPr>
              <a:t>Modern LLMs use sub-word tokenizers (BPE/</a:t>
            </a:r>
            <a:r>
              <a:rPr lang="en-US" sz="2000" dirty="0" err="1">
                <a:solidFill>
                  <a:schemeClr val="tx1"/>
                </a:solidFill>
                <a:latin typeface="+mn-lt"/>
              </a:rPr>
              <a:t>WordPiece</a:t>
            </a:r>
            <a:r>
              <a:rPr lang="en-US" sz="2000" dirty="0">
                <a:solidFill>
                  <a:schemeClr val="tx1"/>
                </a:solidFill>
                <a:latin typeface="+mn-lt"/>
              </a:rPr>
              <a:t>) that strike a sweet spot between sequence length and semantic fidelity.</a:t>
            </a:r>
          </a:p>
        </p:txBody>
      </p:sp>
      <p:graphicFrame>
        <p:nvGraphicFramePr>
          <p:cNvPr id="5" name="Table 4">
            <a:extLst>
              <a:ext uri="{FF2B5EF4-FFF2-40B4-BE49-F238E27FC236}">
                <a16:creationId xmlns:a16="http://schemas.microsoft.com/office/drawing/2014/main" id="{6608E84A-80BD-8FC5-2D4C-3807344931F3}"/>
              </a:ext>
            </a:extLst>
          </p:cNvPr>
          <p:cNvGraphicFramePr>
            <a:graphicFrameLocks noGrp="1"/>
          </p:cNvGraphicFramePr>
          <p:nvPr>
            <p:extLst>
              <p:ext uri="{D42A27DB-BD31-4B8C-83A1-F6EECF244321}">
                <p14:modId xmlns:p14="http://schemas.microsoft.com/office/powerpoint/2010/main" val="3667567698"/>
              </p:ext>
            </p:extLst>
          </p:nvPr>
        </p:nvGraphicFramePr>
        <p:xfrm>
          <a:off x="669552" y="2689146"/>
          <a:ext cx="10863636" cy="1463040"/>
        </p:xfrm>
        <a:graphic>
          <a:graphicData uri="http://schemas.openxmlformats.org/drawingml/2006/table">
            <a:tbl>
              <a:tblPr/>
              <a:tblGrid>
                <a:gridCol w="5431818">
                  <a:extLst>
                    <a:ext uri="{9D8B030D-6E8A-4147-A177-3AD203B41FA5}">
                      <a16:colId xmlns:a16="http://schemas.microsoft.com/office/drawing/2014/main" val="2746920433"/>
                    </a:ext>
                  </a:extLst>
                </a:gridCol>
                <a:gridCol w="5431818">
                  <a:extLst>
                    <a:ext uri="{9D8B030D-6E8A-4147-A177-3AD203B41FA5}">
                      <a16:colId xmlns:a16="http://schemas.microsoft.com/office/drawing/2014/main" val="3317559999"/>
                    </a:ext>
                  </a:extLst>
                </a:gridCol>
              </a:tblGrid>
              <a:tr h="0">
                <a:tc>
                  <a:txBody>
                    <a:bodyPr/>
                    <a:lstStyle/>
                    <a:p>
                      <a:r>
                        <a:rPr lang="en-IN" dirty="0"/>
                        <a:t>Variant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dirty="0"/>
                        <a:t>Token sequence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316494760"/>
                  </a:ext>
                </a:extLst>
              </a:tr>
              <a:tr h="0">
                <a:tc>
                  <a:txBody>
                    <a:bodyPr/>
                    <a:lstStyle/>
                    <a:p>
                      <a:r>
                        <a:rPr lang="en-IN" b="1"/>
                        <a:t>Sentence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The cat is sleeping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5850404"/>
                  </a:ext>
                </a:extLst>
              </a:tr>
              <a:tr h="0">
                <a:tc>
                  <a:txBody>
                    <a:bodyPr/>
                    <a:lstStyle/>
                    <a:p>
                      <a:r>
                        <a:rPr lang="en-IN" b="1"/>
                        <a:t>Word</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The, cat, is, sleeping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7744585"/>
                  </a:ext>
                </a:extLst>
              </a:tr>
              <a:tr h="0">
                <a:tc>
                  <a:txBody>
                    <a:bodyPr/>
                    <a:lstStyle/>
                    <a:p>
                      <a:r>
                        <a:rPr lang="en-IN" b="1"/>
                        <a:t>Character</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pt-BR" dirty="0"/>
                        <a:t>T, h, e, , c, a, 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1022330"/>
                  </a:ext>
                </a:extLst>
              </a:tr>
            </a:tbl>
          </a:graphicData>
        </a:graphic>
      </p:graphicFrame>
    </p:spTree>
    <p:extLst>
      <p:ext uri="{BB962C8B-B14F-4D97-AF65-F5344CB8AC3E}">
        <p14:creationId xmlns:p14="http://schemas.microsoft.com/office/powerpoint/2010/main" val="11636005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214B8-A5A4-B536-2829-13E32321B9F8}"/>
              </a:ext>
            </a:extLst>
          </p:cNvPr>
          <p:cNvSpPr>
            <a:spLocks noGrp="1"/>
          </p:cNvSpPr>
          <p:nvPr>
            <p:ph type="title"/>
          </p:nvPr>
        </p:nvSpPr>
        <p:spPr/>
        <p:txBody>
          <a:bodyPr/>
          <a:lstStyle/>
          <a:p>
            <a:r>
              <a:rPr lang="en-US" dirty="0"/>
              <a:t>Token Compute Cost</a:t>
            </a:r>
            <a:endParaRPr lang="en-IN" dirty="0"/>
          </a:p>
        </p:txBody>
      </p:sp>
      <p:sp>
        <p:nvSpPr>
          <p:cNvPr id="3" name="Content Placeholder 2">
            <a:extLst>
              <a:ext uri="{FF2B5EF4-FFF2-40B4-BE49-F238E27FC236}">
                <a16:creationId xmlns:a16="http://schemas.microsoft.com/office/drawing/2014/main" id="{1FB1A721-4724-D63E-2DBE-10D9EC3F04F8}"/>
              </a:ext>
            </a:extLst>
          </p:cNvPr>
          <p:cNvSpPr>
            <a:spLocks noGrp="1"/>
          </p:cNvSpPr>
          <p:nvPr>
            <p:ph idx="1"/>
          </p:nvPr>
        </p:nvSpPr>
        <p:spPr>
          <a:xfrm>
            <a:off x="678883" y="1675075"/>
            <a:ext cx="10863069" cy="4417750"/>
          </a:xfrm>
        </p:spPr>
        <p:txBody>
          <a:bodyPr>
            <a:normAutofit/>
          </a:bodyPr>
          <a:lstStyle/>
          <a:p>
            <a:pPr marL="0" indent="0">
              <a:buNone/>
            </a:pPr>
            <a:r>
              <a:rPr lang="en-US" sz="2400" b="1" dirty="0">
                <a:solidFill>
                  <a:schemeClr val="tx1"/>
                </a:solidFill>
              </a:rPr>
              <a:t>Key principle</a:t>
            </a:r>
            <a:r>
              <a:rPr lang="en-US" sz="2400" dirty="0">
                <a:solidFill>
                  <a:schemeClr val="tx1"/>
                </a:solidFill>
              </a:rPr>
              <a:t>: every token—costs the same amount of compute.</a:t>
            </a:r>
          </a:p>
          <a:p>
            <a:pPr marL="0" indent="0">
              <a:buNone/>
            </a:pPr>
            <a:endParaRPr lang="en-US" sz="2400" dirty="0">
              <a:solidFill>
                <a:schemeClr val="tx1"/>
              </a:solidFill>
            </a:endParaRPr>
          </a:p>
          <a:p>
            <a:pPr marL="0" indent="0">
              <a:buNone/>
            </a:pPr>
            <a:endParaRPr lang="en-US" sz="2400" dirty="0">
              <a:solidFill>
                <a:schemeClr val="tx1"/>
              </a:solidFill>
            </a:endParaRPr>
          </a:p>
          <a:p>
            <a:pPr marL="0" indent="0">
              <a:buNone/>
            </a:pPr>
            <a:endParaRPr lang="en-US" sz="2400" dirty="0">
              <a:solidFill>
                <a:schemeClr val="tx1"/>
              </a:solidFill>
            </a:endParaRPr>
          </a:p>
          <a:p>
            <a:pPr marL="0" indent="0">
              <a:buNone/>
            </a:pPr>
            <a:endParaRPr lang="en-US" sz="2400" dirty="0">
              <a:solidFill>
                <a:schemeClr val="tx1"/>
              </a:solidFill>
            </a:endParaRPr>
          </a:p>
          <a:p>
            <a:pPr marL="0" indent="0">
              <a:buNone/>
            </a:pPr>
            <a:endParaRPr lang="en-US" sz="2400" dirty="0">
              <a:solidFill>
                <a:schemeClr val="tx1"/>
              </a:solidFill>
            </a:endParaRPr>
          </a:p>
          <a:p>
            <a:pPr marL="0" indent="0">
              <a:buNone/>
            </a:pPr>
            <a:endParaRPr lang="en-US" sz="2400" dirty="0">
              <a:solidFill>
                <a:schemeClr val="tx1"/>
              </a:solidFill>
            </a:endParaRPr>
          </a:p>
          <a:p>
            <a:pPr marL="0" indent="0">
              <a:buNone/>
            </a:pPr>
            <a:r>
              <a:rPr lang="en-US" sz="2400" b="1" i="1" dirty="0">
                <a:solidFill>
                  <a:schemeClr val="tx1"/>
                </a:solidFill>
              </a:rPr>
              <a:t>Take-away: </a:t>
            </a:r>
            <a:r>
              <a:rPr lang="en-US" sz="2400" i="1" dirty="0">
                <a:solidFill>
                  <a:schemeClr val="tx1"/>
                </a:solidFill>
              </a:rPr>
              <a:t>shorter sequences → less GPU time. That’s why token design matters.</a:t>
            </a:r>
            <a:endParaRPr lang="en-IN" sz="2400" i="1" dirty="0">
              <a:solidFill>
                <a:schemeClr val="tx1"/>
              </a:solidFill>
            </a:endParaRPr>
          </a:p>
        </p:txBody>
      </p:sp>
      <p:graphicFrame>
        <p:nvGraphicFramePr>
          <p:cNvPr id="6" name="Table 5">
            <a:extLst>
              <a:ext uri="{FF2B5EF4-FFF2-40B4-BE49-F238E27FC236}">
                <a16:creationId xmlns:a16="http://schemas.microsoft.com/office/drawing/2014/main" id="{1A3200DA-3B52-7283-6EDF-370705F241D5}"/>
              </a:ext>
            </a:extLst>
          </p:cNvPr>
          <p:cNvGraphicFramePr>
            <a:graphicFrameLocks noGrp="1"/>
          </p:cNvGraphicFramePr>
          <p:nvPr>
            <p:extLst>
              <p:ext uri="{D42A27DB-BD31-4B8C-83A1-F6EECF244321}">
                <p14:modId xmlns:p14="http://schemas.microsoft.com/office/powerpoint/2010/main" val="1274704151"/>
              </p:ext>
            </p:extLst>
          </p:nvPr>
        </p:nvGraphicFramePr>
        <p:xfrm>
          <a:off x="670119" y="3081037"/>
          <a:ext cx="10863069" cy="1463040"/>
        </p:xfrm>
        <a:graphic>
          <a:graphicData uri="http://schemas.openxmlformats.org/drawingml/2006/table">
            <a:tbl>
              <a:tblPr/>
              <a:tblGrid>
                <a:gridCol w="3621023">
                  <a:extLst>
                    <a:ext uri="{9D8B030D-6E8A-4147-A177-3AD203B41FA5}">
                      <a16:colId xmlns:a16="http://schemas.microsoft.com/office/drawing/2014/main" val="1623763217"/>
                    </a:ext>
                  </a:extLst>
                </a:gridCol>
                <a:gridCol w="3621023">
                  <a:extLst>
                    <a:ext uri="{9D8B030D-6E8A-4147-A177-3AD203B41FA5}">
                      <a16:colId xmlns:a16="http://schemas.microsoft.com/office/drawing/2014/main" val="3943946653"/>
                    </a:ext>
                  </a:extLst>
                </a:gridCol>
                <a:gridCol w="3621023">
                  <a:extLst>
                    <a:ext uri="{9D8B030D-6E8A-4147-A177-3AD203B41FA5}">
                      <a16:colId xmlns:a16="http://schemas.microsoft.com/office/drawing/2014/main" val="789375040"/>
                    </a:ext>
                  </a:extLst>
                </a:gridCol>
              </a:tblGrid>
              <a:tr h="0">
                <a:tc>
                  <a:txBody>
                    <a:bodyPr/>
                    <a:lstStyle/>
                    <a:p>
                      <a:r>
                        <a:rPr lang="en-IN" dirty="0"/>
                        <a:t>Tokenizer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a:t>Tokens produced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dirty="0"/>
                        <a:t>Relative compute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2381335162"/>
                  </a:ext>
                </a:extLst>
              </a:tr>
              <a:tr h="0">
                <a:tc>
                  <a:txBody>
                    <a:bodyPr/>
                    <a:lstStyle/>
                    <a:p>
                      <a:r>
                        <a:rPr lang="en-IN"/>
                        <a:t>Sentence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310760"/>
                  </a:ext>
                </a:extLst>
              </a:tr>
              <a:tr h="0">
                <a:tc>
                  <a:txBody>
                    <a:bodyPr/>
                    <a:lstStyle/>
                    <a:p>
                      <a:r>
                        <a:rPr lang="en-IN" dirty="0"/>
                        <a:t>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9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665534"/>
                  </a:ext>
                </a:extLst>
              </a:tr>
              <a:tr h="0">
                <a:tc>
                  <a:txBody>
                    <a:bodyPr/>
                    <a:lstStyle/>
                    <a:p>
                      <a:r>
                        <a:rPr lang="en-IN" dirty="0"/>
                        <a:t>Letter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44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32021994"/>
                  </a:ext>
                </a:extLst>
              </a:tr>
            </a:tbl>
          </a:graphicData>
        </a:graphic>
      </p:graphicFrame>
    </p:spTree>
    <p:extLst>
      <p:ext uri="{BB962C8B-B14F-4D97-AF65-F5344CB8AC3E}">
        <p14:creationId xmlns:p14="http://schemas.microsoft.com/office/powerpoint/2010/main" val="2693868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EC42B-9118-C229-AA54-DB05515F8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EB01CC-DC1D-F27B-2476-7A0DFDABFBF9}"/>
              </a:ext>
            </a:extLst>
          </p:cNvPr>
          <p:cNvSpPr>
            <a:spLocks noGrp="1"/>
          </p:cNvSpPr>
          <p:nvPr>
            <p:ph type="title"/>
          </p:nvPr>
        </p:nvSpPr>
        <p:spPr>
          <a:xfrm>
            <a:off x="669552" y="594335"/>
            <a:ext cx="10863635" cy="639153"/>
          </a:xfrm>
        </p:spPr>
        <p:txBody>
          <a:bodyPr/>
          <a:lstStyle/>
          <a:p>
            <a:r>
              <a:rPr lang="en-US" dirty="0"/>
              <a:t>Word-Level Tokenizers Don’t Scale</a:t>
            </a:r>
            <a:endParaRPr lang="en-IN" dirty="0"/>
          </a:p>
        </p:txBody>
      </p:sp>
      <p:sp>
        <p:nvSpPr>
          <p:cNvPr id="3" name="Content Placeholder 2">
            <a:extLst>
              <a:ext uri="{FF2B5EF4-FFF2-40B4-BE49-F238E27FC236}">
                <a16:creationId xmlns:a16="http://schemas.microsoft.com/office/drawing/2014/main" id="{E3D7A3EB-BE08-48A9-59CF-448039344D1F}"/>
              </a:ext>
            </a:extLst>
          </p:cNvPr>
          <p:cNvSpPr>
            <a:spLocks noGrp="1"/>
          </p:cNvSpPr>
          <p:nvPr>
            <p:ph idx="1"/>
          </p:nvPr>
        </p:nvSpPr>
        <p:spPr>
          <a:xfrm>
            <a:off x="669553" y="1665743"/>
            <a:ext cx="10863634" cy="4427081"/>
          </a:xfrm>
        </p:spPr>
        <p:txBody>
          <a:bodyPr>
            <a:noAutofit/>
          </a:bodyPr>
          <a:lstStyle/>
          <a:p>
            <a:pPr>
              <a:spcBef>
                <a:spcPts val="600"/>
              </a:spcBef>
              <a:spcAft>
                <a:spcPts val="600"/>
              </a:spcAft>
            </a:pPr>
            <a:r>
              <a:rPr lang="en-US" sz="2400" dirty="0">
                <a:solidFill>
                  <a:schemeClr val="tx1"/>
                </a:solidFill>
                <a:latin typeface="+mn-lt"/>
              </a:rPr>
              <a:t>Massive vocabularies – every form of every word (run, runs, running) inflates the compute-heavy probability table.</a:t>
            </a:r>
          </a:p>
          <a:p>
            <a:pPr>
              <a:spcBef>
                <a:spcPts val="600"/>
              </a:spcBef>
              <a:spcAft>
                <a:spcPts val="600"/>
              </a:spcAft>
            </a:pPr>
            <a:r>
              <a:rPr lang="en-US" sz="2400" dirty="0">
                <a:solidFill>
                  <a:schemeClr val="tx1"/>
                </a:solidFill>
                <a:latin typeface="+mn-lt"/>
              </a:rPr>
              <a:t>Missing word = </a:t>
            </a:r>
            <a:r>
              <a:rPr lang="en-US" sz="2400" b="1" dirty="0">
                <a:solidFill>
                  <a:schemeClr val="tx1"/>
                </a:solidFill>
                <a:latin typeface="+mn-lt"/>
              </a:rPr>
              <a:t>OOV</a:t>
            </a:r>
            <a:r>
              <a:rPr lang="en-US" sz="2400" dirty="0">
                <a:solidFill>
                  <a:schemeClr val="tx1"/>
                </a:solidFill>
                <a:latin typeface="+mn-lt"/>
              </a:rPr>
              <a:t> – if ‘</a:t>
            </a:r>
            <a:r>
              <a:rPr lang="en-US" sz="2400" i="1" dirty="0">
                <a:solidFill>
                  <a:schemeClr val="tx1"/>
                </a:solidFill>
                <a:latin typeface="+mj-lt"/>
              </a:rPr>
              <a:t>running</a:t>
            </a:r>
            <a:r>
              <a:rPr lang="en-US" sz="2400" dirty="0">
                <a:solidFill>
                  <a:schemeClr val="tx1"/>
                </a:solidFill>
                <a:latin typeface="+mn-lt"/>
              </a:rPr>
              <a:t>’ isn’t in the vocab, the model simply can’t learn it.</a:t>
            </a:r>
          </a:p>
          <a:p>
            <a:pPr>
              <a:spcBef>
                <a:spcPts val="600"/>
              </a:spcBef>
              <a:spcAft>
                <a:spcPts val="600"/>
              </a:spcAft>
            </a:pPr>
            <a:r>
              <a:rPr lang="en-US" sz="2400" dirty="0">
                <a:solidFill>
                  <a:schemeClr val="tx1"/>
                </a:solidFill>
                <a:latin typeface="+mn-lt"/>
              </a:rPr>
              <a:t>Typos become &lt;</a:t>
            </a:r>
            <a:r>
              <a:rPr lang="en-US" sz="2400" b="1" dirty="0">
                <a:solidFill>
                  <a:schemeClr val="tx1"/>
                </a:solidFill>
                <a:latin typeface="+mn-lt"/>
              </a:rPr>
              <a:t>UNK</a:t>
            </a:r>
            <a:r>
              <a:rPr lang="en-US" sz="2400" dirty="0">
                <a:solidFill>
                  <a:schemeClr val="tx1"/>
                </a:solidFill>
                <a:latin typeface="+mn-lt"/>
              </a:rPr>
              <a:t>&gt; – spell </a:t>
            </a:r>
            <a:r>
              <a:rPr lang="en-US" sz="2400" i="1" dirty="0" err="1">
                <a:solidFill>
                  <a:schemeClr val="tx1"/>
                </a:solidFill>
                <a:latin typeface="+mn-lt"/>
              </a:rPr>
              <a:t>avocdo</a:t>
            </a:r>
            <a:r>
              <a:rPr lang="en-US" sz="2400" dirty="0">
                <a:solidFill>
                  <a:schemeClr val="tx1"/>
                </a:solidFill>
                <a:latin typeface="+mn-lt"/>
              </a:rPr>
              <a:t> and the model replaces it with an “unknown” token.</a:t>
            </a:r>
          </a:p>
          <a:p>
            <a:pPr>
              <a:spcBef>
                <a:spcPts val="600"/>
              </a:spcBef>
              <a:spcAft>
                <a:spcPts val="600"/>
              </a:spcAft>
            </a:pPr>
            <a:r>
              <a:rPr lang="en-US" sz="2400" dirty="0">
                <a:solidFill>
                  <a:schemeClr val="tx1"/>
                </a:solidFill>
                <a:latin typeface="+mn-lt"/>
              </a:rPr>
              <a:t>Sparse statistics – most words appear too rarely to learn strong embeddings.</a:t>
            </a:r>
          </a:p>
          <a:p>
            <a:pPr>
              <a:spcBef>
                <a:spcPts val="600"/>
              </a:spcBef>
              <a:spcAft>
                <a:spcPts val="600"/>
              </a:spcAft>
            </a:pPr>
            <a:r>
              <a:rPr lang="en-US" sz="2400" dirty="0">
                <a:solidFill>
                  <a:schemeClr val="tx1"/>
                </a:solidFill>
                <a:latin typeface="+mn-lt"/>
              </a:rPr>
              <a:t>No compositionality – unlike letter/sub-word tokenizers, it can’t invent new words on the fly.</a:t>
            </a:r>
          </a:p>
          <a:p>
            <a:pPr marL="0" indent="0">
              <a:spcBef>
                <a:spcPts val="600"/>
              </a:spcBef>
              <a:spcAft>
                <a:spcPts val="600"/>
              </a:spcAft>
              <a:buNone/>
            </a:pPr>
            <a:r>
              <a:rPr lang="en-US" sz="2000" b="1" dirty="0">
                <a:solidFill>
                  <a:schemeClr val="tx1"/>
                </a:solidFill>
                <a:latin typeface="+mn-lt"/>
              </a:rPr>
              <a:t>|</a:t>
            </a:r>
            <a:r>
              <a:rPr lang="en-US" sz="2000" i="1" dirty="0">
                <a:solidFill>
                  <a:schemeClr val="tx1"/>
                </a:solidFill>
                <a:latin typeface="+mn-lt"/>
              </a:rPr>
              <a:t>    Sentence-level tokens amplify every one of these problems by orders of magnitude.</a:t>
            </a:r>
          </a:p>
        </p:txBody>
      </p:sp>
    </p:spTree>
    <p:extLst>
      <p:ext uri="{BB962C8B-B14F-4D97-AF65-F5344CB8AC3E}">
        <p14:creationId xmlns:p14="http://schemas.microsoft.com/office/powerpoint/2010/main" val="41287075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857BF-CBD8-D9B2-DF1B-0813E1D742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2D873-3150-722B-84F0-D8CF1AAA9E3A}"/>
              </a:ext>
            </a:extLst>
          </p:cNvPr>
          <p:cNvSpPr>
            <a:spLocks noGrp="1"/>
          </p:cNvSpPr>
          <p:nvPr>
            <p:ph type="title"/>
          </p:nvPr>
        </p:nvSpPr>
        <p:spPr>
          <a:xfrm>
            <a:off x="669552" y="594335"/>
            <a:ext cx="10863635" cy="639153"/>
          </a:xfrm>
        </p:spPr>
        <p:txBody>
          <a:bodyPr/>
          <a:lstStyle/>
          <a:p>
            <a:r>
              <a:rPr lang="en-US" dirty="0"/>
              <a:t>Sentence-Level Tokens &amp; What Comes Next</a:t>
            </a:r>
            <a:endParaRPr lang="en-IN" dirty="0"/>
          </a:p>
        </p:txBody>
      </p:sp>
      <p:sp>
        <p:nvSpPr>
          <p:cNvPr id="3" name="Content Placeholder 2">
            <a:extLst>
              <a:ext uri="{FF2B5EF4-FFF2-40B4-BE49-F238E27FC236}">
                <a16:creationId xmlns:a16="http://schemas.microsoft.com/office/drawing/2014/main" id="{86911658-5B83-AD8E-5EC8-8A13E5A646BC}"/>
              </a:ext>
            </a:extLst>
          </p:cNvPr>
          <p:cNvSpPr>
            <a:spLocks noGrp="1"/>
          </p:cNvSpPr>
          <p:nvPr>
            <p:ph idx="1"/>
          </p:nvPr>
        </p:nvSpPr>
        <p:spPr>
          <a:xfrm>
            <a:off x="669553" y="1665743"/>
            <a:ext cx="10863634" cy="4427081"/>
          </a:xfrm>
        </p:spPr>
        <p:txBody>
          <a:bodyPr>
            <a:noAutofit/>
          </a:bodyPr>
          <a:lstStyle/>
          <a:p>
            <a:pPr>
              <a:spcBef>
                <a:spcPts val="600"/>
              </a:spcBef>
              <a:spcAft>
                <a:spcPts val="600"/>
              </a:spcAft>
            </a:pPr>
            <a:r>
              <a:rPr lang="en-US" sz="2400" b="1" dirty="0">
                <a:solidFill>
                  <a:schemeClr val="tx1"/>
                </a:solidFill>
                <a:latin typeface="+mn-lt"/>
              </a:rPr>
              <a:t>Problems scale up </a:t>
            </a:r>
            <a:r>
              <a:rPr lang="en-US" sz="2400" dirty="0">
                <a:solidFill>
                  <a:schemeClr val="tx1"/>
                </a:solidFill>
                <a:latin typeface="+mn-lt"/>
              </a:rPr>
              <a:t>– all word-level drawbacks (huge vocab, OOV, sparse stats) are magnified when an entire sentence is a single token.</a:t>
            </a:r>
          </a:p>
          <a:p>
            <a:pPr>
              <a:spcBef>
                <a:spcPts val="600"/>
              </a:spcBef>
              <a:spcAft>
                <a:spcPts val="600"/>
              </a:spcAft>
            </a:pPr>
            <a:r>
              <a:rPr lang="en-US" sz="2400" b="1" dirty="0">
                <a:solidFill>
                  <a:schemeClr val="tx1"/>
                </a:solidFill>
                <a:latin typeface="+mn-lt"/>
              </a:rPr>
              <a:t>Today’s reality </a:t>
            </a:r>
            <a:r>
              <a:rPr lang="en-US" sz="2400" dirty="0">
                <a:solidFill>
                  <a:schemeClr val="tx1"/>
                </a:solidFill>
                <a:latin typeface="+mn-lt"/>
              </a:rPr>
              <a:t>– compute and memory make sentence tokens impractical for large-scale LLMs.</a:t>
            </a:r>
          </a:p>
          <a:p>
            <a:pPr>
              <a:spcBef>
                <a:spcPts val="600"/>
              </a:spcBef>
              <a:spcAft>
                <a:spcPts val="600"/>
              </a:spcAft>
            </a:pPr>
            <a:r>
              <a:rPr lang="en-US" sz="2400" b="1" dirty="0">
                <a:solidFill>
                  <a:schemeClr val="tx1"/>
                </a:solidFill>
                <a:latin typeface="+mn-lt"/>
              </a:rPr>
              <a:t>Fast-moving research </a:t>
            </a:r>
            <a:r>
              <a:rPr lang="en-US" sz="2400" dirty="0">
                <a:solidFill>
                  <a:schemeClr val="tx1"/>
                </a:solidFill>
                <a:latin typeface="+mn-lt"/>
              </a:rPr>
              <a:t>– breakthroughs could eventually change that; keep an eye on compressive attention &amp; neural codec approaches.</a:t>
            </a:r>
          </a:p>
          <a:p>
            <a:pPr>
              <a:spcBef>
                <a:spcPts val="600"/>
              </a:spcBef>
              <a:spcAft>
                <a:spcPts val="600"/>
              </a:spcAft>
            </a:pPr>
            <a:r>
              <a:rPr lang="en-US" sz="2400" b="1" dirty="0">
                <a:solidFill>
                  <a:schemeClr val="tx1"/>
                </a:solidFill>
                <a:latin typeface="+mn-lt"/>
              </a:rPr>
              <a:t>Design challenge </a:t>
            </a:r>
            <a:r>
              <a:rPr lang="en-US" sz="2400" dirty="0">
                <a:solidFill>
                  <a:schemeClr val="tx1"/>
                </a:solidFill>
                <a:latin typeface="+mn-lt"/>
              </a:rPr>
              <a:t>– can we enjoy the low vocab of letter tokens and the efficiency of word tokens?</a:t>
            </a:r>
          </a:p>
          <a:p>
            <a:pPr lvl="1">
              <a:spcBef>
                <a:spcPts val="600"/>
              </a:spcBef>
              <a:spcAft>
                <a:spcPts val="600"/>
              </a:spcAft>
            </a:pPr>
            <a:r>
              <a:rPr lang="en-US" sz="2000" b="1" i="1" dirty="0">
                <a:solidFill>
                  <a:schemeClr val="tx1"/>
                </a:solidFill>
                <a:latin typeface="+mn-lt"/>
              </a:rPr>
              <a:t>Hint</a:t>
            </a:r>
            <a:r>
              <a:rPr lang="en-US" sz="2000" i="1" dirty="0">
                <a:solidFill>
                  <a:schemeClr val="tx1"/>
                </a:solidFill>
                <a:latin typeface="+mn-lt"/>
              </a:rPr>
              <a:t>: sub-word schemes (BPE, </a:t>
            </a:r>
            <a:r>
              <a:rPr lang="en-US" sz="2000" i="1" dirty="0" err="1">
                <a:solidFill>
                  <a:schemeClr val="tx1"/>
                </a:solidFill>
                <a:latin typeface="+mn-lt"/>
              </a:rPr>
              <a:t>WordPiece</a:t>
            </a:r>
            <a:r>
              <a:rPr lang="en-US" sz="2000" i="1" dirty="0">
                <a:solidFill>
                  <a:schemeClr val="tx1"/>
                </a:solidFill>
                <a:latin typeface="+mn-lt"/>
              </a:rPr>
              <a:t>, </a:t>
            </a:r>
            <a:r>
              <a:rPr lang="en-US" sz="2000" i="1" dirty="0" err="1">
                <a:solidFill>
                  <a:schemeClr val="tx1"/>
                </a:solidFill>
                <a:latin typeface="+mn-lt"/>
              </a:rPr>
              <a:t>SentencePiece</a:t>
            </a:r>
            <a:r>
              <a:rPr lang="en-US" sz="2000" i="1" dirty="0">
                <a:solidFill>
                  <a:schemeClr val="tx1"/>
                </a:solidFill>
                <a:latin typeface="+mn-lt"/>
              </a:rPr>
              <a:t>) are the current “best-of-both-worlds” answer.</a:t>
            </a:r>
            <a:endParaRPr lang="en-US" sz="1600" i="1" dirty="0">
              <a:solidFill>
                <a:schemeClr val="tx1"/>
              </a:solidFill>
              <a:latin typeface="+mn-lt"/>
            </a:endParaRPr>
          </a:p>
        </p:txBody>
      </p:sp>
    </p:spTree>
    <p:extLst>
      <p:ext uri="{BB962C8B-B14F-4D97-AF65-F5344CB8AC3E}">
        <p14:creationId xmlns:p14="http://schemas.microsoft.com/office/powerpoint/2010/main" val="16852698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DE8FB-F673-0AB8-BA7A-B69FC7A943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99793F-F00C-E03B-C8B0-BA2C932A37ED}"/>
              </a:ext>
            </a:extLst>
          </p:cNvPr>
          <p:cNvSpPr>
            <a:spLocks noGrp="1"/>
          </p:cNvSpPr>
          <p:nvPr>
            <p:ph type="title"/>
          </p:nvPr>
        </p:nvSpPr>
        <p:spPr>
          <a:xfrm>
            <a:off x="669552" y="594335"/>
            <a:ext cx="10863635" cy="639153"/>
          </a:xfrm>
        </p:spPr>
        <p:txBody>
          <a:bodyPr/>
          <a:lstStyle/>
          <a:p>
            <a:r>
              <a:rPr lang="en-US" dirty="0"/>
              <a:t>Sub-word Tokens: The BPE Sweet Spot</a:t>
            </a:r>
            <a:endParaRPr lang="en-IN" dirty="0"/>
          </a:p>
        </p:txBody>
      </p:sp>
      <p:sp>
        <p:nvSpPr>
          <p:cNvPr id="3" name="Content Placeholder 2">
            <a:extLst>
              <a:ext uri="{FF2B5EF4-FFF2-40B4-BE49-F238E27FC236}">
                <a16:creationId xmlns:a16="http://schemas.microsoft.com/office/drawing/2014/main" id="{166EB039-AB78-3EB5-9A66-B1554A15A6CE}"/>
              </a:ext>
            </a:extLst>
          </p:cNvPr>
          <p:cNvSpPr>
            <a:spLocks noGrp="1"/>
          </p:cNvSpPr>
          <p:nvPr>
            <p:ph idx="1"/>
          </p:nvPr>
        </p:nvSpPr>
        <p:spPr>
          <a:xfrm>
            <a:off x="669553" y="1665743"/>
            <a:ext cx="10863634" cy="4427081"/>
          </a:xfrm>
        </p:spPr>
        <p:txBody>
          <a:bodyPr>
            <a:noAutofit/>
          </a:bodyPr>
          <a:lstStyle/>
          <a:p>
            <a:pPr marL="0" indent="0">
              <a:spcBef>
                <a:spcPts val="600"/>
              </a:spcBef>
              <a:spcAft>
                <a:spcPts val="600"/>
              </a:spcAft>
              <a:buNone/>
            </a:pPr>
            <a:r>
              <a:rPr lang="en-US" sz="2000" dirty="0">
                <a:solidFill>
                  <a:schemeClr val="tx1"/>
                </a:solidFill>
                <a:latin typeface="+mn-lt"/>
              </a:rPr>
              <a:t>Instead of storing every verb form…</a:t>
            </a:r>
          </a:p>
          <a:p>
            <a:pPr marL="0" indent="0">
              <a:spcBef>
                <a:spcPts val="600"/>
              </a:spcBef>
              <a:spcAft>
                <a:spcPts val="600"/>
              </a:spcAft>
              <a:buNone/>
            </a:pPr>
            <a:r>
              <a:rPr lang="en-US" sz="2000" i="1" dirty="0">
                <a:solidFill>
                  <a:schemeClr val="tx1"/>
                </a:solidFill>
                <a:highlight>
                  <a:srgbClr val="C0C0C0"/>
                </a:highlight>
                <a:latin typeface="+mn-lt"/>
              </a:rPr>
              <a:t>[run, running, play, playing, stay, staying]</a:t>
            </a:r>
          </a:p>
          <a:p>
            <a:pPr marL="0" indent="0">
              <a:spcBef>
                <a:spcPts val="600"/>
              </a:spcBef>
              <a:spcAft>
                <a:spcPts val="600"/>
              </a:spcAft>
              <a:buNone/>
            </a:pPr>
            <a:r>
              <a:rPr lang="en-US" sz="2000" dirty="0">
                <a:solidFill>
                  <a:schemeClr val="tx1"/>
                </a:solidFill>
                <a:latin typeface="+mn-lt"/>
              </a:rPr>
              <a:t>…a sub-word tokenizer splits and re-uses chunks:</a:t>
            </a:r>
          </a:p>
          <a:p>
            <a:pPr marL="0" indent="0">
              <a:spcBef>
                <a:spcPts val="600"/>
              </a:spcBef>
              <a:spcAft>
                <a:spcPts val="600"/>
              </a:spcAft>
              <a:buNone/>
            </a:pPr>
            <a:r>
              <a:rPr lang="en-US" sz="2000" i="1" dirty="0">
                <a:solidFill>
                  <a:schemeClr val="tx1"/>
                </a:solidFill>
                <a:highlight>
                  <a:srgbClr val="C0C0C0"/>
                </a:highlight>
                <a:latin typeface="+mn-lt"/>
              </a:rPr>
              <a:t>[run, play, stay, </a:t>
            </a:r>
            <a:r>
              <a:rPr lang="en-US" sz="2000" i="1" dirty="0" err="1">
                <a:solidFill>
                  <a:schemeClr val="tx1"/>
                </a:solidFill>
                <a:highlight>
                  <a:srgbClr val="C0C0C0"/>
                </a:highlight>
                <a:latin typeface="+mn-lt"/>
              </a:rPr>
              <a:t>ing</a:t>
            </a:r>
            <a:r>
              <a:rPr lang="en-US" sz="2000" i="1" dirty="0">
                <a:solidFill>
                  <a:schemeClr val="tx1"/>
                </a:solidFill>
                <a:highlight>
                  <a:srgbClr val="C0C0C0"/>
                </a:highlight>
                <a:latin typeface="+mn-lt"/>
              </a:rPr>
              <a:t>]</a:t>
            </a:r>
          </a:p>
          <a:p>
            <a:pPr marL="0" indent="0">
              <a:spcBef>
                <a:spcPts val="1200"/>
              </a:spcBef>
              <a:spcAft>
                <a:spcPts val="600"/>
              </a:spcAft>
              <a:buNone/>
            </a:pPr>
            <a:r>
              <a:rPr lang="en-US" sz="2400" b="1" dirty="0">
                <a:solidFill>
                  <a:schemeClr val="tx1"/>
                </a:solidFill>
                <a:latin typeface="+mn-lt"/>
              </a:rPr>
              <a:t>Why that matters:</a:t>
            </a:r>
          </a:p>
          <a:p>
            <a:pPr>
              <a:spcBef>
                <a:spcPts val="600"/>
              </a:spcBef>
              <a:spcAft>
                <a:spcPts val="600"/>
              </a:spcAft>
            </a:pPr>
            <a:r>
              <a:rPr lang="en-US" sz="2000" b="1" dirty="0">
                <a:solidFill>
                  <a:schemeClr val="tx1"/>
                </a:solidFill>
                <a:latin typeface="+mn-lt"/>
              </a:rPr>
              <a:t>Compositional power </a:t>
            </a:r>
            <a:r>
              <a:rPr lang="en-US" sz="2000" dirty="0">
                <a:solidFill>
                  <a:schemeClr val="tx1"/>
                </a:solidFill>
                <a:latin typeface="+mn-lt"/>
              </a:rPr>
              <a:t>– model learns “base verb + </a:t>
            </a:r>
            <a:r>
              <a:rPr lang="en-US" sz="2000" i="1" dirty="0" err="1">
                <a:solidFill>
                  <a:schemeClr val="tx1"/>
                </a:solidFill>
                <a:latin typeface="+mj-lt"/>
              </a:rPr>
              <a:t>ing</a:t>
            </a:r>
            <a:r>
              <a:rPr lang="en-US" sz="2000" dirty="0">
                <a:solidFill>
                  <a:schemeClr val="tx1"/>
                </a:solidFill>
                <a:latin typeface="+mn-lt"/>
              </a:rPr>
              <a:t> ⇒ present-continuous” and can build running, playing, staying, etc.</a:t>
            </a:r>
          </a:p>
          <a:p>
            <a:pPr>
              <a:spcBef>
                <a:spcPts val="600"/>
              </a:spcBef>
              <a:spcAft>
                <a:spcPts val="600"/>
              </a:spcAft>
            </a:pPr>
            <a:r>
              <a:rPr lang="en-US" sz="2000" b="1" dirty="0">
                <a:solidFill>
                  <a:schemeClr val="tx1"/>
                </a:solidFill>
                <a:latin typeface="+mn-lt"/>
              </a:rPr>
              <a:t>Compute-friendly</a:t>
            </a:r>
            <a:r>
              <a:rPr lang="en-US" sz="2000" dirty="0">
                <a:solidFill>
                  <a:schemeClr val="tx1"/>
                </a:solidFill>
                <a:latin typeface="+mn-lt"/>
              </a:rPr>
              <a:t> – far fewer tokens than letter-based splitting.</a:t>
            </a:r>
          </a:p>
          <a:p>
            <a:pPr>
              <a:spcBef>
                <a:spcPts val="600"/>
              </a:spcBef>
              <a:spcAft>
                <a:spcPts val="600"/>
              </a:spcAft>
            </a:pPr>
            <a:r>
              <a:rPr lang="en-US" sz="2000" b="1" dirty="0">
                <a:solidFill>
                  <a:schemeClr val="tx1"/>
                </a:solidFill>
                <a:latin typeface="+mn-lt"/>
              </a:rPr>
              <a:t>Slimmer vocab </a:t>
            </a:r>
            <a:r>
              <a:rPr lang="en-US" sz="2000" dirty="0">
                <a:solidFill>
                  <a:schemeClr val="tx1"/>
                </a:solidFill>
                <a:latin typeface="+mn-lt"/>
              </a:rPr>
              <a:t>– tens of millions → a few hundred K.</a:t>
            </a:r>
          </a:p>
          <a:p>
            <a:pPr>
              <a:spcBef>
                <a:spcPts val="600"/>
              </a:spcBef>
              <a:spcAft>
                <a:spcPts val="600"/>
              </a:spcAft>
            </a:pPr>
            <a:r>
              <a:rPr lang="en-US" sz="2000" b="1" dirty="0">
                <a:solidFill>
                  <a:schemeClr val="tx1"/>
                </a:solidFill>
                <a:latin typeface="+mn-lt"/>
              </a:rPr>
              <a:t>Resilient to typos </a:t>
            </a:r>
            <a:r>
              <a:rPr lang="en-US" sz="2000" dirty="0">
                <a:solidFill>
                  <a:schemeClr val="tx1"/>
                </a:solidFill>
                <a:latin typeface="+mn-lt"/>
              </a:rPr>
              <a:t>– </a:t>
            </a:r>
            <a:r>
              <a:rPr lang="en-US" sz="2000" i="1" dirty="0" err="1">
                <a:solidFill>
                  <a:schemeClr val="tx1"/>
                </a:solidFill>
                <a:latin typeface="+mj-lt"/>
              </a:rPr>
              <a:t>runnnng</a:t>
            </a:r>
            <a:r>
              <a:rPr lang="en-US" sz="2000" dirty="0">
                <a:solidFill>
                  <a:schemeClr val="tx1"/>
                </a:solidFill>
                <a:latin typeface="+mn-lt"/>
              </a:rPr>
              <a:t> still partly matches known chunks.</a:t>
            </a:r>
            <a:endParaRPr lang="en-US" sz="1400" i="1" dirty="0">
              <a:solidFill>
                <a:schemeClr val="tx1"/>
              </a:solidFill>
              <a:latin typeface="+mn-lt"/>
            </a:endParaRPr>
          </a:p>
        </p:txBody>
      </p:sp>
    </p:spTree>
    <p:extLst>
      <p:ext uri="{BB962C8B-B14F-4D97-AF65-F5344CB8AC3E}">
        <p14:creationId xmlns:p14="http://schemas.microsoft.com/office/powerpoint/2010/main" val="27970374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21101-328C-DAAC-FF2F-2D947B8C49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144A8A-0250-63E5-BDA6-02ED9A9C24F2}"/>
              </a:ext>
            </a:extLst>
          </p:cNvPr>
          <p:cNvSpPr>
            <a:spLocks noGrp="1"/>
          </p:cNvSpPr>
          <p:nvPr>
            <p:ph type="title"/>
          </p:nvPr>
        </p:nvSpPr>
        <p:spPr>
          <a:xfrm>
            <a:off x="669552" y="594335"/>
            <a:ext cx="10863635" cy="639153"/>
          </a:xfrm>
        </p:spPr>
        <p:txBody>
          <a:bodyPr/>
          <a:lstStyle/>
          <a:p>
            <a:r>
              <a:rPr lang="en-US" dirty="0"/>
              <a:t>A Real Tokenizer: Qwen 2.5</a:t>
            </a:r>
            <a:endParaRPr lang="en-IN" dirty="0"/>
          </a:p>
        </p:txBody>
      </p:sp>
      <p:sp>
        <p:nvSpPr>
          <p:cNvPr id="3" name="Content Placeholder 2">
            <a:extLst>
              <a:ext uri="{FF2B5EF4-FFF2-40B4-BE49-F238E27FC236}">
                <a16:creationId xmlns:a16="http://schemas.microsoft.com/office/drawing/2014/main" id="{77DAC371-B4A2-3E87-30B9-34A7C25FF0B5}"/>
              </a:ext>
            </a:extLst>
          </p:cNvPr>
          <p:cNvSpPr>
            <a:spLocks noGrp="1"/>
          </p:cNvSpPr>
          <p:nvPr>
            <p:ph idx="1"/>
          </p:nvPr>
        </p:nvSpPr>
        <p:spPr>
          <a:xfrm>
            <a:off x="669553" y="1665743"/>
            <a:ext cx="10863634" cy="4427081"/>
          </a:xfrm>
        </p:spPr>
        <p:txBody>
          <a:bodyPr>
            <a:noAutofit/>
          </a:bodyPr>
          <a:lstStyle/>
          <a:p>
            <a:pPr marL="0" indent="0">
              <a:spcBef>
                <a:spcPts val="600"/>
              </a:spcBef>
              <a:spcAft>
                <a:spcPts val="600"/>
              </a:spcAft>
              <a:buNone/>
            </a:pPr>
            <a:r>
              <a:rPr lang="en-US" sz="2400" dirty="0">
                <a:solidFill>
                  <a:schemeClr val="tx1"/>
                </a:solidFill>
                <a:latin typeface="+mn-lt"/>
              </a:rPr>
              <a:t>🔗 </a:t>
            </a:r>
            <a:r>
              <a:rPr lang="en-US" sz="2400" dirty="0">
                <a:solidFill>
                  <a:schemeClr val="tx1"/>
                </a:solidFill>
                <a:latin typeface="+mn-lt"/>
                <a:hlinkClick r:id="rId2"/>
              </a:rPr>
              <a:t>https://huggingface.co/Qwen/Qwen2.5-7B/raw/main/tokenizer.json</a:t>
            </a:r>
            <a:endParaRPr lang="en-US" sz="2400" dirty="0">
              <a:solidFill>
                <a:schemeClr val="tx1"/>
              </a:solidFill>
              <a:latin typeface="+mn-lt"/>
            </a:endParaRPr>
          </a:p>
          <a:p>
            <a:pPr marL="0" indent="0">
              <a:spcBef>
                <a:spcPts val="600"/>
              </a:spcBef>
              <a:spcAft>
                <a:spcPts val="600"/>
              </a:spcAft>
              <a:buNone/>
            </a:pPr>
            <a:endParaRPr lang="en-US" sz="2400" dirty="0">
              <a:solidFill>
                <a:schemeClr val="tx1"/>
              </a:solidFill>
              <a:latin typeface="+mn-lt"/>
            </a:endParaRPr>
          </a:p>
          <a:p>
            <a:pPr marL="0" indent="0">
              <a:spcBef>
                <a:spcPts val="600"/>
              </a:spcBef>
              <a:spcAft>
                <a:spcPts val="600"/>
              </a:spcAft>
              <a:buNone/>
            </a:pPr>
            <a:endParaRPr lang="en-US" sz="2400" dirty="0">
              <a:solidFill>
                <a:schemeClr val="tx1"/>
              </a:solidFill>
              <a:latin typeface="+mn-lt"/>
            </a:endParaRPr>
          </a:p>
          <a:p>
            <a:pPr marL="0" indent="0">
              <a:spcBef>
                <a:spcPts val="600"/>
              </a:spcBef>
              <a:spcAft>
                <a:spcPts val="600"/>
              </a:spcAft>
              <a:buNone/>
            </a:pPr>
            <a:endParaRPr lang="en-US" sz="2400" dirty="0">
              <a:solidFill>
                <a:schemeClr val="tx1"/>
              </a:solidFill>
              <a:latin typeface="+mn-lt"/>
            </a:endParaRPr>
          </a:p>
          <a:p>
            <a:pPr marL="0" indent="0">
              <a:spcBef>
                <a:spcPts val="600"/>
              </a:spcBef>
              <a:spcAft>
                <a:spcPts val="600"/>
              </a:spcAft>
              <a:buNone/>
            </a:pPr>
            <a:endParaRPr lang="en-US" sz="2000" dirty="0">
              <a:solidFill>
                <a:schemeClr val="tx1"/>
              </a:solidFill>
              <a:latin typeface="+mn-lt"/>
            </a:endParaRPr>
          </a:p>
          <a:p>
            <a:pPr marL="0" indent="0">
              <a:spcBef>
                <a:spcPts val="600"/>
              </a:spcBef>
              <a:spcAft>
                <a:spcPts val="600"/>
              </a:spcAft>
              <a:buNone/>
            </a:pPr>
            <a:r>
              <a:rPr lang="en-US" sz="2400" b="1" dirty="0">
                <a:solidFill>
                  <a:schemeClr val="tx1"/>
                </a:solidFill>
                <a:latin typeface="+mn-lt"/>
              </a:rPr>
              <a:t>Take-aways</a:t>
            </a:r>
          </a:p>
          <a:p>
            <a:pPr>
              <a:spcBef>
                <a:spcPts val="600"/>
              </a:spcBef>
              <a:spcAft>
                <a:spcPts val="600"/>
              </a:spcAft>
            </a:pPr>
            <a:r>
              <a:rPr lang="en-US" sz="2400" dirty="0">
                <a:solidFill>
                  <a:schemeClr val="tx1"/>
                </a:solidFill>
                <a:latin typeface="+mn-lt"/>
              </a:rPr>
              <a:t>Sub-word vocab of ≈151 K keeps memory &amp; compute tractable.</a:t>
            </a:r>
          </a:p>
          <a:p>
            <a:pPr>
              <a:spcBef>
                <a:spcPts val="600"/>
              </a:spcBef>
              <a:spcAft>
                <a:spcPts val="600"/>
              </a:spcAft>
            </a:pPr>
            <a:r>
              <a:rPr lang="en-US" sz="2400" dirty="0">
                <a:solidFill>
                  <a:schemeClr val="tx1"/>
                </a:solidFill>
                <a:latin typeface="+mn-lt"/>
              </a:rPr>
              <a:t>Those integer IDs feed the embedding layer—the next step in “how LLMs store meaning.”</a:t>
            </a:r>
          </a:p>
        </p:txBody>
      </p:sp>
      <p:graphicFrame>
        <p:nvGraphicFramePr>
          <p:cNvPr id="8" name="Table 7">
            <a:extLst>
              <a:ext uri="{FF2B5EF4-FFF2-40B4-BE49-F238E27FC236}">
                <a16:creationId xmlns:a16="http://schemas.microsoft.com/office/drawing/2014/main" id="{E5CEDA47-F714-9B4D-3AAA-17CBF268C5F3}"/>
              </a:ext>
            </a:extLst>
          </p:cNvPr>
          <p:cNvGraphicFramePr>
            <a:graphicFrameLocks noGrp="1"/>
          </p:cNvGraphicFramePr>
          <p:nvPr>
            <p:extLst>
              <p:ext uri="{D42A27DB-BD31-4B8C-83A1-F6EECF244321}">
                <p14:modId xmlns:p14="http://schemas.microsoft.com/office/powerpoint/2010/main" val="3750004525"/>
              </p:ext>
            </p:extLst>
          </p:nvPr>
        </p:nvGraphicFramePr>
        <p:xfrm>
          <a:off x="668700" y="2218363"/>
          <a:ext cx="10863078" cy="1660920"/>
        </p:xfrm>
        <a:graphic>
          <a:graphicData uri="http://schemas.openxmlformats.org/drawingml/2006/table">
            <a:tbl>
              <a:tblPr/>
              <a:tblGrid>
                <a:gridCol w="5431539">
                  <a:extLst>
                    <a:ext uri="{9D8B030D-6E8A-4147-A177-3AD203B41FA5}">
                      <a16:colId xmlns:a16="http://schemas.microsoft.com/office/drawing/2014/main" val="1917695447"/>
                    </a:ext>
                  </a:extLst>
                </a:gridCol>
                <a:gridCol w="5431539">
                  <a:extLst>
                    <a:ext uri="{9D8B030D-6E8A-4147-A177-3AD203B41FA5}">
                      <a16:colId xmlns:a16="http://schemas.microsoft.com/office/drawing/2014/main" val="989358996"/>
                    </a:ext>
                  </a:extLst>
                </a:gridCol>
              </a:tblGrid>
              <a:tr h="415230">
                <a:tc>
                  <a:txBody>
                    <a:bodyPr/>
                    <a:lstStyle/>
                    <a:p>
                      <a:r>
                        <a:rPr lang="en-IN" dirty="0"/>
                        <a:t>What you’ll see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dirty="0"/>
                        <a:t>Why it matters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2821940865"/>
                  </a:ext>
                </a:extLst>
              </a:tr>
              <a:tr h="415230">
                <a:tc>
                  <a:txBody>
                    <a:bodyPr/>
                    <a:lstStyle/>
                    <a:p>
                      <a:r>
                        <a:rPr lang="en-IN"/>
                        <a:t>"sh" → </a:t>
                      </a:r>
                      <a:r>
                        <a:rPr lang="en-IN" b="1"/>
                        <a:t>927</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Each sub-word chunk maps to an integer 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6572586"/>
                  </a:ext>
                </a:extLst>
              </a:tr>
              <a:tr h="415230">
                <a:tc>
                  <a:txBody>
                    <a:bodyPr/>
                    <a:lstStyle/>
                    <a:p>
                      <a:r>
                        <a:rPr lang="en-IN" dirty="0"/>
                        <a:t>"</a:t>
                      </a:r>
                      <a:r>
                        <a:rPr lang="en-IN" dirty="0" err="1"/>
                        <a:t>ual</a:t>
                      </a:r>
                      <a:r>
                        <a:rPr lang="en-IN" dirty="0"/>
                        <a:t>" → </a:t>
                      </a:r>
                      <a:r>
                        <a:rPr lang="en-IN" b="1" dirty="0"/>
                        <a:t>928</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IDs run </a:t>
                      </a:r>
                      <a:r>
                        <a:rPr lang="en-US" b="1" dirty="0"/>
                        <a:t>0 </a:t>
                      </a:r>
                      <a:r>
                        <a:rPr lang="en-US" b="1"/>
                        <a:t>– 151663</a:t>
                      </a:r>
                      <a:r>
                        <a:rPr lang="en-US"/>
                        <a:t> </a:t>
                      </a:r>
                      <a:r>
                        <a:rPr lang="en-US" dirty="0"/>
                        <a:t>(≈151 K tokens total).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9108481"/>
                  </a:ext>
                </a:extLst>
              </a:tr>
              <a:tr h="415230">
                <a:tc>
                  <a:txBody>
                    <a:bodyPr/>
                    <a:lstStyle/>
                    <a:p>
                      <a:r>
                        <a:rPr lang="en-IN" dirty="0"/>
                        <a:t>"new" → </a:t>
                      </a:r>
                      <a:r>
                        <a:rPr lang="en-IN" b="1" dirty="0"/>
                        <a:t>931</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Model’s lookup table = vocab size × embedding dim.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128400"/>
                  </a:ext>
                </a:extLst>
              </a:tr>
            </a:tbl>
          </a:graphicData>
        </a:graphic>
      </p:graphicFrame>
    </p:spTree>
    <p:extLst>
      <p:ext uri="{BB962C8B-B14F-4D97-AF65-F5344CB8AC3E}">
        <p14:creationId xmlns:p14="http://schemas.microsoft.com/office/powerpoint/2010/main" val="3896085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001D4-D9F0-EF8F-1C62-8D5F2F66C69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B94799-4700-C920-DAAE-8E8AD9EE177F}"/>
              </a:ext>
            </a:extLst>
          </p:cNvPr>
          <p:cNvSpPr>
            <a:spLocks noGrp="1"/>
          </p:cNvSpPr>
          <p:nvPr>
            <p:ph idx="1"/>
          </p:nvPr>
        </p:nvSpPr>
        <p:spPr>
          <a:xfrm>
            <a:off x="4478693" y="603666"/>
            <a:ext cx="7054495" cy="5489159"/>
          </a:xfrm>
        </p:spPr>
        <p:txBody>
          <a:bodyPr>
            <a:normAutofit lnSpcReduction="10000"/>
          </a:bodyPr>
          <a:lstStyle/>
          <a:p>
            <a:pPr marL="0" indent="0">
              <a:spcBef>
                <a:spcPts val="1800"/>
              </a:spcBef>
              <a:spcAft>
                <a:spcPts val="600"/>
              </a:spcAft>
              <a:buNone/>
            </a:pPr>
            <a:r>
              <a:rPr lang="en-US" sz="2400" dirty="0">
                <a:solidFill>
                  <a:srgbClr val="161A3E"/>
                </a:solidFill>
              </a:rPr>
              <a:t>To understand what we need numbers for, we need to go back and understand how exactly LLMs "understand and store semantic meaning" of a token.</a:t>
            </a:r>
          </a:p>
          <a:p>
            <a:pPr marL="0" indent="0">
              <a:spcBef>
                <a:spcPts val="1800"/>
              </a:spcBef>
              <a:spcAft>
                <a:spcPts val="600"/>
              </a:spcAft>
              <a:buNone/>
            </a:pPr>
            <a:r>
              <a:rPr lang="en-US" sz="2400" i="1" dirty="0">
                <a:solidFill>
                  <a:srgbClr val="161A3E"/>
                </a:solidFill>
              </a:rPr>
              <a:t>“Transformers can only do math; embeddings let them reason about meaning with math.”</a:t>
            </a:r>
            <a:endParaRPr lang="en-US" sz="2400" dirty="0">
              <a:solidFill>
                <a:srgbClr val="161A3E"/>
              </a:solidFill>
            </a:endParaRPr>
          </a:p>
          <a:p>
            <a:pPr marL="0" indent="0">
              <a:spcBef>
                <a:spcPts val="1800"/>
              </a:spcBef>
              <a:spcAft>
                <a:spcPts val="600"/>
              </a:spcAft>
              <a:buNone/>
            </a:pPr>
            <a:r>
              <a:rPr lang="en-US" sz="2400" b="1" dirty="0">
                <a:solidFill>
                  <a:srgbClr val="161A3E"/>
                </a:solidFill>
              </a:rPr>
              <a:t>raw text → token IDs → embedding vectors → Transformer</a:t>
            </a:r>
          </a:p>
          <a:p>
            <a:pPr marL="0" indent="0">
              <a:spcBef>
                <a:spcPts val="600"/>
              </a:spcBef>
              <a:spcAft>
                <a:spcPts val="600"/>
              </a:spcAft>
              <a:buNone/>
            </a:pPr>
            <a:endParaRPr lang="en-US" sz="2400" dirty="0">
              <a:solidFill>
                <a:srgbClr val="161A3E"/>
              </a:solidFill>
            </a:endParaRPr>
          </a:p>
          <a:p>
            <a:pPr marL="0" indent="0">
              <a:spcBef>
                <a:spcPts val="600"/>
              </a:spcBef>
              <a:spcAft>
                <a:spcPts val="600"/>
              </a:spcAft>
              <a:buNone/>
            </a:pPr>
            <a:r>
              <a:rPr lang="en-US" sz="2400" dirty="0">
                <a:solidFill>
                  <a:srgbClr val="161A3E"/>
                </a:solidFill>
              </a:rPr>
              <a:t>Transformers are calculators, not readers.</a:t>
            </a:r>
          </a:p>
          <a:p>
            <a:pPr marL="0" indent="0">
              <a:spcBef>
                <a:spcPts val="600"/>
              </a:spcBef>
              <a:spcAft>
                <a:spcPts val="600"/>
              </a:spcAft>
              <a:buNone/>
            </a:pPr>
            <a:r>
              <a:rPr lang="en-US" sz="2400" dirty="0">
                <a:solidFill>
                  <a:srgbClr val="161A3E"/>
                </a:solidFill>
              </a:rPr>
              <a:t>To reason about language, they need:</a:t>
            </a:r>
          </a:p>
          <a:p>
            <a:pPr marL="914400" lvl="1" indent="-457200">
              <a:spcBef>
                <a:spcPts val="600"/>
              </a:spcBef>
              <a:spcAft>
                <a:spcPts val="600"/>
              </a:spcAft>
              <a:buFont typeface="+mj-lt"/>
              <a:buAutoNum type="arabicPeriod"/>
            </a:pPr>
            <a:r>
              <a:rPr lang="en-US" sz="2000" dirty="0">
                <a:solidFill>
                  <a:srgbClr val="161A3E"/>
                </a:solidFill>
              </a:rPr>
              <a:t>Raw text → tokens (IDs)</a:t>
            </a:r>
          </a:p>
          <a:p>
            <a:pPr marL="914400" lvl="1" indent="-457200">
              <a:spcBef>
                <a:spcPts val="600"/>
              </a:spcBef>
              <a:spcAft>
                <a:spcPts val="600"/>
              </a:spcAft>
              <a:buFont typeface="+mj-lt"/>
              <a:buAutoNum type="arabicPeriod"/>
            </a:pPr>
            <a:r>
              <a:rPr lang="en-US" sz="2000" dirty="0">
                <a:solidFill>
                  <a:srgbClr val="161A3E"/>
                </a:solidFill>
              </a:rPr>
              <a:t>Tokens → vectors (embeddings)</a:t>
            </a:r>
          </a:p>
          <a:p>
            <a:pPr marL="914400" lvl="1" indent="-457200">
              <a:spcBef>
                <a:spcPts val="600"/>
              </a:spcBef>
              <a:spcAft>
                <a:spcPts val="600"/>
              </a:spcAft>
              <a:buFont typeface="+mj-lt"/>
              <a:buAutoNum type="arabicPeriod"/>
            </a:pPr>
            <a:r>
              <a:rPr lang="en-US" sz="2000" dirty="0">
                <a:solidFill>
                  <a:srgbClr val="161A3E"/>
                </a:solidFill>
              </a:rPr>
              <a:t>Vectors → context-aware predictions</a:t>
            </a:r>
          </a:p>
        </p:txBody>
      </p:sp>
      <p:sp>
        <p:nvSpPr>
          <p:cNvPr id="2" name="Title 1">
            <a:extLst>
              <a:ext uri="{FF2B5EF4-FFF2-40B4-BE49-F238E27FC236}">
                <a16:creationId xmlns:a16="http://schemas.microsoft.com/office/drawing/2014/main" id="{37FD17DC-FFA9-F8A4-83A3-01A71AF97BA6}"/>
              </a:ext>
            </a:extLst>
          </p:cNvPr>
          <p:cNvSpPr>
            <a:spLocks noGrp="1"/>
          </p:cNvSpPr>
          <p:nvPr>
            <p:ph type="title"/>
          </p:nvPr>
        </p:nvSpPr>
        <p:spPr>
          <a:xfrm>
            <a:off x="838202" y="2049670"/>
            <a:ext cx="2743200" cy="2562226"/>
          </a:xfrm>
        </p:spPr>
        <p:txBody>
          <a:bodyPr anchor="ctr">
            <a:normAutofit/>
          </a:bodyPr>
          <a:lstStyle/>
          <a:p>
            <a:r>
              <a:rPr lang="en-US" dirty="0"/>
              <a:t> </a:t>
            </a:r>
            <a:endParaRPr lang="en-IN" dirty="0"/>
          </a:p>
        </p:txBody>
      </p:sp>
      <p:sp>
        <p:nvSpPr>
          <p:cNvPr id="4" name="Title 2">
            <a:extLst>
              <a:ext uri="{FF2B5EF4-FFF2-40B4-BE49-F238E27FC236}">
                <a16:creationId xmlns:a16="http://schemas.microsoft.com/office/drawing/2014/main" id="{C0D8B9BF-6EE1-2388-CCD1-E32D7D07D741}"/>
              </a:ext>
            </a:extLst>
          </p:cNvPr>
          <p:cNvSpPr txBox="1">
            <a:spLocks/>
          </p:cNvSpPr>
          <p:nvPr/>
        </p:nvSpPr>
        <p:spPr>
          <a:xfrm>
            <a:off x="990602" y="2202070"/>
            <a:ext cx="2743200" cy="2562226"/>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3400" b="1" kern="1200">
                <a:solidFill>
                  <a:schemeClr val="bg1"/>
                </a:solidFill>
                <a:latin typeface="Calibri" panose="020F0502020204030204" pitchFamily="34" charset="0"/>
                <a:ea typeface="+mj-ea"/>
                <a:cs typeface="+mj-cs"/>
              </a:defRPr>
            </a:lvl1pPr>
          </a:lstStyle>
          <a:p>
            <a:r>
              <a:rPr lang="en-US" dirty="0"/>
              <a:t>Why Convert Text to Numbers?</a:t>
            </a:r>
            <a:endParaRPr lang="en-IN" dirty="0"/>
          </a:p>
        </p:txBody>
      </p:sp>
    </p:spTree>
    <p:extLst>
      <p:ext uri="{BB962C8B-B14F-4D97-AF65-F5344CB8AC3E}">
        <p14:creationId xmlns:p14="http://schemas.microsoft.com/office/powerpoint/2010/main" val="20672999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851D6-770D-7738-0CF8-BB83BA07ECDA}"/>
              </a:ext>
            </a:extLst>
          </p:cNvPr>
          <p:cNvSpPr>
            <a:spLocks noGrp="1"/>
          </p:cNvSpPr>
          <p:nvPr>
            <p:ph type="title"/>
          </p:nvPr>
        </p:nvSpPr>
        <p:spPr/>
        <p:txBody>
          <a:bodyPr/>
          <a:lstStyle/>
          <a:p>
            <a:r>
              <a:rPr lang="en-US" dirty="0"/>
              <a:t>What Is a Vector Embedding?</a:t>
            </a:r>
            <a:endParaRPr lang="en-IN" dirty="0"/>
          </a:p>
        </p:txBody>
      </p:sp>
      <p:sp>
        <p:nvSpPr>
          <p:cNvPr id="3" name="Content Placeholder 2">
            <a:extLst>
              <a:ext uri="{FF2B5EF4-FFF2-40B4-BE49-F238E27FC236}">
                <a16:creationId xmlns:a16="http://schemas.microsoft.com/office/drawing/2014/main" id="{F516EEFA-5CC4-EBB2-9428-F0749EDF4354}"/>
              </a:ext>
            </a:extLst>
          </p:cNvPr>
          <p:cNvSpPr>
            <a:spLocks noGrp="1"/>
          </p:cNvSpPr>
          <p:nvPr>
            <p:ph idx="1"/>
          </p:nvPr>
        </p:nvSpPr>
        <p:spPr/>
        <p:txBody>
          <a:bodyPr>
            <a:normAutofit fontScale="92500" lnSpcReduction="10000"/>
          </a:bodyPr>
          <a:lstStyle/>
          <a:p>
            <a:pPr marL="0" indent="0">
              <a:buNone/>
            </a:pPr>
            <a:r>
              <a:rPr lang="en-US" i="1" dirty="0">
                <a:solidFill>
                  <a:srgbClr val="161A3E"/>
                </a:solidFill>
              </a:rPr>
              <a:t>A fixed-length array of real numbers that places a token at a point in a high-dimensional semantic space.</a:t>
            </a:r>
          </a:p>
          <a:p>
            <a:pPr marL="0" indent="0">
              <a:buNone/>
            </a:pPr>
            <a:endParaRPr lang="en-US" i="1" dirty="0">
              <a:solidFill>
                <a:srgbClr val="161A3E"/>
              </a:solidFill>
            </a:endParaRPr>
          </a:p>
          <a:p>
            <a:pPr marL="0" indent="0">
              <a:buNone/>
            </a:pPr>
            <a:r>
              <a:rPr lang="en-US" dirty="0">
                <a:solidFill>
                  <a:srgbClr val="161A3E"/>
                </a:solidFill>
              </a:rPr>
              <a:t>Vector embedding is just an array of numbers </a:t>
            </a:r>
          </a:p>
          <a:p>
            <a:pPr marL="0" indent="0">
              <a:buNone/>
            </a:pPr>
            <a:r>
              <a:rPr lang="en-US" sz="2400" dirty="0">
                <a:solidFill>
                  <a:srgbClr val="161A3E"/>
                </a:solidFill>
                <a:latin typeface="+mj-lt"/>
              </a:rPr>
              <a:t>Example (8-D slice of a 768-D vector)</a:t>
            </a:r>
          </a:p>
          <a:p>
            <a:pPr marL="0" indent="0">
              <a:buNone/>
            </a:pPr>
            <a:r>
              <a:rPr lang="en-US" sz="2400" dirty="0">
                <a:solidFill>
                  <a:srgbClr val="161A3E"/>
                </a:solidFill>
                <a:latin typeface="+mj-lt"/>
              </a:rPr>
              <a:t>[ 0.43,  0.76,  0.13, –0.55,  0.07, –0.12,  0.44,  0.22, … ]</a:t>
            </a:r>
          </a:p>
          <a:p>
            <a:pPr marL="0" indent="0">
              <a:buNone/>
            </a:pPr>
            <a:endParaRPr lang="en-US" sz="2400" dirty="0">
              <a:solidFill>
                <a:srgbClr val="161A3E"/>
              </a:solidFill>
            </a:endParaRPr>
          </a:p>
          <a:p>
            <a:pPr marL="0" indent="0">
              <a:buNone/>
            </a:pPr>
            <a:r>
              <a:rPr lang="en-US" sz="2400" b="1" dirty="0">
                <a:solidFill>
                  <a:srgbClr val="161A3E"/>
                </a:solidFill>
              </a:rPr>
              <a:t>Quick facts</a:t>
            </a:r>
          </a:p>
          <a:p>
            <a:r>
              <a:rPr lang="en-US" sz="2400" dirty="0">
                <a:solidFill>
                  <a:srgbClr val="161A3E"/>
                </a:solidFill>
              </a:rPr>
              <a:t>Dimension d: 256 – 4096 in modern LLMs</a:t>
            </a:r>
          </a:p>
          <a:p>
            <a:r>
              <a:rPr lang="en-US" sz="2400" dirty="0">
                <a:solidFill>
                  <a:srgbClr val="161A3E"/>
                </a:solidFill>
              </a:rPr>
              <a:t>Learned, not handcrafted</a:t>
            </a:r>
          </a:p>
          <a:p>
            <a:r>
              <a:rPr lang="en-US" sz="2400" dirty="0">
                <a:solidFill>
                  <a:srgbClr val="161A3E"/>
                </a:solidFill>
              </a:rPr>
              <a:t>Geometry encodes meaning: closer = more similar</a:t>
            </a:r>
            <a:endParaRPr lang="en-IN" sz="2400" dirty="0">
              <a:solidFill>
                <a:srgbClr val="161A3E"/>
              </a:solidFill>
            </a:endParaRPr>
          </a:p>
        </p:txBody>
      </p:sp>
    </p:spTree>
    <p:extLst>
      <p:ext uri="{BB962C8B-B14F-4D97-AF65-F5344CB8AC3E}">
        <p14:creationId xmlns:p14="http://schemas.microsoft.com/office/powerpoint/2010/main" val="22477678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1E8CF-1392-9B4A-D288-3A2AC685B6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63807A-E8F9-10F8-6798-F305BAD1467F}"/>
              </a:ext>
            </a:extLst>
          </p:cNvPr>
          <p:cNvSpPr>
            <a:spLocks noGrp="1"/>
          </p:cNvSpPr>
          <p:nvPr>
            <p:ph type="title"/>
          </p:nvPr>
        </p:nvSpPr>
        <p:spPr/>
        <p:txBody>
          <a:bodyPr/>
          <a:lstStyle/>
          <a:p>
            <a:r>
              <a:rPr lang="en-US" dirty="0"/>
              <a:t>Every Token Gets Its Own Vector</a:t>
            </a:r>
            <a:endParaRPr lang="en-IN" dirty="0"/>
          </a:p>
        </p:txBody>
      </p:sp>
      <p:sp>
        <p:nvSpPr>
          <p:cNvPr id="3" name="Content Placeholder 2">
            <a:extLst>
              <a:ext uri="{FF2B5EF4-FFF2-40B4-BE49-F238E27FC236}">
                <a16:creationId xmlns:a16="http://schemas.microsoft.com/office/drawing/2014/main" id="{E224F2F3-A63B-F0A5-49C7-EBFC1697D4B9}"/>
              </a:ext>
            </a:extLst>
          </p:cNvPr>
          <p:cNvSpPr>
            <a:spLocks noGrp="1"/>
          </p:cNvSpPr>
          <p:nvPr>
            <p:ph idx="1"/>
          </p:nvPr>
        </p:nvSpPr>
        <p:spPr/>
        <p:txBody>
          <a:bodyPr>
            <a:normAutofit/>
          </a:bodyPr>
          <a:lstStyle/>
          <a:p>
            <a:pPr marL="0" indent="0">
              <a:buNone/>
            </a:pPr>
            <a:endParaRPr lang="en-US" sz="2000" dirty="0">
              <a:solidFill>
                <a:srgbClr val="161A3E"/>
              </a:solidFill>
            </a:endParaRPr>
          </a:p>
          <a:p>
            <a:pPr marL="0" indent="0">
              <a:buNone/>
            </a:pPr>
            <a:endParaRPr lang="en-US" sz="2000" dirty="0">
              <a:solidFill>
                <a:srgbClr val="161A3E"/>
              </a:solidFill>
            </a:endParaRPr>
          </a:p>
          <a:p>
            <a:pPr marL="0" indent="0">
              <a:buNone/>
            </a:pPr>
            <a:endParaRPr lang="en-US" sz="2000" dirty="0">
              <a:solidFill>
                <a:srgbClr val="161A3E"/>
              </a:solidFill>
            </a:endParaRPr>
          </a:p>
          <a:p>
            <a:pPr marL="0" indent="0">
              <a:buNone/>
            </a:pPr>
            <a:endParaRPr lang="en-US" sz="2000" dirty="0">
              <a:solidFill>
                <a:srgbClr val="161A3E"/>
              </a:solidFill>
            </a:endParaRPr>
          </a:p>
          <a:p>
            <a:pPr marL="0" indent="0">
              <a:buNone/>
            </a:pPr>
            <a:r>
              <a:rPr lang="en-US" sz="2000" dirty="0">
                <a:solidFill>
                  <a:srgbClr val="161A3E"/>
                </a:solidFill>
              </a:rPr>
              <a:t>In reality these models use ~1 000 dimensions long vectors; each number captures some feature the model discovers during training. </a:t>
            </a:r>
          </a:p>
          <a:p>
            <a:pPr marL="0" indent="0">
              <a:buNone/>
            </a:pPr>
            <a:r>
              <a:rPr lang="en-US" sz="2000" dirty="0">
                <a:solidFill>
                  <a:srgbClr val="161A3E"/>
                </a:solidFill>
              </a:rPr>
              <a:t>E.g.: quickness, aliveness, greenness, fluffiness, playfulness, </a:t>
            </a:r>
            <a:r>
              <a:rPr lang="en-US" sz="2000" dirty="0" err="1">
                <a:solidFill>
                  <a:srgbClr val="161A3E"/>
                </a:solidFill>
              </a:rPr>
              <a:t>vehicleness</a:t>
            </a:r>
            <a:r>
              <a:rPr lang="en-US" sz="2000" dirty="0">
                <a:solidFill>
                  <a:srgbClr val="161A3E"/>
                </a:solidFill>
              </a:rPr>
              <a:t>, parallel universalness, activeness, and who knows what else [we don't] - each feature will be a measure of some characteristic, and it will contribute to the meaning.</a:t>
            </a:r>
          </a:p>
          <a:p>
            <a:pPr marL="0" indent="0">
              <a:buNone/>
            </a:pPr>
            <a:r>
              <a:rPr lang="en-US" sz="2000" dirty="0">
                <a:solidFill>
                  <a:srgbClr val="161A3E"/>
                </a:solidFill>
              </a:rPr>
              <a:t>AI learns by itself what each feature should be about, and the numerical value of it for each token, and we don't know what exactly those numbers represent.</a:t>
            </a:r>
          </a:p>
        </p:txBody>
      </p:sp>
      <p:graphicFrame>
        <p:nvGraphicFramePr>
          <p:cNvPr id="7" name="Table 6">
            <a:extLst>
              <a:ext uri="{FF2B5EF4-FFF2-40B4-BE49-F238E27FC236}">
                <a16:creationId xmlns:a16="http://schemas.microsoft.com/office/drawing/2014/main" id="{59AE7493-26F7-CE58-7F7A-BD97AD992B83}"/>
              </a:ext>
            </a:extLst>
          </p:cNvPr>
          <p:cNvGraphicFramePr>
            <a:graphicFrameLocks noGrp="1"/>
          </p:cNvGraphicFramePr>
          <p:nvPr>
            <p:extLst>
              <p:ext uri="{D42A27DB-BD31-4B8C-83A1-F6EECF244321}">
                <p14:modId xmlns:p14="http://schemas.microsoft.com/office/powerpoint/2010/main" val="343876134"/>
              </p:ext>
            </p:extLst>
          </p:nvPr>
        </p:nvGraphicFramePr>
        <p:xfrm>
          <a:off x="670123" y="1665289"/>
          <a:ext cx="10863066" cy="1264524"/>
        </p:xfrm>
        <a:graphic>
          <a:graphicData uri="http://schemas.openxmlformats.org/drawingml/2006/table">
            <a:tbl>
              <a:tblPr/>
              <a:tblGrid>
                <a:gridCol w="3621022">
                  <a:extLst>
                    <a:ext uri="{9D8B030D-6E8A-4147-A177-3AD203B41FA5}">
                      <a16:colId xmlns:a16="http://schemas.microsoft.com/office/drawing/2014/main" val="2426285658"/>
                    </a:ext>
                  </a:extLst>
                </a:gridCol>
                <a:gridCol w="3621022">
                  <a:extLst>
                    <a:ext uri="{9D8B030D-6E8A-4147-A177-3AD203B41FA5}">
                      <a16:colId xmlns:a16="http://schemas.microsoft.com/office/drawing/2014/main" val="1628471399"/>
                    </a:ext>
                  </a:extLst>
                </a:gridCol>
                <a:gridCol w="3621022">
                  <a:extLst>
                    <a:ext uri="{9D8B030D-6E8A-4147-A177-3AD203B41FA5}">
                      <a16:colId xmlns:a16="http://schemas.microsoft.com/office/drawing/2014/main" val="2014159689"/>
                    </a:ext>
                  </a:extLst>
                </a:gridCol>
              </a:tblGrid>
              <a:tr h="421508">
                <a:tc>
                  <a:txBody>
                    <a:bodyPr/>
                    <a:lstStyle/>
                    <a:p>
                      <a:r>
                        <a:rPr lang="en-IN" b="1" dirty="0"/>
                        <a:t>Token (string)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b="1" dirty="0"/>
                        <a:t>Token 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US" b="1" dirty="0"/>
                        <a:t>First 6 numbers in its vector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2588318558"/>
                  </a:ext>
                </a:extLst>
              </a:tr>
              <a:tr h="421508">
                <a:tc>
                  <a:txBody>
                    <a:bodyPr/>
                    <a:lstStyle/>
                    <a:p>
                      <a:r>
                        <a:rPr lang="en-IN"/>
                        <a:t>car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1 231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0.84 · 0.01 · 0.31 · 0.03 · …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7354374"/>
                  </a:ext>
                </a:extLst>
              </a:tr>
              <a:tr h="421508">
                <a:tc>
                  <a:txBody>
                    <a:bodyPr/>
                    <a:lstStyle/>
                    <a:p>
                      <a:r>
                        <a:rPr lang="en-IN" dirty="0"/>
                        <a:t>grass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9 870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0.01 · 0.97 · 0.89 · 0.82 · …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5435579"/>
                  </a:ext>
                </a:extLst>
              </a:tr>
            </a:tbl>
          </a:graphicData>
        </a:graphic>
      </p:graphicFrame>
    </p:spTree>
    <p:extLst>
      <p:ext uri="{BB962C8B-B14F-4D97-AF65-F5344CB8AC3E}">
        <p14:creationId xmlns:p14="http://schemas.microsoft.com/office/powerpoint/2010/main" val="35838414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D7B2A-D78B-AB95-B3CA-D348E265D3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1CCEB5-0BD8-DE8D-677F-41003EBE5CB0}"/>
              </a:ext>
            </a:extLst>
          </p:cNvPr>
          <p:cNvSpPr>
            <a:spLocks noGrp="1"/>
          </p:cNvSpPr>
          <p:nvPr>
            <p:ph type="title"/>
          </p:nvPr>
        </p:nvSpPr>
        <p:spPr/>
        <p:txBody>
          <a:bodyPr/>
          <a:lstStyle/>
          <a:p>
            <a:r>
              <a:rPr lang="en-US" dirty="0"/>
              <a:t>Similar Tokens Sit Close Together</a:t>
            </a:r>
            <a:endParaRPr lang="en-IN" dirty="0"/>
          </a:p>
        </p:txBody>
      </p:sp>
      <p:sp>
        <p:nvSpPr>
          <p:cNvPr id="3" name="Content Placeholder 2">
            <a:extLst>
              <a:ext uri="{FF2B5EF4-FFF2-40B4-BE49-F238E27FC236}">
                <a16:creationId xmlns:a16="http://schemas.microsoft.com/office/drawing/2014/main" id="{1E60A6E6-21A8-12CD-A7AB-B80089A0ABF9}"/>
              </a:ext>
            </a:extLst>
          </p:cNvPr>
          <p:cNvSpPr>
            <a:spLocks noGrp="1"/>
          </p:cNvSpPr>
          <p:nvPr>
            <p:ph idx="1"/>
          </p:nvPr>
        </p:nvSpPr>
        <p:spPr>
          <a:xfrm>
            <a:off x="698953" y="1675075"/>
            <a:ext cx="10834234" cy="4398066"/>
          </a:xfrm>
        </p:spPr>
        <p:txBody>
          <a:bodyPr>
            <a:normAutofit/>
          </a:bodyPr>
          <a:lstStyle/>
          <a:p>
            <a:pPr marL="0" indent="0">
              <a:buNone/>
            </a:pPr>
            <a:r>
              <a:rPr lang="en-US" sz="2400" dirty="0">
                <a:solidFill>
                  <a:srgbClr val="161A3E"/>
                </a:solidFill>
              </a:rPr>
              <a:t>Let's take these 2 tokens as an example. </a:t>
            </a:r>
          </a:p>
          <a:p>
            <a:pPr marL="0" indent="0">
              <a:buNone/>
            </a:pPr>
            <a:endParaRPr lang="en-US" sz="2400" dirty="0">
              <a:solidFill>
                <a:srgbClr val="161A3E"/>
              </a:solidFill>
            </a:endParaRPr>
          </a:p>
          <a:p>
            <a:pPr marL="0" indent="0">
              <a:buNone/>
            </a:pPr>
            <a:endParaRPr lang="en-US" sz="2400" dirty="0">
              <a:solidFill>
                <a:srgbClr val="161A3E"/>
              </a:solidFill>
            </a:endParaRPr>
          </a:p>
          <a:p>
            <a:pPr marL="0" indent="0">
              <a:buNone/>
            </a:pPr>
            <a:endParaRPr lang="en-US" sz="2400" dirty="0">
              <a:solidFill>
                <a:srgbClr val="161A3E"/>
              </a:solidFill>
            </a:endParaRPr>
          </a:p>
          <a:p>
            <a:pPr marL="0" indent="0">
              <a:buNone/>
            </a:pPr>
            <a:endParaRPr lang="en-US" sz="2400" dirty="0">
              <a:solidFill>
                <a:srgbClr val="161A3E"/>
              </a:solidFill>
            </a:endParaRPr>
          </a:p>
          <a:p>
            <a:pPr marL="0" indent="0">
              <a:buNone/>
            </a:pPr>
            <a:r>
              <a:rPr lang="en-US" sz="2400" dirty="0">
                <a:solidFill>
                  <a:srgbClr val="161A3E"/>
                </a:solidFill>
              </a:rPr>
              <a:t>Similarity is usually measured with cosine distance.</a:t>
            </a:r>
            <a:endParaRPr lang="en-IN" sz="2400" dirty="0">
              <a:solidFill>
                <a:srgbClr val="161A3E"/>
              </a:solidFill>
            </a:endParaRPr>
          </a:p>
        </p:txBody>
      </p:sp>
      <p:graphicFrame>
        <p:nvGraphicFramePr>
          <p:cNvPr id="7" name="Table 6">
            <a:extLst>
              <a:ext uri="{FF2B5EF4-FFF2-40B4-BE49-F238E27FC236}">
                <a16:creationId xmlns:a16="http://schemas.microsoft.com/office/drawing/2014/main" id="{AA832250-E639-1CE1-C2B0-572AA5A6584A}"/>
              </a:ext>
            </a:extLst>
          </p:cNvPr>
          <p:cNvGraphicFramePr>
            <a:graphicFrameLocks noGrp="1"/>
          </p:cNvGraphicFramePr>
          <p:nvPr>
            <p:extLst>
              <p:ext uri="{D42A27DB-BD31-4B8C-83A1-F6EECF244321}">
                <p14:modId xmlns:p14="http://schemas.microsoft.com/office/powerpoint/2010/main" val="4220542244"/>
              </p:ext>
            </p:extLst>
          </p:nvPr>
        </p:nvGraphicFramePr>
        <p:xfrm>
          <a:off x="678885" y="2490306"/>
          <a:ext cx="6328406" cy="942542"/>
        </p:xfrm>
        <a:graphic>
          <a:graphicData uri="http://schemas.openxmlformats.org/drawingml/2006/table">
            <a:tbl>
              <a:tblPr/>
              <a:tblGrid>
                <a:gridCol w="686362">
                  <a:extLst>
                    <a:ext uri="{9D8B030D-6E8A-4147-A177-3AD203B41FA5}">
                      <a16:colId xmlns:a16="http://schemas.microsoft.com/office/drawing/2014/main" val="2426285658"/>
                    </a:ext>
                  </a:extLst>
                </a:gridCol>
                <a:gridCol w="5642044">
                  <a:extLst>
                    <a:ext uri="{9D8B030D-6E8A-4147-A177-3AD203B41FA5}">
                      <a16:colId xmlns:a16="http://schemas.microsoft.com/office/drawing/2014/main" val="1628471399"/>
                    </a:ext>
                  </a:extLst>
                </a:gridCol>
              </a:tblGrid>
              <a:tr h="471271">
                <a:tc>
                  <a:txBody>
                    <a:bodyPr/>
                    <a:lstStyle/>
                    <a:p>
                      <a:r>
                        <a:rPr lang="en-IN" dirty="0"/>
                        <a:t>dog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[0.42, 0.97, 0.95, 0.18]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7354374"/>
                  </a:ext>
                </a:extLst>
              </a:tr>
              <a:tr h="471271">
                <a:tc>
                  <a:txBody>
                    <a:bodyPr/>
                    <a:lstStyle/>
                    <a:p>
                      <a:r>
                        <a:rPr lang="en-IN" dirty="0"/>
                        <a:t>cat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[0.73, 0.04, 0.01, 0.12]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5435579"/>
                  </a:ext>
                </a:extLst>
              </a:tr>
            </a:tbl>
          </a:graphicData>
        </a:graphic>
      </p:graphicFrame>
      <p:pic>
        <p:nvPicPr>
          <p:cNvPr id="4098" name="Picture 2" descr="Output image">
            <a:extLst>
              <a:ext uri="{FF2B5EF4-FFF2-40B4-BE49-F238E27FC236}">
                <a16:creationId xmlns:a16="http://schemas.microsoft.com/office/drawing/2014/main" id="{214015B7-9E4C-9FE8-F8FD-7328361DFBD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20791" y="2163897"/>
            <a:ext cx="3413296" cy="34204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00282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710C4-F878-BE47-4CFA-0469313236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1C9366-B280-C0B0-9DE2-9F7739FBD848}"/>
              </a:ext>
            </a:extLst>
          </p:cNvPr>
          <p:cNvSpPr>
            <a:spLocks noGrp="1"/>
          </p:cNvSpPr>
          <p:nvPr>
            <p:ph type="title"/>
          </p:nvPr>
        </p:nvSpPr>
        <p:spPr/>
        <p:txBody>
          <a:bodyPr/>
          <a:lstStyle/>
          <a:p>
            <a:r>
              <a:rPr lang="en-US" dirty="0"/>
              <a:t>Feature 1: Fluffiness Amount</a:t>
            </a:r>
            <a:endParaRPr lang="en-IN" dirty="0"/>
          </a:p>
        </p:txBody>
      </p:sp>
      <p:sp>
        <p:nvSpPr>
          <p:cNvPr id="3" name="Content Placeholder 2">
            <a:extLst>
              <a:ext uri="{FF2B5EF4-FFF2-40B4-BE49-F238E27FC236}">
                <a16:creationId xmlns:a16="http://schemas.microsoft.com/office/drawing/2014/main" id="{23577490-ADF8-2EC2-E0EC-8B009E00FCA3}"/>
              </a:ext>
            </a:extLst>
          </p:cNvPr>
          <p:cNvSpPr>
            <a:spLocks noGrp="1"/>
          </p:cNvSpPr>
          <p:nvPr>
            <p:ph idx="1"/>
          </p:nvPr>
        </p:nvSpPr>
        <p:spPr/>
        <p:txBody>
          <a:bodyPr>
            <a:normAutofit/>
          </a:bodyPr>
          <a:lstStyle/>
          <a:p>
            <a:pPr marL="0" indent="0">
              <a:spcBef>
                <a:spcPts val="1200"/>
              </a:spcBef>
              <a:spcAft>
                <a:spcPts val="600"/>
              </a:spcAft>
              <a:buNone/>
            </a:pPr>
            <a:r>
              <a:rPr lang="en-US" sz="2400" b="1" dirty="0">
                <a:solidFill>
                  <a:srgbClr val="161A3E"/>
                </a:solidFill>
              </a:rPr>
              <a:t>|</a:t>
            </a:r>
            <a:r>
              <a:rPr lang="en-US" sz="2400" dirty="0">
                <a:solidFill>
                  <a:srgbClr val="161A3E"/>
                </a:solidFill>
              </a:rPr>
              <a:t>	</a:t>
            </a:r>
            <a:r>
              <a:rPr lang="en-US" sz="2400" i="1" dirty="0">
                <a:solidFill>
                  <a:srgbClr val="161A3E"/>
                </a:solidFill>
                <a:latin typeface="+mj-lt"/>
              </a:rPr>
              <a:t>How soft, fuzzy, and likely to leave hair on your favorite hoodie?</a:t>
            </a:r>
          </a:p>
          <a:p>
            <a:pPr>
              <a:spcBef>
                <a:spcPts val="1200"/>
              </a:spcBef>
              <a:spcAft>
                <a:spcPts val="600"/>
              </a:spcAft>
            </a:pPr>
            <a:r>
              <a:rPr lang="en-US" sz="2400" b="1" dirty="0">
                <a:solidFill>
                  <a:srgbClr val="161A3E"/>
                </a:solidFill>
              </a:rPr>
              <a:t>Dog</a:t>
            </a:r>
            <a:r>
              <a:rPr lang="en-US" sz="2400" dirty="0">
                <a:solidFill>
                  <a:srgbClr val="161A3E"/>
                </a:solidFill>
              </a:rPr>
              <a:t> → </a:t>
            </a:r>
            <a:r>
              <a:rPr lang="en-US" sz="2400" dirty="0">
                <a:solidFill>
                  <a:srgbClr val="161A3E"/>
                </a:solidFill>
                <a:highlight>
                  <a:srgbClr val="C0C0C0"/>
                </a:highlight>
              </a:rPr>
              <a:t>0.42</a:t>
            </a:r>
            <a:br>
              <a:rPr lang="en-US" sz="2400" dirty="0">
                <a:solidFill>
                  <a:srgbClr val="161A3E"/>
                </a:solidFill>
              </a:rPr>
            </a:br>
            <a:r>
              <a:rPr lang="en-US" sz="2400" dirty="0">
                <a:solidFill>
                  <a:srgbClr val="161A3E"/>
                </a:solidFill>
              </a:rPr>
              <a:t>Dogs come in all fluff levels, from bald weirdos to walking cotton balls.</a:t>
            </a:r>
          </a:p>
          <a:p>
            <a:pPr>
              <a:spcBef>
                <a:spcPts val="1200"/>
              </a:spcBef>
              <a:spcAft>
                <a:spcPts val="600"/>
              </a:spcAft>
            </a:pPr>
            <a:r>
              <a:rPr lang="en-US" sz="2400" b="1" dirty="0">
                <a:solidFill>
                  <a:srgbClr val="161A3E"/>
                </a:solidFill>
              </a:rPr>
              <a:t>Cat</a:t>
            </a:r>
            <a:r>
              <a:rPr lang="en-US" sz="2400" dirty="0">
                <a:solidFill>
                  <a:srgbClr val="161A3E"/>
                </a:solidFill>
              </a:rPr>
              <a:t> → </a:t>
            </a:r>
            <a:r>
              <a:rPr lang="en-US" sz="2400" dirty="0">
                <a:solidFill>
                  <a:srgbClr val="161A3E"/>
                </a:solidFill>
                <a:highlight>
                  <a:srgbClr val="C0C0C0"/>
                </a:highlight>
              </a:rPr>
              <a:t>0.73</a:t>
            </a:r>
            <a:br>
              <a:rPr lang="en-US" sz="2400" dirty="0">
                <a:solidFill>
                  <a:srgbClr val="161A3E"/>
                </a:solidFill>
              </a:rPr>
            </a:br>
            <a:r>
              <a:rPr lang="en-US" sz="2400" dirty="0">
                <a:solidFill>
                  <a:srgbClr val="161A3E"/>
                </a:solidFill>
              </a:rPr>
              <a:t>Living fur clouds. Built for maximum softness.</a:t>
            </a:r>
          </a:p>
        </p:txBody>
      </p:sp>
    </p:spTree>
    <p:extLst>
      <p:ext uri="{BB962C8B-B14F-4D97-AF65-F5344CB8AC3E}">
        <p14:creationId xmlns:p14="http://schemas.microsoft.com/office/powerpoint/2010/main" val="27306440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C1EF5-7F31-32F1-8070-B65849D3A2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33EC55-1B8B-0BC9-ECEB-11CA301530C6}"/>
              </a:ext>
            </a:extLst>
          </p:cNvPr>
          <p:cNvSpPr>
            <a:spLocks noGrp="1"/>
          </p:cNvSpPr>
          <p:nvPr>
            <p:ph type="title"/>
          </p:nvPr>
        </p:nvSpPr>
        <p:spPr/>
        <p:txBody>
          <a:bodyPr/>
          <a:lstStyle/>
          <a:p>
            <a:r>
              <a:rPr lang="en-US" dirty="0"/>
              <a:t>Feature 2: Willingness to Save Your Life</a:t>
            </a:r>
            <a:endParaRPr lang="en-IN" dirty="0"/>
          </a:p>
        </p:txBody>
      </p:sp>
      <p:sp>
        <p:nvSpPr>
          <p:cNvPr id="3" name="Content Placeholder 2">
            <a:extLst>
              <a:ext uri="{FF2B5EF4-FFF2-40B4-BE49-F238E27FC236}">
                <a16:creationId xmlns:a16="http://schemas.microsoft.com/office/drawing/2014/main" id="{3A5D923F-1C5A-BFE4-3625-97F05E437E22}"/>
              </a:ext>
            </a:extLst>
          </p:cNvPr>
          <p:cNvSpPr>
            <a:spLocks noGrp="1"/>
          </p:cNvSpPr>
          <p:nvPr>
            <p:ph idx="1"/>
          </p:nvPr>
        </p:nvSpPr>
        <p:spPr/>
        <p:txBody>
          <a:bodyPr>
            <a:normAutofit/>
          </a:bodyPr>
          <a:lstStyle/>
          <a:p>
            <a:pPr marL="0" indent="0">
              <a:spcBef>
                <a:spcPts val="1200"/>
              </a:spcBef>
              <a:spcAft>
                <a:spcPts val="600"/>
              </a:spcAft>
              <a:buNone/>
            </a:pPr>
            <a:r>
              <a:rPr lang="en-US" sz="2400" b="1" dirty="0">
                <a:solidFill>
                  <a:srgbClr val="161A3E"/>
                </a:solidFill>
              </a:rPr>
              <a:t>|</a:t>
            </a:r>
            <a:r>
              <a:rPr lang="en-US" sz="2400" dirty="0">
                <a:solidFill>
                  <a:srgbClr val="161A3E"/>
                </a:solidFill>
              </a:rPr>
              <a:t>	</a:t>
            </a:r>
            <a:r>
              <a:rPr lang="en-US" sz="2400" i="1" dirty="0">
                <a:solidFill>
                  <a:srgbClr val="161A3E"/>
                </a:solidFill>
                <a:latin typeface="+mj-lt"/>
              </a:rPr>
              <a:t>If you're in a lake and can't swim… will it save you?</a:t>
            </a:r>
          </a:p>
          <a:p>
            <a:pPr>
              <a:spcBef>
                <a:spcPts val="1200"/>
              </a:spcBef>
              <a:spcAft>
                <a:spcPts val="600"/>
              </a:spcAft>
            </a:pPr>
            <a:r>
              <a:rPr lang="en-US" sz="2400" b="1" dirty="0">
                <a:solidFill>
                  <a:srgbClr val="161A3E"/>
                </a:solidFill>
              </a:rPr>
              <a:t>Dog</a:t>
            </a:r>
            <a:r>
              <a:rPr lang="en-US" sz="2400" dirty="0">
                <a:solidFill>
                  <a:srgbClr val="161A3E"/>
                </a:solidFill>
              </a:rPr>
              <a:t> → </a:t>
            </a:r>
            <a:r>
              <a:rPr lang="en-US" sz="2400" dirty="0">
                <a:solidFill>
                  <a:srgbClr val="161A3E"/>
                </a:solidFill>
                <a:highlight>
                  <a:srgbClr val="C0C0C0"/>
                </a:highlight>
              </a:rPr>
              <a:t>0.97</a:t>
            </a:r>
            <a:br>
              <a:rPr lang="en-US" sz="2400" dirty="0">
                <a:solidFill>
                  <a:srgbClr val="161A3E"/>
                </a:solidFill>
              </a:rPr>
            </a:br>
            <a:r>
              <a:rPr lang="en-US" sz="2400" dirty="0">
                <a:solidFill>
                  <a:srgbClr val="161A3E"/>
                </a:solidFill>
              </a:rPr>
              <a:t>Leaps in with heroic urgency. Risks life. Brings floaty.</a:t>
            </a:r>
          </a:p>
          <a:p>
            <a:pPr>
              <a:spcBef>
                <a:spcPts val="1200"/>
              </a:spcBef>
              <a:spcAft>
                <a:spcPts val="600"/>
              </a:spcAft>
            </a:pPr>
            <a:r>
              <a:rPr lang="en-US" sz="2400" b="1" dirty="0">
                <a:solidFill>
                  <a:srgbClr val="161A3E"/>
                </a:solidFill>
              </a:rPr>
              <a:t>Cat</a:t>
            </a:r>
            <a:r>
              <a:rPr lang="en-US" sz="2400" dirty="0">
                <a:solidFill>
                  <a:srgbClr val="161A3E"/>
                </a:solidFill>
              </a:rPr>
              <a:t> → </a:t>
            </a:r>
            <a:r>
              <a:rPr lang="en-US" sz="2400" dirty="0">
                <a:solidFill>
                  <a:srgbClr val="161A3E"/>
                </a:solidFill>
                <a:highlight>
                  <a:srgbClr val="C0C0C0"/>
                </a:highlight>
              </a:rPr>
              <a:t>0.04</a:t>
            </a:r>
            <a:br>
              <a:rPr lang="en-US" sz="2400" dirty="0">
                <a:solidFill>
                  <a:srgbClr val="161A3E"/>
                </a:solidFill>
              </a:rPr>
            </a:br>
            <a:r>
              <a:rPr lang="en-US" sz="2400" dirty="0">
                <a:solidFill>
                  <a:srgbClr val="161A3E"/>
                </a:solidFill>
              </a:rPr>
              <a:t>The one who pushed you into the water.</a:t>
            </a:r>
          </a:p>
        </p:txBody>
      </p:sp>
    </p:spTree>
    <p:extLst>
      <p:ext uri="{BB962C8B-B14F-4D97-AF65-F5344CB8AC3E}">
        <p14:creationId xmlns:p14="http://schemas.microsoft.com/office/powerpoint/2010/main" val="6289426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19012-356D-EDCE-6A97-FD361F1EF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0D5596-2C10-014E-8B9A-5E8AB0E8ADA8}"/>
              </a:ext>
            </a:extLst>
          </p:cNvPr>
          <p:cNvSpPr>
            <a:spLocks noGrp="1"/>
          </p:cNvSpPr>
          <p:nvPr>
            <p:ph type="title"/>
          </p:nvPr>
        </p:nvSpPr>
        <p:spPr/>
        <p:txBody>
          <a:bodyPr/>
          <a:lstStyle/>
          <a:p>
            <a:r>
              <a:rPr lang="en-US" dirty="0"/>
              <a:t>Feature 3: Gratefulness</a:t>
            </a:r>
            <a:endParaRPr lang="en-IN" dirty="0"/>
          </a:p>
        </p:txBody>
      </p:sp>
      <p:sp>
        <p:nvSpPr>
          <p:cNvPr id="3" name="Content Placeholder 2">
            <a:extLst>
              <a:ext uri="{FF2B5EF4-FFF2-40B4-BE49-F238E27FC236}">
                <a16:creationId xmlns:a16="http://schemas.microsoft.com/office/drawing/2014/main" id="{2F100D7A-FF3B-964D-582C-2B7DCDBDB609}"/>
              </a:ext>
            </a:extLst>
          </p:cNvPr>
          <p:cNvSpPr>
            <a:spLocks noGrp="1"/>
          </p:cNvSpPr>
          <p:nvPr>
            <p:ph idx="1"/>
          </p:nvPr>
        </p:nvSpPr>
        <p:spPr/>
        <p:txBody>
          <a:bodyPr>
            <a:normAutofit/>
          </a:bodyPr>
          <a:lstStyle/>
          <a:p>
            <a:pPr marL="0" indent="0">
              <a:spcBef>
                <a:spcPts val="1200"/>
              </a:spcBef>
              <a:spcAft>
                <a:spcPts val="600"/>
              </a:spcAft>
              <a:buNone/>
            </a:pPr>
            <a:r>
              <a:rPr lang="en-US" sz="2400" b="1" dirty="0">
                <a:solidFill>
                  <a:srgbClr val="161A3E"/>
                </a:solidFill>
              </a:rPr>
              <a:t>|</a:t>
            </a:r>
            <a:r>
              <a:rPr lang="en-US" sz="2400" dirty="0">
                <a:solidFill>
                  <a:srgbClr val="161A3E"/>
                </a:solidFill>
              </a:rPr>
              <a:t>	</a:t>
            </a:r>
            <a:r>
              <a:rPr lang="en-US" sz="2400" i="1" dirty="0">
                <a:solidFill>
                  <a:srgbClr val="161A3E"/>
                </a:solidFill>
                <a:latin typeface="+mj-lt"/>
              </a:rPr>
              <a:t>How much it appreciates everything you do for it?</a:t>
            </a:r>
          </a:p>
          <a:p>
            <a:pPr>
              <a:spcBef>
                <a:spcPts val="1200"/>
              </a:spcBef>
              <a:spcAft>
                <a:spcPts val="600"/>
              </a:spcAft>
            </a:pPr>
            <a:r>
              <a:rPr lang="en-US" sz="2400" b="1" dirty="0">
                <a:solidFill>
                  <a:srgbClr val="161A3E"/>
                </a:solidFill>
              </a:rPr>
              <a:t>Dog</a:t>
            </a:r>
            <a:r>
              <a:rPr lang="en-US" sz="2400" dirty="0">
                <a:solidFill>
                  <a:srgbClr val="161A3E"/>
                </a:solidFill>
              </a:rPr>
              <a:t> → </a:t>
            </a:r>
            <a:r>
              <a:rPr lang="en-US" sz="2400" dirty="0">
                <a:solidFill>
                  <a:srgbClr val="161A3E"/>
                </a:solidFill>
                <a:highlight>
                  <a:srgbClr val="C0C0C0"/>
                </a:highlight>
              </a:rPr>
              <a:t>0.95</a:t>
            </a:r>
            <a:br>
              <a:rPr lang="en-US" sz="2400" dirty="0">
                <a:solidFill>
                  <a:srgbClr val="161A3E"/>
                </a:solidFill>
              </a:rPr>
            </a:br>
            <a:r>
              <a:rPr lang="en-US" sz="2400" dirty="0">
                <a:solidFill>
                  <a:srgbClr val="161A3E"/>
                </a:solidFill>
              </a:rPr>
              <a:t>Thinks you hung the moon. Worships your every move. Applauds your shoe-tying skills.</a:t>
            </a:r>
          </a:p>
          <a:p>
            <a:pPr>
              <a:spcBef>
                <a:spcPts val="1200"/>
              </a:spcBef>
              <a:spcAft>
                <a:spcPts val="600"/>
              </a:spcAft>
            </a:pPr>
            <a:r>
              <a:rPr lang="en-US" sz="2400" b="1" dirty="0">
                <a:solidFill>
                  <a:srgbClr val="161A3E"/>
                </a:solidFill>
              </a:rPr>
              <a:t>Cat</a:t>
            </a:r>
            <a:r>
              <a:rPr lang="en-US" sz="2400" dirty="0">
                <a:solidFill>
                  <a:srgbClr val="161A3E"/>
                </a:solidFill>
              </a:rPr>
              <a:t> → </a:t>
            </a:r>
            <a:r>
              <a:rPr lang="en-US" sz="2400" dirty="0">
                <a:solidFill>
                  <a:srgbClr val="161A3E"/>
                </a:solidFill>
                <a:highlight>
                  <a:srgbClr val="C0C0C0"/>
                </a:highlight>
              </a:rPr>
              <a:t>0.01</a:t>
            </a:r>
            <a:br>
              <a:rPr lang="en-US" sz="2400" dirty="0">
                <a:solidFill>
                  <a:srgbClr val="161A3E"/>
                </a:solidFill>
              </a:rPr>
            </a:br>
            <a:r>
              <a:rPr lang="en-US" sz="2400" dirty="0">
                <a:solidFill>
                  <a:srgbClr val="161A3E"/>
                </a:solidFill>
              </a:rPr>
              <a:t>You are but a mere butler, void of any purpose beyond servitude.</a:t>
            </a:r>
          </a:p>
        </p:txBody>
      </p:sp>
    </p:spTree>
    <p:extLst>
      <p:ext uri="{BB962C8B-B14F-4D97-AF65-F5344CB8AC3E}">
        <p14:creationId xmlns:p14="http://schemas.microsoft.com/office/powerpoint/2010/main" val="636173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EDF9F-E95F-418C-EACC-C9C6AA92A7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2CC69A-D887-1200-6A58-28080E770B98}"/>
              </a:ext>
            </a:extLst>
          </p:cNvPr>
          <p:cNvSpPr>
            <a:spLocks noGrp="1"/>
          </p:cNvSpPr>
          <p:nvPr>
            <p:ph type="title"/>
          </p:nvPr>
        </p:nvSpPr>
        <p:spPr/>
        <p:txBody>
          <a:bodyPr/>
          <a:lstStyle/>
          <a:p>
            <a:r>
              <a:rPr lang="en-US" dirty="0"/>
              <a:t>Interpreting Dimensions</a:t>
            </a:r>
            <a:endParaRPr lang="en-IN" dirty="0"/>
          </a:p>
        </p:txBody>
      </p:sp>
      <p:sp>
        <p:nvSpPr>
          <p:cNvPr id="3" name="Content Placeholder 2">
            <a:extLst>
              <a:ext uri="{FF2B5EF4-FFF2-40B4-BE49-F238E27FC236}">
                <a16:creationId xmlns:a16="http://schemas.microsoft.com/office/drawing/2014/main" id="{F4895538-D685-9747-43A6-CD39CC97325F}"/>
              </a:ext>
            </a:extLst>
          </p:cNvPr>
          <p:cNvSpPr>
            <a:spLocks noGrp="1"/>
          </p:cNvSpPr>
          <p:nvPr>
            <p:ph idx="1"/>
          </p:nvPr>
        </p:nvSpPr>
        <p:spPr/>
        <p:txBody>
          <a:bodyPr>
            <a:normAutofit lnSpcReduction="10000"/>
          </a:bodyPr>
          <a:lstStyle/>
          <a:p>
            <a:pPr marL="0" indent="0">
              <a:spcBef>
                <a:spcPts val="1200"/>
              </a:spcBef>
              <a:spcAft>
                <a:spcPts val="600"/>
              </a:spcAft>
              <a:buNone/>
            </a:pPr>
            <a:r>
              <a:rPr lang="en-US" sz="2400" dirty="0">
                <a:solidFill>
                  <a:srgbClr val="161A3E"/>
                </a:solidFill>
              </a:rPr>
              <a:t>Note that names of these features are illustrative; real models don’t have human-readable axes.</a:t>
            </a:r>
          </a:p>
          <a:p>
            <a:pPr marL="0" indent="0">
              <a:spcBef>
                <a:spcPts val="1200"/>
              </a:spcBef>
              <a:spcAft>
                <a:spcPts val="600"/>
              </a:spcAft>
              <a:buNone/>
            </a:pPr>
            <a:endParaRPr lang="en-US" sz="2400" dirty="0">
              <a:solidFill>
                <a:srgbClr val="161A3E"/>
              </a:solidFill>
            </a:endParaRPr>
          </a:p>
          <a:p>
            <a:pPr marL="0" indent="0">
              <a:spcBef>
                <a:spcPts val="1200"/>
              </a:spcBef>
              <a:spcAft>
                <a:spcPts val="600"/>
              </a:spcAft>
              <a:buNone/>
            </a:pPr>
            <a:endParaRPr lang="en-US" sz="2400" dirty="0">
              <a:solidFill>
                <a:srgbClr val="161A3E"/>
              </a:solidFill>
            </a:endParaRPr>
          </a:p>
          <a:p>
            <a:pPr marL="0" indent="0">
              <a:spcBef>
                <a:spcPts val="1200"/>
              </a:spcBef>
              <a:spcAft>
                <a:spcPts val="600"/>
              </a:spcAft>
              <a:buNone/>
            </a:pPr>
            <a:endParaRPr lang="en-US" sz="2400" dirty="0">
              <a:solidFill>
                <a:srgbClr val="161A3E"/>
              </a:solidFill>
            </a:endParaRPr>
          </a:p>
          <a:p>
            <a:pPr marL="0" indent="0">
              <a:spcBef>
                <a:spcPts val="1200"/>
              </a:spcBef>
              <a:spcAft>
                <a:spcPts val="600"/>
              </a:spcAft>
              <a:buNone/>
            </a:pPr>
            <a:endParaRPr lang="en-US" sz="2400" dirty="0">
              <a:solidFill>
                <a:srgbClr val="161A3E"/>
              </a:solidFill>
            </a:endParaRPr>
          </a:p>
          <a:p>
            <a:pPr marL="0" indent="0">
              <a:spcBef>
                <a:spcPts val="1200"/>
              </a:spcBef>
              <a:spcAft>
                <a:spcPts val="600"/>
              </a:spcAft>
              <a:buNone/>
            </a:pPr>
            <a:r>
              <a:rPr lang="en-US" sz="2400" b="1" i="1" dirty="0">
                <a:solidFill>
                  <a:srgbClr val="161A3E"/>
                </a:solidFill>
              </a:rPr>
              <a:t>Important Caveat</a:t>
            </a:r>
          </a:p>
          <a:p>
            <a:pPr>
              <a:spcBef>
                <a:spcPts val="1200"/>
              </a:spcBef>
              <a:spcAft>
                <a:spcPts val="600"/>
              </a:spcAft>
            </a:pPr>
            <a:r>
              <a:rPr lang="en-US" sz="2400" dirty="0">
                <a:solidFill>
                  <a:srgbClr val="161A3E"/>
                </a:solidFill>
              </a:rPr>
              <a:t>One dimension may encode different traits for different tokens.  </a:t>
            </a:r>
          </a:p>
          <a:p>
            <a:pPr>
              <a:spcBef>
                <a:spcPts val="1200"/>
              </a:spcBef>
              <a:spcAft>
                <a:spcPts val="600"/>
              </a:spcAft>
            </a:pPr>
            <a:r>
              <a:rPr lang="en-US" sz="2400" dirty="0">
                <a:solidFill>
                  <a:srgbClr val="161A3E"/>
                </a:solidFill>
              </a:rPr>
              <a:t>Several dimensions can combine to express a single concept.</a:t>
            </a:r>
          </a:p>
        </p:txBody>
      </p:sp>
      <p:graphicFrame>
        <p:nvGraphicFramePr>
          <p:cNvPr id="4" name="Table 3">
            <a:extLst>
              <a:ext uri="{FF2B5EF4-FFF2-40B4-BE49-F238E27FC236}">
                <a16:creationId xmlns:a16="http://schemas.microsoft.com/office/drawing/2014/main" id="{9B715CFB-2C5E-97F4-DADB-17DC35D55155}"/>
              </a:ext>
            </a:extLst>
          </p:cNvPr>
          <p:cNvGraphicFramePr>
            <a:graphicFrameLocks noGrp="1"/>
          </p:cNvGraphicFramePr>
          <p:nvPr>
            <p:extLst>
              <p:ext uri="{D42A27DB-BD31-4B8C-83A1-F6EECF244321}">
                <p14:modId xmlns:p14="http://schemas.microsoft.com/office/powerpoint/2010/main" val="96062735"/>
              </p:ext>
            </p:extLst>
          </p:nvPr>
        </p:nvGraphicFramePr>
        <p:xfrm>
          <a:off x="658814" y="2641767"/>
          <a:ext cx="10874373" cy="1483360"/>
        </p:xfrm>
        <a:graphic>
          <a:graphicData uri="http://schemas.openxmlformats.org/drawingml/2006/table">
            <a:tbl>
              <a:tblPr firstRow="1" bandRow="1">
                <a:tableStyleId>{2D5ABB26-0587-4C30-8999-92F81FD0307C}</a:tableStyleId>
              </a:tblPr>
              <a:tblGrid>
                <a:gridCol w="3624791">
                  <a:extLst>
                    <a:ext uri="{9D8B030D-6E8A-4147-A177-3AD203B41FA5}">
                      <a16:colId xmlns:a16="http://schemas.microsoft.com/office/drawing/2014/main" val="3076565579"/>
                    </a:ext>
                  </a:extLst>
                </a:gridCol>
                <a:gridCol w="3624791">
                  <a:extLst>
                    <a:ext uri="{9D8B030D-6E8A-4147-A177-3AD203B41FA5}">
                      <a16:colId xmlns:a16="http://schemas.microsoft.com/office/drawing/2014/main" val="878914143"/>
                    </a:ext>
                  </a:extLst>
                </a:gridCol>
                <a:gridCol w="3624791">
                  <a:extLst>
                    <a:ext uri="{9D8B030D-6E8A-4147-A177-3AD203B41FA5}">
                      <a16:colId xmlns:a16="http://schemas.microsoft.com/office/drawing/2014/main" val="4097457431"/>
                    </a:ext>
                  </a:extLst>
                </a:gridCol>
              </a:tblGrid>
              <a:tr h="370840">
                <a:tc>
                  <a:txBody>
                    <a:bodyPr/>
                    <a:lstStyle/>
                    <a:p>
                      <a:r>
                        <a:rPr lang="en-IN" b="1" dirty="0"/>
                        <a:t>Dimension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b="1" dirty="0"/>
                        <a:t>Dog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b="1" dirty="0"/>
                        <a:t>Cat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858113259"/>
                  </a:ext>
                </a:extLst>
              </a:tr>
              <a:tr h="370840">
                <a:tc>
                  <a:txBody>
                    <a:bodyPr/>
                    <a:lstStyle/>
                    <a:p>
                      <a:r>
                        <a:rPr lang="en-IN" dirty="0"/>
                        <a:t>Fluffiness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 0.42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0.73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92359391"/>
                  </a:ext>
                </a:extLst>
              </a:tr>
              <a:tr h="370840">
                <a:tc>
                  <a:txBody>
                    <a:bodyPr/>
                    <a:lstStyle/>
                    <a:p>
                      <a:r>
                        <a:rPr lang="en-IN" dirty="0"/>
                        <a:t>Heroism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0.97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3020559"/>
                  </a:ext>
                </a:extLst>
              </a:tr>
              <a:tr h="370840">
                <a:tc>
                  <a:txBody>
                    <a:bodyPr/>
                    <a:lstStyle/>
                    <a:p>
                      <a:r>
                        <a:rPr lang="en-IN" dirty="0"/>
                        <a:t>Gratefulness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0.95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0046963"/>
                  </a:ext>
                </a:extLst>
              </a:tr>
            </a:tbl>
          </a:graphicData>
        </a:graphic>
      </p:graphicFrame>
    </p:spTree>
    <p:extLst>
      <p:ext uri="{BB962C8B-B14F-4D97-AF65-F5344CB8AC3E}">
        <p14:creationId xmlns:p14="http://schemas.microsoft.com/office/powerpoint/2010/main" val="24631937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B6A5D-7CAF-C1D9-81E7-EC035C6A61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A115A4-2DC6-9336-1504-3BBE851195FB}"/>
              </a:ext>
            </a:extLst>
          </p:cNvPr>
          <p:cNvSpPr>
            <a:spLocks noGrp="1"/>
          </p:cNvSpPr>
          <p:nvPr>
            <p:ph type="title"/>
          </p:nvPr>
        </p:nvSpPr>
        <p:spPr>
          <a:xfrm>
            <a:off x="669552" y="594335"/>
            <a:ext cx="10863635" cy="639153"/>
          </a:xfrm>
        </p:spPr>
        <p:txBody>
          <a:bodyPr/>
          <a:lstStyle/>
          <a:p>
            <a:r>
              <a:rPr lang="en-US" dirty="0"/>
              <a:t>How the Model Learns Embeddings</a:t>
            </a:r>
            <a:endParaRPr lang="en-IN" dirty="0"/>
          </a:p>
        </p:txBody>
      </p:sp>
      <p:sp>
        <p:nvSpPr>
          <p:cNvPr id="3" name="Content Placeholder 2">
            <a:extLst>
              <a:ext uri="{FF2B5EF4-FFF2-40B4-BE49-F238E27FC236}">
                <a16:creationId xmlns:a16="http://schemas.microsoft.com/office/drawing/2014/main" id="{72FB6293-196F-0009-7456-1F545CC606FC}"/>
              </a:ext>
            </a:extLst>
          </p:cNvPr>
          <p:cNvSpPr>
            <a:spLocks noGrp="1"/>
          </p:cNvSpPr>
          <p:nvPr>
            <p:ph idx="1"/>
          </p:nvPr>
        </p:nvSpPr>
        <p:spPr/>
        <p:txBody>
          <a:bodyPr>
            <a:normAutofit/>
          </a:bodyPr>
          <a:lstStyle/>
          <a:p>
            <a:pPr>
              <a:spcBef>
                <a:spcPts val="1200"/>
              </a:spcBef>
              <a:spcAft>
                <a:spcPts val="600"/>
              </a:spcAft>
            </a:pPr>
            <a:r>
              <a:rPr lang="en-US" sz="2400" dirty="0">
                <a:solidFill>
                  <a:srgbClr val="161A3E"/>
                </a:solidFill>
              </a:rPr>
              <a:t> </a:t>
            </a:r>
            <a:r>
              <a:rPr lang="en-US" sz="2400" b="1" dirty="0">
                <a:solidFill>
                  <a:srgbClr val="161A3E"/>
                </a:solidFill>
              </a:rPr>
              <a:t>Learned, not hand-engineered.</a:t>
            </a:r>
            <a:br>
              <a:rPr lang="en-US" sz="2400" b="1" dirty="0">
                <a:solidFill>
                  <a:srgbClr val="161A3E"/>
                </a:solidFill>
              </a:rPr>
            </a:br>
            <a:r>
              <a:rPr lang="en-US" sz="2400" dirty="0">
                <a:solidFill>
                  <a:srgbClr val="161A3E"/>
                </a:solidFill>
              </a:rPr>
              <a:t>These vector embeddings aren't manually created by human scientists — the AI learns them by reading the entire data (trillions of words), trying to predict the next token as it had read it, and adjusting vector embeddings for each token and other numbers (parameters) so its predicted token matches the actual token in the training data.</a:t>
            </a:r>
          </a:p>
          <a:p>
            <a:pPr>
              <a:spcBef>
                <a:spcPts val="1200"/>
              </a:spcBef>
              <a:spcAft>
                <a:spcPts val="600"/>
              </a:spcAft>
            </a:pPr>
            <a:r>
              <a:rPr lang="en-US" sz="2400" b="1" dirty="0">
                <a:solidFill>
                  <a:srgbClr val="161A3E"/>
                </a:solidFill>
              </a:rPr>
              <a:t>Back-propagation clusters similar contexts</a:t>
            </a:r>
            <a:br>
              <a:rPr lang="en-US" sz="2400" dirty="0">
                <a:solidFill>
                  <a:srgbClr val="161A3E"/>
                </a:solidFill>
              </a:rPr>
            </a:br>
            <a:r>
              <a:rPr lang="en-US" sz="2400" dirty="0">
                <a:solidFill>
                  <a:srgbClr val="161A3E"/>
                </a:solidFill>
              </a:rPr>
              <a:t>When the model guesses the next token incorrectly, it tweaks each token’s vector and other parameters, so the correct token is more likely—and the wrong ones less likely—the next time around.</a:t>
            </a:r>
          </a:p>
        </p:txBody>
      </p:sp>
    </p:spTree>
    <p:extLst>
      <p:ext uri="{BB962C8B-B14F-4D97-AF65-F5344CB8AC3E}">
        <p14:creationId xmlns:p14="http://schemas.microsoft.com/office/powerpoint/2010/main" val="11119669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A4721-B8C0-02C9-FCC4-5C9944B308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C5EB90-8255-7170-0C24-0F96C0473004}"/>
              </a:ext>
            </a:extLst>
          </p:cNvPr>
          <p:cNvSpPr>
            <a:spLocks noGrp="1"/>
          </p:cNvSpPr>
          <p:nvPr>
            <p:ph type="title"/>
          </p:nvPr>
        </p:nvSpPr>
        <p:spPr>
          <a:xfrm>
            <a:off x="669552" y="594335"/>
            <a:ext cx="10863635" cy="639153"/>
          </a:xfrm>
        </p:spPr>
        <p:txBody>
          <a:bodyPr>
            <a:normAutofit/>
          </a:bodyPr>
          <a:lstStyle/>
          <a:p>
            <a:r>
              <a:rPr lang="en-US" dirty="0"/>
              <a:t>How LLMs Use Vector Embeddings</a:t>
            </a:r>
            <a:endParaRPr lang="en-IN" dirty="0"/>
          </a:p>
        </p:txBody>
      </p:sp>
      <p:sp>
        <p:nvSpPr>
          <p:cNvPr id="3" name="Content Placeholder 2">
            <a:extLst>
              <a:ext uri="{FF2B5EF4-FFF2-40B4-BE49-F238E27FC236}">
                <a16:creationId xmlns:a16="http://schemas.microsoft.com/office/drawing/2014/main" id="{5CEE5F7D-49EC-60C5-B744-194B7D367F82}"/>
              </a:ext>
            </a:extLst>
          </p:cNvPr>
          <p:cNvSpPr>
            <a:spLocks noGrp="1"/>
          </p:cNvSpPr>
          <p:nvPr>
            <p:ph idx="1"/>
          </p:nvPr>
        </p:nvSpPr>
        <p:spPr>
          <a:xfrm>
            <a:off x="669552" y="1665743"/>
            <a:ext cx="10863635" cy="4427081"/>
          </a:xfrm>
        </p:spPr>
        <p:txBody>
          <a:bodyPr>
            <a:normAutofit/>
          </a:bodyPr>
          <a:lstStyle/>
          <a:p>
            <a:pPr marL="0" indent="0">
              <a:spcBef>
                <a:spcPts val="1200"/>
              </a:spcBef>
              <a:spcAft>
                <a:spcPts val="600"/>
              </a:spcAft>
              <a:buNone/>
            </a:pPr>
            <a:r>
              <a:rPr lang="en-US" sz="2000" dirty="0">
                <a:solidFill>
                  <a:srgbClr val="161A3E"/>
                </a:solidFill>
              </a:rPr>
              <a:t>“The car is fast, and the car is red.”</a:t>
            </a:r>
          </a:p>
          <a:p>
            <a:pPr marL="0" indent="0">
              <a:spcBef>
                <a:spcPts val="1200"/>
              </a:spcBef>
              <a:spcAft>
                <a:spcPts val="600"/>
              </a:spcAft>
              <a:buNone/>
            </a:pPr>
            <a:endParaRPr lang="en-US" sz="2000" dirty="0">
              <a:solidFill>
                <a:srgbClr val="161A3E"/>
              </a:solidFill>
            </a:endParaRPr>
          </a:p>
          <a:p>
            <a:pPr marL="0" indent="0">
              <a:spcBef>
                <a:spcPts val="1200"/>
              </a:spcBef>
              <a:spcAft>
                <a:spcPts val="600"/>
              </a:spcAft>
              <a:buNone/>
            </a:pPr>
            <a:endParaRPr lang="en-US" sz="2000" dirty="0">
              <a:solidFill>
                <a:srgbClr val="161A3E"/>
              </a:solidFill>
            </a:endParaRPr>
          </a:p>
          <a:p>
            <a:pPr marL="0" indent="0">
              <a:spcBef>
                <a:spcPts val="1200"/>
              </a:spcBef>
              <a:spcAft>
                <a:spcPts val="600"/>
              </a:spcAft>
              <a:buNone/>
            </a:pPr>
            <a:endParaRPr lang="en-US" sz="2000" dirty="0">
              <a:solidFill>
                <a:srgbClr val="161A3E"/>
              </a:solidFill>
            </a:endParaRPr>
          </a:p>
          <a:p>
            <a:pPr marL="0" indent="0">
              <a:spcBef>
                <a:spcPts val="1200"/>
              </a:spcBef>
              <a:spcAft>
                <a:spcPts val="600"/>
              </a:spcAft>
              <a:buNone/>
            </a:pPr>
            <a:endParaRPr lang="en-US" sz="2000" dirty="0">
              <a:solidFill>
                <a:srgbClr val="161A3E"/>
              </a:solidFill>
            </a:endParaRPr>
          </a:p>
          <a:p>
            <a:pPr marL="0" indent="0">
              <a:spcBef>
                <a:spcPts val="1200"/>
              </a:spcBef>
              <a:spcAft>
                <a:spcPts val="600"/>
              </a:spcAft>
              <a:buNone/>
            </a:pPr>
            <a:endParaRPr lang="en-US" sz="2000" dirty="0">
              <a:solidFill>
                <a:srgbClr val="161A3E"/>
              </a:solidFill>
            </a:endParaRPr>
          </a:p>
          <a:p>
            <a:pPr marL="0" indent="0">
              <a:spcBef>
                <a:spcPts val="1200"/>
              </a:spcBef>
              <a:spcAft>
                <a:spcPts val="600"/>
              </a:spcAft>
              <a:buNone/>
            </a:pPr>
            <a:endParaRPr lang="en-US" sz="2000" dirty="0">
              <a:solidFill>
                <a:srgbClr val="161A3E"/>
              </a:solidFill>
            </a:endParaRPr>
          </a:p>
          <a:p>
            <a:pPr marL="0" indent="0">
              <a:spcBef>
                <a:spcPts val="1200"/>
              </a:spcBef>
              <a:spcAft>
                <a:spcPts val="600"/>
              </a:spcAft>
              <a:buNone/>
            </a:pPr>
            <a:endParaRPr lang="en-US" sz="2000" dirty="0">
              <a:solidFill>
                <a:srgbClr val="161A3E"/>
              </a:solidFill>
            </a:endParaRPr>
          </a:p>
          <a:p>
            <a:pPr marL="0" indent="0">
              <a:spcBef>
                <a:spcPts val="1200"/>
              </a:spcBef>
              <a:spcAft>
                <a:spcPts val="600"/>
              </a:spcAft>
              <a:buNone/>
            </a:pPr>
            <a:r>
              <a:rPr lang="en-US" sz="2000" dirty="0">
                <a:solidFill>
                  <a:srgbClr val="161A3E"/>
                </a:solidFill>
              </a:rPr>
              <a:t>Tokens usually begin with a leading space (▁) to avoid encoding space as a separate symbol.</a:t>
            </a:r>
          </a:p>
        </p:txBody>
      </p:sp>
      <p:graphicFrame>
        <p:nvGraphicFramePr>
          <p:cNvPr id="7" name="Table 6">
            <a:extLst>
              <a:ext uri="{FF2B5EF4-FFF2-40B4-BE49-F238E27FC236}">
                <a16:creationId xmlns:a16="http://schemas.microsoft.com/office/drawing/2014/main" id="{A7800F1A-39D6-2AF1-9811-54219FFF1A8D}"/>
              </a:ext>
            </a:extLst>
          </p:cNvPr>
          <p:cNvGraphicFramePr>
            <a:graphicFrameLocks noGrp="1"/>
          </p:cNvGraphicFramePr>
          <p:nvPr>
            <p:extLst>
              <p:ext uri="{D42A27DB-BD31-4B8C-83A1-F6EECF244321}">
                <p14:modId xmlns:p14="http://schemas.microsoft.com/office/powerpoint/2010/main" val="1575732891"/>
              </p:ext>
            </p:extLst>
          </p:nvPr>
        </p:nvGraphicFramePr>
        <p:xfrm>
          <a:off x="670118" y="2228222"/>
          <a:ext cx="10863070" cy="3127552"/>
        </p:xfrm>
        <a:graphic>
          <a:graphicData uri="http://schemas.openxmlformats.org/drawingml/2006/table">
            <a:tbl>
              <a:tblPr/>
              <a:tblGrid>
                <a:gridCol w="3332715">
                  <a:extLst>
                    <a:ext uri="{9D8B030D-6E8A-4147-A177-3AD203B41FA5}">
                      <a16:colId xmlns:a16="http://schemas.microsoft.com/office/drawing/2014/main" val="661633553"/>
                    </a:ext>
                  </a:extLst>
                </a:gridCol>
                <a:gridCol w="7530355">
                  <a:extLst>
                    <a:ext uri="{9D8B030D-6E8A-4147-A177-3AD203B41FA5}">
                      <a16:colId xmlns:a16="http://schemas.microsoft.com/office/drawing/2014/main" val="515736457"/>
                    </a:ext>
                  </a:extLst>
                </a:gridCol>
              </a:tblGrid>
              <a:tr h="390944">
                <a:tc>
                  <a:txBody>
                    <a:bodyPr/>
                    <a:lstStyle/>
                    <a:p>
                      <a:pPr algn="ctr"/>
                      <a:r>
                        <a:rPr lang="en-IN" dirty="0"/>
                        <a:t>Token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algn="ctr"/>
                      <a:r>
                        <a:rPr lang="en-IN" dirty="0"/>
                        <a:t>→ Vector (dim 4 sample)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1001113183"/>
                  </a:ext>
                </a:extLst>
              </a:tr>
              <a:tr h="390944">
                <a:tc>
                  <a:txBody>
                    <a:bodyPr/>
                    <a:lstStyle/>
                    <a:p>
                      <a:pPr algn="ctr"/>
                      <a:r>
                        <a:rPr lang="en-IN"/>
                        <a:t>“The”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dirty="0"/>
                        <a:t>[0.12, 0.34, 0.56, 0.78]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4217324"/>
                  </a:ext>
                </a:extLst>
              </a:tr>
              <a:tr h="390944">
                <a:tc>
                  <a:txBody>
                    <a:bodyPr/>
                    <a:lstStyle/>
                    <a:p>
                      <a:pPr algn="ctr"/>
                      <a:r>
                        <a:rPr lang="en-IN"/>
                        <a:t>“▁car”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a:t>[0.84, 0.01, 0.31, 0.03]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105935"/>
                  </a:ext>
                </a:extLst>
              </a:tr>
              <a:tr h="390944">
                <a:tc>
                  <a:txBody>
                    <a:bodyPr/>
                    <a:lstStyle/>
                    <a:p>
                      <a:pPr algn="ctr"/>
                      <a:r>
                        <a:rPr lang="en-IN" dirty="0"/>
                        <a:t>“▁is”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a:t>[0.23, 0.45, 0.67, 0.89]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6432004"/>
                  </a:ext>
                </a:extLst>
              </a:tr>
              <a:tr h="390944">
                <a:tc>
                  <a:txBody>
                    <a:bodyPr/>
                    <a:lstStyle/>
                    <a:p>
                      <a:pPr algn="ctr"/>
                      <a:r>
                        <a:rPr lang="en-IN"/>
                        <a:t>“▁fast”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a:t>[0.91, 0.12, 0.34, 0.56]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71546"/>
                  </a:ext>
                </a:extLst>
              </a:tr>
              <a:tr h="390944">
                <a:tc>
                  <a:txBody>
                    <a:bodyPr/>
                    <a:lstStyle/>
                    <a:p>
                      <a:pPr algn="ctr"/>
                      <a:r>
                        <a:rPr lang="en-IN"/>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a:t>[0.55, 0.66, 0.77, 0.88]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482959"/>
                  </a:ext>
                </a:extLst>
              </a:tr>
              <a:tr h="390944">
                <a:tc>
                  <a:txBody>
                    <a:bodyPr/>
                    <a:lstStyle/>
                    <a:p>
                      <a:pPr algn="ctr"/>
                      <a:r>
                        <a:rPr lang="en-IN"/>
                        <a:t>“▁and”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a:t>[0.78, 0.90, 0.12, 0.34]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4860942"/>
                  </a:ext>
                </a:extLst>
              </a:tr>
              <a:tr h="390944">
                <a:tc>
                  <a:txBody>
                    <a:bodyPr/>
                    <a:lstStyle/>
                    <a:p>
                      <a:pPr algn="ctr"/>
                      <a:r>
                        <a:rPr lang="en-IN" dirty="0"/>
                        <a:t>“▁red.”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dirty="0"/>
                        <a:t>[0.56, 0.78, 0.90, 0.12]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7269071"/>
                  </a:ext>
                </a:extLst>
              </a:tr>
            </a:tbl>
          </a:graphicData>
        </a:graphic>
      </p:graphicFrame>
    </p:spTree>
    <p:extLst>
      <p:ext uri="{BB962C8B-B14F-4D97-AF65-F5344CB8AC3E}">
        <p14:creationId xmlns:p14="http://schemas.microsoft.com/office/powerpoint/2010/main" val="31439109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08D2E-162A-F3DC-A07D-AE87FDBB8E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8EB21F-AF3C-60D4-1EE7-345C341E88CB}"/>
              </a:ext>
            </a:extLst>
          </p:cNvPr>
          <p:cNvSpPr>
            <a:spLocks noGrp="1"/>
          </p:cNvSpPr>
          <p:nvPr>
            <p:ph type="title"/>
          </p:nvPr>
        </p:nvSpPr>
        <p:spPr>
          <a:xfrm>
            <a:off x="669552" y="594335"/>
            <a:ext cx="10863635" cy="639153"/>
          </a:xfrm>
        </p:spPr>
        <p:txBody>
          <a:bodyPr>
            <a:normAutofit/>
          </a:bodyPr>
          <a:lstStyle/>
          <a:p>
            <a:r>
              <a:rPr lang="en-US" dirty="0"/>
              <a:t>Sentence ➜ Embedding Matrix</a:t>
            </a:r>
            <a:endParaRPr lang="en-IN" dirty="0"/>
          </a:p>
        </p:txBody>
      </p:sp>
      <p:sp>
        <p:nvSpPr>
          <p:cNvPr id="3" name="Content Placeholder 2">
            <a:extLst>
              <a:ext uri="{FF2B5EF4-FFF2-40B4-BE49-F238E27FC236}">
                <a16:creationId xmlns:a16="http://schemas.microsoft.com/office/drawing/2014/main" id="{4389867C-E042-FA2C-8C9B-9020AE107D43}"/>
              </a:ext>
            </a:extLst>
          </p:cNvPr>
          <p:cNvSpPr>
            <a:spLocks noGrp="1"/>
          </p:cNvSpPr>
          <p:nvPr>
            <p:ph idx="1"/>
          </p:nvPr>
        </p:nvSpPr>
        <p:spPr>
          <a:xfrm>
            <a:off x="669552" y="1665743"/>
            <a:ext cx="10863635" cy="4427081"/>
          </a:xfrm>
        </p:spPr>
        <p:txBody>
          <a:bodyPr>
            <a:normAutofit/>
          </a:bodyPr>
          <a:lstStyle/>
          <a:p>
            <a:pPr marL="0" indent="0">
              <a:spcBef>
                <a:spcPts val="600"/>
              </a:spcBef>
              <a:spcAft>
                <a:spcPts val="600"/>
              </a:spcAft>
              <a:buNone/>
            </a:pPr>
            <a:r>
              <a:rPr lang="en-US" sz="2400" dirty="0">
                <a:solidFill>
                  <a:srgbClr val="161A3E"/>
                </a:solidFill>
              </a:rPr>
              <a:t>LLMs replace each token with its vector:</a:t>
            </a:r>
          </a:p>
          <a:p>
            <a:pPr marL="0" indent="0">
              <a:spcBef>
                <a:spcPts val="600"/>
              </a:spcBef>
              <a:spcAft>
                <a:spcPts val="600"/>
              </a:spcAft>
              <a:buNone/>
            </a:pPr>
            <a:r>
              <a:rPr lang="en-US" sz="2400" i="1" dirty="0">
                <a:solidFill>
                  <a:srgbClr val="161A3E"/>
                </a:solidFill>
                <a:latin typeface="+mj-lt"/>
              </a:rPr>
              <a:t>[0.12, 0.34, 0.56, 0.78] … [0.56, 0.78, 0.90, 0.12]</a:t>
            </a:r>
          </a:p>
          <a:p>
            <a:pPr marL="0" indent="0">
              <a:spcBef>
                <a:spcPts val="600"/>
              </a:spcBef>
              <a:spcAft>
                <a:spcPts val="600"/>
              </a:spcAft>
              <a:buNone/>
            </a:pPr>
            <a:r>
              <a:rPr lang="en-US" sz="2400" dirty="0">
                <a:solidFill>
                  <a:srgbClr val="161A3E"/>
                </a:solidFill>
              </a:rPr>
              <a:t>That matrix feeds the first Transformer layer.</a:t>
            </a:r>
          </a:p>
          <a:p>
            <a:pPr marL="0" indent="0">
              <a:spcBef>
                <a:spcPts val="600"/>
              </a:spcBef>
              <a:spcAft>
                <a:spcPts val="600"/>
              </a:spcAft>
              <a:buNone/>
            </a:pPr>
            <a:endParaRPr lang="en-US" sz="2400" dirty="0">
              <a:solidFill>
                <a:srgbClr val="161A3E"/>
              </a:solidFill>
            </a:endParaRPr>
          </a:p>
          <a:p>
            <a:pPr marL="0" indent="0">
              <a:spcBef>
                <a:spcPts val="600"/>
              </a:spcBef>
              <a:spcAft>
                <a:spcPts val="600"/>
              </a:spcAft>
              <a:buNone/>
            </a:pPr>
            <a:r>
              <a:rPr lang="en-US" sz="2400" b="1" dirty="0">
                <a:solidFill>
                  <a:srgbClr val="161A3E"/>
                </a:solidFill>
              </a:rPr>
              <a:t>E.g.:</a:t>
            </a:r>
          </a:p>
          <a:p>
            <a:pPr marL="0" indent="0">
              <a:spcBef>
                <a:spcPts val="600"/>
              </a:spcBef>
              <a:spcAft>
                <a:spcPts val="600"/>
              </a:spcAft>
              <a:buNone/>
            </a:pPr>
            <a:r>
              <a:rPr lang="en-US" sz="2400" i="1" dirty="0">
                <a:solidFill>
                  <a:srgbClr val="161A3E"/>
                </a:solidFill>
              </a:rPr>
              <a:t>"The car is fast, and the car is red."</a:t>
            </a:r>
          </a:p>
          <a:p>
            <a:pPr marL="0" indent="0">
              <a:spcBef>
                <a:spcPts val="600"/>
              </a:spcBef>
              <a:spcAft>
                <a:spcPts val="600"/>
              </a:spcAft>
              <a:buNone/>
            </a:pPr>
            <a:r>
              <a:rPr lang="en-US" sz="2400" dirty="0">
                <a:solidFill>
                  <a:srgbClr val="161A3E"/>
                </a:solidFill>
                <a:latin typeface="+mj-lt"/>
              </a:rPr>
              <a:t>[0.12, 0.34, 0.56, 0.78] [0.84, 0.01, 0.31, 0.03] [0.23, 0.45, 0.67, 0.89] [0.91, 0.12, 0.34,</a:t>
            </a:r>
          </a:p>
          <a:p>
            <a:pPr marL="0" indent="0">
              <a:spcBef>
                <a:spcPts val="600"/>
              </a:spcBef>
              <a:spcAft>
                <a:spcPts val="600"/>
              </a:spcAft>
              <a:buNone/>
            </a:pPr>
            <a:r>
              <a:rPr lang="en-US" sz="2400" dirty="0">
                <a:solidFill>
                  <a:srgbClr val="161A3E"/>
                </a:solidFill>
                <a:latin typeface="+mj-lt"/>
              </a:rPr>
              <a:t>0.56] [0.78, 0.90, 0.12, 0.34] [0.84, 0.01, 0.31, 0.03] [0.23, 0.45, 0.67, 0.89] [0.56, 0.78,</a:t>
            </a:r>
          </a:p>
          <a:p>
            <a:pPr marL="0" indent="0">
              <a:spcBef>
                <a:spcPts val="600"/>
              </a:spcBef>
              <a:spcAft>
                <a:spcPts val="600"/>
              </a:spcAft>
              <a:buNone/>
            </a:pPr>
            <a:r>
              <a:rPr lang="en-US" sz="2400" dirty="0">
                <a:solidFill>
                  <a:srgbClr val="161A3E"/>
                </a:solidFill>
                <a:latin typeface="+mj-lt"/>
              </a:rPr>
              <a:t>0.90, 0.12] [0.55, 0.66, 0.77, 0.88] [0.78, 0.90, 0.12, 0.34] [0.56, 0.78, 0.90, 0.12]</a:t>
            </a:r>
          </a:p>
        </p:txBody>
      </p:sp>
    </p:spTree>
    <p:extLst>
      <p:ext uri="{BB962C8B-B14F-4D97-AF65-F5344CB8AC3E}">
        <p14:creationId xmlns:p14="http://schemas.microsoft.com/office/powerpoint/2010/main" val="16080734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2CA05-8AE2-1508-11EC-282A0103A3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7FDD5A-9044-331B-A394-081027F17ECF}"/>
              </a:ext>
            </a:extLst>
          </p:cNvPr>
          <p:cNvSpPr>
            <a:spLocks noGrp="1"/>
          </p:cNvSpPr>
          <p:nvPr>
            <p:ph type="title"/>
          </p:nvPr>
        </p:nvSpPr>
        <p:spPr>
          <a:xfrm>
            <a:off x="669552" y="594335"/>
            <a:ext cx="10863635" cy="639153"/>
          </a:xfrm>
        </p:spPr>
        <p:txBody>
          <a:bodyPr>
            <a:normAutofit/>
          </a:bodyPr>
          <a:lstStyle/>
          <a:p>
            <a:r>
              <a:rPr lang="en-US" dirty="0"/>
              <a:t>Shared Vocabulary, Swappable Embeddings</a:t>
            </a:r>
            <a:endParaRPr lang="en-IN" dirty="0"/>
          </a:p>
        </p:txBody>
      </p:sp>
      <p:sp>
        <p:nvSpPr>
          <p:cNvPr id="3" name="Content Placeholder 2">
            <a:extLst>
              <a:ext uri="{FF2B5EF4-FFF2-40B4-BE49-F238E27FC236}">
                <a16:creationId xmlns:a16="http://schemas.microsoft.com/office/drawing/2014/main" id="{C56E565F-A738-CAC9-3CEC-9903F4978140}"/>
              </a:ext>
            </a:extLst>
          </p:cNvPr>
          <p:cNvSpPr>
            <a:spLocks noGrp="1"/>
          </p:cNvSpPr>
          <p:nvPr>
            <p:ph idx="1"/>
          </p:nvPr>
        </p:nvSpPr>
        <p:spPr>
          <a:xfrm>
            <a:off x="669552" y="1665743"/>
            <a:ext cx="10863635" cy="4427081"/>
          </a:xfrm>
        </p:spPr>
        <p:txBody>
          <a:bodyPr>
            <a:normAutofit/>
          </a:bodyPr>
          <a:lstStyle/>
          <a:p>
            <a:pPr marL="0" indent="0">
              <a:spcBef>
                <a:spcPts val="600"/>
              </a:spcBef>
              <a:spcAft>
                <a:spcPts val="600"/>
              </a:spcAft>
              <a:buNone/>
            </a:pPr>
            <a:r>
              <a:rPr lang="en-US" sz="2400" dirty="0">
                <a:solidFill>
                  <a:srgbClr val="161A3E"/>
                </a:solidFill>
              </a:rPr>
              <a:t>But we don't want to tie tokens to vectors, because we want to use same token vocabulary for different versions of the model or models, which will have different vector embeddings for the same token.</a:t>
            </a:r>
          </a:p>
          <a:p>
            <a:pPr marL="0" indent="0">
              <a:spcBef>
                <a:spcPts val="600"/>
              </a:spcBef>
              <a:spcAft>
                <a:spcPts val="600"/>
              </a:spcAft>
              <a:buNone/>
            </a:pPr>
            <a:r>
              <a:rPr lang="en-US" sz="2400" dirty="0">
                <a:solidFill>
                  <a:srgbClr val="161A3E"/>
                </a:solidFill>
                <a:latin typeface="+mn-lt"/>
              </a:rPr>
              <a:t>Think of the tokenizer as a fixed dictionary (word → ID). When we train a new model, we only rewrite the definitions in that dictionary—the vectors—not the word list itself. Re-using the same IDs means every model version can read the same text data without re-tokenizing it, saving time and avoiding bugs.</a:t>
            </a:r>
          </a:p>
        </p:txBody>
      </p:sp>
    </p:spTree>
    <p:extLst>
      <p:ext uri="{BB962C8B-B14F-4D97-AF65-F5344CB8AC3E}">
        <p14:creationId xmlns:p14="http://schemas.microsoft.com/office/powerpoint/2010/main" val="12684604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DE46F-B188-F08C-F489-7F82DE60F5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FBB670-4989-D327-6AE4-C30B501222D0}"/>
              </a:ext>
            </a:extLst>
          </p:cNvPr>
          <p:cNvSpPr>
            <a:spLocks noGrp="1"/>
          </p:cNvSpPr>
          <p:nvPr>
            <p:ph type="title"/>
          </p:nvPr>
        </p:nvSpPr>
        <p:spPr>
          <a:xfrm>
            <a:off x="669552" y="594335"/>
            <a:ext cx="10863635" cy="639153"/>
          </a:xfrm>
        </p:spPr>
        <p:txBody>
          <a:bodyPr>
            <a:normAutofit/>
          </a:bodyPr>
          <a:lstStyle/>
          <a:p>
            <a:r>
              <a:rPr lang="en-US" dirty="0"/>
              <a:t>Building the Embedding Matrix</a:t>
            </a:r>
            <a:endParaRPr lang="en-IN" dirty="0"/>
          </a:p>
        </p:txBody>
      </p:sp>
      <p:sp>
        <p:nvSpPr>
          <p:cNvPr id="3" name="Content Placeholder 2">
            <a:extLst>
              <a:ext uri="{FF2B5EF4-FFF2-40B4-BE49-F238E27FC236}">
                <a16:creationId xmlns:a16="http://schemas.microsoft.com/office/drawing/2014/main" id="{E201635C-AED6-3B3E-E172-93FF63CCDF0C}"/>
              </a:ext>
            </a:extLst>
          </p:cNvPr>
          <p:cNvSpPr>
            <a:spLocks noGrp="1"/>
          </p:cNvSpPr>
          <p:nvPr>
            <p:ph idx="1"/>
          </p:nvPr>
        </p:nvSpPr>
        <p:spPr>
          <a:xfrm>
            <a:off x="669552" y="1665743"/>
            <a:ext cx="10863635" cy="4427081"/>
          </a:xfrm>
        </p:spPr>
        <p:txBody>
          <a:bodyPr>
            <a:normAutofit/>
          </a:bodyPr>
          <a:lstStyle/>
          <a:p>
            <a:pPr marL="0" indent="0">
              <a:spcBef>
                <a:spcPts val="600"/>
              </a:spcBef>
              <a:spcAft>
                <a:spcPts val="600"/>
              </a:spcAft>
              <a:buNone/>
            </a:pPr>
            <a:r>
              <a:rPr lang="en-US" sz="2400" dirty="0">
                <a:solidFill>
                  <a:srgbClr val="161A3E"/>
                </a:solidFill>
              </a:rPr>
              <a:t>We store vectors in an embedding table. Row</a:t>
            </a:r>
            <a:r>
              <a:rPr lang="en-US" sz="2400" i="1" dirty="0">
                <a:solidFill>
                  <a:srgbClr val="161A3E"/>
                </a:solidFill>
              </a:rPr>
              <a:t> </a:t>
            </a:r>
            <a:r>
              <a:rPr lang="en-US" sz="2400" i="1" dirty="0" err="1">
                <a:solidFill>
                  <a:srgbClr val="161A3E"/>
                </a:solidFill>
              </a:rPr>
              <a:t>i</a:t>
            </a:r>
            <a:r>
              <a:rPr lang="en-US" sz="2400" i="1" dirty="0">
                <a:solidFill>
                  <a:srgbClr val="161A3E"/>
                </a:solidFill>
              </a:rPr>
              <a:t> </a:t>
            </a:r>
            <a:r>
              <a:rPr lang="en-US" sz="2400" dirty="0">
                <a:solidFill>
                  <a:srgbClr val="161A3E"/>
                </a:solidFill>
              </a:rPr>
              <a:t>holds the vector for token index</a:t>
            </a:r>
            <a:r>
              <a:rPr lang="en-US" sz="2400" i="1" dirty="0">
                <a:solidFill>
                  <a:srgbClr val="161A3E"/>
                </a:solidFill>
              </a:rPr>
              <a:t> </a:t>
            </a:r>
            <a:r>
              <a:rPr lang="en-US" sz="2400" i="1" dirty="0" err="1">
                <a:solidFill>
                  <a:srgbClr val="161A3E"/>
                </a:solidFill>
              </a:rPr>
              <a:t>i</a:t>
            </a:r>
            <a:r>
              <a:rPr lang="en-US" sz="2400" i="1" dirty="0">
                <a:solidFill>
                  <a:srgbClr val="161A3E"/>
                </a:solidFill>
              </a:rPr>
              <a:t>.</a:t>
            </a:r>
          </a:p>
          <a:p>
            <a:pPr marL="0" indent="0">
              <a:spcBef>
                <a:spcPts val="600"/>
              </a:spcBef>
              <a:spcAft>
                <a:spcPts val="600"/>
              </a:spcAft>
              <a:buNone/>
            </a:pPr>
            <a:endParaRPr lang="fr-FR" sz="2400" dirty="0">
              <a:solidFill>
                <a:srgbClr val="161A3E"/>
              </a:solidFill>
              <a:latin typeface="+mn-lt"/>
            </a:endParaRPr>
          </a:p>
          <a:p>
            <a:pPr marL="457200" lvl="1" indent="0">
              <a:spcBef>
                <a:spcPts val="600"/>
              </a:spcBef>
              <a:spcAft>
                <a:spcPts val="600"/>
              </a:spcAft>
              <a:buNone/>
            </a:pPr>
            <a:r>
              <a:rPr lang="fr-FR" sz="2000" dirty="0">
                <a:solidFill>
                  <a:srgbClr val="161A3E"/>
                </a:solidFill>
                <a:latin typeface="+mj-lt"/>
              </a:rPr>
              <a:t>[</a:t>
            </a:r>
          </a:p>
          <a:p>
            <a:pPr marL="457200" lvl="1" indent="0">
              <a:spcBef>
                <a:spcPts val="600"/>
              </a:spcBef>
              <a:spcAft>
                <a:spcPts val="600"/>
              </a:spcAft>
              <a:buNone/>
            </a:pPr>
            <a:r>
              <a:rPr lang="fr-FR" sz="2000" dirty="0">
                <a:solidFill>
                  <a:srgbClr val="161A3E"/>
                </a:solidFill>
                <a:latin typeface="+mj-lt"/>
              </a:rPr>
              <a:t> [0.12, 0.34, 0.56, 0.78],   # </a:t>
            </a:r>
            <a:r>
              <a:rPr lang="fr-FR" sz="2000" dirty="0" err="1">
                <a:solidFill>
                  <a:srgbClr val="161A3E"/>
                </a:solidFill>
                <a:latin typeface="+mj-lt"/>
              </a:rPr>
              <a:t>idx</a:t>
            </a:r>
            <a:r>
              <a:rPr lang="fr-FR" sz="2000" dirty="0">
                <a:solidFill>
                  <a:srgbClr val="161A3E"/>
                </a:solidFill>
                <a:latin typeface="+mj-lt"/>
              </a:rPr>
              <a:t> 0</a:t>
            </a:r>
          </a:p>
          <a:p>
            <a:pPr marL="457200" lvl="1" indent="0">
              <a:spcBef>
                <a:spcPts val="600"/>
              </a:spcBef>
              <a:spcAft>
                <a:spcPts val="600"/>
              </a:spcAft>
              <a:buNone/>
            </a:pPr>
            <a:r>
              <a:rPr lang="fr-FR" sz="2000" dirty="0">
                <a:solidFill>
                  <a:srgbClr val="161A3E"/>
                </a:solidFill>
                <a:latin typeface="+mj-lt"/>
              </a:rPr>
              <a:t> [0.84, 0.01, 0.31, 0.03],   # </a:t>
            </a:r>
            <a:r>
              <a:rPr lang="fr-FR" sz="2000" dirty="0" err="1">
                <a:solidFill>
                  <a:srgbClr val="161A3E"/>
                </a:solidFill>
                <a:latin typeface="+mj-lt"/>
              </a:rPr>
              <a:t>idx</a:t>
            </a:r>
            <a:r>
              <a:rPr lang="fr-FR" sz="2000" dirty="0">
                <a:solidFill>
                  <a:srgbClr val="161A3E"/>
                </a:solidFill>
                <a:latin typeface="+mj-lt"/>
              </a:rPr>
              <a:t> 1</a:t>
            </a:r>
          </a:p>
          <a:p>
            <a:pPr marL="457200" lvl="1" indent="0">
              <a:spcBef>
                <a:spcPts val="600"/>
              </a:spcBef>
              <a:spcAft>
                <a:spcPts val="600"/>
              </a:spcAft>
              <a:buNone/>
            </a:pPr>
            <a:r>
              <a:rPr lang="fr-FR" sz="2000" dirty="0">
                <a:solidFill>
                  <a:srgbClr val="161A3E"/>
                </a:solidFill>
                <a:latin typeface="+mj-lt"/>
              </a:rPr>
              <a:t> ...</a:t>
            </a:r>
          </a:p>
          <a:p>
            <a:pPr marL="457200" lvl="1" indent="0">
              <a:spcBef>
                <a:spcPts val="600"/>
              </a:spcBef>
              <a:spcAft>
                <a:spcPts val="600"/>
              </a:spcAft>
              <a:buNone/>
            </a:pPr>
            <a:r>
              <a:rPr lang="fr-FR" sz="2000" dirty="0">
                <a:solidFill>
                  <a:srgbClr val="161A3E"/>
                </a:solidFill>
                <a:latin typeface="+mj-lt"/>
              </a:rPr>
              <a:t>]</a:t>
            </a:r>
            <a:endParaRPr lang="en-US" sz="2000" dirty="0">
              <a:solidFill>
                <a:srgbClr val="161A3E"/>
              </a:solidFill>
              <a:latin typeface="+mj-lt"/>
            </a:endParaRPr>
          </a:p>
        </p:txBody>
      </p:sp>
    </p:spTree>
    <p:extLst>
      <p:ext uri="{BB962C8B-B14F-4D97-AF65-F5344CB8AC3E}">
        <p14:creationId xmlns:p14="http://schemas.microsoft.com/office/powerpoint/2010/main" val="28265070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E89E3-33DF-3497-4039-7D808E67B3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18DBBA-16D4-8D25-6A98-79A4061B0B0E}"/>
              </a:ext>
            </a:extLst>
          </p:cNvPr>
          <p:cNvSpPr>
            <a:spLocks noGrp="1"/>
          </p:cNvSpPr>
          <p:nvPr>
            <p:ph type="title"/>
          </p:nvPr>
        </p:nvSpPr>
        <p:spPr>
          <a:xfrm>
            <a:off x="669552" y="594335"/>
            <a:ext cx="10863635" cy="639153"/>
          </a:xfrm>
        </p:spPr>
        <p:txBody>
          <a:bodyPr>
            <a:normAutofit/>
          </a:bodyPr>
          <a:lstStyle/>
          <a:p>
            <a:r>
              <a:rPr lang="en-US" dirty="0"/>
              <a:t>Index 0 Example</a:t>
            </a:r>
            <a:endParaRPr lang="en-IN" dirty="0"/>
          </a:p>
        </p:txBody>
      </p:sp>
      <p:sp>
        <p:nvSpPr>
          <p:cNvPr id="3" name="Content Placeholder 2">
            <a:extLst>
              <a:ext uri="{FF2B5EF4-FFF2-40B4-BE49-F238E27FC236}">
                <a16:creationId xmlns:a16="http://schemas.microsoft.com/office/drawing/2014/main" id="{D9A2A4BE-3ED8-F439-012F-099F2DF46569}"/>
              </a:ext>
            </a:extLst>
          </p:cNvPr>
          <p:cNvSpPr>
            <a:spLocks noGrp="1"/>
          </p:cNvSpPr>
          <p:nvPr>
            <p:ph idx="1"/>
          </p:nvPr>
        </p:nvSpPr>
        <p:spPr>
          <a:xfrm>
            <a:off x="669552" y="1665743"/>
            <a:ext cx="10863635" cy="4427081"/>
          </a:xfrm>
        </p:spPr>
        <p:txBody>
          <a:bodyPr>
            <a:normAutofit/>
          </a:bodyPr>
          <a:lstStyle/>
          <a:p>
            <a:pPr marL="0" indent="0">
              <a:spcBef>
                <a:spcPts val="600"/>
              </a:spcBef>
              <a:spcAft>
                <a:spcPts val="600"/>
              </a:spcAft>
              <a:buNone/>
            </a:pPr>
            <a:r>
              <a:rPr lang="en-US" sz="2400" dirty="0">
                <a:solidFill>
                  <a:srgbClr val="161A3E"/>
                </a:solidFill>
              </a:rPr>
              <a:t>We assign the embedding vector of the token with index 0 to position 0 in the sequence.</a:t>
            </a:r>
          </a:p>
          <a:p>
            <a:pPr marL="0" indent="0">
              <a:spcBef>
                <a:spcPts val="600"/>
              </a:spcBef>
              <a:spcAft>
                <a:spcPts val="600"/>
              </a:spcAft>
              <a:buNone/>
            </a:pPr>
            <a:r>
              <a:rPr lang="en-US" sz="2400" dirty="0">
                <a:solidFill>
                  <a:srgbClr val="161A3E"/>
                </a:solidFill>
              </a:rPr>
              <a:t>During inference, we retrieve the corresponding embedding vectors by indexing into the embedding matrix using the input sequence of token indices.</a:t>
            </a:r>
            <a:endParaRPr lang="en-US" sz="2400" dirty="0">
              <a:solidFill>
                <a:srgbClr val="161A3E"/>
              </a:solidFill>
              <a:latin typeface="+mn-lt"/>
            </a:endParaRPr>
          </a:p>
        </p:txBody>
      </p:sp>
    </p:spTree>
    <p:extLst>
      <p:ext uri="{BB962C8B-B14F-4D97-AF65-F5344CB8AC3E}">
        <p14:creationId xmlns:p14="http://schemas.microsoft.com/office/powerpoint/2010/main" val="22425397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BF6BE-DB4B-1FC7-ECD4-1A2A3AAEAB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F73E3D-2563-0B3A-1521-8104ECAF9076}"/>
              </a:ext>
            </a:extLst>
          </p:cNvPr>
          <p:cNvSpPr>
            <a:spLocks noGrp="1"/>
          </p:cNvSpPr>
          <p:nvPr>
            <p:ph type="title"/>
          </p:nvPr>
        </p:nvSpPr>
        <p:spPr>
          <a:xfrm>
            <a:off x="669552" y="594335"/>
            <a:ext cx="10863635" cy="639153"/>
          </a:xfrm>
        </p:spPr>
        <p:txBody>
          <a:bodyPr>
            <a:normAutofit/>
          </a:bodyPr>
          <a:lstStyle/>
          <a:p>
            <a:r>
              <a:rPr lang="en-US" dirty="0"/>
              <a:t>Mapping Tokens to Indices</a:t>
            </a:r>
            <a:endParaRPr lang="en-IN" dirty="0"/>
          </a:p>
        </p:txBody>
      </p:sp>
      <p:sp>
        <p:nvSpPr>
          <p:cNvPr id="3" name="Content Placeholder 2">
            <a:extLst>
              <a:ext uri="{FF2B5EF4-FFF2-40B4-BE49-F238E27FC236}">
                <a16:creationId xmlns:a16="http://schemas.microsoft.com/office/drawing/2014/main" id="{45841358-C6E9-1172-7F35-6446BC68F6D8}"/>
              </a:ext>
            </a:extLst>
          </p:cNvPr>
          <p:cNvSpPr>
            <a:spLocks noGrp="1"/>
          </p:cNvSpPr>
          <p:nvPr>
            <p:ph idx="1"/>
          </p:nvPr>
        </p:nvSpPr>
        <p:spPr>
          <a:xfrm>
            <a:off x="669552" y="1665743"/>
            <a:ext cx="10863635" cy="4427081"/>
          </a:xfrm>
        </p:spPr>
        <p:txBody>
          <a:bodyPr>
            <a:normAutofit/>
          </a:bodyPr>
          <a:lstStyle/>
          <a:p>
            <a:pPr marL="0" indent="0">
              <a:spcBef>
                <a:spcPts val="600"/>
              </a:spcBef>
              <a:spcAft>
                <a:spcPts val="600"/>
              </a:spcAft>
              <a:buNone/>
            </a:pPr>
            <a:r>
              <a:rPr lang="en-US" sz="2400" i="1" dirty="0">
                <a:solidFill>
                  <a:srgbClr val="161A3E"/>
                </a:solidFill>
                <a:latin typeface="+mn-lt"/>
              </a:rPr>
              <a:t>“The car is fast, and the car is red.” </a:t>
            </a:r>
            <a:r>
              <a:rPr lang="en-US" sz="2400" b="1" dirty="0">
                <a:solidFill>
                  <a:srgbClr val="161A3E"/>
                </a:solidFill>
                <a:latin typeface="+mn-lt"/>
              </a:rPr>
              <a:t>→ </a:t>
            </a:r>
            <a:r>
              <a:rPr lang="en-US" sz="2400" dirty="0">
                <a:solidFill>
                  <a:srgbClr val="161A3E"/>
                </a:solidFill>
                <a:latin typeface="+mn-lt"/>
              </a:rPr>
              <a:t>0 1 2 3 4 0 1 2 5</a:t>
            </a:r>
          </a:p>
        </p:txBody>
      </p:sp>
      <p:graphicFrame>
        <p:nvGraphicFramePr>
          <p:cNvPr id="6" name="Table 5">
            <a:extLst>
              <a:ext uri="{FF2B5EF4-FFF2-40B4-BE49-F238E27FC236}">
                <a16:creationId xmlns:a16="http://schemas.microsoft.com/office/drawing/2014/main" id="{C70F8738-7022-2589-846D-14D7E5D22746}"/>
              </a:ext>
            </a:extLst>
          </p:cNvPr>
          <p:cNvGraphicFramePr>
            <a:graphicFrameLocks noGrp="1"/>
          </p:cNvGraphicFramePr>
          <p:nvPr>
            <p:extLst>
              <p:ext uri="{D42A27DB-BD31-4B8C-83A1-F6EECF244321}">
                <p14:modId xmlns:p14="http://schemas.microsoft.com/office/powerpoint/2010/main" val="2182292960"/>
              </p:ext>
            </p:extLst>
          </p:nvPr>
        </p:nvGraphicFramePr>
        <p:xfrm>
          <a:off x="679450" y="2579052"/>
          <a:ext cx="10833100" cy="2560320"/>
        </p:xfrm>
        <a:graphic>
          <a:graphicData uri="http://schemas.openxmlformats.org/drawingml/2006/table">
            <a:tbl>
              <a:tblPr/>
              <a:tblGrid>
                <a:gridCol w="5416550">
                  <a:extLst>
                    <a:ext uri="{9D8B030D-6E8A-4147-A177-3AD203B41FA5}">
                      <a16:colId xmlns:a16="http://schemas.microsoft.com/office/drawing/2014/main" val="2222161293"/>
                    </a:ext>
                  </a:extLst>
                </a:gridCol>
                <a:gridCol w="5416550">
                  <a:extLst>
                    <a:ext uri="{9D8B030D-6E8A-4147-A177-3AD203B41FA5}">
                      <a16:colId xmlns:a16="http://schemas.microsoft.com/office/drawing/2014/main" val="2819875863"/>
                    </a:ext>
                  </a:extLst>
                </a:gridCol>
              </a:tblGrid>
              <a:tr h="0">
                <a:tc>
                  <a:txBody>
                    <a:bodyPr/>
                    <a:lstStyle/>
                    <a:p>
                      <a:pPr algn="ctr"/>
                      <a:r>
                        <a:rPr lang="en-IN" b="1"/>
                        <a:t>Token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algn="ctr"/>
                      <a:r>
                        <a:rPr lang="en-IN" b="1" dirty="0"/>
                        <a:t>Index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621013178"/>
                  </a:ext>
                </a:extLst>
              </a:tr>
              <a:tr h="0">
                <a:tc>
                  <a:txBody>
                    <a:bodyPr/>
                    <a:lstStyle/>
                    <a:p>
                      <a:pPr algn="ctr"/>
                      <a:r>
                        <a:rPr lang="en-IN" dirty="0"/>
                        <a:t>“The”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3257341"/>
                  </a:ext>
                </a:extLst>
              </a:tr>
              <a:tr h="0">
                <a:tc>
                  <a:txBody>
                    <a:bodyPr/>
                    <a:lstStyle/>
                    <a:p>
                      <a:pPr algn="ctr"/>
                      <a:r>
                        <a:rPr lang="en-IN"/>
                        <a:t>“▁car”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25541880"/>
                  </a:ext>
                </a:extLst>
              </a:tr>
              <a:tr h="0">
                <a:tc>
                  <a:txBody>
                    <a:bodyPr/>
                    <a:lstStyle/>
                    <a:p>
                      <a:pPr algn="ctr"/>
                      <a:r>
                        <a:rPr lang="en-IN"/>
                        <a:t>“▁is”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8620589"/>
                  </a:ext>
                </a:extLst>
              </a:tr>
              <a:tr h="0">
                <a:tc>
                  <a:txBody>
                    <a:bodyPr/>
                    <a:lstStyle/>
                    <a:p>
                      <a:pPr algn="ctr"/>
                      <a:r>
                        <a:rPr lang="en-IN"/>
                        <a:t>“▁fast,”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0280096"/>
                  </a:ext>
                </a:extLst>
              </a:tr>
              <a:tr h="0">
                <a:tc>
                  <a:txBody>
                    <a:bodyPr/>
                    <a:lstStyle/>
                    <a:p>
                      <a:pPr algn="ctr"/>
                      <a:r>
                        <a:rPr lang="en-IN"/>
                        <a:t>“▁and”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7170635"/>
                  </a:ext>
                </a:extLst>
              </a:tr>
              <a:tr h="0">
                <a:tc>
                  <a:txBody>
                    <a:bodyPr/>
                    <a:lstStyle/>
                    <a:p>
                      <a:pPr algn="ctr"/>
                      <a:r>
                        <a:rPr lang="en-IN"/>
                        <a:t>“▁red.”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3052512"/>
                  </a:ext>
                </a:extLst>
              </a:tr>
            </a:tbl>
          </a:graphicData>
        </a:graphic>
      </p:graphicFrame>
    </p:spTree>
    <p:extLst>
      <p:ext uri="{BB962C8B-B14F-4D97-AF65-F5344CB8AC3E}">
        <p14:creationId xmlns:p14="http://schemas.microsoft.com/office/powerpoint/2010/main" val="23062271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BE8F7-D258-0306-101E-9A8660F09C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4DAEBA-EAE8-DFDF-9B25-7587EB4752FB}"/>
              </a:ext>
            </a:extLst>
          </p:cNvPr>
          <p:cNvSpPr>
            <a:spLocks noGrp="1"/>
          </p:cNvSpPr>
          <p:nvPr>
            <p:ph type="title"/>
          </p:nvPr>
        </p:nvSpPr>
        <p:spPr>
          <a:xfrm>
            <a:off x="669552" y="594335"/>
            <a:ext cx="10863635" cy="639153"/>
          </a:xfrm>
        </p:spPr>
        <p:txBody>
          <a:bodyPr>
            <a:normAutofit/>
          </a:bodyPr>
          <a:lstStyle/>
          <a:p>
            <a:r>
              <a:rPr lang="en-US" dirty="0"/>
              <a:t>Pulling Embeddings by Index</a:t>
            </a:r>
            <a:endParaRPr lang="en-IN" dirty="0"/>
          </a:p>
        </p:txBody>
      </p:sp>
      <p:sp>
        <p:nvSpPr>
          <p:cNvPr id="3" name="Content Placeholder 2">
            <a:extLst>
              <a:ext uri="{FF2B5EF4-FFF2-40B4-BE49-F238E27FC236}">
                <a16:creationId xmlns:a16="http://schemas.microsoft.com/office/drawing/2014/main" id="{19F5EFDD-549F-637A-D937-63A2887C11D5}"/>
              </a:ext>
            </a:extLst>
          </p:cNvPr>
          <p:cNvSpPr>
            <a:spLocks noGrp="1"/>
          </p:cNvSpPr>
          <p:nvPr>
            <p:ph idx="1"/>
          </p:nvPr>
        </p:nvSpPr>
        <p:spPr>
          <a:xfrm>
            <a:off x="669552" y="1665743"/>
            <a:ext cx="10863635" cy="4427081"/>
          </a:xfrm>
        </p:spPr>
        <p:txBody>
          <a:bodyPr>
            <a:normAutofit/>
          </a:bodyPr>
          <a:lstStyle/>
          <a:p>
            <a:pPr marL="0" indent="0">
              <a:spcBef>
                <a:spcPts val="600"/>
              </a:spcBef>
              <a:spcAft>
                <a:spcPts val="600"/>
              </a:spcAft>
              <a:buNone/>
            </a:pPr>
            <a:r>
              <a:rPr lang="en-US" sz="2400" dirty="0">
                <a:solidFill>
                  <a:srgbClr val="161A3E"/>
                </a:solidFill>
              </a:rPr>
              <a:t>For each index (0 1 2 3 4 0 1 2 5) we fetch its row from the embedding table to build the token matrix.</a:t>
            </a:r>
          </a:p>
          <a:p>
            <a:pPr marL="0" indent="0">
              <a:spcBef>
                <a:spcPts val="600"/>
              </a:spcBef>
              <a:spcAft>
                <a:spcPts val="600"/>
              </a:spcAft>
              <a:buNone/>
            </a:pPr>
            <a:r>
              <a:rPr lang="en-US" sz="2400" dirty="0">
                <a:solidFill>
                  <a:srgbClr val="161A3E"/>
                </a:solidFill>
                <a:latin typeface="+mj-lt"/>
              </a:rPr>
              <a:t>[0.12, 0.34, 0.56, 0.78] [0.84, 0.01, 0.31, 0.03] [0.23, 0.45, 0.67, 0.89] [0.91, 0.12, 0.34,</a:t>
            </a:r>
          </a:p>
          <a:p>
            <a:pPr marL="0" indent="0">
              <a:spcBef>
                <a:spcPts val="600"/>
              </a:spcBef>
              <a:spcAft>
                <a:spcPts val="600"/>
              </a:spcAft>
              <a:buNone/>
            </a:pPr>
            <a:r>
              <a:rPr lang="en-US" sz="2400" dirty="0">
                <a:solidFill>
                  <a:srgbClr val="161A3E"/>
                </a:solidFill>
                <a:latin typeface="+mj-lt"/>
              </a:rPr>
              <a:t>0.56] [0.78, 0.90, 0.12, 0.34] [0.84, 0.01, 0.31, 0.03] [0.23, 0.45, 0.67, 0.89] [0.56, 0.78,</a:t>
            </a:r>
          </a:p>
          <a:p>
            <a:pPr marL="0" indent="0">
              <a:spcBef>
                <a:spcPts val="600"/>
              </a:spcBef>
              <a:spcAft>
                <a:spcPts val="600"/>
              </a:spcAft>
              <a:buNone/>
            </a:pPr>
            <a:r>
              <a:rPr lang="en-US" sz="2400" dirty="0">
                <a:solidFill>
                  <a:srgbClr val="161A3E"/>
                </a:solidFill>
                <a:latin typeface="+mj-lt"/>
              </a:rPr>
              <a:t>0.90, 0.12] [0.55, 0.66, 0.77, 0.88] [0.78, 0.90, 0.12, 0.34] [0.56, 0.78, 0.90, 0.12]</a:t>
            </a:r>
          </a:p>
        </p:txBody>
      </p:sp>
    </p:spTree>
    <p:extLst>
      <p:ext uri="{BB962C8B-B14F-4D97-AF65-F5344CB8AC3E}">
        <p14:creationId xmlns:p14="http://schemas.microsoft.com/office/powerpoint/2010/main" val="16047601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6C357-8571-9E0D-0C43-9B5345974F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32CC23-AB5C-A9B4-C3AC-DE329D5D9F7C}"/>
              </a:ext>
            </a:extLst>
          </p:cNvPr>
          <p:cNvSpPr>
            <a:spLocks noGrp="1"/>
          </p:cNvSpPr>
          <p:nvPr>
            <p:ph type="title"/>
          </p:nvPr>
        </p:nvSpPr>
        <p:spPr>
          <a:xfrm>
            <a:off x="669552" y="594335"/>
            <a:ext cx="10863635" cy="639153"/>
          </a:xfrm>
        </p:spPr>
        <p:txBody>
          <a:bodyPr>
            <a:normAutofit/>
          </a:bodyPr>
          <a:lstStyle/>
          <a:p>
            <a:r>
              <a:rPr lang="en-US" dirty="0"/>
              <a:t>Why Separate Tokenizer &amp; Embeddings?</a:t>
            </a:r>
            <a:endParaRPr lang="en-IN" dirty="0"/>
          </a:p>
        </p:txBody>
      </p:sp>
      <p:sp>
        <p:nvSpPr>
          <p:cNvPr id="3" name="Content Placeholder 2">
            <a:extLst>
              <a:ext uri="{FF2B5EF4-FFF2-40B4-BE49-F238E27FC236}">
                <a16:creationId xmlns:a16="http://schemas.microsoft.com/office/drawing/2014/main" id="{2F7B1418-A705-1889-B08A-1B7885B12BFA}"/>
              </a:ext>
            </a:extLst>
          </p:cNvPr>
          <p:cNvSpPr>
            <a:spLocks noGrp="1"/>
          </p:cNvSpPr>
          <p:nvPr>
            <p:ph idx="1"/>
          </p:nvPr>
        </p:nvSpPr>
        <p:spPr>
          <a:xfrm>
            <a:off x="669552" y="1665743"/>
            <a:ext cx="10863635" cy="4427081"/>
          </a:xfrm>
        </p:spPr>
        <p:txBody>
          <a:bodyPr>
            <a:normAutofit/>
          </a:bodyPr>
          <a:lstStyle/>
          <a:p>
            <a:pPr marL="0" indent="0">
              <a:spcBef>
                <a:spcPts val="600"/>
              </a:spcBef>
              <a:spcAft>
                <a:spcPts val="600"/>
              </a:spcAft>
              <a:buNone/>
            </a:pPr>
            <a:r>
              <a:rPr lang="en-US" sz="2400" dirty="0">
                <a:solidFill>
                  <a:srgbClr val="161A3E"/>
                </a:solidFill>
              </a:rPr>
              <a:t>It allows us to swap new embedding tables from updated models while reusing the same tokenizer—no need to rebuild datasets or inference code.</a:t>
            </a:r>
            <a:endParaRPr lang="en-US" sz="2400" dirty="0">
              <a:solidFill>
                <a:srgbClr val="161A3E"/>
              </a:solidFill>
              <a:latin typeface="+mj-lt"/>
            </a:endParaRPr>
          </a:p>
        </p:txBody>
      </p:sp>
    </p:spTree>
    <p:extLst>
      <p:ext uri="{BB962C8B-B14F-4D97-AF65-F5344CB8AC3E}">
        <p14:creationId xmlns:p14="http://schemas.microsoft.com/office/powerpoint/2010/main" val="2639989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br>
              <a:rPr lang="en-US" sz="6600" b="1" dirty="0">
                <a:latin typeface="Calibri" panose="020F0502020204030204" pitchFamily="34" charset="0"/>
              </a:rPr>
            </a:br>
            <a:r>
              <a:rPr lang="en-US" sz="2000" b="1" i="1" dirty="0">
                <a:latin typeface="Calibri" panose="020F0502020204030204" pitchFamily="34" charset="0"/>
              </a:rPr>
              <a:t>(Q&amp;A)</a:t>
            </a:r>
            <a:endParaRPr lang="en-IN" sz="6600" b="1" i="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8105</TotalTime>
  <Words>2926</Words>
  <Application>Microsoft Office PowerPoint</Application>
  <PresentationFormat>Widescreen</PresentationFormat>
  <Paragraphs>367</Paragraphs>
  <Slides>37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Calibri</vt:lpstr>
      <vt:lpstr>Wingdings</vt:lpstr>
      <vt:lpstr>BIA Template</vt:lpstr>
      <vt:lpstr>PowerPoint Presentation</vt:lpstr>
      <vt:lpstr>Agenda</vt:lpstr>
      <vt:lpstr>What We’ll Achieve Together</vt:lpstr>
      <vt:lpstr>How We’ll Get There</vt:lpstr>
      <vt:lpstr>Key Concepts We’ll Build On</vt:lpstr>
      <vt:lpstr>How an LLM Generates Text</vt:lpstr>
      <vt:lpstr>Worked Example: Next-Word Prediction</vt:lpstr>
      <vt:lpstr>Strategies (How the Model Picks the Next Token)</vt:lpstr>
      <vt:lpstr>Anything Can Be a Token</vt:lpstr>
      <vt:lpstr>Token Example and What Model Learns</vt:lpstr>
      <vt:lpstr>Cont..</vt:lpstr>
      <vt:lpstr>Cont..</vt:lpstr>
      <vt:lpstr>Cont..</vt:lpstr>
      <vt:lpstr>Choosing Token Granularity</vt:lpstr>
      <vt:lpstr>Token Compute Cost</vt:lpstr>
      <vt:lpstr>Word-Level Tokenizers Don’t Scale</vt:lpstr>
      <vt:lpstr>Sentence-Level Tokens &amp; What Comes Next</vt:lpstr>
      <vt:lpstr>Sub-word Tokens: The BPE Sweet Spot</vt:lpstr>
      <vt:lpstr>A Real Tokenizer: Qwen 2.5</vt:lpstr>
      <vt:lpstr> </vt:lpstr>
      <vt:lpstr>What Is a Vector Embedding?</vt:lpstr>
      <vt:lpstr>Every Token Gets Its Own Vector</vt:lpstr>
      <vt:lpstr>Similar Tokens Sit Close Together</vt:lpstr>
      <vt:lpstr>Feature 1: Fluffiness Amount</vt:lpstr>
      <vt:lpstr>Feature 2: Willingness to Save Your Life</vt:lpstr>
      <vt:lpstr>Feature 3: Gratefulness</vt:lpstr>
      <vt:lpstr>Interpreting Dimensions</vt:lpstr>
      <vt:lpstr>How the Model Learns Embeddings</vt:lpstr>
      <vt:lpstr>How LLMs Use Vector Embeddings</vt:lpstr>
      <vt:lpstr>Sentence ➜ Embedding Matrix</vt:lpstr>
      <vt:lpstr>Shared Vocabulary, Swappable Embeddings</vt:lpstr>
      <vt:lpstr>Building the Embedding Matrix</vt:lpstr>
      <vt:lpstr>Index 0 Example</vt:lpstr>
      <vt:lpstr>Mapping Tokens to Indices</vt:lpstr>
      <vt:lpstr>Pulling Embeddings by Index</vt:lpstr>
      <vt:lpstr>Why Separate Tokenizer &amp; Embeddings?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Simon Nadar</cp:lastModifiedBy>
  <cp:revision>2420</cp:revision>
  <dcterms:created xsi:type="dcterms:W3CDTF">2020-12-23T13:36:00Z</dcterms:created>
  <dcterms:modified xsi:type="dcterms:W3CDTF">2025-05-23T16:18:49Z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