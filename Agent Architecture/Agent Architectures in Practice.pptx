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4"/>
  </p:notesMasterIdLst>
  <p:sldIdLst>
    <p:sldId id="256" r:id="rId2"/>
    <p:sldId id="674" r:id="rId3"/>
    <p:sldId id="257" r:id="rId4"/>
    <p:sldId id="258" r:id="rId5"/>
    <p:sldId id="259" r:id="rId6"/>
    <p:sldId id="260" r:id="rId7"/>
    <p:sldId id="261" r:id="rId8"/>
    <p:sldId id="262" r:id="rId9"/>
    <p:sldId id="263" r:id="rId10"/>
    <p:sldId id="264" r:id="rId11"/>
    <p:sldId id="265" r:id="rId12"/>
    <p:sldId id="30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1049" userDrawn="1">
          <p15:clr>
            <a:srgbClr val="A4A3A4"/>
          </p15:clr>
        </p15:guide>
        <p15:guide id="3" orient="horz" pos="2260" userDrawn="1">
          <p15:clr>
            <a:srgbClr val="A4A3A4"/>
          </p15:clr>
        </p15:guide>
        <p15:guide id="4" orient="horz" pos="368" userDrawn="1">
          <p15:clr>
            <a:srgbClr val="A4A3A4"/>
          </p15:clr>
        </p15:guide>
        <p15:guide id="5" orient="horz" pos="777" userDrawn="1">
          <p15:clr>
            <a:srgbClr val="A4A3A4"/>
          </p15:clr>
        </p15:guide>
        <p15:guide id="6" orient="horz" pos="3838" userDrawn="1">
          <p15:clr>
            <a:srgbClr val="A4A3A4"/>
          </p15:clr>
        </p15:guide>
        <p15:guide id="8" pos="415" userDrawn="1">
          <p15:clr>
            <a:srgbClr val="A4A3A4"/>
          </p15:clr>
        </p15:guide>
        <p15:guide id="9" pos="726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1A3E"/>
    <a:srgbClr val="333F50"/>
    <a:srgbClr val="8497B0"/>
    <a:srgbClr val="8FAADC"/>
    <a:srgbClr val="2F5597"/>
    <a:srgbClr val="626CC7"/>
    <a:srgbClr val="323B8D"/>
    <a:srgbClr val="21275D"/>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015" autoAdjust="0"/>
    <p:restoredTop sz="93447" autoAdjust="0"/>
  </p:normalViewPr>
  <p:slideViewPr>
    <p:cSldViewPr snapToGrid="0">
      <p:cViewPr varScale="1">
        <p:scale>
          <a:sx n="103" d="100"/>
          <a:sy n="103" d="100"/>
        </p:scale>
        <p:origin x="450" y="114"/>
      </p:cViewPr>
      <p:guideLst>
        <p:guide pos="3840"/>
        <p:guide orient="horz" pos="1049"/>
        <p:guide orient="horz" pos="2260"/>
        <p:guide orient="horz" pos="368"/>
        <p:guide orient="horz" pos="777"/>
        <p:guide orient="horz" pos="3838"/>
        <p:guide pos="415"/>
        <p:guide pos="7265"/>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16-05-2025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5" name="Title 1">
            <a:extLst>
              <a:ext uri="{FF2B5EF4-FFF2-40B4-BE49-F238E27FC236}">
                <a16:creationId xmlns:a16="http://schemas.microsoft.com/office/drawing/2014/main" id="{F169BDF6-EA32-8D15-7297-96F5B8F6EF09}"/>
              </a:ext>
            </a:extLst>
          </p:cNvPr>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59999280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
        <p:nvSpPr>
          <p:cNvPr id="5" name="Title 1">
            <a:extLst>
              <a:ext uri="{FF2B5EF4-FFF2-40B4-BE49-F238E27FC236}">
                <a16:creationId xmlns:a16="http://schemas.microsoft.com/office/drawing/2014/main" id="{8AA7827E-D2A7-AA00-8D40-7B76E978D014}"/>
              </a:ext>
            </a:extLst>
          </p:cNvPr>
          <p:cNvSpPr>
            <a:spLocks noGrp="1"/>
          </p:cNvSpPr>
          <p:nvPr>
            <p:ph type="title"/>
          </p:nvPr>
        </p:nvSpPr>
        <p:spPr>
          <a:xfrm>
            <a:off x="838202" y="2049670"/>
            <a:ext cx="2743200" cy="2562226"/>
          </a:xfrm>
        </p:spPr>
        <p:txBody>
          <a:bodyPr/>
          <a:lstStyle>
            <a:lvl1pPr>
              <a:defRPr>
                <a:solidFill>
                  <a:srgbClr val="161A3E"/>
                </a:solidFill>
              </a:defRPr>
            </a:lvl1pPr>
          </a:lstStyle>
          <a:p>
            <a:r>
              <a:rPr lang="en-US" dirty="0"/>
              <a:t>Click to edit Master title style</a:t>
            </a:r>
          </a:p>
        </p:txBody>
      </p:sp>
    </p:spTree>
    <p:extLst>
      <p:ext uri="{BB962C8B-B14F-4D97-AF65-F5344CB8AC3E}">
        <p14:creationId xmlns:p14="http://schemas.microsoft.com/office/powerpoint/2010/main" val="64553904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Agent Architectures in Practice</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IN" dirty="0"/>
              <a:t>Agenda</a:t>
            </a:r>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a:prstGeom prst="rect">
            <a:avLst/>
          </a:prstGeom>
        </p:spPr>
        <p:txBody>
          <a:bodyPr>
            <a:norm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sz="2400" dirty="0" err="1">
                <a:solidFill>
                  <a:srgbClr val="161A3E"/>
                </a:solidFill>
              </a:rPr>
              <a:t>LangChain</a:t>
            </a:r>
            <a:r>
              <a:rPr lang="en-US" sz="2400" dirty="0">
                <a:solidFill>
                  <a:srgbClr val="161A3E"/>
                </a:solidFill>
              </a:rPr>
              <a:t> vs </a:t>
            </a:r>
            <a:r>
              <a:rPr lang="en-US" sz="2400" dirty="0" err="1">
                <a:solidFill>
                  <a:srgbClr val="161A3E"/>
                </a:solidFill>
              </a:rPr>
              <a:t>CrewAI</a:t>
            </a:r>
            <a:r>
              <a:rPr lang="en-US" sz="2400" dirty="0">
                <a:solidFill>
                  <a:srgbClr val="161A3E"/>
                </a:solidFill>
              </a:rPr>
              <a:t> vs </a:t>
            </a:r>
            <a:r>
              <a:rPr lang="en-US" sz="2400" dirty="0" err="1">
                <a:solidFill>
                  <a:srgbClr val="161A3E"/>
                </a:solidFill>
              </a:rPr>
              <a:t>AutoGen</a:t>
            </a:r>
            <a:r>
              <a:rPr lang="en-US" sz="2400" dirty="0">
                <a:solidFill>
                  <a:srgbClr val="161A3E"/>
                </a:solidFill>
              </a:rPr>
              <a:t> vs </a:t>
            </a:r>
            <a:r>
              <a:rPr lang="en-US" sz="2400" dirty="0" err="1">
                <a:solidFill>
                  <a:srgbClr val="161A3E"/>
                </a:solidFill>
              </a:rPr>
              <a:t>LangGraph</a:t>
            </a:r>
            <a:endParaRPr lang="en-US" sz="2400" dirty="0">
              <a:solidFill>
                <a:srgbClr val="161A3E"/>
              </a:solidFill>
            </a:endParaRPr>
          </a:p>
          <a:p>
            <a:pPr lvl="0"/>
            <a:r>
              <a:rPr lang="en-US" sz="2400" dirty="0">
                <a:solidFill>
                  <a:srgbClr val="161A3E"/>
                </a:solidFill>
              </a:rPr>
              <a:t>Memory Backends</a:t>
            </a:r>
          </a:p>
          <a:p>
            <a:pPr lvl="0"/>
            <a:r>
              <a:rPr lang="en-US" sz="2400" dirty="0">
                <a:solidFill>
                  <a:srgbClr val="161A3E"/>
                </a:solidFill>
              </a:rPr>
              <a:t>Tool Abstraction</a:t>
            </a:r>
          </a:p>
          <a:p>
            <a:pPr lvl="0"/>
            <a:r>
              <a:rPr lang="en-US" sz="2400" dirty="0">
                <a:solidFill>
                  <a:srgbClr val="161A3E"/>
                </a:solidFill>
              </a:rPr>
              <a:t>Trade-Offs Summary</a:t>
            </a:r>
          </a:p>
          <a:p>
            <a:pPr lvl="0"/>
            <a:r>
              <a:rPr lang="en-US" sz="2400" dirty="0">
                <a:solidFill>
                  <a:srgbClr val="161A3E"/>
                </a:solidFill>
              </a:rPr>
              <a:t>Multi-Framework Lab</a:t>
            </a:r>
          </a:p>
          <a:p>
            <a:pPr lvl="0"/>
            <a:r>
              <a:rPr lang="en-US" sz="2400" dirty="0">
                <a:solidFill>
                  <a:srgbClr val="161A3E"/>
                </a:solidFill>
              </a:rPr>
              <a:t>Final Takeaways</a:t>
            </a:r>
          </a:p>
          <a:p>
            <a:pPr lvl="0"/>
            <a:endParaRPr lang="en-US" sz="2400" dirty="0">
              <a:solidFill>
                <a:srgbClr val="161A3E"/>
              </a:solidFill>
            </a:endParaRPr>
          </a:p>
        </p:txBody>
      </p:sp>
    </p:spTree>
    <p:extLst>
      <p:ext uri="{BB962C8B-B14F-4D97-AF65-F5344CB8AC3E}">
        <p14:creationId xmlns:p14="http://schemas.microsoft.com/office/powerpoint/2010/main" val="2272459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07F0A-4064-BFF6-4A4D-D85FE46DA214}"/>
              </a:ext>
            </a:extLst>
          </p:cNvPr>
          <p:cNvSpPr>
            <a:spLocks noGrp="1"/>
          </p:cNvSpPr>
          <p:nvPr>
            <p:ph type="title"/>
          </p:nvPr>
        </p:nvSpPr>
        <p:spPr>
          <a:xfrm>
            <a:off x="671322" y="590550"/>
            <a:ext cx="10861866" cy="642938"/>
          </a:xfrm>
        </p:spPr>
        <p:txBody>
          <a:bodyPr>
            <a:normAutofit/>
          </a:bodyPr>
          <a:lstStyle/>
          <a:p>
            <a:r>
              <a:rPr lang="en-IN" dirty="0" err="1">
                <a:solidFill>
                  <a:srgbClr val="161A3E"/>
                </a:solidFill>
              </a:rPr>
              <a:t>LangChain</a:t>
            </a:r>
            <a:r>
              <a:rPr lang="en-IN" dirty="0">
                <a:solidFill>
                  <a:srgbClr val="161A3E"/>
                </a:solidFill>
              </a:rPr>
              <a:t> vs </a:t>
            </a:r>
            <a:r>
              <a:rPr lang="en-IN" dirty="0" err="1">
                <a:solidFill>
                  <a:srgbClr val="161A3E"/>
                </a:solidFill>
              </a:rPr>
              <a:t>CrewAI</a:t>
            </a:r>
            <a:r>
              <a:rPr lang="en-IN" dirty="0">
                <a:solidFill>
                  <a:srgbClr val="161A3E"/>
                </a:solidFill>
              </a:rPr>
              <a:t> vs </a:t>
            </a:r>
            <a:r>
              <a:rPr lang="en-IN" dirty="0" err="1">
                <a:solidFill>
                  <a:srgbClr val="161A3E"/>
                </a:solidFill>
              </a:rPr>
              <a:t>AutoGen</a:t>
            </a:r>
            <a:r>
              <a:rPr lang="en-IN" dirty="0">
                <a:solidFill>
                  <a:srgbClr val="161A3E"/>
                </a:solidFill>
              </a:rPr>
              <a:t> vs </a:t>
            </a:r>
            <a:r>
              <a:rPr lang="en-IN" dirty="0" err="1">
                <a:solidFill>
                  <a:srgbClr val="161A3E"/>
                </a:solidFill>
              </a:rPr>
              <a:t>LangGraph</a:t>
            </a:r>
            <a:endParaRPr lang="en-US" dirty="0">
              <a:solidFill>
                <a:srgbClr val="161A3E"/>
              </a:solidFill>
            </a:endParaRPr>
          </a:p>
        </p:txBody>
      </p:sp>
      <p:graphicFrame>
        <p:nvGraphicFramePr>
          <p:cNvPr id="4" name="Content Placeholder 3">
            <a:extLst>
              <a:ext uri="{FF2B5EF4-FFF2-40B4-BE49-F238E27FC236}">
                <a16:creationId xmlns:a16="http://schemas.microsoft.com/office/drawing/2014/main" id="{8456A27B-9C65-825B-1BAA-49BBB778D381}"/>
              </a:ext>
            </a:extLst>
          </p:cNvPr>
          <p:cNvGraphicFramePr>
            <a:graphicFrameLocks noGrp="1"/>
          </p:cNvGraphicFramePr>
          <p:nvPr>
            <p:ph idx="1"/>
            <p:extLst>
              <p:ext uri="{D42A27DB-BD31-4B8C-83A1-F6EECF244321}">
                <p14:modId xmlns:p14="http://schemas.microsoft.com/office/powerpoint/2010/main" val="2865823857"/>
              </p:ext>
            </p:extLst>
          </p:nvPr>
        </p:nvGraphicFramePr>
        <p:xfrm>
          <a:off x="671322" y="1665287"/>
          <a:ext cx="10861868" cy="4427538"/>
        </p:xfrm>
        <a:graphic>
          <a:graphicData uri="http://schemas.openxmlformats.org/drawingml/2006/table">
            <a:tbl>
              <a:tblPr/>
              <a:tblGrid>
                <a:gridCol w="2117295">
                  <a:extLst>
                    <a:ext uri="{9D8B030D-6E8A-4147-A177-3AD203B41FA5}">
                      <a16:colId xmlns:a16="http://schemas.microsoft.com/office/drawing/2014/main" val="2608568362"/>
                    </a:ext>
                  </a:extLst>
                </a:gridCol>
                <a:gridCol w="2117295">
                  <a:extLst>
                    <a:ext uri="{9D8B030D-6E8A-4147-A177-3AD203B41FA5}">
                      <a16:colId xmlns:a16="http://schemas.microsoft.com/office/drawing/2014/main" val="194700141"/>
                    </a:ext>
                  </a:extLst>
                </a:gridCol>
                <a:gridCol w="2157428">
                  <a:extLst>
                    <a:ext uri="{9D8B030D-6E8A-4147-A177-3AD203B41FA5}">
                      <a16:colId xmlns:a16="http://schemas.microsoft.com/office/drawing/2014/main" val="3458867100"/>
                    </a:ext>
                  </a:extLst>
                </a:gridCol>
                <a:gridCol w="2224429">
                  <a:extLst>
                    <a:ext uri="{9D8B030D-6E8A-4147-A177-3AD203B41FA5}">
                      <a16:colId xmlns:a16="http://schemas.microsoft.com/office/drawing/2014/main" val="1651411381"/>
                    </a:ext>
                  </a:extLst>
                </a:gridCol>
                <a:gridCol w="2245421">
                  <a:extLst>
                    <a:ext uri="{9D8B030D-6E8A-4147-A177-3AD203B41FA5}">
                      <a16:colId xmlns:a16="http://schemas.microsoft.com/office/drawing/2014/main" val="1676010952"/>
                    </a:ext>
                  </a:extLst>
                </a:gridCol>
              </a:tblGrid>
              <a:tr h="472844">
                <a:tc>
                  <a:txBody>
                    <a:bodyPr/>
                    <a:lstStyle/>
                    <a:p>
                      <a:pPr algn="l" fontAlgn="ctr">
                        <a:buNone/>
                      </a:pPr>
                      <a:r>
                        <a:rPr lang="en-IN" sz="1200" b="0" i="0" u="none" strike="noStrike">
                          <a:effectLst/>
                          <a:latin typeface="Arial" panose="020B0604020202020204" pitchFamily="34" charset="0"/>
                        </a:rPr>
                        <a:t>Feature</a:t>
                      </a: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algn="l" fontAlgn="ctr">
                        <a:buNone/>
                      </a:pPr>
                      <a:r>
                        <a:rPr lang="en-IN" sz="1200" b="1" i="0" u="none" strike="noStrike">
                          <a:effectLst/>
                          <a:latin typeface="Arial" panose="020B0604020202020204" pitchFamily="34" charset="0"/>
                        </a:rPr>
                        <a:t>LangChain</a:t>
                      </a:r>
                      <a:endParaRPr lang="en-IN" sz="1200" b="0" i="0" u="none" strike="noStrike">
                        <a:effectLst/>
                        <a:latin typeface="Arial" panose="020B0604020202020204" pitchFamily="34" charset="0"/>
                      </a:endParaRP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algn="l" fontAlgn="ctr">
                        <a:buNone/>
                      </a:pPr>
                      <a:r>
                        <a:rPr lang="en-IN" sz="1200" b="1" i="0" u="none" strike="noStrike">
                          <a:effectLst/>
                          <a:latin typeface="Arial" panose="020B0604020202020204" pitchFamily="34" charset="0"/>
                        </a:rPr>
                        <a:t>CrewAI</a:t>
                      </a:r>
                      <a:endParaRPr lang="en-IN" sz="1200" b="0" i="0" u="none" strike="noStrike">
                        <a:effectLst/>
                        <a:latin typeface="Arial" panose="020B0604020202020204" pitchFamily="34" charset="0"/>
                      </a:endParaRP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algn="l" fontAlgn="ctr">
                        <a:buNone/>
                      </a:pPr>
                      <a:r>
                        <a:rPr lang="en-IN" sz="1200" b="1" i="0" u="none" strike="noStrike">
                          <a:effectLst/>
                          <a:latin typeface="Arial" panose="020B0604020202020204" pitchFamily="34" charset="0"/>
                        </a:rPr>
                        <a:t>AutoGen (MS)</a:t>
                      </a:r>
                      <a:endParaRPr lang="en-IN" sz="1200" b="0" i="0" u="none" strike="noStrike">
                        <a:effectLst/>
                        <a:latin typeface="Arial" panose="020B0604020202020204" pitchFamily="34" charset="0"/>
                      </a:endParaRP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algn="l" fontAlgn="ctr">
                        <a:buNone/>
                      </a:pPr>
                      <a:r>
                        <a:rPr lang="en-IN" sz="1200" b="1" i="0" u="none" strike="noStrike" dirty="0" err="1">
                          <a:effectLst/>
                          <a:latin typeface="Arial" panose="020B0604020202020204" pitchFamily="34" charset="0"/>
                        </a:rPr>
                        <a:t>LangGraph</a:t>
                      </a:r>
                      <a:endParaRPr lang="en-IN" sz="1200" b="0" i="0" u="none" strike="noStrike" dirty="0">
                        <a:effectLst/>
                        <a:latin typeface="Arial" panose="020B0604020202020204" pitchFamily="34" charset="0"/>
                      </a:endParaRP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2105607004"/>
                  </a:ext>
                </a:extLst>
              </a:tr>
              <a:tr h="795237">
                <a:tc>
                  <a:txBody>
                    <a:bodyPr/>
                    <a:lstStyle/>
                    <a:p>
                      <a:pPr algn="l" fontAlgn="ctr">
                        <a:buNone/>
                      </a:pPr>
                      <a:r>
                        <a:rPr lang="en-IN" sz="1200" b="1" i="0" u="none" strike="noStrike">
                          <a:effectLst/>
                          <a:latin typeface="Arial" panose="020B0604020202020204" pitchFamily="34" charset="0"/>
                        </a:rPr>
                        <a:t>Design</a:t>
                      </a:r>
                      <a:endParaRPr lang="en-IN" sz="1200" b="0" i="0" u="none" strike="noStrike">
                        <a:effectLst/>
                        <a:latin typeface="Arial" panose="020B0604020202020204" pitchFamily="34" charset="0"/>
                      </a:endParaRP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algn="l" fontAlgn="ctr">
                        <a:buNone/>
                      </a:pPr>
                      <a:r>
                        <a:rPr lang="en-IN" sz="1200" b="0" i="0" u="none" strike="noStrike">
                          <a:effectLst/>
                          <a:latin typeface="Arial" panose="020B0604020202020204" pitchFamily="34" charset="0"/>
                        </a:rPr>
                        <a:t>Chain &amp; agent abstraction</a:t>
                      </a: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IN" sz="1200" b="0" i="0" u="none" strike="noStrike">
                          <a:effectLst/>
                          <a:latin typeface="Arial" panose="020B0604020202020204" pitchFamily="34" charset="0"/>
                        </a:rPr>
                        <a:t>Role-based multi-agent crew</a:t>
                      </a: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IN" sz="1200" b="0" i="0" u="none" strike="noStrike">
                          <a:effectLst/>
                          <a:latin typeface="Arial" panose="020B0604020202020204" pitchFamily="34" charset="0"/>
                        </a:rPr>
                        <a:t>Turn-based agent chats</a:t>
                      </a: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IN" sz="1200" b="0" i="0" u="none" strike="noStrike">
                          <a:effectLst/>
                          <a:latin typeface="Arial" panose="020B0604020202020204" pitchFamily="34" charset="0"/>
                        </a:rPr>
                        <a:t>Graph-based agent orchestration</a:t>
                      </a: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3592105"/>
                  </a:ext>
                </a:extLst>
              </a:tr>
              <a:tr h="472844">
                <a:tc>
                  <a:txBody>
                    <a:bodyPr/>
                    <a:lstStyle/>
                    <a:p>
                      <a:pPr algn="l" fontAlgn="ctr">
                        <a:buNone/>
                      </a:pPr>
                      <a:r>
                        <a:rPr lang="en-IN" sz="1200" b="1" i="0" u="none" strike="noStrike">
                          <a:effectLst/>
                          <a:latin typeface="Arial" panose="020B0604020202020204" pitchFamily="34" charset="0"/>
                        </a:rPr>
                        <a:t>Multi-agent</a:t>
                      </a:r>
                      <a:endParaRPr lang="en-IN" sz="1200" b="0" i="0" u="none" strike="noStrike">
                        <a:effectLst/>
                        <a:latin typeface="Arial" panose="020B0604020202020204" pitchFamily="34" charset="0"/>
                      </a:endParaRP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algn="l" fontAlgn="ctr">
                        <a:buNone/>
                      </a:pPr>
                      <a:r>
                        <a:rPr lang="en-IN" sz="1200" b="0" i="0" u="none" strike="noStrike" dirty="0">
                          <a:effectLst/>
                          <a:latin typeface="Arial" panose="020B0604020202020204" pitchFamily="34" charset="0"/>
                        </a:rPr>
                        <a:t>Limited (via agents)</a:t>
                      </a: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IN" sz="1200" b="0" i="0" u="none" strike="noStrike">
                          <a:effectLst/>
                          <a:latin typeface="Arial" panose="020B0604020202020204" pitchFamily="34" charset="0"/>
                        </a:rPr>
                        <a:t>✅ Built-in</a:t>
                      </a: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IN" sz="1200" b="0" i="0" u="none" strike="noStrike">
                          <a:effectLst/>
                          <a:latin typeface="Arial" panose="020B0604020202020204" pitchFamily="34" charset="0"/>
                        </a:rPr>
                        <a:t>✅ Strong</a:t>
                      </a: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IN" sz="1200" b="0" i="0" u="none" strike="noStrike">
                          <a:effectLst/>
                          <a:latin typeface="Arial" panose="020B0604020202020204" pitchFamily="34" charset="0"/>
                        </a:rPr>
                        <a:t>✅ via graph nodes</a:t>
                      </a: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2500850"/>
                  </a:ext>
                </a:extLst>
              </a:tr>
              <a:tr h="795237">
                <a:tc>
                  <a:txBody>
                    <a:bodyPr/>
                    <a:lstStyle/>
                    <a:p>
                      <a:pPr algn="l" fontAlgn="ctr">
                        <a:buNone/>
                      </a:pPr>
                      <a:r>
                        <a:rPr lang="en-IN" sz="1200" b="1" i="0" u="none" strike="noStrike">
                          <a:effectLst/>
                          <a:latin typeface="Arial" panose="020B0604020202020204" pitchFamily="34" charset="0"/>
                        </a:rPr>
                        <a:t>Memory</a:t>
                      </a:r>
                      <a:endParaRPr lang="en-IN" sz="1200" b="0" i="0" u="none" strike="noStrike">
                        <a:effectLst/>
                        <a:latin typeface="Arial" panose="020B0604020202020204" pitchFamily="34" charset="0"/>
                      </a:endParaRP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algn="l" fontAlgn="ctr">
                        <a:buNone/>
                      </a:pPr>
                      <a:r>
                        <a:rPr lang="en-IN" sz="1200" b="0" i="0" u="none" strike="noStrike" dirty="0">
                          <a:effectLst/>
                          <a:latin typeface="Arial" panose="020B0604020202020204" pitchFamily="34" charset="0"/>
                        </a:rPr>
                        <a:t>✅ Built-in support</a:t>
                      </a: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IN" sz="1200" b="0" i="0" u="none" strike="noStrike">
                          <a:effectLst/>
                          <a:latin typeface="Arial" panose="020B0604020202020204" pitchFamily="34" charset="0"/>
                        </a:rPr>
                        <a:t>❌ Not native</a:t>
                      </a: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IN" sz="1200" b="0" i="0" u="none" strike="noStrike">
                          <a:effectLst/>
                          <a:latin typeface="Arial" panose="020B0604020202020204" pitchFamily="34" charset="0"/>
                        </a:rPr>
                        <a:t>✅ Conversation memory</a:t>
                      </a: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IN" sz="1200" b="0" i="0" u="none" strike="noStrike">
                          <a:effectLst/>
                          <a:latin typeface="Arial" panose="020B0604020202020204" pitchFamily="34" charset="0"/>
                        </a:rPr>
                        <a:t>🟡 Integrates via LangChain</a:t>
                      </a: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8723982"/>
                  </a:ext>
                </a:extLst>
              </a:tr>
              <a:tr h="472844">
                <a:tc>
                  <a:txBody>
                    <a:bodyPr/>
                    <a:lstStyle/>
                    <a:p>
                      <a:pPr algn="l" fontAlgn="ctr">
                        <a:buNone/>
                      </a:pPr>
                      <a:r>
                        <a:rPr lang="en-IN" sz="1200" b="1" i="0" u="none" strike="noStrike">
                          <a:effectLst/>
                          <a:latin typeface="Arial" panose="020B0604020202020204" pitchFamily="34" charset="0"/>
                        </a:rPr>
                        <a:t>Planning</a:t>
                      </a:r>
                      <a:endParaRPr lang="en-IN" sz="1200" b="0" i="0" u="none" strike="noStrike">
                        <a:effectLst/>
                        <a:latin typeface="Arial" panose="020B0604020202020204" pitchFamily="34" charset="0"/>
                      </a:endParaRP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algn="l" fontAlgn="ctr">
                        <a:buNone/>
                      </a:pPr>
                      <a:r>
                        <a:rPr lang="en-IN" sz="1200" b="0" i="0" u="none" strike="noStrike">
                          <a:effectLst/>
                          <a:latin typeface="Arial" panose="020B0604020202020204" pitchFamily="34" charset="0"/>
                        </a:rPr>
                        <a:t>Manual or via tool-use</a:t>
                      </a: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IN" sz="1200" b="0" i="0" u="none" strike="noStrike">
                          <a:effectLst/>
                          <a:latin typeface="Arial" panose="020B0604020202020204" pitchFamily="34" charset="0"/>
                        </a:rPr>
                        <a:t>Role assignment</a:t>
                      </a: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IN" sz="1200" b="0" i="0" u="none" strike="noStrike">
                          <a:effectLst/>
                          <a:latin typeface="Arial" panose="020B0604020202020204" pitchFamily="34" charset="0"/>
                        </a:rPr>
                        <a:t>Message passing &amp; control</a:t>
                      </a: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IN" sz="1200" b="0" i="0" u="none" strike="noStrike">
                          <a:effectLst/>
                          <a:latin typeface="Arial" panose="020B0604020202020204" pitchFamily="34" charset="0"/>
                        </a:rPr>
                        <a:t>Graph-based task control</a:t>
                      </a: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1355915"/>
                  </a:ext>
                </a:extLst>
              </a:tr>
              <a:tr h="472844">
                <a:tc>
                  <a:txBody>
                    <a:bodyPr/>
                    <a:lstStyle/>
                    <a:p>
                      <a:pPr algn="l" fontAlgn="ctr">
                        <a:buNone/>
                      </a:pPr>
                      <a:r>
                        <a:rPr lang="en-IN" sz="1200" b="1" i="0" u="none" strike="noStrike">
                          <a:effectLst/>
                          <a:latin typeface="Arial" panose="020B0604020202020204" pitchFamily="34" charset="0"/>
                        </a:rPr>
                        <a:t>Use Case Fit</a:t>
                      </a:r>
                      <a:endParaRPr lang="en-IN" sz="1200" b="0" i="0" u="none" strike="noStrike">
                        <a:effectLst/>
                        <a:latin typeface="Arial" panose="020B0604020202020204" pitchFamily="34" charset="0"/>
                      </a:endParaRP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algn="l" fontAlgn="ctr">
                        <a:buNone/>
                      </a:pPr>
                      <a:r>
                        <a:rPr lang="en-IN" sz="1200" b="0" i="0" u="none" strike="noStrike">
                          <a:effectLst/>
                          <a:latin typeface="Arial" panose="020B0604020202020204" pitchFamily="34" charset="0"/>
                        </a:rPr>
                        <a:t>RAG, chatbots, workflows</a:t>
                      </a: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IN" sz="1200" b="0" i="0" u="none" strike="noStrike">
                          <a:effectLst/>
                          <a:latin typeface="Arial" panose="020B0604020202020204" pitchFamily="34" charset="0"/>
                        </a:rPr>
                        <a:t>Team-based coordination</a:t>
                      </a: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IN" sz="1200" b="0" i="0" u="none" strike="noStrike">
                          <a:effectLst/>
                          <a:latin typeface="Arial" panose="020B0604020202020204" pitchFamily="34" charset="0"/>
                        </a:rPr>
                        <a:t>Code agents, research</a:t>
                      </a: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IN" sz="1200" b="0" i="0" u="none" strike="noStrike">
                          <a:effectLst/>
                          <a:latin typeface="Arial" panose="020B0604020202020204" pitchFamily="34" charset="0"/>
                        </a:rPr>
                        <a:t>Reflective agents, retries</a:t>
                      </a: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1367014"/>
                  </a:ext>
                </a:extLst>
              </a:tr>
              <a:tr h="472844">
                <a:tc>
                  <a:txBody>
                    <a:bodyPr/>
                    <a:lstStyle/>
                    <a:p>
                      <a:pPr algn="l" fontAlgn="ctr">
                        <a:buNone/>
                      </a:pPr>
                      <a:r>
                        <a:rPr lang="en-IN" sz="1200" b="1" i="0" u="none" strike="noStrike">
                          <a:effectLst/>
                          <a:latin typeface="Arial" panose="020B0604020202020204" pitchFamily="34" charset="0"/>
                        </a:rPr>
                        <a:t>Ease of Use</a:t>
                      </a:r>
                      <a:endParaRPr lang="en-IN" sz="1200" b="0" i="0" u="none" strike="noStrike">
                        <a:effectLst/>
                        <a:latin typeface="Arial" panose="020B0604020202020204" pitchFamily="34" charset="0"/>
                      </a:endParaRP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algn="l" fontAlgn="ctr">
                        <a:buNone/>
                      </a:pPr>
                      <a:r>
                        <a:rPr lang="en-IN" sz="1200" b="0" i="0" u="none" strike="noStrike">
                          <a:effectLst/>
                          <a:latin typeface="Arial" panose="020B0604020202020204" pitchFamily="34" charset="0"/>
                        </a:rPr>
                        <a:t>🟡 Medium</a:t>
                      </a: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IN" sz="1200" b="0" i="0" u="none" strike="noStrike">
                          <a:effectLst/>
                          <a:latin typeface="Arial" panose="020B0604020202020204" pitchFamily="34" charset="0"/>
                        </a:rPr>
                        <a:t>✅ Easy</a:t>
                      </a: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IN" sz="1200" b="0" i="0" u="none" strike="noStrike">
                          <a:effectLst/>
                          <a:latin typeface="Arial" panose="020B0604020202020204" pitchFamily="34" charset="0"/>
                        </a:rPr>
                        <a:t>🟡 Medium</a:t>
                      </a: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IN" sz="1200" b="0" i="0" u="none" strike="noStrike">
                          <a:effectLst/>
                          <a:latin typeface="Arial" panose="020B0604020202020204" pitchFamily="34" charset="0"/>
                        </a:rPr>
                        <a:t>🔴 Complex but powerful</a:t>
                      </a: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167686"/>
                  </a:ext>
                </a:extLst>
              </a:tr>
              <a:tr h="472844">
                <a:tc>
                  <a:txBody>
                    <a:bodyPr/>
                    <a:lstStyle/>
                    <a:p>
                      <a:pPr algn="l" fontAlgn="ctr">
                        <a:buNone/>
                      </a:pPr>
                      <a:r>
                        <a:rPr lang="en-IN" sz="1200" b="1" i="0" u="none" strike="noStrike" dirty="0">
                          <a:effectLst/>
                          <a:latin typeface="Arial" panose="020B0604020202020204" pitchFamily="34" charset="0"/>
                        </a:rPr>
                        <a:t>Best For</a:t>
                      </a:r>
                      <a:endParaRPr lang="en-IN" sz="1200" b="0" i="0" u="none" strike="noStrike" dirty="0">
                        <a:effectLst/>
                        <a:latin typeface="Arial" panose="020B0604020202020204" pitchFamily="34" charset="0"/>
                      </a:endParaRP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algn="l" fontAlgn="ctr">
                        <a:buNone/>
                      </a:pPr>
                      <a:r>
                        <a:rPr lang="en-IN" sz="1200" b="0" i="0" u="none" strike="noStrike">
                          <a:effectLst/>
                          <a:latin typeface="Arial" panose="020B0604020202020204" pitchFamily="34" charset="0"/>
                        </a:rPr>
                        <a:t>Modular LLM pipelines</a:t>
                      </a: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IN" sz="1200" b="0" i="0" u="none" strike="noStrike">
                          <a:effectLst/>
                          <a:latin typeface="Arial" panose="020B0604020202020204" pitchFamily="34" charset="0"/>
                        </a:rPr>
                        <a:t>Role-played task division</a:t>
                      </a: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IN" sz="1200" b="0" i="0" u="none" strike="noStrike">
                          <a:effectLst/>
                          <a:latin typeface="Arial" panose="020B0604020202020204" pitchFamily="34" charset="0"/>
                        </a:rPr>
                        <a:t>Human+AI chat flow</a:t>
                      </a: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IN" sz="1200" b="0" i="0" u="none" strike="noStrike" dirty="0">
                          <a:effectLst/>
                          <a:latin typeface="Arial" panose="020B0604020202020204" pitchFamily="34" charset="0"/>
                        </a:rPr>
                        <a:t>Long-loop intelligent agents</a:t>
                      </a:r>
                    </a:p>
                  </a:txBody>
                  <a:tcPr marL="63383" marR="63383" marT="31692" marB="316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9028306"/>
                  </a:ext>
                </a:extLst>
              </a:tr>
            </a:tbl>
          </a:graphicData>
        </a:graphic>
      </p:graphicFrame>
    </p:spTree>
    <p:extLst>
      <p:ext uri="{BB962C8B-B14F-4D97-AF65-F5344CB8AC3E}">
        <p14:creationId xmlns:p14="http://schemas.microsoft.com/office/powerpoint/2010/main" val="17670346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9F2BD-EDAC-744B-5205-8D7D1F8F2B94}"/>
              </a:ext>
            </a:extLst>
          </p:cNvPr>
          <p:cNvSpPr>
            <a:spLocks noGrp="1"/>
          </p:cNvSpPr>
          <p:nvPr>
            <p:ph type="title"/>
          </p:nvPr>
        </p:nvSpPr>
        <p:spPr>
          <a:xfrm>
            <a:off x="669358" y="594141"/>
            <a:ext cx="10869971" cy="639347"/>
          </a:xfrm>
        </p:spPr>
        <p:txBody>
          <a:bodyPr/>
          <a:lstStyle/>
          <a:p>
            <a:r>
              <a:rPr lang="en-IN" dirty="0"/>
              <a:t>Memory Backends</a:t>
            </a:r>
            <a:endParaRPr lang="en-US" dirty="0"/>
          </a:p>
        </p:txBody>
      </p:sp>
      <p:sp>
        <p:nvSpPr>
          <p:cNvPr id="3" name="Content Placeholder 2">
            <a:extLst>
              <a:ext uri="{FF2B5EF4-FFF2-40B4-BE49-F238E27FC236}">
                <a16:creationId xmlns:a16="http://schemas.microsoft.com/office/drawing/2014/main" id="{781CFCA4-6E09-B2BD-4050-AEE5036FF5E3}"/>
              </a:ext>
            </a:extLst>
          </p:cNvPr>
          <p:cNvSpPr>
            <a:spLocks noGrp="1"/>
          </p:cNvSpPr>
          <p:nvPr>
            <p:ph idx="1"/>
          </p:nvPr>
        </p:nvSpPr>
        <p:spPr>
          <a:xfrm>
            <a:off x="669359" y="1675075"/>
            <a:ext cx="10869970" cy="4417750"/>
          </a:xfrm>
        </p:spPr>
        <p:txBody>
          <a:bodyPr>
            <a:normAutofit/>
          </a:bodyPr>
          <a:lstStyle/>
          <a:p>
            <a:pPr>
              <a:buNone/>
            </a:pPr>
            <a:r>
              <a:rPr lang="en-IN" sz="2400" b="1" dirty="0"/>
              <a:t>🧠 Agent memory allows:</a:t>
            </a:r>
          </a:p>
          <a:p>
            <a:pPr>
              <a:buFont typeface="Arial" panose="020B0604020202020204" pitchFamily="34" charset="0"/>
              <a:buChar char="•"/>
            </a:pPr>
            <a:r>
              <a:rPr lang="en-IN" sz="2400" b="1" dirty="0"/>
              <a:t>Short-term</a:t>
            </a:r>
            <a:r>
              <a:rPr lang="en-IN" sz="2400" dirty="0"/>
              <a:t> memory: context, chat history</a:t>
            </a:r>
          </a:p>
          <a:p>
            <a:pPr>
              <a:buFont typeface="Arial" panose="020B0604020202020204" pitchFamily="34" charset="0"/>
              <a:buChar char="•"/>
            </a:pPr>
            <a:r>
              <a:rPr lang="en-IN" sz="2400" b="1" dirty="0"/>
              <a:t>Long-term</a:t>
            </a:r>
            <a:r>
              <a:rPr lang="en-IN" sz="2400" dirty="0"/>
              <a:t> memory: knowledge across sessions</a:t>
            </a:r>
          </a:p>
          <a:p>
            <a:r>
              <a:rPr lang="en-IN" sz="2400" b="1" dirty="0"/>
              <a:t>🔸 Common Backends:</a:t>
            </a:r>
          </a:p>
        </p:txBody>
      </p:sp>
      <p:graphicFrame>
        <p:nvGraphicFramePr>
          <p:cNvPr id="4" name="Table 3">
            <a:extLst>
              <a:ext uri="{FF2B5EF4-FFF2-40B4-BE49-F238E27FC236}">
                <a16:creationId xmlns:a16="http://schemas.microsoft.com/office/drawing/2014/main" id="{0B381AB5-58C0-4814-C266-B403F97C69B0}"/>
              </a:ext>
            </a:extLst>
          </p:cNvPr>
          <p:cNvGraphicFramePr>
            <a:graphicFrameLocks noGrp="1"/>
          </p:cNvGraphicFramePr>
          <p:nvPr>
            <p:extLst>
              <p:ext uri="{D42A27DB-BD31-4B8C-83A1-F6EECF244321}">
                <p14:modId xmlns:p14="http://schemas.microsoft.com/office/powerpoint/2010/main" val="2928377940"/>
              </p:ext>
            </p:extLst>
          </p:nvPr>
        </p:nvGraphicFramePr>
        <p:xfrm>
          <a:off x="652669" y="3511550"/>
          <a:ext cx="10869970" cy="1858745"/>
        </p:xfrm>
        <a:graphic>
          <a:graphicData uri="http://schemas.openxmlformats.org/drawingml/2006/table">
            <a:tbl>
              <a:tblPr/>
              <a:tblGrid>
                <a:gridCol w="5434985">
                  <a:extLst>
                    <a:ext uri="{9D8B030D-6E8A-4147-A177-3AD203B41FA5}">
                      <a16:colId xmlns:a16="http://schemas.microsoft.com/office/drawing/2014/main" val="1650858911"/>
                    </a:ext>
                  </a:extLst>
                </a:gridCol>
                <a:gridCol w="5434985">
                  <a:extLst>
                    <a:ext uri="{9D8B030D-6E8A-4147-A177-3AD203B41FA5}">
                      <a16:colId xmlns:a16="http://schemas.microsoft.com/office/drawing/2014/main" val="1617092145"/>
                    </a:ext>
                  </a:extLst>
                </a:gridCol>
              </a:tblGrid>
              <a:tr h="371749">
                <a:tc>
                  <a:txBody>
                    <a:bodyPr/>
                    <a:lstStyle/>
                    <a:p>
                      <a:r>
                        <a:rPr lang="en-IN"/>
                        <a:t>Memory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dirty="0"/>
                        <a:t>Tools / Examples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2605248580"/>
                  </a:ext>
                </a:extLst>
              </a:tr>
              <a:tr h="371749">
                <a:tc>
                  <a:txBody>
                    <a:bodyPr/>
                    <a:lstStyle/>
                    <a:p>
                      <a:r>
                        <a:rPr lang="en-IN" dirty="0"/>
                        <a:t>Chat history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LangChain's ConversationBufferMemory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232190"/>
                  </a:ext>
                </a:extLst>
              </a:tr>
              <a:tr h="371749">
                <a:tc>
                  <a:txBody>
                    <a:bodyPr/>
                    <a:lstStyle/>
                    <a:p>
                      <a:r>
                        <a:rPr lang="en-IN" dirty="0"/>
                        <a:t>Vector store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FAISS, Chroma, Pinecone, Weaviate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0648675"/>
                  </a:ext>
                </a:extLst>
              </a:tr>
              <a:tr h="371749">
                <a:tc>
                  <a:txBody>
                    <a:bodyPr/>
                    <a:lstStyle/>
                    <a:p>
                      <a:r>
                        <a:rPr lang="en-IN"/>
                        <a:t>Graph memory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Neo4j, Memgraph (KGs for factual linking)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3007848"/>
                  </a:ext>
                </a:extLst>
              </a:tr>
              <a:tr h="371749">
                <a:tc>
                  <a:txBody>
                    <a:bodyPr/>
                    <a:lstStyle/>
                    <a:p>
                      <a:r>
                        <a:rPr lang="en-IN" dirty="0"/>
                        <a:t>JSON / File memory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Custom agents with file-based state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5301185"/>
                  </a:ext>
                </a:extLst>
              </a:tr>
            </a:tbl>
          </a:graphicData>
        </a:graphic>
      </p:graphicFrame>
      <p:sp>
        <p:nvSpPr>
          <p:cNvPr id="7" name="TextBox 6">
            <a:extLst>
              <a:ext uri="{FF2B5EF4-FFF2-40B4-BE49-F238E27FC236}">
                <a16:creationId xmlns:a16="http://schemas.microsoft.com/office/drawing/2014/main" id="{9BA37D1E-7235-41D4-F3B2-BC8678C6080B}"/>
              </a:ext>
            </a:extLst>
          </p:cNvPr>
          <p:cNvSpPr txBox="1"/>
          <p:nvPr/>
        </p:nvSpPr>
        <p:spPr>
          <a:xfrm>
            <a:off x="669358" y="5446494"/>
            <a:ext cx="10853283" cy="646331"/>
          </a:xfrm>
          <a:prstGeom prst="rect">
            <a:avLst/>
          </a:prstGeom>
          <a:noFill/>
        </p:spPr>
        <p:txBody>
          <a:bodyPr wrap="square">
            <a:spAutoFit/>
          </a:bodyPr>
          <a:lstStyle/>
          <a:p>
            <a:r>
              <a:rPr lang="en-IN" b="1" dirty="0" err="1"/>
              <a:t>CrewAI</a:t>
            </a:r>
            <a:r>
              <a:rPr lang="en-IN" dirty="0"/>
              <a:t> requires manual memory injection (e.g., via prompts).</a:t>
            </a:r>
            <a:br>
              <a:rPr lang="en-IN" dirty="0"/>
            </a:br>
            <a:r>
              <a:rPr lang="en-IN" b="1" dirty="0" err="1"/>
              <a:t>AutoGen</a:t>
            </a:r>
            <a:r>
              <a:rPr lang="en-IN" dirty="0"/>
              <a:t> uses conversational memory natively.</a:t>
            </a:r>
            <a:endParaRPr lang="en-US" dirty="0"/>
          </a:p>
        </p:txBody>
      </p:sp>
    </p:spTree>
    <p:extLst>
      <p:ext uri="{BB962C8B-B14F-4D97-AF65-F5344CB8AC3E}">
        <p14:creationId xmlns:p14="http://schemas.microsoft.com/office/powerpoint/2010/main" val="3497592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08147-7A75-DF46-B470-167514EA07EF}"/>
              </a:ext>
            </a:extLst>
          </p:cNvPr>
          <p:cNvSpPr>
            <a:spLocks noGrp="1"/>
          </p:cNvSpPr>
          <p:nvPr>
            <p:ph type="title"/>
          </p:nvPr>
        </p:nvSpPr>
        <p:spPr>
          <a:xfrm>
            <a:off x="669358" y="594141"/>
            <a:ext cx="10863829" cy="639347"/>
          </a:xfrm>
        </p:spPr>
        <p:txBody>
          <a:bodyPr/>
          <a:lstStyle/>
          <a:p>
            <a:r>
              <a:rPr lang="en-IN" dirty="0">
                <a:solidFill>
                  <a:srgbClr val="161A3E"/>
                </a:solidFill>
              </a:rPr>
              <a:t>Example (</a:t>
            </a:r>
            <a:r>
              <a:rPr lang="en-IN" dirty="0" err="1">
                <a:solidFill>
                  <a:srgbClr val="161A3E"/>
                </a:solidFill>
              </a:rPr>
              <a:t>LangChain</a:t>
            </a:r>
            <a:r>
              <a:rPr lang="en-IN" dirty="0">
                <a:solidFill>
                  <a:srgbClr val="161A3E"/>
                </a:solidFill>
              </a:rPr>
              <a:t> Memory):</a:t>
            </a:r>
            <a:endParaRPr lang="en-US" dirty="0">
              <a:solidFill>
                <a:srgbClr val="161A3E"/>
              </a:solidFill>
            </a:endParaRPr>
          </a:p>
        </p:txBody>
      </p:sp>
      <p:sp>
        <p:nvSpPr>
          <p:cNvPr id="3" name="Content Placeholder 2">
            <a:extLst>
              <a:ext uri="{FF2B5EF4-FFF2-40B4-BE49-F238E27FC236}">
                <a16:creationId xmlns:a16="http://schemas.microsoft.com/office/drawing/2014/main" id="{58730628-3B8F-E03C-0859-2FFDC822C14F}"/>
              </a:ext>
            </a:extLst>
          </p:cNvPr>
          <p:cNvSpPr>
            <a:spLocks noGrp="1"/>
          </p:cNvSpPr>
          <p:nvPr>
            <p:ph idx="1"/>
          </p:nvPr>
        </p:nvSpPr>
        <p:spPr>
          <a:xfrm>
            <a:off x="669358" y="1675075"/>
            <a:ext cx="10863829" cy="4417750"/>
          </a:xfrm>
        </p:spPr>
        <p:txBody>
          <a:bodyPr>
            <a:normAutofit/>
          </a:bodyPr>
          <a:lstStyle/>
          <a:p>
            <a:r>
              <a:rPr lang="en-US" sz="2400" i="1" dirty="0">
                <a:solidFill>
                  <a:srgbClr val="161A3E"/>
                </a:solidFill>
                <a:latin typeface="+mj-lt"/>
              </a:rPr>
              <a:t>from </a:t>
            </a:r>
            <a:r>
              <a:rPr lang="en-US" sz="2400" i="1" dirty="0" err="1">
                <a:solidFill>
                  <a:srgbClr val="161A3E"/>
                </a:solidFill>
                <a:latin typeface="+mj-lt"/>
              </a:rPr>
              <a:t>langchain.memory</a:t>
            </a:r>
            <a:r>
              <a:rPr lang="en-US" sz="2400" i="1" dirty="0">
                <a:solidFill>
                  <a:srgbClr val="161A3E"/>
                </a:solidFill>
                <a:latin typeface="+mj-lt"/>
              </a:rPr>
              <a:t> import </a:t>
            </a:r>
            <a:r>
              <a:rPr lang="en-US" sz="2400" i="1" dirty="0" err="1">
                <a:solidFill>
                  <a:srgbClr val="161A3E"/>
                </a:solidFill>
                <a:latin typeface="+mj-lt"/>
              </a:rPr>
              <a:t>ConversationBufferMemory</a:t>
            </a:r>
            <a:endParaRPr lang="en-US" sz="2400" i="1" dirty="0">
              <a:solidFill>
                <a:srgbClr val="161A3E"/>
              </a:solidFill>
              <a:latin typeface="+mj-lt"/>
            </a:endParaRPr>
          </a:p>
          <a:p>
            <a:r>
              <a:rPr lang="en-US" sz="2400" i="1" dirty="0">
                <a:solidFill>
                  <a:srgbClr val="161A3E"/>
                </a:solidFill>
                <a:latin typeface="+mj-lt"/>
              </a:rPr>
              <a:t>memory = </a:t>
            </a:r>
            <a:r>
              <a:rPr lang="en-US" sz="2400" i="1" dirty="0" err="1">
                <a:solidFill>
                  <a:srgbClr val="161A3E"/>
                </a:solidFill>
                <a:latin typeface="+mj-lt"/>
              </a:rPr>
              <a:t>ConversationBufferMemory</a:t>
            </a:r>
            <a:r>
              <a:rPr lang="en-US" sz="2400" i="1" dirty="0">
                <a:solidFill>
                  <a:srgbClr val="161A3E"/>
                </a:solidFill>
                <a:latin typeface="+mj-lt"/>
              </a:rPr>
              <a:t>(</a:t>
            </a:r>
            <a:r>
              <a:rPr lang="en-US" sz="2400" i="1" dirty="0" err="1">
                <a:solidFill>
                  <a:srgbClr val="161A3E"/>
                </a:solidFill>
                <a:latin typeface="+mj-lt"/>
              </a:rPr>
              <a:t>return_messages</a:t>
            </a:r>
            <a:r>
              <a:rPr lang="en-US" sz="2400" i="1" dirty="0">
                <a:solidFill>
                  <a:srgbClr val="161A3E"/>
                </a:solidFill>
                <a:latin typeface="+mj-lt"/>
              </a:rPr>
              <a:t>=True)</a:t>
            </a:r>
          </a:p>
        </p:txBody>
      </p:sp>
    </p:spTree>
    <p:extLst>
      <p:ext uri="{BB962C8B-B14F-4D97-AF65-F5344CB8AC3E}">
        <p14:creationId xmlns:p14="http://schemas.microsoft.com/office/powerpoint/2010/main" val="1913366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6B7D7-A978-C366-A29B-7CA43244BE40}"/>
              </a:ext>
            </a:extLst>
          </p:cNvPr>
          <p:cNvSpPr>
            <a:spLocks noGrp="1"/>
          </p:cNvSpPr>
          <p:nvPr>
            <p:ph type="title"/>
          </p:nvPr>
        </p:nvSpPr>
        <p:spPr>
          <a:xfrm>
            <a:off x="669358" y="594141"/>
            <a:ext cx="10863829" cy="639347"/>
          </a:xfrm>
        </p:spPr>
        <p:txBody>
          <a:bodyPr/>
          <a:lstStyle/>
          <a:p>
            <a:r>
              <a:rPr lang="en-IN" dirty="0">
                <a:solidFill>
                  <a:srgbClr val="161A3E"/>
                </a:solidFill>
              </a:rPr>
              <a:t>Tool Abstraction</a:t>
            </a:r>
            <a:endParaRPr lang="en-US" dirty="0">
              <a:solidFill>
                <a:srgbClr val="161A3E"/>
              </a:solidFill>
            </a:endParaRPr>
          </a:p>
        </p:txBody>
      </p:sp>
      <p:sp>
        <p:nvSpPr>
          <p:cNvPr id="3" name="Content Placeholder 2">
            <a:extLst>
              <a:ext uri="{FF2B5EF4-FFF2-40B4-BE49-F238E27FC236}">
                <a16:creationId xmlns:a16="http://schemas.microsoft.com/office/drawing/2014/main" id="{E4C127F6-8006-232A-D9A4-ABBA214BFAC9}"/>
              </a:ext>
            </a:extLst>
          </p:cNvPr>
          <p:cNvSpPr>
            <a:spLocks noGrp="1"/>
          </p:cNvSpPr>
          <p:nvPr>
            <p:ph idx="1"/>
          </p:nvPr>
        </p:nvSpPr>
        <p:spPr/>
        <p:txBody>
          <a:bodyPr>
            <a:normAutofit/>
          </a:bodyPr>
          <a:lstStyle/>
          <a:p>
            <a:pPr>
              <a:buNone/>
            </a:pPr>
            <a:r>
              <a:rPr lang="en-IN" sz="2400" b="1" dirty="0">
                <a:solidFill>
                  <a:srgbClr val="161A3E"/>
                </a:solidFill>
              </a:rPr>
              <a:t>🔧 What are “tools” for agents?</a:t>
            </a:r>
          </a:p>
          <a:p>
            <a:pPr>
              <a:buFont typeface="Arial" panose="020B0604020202020204" pitchFamily="34" charset="0"/>
              <a:buChar char="•"/>
            </a:pPr>
            <a:r>
              <a:rPr lang="en-IN" sz="2400" dirty="0">
                <a:solidFill>
                  <a:srgbClr val="161A3E"/>
                </a:solidFill>
              </a:rPr>
              <a:t>External functions/APIs agents can call (e.g., calculator, search)</a:t>
            </a:r>
          </a:p>
          <a:p>
            <a:pPr>
              <a:buFont typeface="Arial" panose="020B0604020202020204" pitchFamily="34" charset="0"/>
              <a:buChar char="•"/>
            </a:pPr>
            <a:r>
              <a:rPr lang="en-IN" sz="2400" dirty="0">
                <a:solidFill>
                  <a:srgbClr val="161A3E"/>
                </a:solidFill>
              </a:rPr>
              <a:t>Enables agents to act, not just chat</a:t>
            </a:r>
          </a:p>
        </p:txBody>
      </p:sp>
      <p:graphicFrame>
        <p:nvGraphicFramePr>
          <p:cNvPr id="4" name="Table 3">
            <a:extLst>
              <a:ext uri="{FF2B5EF4-FFF2-40B4-BE49-F238E27FC236}">
                <a16:creationId xmlns:a16="http://schemas.microsoft.com/office/drawing/2014/main" id="{AE82895F-DA45-F441-21BE-019BE038CF5E}"/>
              </a:ext>
            </a:extLst>
          </p:cNvPr>
          <p:cNvGraphicFramePr>
            <a:graphicFrameLocks noGrp="1"/>
          </p:cNvGraphicFramePr>
          <p:nvPr>
            <p:extLst>
              <p:ext uri="{D42A27DB-BD31-4B8C-83A1-F6EECF244321}">
                <p14:modId xmlns:p14="http://schemas.microsoft.com/office/powerpoint/2010/main" val="263867446"/>
              </p:ext>
            </p:extLst>
          </p:nvPr>
        </p:nvGraphicFramePr>
        <p:xfrm>
          <a:off x="650306" y="3587749"/>
          <a:ext cx="10882882" cy="2505075"/>
        </p:xfrm>
        <a:graphic>
          <a:graphicData uri="http://schemas.openxmlformats.org/drawingml/2006/table">
            <a:tbl>
              <a:tblPr/>
              <a:tblGrid>
                <a:gridCol w="5441441">
                  <a:extLst>
                    <a:ext uri="{9D8B030D-6E8A-4147-A177-3AD203B41FA5}">
                      <a16:colId xmlns:a16="http://schemas.microsoft.com/office/drawing/2014/main" val="3001123550"/>
                    </a:ext>
                  </a:extLst>
                </a:gridCol>
                <a:gridCol w="5441441">
                  <a:extLst>
                    <a:ext uri="{9D8B030D-6E8A-4147-A177-3AD203B41FA5}">
                      <a16:colId xmlns:a16="http://schemas.microsoft.com/office/drawing/2014/main" val="3294080872"/>
                    </a:ext>
                  </a:extLst>
                </a:gridCol>
              </a:tblGrid>
              <a:tr h="501015">
                <a:tc>
                  <a:txBody>
                    <a:bodyPr/>
                    <a:lstStyle/>
                    <a:p>
                      <a:r>
                        <a:rPr lang="en-IN"/>
                        <a:t>Framework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dirty="0"/>
                        <a:t>Tool Integration Pattern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964873989"/>
                  </a:ext>
                </a:extLst>
              </a:tr>
              <a:tr h="501015">
                <a:tc>
                  <a:txBody>
                    <a:bodyPr/>
                    <a:lstStyle/>
                    <a:p>
                      <a:r>
                        <a:rPr lang="en-IN"/>
                        <a:t>LangChain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Tool class with function + 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3493051"/>
                  </a:ext>
                </a:extLst>
              </a:tr>
              <a:tr h="501015">
                <a:tc>
                  <a:txBody>
                    <a:bodyPr/>
                    <a:lstStyle/>
                    <a:p>
                      <a:r>
                        <a:rPr lang="en-IN"/>
                        <a:t>CrewAI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Role-based tasks (tool = task output)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6598296"/>
                  </a:ext>
                </a:extLst>
              </a:tr>
              <a:tr h="501015">
                <a:tc>
                  <a:txBody>
                    <a:bodyPr/>
                    <a:lstStyle/>
                    <a:p>
                      <a:r>
                        <a:rPr lang="en-IN"/>
                        <a:t>AutoGen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Any function can be used as a “tool”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8799518"/>
                  </a:ext>
                </a:extLst>
              </a:tr>
              <a:tr h="501015">
                <a:tc>
                  <a:txBody>
                    <a:bodyPr/>
                    <a:lstStyle/>
                    <a:p>
                      <a:r>
                        <a:rPr lang="en-IN" dirty="0" err="1"/>
                        <a:t>LangGraph</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Tools inside nodes or chained </a:t>
                      </a:r>
                      <a:r>
                        <a:rPr lang="en-IN" dirty="0" err="1"/>
                        <a:t>LangChain</a:t>
                      </a:r>
                      <a:r>
                        <a:rPr lang="en-IN" dirty="0"/>
                        <a:t> tools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02830371"/>
                  </a:ext>
                </a:extLst>
              </a:tr>
            </a:tbl>
          </a:graphicData>
        </a:graphic>
      </p:graphicFrame>
    </p:spTree>
    <p:extLst>
      <p:ext uri="{BB962C8B-B14F-4D97-AF65-F5344CB8AC3E}">
        <p14:creationId xmlns:p14="http://schemas.microsoft.com/office/powerpoint/2010/main" val="1198714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72DEB-EEA2-778A-2344-37E6A29E28B2}"/>
              </a:ext>
            </a:extLst>
          </p:cNvPr>
          <p:cNvSpPr>
            <a:spLocks noGrp="1"/>
          </p:cNvSpPr>
          <p:nvPr>
            <p:ph type="title"/>
          </p:nvPr>
        </p:nvSpPr>
        <p:spPr>
          <a:xfrm>
            <a:off x="668371" y="594140"/>
            <a:ext cx="10864817" cy="639348"/>
          </a:xfrm>
        </p:spPr>
        <p:txBody>
          <a:bodyPr vert="horz" lIns="0" tIns="0" rIns="0" bIns="0" rtlCol="0" anchor="b">
            <a:normAutofit/>
          </a:bodyPr>
          <a:lstStyle/>
          <a:p>
            <a:r>
              <a:rPr lang="en-US" sz="3400" b="1" kern="1200" dirty="0">
                <a:solidFill>
                  <a:srgbClr val="161A3E"/>
                </a:solidFill>
                <a:latin typeface="Calibri" panose="020F0502020204030204" pitchFamily="34" charset="0"/>
                <a:ea typeface="+mj-ea"/>
                <a:cs typeface="+mj-cs"/>
              </a:rPr>
              <a:t>Example in </a:t>
            </a:r>
            <a:r>
              <a:rPr lang="en-US" sz="3400" b="1" kern="1200" dirty="0" err="1">
                <a:solidFill>
                  <a:srgbClr val="161A3E"/>
                </a:solidFill>
                <a:latin typeface="Calibri" panose="020F0502020204030204" pitchFamily="34" charset="0"/>
                <a:ea typeface="+mj-ea"/>
                <a:cs typeface="+mj-cs"/>
              </a:rPr>
              <a:t>LangChain</a:t>
            </a:r>
            <a:r>
              <a:rPr lang="en-US" sz="3400" b="1" kern="1200" dirty="0">
                <a:solidFill>
                  <a:srgbClr val="161A3E"/>
                </a:solidFill>
                <a:latin typeface="Calibri" panose="020F0502020204030204" pitchFamily="34" charset="0"/>
                <a:ea typeface="+mj-ea"/>
                <a:cs typeface="+mj-cs"/>
              </a:rPr>
              <a:t>:</a:t>
            </a:r>
          </a:p>
        </p:txBody>
      </p:sp>
      <p:pic>
        <p:nvPicPr>
          <p:cNvPr id="4" name="Content Placeholder 3">
            <a:extLst>
              <a:ext uri="{FF2B5EF4-FFF2-40B4-BE49-F238E27FC236}">
                <a16:creationId xmlns:a16="http://schemas.microsoft.com/office/drawing/2014/main" id="{B36A9EB7-15F3-8069-03BC-EE572A5EF49E}"/>
              </a:ext>
            </a:extLst>
          </p:cNvPr>
          <p:cNvPicPr>
            <a:picLocks noGrp="1" noChangeAspect="1"/>
          </p:cNvPicPr>
          <p:nvPr>
            <p:ph idx="1"/>
          </p:nvPr>
        </p:nvPicPr>
        <p:blipFill>
          <a:blip r:embed="rId2"/>
          <a:stretch>
            <a:fillRect/>
          </a:stretch>
        </p:blipFill>
        <p:spPr>
          <a:xfrm>
            <a:off x="2289430" y="3975755"/>
            <a:ext cx="7613139" cy="1408430"/>
          </a:xfrm>
          <a:prstGeom prst="rect">
            <a:avLst/>
          </a:prstGeom>
          <a:noFill/>
        </p:spPr>
      </p:pic>
      <p:sp>
        <p:nvSpPr>
          <p:cNvPr id="6" name="TextBox 5">
            <a:extLst>
              <a:ext uri="{FF2B5EF4-FFF2-40B4-BE49-F238E27FC236}">
                <a16:creationId xmlns:a16="http://schemas.microsoft.com/office/drawing/2014/main" id="{0319B4AF-10CA-36DC-096B-A83E9500C6C0}"/>
              </a:ext>
            </a:extLst>
          </p:cNvPr>
          <p:cNvSpPr txBox="1"/>
          <p:nvPr/>
        </p:nvSpPr>
        <p:spPr>
          <a:xfrm>
            <a:off x="669356" y="1674813"/>
            <a:ext cx="10863832" cy="4418011"/>
          </a:xfrm>
          <a:prstGeom prst="rect">
            <a:avLst/>
          </a:prstGeom>
        </p:spPr>
        <p:txBody>
          <a:bodyPr vert="horz" lIns="91440" tIns="45720" rIns="91440" bIns="45720" rtlCol="0">
            <a:normAutofit/>
          </a:bodyPr>
          <a:lstStyle/>
          <a:p>
            <a:pPr>
              <a:lnSpc>
                <a:spcPct val="90000"/>
              </a:lnSpc>
              <a:spcBef>
                <a:spcPts val="1000"/>
              </a:spcBef>
              <a:spcAft>
                <a:spcPts val="600"/>
              </a:spcAft>
            </a:pPr>
            <a:r>
              <a:rPr lang="en-US" sz="2400" b="1" kern="1200" dirty="0">
                <a:solidFill>
                  <a:srgbClr val="161A3E"/>
                </a:solidFill>
                <a:latin typeface="Calibri" panose="020F0502020204030204" pitchFamily="34" charset="0"/>
                <a:ea typeface="+mn-ea"/>
                <a:cs typeface="+mn-cs"/>
              </a:rPr>
              <a:t>Consider:</a:t>
            </a:r>
          </a:p>
          <a:p>
            <a:pPr marL="342900" indent="-342900">
              <a:lnSpc>
                <a:spcPct val="90000"/>
              </a:lnSpc>
              <a:spcBef>
                <a:spcPts val="1000"/>
              </a:spcBef>
              <a:spcAft>
                <a:spcPts val="600"/>
              </a:spcAft>
              <a:buFont typeface="Arial" panose="020B0604020202020204" pitchFamily="34" charset="0"/>
              <a:buChar char="•"/>
            </a:pPr>
            <a:r>
              <a:rPr lang="en-US" sz="2400" kern="1200" dirty="0">
                <a:solidFill>
                  <a:srgbClr val="161A3E"/>
                </a:solidFill>
                <a:latin typeface="Calibri" panose="020F0502020204030204" pitchFamily="34" charset="0"/>
                <a:ea typeface="+mn-ea"/>
                <a:cs typeface="+mn-cs"/>
              </a:rPr>
              <a:t>Declarative tool description → helps LLM pick right one</a:t>
            </a:r>
          </a:p>
          <a:p>
            <a:pPr marL="342900" indent="-342900">
              <a:lnSpc>
                <a:spcPct val="90000"/>
              </a:lnSpc>
              <a:spcBef>
                <a:spcPts val="1000"/>
              </a:spcBef>
              <a:spcAft>
                <a:spcPts val="600"/>
              </a:spcAft>
              <a:buFont typeface="Arial" panose="020B0604020202020204" pitchFamily="34" charset="0"/>
              <a:buChar char="•"/>
            </a:pPr>
            <a:r>
              <a:rPr lang="en-US" sz="2400" kern="1200" dirty="0">
                <a:solidFill>
                  <a:srgbClr val="161A3E"/>
                </a:solidFill>
                <a:latin typeface="Calibri" panose="020F0502020204030204" pitchFamily="34" charset="0"/>
                <a:ea typeface="+mn-ea"/>
                <a:cs typeface="+mn-cs"/>
              </a:rPr>
              <a:t>Output format → needs standardization (JSON, text)</a:t>
            </a:r>
          </a:p>
        </p:txBody>
      </p:sp>
    </p:spTree>
    <p:extLst>
      <p:ext uri="{BB962C8B-B14F-4D97-AF65-F5344CB8AC3E}">
        <p14:creationId xmlns:p14="http://schemas.microsoft.com/office/powerpoint/2010/main" val="23048793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6B0A4-38C1-BBEE-3D86-03C62F43B65C}"/>
              </a:ext>
            </a:extLst>
          </p:cNvPr>
          <p:cNvSpPr>
            <a:spLocks noGrp="1"/>
          </p:cNvSpPr>
          <p:nvPr>
            <p:ph type="title"/>
          </p:nvPr>
        </p:nvSpPr>
        <p:spPr>
          <a:xfrm>
            <a:off x="667456" y="589026"/>
            <a:ext cx="10865732" cy="644462"/>
          </a:xfrm>
        </p:spPr>
        <p:txBody>
          <a:bodyPr vert="horz" lIns="91440" tIns="45720" rIns="91440" bIns="45720" rtlCol="0" anchor="ctr">
            <a:normAutofit/>
          </a:bodyPr>
          <a:lstStyle/>
          <a:p>
            <a:pPr algn="ctr"/>
            <a:r>
              <a:rPr lang="en-US" kern="1200" dirty="0">
                <a:solidFill>
                  <a:srgbClr val="161A3E"/>
                </a:solidFill>
                <a:latin typeface="+mn-lt"/>
                <a:ea typeface="+mj-ea"/>
                <a:cs typeface="+mj-cs"/>
              </a:rPr>
              <a:t>Trade-Offs Summary</a:t>
            </a:r>
          </a:p>
        </p:txBody>
      </p:sp>
      <p:graphicFrame>
        <p:nvGraphicFramePr>
          <p:cNvPr id="4" name="Content Placeholder 3">
            <a:extLst>
              <a:ext uri="{FF2B5EF4-FFF2-40B4-BE49-F238E27FC236}">
                <a16:creationId xmlns:a16="http://schemas.microsoft.com/office/drawing/2014/main" id="{0C7AD676-39B2-CEAA-86E4-511A2D0E4F1A}"/>
              </a:ext>
            </a:extLst>
          </p:cNvPr>
          <p:cNvGraphicFramePr>
            <a:graphicFrameLocks noGrp="1"/>
          </p:cNvGraphicFramePr>
          <p:nvPr>
            <p:ph idx="1"/>
            <p:extLst>
              <p:ext uri="{D42A27DB-BD31-4B8C-83A1-F6EECF244321}">
                <p14:modId xmlns:p14="http://schemas.microsoft.com/office/powerpoint/2010/main" val="2882832165"/>
              </p:ext>
            </p:extLst>
          </p:nvPr>
        </p:nvGraphicFramePr>
        <p:xfrm>
          <a:off x="649288" y="1665287"/>
          <a:ext cx="10883899" cy="4427535"/>
        </p:xfrm>
        <a:graphic>
          <a:graphicData uri="http://schemas.openxmlformats.org/drawingml/2006/table">
            <a:tbl>
              <a:tblPr>
                <a:solidFill>
                  <a:schemeClr val="tx1">
                    <a:lumMod val="65000"/>
                    <a:lumOff val="35000"/>
                  </a:schemeClr>
                </a:solidFill>
              </a:tblPr>
              <a:tblGrid>
                <a:gridCol w="2207691">
                  <a:extLst>
                    <a:ext uri="{9D8B030D-6E8A-4147-A177-3AD203B41FA5}">
                      <a16:colId xmlns:a16="http://schemas.microsoft.com/office/drawing/2014/main" val="3092182668"/>
                    </a:ext>
                  </a:extLst>
                </a:gridCol>
                <a:gridCol w="2169052">
                  <a:extLst>
                    <a:ext uri="{9D8B030D-6E8A-4147-A177-3AD203B41FA5}">
                      <a16:colId xmlns:a16="http://schemas.microsoft.com/office/drawing/2014/main" val="1088702558"/>
                    </a:ext>
                  </a:extLst>
                </a:gridCol>
                <a:gridCol w="2169052">
                  <a:extLst>
                    <a:ext uri="{9D8B030D-6E8A-4147-A177-3AD203B41FA5}">
                      <a16:colId xmlns:a16="http://schemas.microsoft.com/office/drawing/2014/main" val="997529485"/>
                    </a:ext>
                  </a:extLst>
                </a:gridCol>
                <a:gridCol w="2169052">
                  <a:extLst>
                    <a:ext uri="{9D8B030D-6E8A-4147-A177-3AD203B41FA5}">
                      <a16:colId xmlns:a16="http://schemas.microsoft.com/office/drawing/2014/main" val="428171217"/>
                    </a:ext>
                  </a:extLst>
                </a:gridCol>
                <a:gridCol w="2169052">
                  <a:extLst>
                    <a:ext uri="{9D8B030D-6E8A-4147-A177-3AD203B41FA5}">
                      <a16:colId xmlns:a16="http://schemas.microsoft.com/office/drawing/2014/main" val="989173926"/>
                    </a:ext>
                  </a:extLst>
                </a:gridCol>
              </a:tblGrid>
              <a:tr h="632505">
                <a:tc>
                  <a:txBody>
                    <a:bodyPr/>
                    <a:lstStyle/>
                    <a:p>
                      <a:r>
                        <a:rPr lang="en-IN" sz="1800" cap="none" spc="0" dirty="0">
                          <a:solidFill>
                            <a:srgbClr val="161A3E"/>
                          </a:solidFill>
                        </a:rPr>
                        <a:t>Dimension</a:t>
                      </a: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sz="1800" cap="none" spc="0" dirty="0" err="1">
                          <a:solidFill>
                            <a:srgbClr val="161A3E"/>
                          </a:solidFill>
                        </a:rPr>
                        <a:t>LangChain</a:t>
                      </a:r>
                      <a:endParaRPr lang="en-IN" sz="1800" cap="none" spc="0" dirty="0">
                        <a:solidFill>
                          <a:srgbClr val="161A3E"/>
                        </a:solidFill>
                      </a:endParaRP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sz="1800" cap="none" spc="0">
                          <a:solidFill>
                            <a:srgbClr val="161A3E"/>
                          </a:solidFill>
                        </a:rPr>
                        <a:t>CrewAI</a:t>
                      </a: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sz="1800" cap="none" spc="0">
                          <a:solidFill>
                            <a:srgbClr val="161A3E"/>
                          </a:solidFill>
                        </a:rPr>
                        <a:t>AutoGen</a:t>
                      </a: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sz="1800" cap="none" spc="0" dirty="0" err="1">
                          <a:solidFill>
                            <a:srgbClr val="161A3E"/>
                          </a:solidFill>
                        </a:rPr>
                        <a:t>LangGraph</a:t>
                      </a:r>
                      <a:endParaRPr lang="en-IN" sz="1800" cap="none" spc="0" dirty="0">
                        <a:solidFill>
                          <a:srgbClr val="161A3E"/>
                        </a:solidFill>
                      </a:endParaRP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2783594036"/>
                  </a:ext>
                </a:extLst>
              </a:tr>
              <a:tr h="632505">
                <a:tc>
                  <a:txBody>
                    <a:bodyPr/>
                    <a:lstStyle/>
                    <a:p>
                      <a:r>
                        <a:rPr lang="en-IN" sz="1800" b="1" cap="none" spc="0" dirty="0">
                          <a:solidFill>
                            <a:srgbClr val="161A3E"/>
                          </a:solidFill>
                        </a:rPr>
                        <a:t>Setup complexity</a:t>
                      </a:r>
                      <a:endParaRPr lang="en-IN" sz="1800" cap="none" spc="0" dirty="0">
                        <a:solidFill>
                          <a:srgbClr val="161A3E"/>
                        </a:solidFill>
                      </a:endParaRP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sz="1800" cap="none" spc="0" dirty="0">
                          <a:solidFill>
                            <a:srgbClr val="161A3E"/>
                          </a:solidFill>
                        </a:rPr>
                        <a:t>🟡 Medium</a:t>
                      </a: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cap="none" spc="0">
                          <a:solidFill>
                            <a:srgbClr val="161A3E"/>
                          </a:solidFill>
                        </a:rPr>
                        <a:t>✅ Low</a:t>
                      </a: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cap="none" spc="0">
                          <a:solidFill>
                            <a:srgbClr val="161A3E"/>
                          </a:solidFill>
                        </a:rPr>
                        <a:t>🟡 Medium</a:t>
                      </a: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cap="none" spc="0">
                          <a:solidFill>
                            <a:srgbClr val="161A3E"/>
                          </a:solidFill>
                        </a:rPr>
                        <a:t>🔴 High</a:t>
                      </a: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2245617"/>
                  </a:ext>
                </a:extLst>
              </a:tr>
              <a:tr h="632505">
                <a:tc>
                  <a:txBody>
                    <a:bodyPr/>
                    <a:lstStyle/>
                    <a:p>
                      <a:r>
                        <a:rPr lang="en-IN" sz="1800" b="1" cap="none" spc="0">
                          <a:solidFill>
                            <a:srgbClr val="161A3E"/>
                          </a:solidFill>
                        </a:rPr>
                        <a:t>Fine control</a:t>
                      </a:r>
                      <a:endParaRPr lang="en-IN" sz="1800" cap="none" spc="0">
                        <a:solidFill>
                          <a:srgbClr val="161A3E"/>
                        </a:solidFill>
                      </a:endParaRP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sz="1800" cap="none" spc="0" dirty="0">
                          <a:solidFill>
                            <a:srgbClr val="161A3E"/>
                          </a:solidFill>
                        </a:rPr>
                        <a:t>✅ Flexible</a:t>
                      </a: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cap="none" spc="0">
                          <a:solidFill>
                            <a:srgbClr val="161A3E"/>
                          </a:solidFill>
                        </a:rPr>
                        <a:t>🔴 Limited</a:t>
                      </a: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cap="none" spc="0">
                          <a:solidFill>
                            <a:srgbClr val="161A3E"/>
                          </a:solidFill>
                        </a:rPr>
                        <a:t>✅ Yes</a:t>
                      </a: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cap="none" spc="0">
                          <a:solidFill>
                            <a:srgbClr val="161A3E"/>
                          </a:solidFill>
                        </a:rPr>
                        <a:t>✅ Full</a:t>
                      </a: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91935950"/>
                  </a:ext>
                </a:extLst>
              </a:tr>
              <a:tr h="632505">
                <a:tc>
                  <a:txBody>
                    <a:bodyPr/>
                    <a:lstStyle/>
                    <a:p>
                      <a:r>
                        <a:rPr lang="en-IN" sz="1800" b="1" cap="none" spc="0">
                          <a:solidFill>
                            <a:srgbClr val="161A3E"/>
                          </a:solidFill>
                        </a:rPr>
                        <a:t>Community support</a:t>
                      </a:r>
                      <a:endParaRPr lang="en-IN" sz="1800" cap="none" spc="0">
                        <a:solidFill>
                          <a:srgbClr val="161A3E"/>
                        </a:solidFill>
                      </a:endParaRP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sz="1800" cap="none" spc="0">
                          <a:solidFill>
                            <a:srgbClr val="161A3E"/>
                          </a:solidFill>
                        </a:rPr>
                        <a:t>✅ Huge</a:t>
                      </a: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cap="none" spc="0">
                          <a:solidFill>
                            <a:srgbClr val="161A3E"/>
                          </a:solidFill>
                        </a:rPr>
                        <a:t>🟡 Growing</a:t>
                      </a: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cap="none" spc="0">
                          <a:solidFill>
                            <a:srgbClr val="161A3E"/>
                          </a:solidFill>
                        </a:rPr>
                        <a:t>✅ Backed by MS</a:t>
                      </a: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cap="none" spc="0">
                          <a:solidFill>
                            <a:srgbClr val="161A3E"/>
                          </a:solidFill>
                        </a:rPr>
                        <a:t>🟡 Niche</a:t>
                      </a: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78030186"/>
                  </a:ext>
                </a:extLst>
              </a:tr>
              <a:tr h="632505">
                <a:tc>
                  <a:txBody>
                    <a:bodyPr/>
                    <a:lstStyle/>
                    <a:p>
                      <a:r>
                        <a:rPr lang="en-IN" sz="1800" b="1" cap="none" spc="0">
                          <a:solidFill>
                            <a:srgbClr val="161A3E"/>
                          </a:solidFill>
                        </a:rPr>
                        <a:t>Debuggability</a:t>
                      </a:r>
                      <a:endParaRPr lang="en-IN" sz="1800" cap="none" spc="0">
                        <a:solidFill>
                          <a:srgbClr val="161A3E"/>
                        </a:solidFill>
                      </a:endParaRP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sz="1800" cap="none" spc="0">
                          <a:solidFill>
                            <a:srgbClr val="161A3E"/>
                          </a:solidFill>
                        </a:rPr>
                        <a:t>🟡 Average</a:t>
                      </a: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cap="none" spc="0">
                          <a:solidFill>
                            <a:srgbClr val="161A3E"/>
                          </a:solidFill>
                        </a:rPr>
                        <a:t>✅ High</a:t>
                      </a: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cap="none" spc="0">
                          <a:solidFill>
                            <a:srgbClr val="161A3E"/>
                          </a:solidFill>
                        </a:rPr>
                        <a:t>🟡 Turn-based</a:t>
                      </a: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cap="none" spc="0">
                          <a:solidFill>
                            <a:srgbClr val="161A3E"/>
                          </a:solidFill>
                        </a:rPr>
                        <a:t>🔴 Challenging</a:t>
                      </a: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7330583"/>
                  </a:ext>
                </a:extLst>
              </a:tr>
              <a:tr h="632505">
                <a:tc>
                  <a:txBody>
                    <a:bodyPr/>
                    <a:lstStyle/>
                    <a:p>
                      <a:r>
                        <a:rPr lang="en-IN" sz="1800" b="1" cap="none" spc="0">
                          <a:solidFill>
                            <a:srgbClr val="161A3E"/>
                          </a:solidFill>
                        </a:rPr>
                        <a:t>Scalability</a:t>
                      </a:r>
                      <a:endParaRPr lang="en-IN" sz="1800" cap="none" spc="0">
                        <a:solidFill>
                          <a:srgbClr val="161A3E"/>
                        </a:solidFill>
                      </a:endParaRP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sz="1800" cap="none" spc="0">
                          <a:solidFill>
                            <a:srgbClr val="161A3E"/>
                          </a:solidFill>
                        </a:rPr>
                        <a:t>✅ Modular</a:t>
                      </a: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cap="none" spc="0">
                          <a:solidFill>
                            <a:srgbClr val="161A3E"/>
                          </a:solidFill>
                        </a:rPr>
                        <a:t>🟡 Basic</a:t>
                      </a: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cap="none" spc="0">
                          <a:solidFill>
                            <a:srgbClr val="161A3E"/>
                          </a:solidFill>
                        </a:rPr>
                        <a:t>✅ Message driven</a:t>
                      </a: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cap="none" spc="0">
                          <a:solidFill>
                            <a:srgbClr val="161A3E"/>
                          </a:solidFill>
                        </a:rPr>
                        <a:t>✅ Great</a:t>
                      </a: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1649297"/>
                  </a:ext>
                </a:extLst>
              </a:tr>
              <a:tr h="632505">
                <a:tc>
                  <a:txBody>
                    <a:bodyPr/>
                    <a:lstStyle/>
                    <a:p>
                      <a:r>
                        <a:rPr lang="en-IN" sz="1800" b="1" cap="none" spc="0" dirty="0">
                          <a:solidFill>
                            <a:srgbClr val="161A3E"/>
                          </a:solidFill>
                        </a:rPr>
                        <a:t>Memory support</a:t>
                      </a:r>
                      <a:endParaRPr lang="en-IN" sz="1800" cap="none" spc="0" dirty="0">
                        <a:solidFill>
                          <a:srgbClr val="161A3E"/>
                        </a:solidFill>
                      </a:endParaRP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sz="1800" cap="none" spc="0">
                          <a:solidFill>
                            <a:srgbClr val="161A3E"/>
                          </a:solidFill>
                        </a:rPr>
                        <a:t>✅ Native</a:t>
                      </a: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cap="none" spc="0">
                          <a:solidFill>
                            <a:srgbClr val="161A3E"/>
                          </a:solidFill>
                        </a:rPr>
                        <a:t>❌ Manual</a:t>
                      </a: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cap="none" spc="0">
                          <a:solidFill>
                            <a:srgbClr val="161A3E"/>
                          </a:solidFill>
                        </a:rPr>
                        <a:t>✅ Built-in</a:t>
                      </a: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cap="none" spc="0" dirty="0">
                          <a:solidFill>
                            <a:srgbClr val="161A3E"/>
                          </a:solidFill>
                        </a:rPr>
                        <a:t>🟡 Partial</a:t>
                      </a:r>
                    </a:p>
                  </a:txBody>
                  <a:tcPr marL="100068" marR="100068" marT="50034" marB="1000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51540558"/>
                  </a:ext>
                </a:extLst>
              </a:tr>
            </a:tbl>
          </a:graphicData>
        </a:graphic>
      </p:graphicFrame>
    </p:spTree>
    <p:extLst>
      <p:ext uri="{BB962C8B-B14F-4D97-AF65-F5344CB8AC3E}">
        <p14:creationId xmlns:p14="http://schemas.microsoft.com/office/powerpoint/2010/main" val="1535243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ACBDE-669E-BA9F-DBCF-E65DA3378BAE}"/>
              </a:ext>
            </a:extLst>
          </p:cNvPr>
          <p:cNvSpPr>
            <a:spLocks noGrp="1"/>
          </p:cNvSpPr>
          <p:nvPr>
            <p:ph type="title"/>
          </p:nvPr>
        </p:nvSpPr>
        <p:spPr>
          <a:xfrm>
            <a:off x="665745" y="586822"/>
            <a:ext cx="10867443" cy="646666"/>
          </a:xfrm>
        </p:spPr>
        <p:txBody>
          <a:bodyPr>
            <a:normAutofit/>
          </a:bodyPr>
          <a:lstStyle/>
          <a:p>
            <a:r>
              <a:rPr lang="en-IN" dirty="0">
                <a:solidFill>
                  <a:srgbClr val="161A3E"/>
                </a:solidFill>
              </a:rPr>
              <a:t>Multi-Framework Lab</a:t>
            </a:r>
            <a:endParaRPr lang="en-US" dirty="0">
              <a:solidFill>
                <a:srgbClr val="161A3E"/>
              </a:solidFill>
            </a:endParaRPr>
          </a:p>
        </p:txBody>
      </p:sp>
      <p:sp>
        <p:nvSpPr>
          <p:cNvPr id="3" name="Content Placeholder 2">
            <a:extLst>
              <a:ext uri="{FF2B5EF4-FFF2-40B4-BE49-F238E27FC236}">
                <a16:creationId xmlns:a16="http://schemas.microsoft.com/office/drawing/2014/main" id="{311836A0-C4D0-6511-FF3D-EE67E84A3FDE}"/>
              </a:ext>
            </a:extLst>
          </p:cNvPr>
          <p:cNvSpPr>
            <a:spLocks noGrp="1"/>
          </p:cNvSpPr>
          <p:nvPr>
            <p:ph idx="1"/>
          </p:nvPr>
        </p:nvSpPr>
        <p:spPr>
          <a:xfrm>
            <a:off x="658813" y="1665288"/>
            <a:ext cx="10874375" cy="1131422"/>
          </a:xfrm>
        </p:spPr>
        <p:txBody>
          <a:bodyPr anchor="ctr">
            <a:normAutofit lnSpcReduction="10000"/>
          </a:bodyPr>
          <a:lstStyle/>
          <a:p>
            <a:pPr>
              <a:buNone/>
            </a:pPr>
            <a:r>
              <a:rPr lang="en-IN" sz="2400" b="1" dirty="0">
                <a:solidFill>
                  <a:srgbClr val="161A3E"/>
                </a:solidFill>
              </a:rPr>
              <a:t>🎯 Objective:</a:t>
            </a:r>
          </a:p>
          <a:p>
            <a:r>
              <a:rPr lang="en-IN" sz="2400" dirty="0">
                <a:solidFill>
                  <a:srgbClr val="161A3E"/>
                </a:solidFill>
              </a:rPr>
              <a:t>Build a simple task-solving assistant using </a:t>
            </a:r>
            <a:r>
              <a:rPr lang="en-IN" sz="2400" b="1" dirty="0" err="1">
                <a:solidFill>
                  <a:srgbClr val="161A3E"/>
                </a:solidFill>
              </a:rPr>
              <a:t>CrewAI</a:t>
            </a:r>
            <a:r>
              <a:rPr lang="en-IN" sz="2400" dirty="0">
                <a:solidFill>
                  <a:srgbClr val="161A3E"/>
                </a:solidFill>
              </a:rPr>
              <a:t>, then compare </a:t>
            </a:r>
            <a:r>
              <a:rPr lang="en-IN" sz="2400" dirty="0" err="1">
                <a:solidFill>
                  <a:srgbClr val="161A3E"/>
                </a:solidFill>
              </a:rPr>
              <a:t>behavior</a:t>
            </a:r>
            <a:r>
              <a:rPr lang="en-IN" sz="2400" dirty="0">
                <a:solidFill>
                  <a:srgbClr val="161A3E"/>
                </a:solidFill>
              </a:rPr>
              <a:t> with </a:t>
            </a:r>
            <a:r>
              <a:rPr lang="en-IN" sz="2400" b="1" dirty="0" err="1">
                <a:solidFill>
                  <a:srgbClr val="161A3E"/>
                </a:solidFill>
              </a:rPr>
              <a:t>LangChain</a:t>
            </a:r>
            <a:r>
              <a:rPr lang="en-IN" sz="2400" b="1" dirty="0">
                <a:solidFill>
                  <a:srgbClr val="161A3E"/>
                </a:solidFill>
              </a:rPr>
              <a:t> Agent</a:t>
            </a:r>
            <a:r>
              <a:rPr lang="en-IN" sz="2400" dirty="0">
                <a:solidFill>
                  <a:srgbClr val="161A3E"/>
                </a:solidFill>
              </a:rPr>
              <a:t> and </a:t>
            </a:r>
            <a:r>
              <a:rPr lang="en-IN" sz="2400" b="1" dirty="0" err="1">
                <a:solidFill>
                  <a:srgbClr val="161A3E"/>
                </a:solidFill>
              </a:rPr>
              <a:t>AutoGen</a:t>
            </a:r>
            <a:r>
              <a:rPr lang="en-IN" sz="2400" dirty="0">
                <a:solidFill>
                  <a:srgbClr val="161A3E"/>
                </a:solidFill>
              </a:rPr>
              <a:t>.</a:t>
            </a:r>
          </a:p>
        </p:txBody>
      </p:sp>
      <p:graphicFrame>
        <p:nvGraphicFramePr>
          <p:cNvPr id="4" name="Table 3">
            <a:extLst>
              <a:ext uri="{FF2B5EF4-FFF2-40B4-BE49-F238E27FC236}">
                <a16:creationId xmlns:a16="http://schemas.microsoft.com/office/drawing/2014/main" id="{FBA6C5A7-4810-E16F-CF12-14FF96A4D0D3}"/>
              </a:ext>
            </a:extLst>
          </p:cNvPr>
          <p:cNvGraphicFramePr>
            <a:graphicFrameLocks noGrp="1"/>
          </p:cNvGraphicFramePr>
          <p:nvPr>
            <p:extLst>
              <p:ext uri="{D42A27DB-BD31-4B8C-83A1-F6EECF244321}">
                <p14:modId xmlns:p14="http://schemas.microsoft.com/office/powerpoint/2010/main" val="2915658966"/>
              </p:ext>
            </p:extLst>
          </p:nvPr>
        </p:nvGraphicFramePr>
        <p:xfrm>
          <a:off x="649288" y="2905125"/>
          <a:ext cx="10883900" cy="3195695"/>
        </p:xfrm>
        <a:graphic>
          <a:graphicData uri="http://schemas.openxmlformats.org/drawingml/2006/table">
            <a:tbl>
              <a:tblPr firstRow="1" bandRow="1">
                <a:noFill/>
              </a:tblPr>
              <a:tblGrid>
                <a:gridCol w="1299340">
                  <a:extLst>
                    <a:ext uri="{9D8B030D-6E8A-4147-A177-3AD203B41FA5}">
                      <a16:colId xmlns:a16="http://schemas.microsoft.com/office/drawing/2014/main" val="715754791"/>
                    </a:ext>
                  </a:extLst>
                </a:gridCol>
                <a:gridCol w="3516648">
                  <a:extLst>
                    <a:ext uri="{9D8B030D-6E8A-4147-A177-3AD203B41FA5}">
                      <a16:colId xmlns:a16="http://schemas.microsoft.com/office/drawing/2014/main" val="496930066"/>
                    </a:ext>
                  </a:extLst>
                </a:gridCol>
                <a:gridCol w="2551264">
                  <a:extLst>
                    <a:ext uri="{9D8B030D-6E8A-4147-A177-3AD203B41FA5}">
                      <a16:colId xmlns:a16="http://schemas.microsoft.com/office/drawing/2014/main" val="3871500905"/>
                    </a:ext>
                  </a:extLst>
                </a:gridCol>
                <a:gridCol w="3516648">
                  <a:extLst>
                    <a:ext uri="{9D8B030D-6E8A-4147-A177-3AD203B41FA5}">
                      <a16:colId xmlns:a16="http://schemas.microsoft.com/office/drawing/2014/main" val="1439897071"/>
                    </a:ext>
                  </a:extLst>
                </a:gridCol>
              </a:tblGrid>
              <a:tr h="459865">
                <a:tc>
                  <a:txBody>
                    <a:bodyPr/>
                    <a:lstStyle/>
                    <a:p>
                      <a:pPr algn="ctr"/>
                      <a:r>
                        <a:rPr lang="en-IN" sz="1800" b="0" cap="none" spc="0" dirty="0">
                          <a:solidFill>
                            <a:schemeClr val="tx1"/>
                          </a:solidFill>
                        </a:rPr>
                        <a:t>Step</a:t>
                      </a:r>
                    </a:p>
                  </a:txBody>
                  <a:tcPr marL="0" marR="125475" marT="25095" marB="12547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algn="ctr"/>
                      <a:r>
                        <a:rPr lang="en-IN" sz="1800" b="0" cap="none" spc="0">
                          <a:solidFill>
                            <a:schemeClr val="tx1"/>
                          </a:solidFill>
                        </a:rPr>
                        <a:t>Task</a:t>
                      </a:r>
                    </a:p>
                  </a:txBody>
                  <a:tcPr marL="0" marR="125475" marT="25095" marB="12547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algn="ctr"/>
                      <a:r>
                        <a:rPr lang="en-IN" sz="1800" b="0" cap="none" spc="0">
                          <a:solidFill>
                            <a:schemeClr val="tx1"/>
                          </a:solidFill>
                        </a:rPr>
                        <a:t>Framework</a:t>
                      </a:r>
                    </a:p>
                  </a:txBody>
                  <a:tcPr marL="0" marR="125475" marT="25095" marB="12547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algn="ctr"/>
                      <a:r>
                        <a:rPr lang="en-IN" sz="1800" b="0" cap="none" spc="0" dirty="0">
                          <a:solidFill>
                            <a:schemeClr val="tx1"/>
                          </a:solidFill>
                        </a:rPr>
                        <a:t>Purpose</a:t>
                      </a:r>
                    </a:p>
                  </a:txBody>
                  <a:tcPr marL="0" marR="125475" marT="25095" marB="12547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2498315518"/>
                  </a:ext>
                </a:extLst>
              </a:tr>
              <a:tr h="699766">
                <a:tc>
                  <a:txBody>
                    <a:bodyPr/>
                    <a:lstStyle/>
                    <a:p>
                      <a:pPr algn="ctr"/>
                      <a:r>
                        <a:rPr lang="en-IN" sz="1800" cap="none" spc="0">
                          <a:solidFill>
                            <a:schemeClr val="tx1"/>
                          </a:solidFill>
                        </a:rPr>
                        <a:t>1</a:t>
                      </a:r>
                    </a:p>
                  </a:txBody>
                  <a:tcPr marL="0" marR="125475" marT="37643" marB="125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800" cap="none" spc="0" dirty="0">
                          <a:solidFill>
                            <a:schemeClr val="tx1"/>
                          </a:solidFill>
                        </a:rPr>
                        <a:t>Role-based research assistant (</a:t>
                      </a:r>
                      <a:r>
                        <a:rPr lang="en-IN" sz="1800" cap="none" spc="0" dirty="0" err="1">
                          <a:solidFill>
                            <a:schemeClr val="tx1"/>
                          </a:solidFill>
                        </a:rPr>
                        <a:t>CrewAI</a:t>
                      </a:r>
                      <a:r>
                        <a:rPr lang="en-IN" sz="1800" cap="none" spc="0" dirty="0">
                          <a:solidFill>
                            <a:schemeClr val="tx1"/>
                          </a:solidFill>
                        </a:rPr>
                        <a:t>)</a:t>
                      </a:r>
                    </a:p>
                  </a:txBody>
                  <a:tcPr marL="0" marR="125475" marT="37643" marB="125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800" cap="none" spc="0">
                          <a:solidFill>
                            <a:schemeClr val="tx1"/>
                          </a:solidFill>
                        </a:rPr>
                        <a:t>CrewAI</a:t>
                      </a:r>
                    </a:p>
                  </a:txBody>
                  <a:tcPr marL="0" marR="125475" marT="37643" marB="125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800" cap="none" spc="0">
                          <a:solidFill>
                            <a:schemeClr val="tx1"/>
                          </a:solidFill>
                        </a:rPr>
                        <a:t>Introduce task delegation</a:t>
                      </a:r>
                    </a:p>
                  </a:txBody>
                  <a:tcPr marL="0" marR="125475" marT="37643" marB="125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07898793"/>
                  </a:ext>
                </a:extLst>
              </a:tr>
              <a:tr h="430068">
                <a:tc>
                  <a:txBody>
                    <a:bodyPr/>
                    <a:lstStyle/>
                    <a:p>
                      <a:pPr algn="ctr"/>
                      <a:r>
                        <a:rPr lang="en-IN" sz="1800" cap="none" spc="0">
                          <a:solidFill>
                            <a:schemeClr val="tx1"/>
                          </a:solidFill>
                        </a:rPr>
                        <a:t>2</a:t>
                      </a:r>
                    </a:p>
                  </a:txBody>
                  <a:tcPr marL="0" marR="125475" marT="37643" marB="125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IN" sz="1800" cap="none" spc="0">
                          <a:solidFill>
                            <a:schemeClr val="tx1"/>
                          </a:solidFill>
                        </a:rPr>
                        <a:t>Same task using a LangChain agent</a:t>
                      </a:r>
                    </a:p>
                  </a:txBody>
                  <a:tcPr marL="0" marR="125475" marT="37643" marB="125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IN" sz="1800" cap="none" spc="0">
                          <a:solidFill>
                            <a:schemeClr val="tx1"/>
                          </a:solidFill>
                        </a:rPr>
                        <a:t>LangChain</a:t>
                      </a:r>
                    </a:p>
                  </a:txBody>
                  <a:tcPr marL="0" marR="125475" marT="37643" marB="125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IN" sz="1800" cap="none" spc="0">
                          <a:solidFill>
                            <a:schemeClr val="tx1"/>
                          </a:solidFill>
                        </a:rPr>
                        <a:t>Modular design with tools</a:t>
                      </a:r>
                    </a:p>
                  </a:txBody>
                  <a:tcPr marL="0" marR="125475" marT="37643" marB="125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57844899"/>
                  </a:ext>
                </a:extLst>
              </a:tr>
              <a:tr h="699766">
                <a:tc>
                  <a:txBody>
                    <a:bodyPr/>
                    <a:lstStyle/>
                    <a:p>
                      <a:pPr algn="ctr"/>
                      <a:r>
                        <a:rPr lang="en-IN" sz="1800" cap="none" spc="0">
                          <a:solidFill>
                            <a:schemeClr val="tx1"/>
                          </a:solidFill>
                        </a:rPr>
                        <a:t>3</a:t>
                      </a:r>
                    </a:p>
                  </a:txBody>
                  <a:tcPr marL="0" marR="125475" marT="37643" marB="125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800" cap="none" spc="0">
                          <a:solidFill>
                            <a:schemeClr val="tx1"/>
                          </a:solidFill>
                        </a:rPr>
                        <a:t>Same task via two chatting agents (AutoGen)</a:t>
                      </a:r>
                    </a:p>
                  </a:txBody>
                  <a:tcPr marL="0" marR="125475" marT="37643" marB="125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800" cap="none" spc="0">
                          <a:solidFill>
                            <a:schemeClr val="tx1"/>
                          </a:solidFill>
                        </a:rPr>
                        <a:t>AutoGen</a:t>
                      </a:r>
                    </a:p>
                  </a:txBody>
                  <a:tcPr marL="0" marR="125475" marT="37643" marB="125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800" cap="none" spc="0">
                          <a:solidFill>
                            <a:schemeClr val="tx1"/>
                          </a:solidFill>
                        </a:rPr>
                        <a:t>Show coordination via chat</a:t>
                      </a:r>
                    </a:p>
                  </a:txBody>
                  <a:tcPr marL="0" marR="125475" marT="37643" marB="125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6486796"/>
                  </a:ext>
                </a:extLst>
              </a:tr>
              <a:tr h="430068">
                <a:tc>
                  <a:txBody>
                    <a:bodyPr/>
                    <a:lstStyle/>
                    <a:p>
                      <a:pPr algn="ctr"/>
                      <a:r>
                        <a:rPr lang="en-IN" sz="1800" cap="none" spc="0">
                          <a:solidFill>
                            <a:schemeClr val="tx1"/>
                          </a:solidFill>
                        </a:rPr>
                        <a:t>4</a:t>
                      </a:r>
                    </a:p>
                  </a:txBody>
                  <a:tcPr marL="0" marR="125475" marT="37643" marB="125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IN" sz="1800" cap="none" spc="0">
                          <a:solidFill>
                            <a:schemeClr val="tx1"/>
                          </a:solidFill>
                        </a:rPr>
                        <a:t>Add memory to one version</a:t>
                      </a:r>
                    </a:p>
                  </a:txBody>
                  <a:tcPr marL="0" marR="125475" marT="37643" marB="125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IN" sz="1800" cap="none" spc="0">
                          <a:solidFill>
                            <a:schemeClr val="tx1"/>
                          </a:solidFill>
                        </a:rPr>
                        <a:t>All 3</a:t>
                      </a:r>
                    </a:p>
                  </a:txBody>
                  <a:tcPr marL="0" marR="125475" marT="37643" marB="125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IN" sz="1800" cap="none" spc="0">
                          <a:solidFill>
                            <a:schemeClr val="tx1"/>
                          </a:solidFill>
                        </a:rPr>
                        <a:t>Test how memory alters behavior</a:t>
                      </a:r>
                    </a:p>
                  </a:txBody>
                  <a:tcPr marL="0" marR="125475" marT="37643" marB="125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39565620"/>
                  </a:ext>
                </a:extLst>
              </a:tr>
              <a:tr h="430068">
                <a:tc>
                  <a:txBody>
                    <a:bodyPr/>
                    <a:lstStyle/>
                    <a:p>
                      <a:pPr algn="ctr"/>
                      <a:r>
                        <a:rPr lang="en-IN" sz="1800" cap="none" spc="0">
                          <a:solidFill>
                            <a:schemeClr val="tx1"/>
                          </a:solidFill>
                        </a:rPr>
                        <a:t>5</a:t>
                      </a:r>
                    </a:p>
                  </a:txBody>
                  <a:tcPr marL="0" marR="125475" marT="37643" marB="125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800" cap="none" spc="0">
                          <a:solidFill>
                            <a:schemeClr val="tx1"/>
                          </a:solidFill>
                        </a:rPr>
                        <a:t>(Optional) Wrap logic in LangGraph</a:t>
                      </a:r>
                    </a:p>
                  </a:txBody>
                  <a:tcPr marL="0" marR="125475" marT="37643" marB="125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800" cap="none" spc="0">
                          <a:solidFill>
                            <a:schemeClr val="tx1"/>
                          </a:solidFill>
                        </a:rPr>
                        <a:t>LangGraph</a:t>
                      </a:r>
                    </a:p>
                  </a:txBody>
                  <a:tcPr marL="0" marR="125475" marT="37643" marB="125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800" cap="none" spc="0" dirty="0">
                          <a:solidFill>
                            <a:schemeClr val="tx1"/>
                          </a:solidFill>
                        </a:rPr>
                        <a:t>Show how planning can loop</a:t>
                      </a:r>
                    </a:p>
                  </a:txBody>
                  <a:tcPr marL="0" marR="125475" marT="37643" marB="125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4685157"/>
                  </a:ext>
                </a:extLst>
              </a:tr>
            </a:tbl>
          </a:graphicData>
        </a:graphic>
      </p:graphicFrame>
    </p:spTree>
    <p:extLst>
      <p:ext uri="{BB962C8B-B14F-4D97-AF65-F5344CB8AC3E}">
        <p14:creationId xmlns:p14="http://schemas.microsoft.com/office/powerpoint/2010/main" val="2879629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65D08-54E9-6F6C-9301-398F7C8F8B68}"/>
              </a:ext>
            </a:extLst>
          </p:cNvPr>
          <p:cNvSpPr>
            <a:spLocks noGrp="1"/>
          </p:cNvSpPr>
          <p:nvPr>
            <p:ph type="title"/>
          </p:nvPr>
        </p:nvSpPr>
        <p:spPr>
          <a:xfrm>
            <a:off x="669552" y="594335"/>
            <a:ext cx="10863635" cy="639153"/>
          </a:xfrm>
        </p:spPr>
        <p:txBody>
          <a:bodyPr/>
          <a:lstStyle/>
          <a:p>
            <a:r>
              <a:rPr lang="en-IN" dirty="0">
                <a:solidFill>
                  <a:srgbClr val="161A3E"/>
                </a:solidFill>
              </a:rPr>
              <a:t>🚀 Lab Concept:</a:t>
            </a:r>
            <a:endParaRPr lang="en-US" dirty="0">
              <a:solidFill>
                <a:srgbClr val="161A3E"/>
              </a:solidFill>
            </a:endParaRPr>
          </a:p>
        </p:txBody>
      </p:sp>
      <p:sp>
        <p:nvSpPr>
          <p:cNvPr id="3" name="Content Placeholder 2">
            <a:extLst>
              <a:ext uri="{FF2B5EF4-FFF2-40B4-BE49-F238E27FC236}">
                <a16:creationId xmlns:a16="http://schemas.microsoft.com/office/drawing/2014/main" id="{F9B8FA73-57E0-70F7-5EF7-A01FCA5D5E66}"/>
              </a:ext>
            </a:extLst>
          </p:cNvPr>
          <p:cNvSpPr>
            <a:spLocks noGrp="1"/>
          </p:cNvSpPr>
          <p:nvPr>
            <p:ph idx="1"/>
          </p:nvPr>
        </p:nvSpPr>
        <p:spPr>
          <a:xfrm>
            <a:off x="669552" y="1665744"/>
            <a:ext cx="10863635" cy="4427081"/>
          </a:xfrm>
        </p:spPr>
        <p:txBody>
          <a:bodyPr>
            <a:normAutofit/>
          </a:bodyPr>
          <a:lstStyle/>
          <a:p>
            <a:pPr>
              <a:buNone/>
            </a:pPr>
            <a:r>
              <a:rPr lang="en-IN" sz="2400" b="1" dirty="0">
                <a:solidFill>
                  <a:srgbClr val="161A3E"/>
                </a:solidFill>
              </a:rPr>
              <a:t>“Market Research Agent”</a:t>
            </a:r>
            <a:endParaRPr lang="en-IN" sz="2400" dirty="0">
              <a:solidFill>
                <a:srgbClr val="161A3E"/>
              </a:solidFill>
            </a:endParaRPr>
          </a:p>
          <a:p>
            <a:pPr>
              <a:buFont typeface="Arial" panose="020B0604020202020204" pitchFamily="34" charset="0"/>
              <a:buChar char="•"/>
            </a:pPr>
            <a:r>
              <a:rPr lang="en-IN" sz="2400" dirty="0">
                <a:solidFill>
                  <a:srgbClr val="161A3E"/>
                </a:solidFill>
              </a:rPr>
              <a:t>Task: Find pros and cons of top 3 LLMs</a:t>
            </a:r>
          </a:p>
          <a:p>
            <a:pPr>
              <a:buFont typeface="Arial" panose="020B0604020202020204" pitchFamily="34" charset="0"/>
              <a:buChar char="•"/>
            </a:pPr>
            <a:r>
              <a:rPr lang="en-IN" sz="2400" dirty="0" err="1">
                <a:solidFill>
                  <a:srgbClr val="161A3E"/>
                </a:solidFill>
              </a:rPr>
              <a:t>CrewAI</a:t>
            </a:r>
            <a:r>
              <a:rPr lang="en-IN" sz="2400" dirty="0">
                <a:solidFill>
                  <a:srgbClr val="161A3E"/>
                </a:solidFill>
              </a:rPr>
              <a:t>: Manager → Researcher</a:t>
            </a:r>
          </a:p>
          <a:p>
            <a:pPr>
              <a:buFont typeface="Arial" panose="020B0604020202020204" pitchFamily="34" charset="0"/>
              <a:buChar char="•"/>
            </a:pPr>
            <a:r>
              <a:rPr lang="en-IN" sz="2400" dirty="0" err="1">
                <a:solidFill>
                  <a:srgbClr val="161A3E"/>
                </a:solidFill>
              </a:rPr>
              <a:t>LangChain</a:t>
            </a:r>
            <a:r>
              <a:rPr lang="en-IN" sz="2400" dirty="0">
                <a:solidFill>
                  <a:srgbClr val="161A3E"/>
                </a:solidFill>
              </a:rPr>
              <a:t>: Agent with </a:t>
            </a:r>
            <a:r>
              <a:rPr lang="en-IN" sz="2400" dirty="0" err="1">
                <a:solidFill>
                  <a:srgbClr val="161A3E"/>
                </a:solidFill>
              </a:rPr>
              <a:t>SearchTool</a:t>
            </a:r>
            <a:endParaRPr lang="en-IN" sz="2400" dirty="0">
              <a:solidFill>
                <a:srgbClr val="161A3E"/>
              </a:solidFill>
            </a:endParaRPr>
          </a:p>
          <a:p>
            <a:pPr>
              <a:buFont typeface="Arial" panose="020B0604020202020204" pitchFamily="34" charset="0"/>
              <a:buChar char="•"/>
            </a:pPr>
            <a:r>
              <a:rPr lang="en-IN" sz="2400" dirty="0" err="1">
                <a:solidFill>
                  <a:srgbClr val="161A3E"/>
                </a:solidFill>
              </a:rPr>
              <a:t>AutoGen</a:t>
            </a:r>
            <a:r>
              <a:rPr lang="en-IN" sz="2400" dirty="0">
                <a:solidFill>
                  <a:srgbClr val="161A3E"/>
                </a:solidFill>
              </a:rPr>
              <a:t>: Assistant ↔ Critic</a:t>
            </a:r>
          </a:p>
          <a:p>
            <a:pPr>
              <a:buFont typeface="Arial" panose="020B0604020202020204" pitchFamily="34" charset="0"/>
              <a:buChar char="•"/>
            </a:pPr>
            <a:r>
              <a:rPr lang="en-IN" sz="2400" dirty="0">
                <a:solidFill>
                  <a:srgbClr val="161A3E"/>
                </a:solidFill>
              </a:rPr>
              <a:t>Optional: Wrap via </a:t>
            </a:r>
            <a:r>
              <a:rPr lang="en-IN" sz="2400" dirty="0" err="1">
                <a:solidFill>
                  <a:srgbClr val="161A3E"/>
                </a:solidFill>
              </a:rPr>
              <a:t>LangGraph</a:t>
            </a:r>
            <a:r>
              <a:rPr lang="en-IN" sz="2400" dirty="0">
                <a:solidFill>
                  <a:srgbClr val="161A3E"/>
                </a:solidFill>
              </a:rPr>
              <a:t> to retry if confidence &lt; threshold</a:t>
            </a:r>
          </a:p>
        </p:txBody>
      </p:sp>
    </p:spTree>
    <p:extLst>
      <p:ext uri="{BB962C8B-B14F-4D97-AF65-F5344CB8AC3E}">
        <p14:creationId xmlns:p14="http://schemas.microsoft.com/office/powerpoint/2010/main" val="876576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7DA15-F36C-5F4A-AA03-F6173785BEED}"/>
              </a:ext>
            </a:extLst>
          </p:cNvPr>
          <p:cNvSpPr>
            <a:spLocks noGrp="1"/>
          </p:cNvSpPr>
          <p:nvPr>
            <p:ph type="title"/>
          </p:nvPr>
        </p:nvSpPr>
        <p:spPr>
          <a:xfrm>
            <a:off x="669552" y="594335"/>
            <a:ext cx="10863635" cy="639153"/>
          </a:xfrm>
        </p:spPr>
        <p:txBody>
          <a:bodyPr/>
          <a:lstStyle/>
          <a:p>
            <a:r>
              <a:rPr lang="en-IN" dirty="0"/>
              <a:t>🧠 Final Takeaways</a:t>
            </a:r>
            <a:endParaRPr lang="en-US" dirty="0"/>
          </a:p>
        </p:txBody>
      </p:sp>
      <p:sp>
        <p:nvSpPr>
          <p:cNvPr id="3" name="Content Placeholder 2">
            <a:extLst>
              <a:ext uri="{FF2B5EF4-FFF2-40B4-BE49-F238E27FC236}">
                <a16:creationId xmlns:a16="http://schemas.microsoft.com/office/drawing/2014/main" id="{4C375EED-BA8C-4630-A67C-E20A50FA00E6}"/>
              </a:ext>
            </a:extLst>
          </p:cNvPr>
          <p:cNvSpPr>
            <a:spLocks noGrp="1"/>
          </p:cNvSpPr>
          <p:nvPr>
            <p:ph idx="1"/>
          </p:nvPr>
        </p:nvSpPr>
        <p:spPr>
          <a:xfrm>
            <a:off x="669552" y="1665743"/>
            <a:ext cx="10863636" cy="4427081"/>
          </a:xfrm>
        </p:spPr>
        <p:txBody>
          <a:bodyPr>
            <a:normAutofit/>
          </a:bodyPr>
          <a:lstStyle/>
          <a:p>
            <a:pPr>
              <a:buFont typeface="Arial" panose="020B0604020202020204" pitchFamily="34" charset="0"/>
              <a:buChar char="•"/>
            </a:pPr>
            <a:r>
              <a:rPr lang="en-IN" sz="2400" dirty="0">
                <a:solidFill>
                  <a:srgbClr val="161A3E"/>
                </a:solidFill>
              </a:rPr>
              <a:t>Use </a:t>
            </a:r>
            <a:r>
              <a:rPr lang="en-IN" sz="2400" b="1" dirty="0" err="1">
                <a:solidFill>
                  <a:srgbClr val="161A3E"/>
                </a:solidFill>
              </a:rPr>
              <a:t>LangChain</a:t>
            </a:r>
            <a:r>
              <a:rPr lang="en-IN" sz="2400" dirty="0">
                <a:solidFill>
                  <a:srgbClr val="161A3E"/>
                </a:solidFill>
              </a:rPr>
              <a:t> when you need deep integration and modularity.</a:t>
            </a:r>
          </a:p>
          <a:p>
            <a:pPr>
              <a:buFont typeface="Arial" panose="020B0604020202020204" pitchFamily="34" charset="0"/>
              <a:buChar char="•"/>
            </a:pPr>
            <a:r>
              <a:rPr lang="en-IN" sz="2400" dirty="0">
                <a:solidFill>
                  <a:srgbClr val="161A3E"/>
                </a:solidFill>
              </a:rPr>
              <a:t>Choose </a:t>
            </a:r>
            <a:r>
              <a:rPr lang="en-IN" sz="2400" b="1" dirty="0" err="1">
                <a:solidFill>
                  <a:srgbClr val="161A3E"/>
                </a:solidFill>
              </a:rPr>
              <a:t>CrewAI</a:t>
            </a:r>
            <a:r>
              <a:rPr lang="en-IN" sz="2400" dirty="0">
                <a:solidFill>
                  <a:srgbClr val="161A3E"/>
                </a:solidFill>
              </a:rPr>
              <a:t> when building team-style, multi-agent systems.</a:t>
            </a:r>
          </a:p>
          <a:p>
            <a:pPr>
              <a:buFont typeface="Arial" panose="020B0604020202020204" pitchFamily="34" charset="0"/>
              <a:buChar char="•"/>
            </a:pPr>
            <a:r>
              <a:rPr lang="en-IN" sz="2400" dirty="0">
                <a:solidFill>
                  <a:srgbClr val="161A3E"/>
                </a:solidFill>
              </a:rPr>
              <a:t>Use </a:t>
            </a:r>
            <a:r>
              <a:rPr lang="en-IN" sz="2400" b="1" dirty="0" err="1">
                <a:solidFill>
                  <a:srgbClr val="161A3E"/>
                </a:solidFill>
              </a:rPr>
              <a:t>AutoGen</a:t>
            </a:r>
            <a:r>
              <a:rPr lang="en-IN" sz="2400" dirty="0">
                <a:solidFill>
                  <a:srgbClr val="161A3E"/>
                </a:solidFill>
              </a:rPr>
              <a:t> when you want dialog-based agent reasoning and debug-ability.</a:t>
            </a:r>
          </a:p>
          <a:p>
            <a:pPr>
              <a:buFont typeface="Arial" panose="020B0604020202020204" pitchFamily="34" charset="0"/>
              <a:buChar char="•"/>
            </a:pPr>
            <a:r>
              <a:rPr lang="en-IN" sz="2400" dirty="0">
                <a:solidFill>
                  <a:srgbClr val="161A3E"/>
                </a:solidFill>
              </a:rPr>
              <a:t>Pick </a:t>
            </a:r>
            <a:r>
              <a:rPr lang="en-IN" sz="2400" b="1" dirty="0" err="1">
                <a:solidFill>
                  <a:srgbClr val="161A3E"/>
                </a:solidFill>
              </a:rPr>
              <a:t>LangGraph</a:t>
            </a:r>
            <a:r>
              <a:rPr lang="en-IN" sz="2400" dirty="0">
                <a:solidFill>
                  <a:srgbClr val="161A3E"/>
                </a:solidFill>
              </a:rPr>
              <a:t> when agents need reflection, planning, and task loops.</a:t>
            </a:r>
          </a:p>
        </p:txBody>
      </p:sp>
    </p:spTree>
    <p:extLst>
      <p:ext uri="{BB962C8B-B14F-4D97-AF65-F5344CB8AC3E}">
        <p14:creationId xmlns:p14="http://schemas.microsoft.com/office/powerpoint/2010/main" val="2883585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br>
              <a:rPr lang="en-US" sz="6600" b="1" dirty="0">
                <a:latin typeface="Calibri" panose="020F0502020204030204" pitchFamily="34" charset="0"/>
              </a:rPr>
            </a:br>
            <a:r>
              <a:rPr lang="en-US" b="1" i="1" dirty="0">
                <a:latin typeface="Calibri" panose="020F0502020204030204" pitchFamily="34" charset="0"/>
              </a:rPr>
              <a:t>(Q&amp;A)</a:t>
            </a:r>
            <a:endParaRPr lang="en-IN" sz="6600" b="1" i="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7193</TotalTime>
  <Words>600</Words>
  <Application>Microsoft Office PowerPoint</Application>
  <PresentationFormat>Widescreen</PresentationFormat>
  <Paragraphs>162</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BIA Template</vt:lpstr>
      <vt:lpstr>PowerPoint Presentation</vt:lpstr>
      <vt:lpstr>Agenda</vt:lpstr>
      <vt:lpstr>LangChain vs CrewAI vs AutoGen vs LangGraph</vt:lpstr>
      <vt:lpstr>Memory Backends</vt:lpstr>
      <vt:lpstr>Example (LangChain Memory):</vt:lpstr>
      <vt:lpstr>Tool Abstraction</vt:lpstr>
      <vt:lpstr>Example in LangChain:</vt:lpstr>
      <vt:lpstr>Trade-Offs Summary</vt:lpstr>
      <vt:lpstr>Multi-Framework Lab</vt:lpstr>
      <vt:lpstr>🚀 Lab Concept:</vt:lpstr>
      <vt:lpstr>🧠 Final Takeaways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Simon Nadar</cp:lastModifiedBy>
  <cp:revision>2268</cp:revision>
  <dcterms:created xsi:type="dcterms:W3CDTF">2020-12-23T13:36:00Z</dcterms:created>
  <dcterms:modified xsi:type="dcterms:W3CDTF">2025-05-16T06:07:43Z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