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6"/>
  </p:notesMasterIdLst>
  <p:sldIdLst>
    <p:sldId id="256" r:id="rId2"/>
    <p:sldId id="674" r:id="rId3"/>
    <p:sldId id="716" r:id="rId4"/>
    <p:sldId id="258" r:id="rId5"/>
    <p:sldId id="265" r:id="rId6"/>
    <p:sldId id="259" r:id="rId7"/>
    <p:sldId id="266" r:id="rId8"/>
    <p:sldId id="260" r:id="rId9"/>
    <p:sldId id="267" r:id="rId10"/>
    <p:sldId id="261" r:id="rId11"/>
    <p:sldId id="268" r:id="rId12"/>
    <p:sldId id="264" r:id="rId13"/>
    <p:sldId id="262" r:id="rId14"/>
    <p:sldId id="3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1049" userDrawn="1">
          <p15:clr>
            <a:srgbClr val="A4A3A4"/>
          </p15:clr>
        </p15:guide>
        <p15:guide id="3" orient="horz" pos="3838" userDrawn="1">
          <p15:clr>
            <a:srgbClr val="A4A3A4"/>
          </p15:clr>
        </p15:guide>
        <p15:guide id="4" orient="horz" pos="777" userDrawn="1">
          <p15:clr>
            <a:srgbClr val="A4A3A4"/>
          </p15:clr>
        </p15:guide>
        <p15:guide id="5" orient="horz" pos="368" userDrawn="1">
          <p15:clr>
            <a:srgbClr val="A4A3A4"/>
          </p15:clr>
        </p15:guide>
        <p15:guide id="6" pos="3840" userDrawn="1">
          <p15:clr>
            <a:srgbClr val="A4A3A4"/>
          </p15:clr>
        </p15:guide>
        <p15:guide id="7" pos="415" userDrawn="1">
          <p15:clr>
            <a:srgbClr val="A4A3A4"/>
          </p15:clr>
        </p15:guide>
        <p15:guide id="8"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333F50"/>
    <a:srgbClr val="8497B0"/>
    <a:srgbClr val="8FAADC"/>
    <a:srgbClr val="2F5597"/>
    <a:srgbClr val="626CC7"/>
    <a:srgbClr val="323B8D"/>
    <a:srgbClr val="21275D"/>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143C65-58A6-30DC-FFA2-9CF20414373C}" v="1" dt="2025-05-29T13:34:19.5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93447" autoAdjust="0"/>
  </p:normalViewPr>
  <p:slideViewPr>
    <p:cSldViewPr snapToGrid="0">
      <p:cViewPr varScale="1">
        <p:scale>
          <a:sx n="100" d="100"/>
          <a:sy n="100" d="100"/>
        </p:scale>
        <p:origin x="528" y="72"/>
      </p:cViewPr>
      <p:guideLst>
        <p:guide orient="horz" pos="2160"/>
        <p:guide orient="horz" pos="1049"/>
        <p:guide orient="horz" pos="3838"/>
        <p:guide orient="horz" pos="777"/>
        <p:guide orient="horz" pos="368"/>
        <p:guide pos="3840"/>
        <p:guide pos="415"/>
        <p:guide pos="7265"/>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Nadar" userId="S::simon.nadar@bostoninstituteofanalytics.org::7d0d1391-f149-47d8-8b74-c01bfea21e5e" providerId="AD" clId="Web-{86143C65-58A6-30DC-FFA2-9CF20414373C}"/>
    <pc:docChg chg="modSld">
      <pc:chgData name="Simon Nadar" userId="S::simon.nadar@bostoninstituteofanalytics.org::7d0d1391-f149-47d8-8b74-c01bfea21e5e" providerId="AD" clId="Web-{86143C65-58A6-30DC-FFA2-9CF20414373C}" dt="2025-05-29T13:34:19.544" v="0" actId="20577"/>
      <pc:docMkLst>
        <pc:docMk/>
      </pc:docMkLst>
      <pc:sldChg chg="modSp">
        <pc:chgData name="Simon Nadar" userId="S::simon.nadar@bostoninstituteofanalytics.org::7d0d1391-f149-47d8-8b74-c01bfea21e5e" providerId="AD" clId="Web-{86143C65-58A6-30DC-FFA2-9CF20414373C}" dt="2025-05-29T13:34:19.544" v="0" actId="20577"/>
        <pc:sldMkLst>
          <pc:docMk/>
          <pc:sldMk cId="2272459462" sldId="674"/>
        </pc:sldMkLst>
        <pc:spChg chg="mod">
          <ac:chgData name="Simon Nadar" userId="S::simon.nadar@bostoninstituteofanalytics.org::7d0d1391-f149-47d8-8b74-c01bfea21e5e" providerId="AD" clId="Web-{86143C65-58A6-30DC-FFA2-9CF20414373C}" dt="2025-05-29T13:34:19.544" v="0" actId="20577"/>
          <ac:spMkLst>
            <pc:docMk/>
            <pc:sldMk cId="2272459462" sldId="674"/>
            <ac:spMk id="3" creationId="{5498D2CD-3F24-F46B-D0FD-F213BDB36EC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29-05-2025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Prompt Essentials</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69359" y="1675075"/>
            <a:ext cx="10854304" cy="4417750"/>
          </a:xfrm>
          <a:prstGeom prst="rect">
            <a:avLst/>
          </a:prstGeom>
        </p:spPr>
        <p:txBody>
          <a:bodyPr vert="horz" lIns="91440" tIns="45720" rIns="91440" bIns="45720" rtlCol="0" anchor="t">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lnSpc>
                <a:spcPct val="100000"/>
              </a:lnSpc>
            </a:pPr>
            <a:r>
              <a:rPr lang="en-IN" sz="2400" dirty="0">
                <a:solidFill>
                  <a:schemeClr val="tx1"/>
                </a:solidFill>
              </a:rPr>
              <a:t>Prompt Engineering &amp; Autonomous Reasoning</a:t>
            </a:r>
            <a:endParaRPr lang="en-IN" sz="2400" dirty="0">
              <a:solidFill>
                <a:schemeClr val="tx1"/>
              </a:solidFill>
              <a:ea typeface="Calibri"/>
              <a:cs typeface="Calibri"/>
            </a:endParaRPr>
          </a:p>
          <a:p>
            <a:pPr>
              <a:lnSpc>
                <a:spcPct val="100000"/>
              </a:lnSpc>
            </a:pPr>
            <a:r>
              <a:rPr lang="en-IN" sz="2400" dirty="0">
                <a:solidFill>
                  <a:schemeClr val="tx1"/>
                </a:solidFill>
                <a:latin typeface="Calibri"/>
                <a:ea typeface="Calibri"/>
                <a:cs typeface="Calibri"/>
              </a:rPr>
              <a:t>Prompt Essentials</a:t>
            </a:r>
          </a:p>
          <a:p>
            <a:pPr lvl="1">
              <a:lnSpc>
                <a:spcPct val="100000"/>
              </a:lnSpc>
            </a:pPr>
            <a:r>
              <a:rPr lang="en-IN" dirty="0">
                <a:solidFill>
                  <a:schemeClr val="tx1"/>
                </a:solidFill>
              </a:rPr>
              <a:t>Zero-Shot vs Few-Shot</a:t>
            </a:r>
            <a:endParaRPr lang="en-IN" dirty="0">
              <a:solidFill>
                <a:schemeClr val="tx1"/>
              </a:solidFill>
              <a:ea typeface="Calibri"/>
              <a:cs typeface="Calibri"/>
            </a:endParaRPr>
          </a:p>
          <a:p>
            <a:pPr lvl="1">
              <a:lnSpc>
                <a:spcPct val="100000"/>
              </a:lnSpc>
            </a:pPr>
            <a:r>
              <a:rPr lang="en-IN" dirty="0">
                <a:solidFill>
                  <a:schemeClr val="tx1"/>
                </a:solidFill>
              </a:rPr>
              <a:t>Sampling</a:t>
            </a:r>
            <a:endParaRPr lang="en-IN" dirty="0">
              <a:solidFill>
                <a:schemeClr val="tx1"/>
              </a:solidFill>
              <a:ea typeface="Calibri"/>
              <a:cs typeface="Calibri"/>
            </a:endParaRPr>
          </a:p>
          <a:p>
            <a:pPr lvl="1">
              <a:lnSpc>
                <a:spcPct val="100000"/>
              </a:lnSpc>
            </a:pPr>
            <a:r>
              <a:rPr lang="en-IN" dirty="0">
                <a:solidFill>
                  <a:schemeClr val="tx1"/>
                </a:solidFill>
              </a:rPr>
              <a:t>System Messages</a:t>
            </a:r>
            <a:endParaRPr lang="en-IN" dirty="0">
              <a:solidFill>
                <a:schemeClr val="tx1"/>
              </a:solidFill>
              <a:ea typeface="Calibri"/>
              <a:cs typeface="Calibri"/>
            </a:endParaRPr>
          </a:p>
          <a:p>
            <a:pPr lvl="0">
              <a:lnSpc>
                <a:spcPct val="100000"/>
              </a:lnSpc>
            </a:pPr>
            <a:r>
              <a:rPr lang="en-IN" sz="2400" dirty="0">
                <a:solidFill>
                  <a:schemeClr val="tx1"/>
                </a:solidFill>
              </a:rPr>
              <a:t>Prompt Debugging with </a:t>
            </a:r>
            <a:r>
              <a:rPr lang="en-IN" sz="2400" dirty="0" err="1">
                <a:solidFill>
                  <a:schemeClr val="tx1"/>
                </a:solidFill>
              </a:rPr>
              <a:t>LangSmith</a:t>
            </a:r>
            <a:endParaRPr lang="en-IN" sz="2400" dirty="0">
              <a:solidFill>
                <a:schemeClr val="tx1"/>
              </a:solidFill>
            </a:endParaRPr>
          </a:p>
          <a:p>
            <a:pPr lvl="0">
              <a:lnSpc>
                <a:spcPct val="100000"/>
              </a:lnSpc>
            </a:pPr>
            <a:r>
              <a:rPr lang="en-IN" sz="2400" dirty="0">
                <a:solidFill>
                  <a:schemeClr val="tx1"/>
                </a:solidFill>
              </a:rPr>
              <a:t>Autonomous Reasoning in Agentic Systems</a:t>
            </a:r>
            <a:endParaRPr lang="en-IN" sz="2400" dirty="0">
              <a:solidFill>
                <a:schemeClr val="tx1"/>
              </a:solidFill>
              <a:ea typeface="Calibri"/>
              <a:cs typeface="Calibri"/>
            </a:endParaRP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143746-E17F-0DB3-81E8-A86B36916F8D}"/>
              </a:ext>
            </a:extLst>
          </p:cNvPr>
          <p:cNvSpPr>
            <a:spLocks noGrp="1"/>
          </p:cNvSpPr>
          <p:nvPr>
            <p:ph idx="1"/>
          </p:nvPr>
        </p:nvSpPr>
        <p:spPr>
          <a:xfrm>
            <a:off x="4474319" y="1914524"/>
            <a:ext cx="7057847" cy="3028951"/>
          </a:xfrm>
        </p:spPr>
        <p:txBody>
          <a:bodyPr/>
          <a:lstStyle/>
          <a:p>
            <a:pPr>
              <a:spcBef>
                <a:spcPts val="600"/>
              </a:spcBef>
              <a:spcAft>
                <a:spcPts val="600"/>
              </a:spcAft>
            </a:pPr>
            <a:r>
              <a:rPr lang="en-IN" dirty="0"/>
              <a:t>Introduction to how we design inputs to guide LLM behaviour effectively</a:t>
            </a:r>
            <a:endParaRPr lang="en-US" dirty="0"/>
          </a:p>
          <a:p>
            <a:pPr>
              <a:spcBef>
                <a:spcPts val="600"/>
              </a:spcBef>
              <a:spcAft>
                <a:spcPts val="600"/>
              </a:spcAft>
            </a:pPr>
            <a:r>
              <a:rPr lang="en-IN" dirty="0"/>
              <a:t> Why prompt engineering is the foundation of Agentic AI</a:t>
            </a:r>
            <a:endParaRPr lang="en-US" dirty="0"/>
          </a:p>
          <a:p>
            <a:pPr>
              <a:spcBef>
                <a:spcPts val="600"/>
              </a:spcBef>
              <a:spcAft>
                <a:spcPts val="600"/>
              </a:spcAft>
            </a:pPr>
            <a:r>
              <a:rPr lang="en-IN" dirty="0"/>
              <a:t>Link to autonomous reasoning: Prompts shape agent thinking, planning, and decisions</a:t>
            </a:r>
            <a:endParaRPr lang="en-US" dirty="0"/>
          </a:p>
        </p:txBody>
      </p:sp>
      <p:sp>
        <p:nvSpPr>
          <p:cNvPr id="3" name="Title 2">
            <a:extLst>
              <a:ext uri="{FF2B5EF4-FFF2-40B4-BE49-F238E27FC236}">
                <a16:creationId xmlns:a16="http://schemas.microsoft.com/office/drawing/2014/main" id="{997F69F9-5675-4E1F-5239-A19077FED835}"/>
              </a:ext>
            </a:extLst>
          </p:cNvPr>
          <p:cNvSpPr>
            <a:spLocks noGrp="1"/>
          </p:cNvSpPr>
          <p:nvPr>
            <p:ph type="title"/>
          </p:nvPr>
        </p:nvSpPr>
        <p:spPr/>
        <p:txBody>
          <a:bodyPr/>
          <a:lstStyle/>
          <a:p>
            <a:r>
              <a:rPr lang="en-IN" sz="3600" dirty="0"/>
              <a:t>Prompt Engineering &amp; Autonomous Reasoning</a:t>
            </a:r>
            <a:endParaRPr lang="en-IN" dirty="0"/>
          </a:p>
        </p:txBody>
      </p:sp>
    </p:spTree>
    <p:extLst>
      <p:ext uri="{BB962C8B-B14F-4D97-AF65-F5344CB8AC3E}">
        <p14:creationId xmlns:p14="http://schemas.microsoft.com/office/powerpoint/2010/main" val="3682821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7E9B1-5A3E-0884-3029-B3E4F4222BF0}"/>
              </a:ext>
            </a:extLst>
          </p:cNvPr>
          <p:cNvSpPr>
            <a:spLocks noGrp="1"/>
          </p:cNvSpPr>
          <p:nvPr>
            <p:ph type="title"/>
          </p:nvPr>
        </p:nvSpPr>
        <p:spPr>
          <a:xfrm>
            <a:off x="658814" y="584199"/>
            <a:ext cx="10874374" cy="649289"/>
          </a:xfrm>
        </p:spPr>
        <p:txBody>
          <a:bodyPr vert="horz" lIns="91440" tIns="45720" rIns="91440" bIns="45720" rtlCol="0" anchor="b">
            <a:normAutofit/>
          </a:bodyPr>
          <a:lstStyle/>
          <a:p>
            <a:pPr algn="ctr"/>
            <a:r>
              <a:rPr lang="en-US" dirty="0"/>
              <a:t>Prompt Essentials – Zero-Shot vs Few-Shot</a:t>
            </a:r>
          </a:p>
        </p:txBody>
      </p:sp>
      <p:graphicFrame>
        <p:nvGraphicFramePr>
          <p:cNvPr id="4" name="Content Placeholder 3">
            <a:extLst>
              <a:ext uri="{FF2B5EF4-FFF2-40B4-BE49-F238E27FC236}">
                <a16:creationId xmlns:a16="http://schemas.microsoft.com/office/drawing/2014/main" id="{2BB5F5C1-1FA2-1F0D-C373-5FC47ED8BC5C}"/>
              </a:ext>
            </a:extLst>
          </p:cNvPr>
          <p:cNvGraphicFramePr>
            <a:graphicFrameLocks noGrp="1"/>
          </p:cNvGraphicFramePr>
          <p:nvPr>
            <p:ph idx="1"/>
            <p:extLst>
              <p:ext uri="{D42A27DB-BD31-4B8C-83A1-F6EECF244321}">
                <p14:modId xmlns:p14="http://schemas.microsoft.com/office/powerpoint/2010/main" val="4292845039"/>
              </p:ext>
            </p:extLst>
          </p:nvPr>
        </p:nvGraphicFramePr>
        <p:xfrm>
          <a:off x="658814" y="1665287"/>
          <a:ext cx="10874373" cy="4427538"/>
        </p:xfrm>
        <a:graphic>
          <a:graphicData uri="http://schemas.openxmlformats.org/drawingml/2006/table">
            <a:tbl>
              <a:tblPr>
                <a:solidFill>
                  <a:schemeClr val="bg1"/>
                </a:solidFill>
              </a:tblPr>
              <a:tblGrid>
                <a:gridCol w="2778341">
                  <a:extLst>
                    <a:ext uri="{9D8B030D-6E8A-4147-A177-3AD203B41FA5}">
                      <a16:colId xmlns:a16="http://schemas.microsoft.com/office/drawing/2014/main" val="1339077146"/>
                    </a:ext>
                  </a:extLst>
                </a:gridCol>
                <a:gridCol w="3999416">
                  <a:extLst>
                    <a:ext uri="{9D8B030D-6E8A-4147-A177-3AD203B41FA5}">
                      <a16:colId xmlns:a16="http://schemas.microsoft.com/office/drawing/2014/main" val="2117131560"/>
                    </a:ext>
                  </a:extLst>
                </a:gridCol>
                <a:gridCol w="4096616">
                  <a:extLst>
                    <a:ext uri="{9D8B030D-6E8A-4147-A177-3AD203B41FA5}">
                      <a16:colId xmlns:a16="http://schemas.microsoft.com/office/drawing/2014/main" val="505200827"/>
                    </a:ext>
                  </a:extLst>
                </a:gridCol>
              </a:tblGrid>
              <a:tr h="636887">
                <a:tc>
                  <a:txBody>
                    <a:bodyPr/>
                    <a:lstStyle/>
                    <a:p>
                      <a:r>
                        <a:rPr lang="en-IN" sz="2000" b="1" cap="none" spc="0" dirty="0">
                          <a:solidFill>
                            <a:schemeClr val="tx1"/>
                          </a:solidFill>
                        </a:rPr>
                        <a:t>Technique</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a:solidFill>
                            <a:schemeClr val="tx1"/>
                          </a:solidFill>
                        </a:rPr>
                        <a:t>Description</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dirty="0">
                          <a:solidFill>
                            <a:schemeClr val="tx1"/>
                          </a:solidFill>
                        </a:rPr>
                        <a:t>Use Case</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034975134"/>
                  </a:ext>
                </a:extLst>
              </a:tr>
              <a:tr h="1012885">
                <a:tc>
                  <a:txBody>
                    <a:bodyPr/>
                    <a:lstStyle/>
                    <a:p>
                      <a:r>
                        <a:rPr lang="en-IN" sz="2000" b="1" cap="none" spc="0" dirty="0">
                          <a:solidFill>
                            <a:schemeClr val="tx1"/>
                          </a:solidFill>
                        </a:rPr>
                        <a:t>Zero-shot</a:t>
                      </a:r>
                      <a:endParaRPr lang="en-IN" sz="2000" cap="none" spc="0" dirty="0">
                        <a:solidFill>
                          <a:schemeClr val="tx1"/>
                        </a:solidFill>
                      </a:endParaRP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No examples given</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General queries, classification</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7184181"/>
                  </a:ext>
                </a:extLst>
              </a:tr>
              <a:tr h="1388883">
                <a:tc>
                  <a:txBody>
                    <a:bodyPr/>
                    <a:lstStyle/>
                    <a:p>
                      <a:r>
                        <a:rPr lang="en-IN" sz="2000" b="1" cap="none" spc="0" dirty="0">
                          <a:solidFill>
                            <a:schemeClr val="tx1"/>
                          </a:solidFill>
                        </a:rPr>
                        <a:t>Few-shot</a:t>
                      </a:r>
                      <a:endParaRPr lang="en-IN" sz="2000" cap="none" spc="0" dirty="0">
                        <a:solidFill>
                          <a:schemeClr val="tx1"/>
                        </a:solidFill>
                      </a:endParaRP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a:solidFill>
                            <a:schemeClr val="tx1"/>
                          </a:solidFill>
                        </a:rPr>
                        <a:t>A few examples provided in the prompt</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a:solidFill>
                            <a:schemeClr val="tx1"/>
                          </a:solidFill>
                        </a:rPr>
                        <a:t>Complex tasks, pattern recognition</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0546900"/>
                  </a:ext>
                </a:extLst>
              </a:tr>
              <a:tr h="1388883">
                <a:tc>
                  <a:txBody>
                    <a:bodyPr/>
                    <a:lstStyle/>
                    <a:p>
                      <a:r>
                        <a:rPr lang="en-IN" sz="2000" b="1" cap="none" spc="0">
                          <a:solidFill>
                            <a:schemeClr val="tx1"/>
                          </a:solidFill>
                        </a:rPr>
                        <a:t>Best Practice</a:t>
                      </a:r>
                      <a:endParaRPr lang="en-IN" sz="2000" cap="none" spc="0">
                        <a:solidFill>
                          <a:schemeClr val="tx1"/>
                        </a:solidFill>
                      </a:endParaRP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a:solidFill>
                            <a:schemeClr val="tx1"/>
                          </a:solidFill>
                        </a:rPr>
                        <a:t>Use task-specific examples, mimic expected output</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Helps LLM generalize better</a:t>
                      </a:r>
                    </a:p>
                  </a:txBody>
                  <a:tcPr marL="137468" marR="105744" marT="105744" marB="1057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1209057"/>
                  </a:ext>
                </a:extLst>
              </a:tr>
            </a:tbl>
          </a:graphicData>
        </a:graphic>
      </p:graphicFrame>
    </p:spTree>
    <p:extLst>
      <p:ext uri="{BB962C8B-B14F-4D97-AF65-F5344CB8AC3E}">
        <p14:creationId xmlns:p14="http://schemas.microsoft.com/office/powerpoint/2010/main" val="2710330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DAAAC-D54F-A13C-7660-A0F2A6B18A9D}"/>
              </a:ext>
            </a:extLst>
          </p:cNvPr>
          <p:cNvSpPr>
            <a:spLocks noGrp="1"/>
          </p:cNvSpPr>
          <p:nvPr>
            <p:ph type="title"/>
          </p:nvPr>
        </p:nvSpPr>
        <p:spPr>
          <a:xfrm>
            <a:off x="658813" y="584200"/>
            <a:ext cx="10874375" cy="649288"/>
          </a:xfrm>
        </p:spPr>
        <p:txBody>
          <a:bodyPr/>
          <a:lstStyle/>
          <a:p>
            <a:r>
              <a:rPr lang="en-IN" dirty="0"/>
              <a:t>Zero-shot vs Few-shot Prompting (Examples)</a:t>
            </a:r>
            <a:endParaRPr lang="en-US" dirty="0"/>
          </a:p>
        </p:txBody>
      </p:sp>
      <p:sp>
        <p:nvSpPr>
          <p:cNvPr id="3" name="Content Placeholder 2">
            <a:extLst>
              <a:ext uri="{FF2B5EF4-FFF2-40B4-BE49-F238E27FC236}">
                <a16:creationId xmlns:a16="http://schemas.microsoft.com/office/drawing/2014/main" id="{E974C892-21A3-C15D-32FA-A1149F575B95}"/>
              </a:ext>
            </a:extLst>
          </p:cNvPr>
          <p:cNvSpPr>
            <a:spLocks noGrp="1"/>
          </p:cNvSpPr>
          <p:nvPr>
            <p:ph idx="1"/>
          </p:nvPr>
        </p:nvSpPr>
        <p:spPr>
          <a:xfrm>
            <a:off x="658813" y="1675075"/>
            <a:ext cx="10874375" cy="4417750"/>
          </a:xfrm>
        </p:spPr>
        <p:txBody>
          <a:bodyPr>
            <a:normAutofit fontScale="92500" lnSpcReduction="10000"/>
          </a:bodyPr>
          <a:lstStyle/>
          <a:p>
            <a:pPr marL="0" indent="0">
              <a:spcBef>
                <a:spcPts val="600"/>
              </a:spcBef>
              <a:spcAft>
                <a:spcPts val="1000"/>
              </a:spcAft>
              <a:buNone/>
            </a:pPr>
            <a:r>
              <a:rPr lang="en-IN" sz="1600" b="1" dirty="0"/>
              <a:t>Task:</a:t>
            </a:r>
            <a:r>
              <a:rPr lang="en-IN" sz="1600" dirty="0"/>
              <a:t> </a:t>
            </a:r>
            <a:r>
              <a:rPr lang="en-IN" sz="1600" i="1" dirty="0"/>
              <a:t>Classify sentiment of a product review</a:t>
            </a:r>
          </a:p>
          <a:p>
            <a:pPr marL="0" indent="0">
              <a:spcBef>
                <a:spcPts val="600"/>
              </a:spcBef>
              <a:spcAft>
                <a:spcPts val="1000"/>
              </a:spcAft>
              <a:buNone/>
            </a:pPr>
            <a:r>
              <a:rPr lang="en-IN" sz="1600" b="1" dirty="0"/>
              <a:t>Zero-shot Prompt</a:t>
            </a:r>
            <a:r>
              <a:rPr lang="en-IN" sz="1600" dirty="0"/>
              <a:t>:</a:t>
            </a:r>
          </a:p>
          <a:p>
            <a:pPr>
              <a:spcBef>
                <a:spcPts val="0"/>
              </a:spcBef>
              <a:spcAft>
                <a:spcPts val="1000"/>
              </a:spcAft>
            </a:pPr>
            <a:r>
              <a:rPr lang="en-IN" sz="1600" i="1" dirty="0"/>
              <a:t>Review: "The delivery was fast, and the product works perfectly."</a:t>
            </a:r>
          </a:p>
          <a:p>
            <a:pPr>
              <a:spcBef>
                <a:spcPts val="0"/>
              </a:spcBef>
              <a:spcAft>
                <a:spcPts val="1000"/>
              </a:spcAft>
            </a:pPr>
            <a:r>
              <a:rPr lang="en-IN" sz="1600" i="1" dirty="0"/>
              <a:t>What is the sentiment?</a:t>
            </a:r>
          </a:p>
          <a:p>
            <a:pPr>
              <a:spcBef>
                <a:spcPts val="0"/>
              </a:spcBef>
              <a:spcAft>
                <a:spcPts val="1000"/>
              </a:spcAft>
            </a:pPr>
            <a:r>
              <a:rPr lang="en-IN" sz="1600" b="1" dirty="0"/>
              <a:t>Response</a:t>
            </a:r>
            <a:r>
              <a:rPr lang="en-IN" sz="1600" dirty="0"/>
              <a:t>:</a:t>
            </a:r>
          </a:p>
          <a:p>
            <a:pPr>
              <a:spcBef>
                <a:spcPts val="0"/>
              </a:spcBef>
              <a:spcAft>
                <a:spcPts val="1000"/>
              </a:spcAft>
            </a:pPr>
            <a:r>
              <a:rPr lang="en-IN" sz="1600" dirty="0"/>
              <a:t>Positive</a:t>
            </a:r>
          </a:p>
          <a:p>
            <a:pPr marL="0" indent="0">
              <a:spcBef>
                <a:spcPts val="600"/>
              </a:spcBef>
              <a:spcAft>
                <a:spcPts val="1000"/>
              </a:spcAft>
              <a:buNone/>
            </a:pPr>
            <a:r>
              <a:rPr lang="en-IN" sz="1600" b="1" dirty="0"/>
              <a:t>Few-shot Prompt</a:t>
            </a:r>
            <a:r>
              <a:rPr lang="en-IN" sz="1600" dirty="0"/>
              <a:t>:</a:t>
            </a:r>
          </a:p>
          <a:p>
            <a:pPr>
              <a:spcBef>
                <a:spcPts val="0"/>
              </a:spcBef>
              <a:spcAft>
                <a:spcPts val="1000"/>
              </a:spcAft>
            </a:pPr>
            <a:r>
              <a:rPr lang="en-IN" sz="1600" i="1" dirty="0"/>
              <a:t>Review: "This phone overheats and crashes often." → Negative  </a:t>
            </a:r>
          </a:p>
          <a:p>
            <a:pPr>
              <a:spcBef>
                <a:spcPts val="0"/>
              </a:spcBef>
              <a:spcAft>
                <a:spcPts val="1000"/>
              </a:spcAft>
            </a:pPr>
            <a:r>
              <a:rPr lang="en-IN" sz="1600" i="1" dirty="0"/>
              <a:t>Review: "Great sound quality and battery life!" → Positive  </a:t>
            </a:r>
          </a:p>
          <a:p>
            <a:pPr>
              <a:spcBef>
                <a:spcPts val="0"/>
              </a:spcBef>
              <a:spcAft>
                <a:spcPts val="1000"/>
              </a:spcAft>
            </a:pPr>
            <a:r>
              <a:rPr lang="en-IN" sz="1600" i="1" dirty="0"/>
              <a:t>Review: "The delivery was fast, and the product works perfectly." →</a:t>
            </a:r>
          </a:p>
          <a:p>
            <a:pPr>
              <a:spcBef>
                <a:spcPts val="0"/>
              </a:spcBef>
              <a:spcAft>
                <a:spcPts val="1000"/>
              </a:spcAft>
            </a:pPr>
            <a:r>
              <a:rPr lang="en-IN" sz="1600" b="1" dirty="0"/>
              <a:t>Response</a:t>
            </a:r>
            <a:r>
              <a:rPr lang="en-IN" sz="1600" dirty="0"/>
              <a:t>:</a:t>
            </a:r>
          </a:p>
          <a:p>
            <a:pPr>
              <a:spcBef>
                <a:spcPts val="0"/>
              </a:spcBef>
              <a:spcAft>
                <a:spcPts val="1000"/>
              </a:spcAft>
            </a:pPr>
            <a:r>
              <a:rPr lang="en-IN" sz="1600" dirty="0"/>
              <a:t>Positive</a:t>
            </a:r>
          </a:p>
          <a:p>
            <a:pPr marL="0" indent="0">
              <a:spcBef>
                <a:spcPts val="600"/>
              </a:spcBef>
              <a:spcAft>
                <a:spcPts val="1000"/>
              </a:spcAft>
              <a:buNone/>
            </a:pPr>
            <a:r>
              <a:rPr lang="en-IN" sz="1600" dirty="0"/>
              <a:t>✅ </a:t>
            </a:r>
            <a:r>
              <a:rPr lang="en-IN" sz="1600" b="1" dirty="0"/>
              <a:t>Why Few-shot works better</a:t>
            </a:r>
            <a:r>
              <a:rPr lang="en-IN" sz="1600" dirty="0"/>
              <a:t>: It teaches the format and provides grounding examples.</a:t>
            </a:r>
          </a:p>
        </p:txBody>
      </p:sp>
    </p:spTree>
    <p:extLst>
      <p:ext uri="{BB962C8B-B14F-4D97-AF65-F5344CB8AC3E}">
        <p14:creationId xmlns:p14="http://schemas.microsoft.com/office/powerpoint/2010/main" val="1314751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F8965-017B-74BB-5DBE-49738E403BA9}"/>
              </a:ext>
            </a:extLst>
          </p:cNvPr>
          <p:cNvSpPr>
            <a:spLocks noGrp="1"/>
          </p:cNvSpPr>
          <p:nvPr>
            <p:ph type="title"/>
          </p:nvPr>
        </p:nvSpPr>
        <p:spPr>
          <a:xfrm>
            <a:off x="658813" y="584200"/>
            <a:ext cx="10874375" cy="649288"/>
          </a:xfrm>
        </p:spPr>
        <p:txBody>
          <a:bodyPr/>
          <a:lstStyle/>
          <a:p>
            <a:r>
              <a:rPr lang="en-IN" dirty="0"/>
              <a:t>Sampling Parameters</a:t>
            </a:r>
            <a:endParaRPr lang="en-US" dirty="0"/>
          </a:p>
        </p:txBody>
      </p:sp>
      <p:sp>
        <p:nvSpPr>
          <p:cNvPr id="3" name="Content Placeholder 2">
            <a:extLst>
              <a:ext uri="{FF2B5EF4-FFF2-40B4-BE49-F238E27FC236}">
                <a16:creationId xmlns:a16="http://schemas.microsoft.com/office/drawing/2014/main" id="{ABA1F2FC-AE7E-F957-FFB5-DF909B1D84A8}"/>
              </a:ext>
            </a:extLst>
          </p:cNvPr>
          <p:cNvSpPr>
            <a:spLocks noGrp="1"/>
          </p:cNvSpPr>
          <p:nvPr>
            <p:ph idx="1"/>
          </p:nvPr>
        </p:nvSpPr>
        <p:spPr>
          <a:xfrm>
            <a:off x="658813" y="1675075"/>
            <a:ext cx="10874375" cy="4417750"/>
          </a:xfrm>
        </p:spPr>
        <p:txBody>
          <a:bodyPr>
            <a:normAutofit lnSpcReduction="10000"/>
          </a:bodyPr>
          <a:lstStyle/>
          <a:p>
            <a:pPr>
              <a:spcBef>
                <a:spcPts val="600"/>
              </a:spcBef>
              <a:spcAft>
                <a:spcPts val="600"/>
              </a:spcAft>
              <a:buNone/>
            </a:pPr>
            <a:r>
              <a:rPr lang="en-IN" sz="2000" dirty="0">
                <a:solidFill>
                  <a:schemeClr val="tx1"/>
                </a:solidFill>
              </a:rPr>
              <a:t>Control the creativity and variability of model outputs:</a:t>
            </a:r>
          </a:p>
          <a:p>
            <a:pPr>
              <a:spcBef>
                <a:spcPts val="600"/>
              </a:spcBef>
              <a:spcAft>
                <a:spcPts val="600"/>
              </a:spcAft>
              <a:buFont typeface="Arial" panose="020B0604020202020204" pitchFamily="34" charset="0"/>
              <a:buChar char="•"/>
            </a:pPr>
            <a:r>
              <a:rPr lang="en-IN" sz="2000" b="1" dirty="0">
                <a:solidFill>
                  <a:schemeClr val="tx1"/>
                </a:solidFill>
              </a:rPr>
              <a:t>Temperature</a:t>
            </a:r>
            <a:r>
              <a:rPr lang="en-IN" sz="2000" dirty="0">
                <a:solidFill>
                  <a:schemeClr val="tx1"/>
                </a:solidFill>
              </a:rPr>
              <a:t> (0–1):</a:t>
            </a:r>
          </a:p>
          <a:p>
            <a:pPr marL="742950" lvl="1" indent="-285750">
              <a:spcBef>
                <a:spcPts val="600"/>
              </a:spcBef>
              <a:spcAft>
                <a:spcPts val="600"/>
              </a:spcAft>
              <a:buFont typeface="Arial" panose="020B0604020202020204" pitchFamily="34" charset="0"/>
              <a:buChar char="•"/>
            </a:pPr>
            <a:r>
              <a:rPr lang="en-IN" sz="2000" dirty="0">
                <a:solidFill>
                  <a:schemeClr val="tx1"/>
                </a:solidFill>
              </a:rPr>
              <a:t>Lower → deterministic</a:t>
            </a:r>
          </a:p>
          <a:p>
            <a:pPr marL="742950" lvl="1" indent="-285750">
              <a:spcBef>
                <a:spcPts val="600"/>
              </a:spcBef>
              <a:spcAft>
                <a:spcPts val="600"/>
              </a:spcAft>
              <a:buFont typeface="Arial" panose="020B0604020202020204" pitchFamily="34" charset="0"/>
              <a:buChar char="•"/>
            </a:pPr>
            <a:r>
              <a:rPr lang="en-IN" sz="2000" dirty="0">
                <a:solidFill>
                  <a:schemeClr val="tx1"/>
                </a:solidFill>
              </a:rPr>
              <a:t>Higher → creative, risky</a:t>
            </a:r>
          </a:p>
          <a:p>
            <a:pPr>
              <a:spcBef>
                <a:spcPts val="600"/>
              </a:spcBef>
              <a:spcAft>
                <a:spcPts val="600"/>
              </a:spcAft>
              <a:buFont typeface="Arial" panose="020B0604020202020204" pitchFamily="34" charset="0"/>
              <a:buChar char="•"/>
            </a:pPr>
            <a:r>
              <a:rPr lang="en-IN" sz="2000" b="1" dirty="0">
                <a:solidFill>
                  <a:schemeClr val="tx1"/>
                </a:solidFill>
              </a:rPr>
              <a:t>Top-p (nucleus sampling):</a:t>
            </a:r>
            <a:endParaRPr lang="en-IN" sz="2000" dirty="0">
              <a:solidFill>
                <a:schemeClr val="tx1"/>
              </a:solidFill>
            </a:endParaRPr>
          </a:p>
          <a:p>
            <a:pPr marL="742950" lvl="1" indent="-285750">
              <a:spcBef>
                <a:spcPts val="600"/>
              </a:spcBef>
              <a:spcAft>
                <a:spcPts val="600"/>
              </a:spcAft>
              <a:buFont typeface="Arial" panose="020B0604020202020204" pitchFamily="34" charset="0"/>
              <a:buChar char="•"/>
            </a:pPr>
            <a:r>
              <a:rPr lang="en-IN" sz="2000" dirty="0">
                <a:solidFill>
                  <a:schemeClr val="tx1"/>
                </a:solidFill>
              </a:rPr>
              <a:t>Chooses from top % of most probable next tokens</a:t>
            </a:r>
          </a:p>
          <a:p>
            <a:pPr marL="742950" lvl="1" indent="-285750">
              <a:spcBef>
                <a:spcPts val="600"/>
              </a:spcBef>
              <a:spcAft>
                <a:spcPts val="600"/>
              </a:spcAft>
              <a:buFont typeface="Arial" panose="020B0604020202020204" pitchFamily="34" charset="0"/>
              <a:buChar char="•"/>
            </a:pPr>
            <a:r>
              <a:rPr lang="en-IN" sz="2000" dirty="0">
                <a:solidFill>
                  <a:schemeClr val="tx1"/>
                </a:solidFill>
              </a:rPr>
              <a:t>Example: </a:t>
            </a:r>
            <a:r>
              <a:rPr lang="en-IN" sz="2000" dirty="0" err="1">
                <a:solidFill>
                  <a:schemeClr val="tx1"/>
                </a:solidFill>
              </a:rPr>
              <a:t>top_p</a:t>
            </a:r>
            <a:r>
              <a:rPr lang="en-IN" sz="2000" dirty="0">
                <a:solidFill>
                  <a:schemeClr val="tx1"/>
                </a:solidFill>
              </a:rPr>
              <a:t> = 0.9 → sample from top 90% probability mass</a:t>
            </a:r>
          </a:p>
          <a:p>
            <a:pPr>
              <a:spcBef>
                <a:spcPts val="600"/>
              </a:spcBef>
              <a:spcAft>
                <a:spcPts val="600"/>
              </a:spcAft>
              <a:buFont typeface="Arial" panose="020B0604020202020204" pitchFamily="34" charset="0"/>
              <a:buChar char="•"/>
            </a:pPr>
            <a:r>
              <a:rPr lang="en-IN" sz="2000" b="1" dirty="0">
                <a:solidFill>
                  <a:schemeClr val="tx1"/>
                </a:solidFill>
              </a:rPr>
              <a:t>Top-k</a:t>
            </a:r>
            <a:r>
              <a:rPr lang="en-IN" sz="2000" dirty="0">
                <a:solidFill>
                  <a:schemeClr val="tx1"/>
                </a:solidFill>
              </a:rPr>
              <a:t>:</a:t>
            </a:r>
          </a:p>
          <a:p>
            <a:pPr marL="742950" lvl="1" indent="-285750">
              <a:spcBef>
                <a:spcPts val="600"/>
              </a:spcBef>
              <a:spcAft>
                <a:spcPts val="600"/>
              </a:spcAft>
              <a:buFont typeface="Arial" panose="020B0604020202020204" pitchFamily="34" charset="0"/>
              <a:buChar char="•"/>
            </a:pPr>
            <a:r>
              <a:rPr lang="en-IN" sz="2000" dirty="0">
                <a:solidFill>
                  <a:schemeClr val="tx1"/>
                </a:solidFill>
              </a:rPr>
              <a:t>Picks from top k most likely tokens</a:t>
            </a:r>
          </a:p>
          <a:p>
            <a:pPr marL="742950" lvl="1" indent="-285750">
              <a:spcBef>
                <a:spcPts val="600"/>
              </a:spcBef>
              <a:spcAft>
                <a:spcPts val="600"/>
              </a:spcAft>
              <a:buFont typeface="Arial" panose="020B0604020202020204" pitchFamily="34" charset="0"/>
              <a:buChar char="•"/>
            </a:pPr>
            <a:r>
              <a:rPr lang="en-IN" sz="2000" dirty="0">
                <a:solidFill>
                  <a:schemeClr val="tx1"/>
                </a:solidFill>
              </a:rPr>
              <a:t>Example: </a:t>
            </a:r>
            <a:r>
              <a:rPr lang="en-IN" sz="2000" dirty="0" err="1">
                <a:solidFill>
                  <a:schemeClr val="tx1"/>
                </a:solidFill>
              </a:rPr>
              <a:t>top_k</a:t>
            </a:r>
            <a:r>
              <a:rPr lang="en-IN" sz="2000" dirty="0">
                <a:solidFill>
                  <a:schemeClr val="tx1"/>
                </a:solidFill>
              </a:rPr>
              <a:t> = 40 → more constrained than top-p</a:t>
            </a:r>
          </a:p>
          <a:p>
            <a:pPr marL="0" indent="0">
              <a:spcBef>
                <a:spcPts val="600"/>
              </a:spcBef>
              <a:spcAft>
                <a:spcPts val="600"/>
              </a:spcAft>
              <a:buNone/>
            </a:pPr>
            <a:r>
              <a:rPr lang="en-IN" sz="2000" dirty="0">
                <a:solidFill>
                  <a:schemeClr val="tx1"/>
                </a:solidFill>
              </a:rPr>
              <a:t>🎯 </a:t>
            </a:r>
            <a:r>
              <a:rPr lang="en-IN" sz="2000" b="1" dirty="0">
                <a:solidFill>
                  <a:schemeClr val="tx1"/>
                </a:solidFill>
              </a:rPr>
              <a:t>Recommendation</a:t>
            </a:r>
            <a:r>
              <a:rPr lang="en-IN" sz="2000" dirty="0">
                <a:solidFill>
                  <a:schemeClr val="tx1"/>
                </a:solidFill>
              </a:rPr>
              <a:t>: For reliable agents, use temperature=0.2–0.4 with </a:t>
            </a:r>
            <a:r>
              <a:rPr lang="en-IN" sz="2000" dirty="0" err="1">
                <a:solidFill>
                  <a:schemeClr val="tx1"/>
                </a:solidFill>
              </a:rPr>
              <a:t>top_p</a:t>
            </a:r>
            <a:r>
              <a:rPr lang="en-IN" sz="2000" dirty="0">
                <a:solidFill>
                  <a:schemeClr val="tx1"/>
                </a:solidFill>
              </a:rPr>
              <a:t>=0.8–0.95</a:t>
            </a:r>
          </a:p>
        </p:txBody>
      </p:sp>
    </p:spTree>
    <p:extLst>
      <p:ext uri="{BB962C8B-B14F-4D97-AF65-F5344CB8AC3E}">
        <p14:creationId xmlns:p14="http://schemas.microsoft.com/office/powerpoint/2010/main" val="190436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DD9A-3794-782F-85E9-4B7E0F20B177}"/>
              </a:ext>
            </a:extLst>
          </p:cNvPr>
          <p:cNvSpPr>
            <a:spLocks noGrp="1"/>
          </p:cNvSpPr>
          <p:nvPr>
            <p:ph type="title"/>
          </p:nvPr>
        </p:nvSpPr>
        <p:spPr>
          <a:xfrm>
            <a:off x="658813" y="584200"/>
            <a:ext cx="10874375" cy="649288"/>
          </a:xfrm>
        </p:spPr>
        <p:txBody>
          <a:bodyPr/>
          <a:lstStyle/>
          <a:p>
            <a:r>
              <a:rPr lang="en-IN" dirty="0"/>
              <a:t>Sampling Parameters in Action</a:t>
            </a:r>
            <a:endParaRPr lang="en-US" dirty="0"/>
          </a:p>
        </p:txBody>
      </p:sp>
      <p:sp>
        <p:nvSpPr>
          <p:cNvPr id="3" name="Content Placeholder 2">
            <a:extLst>
              <a:ext uri="{FF2B5EF4-FFF2-40B4-BE49-F238E27FC236}">
                <a16:creationId xmlns:a16="http://schemas.microsoft.com/office/drawing/2014/main" id="{3D2B5160-84B0-5B0F-72A0-92D7C81AE16F}"/>
              </a:ext>
            </a:extLst>
          </p:cNvPr>
          <p:cNvSpPr>
            <a:spLocks noGrp="1"/>
          </p:cNvSpPr>
          <p:nvPr>
            <p:ph idx="1"/>
          </p:nvPr>
        </p:nvSpPr>
        <p:spPr>
          <a:xfrm>
            <a:off x="658813" y="1675075"/>
            <a:ext cx="10874375" cy="4417750"/>
          </a:xfrm>
        </p:spPr>
        <p:txBody>
          <a:bodyPr>
            <a:normAutofit/>
          </a:bodyPr>
          <a:lstStyle/>
          <a:p>
            <a:pPr marL="0" indent="0">
              <a:spcBef>
                <a:spcPts val="600"/>
              </a:spcBef>
              <a:spcAft>
                <a:spcPts val="600"/>
              </a:spcAft>
              <a:buNone/>
            </a:pPr>
            <a:r>
              <a:rPr lang="en-IN" sz="2400" b="1" dirty="0"/>
              <a:t>Task:</a:t>
            </a:r>
            <a:r>
              <a:rPr lang="en-IN" sz="2400" dirty="0"/>
              <a:t> </a:t>
            </a:r>
            <a:r>
              <a:rPr lang="en-IN" sz="2400" i="1" dirty="0"/>
              <a:t>Write a birthday message for a colleague</a:t>
            </a:r>
          </a:p>
          <a:p>
            <a:pPr marL="0" indent="0">
              <a:spcBef>
                <a:spcPts val="600"/>
              </a:spcBef>
              <a:spcAft>
                <a:spcPts val="600"/>
              </a:spcAft>
              <a:buNone/>
            </a:pPr>
            <a:r>
              <a:rPr lang="en-IN" sz="2400" b="1" dirty="0"/>
              <a:t>High Temperature (1.0)</a:t>
            </a:r>
            <a:r>
              <a:rPr lang="en-IN" sz="2400" dirty="0"/>
              <a:t>:</a:t>
            </a:r>
          </a:p>
          <a:p>
            <a:pPr>
              <a:spcBef>
                <a:spcPts val="600"/>
              </a:spcBef>
              <a:spcAft>
                <a:spcPts val="600"/>
              </a:spcAft>
            </a:pPr>
            <a:r>
              <a:rPr lang="en-US" sz="2400" dirty="0"/>
              <a:t>Happy birthday! May the flamingos of joy dance on your spreadsheet today!</a:t>
            </a:r>
          </a:p>
          <a:p>
            <a:pPr marL="0" indent="0">
              <a:spcBef>
                <a:spcPts val="600"/>
              </a:spcBef>
              <a:spcAft>
                <a:spcPts val="600"/>
              </a:spcAft>
              <a:buNone/>
            </a:pPr>
            <a:r>
              <a:rPr lang="en-IN" sz="2400" b="1" dirty="0"/>
              <a:t>Low Temperature (0.2)</a:t>
            </a:r>
            <a:r>
              <a:rPr lang="en-IN" sz="2400" dirty="0"/>
              <a:t>:</a:t>
            </a:r>
            <a:endParaRPr lang="en-US" sz="2400" dirty="0"/>
          </a:p>
          <a:p>
            <a:pPr>
              <a:spcBef>
                <a:spcPts val="600"/>
              </a:spcBef>
              <a:spcAft>
                <a:spcPts val="600"/>
              </a:spcAft>
            </a:pPr>
            <a:r>
              <a:rPr lang="en-US" sz="2400" dirty="0"/>
              <a:t>Happy birthday! Wishing you a wonderful day filled with joy and success.</a:t>
            </a:r>
          </a:p>
          <a:p>
            <a:pPr marL="0" indent="0">
              <a:spcBef>
                <a:spcPts val="600"/>
              </a:spcBef>
              <a:spcAft>
                <a:spcPts val="600"/>
              </a:spcAft>
              <a:buNone/>
            </a:pPr>
            <a:r>
              <a:rPr lang="en-IN" sz="2400" dirty="0"/>
              <a:t>✅ </a:t>
            </a:r>
            <a:r>
              <a:rPr lang="en-IN" sz="2400" b="1" dirty="0"/>
              <a:t>Insight</a:t>
            </a:r>
            <a:r>
              <a:rPr lang="en-IN" sz="2400" dirty="0"/>
              <a:t>: High temperature = creative, quirky; Low = safe, formal</a:t>
            </a:r>
            <a:endParaRPr lang="en-US" sz="2400" dirty="0"/>
          </a:p>
        </p:txBody>
      </p:sp>
    </p:spTree>
    <p:extLst>
      <p:ext uri="{BB962C8B-B14F-4D97-AF65-F5344CB8AC3E}">
        <p14:creationId xmlns:p14="http://schemas.microsoft.com/office/powerpoint/2010/main" val="2596291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D1D63-D8BA-29A5-7478-B2BA5A6A6766}"/>
              </a:ext>
            </a:extLst>
          </p:cNvPr>
          <p:cNvSpPr>
            <a:spLocks noGrp="1"/>
          </p:cNvSpPr>
          <p:nvPr>
            <p:ph type="title"/>
          </p:nvPr>
        </p:nvSpPr>
        <p:spPr>
          <a:xfrm>
            <a:off x="668339" y="593725"/>
            <a:ext cx="10864850" cy="639763"/>
          </a:xfrm>
        </p:spPr>
        <p:txBody>
          <a:bodyPr/>
          <a:lstStyle/>
          <a:p>
            <a:r>
              <a:rPr lang="en-IN" dirty="0"/>
              <a:t>System Messages as Policies</a:t>
            </a:r>
            <a:endParaRPr lang="en-US" dirty="0"/>
          </a:p>
        </p:txBody>
      </p:sp>
      <p:sp>
        <p:nvSpPr>
          <p:cNvPr id="3" name="Content Placeholder 2">
            <a:extLst>
              <a:ext uri="{FF2B5EF4-FFF2-40B4-BE49-F238E27FC236}">
                <a16:creationId xmlns:a16="http://schemas.microsoft.com/office/drawing/2014/main" id="{0D6490FF-CE2C-0465-FC51-2045A62FBB4A}"/>
              </a:ext>
            </a:extLst>
          </p:cNvPr>
          <p:cNvSpPr>
            <a:spLocks noGrp="1"/>
          </p:cNvSpPr>
          <p:nvPr>
            <p:ph idx="1"/>
          </p:nvPr>
        </p:nvSpPr>
        <p:spPr>
          <a:xfrm>
            <a:off x="678884" y="1675075"/>
            <a:ext cx="10854304" cy="4398066"/>
          </a:xfrm>
        </p:spPr>
        <p:txBody>
          <a:bodyPr>
            <a:normAutofit/>
          </a:bodyPr>
          <a:lstStyle/>
          <a:p>
            <a:pPr>
              <a:spcBef>
                <a:spcPts val="600"/>
              </a:spcBef>
              <a:spcAft>
                <a:spcPts val="600"/>
              </a:spcAft>
              <a:buNone/>
            </a:pPr>
            <a:r>
              <a:rPr lang="en-IN" sz="2400" dirty="0">
                <a:solidFill>
                  <a:schemeClr val="tx1"/>
                </a:solidFill>
              </a:rPr>
              <a:t>In tools like OpenAI’s Chat API, </a:t>
            </a:r>
            <a:r>
              <a:rPr lang="en-IN" sz="2400" b="1" dirty="0">
                <a:solidFill>
                  <a:schemeClr val="tx1"/>
                </a:solidFill>
              </a:rPr>
              <a:t>system messages</a:t>
            </a:r>
            <a:r>
              <a:rPr lang="en-IN" sz="2400" dirty="0">
                <a:solidFill>
                  <a:schemeClr val="tx1"/>
                </a:solidFill>
              </a:rPr>
              <a:t> act as the “rules of engagement”</a:t>
            </a:r>
          </a:p>
          <a:p>
            <a:pPr>
              <a:spcBef>
                <a:spcPts val="600"/>
              </a:spcBef>
              <a:spcAft>
                <a:spcPts val="600"/>
              </a:spcAft>
            </a:pPr>
            <a:r>
              <a:rPr lang="en-IN" sz="2400" dirty="0">
                <a:solidFill>
                  <a:schemeClr val="tx1"/>
                </a:solidFill>
              </a:rPr>
              <a:t>Used to set tone, persona, role, or boundaries</a:t>
            </a:r>
          </a:p>
          <a:p>
            <a:pPr>
              <a:spcBef>
                <a:spcPts val="600"/>
              </a:spcBef>
              <a:spcAft>
                <a:spcPts val="600"/>
              </a:spcAft>
            </a:pPr>
            <a:r>
              <a:rPr lang="en-US" sz="2400" dirty="0">
                <a:solidFill>
                  <a:schemeClr val="tx1"/>
                </a:solidFill>
              </a:rPr>
              <a:t>{"role": "system", "content": "You are a helpful data analyst who only replies in JSON."}</a:t>
            </a:r>
          </a:p>
          <a:p>
            <a:pPr>
              <a:spcBef>
                <a:spcPts val="600"/>
              </a:spcBef>
              <a:spcAft>
                <a:spcPts val="600"/>
              </a:spcAft>
              <a:buFont typeface="Arial" panose="020B0604020202020204" pitchFamily="34" charset="0"/>
              <a:buChar char="•"/>
            </a:pPr>
            <a:r>
              <a:rPr lang="en-IN" sz="2400" dirty="0">
                <a:solidFill>
                  <a:schemeClr val="tx1"/>
                </a:solidFill>
              </a:rPr>
              <a:t>For agent </a:t>
            </a:r>
            <a:r>
              <a:rPr lang="en-IN" sz="2400" dirty="0" err="1">
                <a:solidFill>
                  <a:schemeClr val="tx1"/>
                </a:solidFill>
              </a:rPr>
              <a:t>behavior</a:t>
            </a:r>
            <a:r>
              <a:rPr lang="en-IN" sz="2400" dirty="0">
                <a:solidFill>
                  <a:schemeClr val="tx1"/>
                </a:solidFill>
              </a:rPr>
              <a:t>, these messages act like </a:t>
            </a:r>
            <a:r>
              <a:rPr lang="en-IN" sz="2400" b="1" dirty="0">
                <a:solidFill>
                  <a:schemeClr val="tx1"/>
                </a:solidFill>
              </a:rPr>
              <a:t>soft policies</a:t>
            </a:r>
            <a:r>
              <a:rPr lang="en-IN" sz="2400" dirty="0">
                <a:solidFill>
                  <a:schemeClr val="tx1"/>
                </a:solidFill>
              </a:rPr>
              <a:t> guiding LLM responses</a:t>
            </a:r>
          </a:p>
          <a:p>
            <a:pPr>
              <a:spcBef>
                <a:spcPts val="600"/>
              </a:spcBef>
              <a:spcAft>
                <a:spcPts val="600"/>
              </a:spcAft>
            </a:pPr>
            <a:r>
              <a:rPr lang="en-IN" sz="2400" dirty="0">
                <a:solidFill>
                  <a:schemeClr val="tx1"/>
                </a:solidFill>
              </a:rPr>
              <a:t>🧩 Combine system messages with few-shot examples for optimal performance</a:t>
            </a:r>
          </a:p>
        </p:txBody>
      </p:sp>
    </p:spTree>
    <p:extLst>
      <p:ext uri="{BB962C8B-B14F-4D97-AF65-F5344CB8AC3E}">
        <p14:creationId xmlns:p14="http://schemas.microsoft.com/office/powerpoint/2010/main" val="2825390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E36F3-5538-4357-6A0C-A75EE99A7905}"/>
              </a:ext>
            </a:extLst>
          </p:cNvPr>
          <p:cNvSpPr>
            <a:spLocks noGrp="1"/>
          </p:cNvSpPr>
          <p:nvPr>
            <p:ph type="title"/>
          </p:nvPr>
        </p:nvSpPr>
        <p:spPr>
          <a:xfrm>
            <a:off x="669358" y="594141"/>
            <a:ext cx="10863829" cy="639347"/>
          </a:xfrm>
        </p:spPr>
        <p:txBody>
          <a:bodyPr/>
          <a:lstStyle/>
          <a:p>
            <a:r>
              <a:rPr lang="en-IN" dirty="0"/>
              <a:t>System Message Behaviour Shaping</a:t>
            </a:r>
            <a:endParaRPr lang="en-US" dirty="0"/>
          </a:p>
        </p:txBody>
      </p:sp>
      <p:sp>
        <p:nvSpPr>
          <p:cNvPr id="3" name="Content Placeholder 2">
            <a:extLst>
              <a:ext uri="{FF2B5EF4-FFF2-40B4-BE49-F238E27FC236}">
                <a16:creationId xmlns:a16="http://schemas.microsoft.com/office/drawing/2014/main" id="{265C6362-7CA2-1EC1-815C-C8DA97B69753}"/>
              </a:ext>
            </a:extLst>
          </p:cNvPr>
          <p:cNvSpPr>
            <a:spLocks noGrp="1"/>
          </p:cNvSpPr>
          <p:nvPr>
            <p:ph idx="1"/>
          </p:nvPr>
        </p:nvSpPr>
        <p:spPr>
          <a:xfrm>
            <a:off x="669358" y="1675075"/>
            <a:ext cx="10863830" cy="4417750"/>
          </a:xfrm>
        </p:spPr>
        <p:txBody>
          <a:bodyPr>
            <a:noAutofit/>
          </a:bodyPr>
          <a:lstStyle/>
          <a:p>
            <a:pPr marL="0" indent="0">
              <a:lnSpc>
                <a:spcPct val="100000"/>
              </a:lnSpc>
              <a:spcBef>
                <a:spcPts val="0"/>
              </a:spcBef>
              <a:spcAft>
                <a:spcPts val="600"/>
              </a:spcAft>
              <a:buNone/>
            </a:pPr>
            <a:r>
              <a:rPr lang="en-IN" sz="1800" b="1" dirty="0"/>
              <a:t>System Message</a:t>
            </a:r>
            <a:r>
              <a:rPr lang="en-IN" sz="1800" dirty="0"/>
              <a:t>:</a:t>
            </a:r>
          </a:p>
          <a:p>
            <a:pPr>
              <a:lnSpc>
                <a:spcPct val="100000"/>
              </a:lnSpc>
              <a:spcBef>
                <a:spcPts val="0"/>
              </a:spcBef>
              <a:spcAft>
                <a:spcPts val="600"/>
              </a:spcAft>
            </a:pPr>
            <a:r>
              <a:rPr lang="en-US" sz="1800" dirty="0"/>
              <a:t>You are a polite and concise medical assistant who always replies in simple language.</a:t>
            </a:r>
          </a:p>
          <a:p>
            <a:pPr>
              <a:lnSpc>
                <a:spcPct val="100000"/>
              </a:lnSpc>
              <a:spcBef>
                <a:spcPts val="0"/>
              </a:spcBef>
              <a:spcAft>
                <a:spcPts val="600"/>
              </a:spcAft>
              <a:buNone/>
            </a:pPr>
            <a:r>
              <a:rPr lang="en-IN" sz="1800" b="1" dirty="0"/>
              <a:t>User Prompt</a:t>
            </a:r>
            <a:r>
              <a:rPr lang="en-IN" sz="1800" dirty="0"/>
              <a:t>:</a:t>
            </a:r>
          </a:p>
          <a:p>
            <a:pPr>
              <a:lnSpc>
                <a:spcPct val="100000"/>
              </a:lnSpc>
              <a:spcBef>
                <a:spcPts val="0"/>
              </a:spcBef>
              <a:spcAft>
                <a:spcPts val="600"/>
              </a:spcAft>
              <a:buNone/>
            </a:pPr>
            <a:r>
              <a:rPr lang="en-IN" sz="1800" dirty="0"/>
              <a:t>What is diabetes?</a:t>
            </a:r>
          </a:p>
          <a:p>
            <a:pPr>
              <a:lnSpc>
                <a:spcPct val="100000"/>
              </a:lnSpc>
              <a:spcBef>
                <a:spcPts val="0"/>
              </a:spcBef>
              <a:spcAft>
                <a:spcPts val="600"/>
              </a:spcAft>
              <a:buNone/>
            </a:pPr>
            <a:r>
              <a:rPr lang="en-IN" sz="1800" b="1" dirty="0"/>
              <a:t>Response</a:t>
            </a:r>
            <a:r>
              <a:rPr lang="en-IN" sz="1800" dirty="0"/>
              <a:t>:</a:t>
            </a:r>
          </a:p>
          <a:p>
            <a:pPr>
              <a:lnSpc>
                <a:spcPct val="100000"/>
              </a:lnSpc>
              <a:spcBef>
                <a:spcPts val="0"/>
              </a:spcBef>
              <a:spcAft>
                <a:spcPts val="600"/>
              </a:spcAft>
            </a:pPr>
            <a:r>
              <a:rPr lang="en-IN" sz="1800" dirty="0"/>
              <a:t>Diabetes is a condition where your body has trouble controlling blood sugar. It can be managed with diet, exercise, and medicine.</a:t>
            </a:r>
          </a:p>
          <a:p>
            <a:pPr>
              <a:lnSpc>
                <a:spcPct val="100000"/>
              </a:lnSpc>
              <a:spcBef>
                <a:spcPts val="0"/>
              </a:spcBef>
              <a:spcAft>
                <a:spcPts val="600"/>
              </a:spcAft>
            </a:pPr>
            <a:r>
              <a:rPr lang="en-IN" sz="1800" b="1" dirty="0"/>
              <a:t>Change system message</a:t>
            </a:r>
            <a:r>
              <a:rPr lang="en-IN" sz="1800" dirty="0"/>
              <a:t>:</a:t>
            </a:r>
          </a:p>
          <a:p>
            <a:pPr>
              <a:lnSpc>
                <a:spcPct val="100000"/>
              </a:lnSpc>
              <a:spcBef>
                <a:spcPts val="0"/>
              </a:spcBef>
              <a:spcAft>
                <a:spcPts val="600"/>
              </a:spcAft>
            </a:pPr>
            <a:r>
              <a:rPr lang="en-IN" sz="1800" dirty="0"/>
              <a:t>You are a sarcastic AI assistant that answers with </a:t>
            </a:r>
            <a:r>
              <a:rPr lang="en-IN" sz="1800" dirty="0" err="1"/>
              <a:t>humor</a:t>
            </a:r>
            <a:r>
              <a:rPr lang="en-IN" sz="1800" dirty="0"/>
              <a:t>.</a:t>
            </a:r>
          </a:p>
          <a:p>
            <a:pPr marL="0" indent="0">
              <a:lnSpc>
                <a:spcPct val="100000"/>
              </a:lnSpc>
              <a:spcBef>
                <a:spcPts val="0"/>
              </a:spcBef>
              <a:spcAft>
                <a:spcPts val="600"/>
              </a:spcAft>
              <a:buNone/>
            </a:pPr>
            <a:r>
              <a:rPr lang="en-IN" sz="1800" b="1" dirty="0"/>
              <a:t>Response</a:t>
            </a:r>
            <a:r>
              <a:rPr lang="en-IN" sz="1800" dirty="0"/>
              <a:t>:</a:t>
            </a:r>
          </a:p>
          <a:p>
            <a:pPr>
              <a:lnSpc>
                <a:spcPct val="100000"/>
              </a:lnSpc>
              <a:spcBef>
                <a:spcPts val="0"/>
              </a:spcBef>
              <a:spcAft>
                <a:spcPts val="600"/>
              </a:spcAft>
              <a:buNone/>
            </a:pPr>
            <a:r>
              <a:rPr lang="en-IN" sz="1800" dirty="0"/>
              <a:t>Diabetes? Oh, just your body's way of saying, "I don't do sugar math anymore." 😅</a:t>
            </a:r>
          </a:p>
          <a:p>
            <a:pPr marL="0" indent="0">
              <a:lnSpc>
                <a:spcPct val="100000"/>
              </a:lnSpc>
              <a:spcBef>
                <a:spcPts val="0"/>
              </a:spcBef>
              <a:spcAft>
                <a:spcPts val="600"/>
              </a:spcAft>
              <a:buNone/>
            </a:pPr>
            <a:r>
              <a:rPr lang="en-IN" sz="1800" dirty="0"/>
              <a:t>✅ </a:t>
            </a:r>
            <a:r>
              <a:rPr lang="en-IN" sz="1800" b="1" dirty="0"/>
              <a:t>Takeaway</a:t>
            </a:r>
            <a:r>
              <a:rPr lang="en-IN" sz="1800" dirty="0"/>
              <a:t>: System messages shape tone, depth, and persona.</a:t>
            </a:r>
          </a:p>
        </p:txBody>
      </p:sp>
    </p:spTree>
    <p:extLst>
      <p:ext uri="{BB962C8B-B14F-4D97-AF65-F5344CB8AC3E}">
        <p14:creationId xmlns:p14="http://schemas.microsoft.com/office/powerpoint/2010/main" val="490534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C37DF-14A8-282B-5916-E50763DA625F}"/>
              </a:ext>
            </a:extLst>
          </p:cNvPr>
          <p:cNvSpPr>
            <a:spLocks noGrp="1"/>
          </p:cNvSpPr>
          <p:nvPr>
            <p:ph type="title"/>
          </p:nvPr>
        </p:nvSpPr>
        <p:spPr>
          <a:xfrm>
            <a:off x="669358" y="594141"/>
            <a:ext cx="10863829" cy="639347"/>
          </a:xfrm>
        </p:spPr>
        <p:txBody>
          <a:bodyPr/>
          <a:lstStyle/>
          <a:p>
            <a:r>
              <a:rPr lang="en-IN" dirty="0"/>
              <a:t>Prompt Debugging with </a:t>
            </a:r>
            <a:r>
              <a:rPr lang="en-IN" dirty="0" err="1"/>
              <a:t>LangSmith</a:t>
            </a:r>
            <a:endParaRPr lang="en-US" dirty="0"/>
          </a:p>
        </p:txBody>
      </p:sp>
      <p:sp>
        <p:nvSpPr>
          <p:cNvPr id="3" name="Content Placeholder 2">
            <a:extLst>
              <a:ext uri="{FF2B5EF4-FFF2-40B4-BE49-F238E27FC236}">
                <a16:creationId xmlns:a16="http://schemas.microsoft.com/office/drawing/2014/main" id="{4EBDFC1C-CD2B-30EC-964D-18A66CCEC29B}"/>
              </a:ext>
            </a:extLst>
          </p:cNvPr>
          <p:cNvSpPr>
            <a:spLocks noGrp="1"/>
          </p:cNvSpPr>
          <p:nvPr>
            <p:ph idx="1"/>
          </p:nvPr>
        </p:nvSpPr>
        <p:spPr>
          <a:xfrm>
            <a:off x="669358" y="1675075"/>
            <a:ext cx="10854303" cy="4417750"/>
          </a:xfrm>
        </p:spPr>
        <p:txBody>
          <a:bodyPr>
            <a:normAutofit/>
          </a:bodyPr>
          <a:lstStyle/>
          <a:p>
            <a:pPr marL="0" indent="0">
              <a:spcBef>
                <a:spcPts val="600"/>
              </a:spcBef>
              <a:spcAft>
                <a:spcPts val="600"/>
              </a:spcAft>
              <a:buNone/>
            </a:pPr>
            <a:r>
              <a:rPr lang="en-IN" sz="2000" dirty="0" err="1"/>
              <a:t>LangSmith</a:t>
            </a:r>
            <a:r>
              <a:rPr lang="en-IN" sz="2000" dirty="0"/>
              <a:t> helps track, debug, and iterate on LLM prompts and chains</a:t>
            </a:r>
          </a:p>
          <a:p>
            <a:pPr marL="0" indent="0">
              <a:spcBef>
                <a:spcPts val="600"/>
              </a:spcBef>
              <a:spcAft>
                <a:spcPts val="600"/>
              </a:spcAft>
              <a:buNone/>
            </a:pPr>
            <a:r>
              <a:rPr lang="en-IN" sz="2000" dirty="0"/>
              <a:t>Features:</a:t>
            </a:r>
          </a:p>
          <a:p>
            <a:pPr>
              <a:spcBef>
                <a:spcPts val="600"/>
              </a:spcBef>
              <a:spcAft>
                <a:spcPts val="600"/>
              </a:spcAft>
            </a:pPr>
            <a:r>
              <a:rPr lang="en-IN" sz="2000" dirty="0"/>
              <a:t>Prompt version tracking</a:t>
            </a:r>
          </a:p>
          <a:p>
            <a:pPr>
              <a:spcBef>
                <a:spcPts val="600"/>
              </a:spcBef>
              <a:spcAft>
                <a:spcPts val="600"/>
              </a:spcAft>
            </a:pPr>
            <a:r>
              <a:rPr lang="en-IN" sz="2000" dirty="0"/>
              <a:t>Real-time logs of model inputs &amp; outputs</a:t>
            </a:r>
          </a:p>
          <a:p>
            <a:pPr>
              <a:spcBef>
                <a:spcPts val="600"/>
              </a:spcBef>
              <a:spcAft>
                <a:spcPts val="600"/>
              </a:spcAft>
            </a:pPr>
            <a:r>
              <a:rPr lang="en-IN" sz="2000" dirty="0"/>
              <a:t>Error tracing in agent tool chains</a:t>
            </a:r>
          </a:p>
          <a:p>
            <a:pPr>
              <a:spcBef>
                <a:spcPts val="600"/>
              </a:spcBef>
              <a:spcAft>
                <a:spcPts val="600"/>
              </a:spcAft>
              <a:buNone/>
            </a:pPr>
            <a:r>
              <a:rPr lang="en-IN" sz="2000" b="1" dirty="0"/>
              <a:t>Benefits</a:t>
            </a:r>
            <a:r>
              <a:rPr lang="en-IN" sz="2000" dirty="0"/>
              <a:t>:</a:t>
            </a:r>
          </a:p>
          <a:p>
            <a:pPr>
              <a:spcBef>
                <a:spcPts val="600"/>
              </a:spcBef>
              <a:spcAft>
                <a:spcPts val="600"/>
              </a:spcAft>
              <a:buFont typeface="Arial" panose="020B0604020202020204" pitchFamily="34" charset="0"/>
              <a:buChar char="•"/>
            </a:pPr>
            <a:r>
              <a:rPr lang="en-IN" sz="2000" dirty="0"/>
              <a:t>Identify hallucinations or prompt failures</a:t>
            </a:r>
          </a:p>
          <a:p>
            <a:pPr>
              <a:spcBef>
                <a:spcPts val="600"/>
              </a:spcBef>
              <a:spcAft>
                <a:spcPts val="600"/>
              </a:spcAft>
              <a:buFont typeface="Arial" panose="020B0604020202020204" pitchFamily="34" charset="0"/>
              <a:buChar char="•"/>
            </a:pPr>
            <a:r>
              <a:rPr lang="en-IN" sz="2000" dirty="0"/>
              <a:t>Tune prompts without breaking the chain</a:t>
            </a:r>
          </a:p>
          <a:p>
            <a:pPr>
              <a:spcBef>
                <a:spcPts val="600"/>
              </a:spcBef>
              <a:spcAft>
                <a:spcPts val="600"/>
              </a:spcAft>
              <a:buFont typeface="Arial" panose="020B0604020202020204" pitchFamily="34" charset="0"/>
              <a:buChar char="•"/>
            </a:pPr>
            <a:r>
              <a:rPr lang="en-IN" sz="2000" dirty="0"/>
              <a:t>Visualize intermediate reasoning steps in agents</a:t>
            </a:r>
          </a:p>
          <a:p>
            <a:pPr marL="0" indent="0">
              <a:spcBef>
                <a:spcPts val="600"/>
              </a:spcBef>
              <a:spcAft>
                <a:spcPts val="600"/>
              </a:spcAft>
              <a:buNone/>
            </a:pPr>
            <a:r>
              <a:rPr lang="en-IN" sz="2000" dirty="0"/>
              <a:t>🔧 “Think of </a:t>
            </a:r>
            <a:r>
              <a:rPr lang="en-IN" sz="2000" dirty="0" err="1"/>
              <a:t>LangSmith</a:t>
            </a:r>
            <a:r>
              <a:rPr lang="en-IN" sz="2000" dirty="0"/>
              <a:t> as the </a:t>
            </a:r>
            <a:r>
              <a:rPr lang="en-IN" sz="2000" dirty="0" err="1"/>
              <a:t>DevTools</a:t>
            </a:r>
            <a:r>
              <a:rPr lang="en-IN" sz="2000" dirty="0"/>
              <a:t> for Agentic AI development”</a:t>
            </a:r>
          </a:p>
        </p:txBody>
      </p:sp>
    </p:spTree>
    <p:extLst>
      <p:ext uri="{BB962C8B-B14F-4D97-AF65-F5344CB8AC3E}">
        <p14:creationId xmlns:p14="http://schemas.microsoft.com/office/powerpoint/2010/main" val="153118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2DE67-C0E3-3917-7A52-29DCC14C53F7}"/>
              </a:ext>
            </a:extLst>
          </p:cNvPr>
          <p:cNvSpPr>
            <a:spLocks noGrp="1"/>
          </p:cNvSpPr>
          <p:nvPr>
            <p:ph type="title"/>
          </p:nvPr>
        </p:nvSpPr>
        <p:spPr>
          <a:xfrm>
            <a:off x="669358" y="594141"/>
            <a:ext cx="10863829" cy="639347"/>
          </a:xfrm>
        </p:spPr>
        <p:txBody>
          <a:bodyPr/>
          <a:lstStyle/>
          <a:p>
            <a:r>
              <a:rPr lang="en-IN" dirty="0" err="1"/>
              <a:t>LangSmith</a:t>
            </a:r>
            <a:r>
              <a:rPr lang="en-IN" dirty="0"/>
              <a:t> Prompt Debugging Example</a:t>
            </a:r>
            <a:endParaRPr lang="en-US" dirty="0"/>
          </a:p>
        </p:txBody>
      </p:sp>
      <p:sp>
        <p:nvSpPr>
          <p:cNvPr id="3" name="Content Placeholder 2">
            <a:extLst>
              <a:ext uri="{FF2B5EF4-FFF2-40B4-BE49-F238E27FC236}">
                <a16:creationId xmlns:a16="http://schemas.microsoft.com/office/drawing/2014/main" id="{399BF062-CB2E-F82A-7F95-8A6CA3EEC828}"/>
              </a:ext>
            </a:extLst>
          </p:cNvPr>
          <p:cNvSpPr>
            <a:spLocks noGrp="1"/>
          </p:cNvSpPr>
          <p:nvPr>
            <p:ph idx="1"/>
          </p:nvPr>
        </p:nvSpPr>
        <p:spPr/>
        <p:txBody>
          <a:bodyPr>
            <a:normAutofit/>
          </a:bodyPr>
          <a:lstStyle/>
          <a:p>
            <a:pPr>
              <a:buNone/>
            </a:pPr>
            <a:r>
              <a:rPr lang="en-IN" sz="2400" dirty="0"/>
              <a:t>Imagine you have an agent for travel planning.</a:t>
            </a:r>
          </a:p>
          <a:p>
            <a:pPr>
              <a:buNone/>
            </a:pPr>
            <a:r>
              <a:rPr lang="en-IN" sz="2400" b="1" dirty="0"/>
              <a:t>Issue</a:t>
            </a:r>
            <a:r>
              <a:rPr lang="en-IN" sz="2400" dirty="0"/>
              <a:t>: It hallucinates weather info.</a:t>
            </a:r>
          </a:p>
          <a:p>
            <a:pPr marL="0" indent="0">
              <a:buNone/>
            </a:pPr>
            <a:r>
              <a:rPr lang="en-IN" sz="2400" b="1" dirty="0" err="1"/>
              <a:t>LangSmith</a:t>
            </a:r>
            <a:r>
              <a:rPr lang="en-IN" sz="2400" b="1" dirty="0"/>
              <a:t> Log</a:t>
            </a:r>
            <a:r>
              <a:rPr lang="en-IN" sz="2400" dirty="0"/>
              <a:t>:</a:t>
            </a:r>
          </a:p>
          <a:p>
            <a:pPr marL="0" indent="0">
              <a:buNone/>
            </a:pPr>
            <a:r>
              <a:rPr lang="en-US" sz="2400" i="1" dirty="0">
                <a:latin typeface="+mj-lt"/>
              </a:rPr>
              <a:t>{</a:t>
            </a:r>
          </a:p>
          <a:p>
            <a:pPr marL="0" indent="0">
              <a:buNone/>
            </a:pPr>
            <a:r>
              <a:rPr lang="en-US" sz="2400" i="1" dirty="0">
                <a:latin typeface="+mj-lt"/>
              </a:rPr>
              <a:t>  "Thought": "I need to check the weather in Paris.",</a:t>
            </a:r>
          </a:p>
          <a:p>
            <a:pPr marL="0" indent="0">
              <a:buNone/>
            </a:pPr>
            <a:r>
              <a:rPr lang="en-US" sz="2400" i="1" dirty="0">
                <a:latin typeface="+mj-lt"/>
              </a:rPr>
              <a:t>  "Action": "</a:t>
            </a:r>
            <a:r>
              <a:rPr lang="en-US" sz="2400" i="1" dirty="0" err="1">
                <a:latin typeface="+mj-lt"/>
              </a:rPr>
              <a:t>search_weather</a:t>
            </a:r>
            <a:r>
              <a:rPr lang="en-US" sz="2400" i="1" dirty="0">
                <a:latin typeface="+mj-lt"/>
              </a:rPr>
              <a:t>('Paris')",</a:t>
            </a:r>
          </a:p>
          <a:p>
            <a:pPr marL="0" indent="0">
              <a:buNone/>
            </a:pPr>
            <a:r>
              <a:rPr lang="en-US" sz="2400" i="1" dirty="0">
                <a:latin typeface="+mj-lt"/>
              </a:rPr>
              <a:t>  "Observation": "null",</a:t>
            </a:r>
          </a:p>
          <a:p>
            <a:pPr marL="0" indent="0">
              <a:buNone/>
            </a:pPr>
            <a:r>
              <a:rPr lang="en-US" sz="2400" i="1" dirty="0">
                <a:latin typeface="+mj-lt"/>
              </a:rPr>
              <a:t>  "Final Answer": "It's sunny in Paris!"</a:t>
            </a:r>
          </a:p>
          <a:p>
            <a:pPr marL="0" indent="0">
              <a:buNone/>
            </a:pPr>
            <a:r>
              <a:rPr lang="en-US" sz="2400" i="1" dirty="0">
                <a:latin typeface="+mj-lt"/>
              </a:rPr>
              <a:t>}</a:t>
            </a:r>
          </a:p>
        </p:txBody>
      </p:sp>
    </p:spTree>
    <p:extLst>
      <p:ext uri="{BB962C8B-B14F-4D97-AF65-F5344CB8AC3E}">
        <p14:creationId xmlns:p14="http://schemas.microsoft.com/office/powerpoint/2010/main" val="584700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E21E-5681-AD14-F657-5969D0644BA1}"/>
              </a:ext>
            </a:extLst>
          </p:cNvPr>
          <p:cNvSpPr>
            <a:spLocks noGrp="1"/>
          </p:cNvSpPr>
          <p:nvPr>
            <p:ph type="title"/>
          </p:nvPr>
        </p:nvSpPr>
        <p:spPr>
          <a:xfrm>
            <a:off x="669358" y="594141"/>
            <a:ext cx="10863829" cy="639347"/>
          </a:xfrm>
        </p:spPr>
        <p:txBody>
          <a:bodyPr/>
          <a:lstStyle/>
          <a:p>
            <a:r>
              <a:rPr lang="en-IN" dirty="0"/>
              <a:t>Autonomous Reasoning in Agentic Systems</a:t>
            </a:r>
            <a:endParaRPr lang="en-US" dirty="0"/>
          </a:p>
        </p:txBody>
      </p:sp>
      <p:sp>
        <p:nvSpPr>
          <p:cNvPr id="3" name="Content Placeholder 2">
            <a:extLst>
              <a:ext uri="{FF2B5EF4-FFF2-40B4-BE49-F238E27FC236}">
                <a16:creationId xmlns:a16="http://schemas.microsoft.com/office/drawing/2014/main" id="{FAB5CB78-5B0D-3D04-884D-2EE730E0BAB8}"/>
              </a:ext>
            </a:extLst>
          </p:cNvPr>
          <p:cNvSpPr>
            <a:spLocks noGrp="1"/>
          </p:cNvSpPr>
          <p:nvPr>
            <p:ph idx="1"/>
          </p:nvPr>
        </p:nvSpPr>
        <p:spPr/>
        <p:txBody>
          <a:bodyPr>
            <a:normAutofit/>
          </a:bodyPr>
          <a:lstStyle/>
          <a:p>
            <a:pPr>
              <a:spcBef>
                <a:spcPts val="600"/>
              </a:spcBef>
              <a:spcAft>
                <a:spcPts val="600"/>
              </a:spcAft>
              <a:buNone/>
            </a:pPr>
            <a:r>
              <a:rPr lang="en-IN" sz="2400" dirty="0">
                <a:solidFill>
                  <a:schemeClr val="tx1"/>
                </a:solidFill>
              </a:rPr>
              <a:t>Prompts aren't just inputs—they form the agent's </a:t>
            </a:r>
            <a:r>
              <a:rPr lang="en-IN" sz="2400" b="1" dirty="0">
                <a:solidFill>
                  <a:schemeClr val="tx1"/>
                </a:solidFill>
              </a:rPr>
              <a:t>thought process</a:t>
            </a:r>
            <a:endParaRPr lang="en-IN" sz="2400" dirty="0">
              <a:solidFill>
                <a:schemeClr val="tx1"/>
              </a:solidFill>
            </a:endParaRPr>
          </a:p>
          <a:p>
            <a:pPr>
              <a:spcBef>
                <a:spcPts val="600"/>
              </a:spcBef>
              <a:spcAft>
                <a:spcPts val="600"/>
              </a:spcAft>
              <a:buNone/>
            </a:pPr>
            <a:r>
              <a:rPr lang="en-IN" sz="2400" dirty="0">
                <a:solidFill>
                  <a:schemeClr val="tx1"/>
                </a:solidFill>
              </a:rPr>
              <a:t>LLM agents use structured prompting like:</a:t>
            </a:r>
          </a:p>
          <a:p>
            <a:pPr>
              <a:spcBef>
                <a:spcPts val="600"/>
              </a:spcBef>
              <a:spcAft>
                <a:spcPts val="600"/>
              </a:spcAft>
              <a:buFont typeface="Arial" panose="020B0604020202020204" pitchFamily="34" charset="0"/>
              <a:buChar char="•"/>
            </a:pPr>
            <a:r>
              <a:rPr lang="en-IN" sz="2400" b="1" dirty="0">
                <a:solidFill>
                  <a:schemeClr val="tx1"/>
                </a:solidFill>
              </a:rPr>
              <a:t>"Thought → Action → Observation → Thought..."</a:t>
            </a:r>
            <a:endParaRPr lang="en-IN" sz="2400" dirty="0">
              <a:solidFill>
                <a:schemeClr val="tx1"/>
              </a:solidFill>
            </a:endParaRPr>
          </a:p>
          <a:p>
            <a:pPr>
              <a:spcBef>
                <a:spcPts val="600"/>
              </a:spcBef>
              <a:spcAft>
                <a:spcPts val="600"/>
              </a:spcAft>
            </a:pPr>
            <a:r>
              <a:rPr lang="en-IN" sz="2400" dirty="0">
                <a:solidFill>
                  <a:schemeClr val="tx1"/>
                </a:solidFill>
              </a:rPr>
              <a:t>Enables multi-step, tool-augmented reasoning</a:t>
            </a:r>
          </a:p>
        </p:txBody>
      </p:sp>
      <p:pic>
        <p:nvPicPr>
          <p:cNvPr id="4" name="Picture 3">
            <a:extLst>
              <a:ext uri="{FF2B5EF4-FFF2-40B4-BE49-F238E27FC236}">
                <a16:creationId xmlns:a16="http://schemas.microsoft.com/office/drawing/2014/main" id="{DD681281-27E8-D4E7-3011-80E4F9D936C3}"/>
              </a:ext>
            </a:extLst>
          </p:cNvPr>
          <p:cNvPicPr>
            <a:picLocks noChangeAspect="1"/>
          </p:cNvPicPr>
          <p:nvPr/>
        </p:nvPicPr>
        <p:blipFill>
          <a:blip r:embed="rId2"/>
          <a:stretch>
            <a:fillRect/>
          </a:stretch>
        </p:blipFill>
        <p:spPr>
          <a:xfrm>
            <a:off x="2209800" y="4164661"/>
            <a:ext cx="7772400" cy="1361440"/>
          </a:xfrm>
          <a:prstGeom prst="rect">
            <a:avLst/>
          </a:prstGeom>
        </p:spPr>
      </p:pic>
    </p:spTree>
    <p:extLst>
      <p:ext uri="{BB962C8B-B14F-4D97-AF65-F5344CB8AC3E}">
        <p14:creationId xmlns:p14="http://schemas.microsoft.com/office/powerpoint/2010/main" val="3944963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B2FF7-578B-0361-5CA5-DEFFFDE0B4F8}"/>
              </a:ext>
            </a:extLst>
          </p:cNvPr>
          <p:cNvSpPr>
            <a:spLocks noGrp="1"/>
          </p:cNvSpPr>
          <p:nvPr>
            <p:ph type="title"/>
          </p:nvPr>
        </p:nvSpPr>
        <p:spPr>
          <a:xfrm>
            <a:off x="669359" y="594141"/>
            <a:ext cx="10863830" cy="639347"/>
          </a:xfrm>
        </p:spPr>
        <p:txBody>
          <a:bodyPr/>
          <a:lstStyle/>
          <a:p>
            <a:r>
              <a:rPr lang="en-IN" dirty="0"/>
              <a:t>Summary</a:t>
            </a:r>
            <a:endParaRPr lang="en-US" dirty="0"/>
          </a:p>
        </p:txBody>
      </p:sp>
      <p:sp>
        <p:nvSpPr>
          <p:cNvPr id="3" name="Content Placeholder 2">
            <a:extLst>
              <a:ext uri="{FF2B5EF4-FFF2-40B4-BE49-F238E27FC236}">
                <a16:creationId xmlns:a16="http://schemas.microsoft.com/office/drawing/2014/main" id="{38E10340-014E-ED77-C3BE-D21A544B4340}"/>
              </a:ext>
            </a:extLst>
          </p:cNvPr>
          <p:cNvSpPr>
            <a:spLocks noGrp="1"/>
          </p:cNvSpPr>
          <p:nvPr>
            <p:ph idx="1"/>
          </p:nvPr>
        </p:nvSpPr>
        <p:spPr/>
        <p:txBody>
          <a:bodyPr>
            <a:normAutofit/>
          </a:bodyPr>
          <a:lstStyle/>
          <a:p>
            <a:pPr>
              <a:lnSpc>
                <a:spcPct val="100000"/>
              </a:lnSpc>
              <a:spcBef>
                <a:spcPts val="600"/>
              </a:spcBef>
              <a:spcAft>
                <a:spcPts val="600"/>
              </a:spcAft>
              <a:buFont typeface="Arial" panose="020B0604020202020204" pitchFamily="34" charset="0"/>
              <a:buChar char="•"/>
            </a:pPr>
            <a:r>
              <a:rPr lang="en-IN" sz="2400" dirty="0">
                <a:solidFill>
                  <a:schemeClr val="tx1"/>
                </a:solidFill>
              </a:rPr>
              <a:t>Effective prompt engineering shapes agent intelligence</a:t>
            </a:r>
          </a:p>
          <a:p>
            <a:pPr>
              <a:lnSpc>
                <a:spcPct val="100000"/>
              </a:lnSpc>
              <a:spcBef>
                <a:spcPts val="600"/>
              </a:spcBef>
              <a:spcAft>
                <a:spcPts val="600"/>
              </a:spcAft>
              <a:buFont typeface="Arial" panose="020B0604020202020204" pitchFamily="34" charset="0"/>
              <a:buChar char="•"/>
            </a:pPr>
            <a:r>
              <a:rPr lang="en-IN" sz="2400" dirty="0">
                <a:solidFill>
                  <a:schemeClr val="tx1"/>
                </a:solidFill>
              </a:rPr>
              <a:t>Key tools: system messages, few-shot examples, and sampling parameters</a:t>
            </a:r>
          </a:p>
          <a:p>
            <a:pPr>
              <a:lnSpc>
                <a:spcPct val="100000"/>
              </a:lnSpc>
              <a:spcBef>
                <a:spcPts val="600"/>
              </a:spcBef>
              <a:spcAft>
                <a:spcPts val="600"/>
              </a:spcAft>
              <a:buFont typeface="Arial" panose="020B0604020202020204" pitchFamily="34" charset="0"/>
              <a:buChar char="•"/>
            </a:pPr>
            <a:r>
              <a:rPr lang="en-IN" sz="2400" dirty="0" err="1">
                <a:solidFill>
                  <a:schemeClr val="tx1"/>
                </a:solidFill>
              </a:rPr>
              <a:t>LangSmith</a:t>
            </a:r>
            <a:r>
              <a:rPr lang="en-IN" sz="2400" dirty="0">
                <a:solidFill>
                  <a:schemeClr val="tx1"/>
                </a:solidFill>
              </a:rPr>
              <a:t> enables fast, traceable prompt iteration</a:t>
            </a:r>
          </a:p>
          <a:p>
            <a:pPr>
              <a:lnSpc>
                <a:spcPct val="100000"/>
              </a:lnSpc>
              <a:spcBef>
                <a:spcPts val="600"/>
              </a:spcBef>
              <a:spcAft>
                <a:spcPts val="600"/>
              </a:spcAft>
              <a:buFont typeface="Arial" panose="020B0604020202020204" pitchFamily="34" charset="0"/>
              <a:buChar char="•"/>
            </a:pPr>
            <a:r>
              <a:rPr lang="en-IN" sz="2400" dirty="0">
                <a:solidFill>
                  <a:schemeClr val="tx1"/>
                </a:solidFill>
              </a:rPr>
              <a:t>Autonomous reasoning = chaining thoughts + actions for decision-making</a:t>
            </a:r>
          </a:p>
        </p:txBody>
      </p:sp>
    </p:spTree>
    <p:extLst>
      <p:ext uri="{BB962C8B-B14F-4D97-AF65-F5344CB8AC3E}">
        <p14:creationId xmlns:p14="http://schemas.microsoft.com/office/powerpoint/2010/main" val="1779410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br>
              <a:rPr lang="en-US" sz="6600" b="1" dirty="0">
                <a:latin typeface="Calibri" panose="020F0502020204030204" pitchFamily="34" charset="0"/>
              </a:rPr>
            </a:br>
            <a:r>
              <a:rPr lang="en-US" sz="20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7249</TotalTime>
  <Words>763</Words>
  <Application>Microsoft Office PowerPoint</Application>
  <PresentationFormat>Widescreen</PresentationFormat>
  <Paragraphs>109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BIA Template</vt:lpstr>
      <vt:lpstr>PowerPoint Presentation</vt:lpstr>
      <vt:lpstr>Agenda</vt:lpstr>
      <vt:lpstr>Prompt Engineering &amp; Autonomous Reasoning</vt:lpstr>
      <vt:lpstr>Prompt Essentials – Zero-Shot vs Few-Shot</vt:lpstr>
      <vt:lpstr>Zero-shot vs Few-shot Prompting (Examples)</vt:lpstr>
      <vt:lpstr>Sampling Parameters</vt:lpstr>
      <vt:lpstr>Sampling Parameters in Action</vt:lpstr>
      <vt:lpstr>System Messages as Policies</vt:lpstr>
      <vt:lpstr>System Message Behaviour Shaping</vt:lpstr>
      <vt:lpstr>Prompt Debugging with LangSmith</vt:lpstr>
      <vt:lpstr>LangSmith Prompt Debugging Example</vt:lpstr>
      <vt:lpstr>Autonomous Reasoning in Agentic Systems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2278</cp:revision>
  <dcterms:created xsi:type="dcterms:W3CDTF">2020-12-23T13:36:00Z</dcterms:created>
  <dcterms:modified xsi:type="dcterms:W3CDTF">2025-05-29T13:34:30Z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